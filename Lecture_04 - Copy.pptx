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57359" autoAdjust="0"/>
  </p:normalViewPr>
  <p:slideViewPr>
    <p:cSldViewPr snapToGrid="0">
      <p:cViewPr varScale="1">
        <p:scale>
          <a:sx n="47" d="100"/>
          <a:sy n="47" d="100"/>
        </p:scale>
        <p:origin x="20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Systems Planning</a:t>
            </a:r>
            <a:r>
              <a:rPr lang="en-US" dirty="0"/>
              <a:t> means making a proper plan before developing a system—</a:t>
            </a:r>
            <a:r>
              <a:rPr lang="en-US" b="1" dirty="0"/>
              <a:t>what system we need, why we need it, what resources are required, and how it will be implemented</a:t>
            </a:r>
            <a:r>
              <a:rPr lang="en-US" dirty="0"/>
              <a:t>.</a:t>
            </a:r>
          </a:p>
          <a:p>
            <a:r>
              <a:rPr lang="en-US" dirty="0"/>
              <a:t>Suppose a university starts developing a new </a:t>
            </a:r>
            <a:r>
              <a:rPr lang="en-US" b="1" dirty="0"/>
              <a:t>Student Management System</a:t>
            </a:r>
            <a:r>
              <a:rPr lang="en-US" dirty="0"/>
              <a:t> without proper planning. Later, they may discover that the fee module required by the Accounts Department or the result requirements of the Exam Office were not considered. The system will then need to be changed again, increasing both </a:t>
            </a:r>
            <a:r>
              <a:rPr lang="en-US" b="1" dirty="0"/>
              <a:t>time and cost</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Planning doesn’t happen in a vacuum”</a:t>
            </a:r>
          </a:p>
          <a:p>
            <a:r>
              <a:t> means:</a:t>
            </a:r>
          </a:p>
          <a:p>
            <a:r>
              <a:t>MIS planning must follow:</a:t>
            </a:r>
          </a:p>
          <a:p>
            <a:r>
              <a:t>Business strategy</a:t>
            </a:r>
          </a:p>
          <a:p>
            <a:r>
              <a:t>Organizational goals</a:t>
            </a:r>
          </a:p>
          <a:p>
            <a:r>
              <a:t>Future direction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Core Goal:</a:t>
            </a:r>
          </a:p>
          <a:p>
            <a:pPr marL="0" indent="0">
              <a:buNone/>
            </a:pPr>
            <a:r>
              <a:rPr lang="en-US" dirty="0"/>
              <a:t>Customer service in a bank is very slow. Management says, “We need new software.”</a:t>
            </a:r>
            <a:br>
              <a:rPr lang="en-US" dirty="0"/>
            </a:br>
            <a:r>
              <a:rPr lang="en-US" dirty="0"/>
              <a:t>But after investigation, the analyst finds that the software is not the real problem; there are </a:t>
            </a:r>
            <a:r>
              <a:rPr lang="en-US" b="1" dirty="0"/>
              <a:t>four unnecessary manual approval steps</a:t>
            </a:r>
            <a:r>
              <a:rPr lang="en-US" dirty="0"/>
              <a:t>.</a:t>
            </a:r>
          </a:p>
          <a:p>
            <a:pPr marL="0" indent="0">
              <a:buNone/>
            </a:pPr>
            <a:endParaRPr lang="en-US" dirty="0"/>
          </a:p>
          <a:p>
            <a:pPr marL="0" indent="0">
              <a:buNone/>
            </a:pPr>
            <a:endParaRPr lang="en-US" dirty="0"/>
          </a:p>
          <a:p>
            <a:pPr marL="0" indent="0">
              <a:buNone/>
            </a:pPr>
            <a:r>
              <a:rPr lang="en-US" dirty="0"/>
              <a:t>2.   Needs vs. Wants:</a:t>
            </a:r>
          </a:p>
          <a:p>
            <a:r>
              <a:rPr lang="en-US" dirty="0"/>
              <a:t>A hospital is developing a new patient management system.</a:t>
            </a:r>
          </a:p>
          <a:p>
            <a:r>
              <a:rPr lang="en-US" dirty="0"/>
              <a:t>A doctor says,</a:t>
            </a:r>
            <a:br>
              <a:rPr lang="en-US" dirty="0"/>
            </a:br>
            <a:r>
              <a:rPr lang="en-US" dirty="0"/>
              <a:t>“I want animations and many colors on the dashboard.”</a:t>
            </a:r>
            <a:br>
              <a:rPr lang="en-US" dirty="0"/>
            </a:br>
            <a:r>
              <a:rPr lang="en-US" dirty="0"/>
              <a:t>That is a </a:t>
            </a:r>
            <a:r>
              <a:rPr lang="en-US" b="1" dirty="0"/>
              <a:t>want</a:t>
            </a:r>
            <a:r>
              <a:rPr lang="en-US" dirty="0"/>
              <a:t>.</a:t>
            </a:r>
          </a:p>
          <a:p>
            <a:r>
              <a:rPr lang="en-US" dirty="0"/>
              <a:t>But the doctor’s actual </a:t>
            </a:r>
            <a:r>
              <a:rPr lang="en-US" b="1" dirty="0"/>
              <a:t>needs</a:t>
            </a:r>
            <a:r>
              <a:rPr lang="en-US" dirty="0"/>
              <a:t> are:</a:t>
            </a:r>
          </a:p>
          <a:p>
            <a:pPr lvl="0"/>
            <a:r>
              <a:rPr lang="en-US" dirty="0"/>
              <a:t>quickly viewing patient history,</a:t>
            </a:r>
          </a:p>
          <a:p>
            <a:pPr lvl="0"/>
            <a:r>
              <a:rPr lang="en-US" dirty="0"/>
              <a:t>checking allergy information,</a:t>
            </a:r>
          </a:p>
          <a:p>
            <a:pPr lvl="0"/>
            <a:r>
              <a:rPr lang="en-US" dirty="0"/>
              <a:t>viewing current medications.</a:t>
            </a:r>
          </a:p>
          <a:p>
            <a:pPr marL="0" indent="0">
              <a:buNone/>
            </a:pPr>
            <a:endParaRPr lang="en-US" dirty="0"/>
          </a:p>
          <a:p>
            <a:pPr marL="228600" indent="-228600">
              <a:buAutoNum type="arabicPeriod"/>
            </a:pPr>
            <a:r>
              <a:rPr lang="en-US" dirty="0"/>
              <a:t>Problem vs. Symptoms:</a:t>
            </a:r>
          </a:p>
          <a:p>
            <a:r>
              <a:rPr lang="en-US" dirty="0"/>
              <a:t>Customers of an e-commerce company complain:</a:t>
            </a:r>
            <a:br>
              <a:rPr lang="en-US" dirty="0"/>
            </a:br>
            <a:r>
              <a:rPr lang="en-US" b="1" dirty="0"/>
              <a:t>“Orders are being delivered late.”</a:t>
            </a:r>
            <a:endParaRPr lang="en-US" dirty="0"/>
          </a:p>
          <a:p>
            <a:r>
              <a:rPr lang="en-US" dirty="0"/>
              <a:t>This is a </a:t>
            </a:r>
            <a:r>
              <a:rPr lang="en-US" b="1" dirty="0"/>
              <a:t>symptom</a:t>
            </a:r>
            <a:r>
              <a:rPr lang="en-US" dirty="0"/>
              <a:t>.</a:t>
            </a:r>
          </a:p>
          <a:p>
            <a:r>
              <a:rPr lang="en-US" dirty="0"/>
              <a:t>After investigation, the analyst finds that:</a:t>
            </a:r>
          </a:p>
          <a:p>
            <a:pPr lvl="0"/>
            <a:r>
              <a:rPr lang="en-US" dirty="0"/>
              <a:t>warehouse stock information is not updated properly,</a:t>
            </a:r>
          </a:p>
          <a:p>
            <a:pPr lvl="0"/>
            <a:r>
              <a:rPr lang="en-US" dirty="0"/>
              <a:t>the system shows products as available even when they are out of stock,</a:t>
            </a:r>
          </a:p>
          <a:p>
            <a:pPr lvl="0"/>
            <a:r>
              <a:rPr lang="en-US" dirty="0"/>
              <a:t>additional procurement is required, causing delays.</a:t>
            </a:r>
          </a:p>
          <a:p>
            <a:r>
              <a:rPr lang="en-US" dirty="0"/>
              <a:t>So, the </a:t>
            </a:r>
            <a:r>
              <a:rPr lang="en-US" b="1" dirty="0"/>
              <a:t>real problem is inaccurate inventory information</a:t>
            </a:r>
            <a:r>
              <a:rPr lang="en-US" dirty="0"/>
              <a:t>, while late delivery is only the symptom.</a:t>
            </a:r>
          </a:p>
          <a:p>
            <a:pPr marL="0" indent="0">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Low Uncertainty: requirements are clear and stable. Example</a:t>
            </a:r>
          </a:p>
          <a:p>
            <a:r>
              <a:t>High Uncertainty: unclear, changing, or hard to imagine.</a:t>
            </a:r>
          </a:p>
          <a:p>
            <a:r>
              <a:t>within one university system, some parts have low uncertainty and some have high uncertainty.</a:t>
            </a:r>
          </a:p>
          <a:p>
            <a:r>
              <a:t>Low uncertainty → rules are fixed, already known, and rarely change,</a:t>
            </a:r>
          </a:p>
          <a:p>
            <a:r>
              <a:t>Example: Result Processing System, Salary and Payroll System, Student Fee Payment System, Student Registration System</a:t>
            </a:r>
          </a:p>
          <a:p>
            <a:r>
              <a:t>High uncertainty → human behavior, teaching style, or experience matters, and requirements are hard to define clearly</a:t>
            </a:r>
          </a:p>
          <a:p>
            <a:r>
              <a:t>.</a:t>
            </a:r>
          </a:p>
          <a:p>
            <a:r>
              <a:t>Example-Lecture Management, Faculty Performance Evaluation System(teaching quality is subjective).</a:t>
            </a:r>
          </a:p>
          <a:p>
            <a:r>
              <a:t>Is a Syllabus Management System Low or High Uncertainty?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When users cannot clearly explain their needs to a system analyst, they try to </a:t>
            </a:r>
          </a:p>
          <a:p>
            <a:r>
              <a:rPr dirty="0"/>
              <a:t>protect themselves</a:t>
            </a:r>
          </a:p>
          <a:p>
            <a:r>
              <a:rPr dirty="0"/>
              <a:t>.</a:t>
            </a:r>
          </a:p>
          <a:p>
            <a:r>
              <a:rPr dirty="0"/>
              <a:t>This protection is called </a:t>
            </a:r>
          </a:p>
          <a:p>
            <a:r>
              <a:rPr dirty="0"/>
              <a:t>user defensive strategies</a:t>
            </a:r>
            <a:r>
              <a:rPr lang="en-US" dirty="0"/>
              <a:t>.</a:t>
            </a:r>
          </a:p>
          <a:p>
            <a:endParaRPr lang="en-US" dirty="0"/>
          </a:p>
          <a:p>
            <a:r>
              <a:rPr lang="en-US" b="0" dirty="0"/>
              <a:t>In the Kitchen Sink strategy, the user thinks: “What if something important is left out?” So the user asks for every possible feature and report, even if many of them may not be necessary.</a:t>
            </a:r>
          </a:p>
          <a:p>
            <a:r>
              <a:rPr lang="en-US" b="0" dirty="0"/>
              <a:t>Imagine a family going on a picnic. One person packs food, chairs, a fan, pillows, an extra table, a cooker, and a bucket—as if they are going to take the kitchen sink too!</a:t>
            </a:r>
          </a:p>
          <a:p>
            <a:r>
              <a:rPr lang="en-US" b="0" dirty="0"/>
              <a:t>“What if I do not request a feature now and need it later?”</a:t>
            </a:r>
          </a:p>
          <a:p>
            <a:r>
              <a:rPr lang="en-US" b="0" dirty="0"/>
              <a:t>So the user asks for attendance reports, salary reports, yearly reports, weekly reports, employee history, graphs, comparisons, and many other features.</a:t>
            </a:r>
          </a:p>
          <a:p>
            <a:endParaRPr lang="en-US" b="0" dirty="0"/>
          </a:p>
          <a:p>
            <a:endParaRPr lang="en-US" b="0" dirty="0"/>
          </a:p>
          <a:p>
            <a:endParaRPr lang="en-US" b="0" dirty="0"/>
          </a:p>
          <a:p>
            <a:r>
              <a:rPr lang="en-US" dirty="0"/>
              <a:t>A smoke screen means </a:t>
            </a:r>
            <a:r>
              <a:rPr lang="en-US" b="1" dirty="0"/>
              <a:t>creating smoke to hide the real thing</a:t>
            </a:r>
            <a:r>
              <a:rPr lang="en-US" dirty="0"/>
              <a:t>.</a:t>
            </a:r>
          </a:p>
          <a:p>
            <a:r>
              <a:rPr lang="en-US" dirty="0"/>
              <a:t>For example, in a battlefield, smoke may be used so the other side cannot clearly see the actual movement. Many things appear in front, while the </a:t>
            </a:r>
            <a:r>
              <a:rPr lang="en-US" b="1" dirty="0"/>
              <a:t>real intention remains hidden</a:t>
            </a:r>
            <a:r>
              <a:rPr lang="en-US" dirty="0"/>
              <a:t>.</a:t>
            </a:r>
          </a:p>
          <a:p>
            <a:r>
              <a:rPr lang="en-US" dirty="0"/>
              <a:t>The same idea can happen in Systems Analysis.</a:t>
            </a:r>
          </a:p>
          <a:p>
            <a:r>
              <a:rPr lang="en-US" dirty="0"/>
              <a:t>Suppose a manager actually needs only two features:</a:t>
            </a:r>
          </a:p>
          <a:p>
            <a:pPr lvl="0"/>
            <a:r>
              <a:rPr lang="en-US" dirty="0"/>
              <a:t>Automated approval</a:t>
            </a:r>
          </a:p>
          <a:p>
            <a:pPr lvl="0"/>
            <a:r>
              <a:rPr lang="en-US" dirty="0"/>
              <a:t>Monthly performance report</a:t>
            </a:r>
          </a:p>
          <a:p>
            <a:r>
              <a:rPr lang="en-US" dirty="0"/>
              <a:t>But the manager gives the analyst a list of ten features:</a:t>
            </a:r>
          </a:p>
          <a:p>
            <a:pPr lvl="0"/>
            <a:r>
              <a:rPr lang="en-US" dirty="0"/>
              <a:t>dashboard</a:t>
            </a:r>
          </a:p>
          <a:p>
            <a:pPr lvl="0"/>
            <a:r>
              <a:rPr lang="en-US" dirty="0"/>
              <a:t>mobile app</a:t>
            </a:r>
          </a:p>
          <a:p>
            <a:pPr lvl="0"/>
            <a:r>
              <a:rPr lang="en-US" dirty="0"/>
              <a:t>SMS</a:t>
            </a:r>
          </a:p>
          <a:p>
            <a:pPr lvl="0"/>
            <a:r>
              <a:rPr lang="en-US" dirty="0"/>
              <a:t>email alert</a:t>
            </a:r>
          </a:p>
          <a:p>
            <a:pPr lvl="0"/>
            <a:r>
              <a:rPr lang="en-US" dirty="0"/>
              <a:t>graph</a:t>
            </a:r>
          </a:p>
          <a:p>
            <a:pPr lvl="0"/>
            <a:r>
              <a:rPr lang="en-US" dirty="0"/>
              <a:t>export</a:t>
            </a:r>
          </a:p>
          <a:p>
            <a:pPr lvl="0"/>
            <a:r>
              <a:rPr lang="en-US" dirty="0"/>
              <a:t>biometric integration</a:t>
            </a:r>
          </a:p>
          <a:p>
            <a:pPr lvl="0"/>
            <a:r>
              <a:rPr lang="en-US" dirty="0"/>
              <a:t>automated approval</a:t>
            </a:r>
          </a:p>
          <a:p>
            <a:pPr lvl="0"/>
            <a:r>
              <a:rPr lang="en-US" dirty="0"/>
              <a:t>monthly report</a:t>
            </a:r>
          </a:p>
          <a:p>
            <a:pPr lvl="0"/>
            <a:r>
              <a:rPr lang="en-US" dirty="0"/>
              <a:t>analytics</a:t>
            </a:r>
          </a:p>
          <a:p>
            <a:r>
              <a:rPr lang="en-US" dirty="0"/>
              <a:t>Then the analyst says, “All of these features are not possible within the budget.”</a:t>
            </a:r>
          </a:p>
          <a:p>
            <a:r>
              <a:rPr lang="en-US" dirty="0"/>
              <a:t>The manager replies:</a:t>
            </a:r>
          </a:p>
          <a:p>
            <a:r>
              <a:rPr lang="en-US" dirty="0"/>
              <a:t>“Okay, remove the mobile app, SMS, and graph. But automated approval and the monthly report must remain.”</a:t>
            </a:r>
          </a:p>
          <a:p>
            <a:endParaRPr lang="en-US" b="0" dirty="0"/>
          </a:p>
          <a:p>
            <a:endParaRPr lang="en-US" dirty="0"/>
          </a:p>
          <a:p>
            <a:endParaRPr dirty="0"/>
          </a:p>
          <a:p>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C721D6F-1003-4B74-A40D-C14E7641B272}"/>
              </a:ext>
            </a:extLst>
          </p:cNvPr>
          <p:cNvSpPr>
            <a:spLocks noGrp="1"/>
          </p:cNvSpPr>
          <p:nvPr/>
        </p:nvSpPr>
        <p:spPr>
          <a:xfrm>
            <a:off x="914400" y="1524000"/>
            <a:ext cx="9525000" cy="323850"/>
          </a:xfrm>
          <a:prstGeom prst="rect">
            <a:avLst/>
          </a:prstGeom>
          <a:noFill/>
          <a:ln w="0">
            <a:noFill/>
          </a:ln>
        </p:spPr>
        <p:txBody>
          <a:bodyPr wrap="square" lIns="0" tIns="0" rIns="0" bIns="0" anchor="t">
            <a:noAutofit/>
          </a:bodyPr>
          <a:lstStyle/>
          <a:p>
            <a:pPr algn="l">
              <a:defRPr sz="1400" b="1">
                <a:solidFill>
                  <a:srgbClr val="E8B8BE"/>
                </a:solidFill>
                <a:latin typeface="Calibri"/>
                <a:ea typeface="Calibri"/>
                <a:cs typeface="Calibri"/>
              </a:defRPr>
            </a:pPr>
            <a:r>
              <a:rPr sz="1400" b="1">
                <a:solidFill>
                  <a:srgbClr val="E8B8BE"/>
                </a:solidFill>
                <a:latin typeface="Calibri"/>
                <a:ea typeface="Calibri"/>
                <a:cs typeface="Calibri"/>
              </a:rPr>
              <a:t>Chapter -04</a:t>
            </a:r>
          </a:p>
        </p:txBody>
      </p:sp>
      <p:sp>
        <p:nvSpPr>
          <p:cNvPr id="3" name="Rectangle 2">
            <a:extLst>
              <a:ext uri="{FF2B5EF4-FFF2-40B4-BE49-F238E27FC236}">
                <a16:creationId xmlns:a16="http://schemas.microsoft.com/office/drawing/2014/main" id="{E0F520B3-9223-4825-824B-BA7523C9C8FA}"/>
              </a:ext>
            </a:extLst>
          </p:cNvPr>
          <p:cNvSpPr>
            <a:spLocks noGrp="1"/>
          </p:cNvSpPr>
          <p:nvPr/>
        </p:nvSpPr>
        <p:spPr>
          <a:xfrm>
            <a:off x="819150" y="2438400"/>
            <a:ext cx="10287000" cy="1809750"/>
          </a:xfrm>
          <a:prstGeom prst="rect">
            <a:avLst/>
          </a:prstGeom>
          <a:noFill/>
          <a:ln w="0">
            <a:noFill/>
          </a:ln>
        </p:spPr>
        <p:txBody>
          <a:bodyPr wrap="square" lIns="0" tIns="0" rIns="0" bIns="0" anchor="t">
            <a:noAutofit/>
          </a:bodyPr>
          <a:lstStyle/>
          <a:p>
            <a:pPr algn="l">
              <a:defRPr sz="5400" b="1" i="1">
                <a:solidFill>
                  <a:srgbClr val="FFFFFF"/>
                </a:solidFill>
                <a:latin typeface="Georgia"/>
                <a:ea typeface="Georgia"/>
                <a:cs typeface="Georgia"/>
              </a:defRPr>
            </a:pPr>
            <a:r>
              <a:rPr sz="5400" b="1" i="1">
                <a:solidFill>
                  <a:srgbClr val="FFFFFF"/>
                </a:solidFill>
                <a:latin typeface="Georgia"/>
                <a:ea typeface="Georgia"/>
                <a:cs typeface="Georgia"/>
              </a:rPr>
              <a:t>Systems Analysis</a:t>
            </a:r>
          </a:p>
        </p:txBody>
      </p:sp>
      <p:sp>
        <p:nvSpPr>
          <p:cNvPr id="4" name="Rectangle 3">
            <a:extLst>
              <a:ext uri="{FF2B5EF4-FFF2-40B4-BE49-F238E27FC236}">
                <a16:creationId xmlns:a16="http://schemas.microsoft.com/office/drawing/2014/main" id="{7ECDB34E-22E1-4670-BAFA-55067355603A}"/>
              </a:ext>
            </a:extLst>
          </p:cNvPr>
          <p:cNvSpPr>
            <a:spLocks noGrp="1"/>
          </p:cNvSpPr>
          <p:nvPr/>
        </p:nvSpPr>
        <p:spPr>
          <a:xfrm>
            <a:off x="914400" y="5991225"/>
            <a:ext cx="8572500" cy="285750"/>
          </a:xfrm>
          <a:prstGeom prst="rect">
            <a:avLst/>
          </a:prstGeom>
          <a:noFill/>
          <a:ln w="0">
            <a:noFill/>
          </a:ln>
        </p:spPr>
        <p:txBody>
          <a:bodyPr wrap="square" lIns="0" tIns="0" rIns="0" bIns="0" anchor="t">
            <a:noAutofit/>
          </a:bodyPr>
          <a:lstStyle/>
          <a:p>
            <a:pPr algn="l">
              <a:defRPr sz="1200">
                <a:solidFill>
                  <a:srgbClr val="C9A7AB"/>
                </a:solidFill>
                <a:latin typeface="Calibri"/>
                <a:ea typeface="Calibri"/>
                <a:cs typeface="Calibri"/>
              </a:defRPr>
            </a:pPr>
            <a:r>
              <a:rPr sz="1200">
                <a:solidFill>
                  <a:srgbClr val="C9A7AB"/>
                </a:solidFill>
                <a:latin typeface="Calibri"/>
                <a:ea typeface="Calibri"/>
                <a:cs typeface="Calibri"/>
              </a:rPr>
              <a:t>Md. Manirujjaman</a:t>
            </a:r>
          </a:p>
        </p:txBody>
      </p:sp>
      <p:sp>
        <p:nvSpPr>
          <p:cNvPr id="5" name="Rectangle 4">
            <a:extLst>
              <a:ext uri="{FF2B5EF4-FFF2-40B4-BE49-F238E27FC236}">
                <a16:creationId xmlns:a16="http://schemas.microsoft.com/office/drawing/2014/main" id="{48D4F6F4-6E96-4E47-85E2-BE26BFCEF601}"/>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C9A7AB"/>
                </a:solidFill>
                <a:latin typeface="Calibri"/>
                <a:ea typeface="Calibri"/>
                <a:cs typeface="Calibri"/>
              </a:defRPr>
            </a:pPr>
            <a:r>
              <a:rPr sz="1000">
                <a:solidFill>
                  <a:srgbClr val="C9A7AB"/>
                </a:solidFill>
                <a:latin typeface="Calibri"/>
                <a:ea typeface="Calibri"/>
                <a:cs typeface="Calibri"/>
              </a:rPr>
              <a:t>1/20/2026</a:t>
            </a:r>
          </a:p>
        </p:txBody>
      </p:sp>
      <p:sp>
        <p:nvSpPr>
          <p:cNvPr id="6" name="Rectangle 5">
            <a:extLst>
              <a:ext uri="{FF2B5EF4-FFF2-40B4-BE49-F238E27FC236}">
                <a16:creationId xmlns:a16="http://schemas.microsoft.com/office/drawing/2014/main" id="{9113F00E-5C65-473E-8780-A07A2DB88C8A}"/>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C9A7AB"/>
                </a:solidFill>
                <a:latin typeface="Calibri"/>
                <a:ea typeface="Calibri"/>
                <a:cs typeface="Calibri"/>
              </a:defRPr>
            </a:pPr>
            <a:r>
              <a:rPr sz="1000">
                <a:solidFill>
                  <a:srgbClr val="C9A7AB"/>
                </a:solidFill>
                <a:latin typeface="Calibri"/>
                <a:ea typeface="Calibri"/>
                <a:cs typeface="Calibri"/>
              </a:rPr>
              <a:t>Md. Manirujjaman</a:t>
            </a:r>
          </a:p>
        </p:txBody>
      </p:sp>
      <p:sp>
        <p:nvSpPr>
          <p:cNvPr id="7" name="Oval 6">
            <a:extLst>
              <a:ext uri="{FF2B5EF4-FFF2-40B4-BE49-F238E27FC236}">
                <a16:creationId xmlns:a16="http://schemas.microsoft.com/office/drawing/2014/main" id="{81932B73-80F0-4857-80E3-6750E6EF0F24}"/>
              </a:ext>
            </a:extLst>
          </p:cNvPr>
          <p:cNvSpPr>
            <a:spLocks noGrp="1"/>
          </p:cNvSpPr>
          <p:nvPr/>
        </p:nvSpPr>
        <p:spPr>
          <a:xfrm>
            <a:off x="11624786" y="6291072"/>
            <a:ext cx="365760" cy="365760"/>
          </a:xfrm>
          <a:prstGeom prst="ellipse">
            <a:avLst/>
          </a:prstGeom>
          <a:solidFill>
            <a:srgbClr val="990011"/>
          </a:solidFill>
          <a:ln w="0">
            <a:noFill/>
          </a:ln>
        </p:spPr>
      </p:sp>
      <p:sp>
        <p:nvSpPr>
          <p:cNvPr id="8" name="Rectangle 7">
            <a:extLst>
              <a:ext uri="{FF2B5EF4-FFF2-40B4-BE49-F238E27FC236}">
                <a16:creationId xmlns:a16="http://schemas.microsoft.com/office/drawing/2014/main" id="{6645A998-8F14-493F-98FC-93B493CAA915}"/>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a:t>
            </a:r>
          </a:p>
        </p:txBody>
      </p:sp>
    </p:spTree>
    <p:extLst>
      <p:ext uri="{BB962C8B-B14F-4D97-AF65-F5344CB8AC3E}">
        <p14:creationId xmlns:p14="http://schemas.microsoft.com/office/powerpoint/2010/main" val="2095441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04EEFA3-6E1B-4EB4-A390-D56E8213C3C8}"/>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2" name="Rectangle 1">
            <a:extLst>
              <a:ext uri="{FF2B5EF4-FFF2-40B4-BE49-F238E27FC236}">
                <a16:creationId xmlns:a16="http://schemas.microsoft.com/office/drawing/2014/main" id="{A4ABBA1C-5BA3-41A6-BB16-98CF53BE0AD1}"/>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3" name="Oval 2">
            <a:extLst>
              <a:ext uri="{FF2B5EF4-FFF2-40B4-BE49-F238E27FC236}">
                <a16:creationId xmlns:a16="http://schemas.microsoft.com/office/drawing/2014/main" id="{906DC56E-D0D4-4B58-BFB9-704A47876B51}"/>
              </a:ext>
            </a:extLst>
          </p:cNvPr>
          <p:cNvSpPr>
            <a:spLocks noGrp="1"/>
          </p:cNvSpPr>
          <p:nvPr/>
        </p:nvSpPr>
        <p:spPr>
          <a:xfrm>
            <a:off x="11624786" y="6291072"/>
            <a:ext cx="365760" cy="365760"/>
          </a:xfrm>
          <a:prstGeom prst="ellipse">
            <a:avLst/>
          </a:prstGeom>
          <a:solidFill>
            <a:srgbClr val="990011"/>
          </a:solidFill>
          <a:ln w="0">
            <a:noFill/>
          </a:ln>
        </p:spPr>
      </p:sp>
      <p:sp>
        <p:nvSpPr>
          <p:cNvPr id="4" name="Rectangle 3">
            <a:extLst>
              <a:ext uri="{FF2B5EF4-FFF2-40B4-BE49-F238E27FC236}">
                <a16:creationId xmlns:a16="http://schemas.microsoft.com/office/drawing/2014/main" id="{A2FDB7CC-7FFA-4F6C-B023-A65EC18893D4}"/>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a:t>
            </a:r>
          </a:p>
        </p:txBody>
      </p:sp>
      <p:sp>
        <p:nvSpPr>
          <p:cNvPr id="5" name="Rectangle 4">
            <a:extLst>
              <a:ext uri="{FF2B5EF4-FFF2-40B4-BE49-F238E27FC236}">
                <a16:creationId xmlns:a16="http://schemas.microsoft.com/office/drawing/2014/main" id="{6D69D21E-A56D-47E8-BED5-53948E41D9CF}"/>
              </a:ext>
            </a:extLst>
          </p:cNvPr>
          <p:cNvSpPr>
            <a:spLocks noGrp="1"/>
          </p:cNvSpPr>
          <p:nvPr/>
        </p:nvSpPr>
        <p:spPr>
          <a:xfrm>
            <a:off x="552450" y="1200150"/>
            <a:ext cx="3556000" cy="2209800"/>
          </a:xfrm>
          <a:prstGeom prst="rect">
            <a:avLst/>
          </a:prstGeom>
          <a:solidFill>
            <a:srgbClr val="FFFFFF"/>
          </a:solidFill>
          <a:ln w="9525">
            <a:solidFill>
              <a:srgbClr val="E4D9D6"/>
            </a:solidFill>
          </a:ln>
        </p:spPr>
      </p:sp>
      <p:sp>
        <p:nvSpPr>
          <p:cNvPr id="6" name="Oval 5">
            <a:extLst>
              <a:ext uri="{FF2B5EF4-FFF2-40B4-BE49-F238E27FC236}">
                <a16:creationId xmlns:a16="http://schemas.microsoft.com/office/drawing/2014/main" id="{4A780F23-29DA-49AE-A06F-A15EB3617AD0}"/>
              </a:ext>
            </a:extLst>
          </p:cNvPr>
          <p:cNvSpPr>
            <a:spLocks noGrp="1"/>
          </p:cNvSpPr>
          <p:nvPr/>
        </p:nvSpPr>
        <p:spPr>
          <a:xfrm>
            <a:off x="781050" y="1428750"/>
            <a:ext cx="400050" cy="400050"/>
          </a:xfrm>
          <a:prstGeom prst="ellipse">
            <a:avLst/>
          </a:prstGeom>
          <a:solidFill>
            <a:srgbClr val="990011"/>
          </a:solidFill>
          <a:ln w="0">
            <a:noFill/>
          </a:ln>
        </p:spPr>
      </p:sp>
      <p:sp>
        <p:nvSpPr>
          <p:cNvPr id="7" name="Rectangle 6">
            <a:extLst>
              <a:ext uri="{FF2B5EF4-FFF2-40B4-BE49-F238E27FC236}">
                <a16:creationId xmlns:a16="http://schemas.microsoft.com/office/drawing/2014/main" id="{43754D6F-086C-4222-9DD9-569054E53CA0}"/>
              </a:ext>
            </a:extLst>
          </p:cNvPr>
          <p:cNvSpPr>
            <a:spLocks noGrp="1"/>
          </p:cNvSpPr>
          <p:nvPr/>
        </p:nvSpPr>
        <p:spPr>
          <a:xfrm>
            <a:off x="781050" y="142875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a:t>
            </a:r>
          </a:p>
        </p:txBody>
      </p:sp>
      <p:sp>
        <p:nvSpPr>
          <p:cNvPr id="8" name="Rectangle 7">
            <a:extLst>
              <a:ext uri="{FF2B5EF4-FFF2-40B4-BE49-F238E27FC236}">
                <a16:creationId xmlns:a16="http://schemas.microsoft.com/office/drawing/2014/main" id="{A61C4397-C492-4128-A09B-D5E38FF2A3EB}"/>
              </a:ext>
            </a:extLst>
          </p:cNvPr>
          <p:cNvSpPr>
            <a:spLocks noGrp="1"/>
          </p:cNvSpPr>
          <p:nvPr/>
        </p:nvSpPr>
        <p:spPr>
          <a:xfrm>
            <a:off x="819150" y="2038350"/>
            <a:ext cx="3022600" cy="11620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SYSTEMS PLANNING </a:t>
            </a:r>
          </a:p>
        </p:txBody>
      </p:sp>
      <p:sp>
        <p:nvSpPr>
          <p:cNvPr id="9" name="Rectangle 8">
            <a:extLst>
              <a:ext uri="{FF2B5EF4-FFF2-40B4-BE49-F238E27FC236}">
                <a16:creationId xmlns:a16="http://schemas.microsoft.com/office/drawing/2014/main" id="{6C8BE036-5965-4936-905A-2F2644BDEB9D}"/>
              </a:ext>
            </a:extLst>
          </p:cNvPr>
          <p:cNvSpPr>
            <a:spLocks noGrp="1"/>
          </p:cNvSpPr>
          <p:nvPr/>
        </p:nvSpPr>
        <p:spPr>
          <a:xfrm>
            <a:off x="4318000" y="1200150"/>
            <a:ext cx="3556000" cy="2209800"/>
          </a:xfrm>
          <a:prstGeom prst="rect">
            <a:avLst/>
          </a:prstGeom>
          <a:solidFill>
            <a:srgbClr val="FFFFFF"/>
          </a:solidFill>
          <a:ln w="9525">
            <a:solidFill>
              <a:srgbClr val="E4D9D6"/>
            </a:solidFill>
          </a:ln>
        </p:spPr>
      </p:sp>
      <p:sp>
        <p:nvSpPr>
          <p:cNvPr id="10" name="Oval 9">
            <a:extLst>
              <a:ext uri="{FF2B5EF4-FFF2-40B4-BE49-F238E27FC236}">
                <a16:creationId xmlns:a16="http://schemas.microsoft.com/office/drawing/2014/main" id="{BF17AD3A-EC86-4735-86BF-5F73EFE2C6A5}"/>
              </a:ext>
            </a:extLst>
          </p:cNvPr>
          <p:cNvSpPr>
            <a:spLocks noGrp="1"/>
          </p:cNvSpPr>
          <p:nvPr/>
        </p:nvSpPr>
        <p:spPr>
          <a:xfrm>
            <a:off x="4546600" y="1428750"/>
            <a:ext cx="400050" cy="400050"/>
          </a:xfrm>
          <a:prstGeom prst="ellipse">
            <a:avLst/>
          </a:prstGeom>
          <a:solidFill>
            <a:srgbClr val="990011"/>
          </a:solidFill>
          <a:ln w="0">
            <a:noFill/>
          </a:ln>
        </p:spPr>
      </p:sp>
      <p:sp>
        <p:nvSpPr>
          <p:cNvPr id="11" name="Rectangle 10">
            <a:extLst>
              <a:ext uri="{FF2B5EF4-FFF2-40B4-BE49-F238E27FC236}">
                <a16:creationId xmlns:a16="http://schemas.microsoft.com/office/drawing/2014/main" id="{393F2C5A-A2C8-47E4-AB50-68531A27C388}"/>
              </a:ext>
            </a:extLst>
          </p:cNvPr>
          <p:cNvSpPr>
            <a:spLocks noGrp="1"/>
          </p:cNvSpPr>
          <p:nvPr/>
        </p:nvSpPr>
        <p:spPr>
          <a:xfrm>
            <a:off x="4546600" y="142875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a:t>
            </a:r>
          </a:p>
        </p:txBody>
      </p:sp>
      <p:sp>
        <p:nvSpPr>
          <p:cNvPr id="12" name="Rectangle 11">
            <a:extLst>
              <a:ext uri="{FF2B5EF4-FFF2-40B4-BE49-F238E27FC236}">
                <a16:creationId xmlns:a16="http://schemas.microsoft.com/office/drawing/2014/main" id="{0320194F-B441-4A59-B0DF-295E8FE1E473}"/>
              </a:ext>
            </a:extLst>
          </p:cNvPr>
          <p:cNvSpPr>
            <a:spLocks noGrp="1"/>
          </p:cNvSpPr>
          <p:nvPr/>
        </p:nvSpPr>
        <p:spPr>
          <a:xfrm>
            <a:off x="4584700" y="2038350"/>
            <a:ext cx="3022600" cy="11620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THE INITIAL INVESTIGATION </a:t>
            </a:r>
          </a:p>
        </p:txBody>
      </p:sp>
      <p:sp>
        <p:nvSpPr>
          <p:cNvPr id="13" name="Rectangle 12">
            <a:extLst>
              <a:ext uri="{FF2B5EF4-FFF2-40B4-BE49-F238E27FC236}">
                <a16:creationId xmlns:a16="http://schemas.microsoft.com/office/drawing/2014/main" id="{9C737B2C-9190-4351-8D8E-578994D64FF4}"/>
              </a:ext>
            </a:extLst>
          </p:cNvPr>
          <p:cNvSpPr>
            <a:spLocks noGrp="1"/>
          </p:cNvSpPr>
          <p:nvPr/>
        </p:nvSpPr>
        <p:spPr>
          <a:xfrm>
            <a:off x="8083550" y="1200150"/>
            <a:ext cx="3556000" cy="2209800"/>
          </a:xfrm>
          <a:prstGeom prst="rect">
            <a:avLst/>
          </a:prstGeom>
          <a:solidFill>
            <a:srgbClr val="FFFFFF"/>
          </a:solidFill>
          <a:ln w="9525">
            <a:solidFill>
              <a:srgbClr val="E4D9D6"/>
            </a:solidFill>
          </a:ln>
        </p:spPr>
      </p:sp>
      <p:sp>
        <p:nvSpPr>
          <p:cNvPr id="14" name="Oval 13">
            <a:extLst>
              <a:ext uri="{FF2B5EF4-FFF2-40B4-BE49-F238E27FC236}">
                <a16:creationId xmlns:a16="http://schemas.microsoft.com/office/drawing/2014/main" id="{AEA91D04-F774-442A-927D-838F6D9AB7CA}"/>
              </a:ext>
            </a:extLst>
          </p:cNvPr>
          <p:cNvSpPr>
            <a:spLocks noGrp="1"/>
          </p:cNvSpPr>
          <p:nvPr/>
        </p:nvSpPr>
        <p:spPr>
          <a:xfrm>
            <a:off x="8312150" y="1428750"/>
            <a:ext cx="400050" cy="400050"/>
          </a:xfrm>
          <a:prstGeom prst="ellipse">
            <a:avLst/>
          </a:prstGeom>
          <a:solidFill>
            <a:srgbClr val="990011"/>
          </a:solidFill>
          <a:ln w="0">
            <a:noFill/>
          </a:ln>
        </p:spPr>
      </p:sp>
      <p:sp>
        <p:nvSpPr>
          <p:cNvPr id="15" name="Rectangle 14">
            <a:extLst>
              <a:ext uri="{FF2B5EF4-FFF2-40B4-BE49-F238E27FC236}">
                <a16:creationId xmlns:a16="http://schemas.microsoft.com/office/drawing/2014/main" id="{79C28F67-0C0B-4C31-8911-1343E409D3F6}"/>
              </a:ext>
            </a:extLst>
          </p:cNvPr>
          <p:cNvSpPr>
            <a:spLocks noGrp="1"/>
          </p:cNvSpPr>
          <p:nvPr/>
        </p:nvSpPr>
        <p:spPr>
          <a:xfrm>
            <a:off x="8312150" y="142875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3</a:t>
            </a:r>
          </a:p>
        </p:txBody>
      </p:sp>
      <p:sp>
        <p:nvSpPr>
          <p:cNvPr id="16" name="Rectangle 15">
            <a:extLst>
              <a:ext uri="{FF2B5EF4-FFF2-40B4-BE49-F238E27FC236}">
                <a16:creationId xmlns:a16="http://schemas.microsoft.com/office/drawing/2014/main" id="{5BC98030-BB41-4151-A81D-578FB6C56900}"/>
              </a:ext>
            </a:extLst>
          </p:cNvPr>
          <p:cNvSpPr>
            <a:spLocks noGrp="1"/>
          </p:cNvSpPr>
          <p:nvPr/>
        </p:nvSpPr>
        <p:spPr>
          <a:xfrm>
            <a:off x="8350250" y="2038350"/>
            <a:ext cx="3022600" cy="11620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 INFORMATION GATHERING </a:t>
            </a:r>
          </a:p>
        </p:txBody>
      </p:sp>
      <p:sp>
        <p:nvSpPr>
          <p:cNvPr id="17" name="Rectangle 16">
            <a:extLst>
              <a:ext uri="{FF2B5EF4-FFF2-40B4-BE49-F238E27FC236}">
                <a16:creationId xmlns:a16="http://schemas.microsoft.com/office/drawing/2014/main" id="{1B230641-788B-405D-8939-A882AB687E73}"/>
              </a:ext>
            </a:extLst>
          </p:cNvPr>
          <p:cNvSpPr>
            <a:spLocks noGrp="1"/>
          </p:cNvSpPr>
          <p:nvPr/>
        </p:nvSpPr>
        <p:spPr>
          <a:xfrm>
            <a:off x="552450" y="3619500"/>
            <a:ext cx="3556000" cy="2209800"/>
          </a:xfrm>
          <a:prstGeom prst="rect">
            <a:avLst/>
          </a:prstGeom>
          <a:solidFill>
            <a:srgbClr val="FFFFFF"/>
          </a:solidFill>
          <a:ln w="9525">
            <a:solidFill>
              <a:srgbClr val="E4D9D6"/>
            </a:solidFill>
          </a:ln>
        </p:spPr>
      </p:sp>
      <p:sp>
        <p:nvSpPr>
          <p:cNvPr id="18" name="Oval 17">
            <a:extLst>
              <a:ext uri="{FF2B5EF4-FFF2-40B4-BE49-F238E27FC236}">
                <a16:creationId xmlns:a16="http://schemas.microsoft.com/office/drawing/2014/main" id="{17092455-99DF-42D1-883F-6012A274B315}"/>
              </a:ext>
            </a:extLst>
          </p:cNvPr>
          <p:cNvSpPr>
            <a:spLocks noGrp="1"/>
          </p:cNvSpPr>
          <p:nvPr/>
        </p:nvSpPr>
        <p:spPr>
          <a:xfrm>
            <a:off x="781050" y="3848100"/>
            <a:ext cx="400050" cy="400050"/>
          </a:xfrm>
          <a:prstGeom prst="ellipse">
            <a:avLst/>
          </a:prstGeom>
          <a:solidFill>
            <a:srgbClr val="990011"/>
          </a:solidFill>
          <a:ln w="0">
            <a:noFill/>
          </a:ln>
        </p:spPr>
      </p:sp>
      <p:sp>
        <p:nvSpPr>
          <p:cNvPr id="19" name="Rectangle 18">
            <a:extLst>
              <a:ext uri="{FF2B5EF4-FFF2-40B4-BE49-F238E27FC236}">
                <a16:creationId xmlns:a16="http://schemas.microsoft.com/office/drawing/2014/main" id="{E09B9148-A7B8-4E78-A6C0-F2617221EA81}"/>
              </a:ext>
            </a:extLst>
          </p:cNvPr>
          <p:cNvSpPr>
            <a:spLocks noGrp="1"/>
          </p:cNvSpPr>
          <p:nvPr/>
        </p:nvSpPr>
        <p:spPr>
          <a:xfrm>
            <a:off x="781050" y="384810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4</a:t>
            </a:r>
          </a:p>
        </p:txBody>
      </p:sp>
      <p:sp>
        <p:nvSpPr>
          <p:cNvPr id="20" name="Rectangle 19">
            <a:extLst>
              <a:ext uri="{FF2B5EF4-FFF2-40B4-BE49-F238E27FC236}">
                <a16:creationId xmlns:a16="http://schemas.microsoft.com/office/drawing/2014/main" id="{B8F1C11B-8503-441B-9228-DBCDF24E0D25}"/>
              </a:ext>
            </a:extLst>
          </p:cNvPr>
          <p:cNvSpPr>
            <a:spLocks noGrp="1"/>
          </p:cNvSpPr>
          <p:nvPr/>
        </p:nvSpPr>
        <p:spPr>
          <a:xfrm>
            <a:off x="819150" y="4457700"/>
            <a:ext cx="3022600" cy="11620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THE TOOLS OF STRUCTURED ANALYSIS </a:t>
            </a:r>
          </a:p>
        </p:txBody>
      </p:sp>
      <p:sp>
        <p:nvSpPr>
          <p:cNvPr id="21" name="Rectangle 20">
            <a:extLst>
              <a:ext uri="{FF2B5EF4-FFF2-40B4-BE49-F238E27FC236}">
                <a16:creationId xmlns:a16="http://schemas.microsoft.com/office/drawing/2014/main" id="{F0EBFB5A-66CB-4C13-99FE-10B8A172FC98}"/>
              </a:ext>
            </a:extLst>
          </p:cNvPr>
          <p:cNvSpPr>
            <a:spLocks noGrp="1"/>
          </p:cNvSpPr>
          <p:nvPr/>
        </p:nvSpPr>
        <p:spPr>
          <a:xfrm>
            <a:off x="4318000" y="3619500"/>
            <a:ext cx="3556000" cy="2209800"/>
          </a:xfrm>
          <a:prstGeom prst="rect">
            <a:avLst/>
          </a:prstGeom>
          <a:solidFill>
            <a:srgbClr val="FFFFFF"/>
          </a:solidFill>
          <a:ln w="9525">
            <a:solidFill>
              <a:srgbClr val="E4D9D6"/>
            </a:solidFill>
          </a:ln>
        </p:spPr>
      </p:sp>
      <p:sp>
        <p:nvSpPr>
          <p:cNvPr id="22" name="Oval 21">
            <a:extLst>
              <a:ext uri="{FF2B5EF4-FFF2-40B4-BE49-F238E27FC236}">
                <a16:creationId xmlns:a16="http://schemas.microsoft.com/office/drawing/2014/main" id="{25958454-E2EE-4193-BCF4-C152EACEA387}"/>
              </a:ext>
            </a:extLst>
          </p:cNvPr>
          <p:cNvSpPr>
            <a:spLocks noGrp="1"/>
          </p:cNvSpPr>
          <p:nvPr/>
        </p:nvSpPr>
        <p:spPr>
          <a:xfrm>
            <a:off x="4546600" y="3848100"/>
            <a:ext cx="400050" cy="400050"/>
          </a:xfrm>
          <a:prstGeom prst="ellipse">
            <a:avLst/>
          </a:prstGeom>
          <a:solidFill>
            <a:srgbClr val="990011"/>
          </a:solidFill>
          <a:ln w="0">
            <a:noFill/>
          </a:ln>
        </p:spPr>
      </p:sp>
      <p:sp>
        <p:nvSpPr>
          <p:cNvPr id="23" name="Rectangle 22">
            <a:extLst>
              <a:ext uri="{FF2B5EF4-FFF2-40B4-BE49-F238E27FC236}">
                <a16:creationId xmlns:a16="http://schemas.microsoft.com/office/drawing/2014/main" id="{8F369EEB-C8D7-4BB2-A5BC-0C2CBE294CA0}"/>
              </a:ext>
            </a:extLst>
          </p:cNvPr>
          <p:cNvSpPr>
            <a:spLocks noGrp="1"/>
          </p:cNvSpPr>
          <p:nvPr/>
        </p:nvSpPr>
        <p:spPr>
          <a:xfrm>
            <a:off x="4546600" y="384810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5</a:t>
            </a:r>
          </a:p>
        </p:txBody>
      </p:sp>
      <p:sp>
        <p:nvSpPr>
          <p:cNvPr id="24" name="Rectangle 23">
            <a:extLst>
              <a:ext uri="{FF2B5EF4-FFF2-40B4-BE49-F238E27FC236}">
                <a16:creationId xmlns:a16="http://schemas.microsoft.com/office/drawing/2014/main" id="{57D64A39-B888-4C1F-9377-A59A6BFD2CBE}"/>
              </a:ext>
            </a:extLst>
          </p:cNvPr>
          <p:cNvSpPr>
            <a:spLocks noGrp="1"/>
          </p:cNvSpPr>
          <p:nvPr/>
        </p:nvSpPr>
        <p:spPr>
          <a:xfrm>
            <a:off x="4584700" y="4457700"/>
            <a:ext cx="3022600" cy="11620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FEASIBILITY STUDY </a:t>
            </a:r>
          </a:p>
        </p:txBody>
      </p:sp>
      <p:sp>
        <p:nvSpPr>
          <p:cNvPr id="25" name="Rectangle 24">
            <a:extLst>
              <a:ext uri="{FF2B5EF4-FFF2-40B4-BE49-F238E27FC236}">
                <a16:creationId xmlns:a16="http://schemas.microsoft.com/office/drawing/2014/main" id="{6758A3F6-C373-4F74-BE90-F48D94D9AD8F}"/>
              </a:ext>
            </a:extLst>
          </p:cNvPr>
          <p:cNvSpPr>
            <a:spLocks noGrp="1"/>
          </p:cNvSpPr>
          <p:nvPr/>
        </p:nvSpPr>
        <p:spPr>
          <a:xfrm>
            <a:off x="8083550" y="3619500"/>
            <a:ext cx="3556000" cy="2209800"/>
          </a:xfrm>
          <a:prstGeom prst="rect">
            <a:avLst/>
          </a:prstGeom>
          <a:solidFill>
            <a:srgbClr val="FFFFFF"/>
          </a:solidFill>
          <a:ln w="9525">
            <a:solidFill>
              <a:srgbClr val="E4D9D6"/>
            </a:solidFill>
          </a:ln>
        </p:spPr>
      </p:sp>
      <p:sp>
        <p:nvSpPr>
          <p:cNvPr id="26" name="Oval 25">
            <a:extLst>
              <a:ext uri="{FF2B5EF4-FFF2-40B4-BE49-F238E27FC236}">
                <a16:creationId xmlns:a16="http://schemas.microsoft.com/office/drawing/2014/main" id="{DCBCEC48-50D9-4F7D-A800-B164E747B9A7}"/>
              </a:ext>
            </a:extLst>
          </p:cNvPr>
          <p:cNvSpPr>
            <a:spLocks noGrp="1"/>
          </p:cNvSpPr>
          <p:nvPr/>
        </p:nvSpPr>
        <p:spPr>
          <a:xfrm>
            <a:off x="8312150" y="3848100"/>
            <a:ext cx="400050" cy="400050"/>
          </a:xfrm>
          <a:prstGeom prst="ellipse">
            <a:avLst/>
          </a:prstGeom>
          <a:solidFill>
            <a:srgbClr val="990011"/>
          </a:solidFill>
          <a:ln w="0">
            <a:noFill/>
          </a:ln>
        </p:spPr>
      </p:sp>
      <p:sp>
        <p:nvSpPr>
          <p:cNvPr id="27" name="Rectangle 26">
            <a:extLst>
              <a:ext uri="{FF2B5EF4-FFF2-40B4-BE49-F238E27FC236}">
                <a16:creationId xmlns:a16="http://schemas.microsoft.com/office/drawing/2014/main" id="{7D53ABDC-F249-4CCA-B4F3-2CE759C373C0}"/>
              </a:ext>
            </a:extLst>
          </p:cNvPr>
          <p:cNvSpPr>
            <a:spLocks noGrp="1"/>
          </p:cNvSpPr>
          <p:nvPr/>
        </p:nvSpPr>
        <p:spPr>
          <a:xfrm>
            <a:off x="8312150" y="384810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6</a:t>
            </a:r>
          </a:p>
        </p:txBody>
      </p:sp>
      <p:sp>
        <p:nvSpPr>
          <p:cNvPr id="28" name="Rectangle 27">
            <a:extLst>
              <a:ext uri="{FF2B5EF4-FFF2-40B4-BE49-F238E27FC236}">
                <a16:creationId xmlns:a16="http://schemas.microsoft.com/office/drawing/2014/main" id="{FFF9344D-4E32-4233-8748-24E59A7BE98C}"/>
              </a:ext>
            </a:extLst>
          </p:cNvPr>
          <p:cNvSpPr>
            <a:spLocks noGrp="1"/>
          </p:cNvSpPr>
          <p:nvPr/>
        </p:nvSpPr>
        <p:spPr>
          <a:xfrm>
            <a:off x="8350250" y="4457700"/>
            <a:ext cx="3022600" cy="11620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COST/BENEFIT ANALYSIS</a:t>
            </a:r>
          </a:p>
        </p:txBody>
      </p:sp>
    </p:spTree>
    <p:extLst>
      <p:ext uri="{BB962C8B-B14F-4D97-AF65-F5344CB8AC3E}">
        <p14:creationId xmlns:p14="http://schemas.microsoft.com/office/powerpoint/2010/main" val="1835753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2A35E5-6195-4D1F-9649-378F0FB4258D}"/>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SYSTEMS PLANNING</a:t>
            </a:r>
          </a:p>
        </p:txBody>
      </p:sp>
      <p:sp>
        <p:nvSpPr>
          <p:cNvPr id="2" name="Rectangle 1">
            <a:extLst>
              <a:ext uri="{FF2B5EF4-FFF2-40B4-BE49-F238E27FC236}">
                <a16:creationId xmlns:a16="http://schemas.microsoft.com/office/drawing/2014/main" id="{EEBCE162-5300-46E3-9305-AAE50F7ABB34}"/>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3" name="Rectangle 2">
            <a:extLst>
              <a:ext uri="{FF2B5EF4-FFF2-40B4-BE49-F238E27FC236}">
                <a16:creationId xmlns:a16="http://schemas.microsoft.com/office/drawing/2014/main" id="{F7174A69-BFEC-4CFC-8D2A-F905D1A10A1D}"/>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4" name="Oval 3">
            <a:extLst>
              <a:ext uri="{FF2B5EF4-FFF2-40B4-BE49-F238E27FC236}">
                <a16:creationId xmlns:a16="http://schemas.microsoft.com/office/drawing/2014/main" id="{4EAFF31C-B8F3-4F08-9C0D-CB94B5B095F9}"/>
              </a:ext>
            </a:extLst>
          </p:cNvPr>
          <p:cNvSpPr>
            <a:spLocks noGrp="1"/>
          </p:cNvSpPr>
          <p:nvPr/>
        </p:nvSpPr>
        <p:spPr>
          <a:xfrm>
            <a:off x="11624786" y="6291072"/>
            <a:ext cx="365760" cy="365760"/>
          </a:xfrm>
          <a:prstGeom prst="ellipse">
            <a:avLst/>
          </a:prstGeom>
          <a:solidFill>
            <a:srgbClr val="990011"/>
          </a:solidFill>
          <a:ln w="0">
            <a:noFill/>
          </a:ln>
        </p:spPr>
      </p:sp>
      <p:sp>
        <p:nvSpPr>
          <p:cNvPr id="5" name="Rectangle 4">
            <a:extLst>
              <a:ext uri="{FF2B5EF4-FFF2-40B4-BE49-F238E27FC236}">
                <a16:creationId xmlns:a16="http://schemas.microsoft.com/office/drawing/2014/main" id="{D1F829F3-CB53-4866-B8B2-7A893ECD5B34}"/>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3</a:t>
            </a:r>
          </a:p>
        </p:txBody>
      </p:sp>
      <p:sp>
        <p:nvSpPr>
          <p:cNvPr id="6" name="Rectangle 5">
            <a:extLst>
              <a:ext uri="{FF2B5EF4-FFF2-40B4-BE49-F238E27FC236}">
                <a16:creationId xmlns:a16="http://schemas.microsoft.com/office/drawing/2014/main" id="{89E58958-7DA5-440A-B8B4-B89FF9E01858}"/>
              </a:ext>
            </a:extLst>
          </p:cNvPr>
          <p:cNvSpPr>
            <a:spLocks noGrp="1"/>
          </p:cNvSpPr>
          <p:nvPr/>
        </p:nvSpPr>
        <p:spPr>
          <a:xfrm>
            <a:off x="552450" y="1676400"/>
            <a:ext cx="11068050" cy="3848100"/>
          </a:xfrm>
          <a:prstGeom prst="rect">
            <a:avLst/>
          </a:prstGeom>
          <a:solidFill>
            <a:srgbClr val="FCF6F5"/>
          </a:solidFill>
          <a:ln w="0">
            <a:noFill/>
          </a:ln>
        </p:spPr>
      </p:sp>
      <p:sp>
        <p:nvSpPr>
          <p:cNvPr id="7" name="Rectangle 6">
            <a:extLst>
              <a:ext uri="{FF2B5EF4-FFF2-40B4-BE49-F238E27FC236}">
                <a16:creationId xmlns:a16="http://schemas.microsoft.com/office/drawing/2014/main" id="{FBF268AD-52DE-4BD0-B618-42267BB4CB8E}"/>
              </a:ext>
            </a:extLst>
          </p:cNvPr>
          <p:cNvSpPr>
            <a:spLocks noGrp="1"/>
          </p:cNvSpPr>
          <p:nvPr/>
        </p:nvSpPr>
        <p:spPr>
          <a:xfrm>
            <a:off x="990600" y="2333625"/>
            <a:ext cx="10134600" cy="2571750"/>
          </a:xfrm>
          <a:prstGeom prst="rect">
            <a:avLst/>
          </a:prstGeom>
          <a:noFill/>
          <a:ln w="0">
            <a:noFill/>
          </a:ln>
        </p:spPr>
        <p:txBody>
          <a:bodyPr wrap="square" lIns="0" tIns="0" rIns="0" bIns="0" anchor="t">
            <a:noAutofit/>
          </a:bodyPr>
          <a:lstStyle/>
          <a:p>
            <a:pPr algn="just">
              <a:defRPr sz="2400">
                <a:solidFill>
                  <a:srgbClr val="2A2A2A"/>
                </a:solidFill>
                <a:latin typeface="Georgia"/>
                <a:ea typeface="Georgia"/>
                <a:cs typeface="Georgia"/>
              </a:defRPr>
            </a:pPr>
            <a:r>
              <a:rPr sz="2400" b="0">
                <a:solidFill>
                  <a:srgbClr val="2A2A2A"/>
                </a:solidFill>
                <a:latin typeface="Georgia"/>
                <a:ea typeface="Georgia"/>
                <a:cs typeface="Georgia"/>
              </a:rPr>
              <a:t>Effective system development must begin with proper MIS planning, supported by management, because planning guides all phases of the system life cycle and is essential for successful system analysis, investigation, and implementation.</a:t>
            </a:r>
          </a:p>
        </p:txBody>
      </p:sp>
    </p:spTree>
    <p:extLst>
      <p:ext uri="{BB962C8B-B14F-4D97-AF65-F5344CB8AC3E}">
        <p14:creationId xmlns:p14="http://schemas.microsoft.com/office/powerpoint/2010/main" val="787404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209A2E3-9EEC-4703-B224-281B8707A841}"/>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SYSTEMS PLANNING</a:t>
            </a:r>
          </a:p>
        </p:txBody>
      </p:sp>
      <p:sp>
        <p:nvSpPr>
          <p:cNvPr id="2" name="Rectangle 1">
            <a:extLst>
              <a:ext uri="{FF2B5EF4-FFF2-40B4-BE49-F238E27FC236}">
                <a16:creationId xmlns:a16="http://schemas.microsoft.com/office/drawing/2014/main" id="{802400CF-A4D8-4531-8CE2-8BA994A3FFAC}"/>
              </a:ext>
            </a:extLst>
          </p:cNvPr>
          <p:cNvSpPr>
            <a:spLocks noGrp="1"/>
          </p:cNvSpPr>
          <p:nvPr/>
        </p:nvSpPr>
        <p:spPr>
          <a:xfrm>
            <a:off x="552450" y="781050"/>
            <a:ext cx="11049000" cy="104775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BASES FOR PLANNING IN SYSTEMS ANALYSIS</a:t>
            </a:r>
          </a:p>
        </p:txBody>
      </p:sp>
      <p:sp>
        <p:nvSpPr>
          <p:cNvPr id="3" name="Rectangle 2">
            <a:extLst>
              <a:ext uri="{FF2B5EF4-FFF2-40B4-BE49-F238E27FC236}">
                <a16:creationId xmlns:a16="http://schemas.microsoft.com/office/drawing/2014/main" id="{CFAEE6C5-C8A4-43A5-965C-281FF205D5B2}"/>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C3CB1F67-C3D6-41C2-9D89-3B4258385252}"/>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583FC787-BA2D-4075-8287-5B606141D30A}"/>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E6D81ED2-91AC-4F93-9F84-9F4811F6192C}"/>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4</a:t>
            </a:r>
          </a:p>
        </p:txBody>
      </p:sp>
      <p:sp>
        <p:nvSpPr>
          <p:cNvPr id="7" name="Rectangle 6">
            <a:extLst>
              <a:ext uri="{FF2B5EF4-FFF2-40B4-BE49-F238E27FC236}">
                <a16:creationId xmlns:a16="http://schemas.microsoft.com/office/drawing/2014/main" id="{96344142-176D-4F16-B741-2E56274F25F2}"/>
              </a:ext>
            </a:extLst>
          </p:cNvPr>
          <p:cNvSpPr>
            <a:spLocks noGrp="1"/>
          </p:cNvSpPr>
          <p:nvPr/>
        </p:nvSpPr>
        <p:spPr>
          <a:xfrm>
            <a:off x="552450" y="2047875"/>
            <a:ext cx="3556000" cy="4067175"/>
          </a:xfrm>
          <a:prstGeom prst="rect">
            <a:avLst/>
          </a:prstGeom>
          <a:solidFill>
            <a:srgbClr val="FFFFFF"/>
          </a:solidFill>
          <a:ln w="9525">
            <a:solidFill>
              <a:srgbClr val="E4D9D6"/>
            </a:solidFill>
          </a:ln>
        </p:spPr>
      </p:sp>
      <p:sp>
        <p:nvSpPr>
          <p:cNvPr id="8" name="Oval 7">
            <a:extLst>
              <a:ext uri="{FF2B5EF4-FFF2-40B4-BE49-F238E27FC236}">
                <a16:creationId xmlns:a16="http://schemas.microsoft.com/office/drawing/2014/main" id="{501A2477-CE00-4CE1-9B50-A4998513D7A2}"/>
              </a:ext>
            </a:extLst>
          </p:cNvPr>
          <p:cNvSpPr>
            <a:spLocks noGrp="1"/>
          </p:cNvSpPr>
          <p:nvPr/>
        </p:nvSpPr>
        <p:spPr>
          <a:xfrm>
            <a:off x="781050" y="2276475"/>
            <a:ext cx="400050" cy="400050"/>
          </a:xfrm>
          <a:prstGeom prst="ellipse">
            <a:avLst/>
          </a:prstGeom>
          <a:solidFill>
            <a:srgbClr val="990011"/>
          </a:solidFill>
          <a:ln w="0">
            <a:noFill/>
          </a:ln>
        </p:spPr>
      </p:sp>
      <p:sp>
        <p:nvSpPr>
          <p:cNvPr id="9" name="Rectangle 8">
            <a:extLst>
              <a:ext uri="{FF2B5EF4-FFF2-40B4-BE49-F238E27FC236}">
                <a16:creationId xmlns:a16="http://schemas.microsoft.com/office/drawing/2014/main" id="{D11BF7A7-EC90-4487-BB73-9A94FE3C2154}"/>
              </a:ext>
            </a:extLst>
          </p:cNvPr>
          <p:cNvSpPr>
            <a:spLocks noGrp="1"/>
          </p:cNvSpPr>
          <p:nvPr/>
        </p:nvSpPr>
        <p:spPr>
          <a:xfrm>
            <a:off x="781050" y="227647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a:t>
            </a:r>
          </a:p>
        </p:txBody>
      </p:sp>
      <p:sp>
        <p:nvSpPr>
          <p:cNvPr id="10" name="Rectangle 9">
            <a:extLst>
              <a:ext uri="{FF2B5EF4-FFF2-40B4-BE49-F238E27FC236}">
                <a16:creationId xmlns:a16="http://schemas.microsoft.com/office/drawing/2014/main" id="{155F5079-3170-46FA-BA03-0D51E40E1DA9}"/>
              </a:ext>
            </a:extLst>
          </p:cNvPr>
          <p:cNvSpPr>
            <a:spLocks noGrp="1"/>
          </p:cNvSpPr>
          <p:nvPr/>
        </p:nvSpPr>
        <p:spPr>
          <a:xfrm>
            <a:off x="819150" y="28860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Information as a Resource:</a:t>
            </a:r>
          </a:p>
        </p:txBody>
      </p:sp>
      <p:sp>
        <p:nvSpPr>
          <p:cNvPr id="11" name="Rectangle 10">
            <a:extLst>
              <a:ext uri="{FF2B5EF4-FFF2-40B4-BE49-F238E27FC236}">
                <a16:creationId xmlns:a16="http://schemas.microsoft.com/office/drawing/2014/main" id="{1BCEBB5D-D06C-406F-9A86-933ABEA2E132}"/>
              </a:ext>
            </a:extLst>
          </p:cNvPr>
          <p:cNvSpPr>
            <a:spLocks noGrp="1"/>
          </p:cNvSpPr>
          <p:nvPr/>
        </p:nvSpPr>
        <p:spPr>
          <a:xfrm>
            <a:off x="819150" y="3629025"/>
            <a:ext cx="3022600" cy="227647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Information is a critical organizational asset, equal in importance to money, facilities, and personnel, and must be carefully planned and managed.</a:t>
            </a:r>
          </a:p>
        </p:txBody>
      </p:sp>
      <p:sp>
        <p:nvSpPr>
          <p:cNvPr id="12" name="Rectangle 11">
            <a:extLst>
              <a:ext uri="{FF2B5EF4-FFF2-40B4-BE49-F238E27FC236}">
                <a16:creationId xmlns:a16="http://schemas.microsoft.com/office/drawing/2014/main" id="{52117836-9B0A-49C2-B1BA-3B33CEE45BBC}"/>
              </a:ext>
            </a:extLst>
          </p:cNvPr>
          <p:cNvSpPr>
            <a:spLocks noGrp="1"/>
          </p:cNvSpPr>
          <p:nvPr/>
        </p:nvSpPr>
        <p:spPr>
          <a:xfrm>
            <a:off x="4318000" y="2047875"/>
            <a:ext cx="3556000" cy="4067175"/>
          </a:xfrm>
          <a:prstGeom prst="rect">
            <a:avLst/>
          </a:prstGeom>
          <a:solidFill>
            <a:srgbClr val="FFFFFF"/>
          </a:solidFill>
          <a:ln w="9525">
            <a:solidFill>
              <a:srgbClr val="E4D9D6"/>
            </a:solidFill>
          </a:ln>
        </p:spPr>
      </p:sp>
      <p:sp>
        <p:nvSpPr>
          <p:cNvPr id="13" name="Oval 12">
            <a:extLst>
              <a:ext uri="{FF2B5EF4-FFF2-40B4-BE49-F238E27FC236}">
                <a16:creationId xmlns:a16="http://schemas.microsoft.com/office/drawing/2014/main" id="{67C357E6-A8E1-4CB9-A6FD-A9C9348E8DBD}"/>
              </a:ext>
            </a:extLst>
          </p:cNvPr>
          <p:cNvSpPr>
            <a:spLocks noGrp="1"/>
          </p:cNvSpPr>
          <p:nvPr/>
        </p:nvSpPr>
        <p:spPr>
          <a:xfrm>
            <a:off x="4546600" y="2276475"/>
            <a:ext cx="400050" cy="400050"/>
          </a:xfrm>
          <a:prstGeom prst="ellipse">
            <a:avLst/>
          </a:prstGeom>
          <a:solidFill>
            <a:srgbClr val="990011"/>
          </a:solidFill>
          <a:ln w="0">
            <a:noFill/>
          </a:ln>
        </p:spPr>
      </p:sp>
      <p:sp>
        <p:nvSpPr>
          <p:cNvPr id="14" name="Rectangle 13">
            <a:extLst>
              <a:ext uri="{FF2B5EF4-FFF2-40B4-BE49-F238E27FC236}">
                <a16:creationId xmlns:a16="http://schemas.microsoft.com/office/drawing/2014/main" id="{EF55002F-5250-4AD5-89E7-8EE70C0C7A39}"/>
              </a:ext>
            </a:extLst>
          </p:cNvPr>
          <p:cNvSpPr>
            <a:spLocks noGrp="1"/>
          </p:cNvSpPr>
          <p:nvPr/>
        </p:nvSpPr>
        <p:spPr>
          <a:xfrm>
            <a:off x="4546600" y="227647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a:t>
            </a:r>
          </a:p>
        </p:txBody>
      </p:sp>
      <p:sp>
        <p:nvSpPr>
          <p:cNvPr id="15" name="Rectangle 14">
            <a:extLst>
              <a:ext uri="{FF2B5EF4-FFF2-40B4-BE49-F238E27FC236}">
                <a16:creationId xmlns:a16="http://schemas.microsoft.com/office/drawing/2014/main" id="{2E3FABC8-86E7-40BF-8C0A-48CFAB6362C9}"/>
              </a:ext>
            </a:extLst>
          </p:cNvPr>
          <p:cNvSpPr>
            <a:spLocks noGrp="1"/>
          </p:cNvSpPr>
          <p:nvPr/>
        </p:nvSpPr>
        <p:spPr>
          <a:xfrm>
            <a:off x="4584700" y="28860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High Investment in Systems:</a:t>
            </a:r>
          </a:p>
        </p:txBody>
      </p:sp>
      <p:sp>
        <p:nvSpPr>
          <p:cNvPr id="16" name="Rectangle 15">
            <a:extLst>
              <a:ext uri="{FF2B5EF4-FFF2-40B4-BE49-F238E27FC236}">
                <a16:creationId xmlns:a16="http://schemas.microsoft.com/office/drawing/2014/main" id="{336F6942-2B75-411A-8237-509794B7D823}"/>
              </a:ext>
            </a:extLst>
          </p:cNvPr>
          <p:cNvSpPr>
            <a:spLocks noGrp="1"/>
          </p:cNvSpPr>
          <p:nvPr/>
        </p:nvSpPr>
        <p:spPr>
          <a:xfrm>
            <a:off x="4584700" y="3629025"/>
            <a:ext cx="3022600" cy="227647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Information systems require significant financial investment, demanding proper planning and management oversight.</a:t>
            </a:r>
          </a:p>
        </p:txBody>
      </p:sp>
      <p:sp>
        <p:nvSpPr>
          <p:cNvPr id="17" name="Rectangle 16">
            <a:extLst>
              <a:ext uri="{FF2B5EF4-FFF2-40B4-BE49-F238E27FC236}">
                <a16:creationId xmlns:a16="http://schemas.microsoft.com/office/drawing/2014/main" id="{486F4600-B2A6-41EA-AD43-87D53EDE097C}"/>
              </a:ext>
            </a:extLst>
          </p:cNvPr>
          <p:cNvSpPr>
            <a:spLocks noGrp="1"/>
          </p:cNvSpPr>
          <p:nvPr/>
        </p:nvSpPr>
        <p:spPr>
          <a:xfrm>
            <a:off x="8083550" y="2047875"/>
            <a:ext cx="3556000" cy="4067175"/>
          </a:xfrm>
          <a:prstGeom prst="rect">
            <a:avLst/>
          </a:prstGeom>
          <a:solidFill>
            <a:srgbClr val="FFFFFF"/>
          </a:solidFill>
          <a:ln w="9525">
            <a:solidFill>
              <a:srgbClr val="E4D9D6"/>
            </a:solidFill>
          </a:ln>
        </p:spPr>
      </p:sp>
      <p:sp>
        <p:nvSpPr>
          <p:cNvPr id="18" name="Oval 17">
            <a:extLst>
              <a:ext uri="{FF2B5EF4-FFF2-40B4-BE49-F238E27FC236}">
                <a16:creationId xmlns:a16="http://schemas.microsoft.com/office/drawing/2014/main" id="{B53A4E73-2D81-44DD-91B6-6E0E49B42F35}"/>
              </a:ext>
            </a:extLst>
          </p:cNvPr>
          <p:cNvSpPr>
            <a:spLocks noGrp="1"/>
          </p:cNvSpPr>
          <p:nvPr/>
        </p:nvSpPr>
        <p:spPr>
          <a:xfrm>
            <a:off x="8312150" y="2276475"/>
            <a:ext cx="400050" cy="400050"/>
          </a:xfrm>
          <a:prstGeom prst="ellipse">
            <a:avLst/>
          </a:prstGeom>
          <a:solidFill>
            <a:srgbClr val="990011"/>
          </a:solidFill>
          <a:ln w="0">
            <a:noFill/>
          </a:ln>
        </p:spPr>
      </p:sp>
      <p:sp>
        <p:nvSpPr>
          <p:cNvPr id="19" name="Rectangle 18">
            <a:extLst>
              <a:ext uri="{FF2B5EF4-FFF2-40B4-BE49-F238E27FC236}">
                <a16:creationId xmlns:a16="http://schemas.microsoft.com/office/drawing/2014/main" id="{C82DA518-5DD4-4BCA-ADA3-6CE43F4AA600}"/>
              </a:ext>
            </a:extLst>
          </p:cNvPr>
          <p:cNvSpPr>
            <a:spLocks noGrp="1"/>
          </p:cNvSpPr>
          <p:nvPr/>
        </p:nvSpPr>
        <p:spPr>
          <a:xfrm>
            <a:off x="8312150" y="227647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3</a:t>
            </a:r>
          </a:p>
        </p:txBody>
      </p:sp>
      <p:sp>
        <p:nvSpPr>
          <p:cNvPr id="20" name="Rectangle 19">
            <a:extLst>
              <a:ext uri="{FF2B5EF4-FFF2-40B4-BE49-F238E27FC236}">
                <a16:creationId xmlns:a16="http://schemas.microsoft.com/office/drawing/2014/main" id="{EA33AF71-B896-4372-B76D-23C61412AE92}"/>
              </a:ext>
            </a:extLst>
          </p:cNvPr>
          <p:cNvSpPr>
            <a:spLocks noGrp="1"/>
          </p:cNvSpPr>
          <p:nvPr/>
        </p:nvSpPr>
        <p:spPr>
          <a:xfrm>
            <a:off x="8350250" y="28860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dirty="0">
                <a:solidFill>
                  <a:srgbClr val="2A2A2A"/>
                </a:solidFill>
                <a:latin typeface="Georgia"/>
                <a:ea typeface="Georgia"/>
                <a:cs typeface="Georgia"/>
              </a:rPr>
              <a:t>Need for Long-Term Planning:</a:t>
            </a:r>
          </a:p>
        </p:txBody>
      </p:sp>
      <p:sp>
        <p:nvSpPr>
          <p:cNvPr id="21" name="Rectangle 20">
            <a:extLst>
              <a:ext uri="{FF2B5EF4-FFF2-40B4-BE49-F238E27FC236}">
                <a16:creationId xmlns:a16="http://schemas.microsoft.com/office/drawing/2014/main" id="{08D7436C-D87D-4603-862B-2763D54C25B1}"/>
              </a:ext>
            </a:extLst>
          </p:cNvPr>
          <p:cNvSpPr>
            <a:spLocks noGrp="1"/>
          </p:cNvSpPr>
          <p:nvPr/>
        </p:nvSpPr>
        <p:spPr>
          <a:xfrm>
            <a:off x="8350250" y="3629025"/>
            <a:ext cx="3022600" cy="227647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dirty="0">
                <a:solidFill>
                  <a:srgbClr val="6B6B6B"/>
                </a:solidFill>
                <a:latin typeface="Georgia"/>
                <a:ea typeface="Georgia"/>
                <a:cs typeface="Georgia"/>
              </a:rPr>
              <a:t>Modern systems are complex, integrated, and long-term, requiring formal planning to align them with organizational goals and reduce isolated systems.</a:t>
            </a:r>
          </a:p>
        </p:txBody>
      </p:sp>
    </p:spTree>
    <p:extLst>
      <p:ext uri="{BB962C8B-B14F-4D97-AF65-F5344CB8AC3E}">
        <p14:creationId xmlns:p14="http://schemas.microsoft.com/office/powerpoint/2010/main" val="194060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F2984FC-1307-4881-B679-0273F32854EF}"/>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SYSTEMS PLANNING</a:t>
            </a:r>
          </a:p>
        </p:txBody>
      </p:sp>
      <p:sp>
        <p:nvSpPr>
          <p:cNvPr id="2" name="Rectangle 1">
            <a:extLst>
              <a:ext uri="{FF2B5EF4-FFF2-40B4-BE49-F238E27FC236}">
                <a16:creationId xmlns:a16="http://schemas.microsoft.com/office/drawing/2014/main" id="{451CF018-C79D-4BAA-B578-F4CE3CF80301}"/>
              </a:ext>
            </a:extLst>
          </p:cNvPr>
          <p:cNvSpPr>
            <a:spLocks noGrp="1"/>
          </p:cNvSpPr>
          <p:nvPr/>
        </p:nvSpPr>
        <p:spPr>
          <a:xfrm>
            <a:off x="552450" y="781050"/>
            <a:ext cx="11049000" cy="104775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Business Conditions Influencing Systems Planning</a:t>
            </a:r>
          </a:p>
        </p:txBody>
      </p:sp>
      <p:sp>
        <p:nvSpPr>
          <p:cNvPr id="3" name="Rectangle 2">
            <a:extLst>
              <a:ext uri="{FF2B5EF4-FFF2-40B4-BE49-F238E27FC236}">
                <a16:creationId xmlns:a16="http://schemas.microsoft.com/office/drawing/2014/main" id="{7FCA7505-148E-4492-A6DC-D20BFAF6434B}"/>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A108A998-D7AB-4333-AB3A-55CFDD5A73C4}"/>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FD9C1B66-FFC0-48F8-8E40-E29C7341E30E}"/>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54EB2A53-1927-461E-ADD0-7D47007A7497}"/>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5</a:t>
            </a:r>
          </a:p>
        </p:txBody>
      </p:sp>
      <p:sp>
        <p:nvSpPr>
          <p:cNvPr id="7" name="Rectangle 6">
            <a:extLst>
              <a:ext uri="{FF2B5EF4-FFF2-40B4-BE49-F238E27FC236}">
                <a16:creationId xmlns:a16="http://schemas.microsoft.com/office/drawing/2014/main" id="{042230C7-06C4-4EAE-A123-DE30B4FD09B2}"/>
              </a:ext>
            </a:extLst>
          </p:cNvPr>
          <p:cNvSpPr>
            <a:spLocks noGrp="1"/>
          </p:cNvSpPr>
          <p:nvPr/>
        </p:nvSpPr>
        <p:spPr>
          <a:xfrm>
            <a:off x="647700" y="2028825"/>
            <a:ext cx="6096000" cy="3095625"/>
          </a:xfrm>
          <a:prstGeom prst="rect">
            <a:avLst/>
          </a:prstGeom>
          <a:noFill/>
          <a:ln w="0">
            <a:noFill/>
          </a:ln>
        </p:spPr>
        <p:txBody>
          <a:bodyPr wrap="square" lIns="0" tIns="0" rIns="0" bIns="0" anchor="t">
            <a:noAutofit/>
          </a:bodyPr>
          <a:lstStyle/>
          <a:p>
            <a:pPr marL="152400" indent="-152400" algn="l">
              <a:spcAft>
                <a:spcPts val="800"/>
              </a:spcAft>
              <a:buChar char="▪"/>
              <a:defRPr sz="1600">
                <a:solidFill>
                  <a:srgbClr val="2A2A2A"/>
                </a:solidFill>
                <a:latin typeface="Georgia"/>
                <a:ea typeface="Georgia"/>
                <a:cs typeface="Georgia"/>
              </a:defRPr>
            </a:pPr>
            <a:r>
              <a:rPr b="1"/>
              <a:t>High Interest Rates:</a:t>
            </a:r>
            <a:r>
              <a:rPr b="0"/>
              <a:t> Organizations must ensure a strong return on investment (ROI) from information systems.</a:t>
            </a:r>
          </a:p>
          <a:p>
            <a:pPr marL="152400" indent="-152400" algn="l">
              <a:spcAft>
                <a:spcPts val="800"/>
              </a:spcAft>
              <a:buChar char="▪"/>
              <a:defRPr sz="1600">
                <a:solidFill>
                  <a:srgbClr val="2A2A2A"/>
                </a:solidFill>
                <a:latin typeface="Georgia"/>
                <a:ea typeface="Georgia"/>
                <a:cs typeface="Georgia"/>
              </a:defRPr>
            </a:pPr>
            <a:r>
              <a:rPr b="1"/>
              <a:t>Inflation Pressure:</a:t>
            </a:r>
            <a:r>
              <a:rPr b="0"/>
              <a:t> Rising costs reduce profits, making efficient and well-planned systems essential.</a:t>
            </a:r>
          </a:p>
          <a:p>
            <a:pPr marL="152400" indent="-152400" algn="l">
              <a:spcAft>
                <a:spcPts val="800"/>
              </a:spcAft>
              <a:buChar char="▪"/>
              <a:defRPr sz="1600">
                <a:solidFill>
                  <a:srgbClr val="2A2A2A"/>
                </a:solidFill>
                <a:latin typeface="Georgia"/>
                <a:ea typeface="Georgia"/>
                <a:cs typeface="Georgia"/>
              </a:defRPr>
            </a:pPr>
            <a:r>
              <a:rPr b="1"/>
              <a:t>Fixed Employment Costs:</a:t>
            </a:r>
            <a:r>
              <a:rPr b="0"/>
              <a:t> Guaranteed employment increases fixed costs, limiting flexibility in expansion.</a:t>
            </a:r>
          </a:p>
          <a:p>
            <a:pPr marL="152400" indent="-152400" algn="l">
              <a:spcAft>
                <a:spcPts val="800"/>
              </a:spcAft>
              <a:buChar char="▪"/>
              <a:defRPr sz="1600">
                <a:solidFill>
                  <a:srgbClr val="2A2A2A"/>
                </a:solidFill>
                <a:latin typeface="Georgia"/>
                <a:ea typeface="Georgia"/>
                <a:cs typeface="Georgia"/>
              </a:defRPr>
            </a:pPr>
            <a:r>
              <a:rPr b="1"/>
              <a:t>Resource Shortages:</a:t>
            </a:r>
            <a:r>
              <a:rPr b="0"/>
              <a:t> Limited resources restrict growth and require better utilization through systems</a:t>
            </a:r>
          </a:p>
        </p:txBody>
      </p:sp>
      <p:sp>
        <p:nvSpPr>
          <p:cNvPr id="9" name="Rectangle 8">
            <a:extLst>
              <a:ext uri="{FF2B5EF4-FFF2-40B4-BE49-F238E27FC236}">
                <a16:creationId xmlns:a16="http://schemas.microsoft.com/office/drawing/2014/main" id="{5FB56B37-B976-422B-89FF-7D2A6EC11C83}"/>
              </a:ext>
            </a:extLst>
          </p:cNvPr>
          <p:cNvSpPr>
            <a:spLocks noGrp="1"/>
          </p:cNvSpPr>
          <p:nvPr/>
        </p:nvSpPr>
        <p:spPr>
          <a:xfrm>
            <a:off x="552450" y="5286375"/>
            <a:ext cx="11068050" cy="914400"/>
          </a:xfrm>
          <a:prstGeom prst="rect">
            <a:avLst/>
          </a:prstGeom>
          <a:solidFill>
            <a:srgbClr val="FCF6F5"/>
          </a:solidFill>
          <a:ln w="0">
            <a:noFill/>
          </a:ln>
        </p:spPr>
      </p:sp>
      <p:sp>
        <p:nvSpPr>
          <p:cNvPr id="10" name="Rectangle 9">
            <a:extLst>
              <a:ext uri="{FF2B5EF4-FFF2-40B4-BE49-F238E27FC236}">
                <a16:creationId xmlns:a16="http://schemas.microsoft.com/office/drawing/2014/main" id="{0D1DF542-36D0-424D-827E-04958749E1D9}"/>
              </a:ext>
            </a:extLst>
          </p:cNvPr>
          <p:cNvSpPr>
            <a:spLocks noGrp="1"/>
          </p:cNvSpPr>
          <p:nvPr/>
        </p:nvSpPr>
        <p:spPr>
          <a:xfrm>
            <a:off x="838200" y="5467350"/>
            <a:ext cx="10496550" cy="647700"/>
          </a:xfrm>
          <a:prstGeom prst="rect">
            <a:avLst/>
          </a:prstGeom>
          <a:noFill/>
          <a:ln w="0">
            <a:noFill/>
          </a:ln>
        </p:spPr>
        <p:txBody>
          <a:bodyPr wrap="square" lIns="0" tIns="0" rIns="0" bIns="0" anchor="t">
            <a:noAutofit/>
          </a:bodyPr>
          <a:lstStyle/>
          <a:p>
            <a:pPr algn="l">
              <a:defRPr sz="1600" i="1">
                <a:solidFill>
                  <a:srgbClr val="6B0D14"/>
                </a:solidFill>
                <a:latin typeface="Georgia"/>
                <a:ea typeface="Georgia"/>
                <a:cs typeface="Georgia"/>
              </a:defRPr>
            </a:pPr>
            <a:r>
              <a:rPr sz="1600" b="0" i="1">
                <a:solidFill>
                  <a:srgbClr val="6B0D14"/>
                </a:solidFill>
                <a:latin typeface="Georgia"/>
                <a:ea typeface="Georgia"/>
                <a:cs typeface="Georgia"/>
              </a:rPr>
              <a:t>Carefully planned and well-used information systems move an organization from basic automation to </a:t>
            </a:r>
            <a:r>
              <a:rPr sz="1600" b="1" i="1">
                <a:solidFill>
                  <a:srgbClr val="6B0D14"/>
                </a:solidFill>
                <a:latin typeface="Georgia"/>
                <a:ea typeface="Georgia"/>
                <a:cs typeface="Georgia"/>
              </a:rPr>
              <a:t>higher productivity and competitive advantage at lower cost</a:t>
            </a:r>
            <a:r>
              <a:rPr sz="1600" b="0" i="1">
                <a:solidFill>
                  <a:srgbClr val="6B0D14"/>
                </a:solidFill>
                <a:latin typeface="Georgia"/>
                <a:ea typeface="Georgia"/>
                <a:cs typeface="Georgia"/>
              </a:rPr>
              <a:t>.</a:t>
            </a:r>
          </a:p>
        </p:txBody>
      </p:sp>
      <p:pic>
        <p:nvPicPr>
          <p:cNvPr id="12" name="Picture 11">
            <a:extLst>
              <a:ext uri="{FF2B5EF4-FFF2-40B4-BE49-F238E27FC236}">
                <a16:creationId xmlns:a16="http://schemas.microsoft.com/office/drawing/2014/main" id="{827D57E4-CC46-DF5E-A6D2-3AA6B9C261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6028" y="1828800"/>
            <a:ext cx="4208722" cy="2894888"/>
          </a:xfrm>
          <a:prstGeom prst="rect">
            <a:avLst/>
          </a:prstGeom>
        </p:spPr>
      </p:pic>
    </p:spTree>
    <p:extLst>
      <p:ext uri="{BB962C8B-B14F-4D97-AF65-F5344CB8AC3E}">
        <p14:creationId xmlns:p14="http://schemas.microsoft.com/office/powerpoint/2010/main" val="532389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216EC52-43A4-42CE-8925-A9EB26958DFB}"/>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SYSTEMS PLANNING</a:t>
            </a:r>
          </a:p>
        </p:txBody>
      </p:sp>
      <p:sp>
        <p:nvSpPr>
          <p:cNvPr id="2" name="Rectangle 1">
            <a:extLst>
              <a:ext uri="{FF2B5EF4-FFF2-40B4-BE49-F238E27FC236}">
                <a16:creationId xmlns:a16="http://schemas.microsoft.com/office/drawing/2014/main" id="{DBCB1F49-EE17-4BD2-8637-7F8A63CFC60D}"/>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Strategic MIS Planning</a:t>
            </a:r>
          </a:p>
        </p:txBody>
      </p:sp>
      <p:sp>
        <p:nvSpPr>
          <p:cNvPr id="3" name="Rectangle 2">
            <a:extLst>
              <a:ext uri="{FF2B5EF4-FFF2-40B4-BE49-F238E27FC236}">
                <a16:creationId xmlns:a16="http://schemas.microsoft.com/office/drawing/2014/main" id="{864E5C8E-B854-4EF8-844C-30A8C024F9D2}"/>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97EB31A8-98ED-405B-A058-A157720A96AF}"/>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8CBB4640-047A-4E27-B37F-B9E971AACFE8}"/>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231044B9-088F-487F-B5BC-407DFD7E602E}"/>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6</a:t>
            </a:r>
          </a:p>
        </p:txBody>
      </p:sp>
      <p:sp>
        <p:nvSpPr>
          <p:cNvPr id="7" name="Rectangle 6">
            <a:extLst>
              <a:ext uri="{FF2B5EF4-FFF2-40B4-BE49-F238E27FC236}">
                <a16:creationId xmlns:a16="http://schemas.microsoft.com/office/drawing/2014/main" id="{DF8EBCD2-4D72-44CC-AB0B-A42B0995B49F}"/>
              </a:ext>
            </a:extLst>
          </p:cNvPr>
          <p:cNvSpPr>
            <a:spLocks noGrp="1"/>
          </p:cNvSpPr>
          <p:nvPr/>
        </p:nvSpPr>
        <p:spPr>
          <a:xfrm>
            <a:off x="647700" y="1504950"/>
            <a:ext cx="10877550" cy="552450"/>
          </a:xfrm>
          <a:prstGeom prst="rect">
            <a:avLst/>
          </a:prstGeom>
          <a:noFill/>
          <a:ln w="0">
            <a:noFill/>
          </a:ln>
        </p:spPr>
        <p:txBody>
          <a:bodyPr wrap="square" lIns="0" tIns="0" rIns="0" bIns="0" anchor="t">
            <a:noAutofit/>
          </a:bodyPr>
          <a:lstStyle/>
          <a:p>
            <a:pPr algn="l">
              <a:defRPr sz="1600" i="1">
                <a:solidFill>
                  <a:srgbClr val="6B6B6B"/>
                </a:solidFill>
                <a:latin typeface="Georgia"/>
                <a:ea typeface="Georgia"/>
                <a:cs typeface="Georgia"/>
              </a:defRPr>
            </a:pPr>
            <a:r>
              <a:rPr sz="1600" b="0" i="1">
                <a:solidFill>
                  <a:srgbClr val="6B6B6B"/>
                </a:solidFill>
                <a:latin typeface="Georgia"/>
                <a:ea typeface="Georgia"/>
                <a:cs typeface="Georgia"/>
              </a:rPr>
              <a:t>Planning doesn't happen in a vacuum; it must align with the organization’s overall Master Plan. </a:t>
            </a:r>
          </a:p>
        </p:txBody>
      </p:sp>
      <p:sp>
        <p:nvSpPr>
          <p:cNvPr id="8" name="Rectangle 7">
            <a:extLst>
              <a:ext uri="{FF2B5EF4-FFF2-40B4-BE49-F238E27FC236}">
                <a16:creationId xmlns:a16="http://schemas.microsoft.com/office/drawing/2014/main" id="{D4678956-A91D-4332-8256-2C35FAC54457}"/>
              </a:ext>
            </a:extLst>
          </p:cNvPr>
          <p:cNvSpPr>
            <a:spLocks noGrp="1"/>
          </p:cNvSpPr>
          <p:nvPr/>
        </p:nvSpPr>
        <p:spPr>
          <a:xfrm>
            <a:off x="552450" y="2238375"/>
            <a:ext cx="5295900" cy="3876675"/>
          </a:xfrm>
          <a:prstGeom prst="rect">
            <a:avLst/>
          </a:prstGeom>
          <a:solidFill>
            <a:srgbClr val="FCF6F5"/>
          </a:solidFill>
          <a:ln w="9525">
            <a:solidFill>
              <a:srgbClr val="E4D9D6"/>
            </a:solidFill>
          </a:ln>
        </p:spPr>
      </p:sp>
      <p:sp>
        <p:nvSpPr>
          <p:cNvPr id="9" name="Rectangle 8">
            <a:extLst>
              <a:ext uri="{FF2B5EF4-FFF2-40B4-BE49-F238E27FC236}">
                <a16:creationId xmlns:a16="http://schemas.microsoft.com/office/drawing/2014/main" id="{2DEFFBB8-E8C3-4BE5-B021-3A4897F3EE6C}"/>
              </a:ext>
            </a:extLst>
          </p:cNvPr>
          <p:cNvSpPr>
            <a:spLocks noGrp="1"/>
          </p:cNvSpPr>
          <p:nvPr/>
        </p:nvSpPr>
        <p:spPr>
          <a:xfrm>
            <a:off x="838200" y="2514600"/>
            <a:ext cx="4667250" cy="7048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Dimension 1: The Time Horizon (How far ahead?)</a:t>
            </a:r>
          </a:p>
        </p:txBody>
      </p:sp>
      <p:sp>
        <p:nvSpPr>
          <p:cNvPr id="10" name="Rectangle 9">
            <a:extLst>
              <a:ext uri="{FF2B5EF4-FFF2-40B4-BE49-F238E27FC236}">
                <a16:creationId xmlns:a16="http://schemas.microsoft.com/office/drawing/2014/main" id="{87E62C4B-BDF6-48DA-A34F-4BC2C5A51BAD}"/>
              </a:ext>
            </a:extLst>
          </p:cNvPr>
          <p:cNvSpPr>
            <a:spLocks noGrp="1"/>
          </p:cNvSpPr>
          <p:nvPr/>
        </p:nvSpPr>
        <p:spPr>
          <a:xfrm>
            <a:off x="876300" y="3419475"/>
            <a:ext cx="4591050" cy="2447925"/>
          </a:xfrm>
          <a:prstGeom prst="rect">
            <a:avLst/>
          </a:prstGeom>
          <a:noFill/>
          <a:ln w="0">
            <a:noFill/>
          </a:ln>
        </p:spPr>
        <p:txBody>
          <a:bodyPr wrap="square" lIns="0" tIns="0" rIns="0" bIns="0" anchor="t">
            <a:noAutofit/>
          </a:bodyPr>
          <a:lstStyle/>
          <a:p>
            <a:pPr marL="152400" indent="-152400" algn="l">
              <a:spcAft>
                <a:spcPts val="800"/>
              </a:spcAft>
              <a:buChar char="▪"/>
              <a:defRPr sz="1600">
                <a:solidFill>
                  <a:srgbClr val="2A2A2A"/>
                </a:solidFill>
                <a:latin typeface="Georgia"/>
                <a:ea typeface="Georgia"/>
                <a:cs typeface="Georgia"/>
              </a:defRPr>
            </a:pPr>
            <a:r>
              <a:rPr b="1"/>
              <a:t>Short-Range:</a:t>
            </a:r>
            <a:r>
              <a:rPr b="0"/>
              <a:t> Less than 2 years (The immediate "Yearly Plan").</a:t>
            </a:r>
          </a:p>
          <a:p>
            <a:pPr marL="152400" indent="-152400" algn="l">
              <a:spcAft>
                <a:spcPts val="800"/>
              </a:spcAft>
              <a:buChar char="▪"/>
              <a:defRPr sz="1600">
                <a:solidFill>
                  <a:srgbClr val="2A2A2A"/>
                </a:solidFill>
                <a:latin typeface="Georgia"/>
                <a:ea typeface="Georgia"/>
                <a:cs typeface="Georgia"/>
              </a:defRPr>
            </a:pPr>
            <a:r>
              <a:rPr b="1"/>
              <a:t>Medium-Term:</a:t>
            </a:r>
            <a:r>
              <a:rPr b="0"/>
              <a:t> 2 to 5 years (Building major modules).</a:t>
            </a:r>
          </a:p>
          <a:p>
            <a:pPr marL="152400" indent="-152400" algn="l">
              <a:spcAft>
                <a:spcPts val="800"/>
              </a:spcAft>
              <a:buChar char="▪"/>
              <a:defRPr sz="1600">
                <a:solidFill>
                  <a:srgbClr val="2A2A2A"/>
                </a:solidFill>
                <a:latin typeface="Georgia"/>
                <a:ea typeface="Georgia"/>
                <a:cs typeface="Georgia"/>
              </a:defRPr>
            </a:pPr>
            <a:r>
              <a:rPr b="1"/>
              <a:t>Long-Range:</a:t>
            </a:r>
            <a:r>
              <a:rPr b="0"/>
              <a:t> More than 5 years (Conceptual, future-looking).</a:t>
            </a:r>
          </a:p>
        </p:txBody>
      </p:sp>
      <p:sp>
        <p:nvSpPr>
          <p:cNvPr id="11" name="Rectangle 10">
            <a:extLst>
              <a:ext uri="{FF2B5EF4-FFF2-40B4-BE49-F238E27FC236}">
                <a16:creationId xmlns:a16="http://schemas.microsoft.com/office/drawing/2014/main" id="{A8A52E8E-A2A8-42A8-A3AE-5A531A644C82}"/>
              </a:ext>
            </a:extLst>
          </p:cNvPr>
          <p:cNvSpPr>
            <a:spLocks noGrp="1"/>
          </p:cNvSpPr>
          <p:nvPr/>
        </p:nvSpPr>
        <p:spPr>
          <a:xfrm>
            <a:off x="6324600" y="2238375"/>
            <a:ext cx="5295900" cy="3876675"/>
          </a:xfrm>
          <a:prstGeom prst="rect">
            <a:avLst/>
          </a:prstGeom>
          <a:solidFill>
            <a:srgbClr val="FFFFFF"/>
          </a:solidFill>
          <a:ln w="9525">
            <a:solidFill>
              <a:srgbClr val="E4D9D6"/>
            </a:solidFill>
          </a:ln>
        </p:spPr>
      </p:sp>
      <p:sp>
        <p:nvSpPr>
          <p:cNvPr id="12" name="Rectangle 11">
            <a:extLst>
              <a:ext uri="{FF2B5EF4-FFF2-40B4-BE49-F238E27FC236}">
                <a16:creationId xmlns:a16="http://schemas.microsoft.com/office/drawing/2014/main" id="{2F40CF47-4EA4-43E2-82A0-451DB1A67CE8}"/>
              </a:ext>
            </a:extLst>
          </p:cNvPr>
          <p:cNvSpPr>
            <a:spLocks noGrp="1"/>
          </p:cNvSpPr>
          <p:nvPr/>
        </p:nvSpPr>
        <p:spPr>
          <a:xfrm>
            <a:off x="6610350" y="2514600"/>
            <a:ext cx="4667250" cy="7048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Dimension 2: The Focus (What is the goal?)</a:t>
            </a:r>
          </a:p>
        </p:txBody>
      </p:sp>
      <p:sp>
        <p:nvSpPr>
          <p:cNvPr id="13" name="Rectangle 12">
            <a:extLst>
              <a:ext uri="{FF2B5EF4-FFF2-40B4-BE49-F238E27FC236}">
                <a16:creationId xmlns:a16="http://schemas.microsoft.com/office/drawing/2014/main" id="{E5DBE7DF-52F4-4E45-8D52-5E88A39922E2}"/>
              </a:ext>
            </a:extLst>
          </p:cNvPr>
          <p:cNvSpPr>
            <a:spLocks noGrp="1"/>
          </p:cNvSpPr>
          <p:nvPr/>
        </p:nvSpPr>
        <p:spPr>
          <a:xfrm>
            <a:off x="6648450" y="3419475"/>
            <a:ext cx="4591050" cy="2447925"/>
          </a:xfrm>
          <a:prstGeom prst="rect">
            <a:avLst/>
          </a:prstGeom>
          <a:noFill/>
          <a:ln w="0">
            <a:noFill/>
          </a:ln>
        </p:spPr>
        <p:txBody>
          <a:bodyPr wrap="square" lIns="0" tIns="0" rIns="0" bIns="0" anchor="t">
            <a:noAutofit/>
          </a:bodyPr>
          <a:lstStyle/>
          <a:p>
            <a:pPr marL="152400" indent="-152400" algn="l">
              <a:spcAft>
                <a:spcPts val="800"/>
              </a:spcAft>
              <a:buChar char="▪"/>
              <a:defRPr sz="1600">
                <a:solidFill>
                  <a:srgbClr val="2A2A2A"/>
                </a:solidFill>
                <a:latin typeface="Georgia"/>
                <a:ea typeface="Georgia"/>
                <a:cs typeface="Georgia"/>
              </a:defRPr>
            </a:pPr>
            <a:r>
              <a:rPr b="1"/>
              <a:t>Strategic:</a:t>
            </a:r>
            <a:r>
              <a:rPr b="0"/>
              <a:t> Setting the big-picture objectives and policies.</a:t>
            </a:r>
          </a:p>
          <a:p>
            <a:pPr marL="152400" indent="-152400" algn="l">
              <a:spcAft>
                <a:spcPts val="800"/>
              </a:spcAft>
              <a:buChar char="▪"/>
              <a:defRPr sz="1600">
                <a:solidFill>
                  <a:srgbClr val="2A2A2A"/>
                </a:solidFill>
                <a:latin typeface="Georgia"/>
                <a:ea typeface="Georgia"/>
                <a:cs typeface="Georgia"/>
              </a:defRPr>
            </a:pPr>
            <a:r>
              <a:rPr b="1"/>
              <a:t>Managerial:</a:t>
            </a:r>
            <a:r>
              <a:rPr b="0"/>
              <a:t> Coordinating resources and middle-management needs.</a:t>
            </a:r>
          </a:p>
          <a:p>
            <a:pPr marL="152400" indent="-152400" algn="l">
              <a:spcAft>
                <a:spcPts val="800"/>
              </a:spcAft>
              <a:buChar char="▪"/>
              <a:defRPr sz="1600">
                <a:solidFill>
                  <a:srgbClr val="2A2A2A"/>
                </a:solidFill>
                <a:latin typeface="Georgia"/>
                <a:ea typeface="Georgia"/>
                <a:cs typeface="Georgia"/>
              </a:defRPr>
            </a:pPr>
            <a:r>
              <a:rPr b="1"/>
              <a:t>Operational:</a:t>
            </a:r>
            <a:r>
              <a:rPr b="0"/>
              <a:t> The daily "tactical" tasks and technical implementation.</a:t>
            </a:r>
          </a:p>
        </p:txBody>
      </p:sp>
    </p:spTree>
    <p:extLst>
      <p:ext uri="{BB962C8B-B14F-4D97-AF65-F5344CB8AC3E}">
        <p14:creationId xmlns:p14="http://schemas.microsoft.com/office/powerpoint/2010/main" val="429913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923A538-A532-466F-8393-D1CD30BA0629}"/>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SYSTEMS PLANNING</a:t>
            </a:r>
          </a:p>
        </p:txBody>
      </p:sp>
      <p:sp>
        <p:nvSpPr>
          <p:cNvPr id="2" name="Rectangle 1">
            <a:extLst>
              <a:ext uri="{FF2B5EF4-FFF2-40B4-BE49-F238E27FC236}">
                <a16:creationId xmlns:a16="http://schemas.microsoft.com/office/drawing/2014/main" id="{307DC660-08BA-49B1-B742-880A6330B644}"/>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Need of system planning.</a:t>
            </a:r>
          </a:p>
        </p:txBody>
      </p:sp>
      <p:sp>
        <p:nvSpPr>
          <p:cNvPr id="3" name="Rectangle 2">
            <a:extLst>
              <a:ext uri="{FF2B5EF4-FFF2-40B4-BE49-F238E27FC236}">
                <a16:creationId xmlns:a16="http://schemas.microsoft.com/office/drawing/2014/main" id="{1A553B0B-4C5B-4090-BF60-B6EC7FF681D0}"/>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DF389536-57B5-4F98-8711-6A1A3430EF47}"/>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C75B6584-BE3F-4B52-9E0F-4E340EAEC136}"/>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2392480B-FE46-45E6-BC70-7EAF3A3DFF55}"/>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7</a:t>
            </a:r>
          </a:p>
        </p:txBody>
      </p:sp>
      <p:sp>
        <p:nvSpPr>
          <p:cNvPr id="7" name="Rectangle 6">
            <a:extLst>
              <a:ext uri="{FF2B5EF4-FFF2-40B4-BE49-F238E27FC236}">
                <a16:creationId xmlns:a16="http://schemas.microsoft.com/office/drawing/2014/main" id="{1AA1F18D-C1E3-40EC-8492-F430AC8DA5F0}"/>
              </a:ext>
            </a:extLst>
          </p:cNvPr>
          <p:cNvSpPr>
            <a:spLocks noGrp="1"/>
          </p:cNvSpPr>
          <p:nvPr/>
        </p:nvSpPr>
        <p:spPr>
          <a:xfrm>
            <a:off x="647700" y="1800225"/>
            <a:ext cx="3000375"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Information is a Strategic Asset:</a:t>
            </a:r>
          </a:p>
        </p:txBody>
      </p:sp>
      <p:sp>
        <p:nvSpPr>
          <p:cNvPr id="8" name="Rectangle 7">
            <a:extLst>
              <a:ext uri="{FF2B5EF4-FFF2-40B4-BE49-F238E27FC236}">
                <a16:creationId xmlns:a16="http://schemas.microsoft.com/office/drawing/2014/main" id="{05164886-21EE-4F50-9FCA-119416BA04A5}"/>
              </a:ext>
            </a:extLst>
          </p:cNvPr>
          <p:cNvSpPr>
            <a:spLocks noGrp="1"/>
          </p:cNvSpPr>
          <p:nvPr/>
        </p:nvSpPr>
        <p:spPr>
          <a:xfrm>
            <a:off x="3886200" y="1800225"/>
            <a:ext cx="7696200"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Data is now as valuable as cash or equipment. Planning ensures this "asset" is managed and protected properly.</a:t>
            </a:r>
          </a:p>
        </p:txBody>
      </p:sp>
      <p:sp>
        <p:nvSpPr>
          <p:cNvPr id="9" name="Rectangle 8">
            <a:extLst>
              <a:ext uri="{FF2B5EF4-FFF2-40B4-BE49-F238E27FC236}">
                <a16:creationId xmlns:a16="http://schemas.microsoft.com/office/drawing/2014/main" id="{C39CCE9D-7648-467D-929A-EB8F158C165E}"/>
              </a:ext>
            </a:extLst>
          </p:cNvPr>
          <p:cNvSpPr>
            <a:spLocks noGrp="1"/>
          </p:cNvSpPr>
          <p:nvPr/>
        </p:nvSpPr>
        <p:spPr>
          <a:xfrm>
            <a:off x="552450" y="2533650"/>
            <a:ext cx="11068050" cy="9525"/>
          </a:xfrm>
          <a:prstGeom prst="rect">
            <a:avLst/>
          </a:prstGeom>
          <a:solidFill>
            <a:srgbClr val="E4D9D6"/>
          </a:solidFill>
          <a:ln w="0">
            <a:noFill/>
          </a:ln>
        </p:spPr>
      </p:sp>
      <p:sp>
        <p:nvSpPr>
          <p:cNvPr id="10" name="Rectangle 9">
            <a:extLst>
              <a:ext uri="{FF2B5EF4-FFF2-40B4-BE49-F238E27FC236}">
                <a16:creationId xmlns:a16="http://schemas.microsoft.com/office/drawing/2014/main" id="{48A165C8-5B27-4266-BAD2-F2B292615E47}"/>
              </a:ext>
            </a:extLst>
          </p:cNvPr>
          <p:cNvSpPr>
            <a:spLocks noGrp="1"/>
          </p:cNvSpPr>
          <p:nvPr/>
        </p:nvSpPr>
        <p:spPr>
          <a:xfrm>
            <a:off x="647700" y="2686050"/>
            <a:ext cx="3000375"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Resource Management:</a:t>
            </a:r>
          </a:p>
        </p:txBody>
      </p:sp>
      <p:sp>
        <p:nvSpPr>
          <p:cNvPr id="11" name="Rectangle 10">
            <a:extLst>
              <a:ext uri="{FF2B5EF4-FFF2-40B4-BE49-F238E27FC236}">
                <a16:creationId xmlns:a16="http://schemas.microsoft.com/office/drawing/2014/main" id="{7ACC7B99-8C34-4447-B402-2E71FEF0C828}"/>
              </a:ext>
            </a:extLst>
          </p:cNvPr>
          <p:cNvSpPr>
            <a:spLocks noGrp="1"/>
          </p:cNvSpPr>
          <p:nvPr/>
        </p:nvSpPr>
        <p:spPr>
          <a:xfrm>
            <a:off x="3886200" y="2686050"/>
            <a:ext cx="7696200"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IT projects require massive financial investment and specialized personnel. Planning prevents wasting these expensive resources.</a:t>
            </a:r>
          </a:p>
        </p:txBody>
      </p:sp>
      <p:sp>
        <p:nvSpPr>
          <p:cNvPr id="12" name="Rectangle 11">
            <a:extLst>
              <a:ext uri="{FF2B5EF4-FFF2-40B4-BE49-F238E27FC236}">
                <a16:creationId xmlns:a16="http://schemas.microsoft.com/office/drawing/2014/main" id="{58327869-0EB6-4D8C-B1F8-C3CF89B0ABB1}"/>
              </a:ext>
            </a:extLst>
          </p:cNvPr>
          <p:cNvSpPr>
            <a:spLocks noGrp="1"/>
          </p:cNvSpPr>
          <p:nvPr/>
        </p:nvSpPr>
        <p:spPr>
          <a:xfrm>
            <a:off x="552450" y="3419475"/>
            <a:ext cx="11068050" cy="9525"/>
          </a:xfrm>
          <a:prstGeom prst="rect">
            <a:avLst/>
          </a:prstGeom>
          <a:solidFill>
            <a:srgbClr val="E4D9D6"/>
          </a:solidFill>
          <a:ln w="0">
            <a:noFill/>
          </a:ln>
        </p:spPr>
      </p:sp>
      <p:sp>
        <p:nvSpPr>
          <p:cNvPr id="13" name="Rectangle 12">
            <a:extLst>
              <a:ext uri="{FF2B5EF4-FFF2-40B4-BE49-F238E27FC236}">
                <a16:creationId xmlns:a16="http://schemas.microsoft.com/office/drawing/2014/main" id="{BAED91D4-BF4F-4797-B95E-74592FBE4A60}"/>
              </a:ext>
            </a:extLst>
          </p:cNvPr>
          <p:cNvSpPr>
            <a:spLocks noGrp="1"/>
          </p:cNvSpPr>
          <p:nvPr/>
        </p:nvSpPr>
        <p:spPr>
          <a:xfrm>
            <a:off x="647700" y="3571875"/>
            <a:ext cx="3000375"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System Integration:</a:t>
            </a:r>
          </a:p>
        </p:txBody>
      </p:sp>
      <p:sp>
        <p:nvSpPr>
          <p:cNvPr id="14" name="Rectangle 13">
            <a:extLst>
              <a:ext uri="{FF2B5EF4-FFF2-40B4-BE49-F238E27FC236}">
                <a16:creationId xmlns:a16="http://schemas.microsoft.com/office/drawing/2014/main" id="{F3D57001-CC1A-42D4-A30C-B67A0DEE62B4}"/>
              </a:ext>
            </a:extLst>
          </p:cNvPr>
          <p:cNvSpPr>
            <a:spLocks noGrp="1"/>
          </p:cNvSpPr>
          <p:nvPr/>
        </p:nvSpPr>
        <p:spPr>
          <a:xfrm>
            <a:off x="3886200" y="3571875"/>
            <a:ext cx="7696200"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Modern systems are complex and share common databases. Planning ensures a new system "talks" to existing ones instead of being isolated.</a:t>
            </a:r>
          </a:p>
        </p:txBody>
      </p:sp>
      <p:sp>
        <p:nvSpPr>
          <p:cNvPr id="15" name="Rectangle 14">
            <a:extLst>
              <a:ext uri="{FF2B5EF4-FFF2-40B4-BE49-F238E27FC236}">
                <a16:creationId xmlns:a16="http://schemas.microsoft.com/office/drawing/2014/main" id="{730C7565-AF2F-4C63-BCC9-58B6E0031EA9}"/>
              </a:ext>
            </a:extLst>
          </p:cNvPr>
          <p:cNvSpPr>
            <a:spLocks noGrp="1"/>
          </p:cNvSpPr>
          <p:nvPr/>
        </p:nvSpPr>
        <p:spPr>
          <a:xfrm>
            <a:off x="552450" y="4305300"/>
            <a:ext cx="11068050" cy="9525"/>
          </a:xfrm>
          <a:prstGeom prst="rect">
            <a:avLst/>
          </a:prstGeom>
          <a:solidFill>
            <a:srgbClr val="E4D9D6"/>
          </a:solidFill>
          <a:ln w="0">
            <a:noFill/>
          </a:ln>
        </p:spPr>
      </p:sp>
      <p:sp>
        <p:nvSpPr>
          <p:cNvPr id="16" name="Rectangle 15">
            <a:extLst>
              <a:ext uri="{FF2B5EF4-FFF2-40B4-BE49-F238E27FC236}">
                <a16:creationId xmlns:a16="http://schemas.microsoft.com/office/drawing/2014/main" id="{36D8890F-0CA4-42A7-9A3B-F55C71C91911}"/>
              </a:ext>
            </a:extLst>
          </p:cNvPr>
          <p:cNvSpPr>
            <a:spLocks noGrp="1"/>
          </p:cNvSpPr>
          <p:nvPr/>
        </p:nvSpPr>
        <p:spPr>
          <a:xfrm>
            <a:off x="647700" y="4457700"/>
            <a:ext cx="3000375"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Organizational Alignment:</a:t>
            </a:r>
          </a:p>
        </p:txBody>
      </p:sp>
      <p:sp>
        <p:nvSpPr>
          <p:cNvPr id="17" name="Rectangle 16">
            <a:extLst>
              <a:ext uri="{FF2B5EF4-FFF2-40B4-BE49-F238E27FC236}">
                <a16:creationId xmlns:a16="http://schemas.microsoft.com/office/drawing/2014/main" id="{3EBB5403-65B8-4961-899E-C2CC85D6923C}"/>
              </a:ext>
            </a:extLst>
          </p:cNvPr>
          <p:cNvSpPr>
            <a:spLocks noGrp="1"/>
          </p:cNvSpPr>
          <p:nvPr/>
        </p:nvSpPr>
        <p:spPr>
          <a:xfrm>
            <a:off x="3886200" y="4457700"/>
            <a:ext cx="7696200"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Planning ensures the system's goals match the company’s strategic business goals (congruency).</a:t>
            </a:r>
          </a:p>
        </p:txBody>
      </p:sp>
      <p:sp>
        <p:nvSpPr>
          <p:cNvPr id="18" name="Rectangle 17">
            <a:extLst>
              <a:ext uri="{FF2B5EF4-FFF2-40B4-BE49-F238E27FC236}">
                <a16:creationId xmlns:a16="http://schemas.microsoft.com/office/drawing/2014/main" id="{E6645BA8-967A-4651-839B-2C570039A6AF}"/>
              </a:ext>
            </a:extLst>
          </p:cNvPr>
          <p:cNvSpPr>
            <a:spLocks noGrp="1"/>
          </p:cNvSpPr>
          <p:nvPr/>
        </p:nvSpPr>
        <p:spPr>
          <a:xfrm>
            <a:off x="552450" y="5191125"/>
            <a:ext cx="11068050" cy="9525"/>
          </a:xfrm>
          <a:prstGeom prst="rect">
            <a:avLst/>
          </a:prstGeom>
          <a:solidFill>
            <a:srgbClr val="E4D9D6"/>
          </a:solidFill>
          <a:ln w="0">
            <a:noFill/>
          </a:ln>
        </p:spPr>
      </p:sp>
      <p:sp>
        <p:nvSpPr>
          <p:cNvPr id="19" name="Rectangle 18">
            <a:extLst>
              <a:ext uri="{FF2B5EF4-FFF2-40B4-BE49-F238E27FC236}">
                <a16:creationId xmlns:a16="http://schemas.microsoft.com/office/drawing/2014/main" id="{814EDF13-2555-49BA-9070-DD34B680F76B}"/>
              </a:ext>
            </a:extLst>
          </p:cNvPr>
          <p:cNvSpPr>
            <a:spLocks noGrp="1"/>
          </p:cNvSpPr>
          <p:nvPr/>
        </p:nvSpPr>
        <p:spPr>
          <a:xfrm>
            <a:off x="647700" y="5343525"/>
            <a:ext cx="3000375"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Standardization:</a:t>
            </a:r>
          </a:p>
        </p:txBody>
      </p:sp>
      <p:sp>
        <p:nvSpPr>
          <p:cNvPr id="20" name="Rectangle 19">
            <a:extLst>
              <a:ext uri="{FF2B5EF4-FFF2-40B4-BE49-F238E27FC236}">
                <a16:creationId xmlns:a16="http://schemas.microsoft.com/office/drawing/2014/main" id="{B8EEE453-02C0-426F-B04C-1B3F8718E010}"/>
              </a:ext>
            </a:extLst>
          </p:cNvPr>
          <p:cNvSpPr>
            <a:spLocks noGrp="1"/>
          </p:cNvSpPr>
          <p:nvPr/>
        </p:nvSpPr>
        <p:spPr>
          <a:xfrm>
            <a:off x="3886200" y="5343525"/>
            <a:ext cx="7696200"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It helps establish uniform hardware and software choices across the company, making maintenance easier and cheaper.</a:t>
            </a:r>
          </a:p>
        </p:txBody>
      </p:sp>
    </p:spTree>
    <p:extLst>
      <p:ext uri="{BB962C8B-B14F-4D97-AF65-F5344CB8AC3E}">
        <p14:creationId xmlns:p14="http://schemas.microsoft.com/office/powerpoint/2010/main" val="2045284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1C5B6F5-2E88-41CC-8F2E-FC031C004C63}"/>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THE INITIAL INVESTIGATION</a:t>
            </a:r>
          </a:p>
        </p:txBody>
      </p:sp>
      <p:sp>
        <p:nvSpPr>
          <p:cNvPr id="2" name="Rectangle 1">
            <a:extLst>
              <a:ext uri="{FF2B5EF4-FFF2-40B4-BE49-F238E27FC236}">
                <a16:creationId xmlns:a16="http://schemas.microsoft.com/office/drawing/2014/main" id="{9DA4A93D-AD8F-481A-AED2-9CA93E1013AB}"/>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INITIAL INVESTIGATION</a:t>
            </a:r>
          </a:p>
        </p:txBody>
      </p:sp>
      <p:sp>
        <p:nvSpPr>
          <p:cNvPr id="3" name="Rectangle 2">
            <a:extLst>
              <a:ext uri="{FF2B5EF4-FFF2-40B4-BE49-F238E27FC236}">
                <a16:creationId xmlns:a16="http://schemas.microsoft.com/office/drawing/2014/main" id="{B0B4A39B-EA91-4E98-951F-5F0B1C3F46D8}"/>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05814764-BDF6-439C-9D62-0D0E11C4859B}"/>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E394A2BA-AEB3-4A6A-886E-F60AAC6B94CC}"/>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96FCBC5F-B78F-4B25-949E-F00B1CDEB671}"/>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8</a:t>
            </a:r>
          </a:p>
        </p:txBody>
      </p:sp>
      <p:sp>
        <p:nvSpPr>
          <p:cNvPr id="7" name="Rectangle 6">
            <a:extLst>
              <a:ext uri="{FF2B5EF4-FFF2-40B4-BE49-F238E27FC236}">
                <a16:creationId xmlns:a16="http://schemas.microsoft.com/office/drawing/2014/main" id="{DD5BABD3-C387-4F55-9BF0-98C0830EB192}"/>
              </a:ext>
            </a:extLst>
          </p:cNvPr>
          <p:cNvSpPr>
            <a:spLocks noGrp="1"/>
          </p:cNvSpPr>
          <p:nvPr/>
        </p:nvSpPr>
        <p:spPr>
          <a:xfrm>
            <a:off x="647700" y="1590675"/>
            <a:ext cx="10877550" cy="129540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b="0">
                <a:solidFill>
                  <a:srgbClr val="2A2A2A"/>
                </a:solidFill>
                <a:latin typeface="Georgia"/>
                <a:ea typeface="Georgia"/>
                <a:cs typeface="Georgia"/>
              </a:rPr>
              <a:t>System development life cycle begins with </a:t>
            </a:r>
            <a:r>
              <a:rPr sz="1600" b="1">
                <a:solidFill>
                  <a:srgbClr val="2A2A2A"/>
                </a:solidFill>
                <a:latin typeface="Georgia"/>
                <a:ea typeface="Georgia"/>
                <a:cs typeface="Georgia"/>
              </a:rPr>
              <a:t>Needs Identification</a:t>
            </a:r>
            <a:r>
              <a:rPr sz="1600" b="0">
                <a:solidFill>
                  <a:srgbClr val="2A2A2A"/>
                </a:solidFill>
                <a:latin typeface="Georgia"/>
                <a:ea typeface="Georgia"/>
                <a:cs typeface="Georgia"/>
              </a:rPr>
              <a:t>, which is simply a </a:t>
            </a:r>
            <a:r>
              <a:rPr sz="1600" b="1">
                <a:solidFill>
                  <a:srgbClr val="2A2A2A"/>
                </a:solidFill>
                <a:latin typeface="Georgia"/>
                <a:ea typeface="Georgia"/>
                <a:cs typeface="Georgia"/>
              </a:rPr>
              <a:t>User Request</a:t>
            </a:r>
            <a:r>
              <a:rPr sz="1600" b="0">
                <a:solidFill>
                  <a:srgbClr val="2A2A2A"/>
                </a:solidFill>
                <a:latin typeface="Georgia"/>
                <a:ea typeface="Georgia"/>
                <a:cs typeface="Georgia"/>
              </a:rPr>
              <a:t> to fix or improve a system. Since companies get many requests, they use an </a:t>
            </a:r>
            <a:r>
              <a:rPr sz="1600" b="1">
                <a:solidFill>
                  <a:srgbClr val="2A2A2A"/>
                </a:solidFill>
                <a:latin typeface="Georgia"/>
                <a:ea typeface="Georgia"/>
                <a:cs typeface="Georgia"/>
              </a:rPr>
              <a:t>Initial Investigation</a:t>
            </a:r>
            <a:r>
              <a:rPr sz="1600" b="0">
                <a:solidFill>
                  <a:srgbClr val="2A2A2A"/>
                </a:solidFill>
                <a:latin typeface="Georgia"/>
                <a:ea typeface="Georgia"/>
                <a:cs typeface="Georgia"/>
              </a:rPr>
              <a:t> to "filter" them. The goal is to decide if a request is </a:t>
            </a:r>
            <a:r>
              <a:rPr sz="1600" b="1">
                <a:solidFill>
                  <a:srgbClr val="2A2A2A"/>
                </a:solidFill>
                <a:latin typeface="Georgia"/>
                <a:ea typeface="Georgia"/>
                <a:cs typeface="Georgia"/>
              </a:rPr>
              <a:t>Valid</a:t>
            </a:r>
            <a:r>
              <a:rPr sz="1600" b="0">
                <a:solidFill>
                  <a:srgbClr val="2A2A2A"/>
                </a:solidFill>
                <a:latin typeface="Georgia"/>
                <a:ea typeface="Georgia"/>
                <a:cs typeface="Georgia"/>
              </a:rPr>
              <a:t> and </a:t>
            </a:r>
            <a:r>
              <a:rPr sz="1600" b="1">
                <a:solidFill>
                  <a:srgbClr val="2A2A2A"/>
                </a:solidFill>
                <a:latin typeface="Georgia"/>
                <a:ea typeface="Georgia"/>
                <a:cs typeface="Georgia"/>
              </a:rPr>
              <a:t>Feasible</a:t>
            </a:r>
            <a:r>
              <a:rPr sz="1600" b="0">
                <a:solidFill>
                  <a:srgbClr val="2A2A2A"/>
                </a:solidFill>
                <a:latin typeface="Georgia"/>
                <a:ea typeface="Georgia"/>
                <a:cs typeface="Georgia"/>
              </a:rPr>
              <a:t> before spending money.</a:t>
            </a:r>
          </a:p>
        </p:txBody>
      </p:sp>
      <p:sp>
        <p:nvSpPr>
          <p:cNvPr id="8" name="Rectangle 7">
            <a:extLst>
              <a:ext uri="{FF2B5EF4-FFF2-40B4-BE49-F238E27FC236}">
                <a16:creationId xmlns:a16="http://schemas.microsoft.com/office/drawing/2014/main" id="{426EEF4B-899C-411B-9B22-E572EFCA3F4B}"/>
              </a:ext>
            </a:extLst>
          </p:cNvPr>
          <p:cNvSpPr>
            <a:spLocks noGrp="1"/>
          </p:cNvSpPr>
          <p:nvPr/>
        </p:nvSpPr>
        <p:spPr>
          <a:xfrm>
            <a:off x="647700" y="3152775"/>
            <a:ext cx="10477500" cy="30480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The Three Results:</a:t>
            </a:r>
          </a:p>
        </p:txBody>
      </p:sp>
      <p:sp>
        <p:nvSpPr>
          <p:cNvPr id="9" name="Rectangle 8">
            <a:extLst>
              <a:ext uri="{FF2B5EF4-FFF2-40B4-BE49-F238E27FC236}">
                <a16:creationId xmlns:a16="http://schemas.microsoft.com/office/drawing/2014/main" id="{8FD74EA9-35B9-4FA7-99ED-7EBE540F8AE9}"/>
              </a:ext>
            </a:extLst>
          </p:cNvPr>
          <p:cNvSpPr>
            <a:spLocks noGrp="1"/>
          </p:cNvSpPr>
          <p:nvPr/>
        </p:nvSpPr>
        <p:spPr>
          <a:xfrm>
            <a:off x="552450" y="3609975"/>
            <a:ext cx="3556000" cy="2514600"/>
          </a:xfrm>
          <a:prstGeom prst="rect">
            <a:avLst/>
          </a:prstGeom>
          <a:solidFill>
            <a:srgbClr val="FFFFFF"/>
          </a:solidFill>
          <a:ln w="9525">
            <a:solidFill>
              <a:srgbClr val="E4D9D6"/>
            </a:solidFill>
          </a:ln>
        </p:spPr>
      </p:sp>
      <p:sp>
        <p:nvSpPr>
          <p:cNvPr id="10" name="Rectangle 9">
            <a:extLst>
              <a:ext uri="{FF2B5EF4-FFF2-40B4-BE49-F238E27FC236}">
                <a16:creationId xmlns:a16="http://schemas.microsoft.com/office/drawing/2014/main" id="{6D19326C-596B-4B7D-B15A-66E31ADD88E4}"/>
              </a:ext>
            </a:extLst>
          </p:cNvPr>
          <p:cNvSpPr>
            <a:spLocks noGrp="1"/>
          </p:cNvSpPr>
          <p:nvPr/>
        </p:nvSpPr>
        <p:spPr>
          <a:xfrm>
            <a:off x="819150" y="38385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Do Nothing:</a:t>
            </a:r>
          </a:p>
        </p:txBody>
      </p:sp>
      <p:sp>
        <p:nvSpPr>
          <p:cNvPr id="11" name="Rectangle 10">
            <a:extLst>
              <a:ext uri="{FF2B5EF4-FFF2-40B4-BE49-F238E27FC236}">
                <a16:creationId xmlns:a16="http://schemas.microsoft.com/office/drawing/2014/main" id="{3C27CDC5-0F2D-48C0-826D-4AED7FDEAF41}"/>
              </a:ext>
            </a:extLst>
          </p:cNvPr>
          <p:cNvSpPr>
            <a:spLocks noGrp="1"/>
          </p:cNvSpPr>
          <p:nvPr/>
        </p:nvSpPr>
        <p:spPr>
          <a:xfrm>
            <a:off x="819150" y="4581525"/>
            <a:ext cx="3022600" cy="133350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The problem isn't worth the cost.</a:t>
            </a:r>
          </a:p>
        </p:txBody>
      </p:sp>
      <p:sp>
        <p:nvSpPr>
          <p:cNvPr id="12" name="Rectangle 11">
            <a:extLst>
              <a:ext uri="{FF2B5EF4-FFF2-40B4-BE49-F238E27FC236}">
                <a16:creationId xmlns:a16="http://schemas.microsoft.com/office/drawing/2014/main" id="{F2730AE3-E1A1-4385-A199-CA5B1A264BE7}"/>
              </a:ext>
            </a:extLst>
          </p:cNvPr>
          <p:cNvSpPr>
            <a:spLocks noGrp="1"/>
          </p:cNvSpPr>
          <p:nvPr/>
        </p:nvSpPr>
        <p:spPr>
          <a:xfrm>
            <a:off x="4318000" y="3609975"/>
            <a:ext cx="3556000" cy="2514600"/>
          </a:xfrm>
          <a:prstGeom prst="rect">
            <a:avLst/>
          </a:prstGeom>
          <a:solidFill>
            <a:srgbClr val="FFFFFF"/>
          </a:solidFill>
          <a:ln w="9525">
            <a:solidFill>
              <a:srgbClr val="E4D9D6"/>
            </a:solidFill>
          </a:ln>
        </p:spPr>
      </p:sp>
      <p:sp>
        <p:nvSpPr>
          <p:cNvPr id="13" name="Rectangle 12">
            <a:extLst>
              <a:ext uri="{FF2B5EF4-FFF2-40B4-BE49-F238E27FC236}">
                <a16:creationId xmlns:a16="http://schemas.microsoft.com/office/drawing/2014/main" id="{33384DE9-2E9B-4B50-9A2C-8F1C9E5B4839}"/>
              </a:ext>
            </a:extLst>
          </p:cNvPr>
          <p:cNvSpPr>
            <a:spLocks noGrp="1"/>
          </p:cNvSpPr>
          <p:nvPr/>
        </p:nvSpPr>
        <p:spPr>
          <a:xfrm>
            <a:off x="4584700" y="38385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Modify System:</a:t>
            </a:r>
          </a:p>
        </p:txBody>
      </p:sp>
      <p:sp>
        <p:nvSpPr>
          <p:cNvPr id="14" name="Rectangle 13">
            <a:extLst>
              <a:ext uri="{FF2B5EF4-FFF2-40B4-BE49-F238E27FC236}">
                <a16:creationId xmlns:a16="http://schemas.microsoft.com/office/drawing/2014/main" id="{205A1E31-466A-4637-A7EC-FD4015539CE1}"/>
              </a:ext>
            </a:extLst>
          </p:cNvPr>
          <p:cNvSpPr>
            <a:spLocks noGrp="1"/>
          </p:cNvSpPr>
          <p:nvPr/>
        </p:nvSpPr>
        <p:spPr>
          <a:xfrm>
            <a:off x="4584700" y="4581525"/>
            <a:ext cx="3022600" cy="133350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A quick fix to the current software.</a:t>
            </a:r>
          </a:p>
        </p:txBody>
      </p:sp>
      <p:sp>
        <p:nvSpPr>
          <p:cNvPr id="15" name="Rectangle 14">
            <a:extLst>
              <a:ext uri="{FF2B5EF4-FFF2-40B4-BE49-F238E27FC236}">
                <a16:creationId xmlns:a16="http://schemas.microsoft.com/office/drawing/2014/main" id="{D6E08E29-8802-4159-AAFF-E927E9F2BD1A}"/>
              </a:ext>
            </a:extLst>
          </p:cNvPr>
          <p:cNvSpPr>
            <a:spLocks noGrp="1"/>
          </p:cNvSpPr>
          <p:nvPr/>
        </p:nvSpPr>
        <p:spPr>
          <a:xfrm>
            <a:off x="8083550" y="3609975"/>
            <a:ext cx="3556000" cy="2514600"/>
          </a:xfrm>
          <a:prstGeom prst="rect">
            <a:avLst/>
          </a:prstGeom>
          <a:solidFill>
            <a:srgbClr val="FFFFFF"/>
          </a:solidFill>
          <a:ln w="9525">
            <a:solidFill>
              <a:srgbClr val="E4D9D6"/>
            </a:solidFill>
          </a:ln>
        </p:spPr>
      </p:sp>
      <p:sp>
        <p:nvSpPr>
          <p:cNvPr id="16" name="Rectangle 15">
            <a:extLst>
              <a:ext uri="{FF2B5EF4-FFF2-40B4-BE49-F238E27FC236}">
                <a16:creationId xmlns:a16="http://schemas.microsoft.com/office/drawing/2014/main" id="{567494B7-1E4D-4ADC-A1E5-E97989C25469}"/>
              </a:ext>
            </a:extLst>
          </p:cNvPr>
          <p:cNvSpPr>
            <a:spLocks noGrp="1"/>
          </p:cNvSpPr>
          <p:nvPr/>
        </p:nvSpPr>
        <p:spPr>
          <a:xfrm>
            <a:off x="8350250" y="38385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Build New System:</a:t>
            </a:r>
          </a:p>
        </p:txBody>
      </p:sp>
      <p:sp>
        <p:nvSpPr>
          <p:cNvPr id="17" name="Rectangle 16">
            <a:extLst>
              <a:ext uri="{FF2B5EF4-FFF2-40B4-BE49-F238E27FC236}">
                <a16:creationId xmlns:a16="http://schemas.microsoft.com/office/drawing/2014/main" id="{3CAB7605-A476-4C02-A8FA-DBD5E14842AE}"/>
              </a:ext>
            </a:extLst>
          </p:cNvPr>
          <p:cNvSpPr>
            <a:spLocks noGrp="1"/>
          </p:cNvSpPr>
          <p:nvPr/>
        </p:nvSpPr>
        <p:spPr>
          <a:xfrm>
            <a:off x="8350250" y="4581525"/>
            <a:ext cx="3022600" cy="133350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A complete replacement is needed</a:t>
            </a:r>
          </a:p>
        </p:txBody>
      </p:sp>
    </p:spTree>
    <p:extLst>
      <p:ext uri="{BB962C8B-B14F-4D97-AF65-F5344CB8AC3E}">
        <p14:creationId xmlns:p14="http://schemas.microsoft.com/office/powerpoint/2010/main" val="267523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5FCB1B-65B9-40FF-8B3B-A6D177DB90D4}"/>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THE INITIAL INVESTIGATION</a:t>
            </a:r>
          </a:p>
        </p:txBody>
      </p:sp>
      <p:sp>
        <p:nvSpPr>
          <p:cNvPr id="2" name="Rectangle 1">
            <a:extLst>
              <a:ext uri="{FF2B5EF4-FFF2-40B4-BE49-F238E27FC236}">
                <a16:creationId xmlns:a16="http://schemas.microsoft.com/office/drawing/2014/main" id="{9DB4AC61-7645-44C6-9ABA-6122E0AD4134}"/>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3" name="Rectangle 2">
            <a:extLst>
              <a:ext uri="{FF2B5EF4-FFF2-40B4-BE49-F238E27FC236}">
                <a16:creationId xmlns:a16="http://schemas.microsoft.com/office/drawing/2014/main" id="{DB47C7D1-8E3E-45EE-8C08-0ED711DE997D}"/>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4" name="Oval 3">
            <a:extLst>
              <a:ext uri="{FF2B5EF4-FFF2-40B4-BE49-F238E27FC236}">
                <a16:creationId xmlns:a16="http://schemas.microsoft.com/office/drawing/2014/main" id="{AF8756EF-F79F-4601-8A23-4A3F7387E889}"/>
              </a:ext>
            </a:extLst>
          </p:cNvPr>
          <p:cNvSpPr>
            <a:spLocks noGrp="1"/>
          </p:cNvSpPr>
          <p:nvPr/>
        </p:nvSpPr>
        <p:spPr>
          <a:xfrm>
            <a:off x="11624786" y="6291072"/>
            <a:ext cx="365760" cy="365760"/>
          </a:xfrm>
          <a:prstGeom prst="ellipse">
            <a:avLst/>
          </a:prstGeom>
          <a:solidFill>
            <a:srgbClr val="990011"/>
          </a:solidFill>
          <a:ln w="0">
            <a:noFill/>
          </a:ln>
        </p:spPr>
      </p:sp>
      <p:sp>
        <p:nvSpPr>
          <p:cNvPr id="5" name="Rectangle 4">
            <a:extLst>
              <a:ext uri="{FF2B5EF4-FFF2-40B4-BE49-F238E27FC236}">
                <a16:creationId xmlns:a16="http://schemas.microsoft.com/office/drawing/2014/main" id="{A03169F5-48D7-42C7-98DC-5D9AE6AD003F}"/>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9</a:t>
            </a:r>
          </a:p>
        </p:txBody>
      </p:sp>
      <p:sp>
        <p:nvSpPr>
          <p:cNvPr id="6" name="Rectangle 5">
            <a:extLst>
              <a:ext uri="{FF2B5EF4-FFF2-40B4-BE49-F238E27FC236}">
                <a16:creationId xmlns:a16="http://schemas.microsoft.com/office/drawing/2014/main" id="{65627815-57D1-4F5A-B87C-9D41D29D0D53}"/>
              </a:ext>
            </a:extLst>
          </p:cNvPr>
          <p:cNvSpPr>
            <a:spLocks noGrp="1"/>
          </p:cNvSpPr>
          <p:nvPr/>
        </p:nvSpPr>
        <p:spPr>
          <a:xfrm>
            <a:off x="647700" y="885825"/>
            <a:ext cx="10839450" cy="1047750"/>
          </a:xfrm>
          <a:prstGeom prst="rect">
            <a:avLst/>
          </a:prstGeom>
          <a:noFill/>
          <a:ln w="0">
            <a:noFill/>
          </a:ln>
        </p:spPr>
        <p:txBody>
          <a:bodyPr wrap="square" lIns="0" tIns="0" rIns="0" bIns="0" anchor="t">
            <a:noAutofit/>
          </a:bodyPr>
          <a:lstStyle/>
          <a:p>
            <a:pPr algn="l">
              <a:defRPr sz="1800">
                <a:solidFill>
                  <a:srgbClr val="2A2A2A"/>
                </a:solidFill>
                <a:latin typeface="Georgia"/>
                <a:ea typeface="Georgia"/>
                <a:cs typeface="Georgia"/>
              </a:defRPr>
            </a:pPr>
            <a:r>
              <a:rPr sz="1800" b="0">
                <a:solidFill>
                  <a:srgbClr val="2A2A2A"/>
                </a:solidFill>
                <a:latin typeface="Georgia"/>
                <a:ea typeface="Georgia"/>
                <a:cs typeface="Georgia"/>
              </a:rPr>
              <a:t>A </a:t>
            </a:r>
            <a:r>
              <a:rPr sz="1800" b="1">
                <a:solidFill>
                  <a:srgbClr val="2A2A2A"/>
                </a:solidFill>
                <a:latin typeface="Georgia"/>
                <a:ea typeface="Georgia"/>
                <a:cs typeface="Georgia"/>
              </a:rPr>
              <a:t>User Request Form</a:t>
            </a:r>
            <a:r>
              <a:rPr sz="1800" b="0">
                <a:solidFill>
                  <a:srgbClr val="2A2A2A"/>
                </a:solidFill>
                <a:latin typeface="Georgia"/>
                <a:ea typeface="Georgia"/>
                <a:cs typeface="Georgia"/>
              </a:rPr>
              <a:t> is the official document that identifies a need for change and authorizes an </a:t>
            </a:r>
            <a:r>
              <a:rPr sz="1800" b="1">
                <a:solidFill>
                  <a:srgbClr val="2A2A2A"/>
                </a:solidFill>
                <a:latin typeface="Georgia"/>
                <a:ea typeface="Georgia"/>
                <a:cs typeface="Georgia"/>
              </a:rPr>
              <a:t>Initial Investigation</a:t>
            </a:r>
            <a:r>
              <a:rPr sz="1800" b="0">
                <a:solidFill>
                  <a:srgbClr val="2A2A2A"/>
                </a:solidFill>
                <a:latin typeface="Georgia"/>
                <a:ea typeface="Georgia"/>
                <a:cs typeface="Georgia"/>
              </a:rPr>
              <a:t>. It typically includes these 9 key items:</a:t>
            </a:r>
          </a:p>
        </p:txBody>
      </p:sp>
      <p:sp>
        <p:nvSpPr>
          <p:cNvPr id="7" name="Rectangle 6">
            <a:extLst>
              <a:ext uri="{FF2B5EF4-FFF2-40B4-BE49-F238E27FC236}">
                <a16:creationId xmlns:a16="http://schemas.microsoft.com/office/drawing/2014/main" id="{74166D33-E9DE-484A-8A72-3824B15F92CE}"/>
              </a:ext>
            </a:extLst>
          </p:cNvPr>
          <p:cNvSpPr>
            <a:spLocks noGrp="1"/>
          </p:cNvSpPr>
          <p:nvPr/>
        </p:nvSpPr>
        <p:spPr>
          <a:xfrm>
            <a:off x="552450" y="2133600"/>
            <a:ext cx="5353050" cy="4019550"/>
          </a:xfrm>
          <a:prstGeom prst="rect">
            <a:avLst/>
          </a:prstGeom>
          <a:solidFill>
            <a:srgbClr val="FCF6F5"/>
          </a:solidFill>
          <a:ln w="9525">
            <a:solidFill>
              <a:srgbClr val="E4D9D6"/>
            </a:solidFill>
          </a:ln>
        </p:spPr>
      </p:sp>
      <p:sp>
        <p:nvSpPr>
          <p:cNvPr id="8" name="Rectangle 7">
            <a:extLst>
              <a:ext uri="{FF2B5EF4-FFF2-40B4-BE49-F238E27FC236}">
                <a16:creationId xmlns:a16="http://schemas.microsoft.com/office/drawing/2014/main" id="{54A48C62-1058-4540-B77B-BEA66FE58D48}"/>
              </a:ext>
            </a:extLst>
          </p:cNvPr>
          <p:cNvSpPr>
            <a:spLocks noGrp="1"/>
          </p:cNvSpPr>
          <p:nvPr/>
        </p:nvSpPr>
        <p:spPr>
          <a:xfrm>
            <a:off x="800100" y="2381250"/>
            <a:ext cx="4857750" cy="3600450"/>
          </a:xfrm>
          <a:prstGeom prst="rect">
            <a:avLst/>
          </a:prstGeom>
          <a:noFill/>
          <a:ln w="0">
            <a:noFill/>
          </a:ln>
        </p:spPr>
        <p:txBody>
          <a:bodyPr wrap="square" lIns="0" tIns="0" rIns="0" bIns="0" anchor="t">
            <a:noAutofit/>
          </a:bodyPr>
          <a:lstStyle/>
          <a:p>
            <a:pPr marL="152400" indent="-152400" algn="l">
              <a:spcAft>
                <a:spcPts val="800"/>
              </a:spcAft>
              <a:buChar char="▪"/>
              <a:defRPr sz="1600">
                <a:solidFill>
                  <a:srgbClr val="2A2A2A"/>
                </a:solidFill>
                <a:latin typeface="Georgia"/>
                <a:ea typeface="Georgia"/>
                <a:cs typeface="Georgia"/>
              </a:defRPr>
            </a:pPr>
            <a:r>
              <a:rPr b="1"/>
              <a:t>Project Title:</a:t>
            </a:r>
            <a:r>
              <a:rPr b="0"/>
              <a:t> A simple name for the requested work.</a:t>
            </a:r>
          </a:p>
          <a:p>
            <a:pPr marL="152400" indent="-152400" algn="l">
              <a:spcAft>
                <a:spcPts val="800"/>
              </a:spcAft>
              <a:buChar char="▪"/>
              <a:defRPr sz="1600">
                <a:solidFill>
                  <a:srgbClr val="2A2A2A"/>
                </a:solidFill>
                <a:latin typeface="Georgia"/>
                <a:ea typeface="Georgia"/>
                <a:cs typeface="Georgia"/>
              </a:defRPr>
            </a:pPr>
            <a:r>
              <a:rPr b="1"/>
              <a:t>Problem Definition:</a:t>
            </a:r>
            <a:r>
              <a:rPr b="0"/>
              <a:t> A description of the current issue (Nature of work).</a:t>
            </a:r>
          </a:p>
          <a:p>
            <a:pPr marL="152400" indent="-152400" algn="l">
              <a:spcAft>
                <a:spcPts val="800"/>
              </a:spcAft>
              <a:buChar char="▪"/>
              <a:defRPr sz="1600">
                <a:solidFill>
                  <a:srgbClr val="2A2A2A"/>
                </a:solidFill>
                <a:latin typeface="Georgia"/>
                <a:ea typeface="Georgia"/>
                <a:cs typeface="Georgia"/>
              </a:defRPr>
            </a:pPr>
            <a:r>
              <a:rPr b="1"/>
              <a:t>Submission Date:</a:t>
            </a:r>
            <a:r>
              <a:rPr b="0"/>
              <a:t> When the request was filed.</a:t>
            </a:r>
          </a:p>
          <a:p>
            <a:pPr marL="152400" indent="-152400" algn="l">
              <a:spcAft>
                <a:spcPts val="800"/>
              </a:spcAft>
              <a:buChar char="▪"/>
              <a:defRPr sz="1600">
                <a:solidFill>
                  <a:srgbClr val="2A2A2A"/>
                </a:solidFill>
                <a:latin typeface="Georgia"/>
                <a:ea typeface="Georgia"/>
                <a:cs typeface="Georgia"/>
              </a:defRPr>
            </a:pPr>
            <a:r>
              <a:rPr b="1"/>
              <a:t>Deadline:</a:t>
            </a:r>
            <a:r>
              <a:rPr b="0"/>
              <a:t> When the user expects the job to be finished.</a:t>
            </a:r>
          </a:p>
          <a:p>
            <a:pPr marL="152400" indent="-152400" algn="l">
              <a:spcAft>
                <a:spcPts val="800"/>
              </a:spcAft>
              <a:buChar char="▪"/>
              <a:defRPr sz="1600">
                <a:solidFill>
                  <a:srgbClr val="2A2A2A"/>
                </a:solidFill>
                <a:latin typeface="Georgia"/>
                <a:ea typeface="Georgia"/>
                <a:cs typeface="Georgia"/>
              </a:defRPr>
            </a:pPr>
            <a:r>
              <a:rPr b="1"/>
              <a:t>Objectives:</a:t>
            </a:r>
            <a:r>
              <a:rPr b="0"/>
              <a:t> The specific purpose or goals of the request.</a:t>
            </a:r>
          </a:p>
        </p:txBody>
      </p:sp>
      <p:sp>
        <p:nvSpPr>
          <p:cNvPr id="9" name="Rectangle 8">
            <a:extLst>
              <a:ext uri="{FF2B5EF4-FFF2-40B4-BE49-F238E27FC236}">
                <a16:creationId xmlns:a16="http://schemas.microsoft.com/office/drawing/2014/main" id="{450E4B49-B4CF-4F3C-8F0D-F167312D0BB4}"/>
              </a:ext>
            </a:extLst>
          </p:cNvPr>
          <p:cNvSpPr>
            <a:spLocks noGrp="1"/>
          </p:cNvSpPr>
          <p:nvPr/>
        </p:nvSpPr>
        <p:spPr>
          <a:xfrm>
            <a:off x="6267450" y="2133600"/>
            <a:ext cx="5353050" cy="4019550"/>
          </a:xfrm>
          <a:prstGeom prst="rect">
            <a:avLst/>
          </a:prstGeom>
          <a:solidFill>
            <a:srgbClr val="FFFFFF"/>
          </a:solidFill>
          <a:ln w="9525">
            <a:solidFill>
              <a:srgbClr val="E4D9D6"/>
            </a:solidFill>
          </a:ln>
        </p:spPr>
      </p:sp>
      <p:sp>
        <p:nvSpPr>
          <p:cNvPr id="10" name="Rectangle 9">
            <a:extLst>
              <a:ext uri="{FF2B5EF4-FFF2-40B4-BE49-F238E27FC236}">
                <a16:creationId xmlns:a16="http://schemas.microsoft.com/office/drawing/2014/main" id="{F8EED544-937E-4F1E-A240-AA3DC7F13F97}"/>
              </a:ext>
            </a:extLst>
          </p:cNvPr>
          <p:cNvSpPr>
            <a:spLocks noGrp="1"/>
          </p:cNvSpPr>
          <p:nvPr/>
        </p:nvSpPr>
        <p:spPr>
          <a:xfrm>
            <a:off x="6515100" y="2381250"/>
            <a:ext cx="4857750" cy="3600450"/>
          </a:xfrm>
          <a:prstGeom prst="rect">
            <a:avLst/>
          </a:prstGeom>
          <a:noFill/>
          <a:ln w="0">
            <a:noFill/>
          </a:ln>
        </p:spPr>
        <p:txBody>
          <a:bodyPr wrap="square" lIns="0" tIns="0" rIns="0" bIns="0" anchor="t">
            <a:noAutofit/>
          </a:bodyPr>
          <a:lstStyle/>
          <a:p>
            <a:pPr marL="152400" indent="-152400" algn="l">
              <a:spcAft>
                <a:spcPts val="800"/>
              </a:spcAft>
              <a:buChar char="▪"/>
              <a:defRPr sz="1600">
                <a:solidFill>
                  <a:srgbClr val="2A2A2A"/>
                </a:solidFill>
                <a:latin typeface="Georgia"/>
                <a:ea typeface="Georgia"/>
                <a:cs typeface="Georgia"/>
              </a:defRPr>
            </a:pPr>
            <a:r>
              <a:rPr b="1"/>
              <a:t>Expected Benefits:</a:t>
            </a:r>
            <a:r>
              <a:rPr b="0"/>
              <a:t> What the organization gains (e.g., cost savings, better speed).</a:t>
            </a:r>
          </a:p>
          <a:p>
            <a:pPr marL="152400" indent="-152400" algn="l">
              <a:spcAft>
                <a:spcPts val="800"/>
              </a:spcAft>
              <a:buChar char="▪"/>
              <a:defRPr sz="1600">
                <a:solidFill>
                  <a:srgbClr val="2A2A2A"/>
                </a:solidFill>
                <a:latin typeface="Georgia"/>
                <a:ea typeface="Georgia"/>
                <a:cs typeface="Georgia"/>
              </a:defRPr>
            </a:pPr>
            <a:r>
              <a:rPr b="1"/>
              <a:t>Input/Output Details:</a:t>
            </a:r>
            <a:r>
              <a:rPr b="0"/>
              <a:t> The volume (pages/copies) and frequency (daily/weekly) of data.</a:t>
            </a:r>
          </a:p>
          <a:p>
            <a:pPr marL="152400" indent="-152400" algn="l">
              <a:spcAft>
                <a:spcPts val="800"/>
              </a:spcAft>
              <a:buChar char="▪"/>
              <a:defRPr sz="1600">
                <a:solidFill>
                  <a:srgbClr val="2A2A2A"/>
                </a:solidFill>
                <a:latin typeface="Georgia"/>
                <a:ea typeface="Georgia"/>
                <a:cs typeface="Georgia"/>
              </a:defRPr>
            </a:pPr>
            <a:r>
              <a:rPr b="1"/>
              <a:t>Requester Info:</a:t>
            </a:r>
            <a:r>
              <a:rPr b="0"/>
              <a:t> Signature and contact details of the person asking for the change.</a:t>
            </a:r>
          </a:p>
          <a:p>
            <a:pPr marL="152400" indent="-152400" algn="l">
              <a:spcAft>
                <a:spcPts val="800"/>
              </a:spcAft>
              <a:buChar char="▪"/>
              <a:defRPr sz="1600">
                <a:solidFill>
                  <a:srgbClr val="2A2A2A"/>
                </a:solidFill>
                <a:latin typeface="Georgia"/>
                <a:ea typeface="Georgia"/>
                <a:cs typeface="Georgia"/>
              </a:defRPr>
            </a:pPr>
            <a:r>
              <a:rPr b="1"/>
              <a:t>Approval Info:</a:t>
            </a:r>
            <a:r>
              <a:rPr b="0"/>
              <a:t> Signature and contact details of the manager authorizing the request.</a:t>
            </a:r>
          </a:p>
        </p:txBody>
      </p:sp>
    </p:spTree>
    <p:extLst>
      <p:ext uri="{BB962C8B-B14F-4D97-AF65-F5344CB8AC3E}">
        <p14:creationId xmlns:p14="http://schemas.microsoft.com/office/powerpoint/2010/main" val="1461628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614795E-7681-4076-AEB0-CC8CFA19B95A}"/>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THE INITIAL INVESTIGATION</a:t>
            </a:r>
          </a:p>
        </p:txBody>
      </p:sp>
      <p:sp>
        <p:nvSpPr>
          <p:cNvPr id="2" name="Rectangle 1">
            <a:extLst>
              <a:ext uri="{FF2B5EF4-FFF2-40B4-BE49-F238E27FC236}">
                <a16:creationId xmlns:a16="http://schemas.microsoft.com/office/drawing/2014/main" id="{D0FB1866-58B6-430D-ABBF-0F9B829AD530}"/>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3" name="Rectangle 2">
            <a:extLst>
              <a:ext uri="{FF2B5EF4-FFF2-40B4-BE49-F238E27FC236}">
                <a16:creationId xmlns:a16="http://schemas.microsoft.com/office/drawing/2014/main" id="{14CC5923-80F0-42A2-81EF-345D2204BA77}"/>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4" name="Oval 3">
            <a:extLst>
              <a:ext uri="{FF2B5EF4-FFF2-40B4-BE49-F238E27FC236}">
                <a16:creationId xmlns:a16="http://schemas.microsoft.com/office/drawing/2014/main" id="{F7BBEA6A-6FFB-4829-BCBE-3148078C1448}"/>
              </a:ext>
            </a:extLst>
          </p:cNvPr>
          <p:cNvSpPr>
            <a:spLocks noGrp="1"/>
          </p:cNvSpPr>
          <p:nvPr/>
        </p:nvSpPr>
        <p:spPr>
          <a:xfrm>
            <a:off x="11624786" y="6291072"/>
            <a:ext cx="365760" cy="365760"/>
          </a:xfrm>
          <a:prstGeom prst="ellipse">
            <a:avLst/>
          </a:prstGeom>
          <a:solidFill>
            <a:srgbClr val="990011"/>
          </a:solidFill>
          <a:ln w="0">
            <a:noFill/>
          </a:ln>
        </p:spPr>
      </p:sp>
      <p:sp>
        <p:nvSpPr>
          <p:cNvPr id="5" name="Rectangle 4">
            <a:extLst>
              <a:ext uri="{FF2B5EF4-FFF2-40B4-BE49-F238E27FC236}">
                <a16:creationId xmlns:a16="http://schemas.microsoft.com/office/drawing/2014/main" id="{1CEE6282-3119-40F3-95A0-CFB877DF7673}"/>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10</a:t>
            </a:r>
          </a:p>
        </p:txBody>
      </p:sp>
      <p:pic>
        <p:nvPicPr>
          <p:cNvPr id="8" name="Picture 7">
            <a:extLst>
              <a:ext uri="{FF2B5EF4-FFF2-40B4-BE49-F238E27FC236}">
                <a16:creationId xmlns:a16="http://schemas.microsoft.com/office/drawing/2014/main" id="{BAE8C1A4-2F62-3686-9BF0-081FFAE8F1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8271" y="98323"/>
            <a:ext cx="7843690" cy="6331052"/>
          </a:xfrm>
          <a:prstGeom prst="rect">
            <a:avLst/>
          </a:prstGeom>
        </p:spPr>
      </p:pic>
    </p:spTree>
    <p:extLst>
      <p:ext uri="{BB962C8B-B14F-4D97-AF65-F5344CB8AC3E}">
        <p14:creationId xmlns:p14="http://schemas.microsoft.com/office/powerpoint/2010/main" val="453847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4784C39-AEE0-4C11-B17C-41275A027C34}"/>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NEEDS IDENTIFICATION</a:t>
            </a:r>
          </a:p>
        </p:txBody>
      </p:sp>
      <p:sp>
        <p:nvSpPr>
          <p:cNvPr id="2" name="Rectangle 1">
            <a:extLst>
              <a:ext uri="{FF2B5EF4-FFF2-40B4-BE49-F238E27FC236}">
                <a16:creationId xmlns:a16="http://schemas.microsoft.com/office/drawing/2014/main" id="{4CA5BC65-1DCC-47E0-A48A-F5C1CF3661A2}"/>
              </a:ext>
            </a:extLst>
          </p:cNvPr>
          <p:cNvSpPr>
            <a:spLocks noGrp="1"/>
          </p:cNvSpPr>
          <p:nvPr/>
        </p:nvSpPr>
        <p:spPr>
          <a:xfrm>
            <a:off x="552450" y="781050"/>
            <a:ext cx="11049000" cy="104775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Needs Identification: Defining the Real Problem</a:t>
            </a:r>
          </a:p>
        </p:txBody>
      </p:sp>
      <p:sp>
        <p:nvSpPr>
          <p:cNvPr id="3" name="Rectangle 2">
            <a:extLst>
              <a:ext uri="{FF2B5EF4-FFF2-40B4-BE49-F238E27FC236}">
                <a16:creationId xmlns:a16="http://schemas.microsoft.com/office/drawing/2014/main" id="{3874DE7D-7CDB-48C6-BC2A-7E14B2196A44}"/>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21F4022B-84A6-4080-B655-32BF17087670}"/>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406AB1C5-681C-41A4-BA2B-946F74F53B8F}"/>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5AB48345-47C9-4EA6-BFD0-FC15CC22C216}"/>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11</a:t>
            </a:r>
          </a:p>
        </p:txBody>
      </p:sp>
      <p:sp>
        <p:nvSpPr>
          <p:cNvPr id="7" name="Rectangle 6">
            <a:extLst>
              <a:ext uri="{FF2B5EF4-FFF2-40B4-BE49-F238E27FC236}">
                <a16:creationId xmlns:a16="http://schemas.microsoft.com/office/drawing/2014/main" id="{4B2510F8-C88F-4D46-977D-E7B6BAA73B7C}"/>
              </a:ext>
            </a:extLst>
          </p:cNvPr>
          <p:cNvSpPr>
            <a:spLocks noGrp="1"/>
          </p:cNvSpPr>
          <p:nvPr/>
        </p:nvSpPr>
        <p:spPr>
          <a:xfrm>
            <a:off x="552450" y="2038350"/>
            <a:ext cx="3556000" cy="4086225"/>
          </a:xfrm>
          <a:prstGeom prst="rect">
            <a:avLst/>
          </a:prstGeom>
          <a:solidFill>
            <a:srgbClr val="FFFFFF"/>
          </a:solidFill>
          <a:ln w="9525">
            <a:solidFill>
              <a:srgbClr val="E4D9D6"/>
            </a:solidFill>
          </a:ln>
        </p:spPr>
      </p:sp>
      <p:sp>
        <p:nvSpPr>
          <p:cNvPr id="8" name="Oval 7">
            <a:extLst>
              <a:ext uri="{FF2B5EF4-FFF2-40B4-BE49-F238E27FC236}">
                <a16:creationId xmlns:a16="http://schemas.microsoft.com/office/drawing/2014/main" id="{F8E7A3A4-ACE3-49BE-8657-B860685EFC7F}"/>
              </a:ext>
            </a:extLst>
          </p:cNvPr>
          <p:cNvSpPr>
            <a:spLocks noGrp="1"/>
          </p:cNvSpPr>
          <p:nvPr/>
        </p:nvSpPr>
        <p:spPr>
          <a:xfrm>
            <a:off x="781050" y="2266950"/>
            <a:ext cx="400050" cy="400050"/>
          </a:xfrm>
          <a:prstGeom prst="ellipse">
            <a:avLst/>
          </a:prstGeom>
          <a:solidFill>
            <a:srgbClr val="990011"/>
          </a:solidFill>
          <a:ln w="0">
            <a:noFill/>
          </a:ln>
        </p:spPr>
      </p:sp>
      <p:sp>
        <p:nvSpPr>
          <p:cNvPr id="9" name="Rectangle 8">
            <a:extLst>
              <a:ext uri="{FF2B5EF4-FFF2-40B4-BE49-F238E27FC236}">
                <a16:creationId xmlns:a16="http://schemas.microsoft.com/office/drawing/2014/main" id="{A7B1937F-B47E-481B-844F-D4B16586BB7E}"/>
              </a:ext>
            </a:extLst>
          </p:cNvPr>
          <p:cNvSpPr>
            <a:spLocks noGrp="1"/>
          </p:cNvSpPr>
          <p:nvPr/>
        </p:nvSpPr>
        <p:spPr>
          <a:xfrm>
            <a:off x="781050" y="226695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a:t>
            </a:r>
          </a:p>
        </p:txBody>
      </p:sp>
      <p:sp>
        <p:nvSpPr>
          <p:cNvPr id="10" name="Rectangle 9">
            <a:extLst>
              <a:ext uri="{FF2B5EF4-FFF2-40B4-BE49-F238E27FC236}">
                <a16:creationId xmlns:a16="http://schemas.microsoft.com/office/drawing/2014/main" id="{C830C2F1-DBC3-41AB-8E83-75803F6A2256}"/>
              </a:ext>
            </a:extLst>
          </p:cNvPr>
          <p:cNvSpPr>
            <a:spLocks noGrp="1"/>
          </p:cNvSpPr>
          <p:nvPr/>
        </p:nvSpPr>
        <p:spPr>
          <a:xfrm>
            <a:off x="819150" y="28765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Core Goal:</a:t>
            </a:r>
          </a:p>
        </p:txBody>
      </p:sp>
      <p:sp>
        <p:nvSpPr>
          <p:cNvPr id="11" name="Rectangle 10">
            <a:extLst>
              <a:ext uri="{FF2B5EF4-FFF2-40B4-BE49-F238E27FC236}">
                <a16:creationId xmlns:a16="http://schemas.microsoft.com/office/drawing/2014/main" id="{2ED87089-03A0-4279-B6DE-4F84CBFD7CF1}"/>
              </a:ext>
            </a:extLst>
          </p:cNvPr>
          <p:cNvSpPr>
            <a:spLocks noGrp="1"/>
          </p:cNvSpPr>
          <p:nvPr/>
        </p:nvSpPr>
        <p:spPr>
          <a:xfrm>
            <a:off x="819150" y="3619500"/>
            <a:ext cx="3022600" cy="22955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The success of a system depends on accurately defining and investigating a problem before jumping to a solution.</a:t>
            </a:r>
          </a:p>
        </p:txBody>
      </p:sp>
      <p:sp>
        <p:nvSpPr>
          <p:cNvPr id="12" name="Rectangle 11">
            <a:extLst>
              <a:ext uri="{FF2B5EF4-FFF2-40B4-BE49-F238E27FC236}">
                <a16:creationId xmlns:a16="http://schemas.microsoft.com/office/drawing/2014/main" id="{2D8118EE-1857-467A-9810-DC35A8A1FEB4}"/>
              </a:ext>
            </a:extLst>
          </p:cNvPr>
          <p:cNvSpPr>
            <a:spLocks noGrp="1"/>
          </p:cNvSpPr>
          <p:nvPr/>
        </p:nvSpPr>
        <p:spPr>
          <a:xfrm>
            <a:off x="4318000" y="2038350"/>
            <a:ext cx="3556000" cy="4086225"/>
          </a:xfrm>
          <a:prstGeom prst="rect">
            <a:avLst/>
          </a:prstGeom>
          <a:solidFill>
            <a:srgbClr val="FFFFFF"/>
          </a:solidFill>
          <a:ln w="9525">
            <a:solidFill>
              <a:srgbClr val="E4D9D6"/>
            </a:solidFill>
          </a:ln>
        </p:spPr>
      </p:sp>
      <p:sp>
        <p:nvSpPr>
          <p:cNvPr id="13" name="Oval 12">
            <a:extLst>
              <a:ext uri="{FF2B5EF4-FFF2-40B4-BE49-F238E27FC236}">
                <a16:creationId xmlns:a16="http://schemas.microsoft.com/office/drawing/2014/main" id="{55EA9A13-1608-4069-A4D6-5D51207DEFFC}"/>
              </a:ext>
            </a:extLst>
          </p:cNvPr>
          <p:cNvSpPr>
            <a:spLocks noGrp="1"/>
          </p:cNvSpPr>
          <p:nvPr/>
        </p:nvSpPr>
        <p:spPr>
          <a:xfrm>
            <a:off x="4546600" y="2266950"/>
            <a:ext cx="400050" cy="400050"/>
          </a:xfrm>
          <a:prstGeom prst="ellipse">
            <a:avLst/>
          </a:prstGeom>
          <a:solidFill>
            <a:srgbClr val="990011"/>
          </a:solidFill>
          <a:ln w="0">
            <a:noFill/>
          </a:ln>
        </p:spPr>
      </p:sp>
      <p:sp>
        <p:nvSpPr>
          <p:cNvPr id="14" name="Rectangle 13">
            <a:extLst>
              <a:ext uri="{FF2B5EF4-FFF2-40B4-BE49-F238E27FC236}">
                <a16:creationId xmlns:a16="http://schemas.microsoft.com/office/drawing/2014/main" id="{A8CAE89F-0AC1-4D5F-B13B-7EFF365B7F36}"/>
              </a:ext>
            </a:extLst>
          </p:cNvPr>
          <p:cNvSpPr>
            <a:spLocks noGrp="1"/>
          </p:cNvSpPr>
          <p:nvPr/>
        </p:nvSpPr>
        <p:spPr>
          <a:xfrm>
            <a:off x="4546600" y="226695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a:t>
            </a:r>
          </a:p>
        </p:txBody>
      </p:sp>
      <p:sp>
        <p:nvSpPr>
          <p:cNvPr id="15" name="Rectangle 14">
            <a:extLst>
              <a:ext uri="{FF2B5EF4-FFF2-40B4-BE49-F238E27FC236}">
                <a16:creationId xmlns:a16="http://schemas.microsoft.com/office/drawing/2014/main" id="{6D1E39BE-5A13-4A7D-9BF9-F8D555F4BD64}"/>
              </a:ext>
            </a:extLst>
          </p:cNvPr>
          <p:cNvSpPr>
            <a:spLocks noGrp="1"/>
          </p:cNvSpPr>
          <p:nvPr/>
        </p:nvSpPr>
        <p:spPr>
          <a:xfrm>
            <a:off x="4584700" y="28765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Needs vs. Wants:</a:t>
            </a:r>
          </a:p>
        </p:txBody>
      </p:sp>
      <p:sp>
        <p:nvSpPr>
          <p:cNvPr id="16" name="Rectangle 15">
            <a:extLst>
              <a:ext uri="{FF2B5EF4-FFF2-40B4-BE49-F238E27FC236}">
                <a16:creationId xmlns:a16="http://schemas.microsoft.com/office/drawing/2014/main" id="{79841358-1BE3-402F-A3FE-C935D85D23E5}"/>
              </a:ext>
            </a:extLst>
          </p:cNvPr>
          <p:cNvSpPr>
            <a:spLocks noGrp="1"/>
          </p:cNvSpPr>
          <p:nvPr/>
        </p:nvSpPr>
        <p:spPr>
          <a:xfrm>
            <a:off x="4584700" y="3619500"/>
            <a:ext cx="3022600" cy="22955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The analyst focuses on what the user needs to function effectively, rather than just what they want (which may be unnecessary or incorrect).</a:t>
            </a:r>
          </a:p>
        </p:txBody>
      </p:sp>
      <p:sp>
        <p:nvSpPr>
          <p:cNvPr id="17" name="Rectangle 16">
            <a:extLst>
              <a:ext uri="{FF2B5EF4-FFF2-40B4-BE49-F238E27FC236}">
                <a16:creationId xmlns:a16="http://schemas.microsoft.com/office/drawing/2014/main" id="{58B78E89-EED5-4552-82D3-0E05990ED6B3}"/>
              </a:ext>
            </a:extLst>
          </p:cNvPr>
          <p:cNvSpPr>
            <a:spLocks noGrp="1"/>
          </p:cNvSpPr>
          <p:nvPr/>
        </p:nvSpPr>
        <p:spPr>
          <a:xfrm>
            <a:off x="8083550" y="2038350"/>
            <a:ext cx="3556000" cy="4086225"/>
          </a:xfrm>
          <a:prstGeom prst="rect">
            <a:avLst/>
          </a:prstGeom>
          <a:solidFill>
            <a:srgbClr val="FFFFFF"/>
          </a:solidFill>
          <a:ln w="9525">
            <a:solidFill>
              <a:srgbClr val="E4D9D6"/>
            </a:solidFill>
          </a:ln>
        </p:spPr>
      </p:sp>
      <p:sp>
        <p:nvSpPr>
          <p:cNvPr id="18" name="Oval 17">
            <a:extLst>
              <a:ext uri="{FF2B5EF4-FFF2-40B4-BE49-F238E27FC236}">
                <a16:creationId xmlns:a16="http://schemas.microsoft.com/office/drawing/2014/main" id="{3E8A4CB9-E48F-441A-963C-47A7FB4A1A60}"/>
              </a:ext>
            </a:extLst>
          </p:cNvPr>
          <p:cNvSpPr>
            <a:spLocks noGrp="1"/>
          </p:cNvSpPr>
          <p:nvPr/>
        </p:nvSpPr>
        <p:spPr>
          <a:xfrm>
            <a:off x="8312150" y="2266950"/>
            <a:ext cx="400050" cy="400050"/>
          </a:xfrm>
          <a:prstGeom prst="ellipse">
            <a:avLst/>
          </a:prstGeom>
          <a:solidFill>
            <a:srgbClr val="990011"/>
          </a:solidFill>
          <a:ln w="0">
            <a:noFill/>
          </a:ln>
        </p:spPr>
      </p:sp>
      <p:sp>
        <p:nvSpPr>
          <p:cNvPr id="19" name="Rectangle 18">
            <a:extLst>
              <a:ext uri="{FF2B5EF4-FFF2-40B4-BE49-F238E27FC236}">
                <a16:creationId xmlns:a16="http://schemas.microsoft.com/office/drawing/2014/main" id="{97FC4336-BACE-4E62-8227-B7A6F671BB28}"/>
              </a:ext>
            </a:extLst>
          </p:cNvPr>
          <p:cNvSpPr>
            <a:spLocks noGrp="1"/>
          </p:cNvSpPr>
          <p:nvPr/>
        </p:nvSpPr>
        <p:spPr>
          <a:xfrm>
            <a:off x="8312150" y="226695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3</a:t>
            </a:r>
          </a:p>
        </p:txBody>
      </p:sp>
      <p:sp>
        <p:nvSpPr>
          <p:cNvPr id="20" name="Rectangle 19">
            <a:extLst>
              <a:ext uri="{FF2B5EF4-FFF2-40B4-BE49-F238E27FC236}">
                <a16:creationId xmlns:a16="http://schemas.microsoft.com/office/drawing/2014/main" id="{E891EADB-EC07-4ACE-925B-99AAB34A6EA9}"/>
              </a:ext>
            </a:extLst>
          </p:cNvPr>
          <p:cNvSpPr>
            <a:spLocks noGrp="1"/>
          </p:cNvSpPr>
          <p:nvPr/>
        </p:nvSpPr>
        <p:spPr>
          <a:xfrm>
            <a:off x="8350250" y="28765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Problem vs. Symptoms:</a:t>
            </a:r>
          </a:p>
        </p:txBody>
      </p:sp>
      <p:sp>
        <p:nvSpPr>
          <p:cNvPr id="21" name="Rectangle 20">
            <a:extLst>
              <a:ext uri="{FF2B5EF4-FFF2-40B4-BE49-F238E27FC236}">
                <a16:creationId xmlns:a16="http://schemas.microsoft.com/office/drawing/2014/main" id="{52256FE0-D025-4A9E-9E13-BDFEAB02EB4B}"/>
              </a:ext>
            </a:extLst>
          </p:cNvPr>
          <p:cNvSpPr>
            <a:spLocks noGrp="1"/>
          </p:cNvSpPr>
          <p:nvPr/>
        </p:nvSpPr>
        <p:spPr>
          <a:xfrm>
            <a:off x="8350250" y="3619500"/>
            <a:ext cx="3022600" cy="22955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This step helps the analyst find the real problem rather than just reacting to symptoms (the visible signs of the problem).</a:t>
            </a:r>
          </a:p>
        </p:txBody>
      </p:sp>
    </p:spTree>
    <p:extLst>
      <p:ext uri="{BB962C8B-B14F-4D97-AF65-F5344CB8AC3E}">
        <p14:creationId xmlns:p14="http://schemas.microsoft.com/office/powerpoint/2010/main" val="1620523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5D355D3-0F36-4CD3-9CE9-5B15308461C1}"/>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INFORMATION REQUIREMENTS</a:t>
            </a:r>
          </a:p>
        </p:txBody>
      </p:sp>
      <p:sp>
        <p:nvSpPr>
          <p:cNvPr id="2" name="Rectangle 1">
            <a:extLst>
              <a:ext uri="{FF2B5EF4-FFF2-40B4-BE49-F238E27FC236}">
                <a16:creationId xmlns:a16="http://schemas.microsoft.com/office/drawing/2014/main" id="{434ABCF9-5A4C-4BB6-8717-BBF70B399EBA}"/>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Why Determining Requirements is Difficult</a:t>
            </a:r>
          </a:p>
        </p:txBody>
      </p:sp>
      <p:sp>
        <p:nvSpPr>
          <p:cNvPr id="3" name="Rectangle 2">
            <a:extLst>
              <a:ext uri="{FF2B5EF4-FFF2-40B4-BE49-F238E27FC236}">
                <a16:creationId xmlns:a16="http://schemas.microsoft.com/office/drawing/2014/main" id="{4D31BAA2-CECB-4418-8B09-6574DA9129CD}"/>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218EF401-5251-4909-8C0B-69B64F356E00}"/>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5E53A5B6-AD4E-48F3-8C9B-14825B2D716E}"/>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A217794E-2CD5-4050-9818-83891DFD6709}"/>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12</a:t>
            </a:r>
          </a:p>
        </p:txBody>
      </p:sp>
      <p:sp>
        <p:nvSpPr>
          <p:cNvPr id="7" name="Rectangle 6">
            <a:extLst>
              <a:ext uri="{FF2B5EF4-FFF2-40B4-BE49-F238E27FC236}">
                <a16:creationId xmlns:a16="http://schemas.microsoft.com/office/drawing/2014/main" id="{D9DDB453-746C-4B15-924F-8E3B15E2F9A5}"/>
              </a:ext>
            </a:extLst>
          </p:cNvPr>
          <p:cNvSpPr>
            <a:spLocks noGrp="1"/>
          </p:cNvSpPr>
          <p:nvPr/>
        </p:nvSpPr>
        <p:spPr>
          <a:xfrm>
            <a:off x="552450" y="1857375"/>
            <a:ext cx="3556000" cy="3400425"/>
          </a:xfrm>
          <a:prstGeom prst="rect">
            <a:avLst/>
          </a:prstGeom>
          <a:solidFill>
            <a:srgbClr val="FFFFFF"/>
          </a:solidFill>
          <a:ln w="9525">
            <a:solidFill>
              <a:srgbClr val="E4D9D6"/>
            </a:solidFill>
          </a:ln>
        </p:spPr>
      </p:sp>
      <p:sp>
        <p:nvSpPr>
          <p:cNvPr id="8" name="Oval 7">
            <a:extLst>
              <a:ext uri="{FF2B5EF4-FFF2-40B4-BE49-F238E27FC236}">
                <a16:creationId xmlns:a16="http://schemas.microsoft.com/office/drawing/2014/main" id="{6D7D4B8F-2532-4EFF-A0D5-619D2F1A85DB}"/>
              </a:ext>
            </a:extLst>
          </p:cNvPr>
          <p:cNvSpPr>
            <a:spLocks noGrp="1"/>
          </p:cNvSpPr>
          <p:nvPr/>
        </p:nvSpPr>
        <p:spPr>
          <a:xfrm>
            <a:off x="781050" y="2085975"/>
            <a:ext cx="400050" cy="400050"/>
          </a:xfrm>
          <a:prstGeom prst="ellipse">
            <a:avLst/>
          </a:prstGeom>
          <a:solidFill>
            <a:srgbClr val="990011"/>
          </a:solidFill>
          <a:ln w="0">
            <a:noFill/>
          </a:ln>
        </p:spPr>
      </p:sp>
      <p:sp>
        <p:nvSpPr>
          <p:cNvPr id="9" name="Rectangle 8">
            <a:extLst>
              <a:ext uri="{FF2B5EF4-FFF2-40B4-BE49-F238E27FC236}">
                <a16:creationId xmlns:a16="http://schemas.microsoft.com/office/drawing/2014/main" id="{7C0EB65B-6578-4638-9AB6-A293C6138DAC}"/>
              </a:ext>
            </a:extLst>
          </p:cNvPr>
          <p:cNvSpPr>
            <a:spLocks noGrp="1"/>
          </p:cNvSpPr>
          <p:nvPr/>
        </p:nvSpPr>
        <p:spPr>
          <a:xfrm>
            <a:off x="781050" y="208597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a:t>
            </a:r>
          </a:p>
        </p:txBody>
      </p:sp>
      <p:sp>
        <p:nvSpPr>
          <p:cNvPr id="10" name="Rectangle 9">
            <a:extLst>
              <a:ext uri="{FF2B5EF4-FFF2-40B4-BE49-F238E27FC236}">
                <a16:creationId xmlns:a16="http://schemas.microsoft.com/office/drawing/2014/main" id="{49AF1571-CD0D-4239-BE4F-37ADB7FF7E1C}"/>
              </a:ext>
            </a:extLst>
          </p:cNvPr>
          <p:cNvSpPr>
            <a:spLocks noGrp="1"/>
          </p:cNvSpPr>
          <p:nvPr/>
        </p:nvSpPr>
        <p:spPr>
          <a:xfrm>
            <a:off x="819150" y="26955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Constant Change:</a:t>
            </a:r>
          </a:p>
        </p:txBody>
      </p:sp>
      <p:sp>
        <p:nvSpPr>
          <p:cNvPr id="11" name="Rectangle 10">
            <a:extLst>
              <a:ext uri="{FF2B5EF4-FFF2-40B4-BE49-F238E27FC236}">
                <a16:creationId xmlns:a16="http://schemas.microsoft.com/office/drawing/2014/main" id="{95A811FB-D849-4A9C-977D-54DEE50C0F1F}"/>
              </a:ext>
            </a:extLst>
          </p:cNvPr>
          <p:cNvSpPr>
            <a:spLocks noGrp="1"/>
          </p:cNvSpPr>
          <p:nvPr/>
        </p:nvSpPr>
        <p:spPr>
          <a:xfrm>
            <a:off x="819150" y="3438525"/>
            <a:ext cx="3022600" cy="16097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System and user requirements are dynamic; they must be frequently modified to stay relevant.</a:t>
            </a:r>
          </a:p>
        </p:txBody>
      </p:sp>
      <p:sp>
        <p:nvSpPr>
          <p:cNvPr id="12" name="Rectangle 11">
            <a:extLst>
              <a:ext uri="{FF2B5EF4-FFF2-40B4-BE49-F238E27FC236}">
                <a16:creationId xmlns:a16="http://schemas.microsoft.com/office/drawing/2014/main" id="{DF313C20-B9C4-4A6A-894C-25F518B3C0A7}"/>
              </a:ext>
            </a:extLst>
          </p:cNvPr>
          <p:cNvSpPr>
            <a:spLocks noGrp="1"/>
          </p:cNvSpPr>
          <p:nvPr/>
        </p:nvSpPr>
        <p:spPr>
          <a:xfrm>
            <a:off x="4318000" y="1857375"/>
            <a:ext cx="3556000" cy="3400425"/>
          </a:xfrm>
          <a:prstGeom prst="rect">
            <a:avLst/>
          </a:prstGeom>
          <a:solidFill>
            <a:srgbClr val="FFFFFF"/>
          </a:solidFill>
          <a:ln w="9525">
            <a:solidFill>
              <a:srgbClr val="E4D9D6"/>
            </a:solidFill>
          </a:ln>
        </p:spPr>
      </p:sp>
      <p:sp>
        <p:nvSpPr>
          <p:cNvPr id="13" name="Oval 12">
            <a:extLst>
              <a:ext uri="{FF2B5EF4-FFF2-40B4-BE49-F238E27FC236}">
                <a16:creationId xmlns:a16="http://schemas.microsoft.com/office/drawing/2014/main" id="{486F7591-96D9-4347-874B-979EFAC0D7D4}"/>
              </a:ext>
            </a:extLst>
          </p:cNvPr>
          <p:cNvSpPr>
            <a:spLocks noGrp="1"/>
          </p:cNvSpPr>
          <p:nvPr/>
        </p:nvSpPr>
        <p:spPr>
          <a:xfrm>
            <a:off x="4546600" y="2085975"/>
            <a:ext cx="400050" cy="400050"/>
          </a:xfrm>
          <a:prstGeom prst="ellipse">
            <a:avLst/>
          </a:prstGeom>
          <a:solidFill>
            <a:srgbClr val="990011"/>
          </a:solidFill>
          <a:ln w="0">
            <a:noFill/>
          </a:ln>
        </p:spPr>
      </p:sp>
      <p:sp>
        <p:nvSpPr>
          <p:cNvPr id="14" name="Rectangle 13">
            <a:extLst>
              <a:ext uri="{FF2B5EF4-FFF2-40B4-BE49-F238E27FC236}">
                <a16:creationId xmlns:a16="http://schemas.microsoft.com/office/drawing/2014/main" id="{2B536B29-D5D6-490E-8B24-48D22B5A712A}"/>
              </a:ext>
            </a:extLst>
          </p:cNvPr>
          <p:cNvSpPr>
            <a:spLocks noGrp="1"/>
          </p:cNvSpPr>
          <p:nvPr/>
        </p:nvSpPr>
        <p:spPr>
          <a:xfrm>
            <a:off x="4546600" y="208597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a:t>
            </a:r>
          </a:p>
        </p:txBody>
      </p:sp>
      <p:sp>
        <p:nvSpPr>
          <p:cNvPr id="15" name="Rectangle 14">
            <a:extLst>
              <a:ext uri="{FF2B5EF4-FFF2-40B4-BE49-F238E27FC236}">
                <a16:creationId xmlns:a16="http://schemas.microsoft.com/office/drawing/2014/main" id="{75E560AC-41CC-4B49-A6A8-7F7EF6789C1E}"/>
              </a:ext>
            </a:extLst>
          </p:cNvPr>
          <p:cNvSpPr>
            <a:spLocks noGrp="1"/>
          </p:cNvSpPr>
          <p:nvPr/>
        </p:nvSpPr>
        <p:spPr>
          <a:xfrm>
            <a:off x="4584700" y="26955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Articulation Issues:</a:t>
            </a:r>
          </a:p>
        </p:txBody>
      </p:sp>
      <p:sp>
        <p:nvSpPr>
          <p:cNvPr id="16" name="Rectangle 15">
            <a:extLst>
              <a:ext uri="{FF2B5EF4-FFF2-40B4-BE49-F238E27FC236}">
                <a16:creationId xmlns:a16="http://schemas.microsoft.com/office/drawing/2014/main" id="{0D5F8026-9285-4024-855E-5B5D428EA59E}"/>
              </a:ext>
            </a:extLst>
          </p:cNvPr>
          <p:cNvSpPr>
            <a:spLocks noGrp="1"/>
          </p:cNvSpPr>
          <p:nvPr/>
        </p:nvSpPr>
        <p:spPr>
          <a:xfrm>
            <a:off x="4584700" y="3438525"/>
            <a:ext cx="3022600" cy="16097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Unless a user is highly experienced, it is difficult for them to describe complex functions and processes clearly.</a:t>
            </a:r>
          </a:p>
        </p:txBody>
      </p:sp>
      <p:sp>
        <p:nvSpPr>
          <p:cNvPr id="17" name="Rectangle 16">
            <a:extLst>
              <a:ext uri="{FF2B5EF4-FFF2-40B4-BE49-F238E27FC236}">
                <a16:creationId xmlns:a16="http://schemas.microsoft.com/office/drawing/2014/main" id="{E7E84C1E-697F-4E21-AA35-38D1A8A5563D}"/>
              </a:ext>
            </a:extLst>
          </p:cNvPr>
          <p:cNvSpPr>
            <a:spLocks noGrp="1"/>
          </p:cNvSpPr>
          <p:nvPr/>
        </p:nvSpPr>
        <p:spPr>
          <a:xfrm>
            <a:off x="8083550" y="1857375"/>
            <a:ext cx="3556000" cy="3400425"/>
          </a:xfrm>
          <a:prstGeom prst="rect">
            <a:avLst/>
          </a:prstGeom>
          <a:solidFill>
            <a:srgbClr val="FFFFFF"/>
          </a:solidFill>
          <a:ln w="9525">
            <a:solidFill>
              <a:srgbClr val="E4D9D6"/>
            </a:solidFill>
          </a:ln>
        </p:spPr>
      </p:sp>
      <p:sp>
        <p:nvSpPr>
          <p:cNvPr id="18" name="Oval 17">
            <a:extLst>
              <a:ext uri="{FF2B5EF4-FFF2-40B4-BE49-F238E27FC236}">
                <a16:creationId xmlns:a16="http://schemas.microsoft.com/office/drawing/2014/main" id="{E11B63F2-61F0-4BC5-85A4-5D30E67023D7}"/>
              </a:ext>
            </a:extLst>
          </p:cNvPr>
          <p:cNvSpPr>
            <a:spLocks noGrp="1"/>
          </p:cNvSpPr>
          <p:nvPr/>
        </p:nvSpPr>
        <p:spPr>
          <a:xfrm>
            <a:off x="8312150" y="2085975"/>
            <a:ext cx="400050" cy="400050"/>
          </a:xfrm>
          <a:prstGeom prst="ellipse">
            <a:avLst/>
          </a:prstGeom>
          <a:solidFill>
            <a:srgbClr val="990011"/>
          </a:solidFill>
          <a:ln w="0">
            <a:noFill/>
          </a:ln>
        </p:spPr>
      </p:sp>
      <p:sp>
        <p:nvSpPr>
          <p:cNvPr id="19" name="Rectangle 18">
            <a:extLst>
              <a:ext uri="{FF2B5EF4-FFF2-40B4-BE49-F238E27FC236}">
                <a16:creationId xmlns:a16="http://schemas.microsoft.com/office/drawing/2014/main" id="{8A9128D3-2F28-4404-827D-A26582A49FF3}"/>
              </a:ext>
            </a:extLst>
          </p:cNvPr>
          <p:cNvSpPr>
            <a:spLocks noGrp="1"/>
          </p:cNvSpPr>
          <p:nvPr/>
        </p:nvSpPr>
        <p:spPr>
          <a:xfrm>
            <a:off x="8312150" y="208597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3</a:t>
            </a:r>
          </a:p>
        </p:txBody>
      </p:sp>
      <p:sp>
        <p:nvSpPr>
          <p:cNvPr id="20" name="Rectangle 19">
            <a:extLst>
              <a:ext uri="{FF2B5EF4-FFF2-40B4-BE49-F238E27FC236}">
                <a16:creationId xmlns:a16="http://schemas.microsoft.com/office/drawing/2014/main" id="{EF2756D6-10A9-4CB1-B67C-2AB213A5BED1}"/>
              </a:ext>
            </a:extLst>
          </p:cNvPr>
          <p:cNvSpPr>
            <a:spLocks noGrp="1"/>
          </p:cNvSpPr>
          <p:nvPr/>
        </p:nvSpPr>
        <p:spPr>
          <a:xfrm>
            <a:off x="8350250" y="26955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Lack of Immediate Motivation:</a:t>
            </a:r>
          </a:p>
        </p:txBody>
      </p:sp>
      <p:sp>
        <p:nvSpPr>
          <p:cNvPr id="21" name="Rectangle 20">
            <a:extLst>
              <a:ext uri="{FF2B5EF4-FFF2-40B4-BE49-F238E27FC236}">
                <a16:creationId xmlns:a16="http://schemas.microsoft.com/office/drawing/2014/main" id="{F581CD58-AED5-460B-9A38-1CC2BC3B303B}"/>
              </a:ext>
            </a:extLst>
          </p:cNvPr>
          <p:cNvSpPr>
            <a:spLocks noGrp="1"/>
          </p:cNvSpPr>
          <p:nvPr/>
        </p:nvSpPr>
        <p:spPr>
          <a:xfrm>
            <a:off x="8350250" y="3438525"/>
            <a:ext cx="3022600" cy="16097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Users often lose interest because the "reward" (the working system) isn't seen until the final implementation phase.</a:t>
            </a:r>
          </a:p>
        </p:txBody>
      </p:sp>
      <p:sp>
        <p:nvSpPr>
          <p:cNvPr id="22" name="Rectangle 21">
            <a:extLst>
              <a:ext uri="{FF2B5EF4-FFF2-40B4-BE49-F238E27FC236}">
                <a16:creationId xmlns:a16="http://schemas.microsoft.com/office/drawing/2014/main" id="{AA6C8A02-BA00-4003-9570-0CF8FAB1EB7F}"/>
              </a:ext>
            </a:extLst>
          </p:cNvPr>
          <p:cNvSpPr>
            <a:spLocks noGrp="1"/>
          </p:cNvSpPr>
          <p:nvPr/>
        </p:nvSpPr>
        <p:spPr>
          <a:xfrm>
            <a:off x="552450" y="5486400"/>
            <a:ext cx="11068050" cy="666750"/>
          </a:xfrm>
          <a:prstGeom prst="rect">
            <a:avLst/>
          </a:prstGeom>
          <a:solidFill>
            <a:srgbClr val="FCF6F5"/>
          </a:solidFill>
          <a:ln w="0">
            <a:noFill/>
          </a:ln>
        </p:spPr>
      </p:sp>
      <p:sp>
        <p:nvSpPr>
          <p:cNvPr id="23" name="Rectangle 22">
            <a:extLst>
              <a:ext uri="{FF2B5EF4-FFF2-40B4-BE49-F238E27FC236}">
                <a16:creationId xmlns:a16="http://schemas.microsoft.com/office/drawing/2014/main" id="{7B02B6E3-B4EC-4A44-9711-00CD7B0C8EB7}"/>
              </a:ext>
            </a:extLst>
          </p:cNvPr>
          <p:cNvSpPr>
            <a:spLocks noGrp="1"/>
          </p:cNvSpPr>
          <p:nvPr/>
        </p:nvSpPr>
        <p:spPr>
          <a:xfrm>
            <a:off x="838200" y="5657850"/>
            <a:ext cx="10477500" cy="400050"/>
          </a:xfrm>
          <a:prstGeom prst="rect">
            <a:avLst/>
          </a:prstGeom>
          <a:noFill/>
          <a:ln w="0">
            <a:noFill/>
          </a:ln>
        </p:spPr>
        <p:txBody>
          <a:bodyPr wrap="square" lIns="0" tIns="0" rIns="0" bIns="0" anchor="t">
            <a:noAutofit/>
          </a:bodyPr>
          <a:lstStyle/>
          <a:p>
            <a:pPr algn="l">
              <a:defRPr sz="1600" i="1">
                <a:solidFill>
                  <a:srgbClr val="2A2A2A"/>
                </a:solidFill>
                <a:latin typeface="Georgia"/>
                <a:ea typeface="Georgia"/>
                <a:cs typeface="Georgia"/>
              </a:defRPr>
            </a:pPr>
            <a:r>
              <a:rPr sz="1600" i="1">
                <a:solidFill>
                  <a:srgbClr val="2A2A2A"/>
                </a:solidFill>
                <a:latin typeface="Georgia"/>
                <a:ea typeface="Georgia"/>
                <a:cs typeface="Georgia"/>
              </a:rPr>
              <a:t>Users think in qualitative terms (generalities and flexibility).</a:t>
            </a:r>
          </a:p>
        </p:txBody>
      </p:sp>
    </p:spTree>
    <p:extLst>
      <p:ext uri="{BB962C8B-B14F-4D97-AF65-F5344CB8AC3E}">
        <p14:creationId xmlns:p14="http://schemas.microsoft.com/office/powerpoint/2010/main" val="1370015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D4B040B-B047-43C4-93B5-27E2A317AF09}"/>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INFORMATION REQUIREMENTS</a:t>
            </a:r>
          </a:p>
        </p:txBody>
      </p:sp>
      <p:sp>
        <p:nvSpPr>
          <p:cNvPr id="2" name="Rectangle 1">
            <a:extLst>
              <a:ext uri="{FF2B5EF4-FFF2-40B4-BE49-F238E27FC236}">
                <a16:creationId xmlns:a16="http://schemas.microsoft.com/office/drawing/2014/main" id="{34C3D25F-CE50-475D-9262-2EEDD6F96E67}"/>
              </a:ext>
            </a:extLst>
          </p:cNvPr>
          <p:cNvSpPr>
            <a:spLocks noGrp="1"/>
          </p:cNvSpPr>
          <p:nvPr/>
        </p:nvSpPr>
        <p:spPr>
          <a:xfrm>
            <a:off x="552450" y="781050"/>
            <a:ext cx="11049000" cy="104775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The Three Main Strategies - for determining information requirements:</a:t>
            </a:r>
          </a:p>
        </p:txBody>
      </p:sp>
      <p:sp>
        <p:nvSpPr>
          <p:cNvPr id="3" name="Rectangle 2">
            <a:extLst>
              <a:ext uri="{FF2B5EF4-FFF2-40B4-BE49-F238E27FC236}">
                <a16:creationId xmlns:a16="http://schemas.microsoft.com/office/drawing/2014/main" id="{3ACF387D-B836-41CE-B526-0762E37DB1D0}"/>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ED1D796C-98B1-4B15-96A6-F147E83D9454}"/>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AD41D4DD-B917-427A-97CA-34AE47CDB86C}"/>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97E4006F-67D8-433A-9420-671C711FCAD4}"/>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13</a:t>
            </a:r>
          </a:p>
        </p:txBody>
      </p:sp>
      <p:sp>
        <p:nvSpPr>
          <p:cNvPr id="7" name="Rectangle 6">
            <a:extLst>
              <a:ext uri="{FF2B5EF4-FFF2-40B4-BE49-F238E27FC236}">
                <a16:creationId xmlns:a16="http://schemas.microsoft.com/office/drawing/2014/main" id="{CDF0BC73-23EC-40CE-BC50-214BC8D1CC9C}"/>
              </a:ext>
            </a:extLst>
          </p:cNvPr>
          <p:cNvSpPr>
            <a:spLocks noGrp="1"/>
          </p:cNvSpPr>
          <p:nvPr/>
        </p:nvSpPr>
        <p:spPr>
          <a:xfrm>
            <a:off x="647700" y="2095500"/>
            <a:ext cx="10477500" cy="30480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The Three Main Strategies</a:t>
            </a:r>
          </a:p>
        </p:txBody>
      </p:sp>
      <p:sp>
        <p:nvSpPr>
          <p:cNvPr id="8" name="Rectangle 7">
            <a:extLst>
              <a:ext uri="{FF2B5EF4-FFF2-40B4-BE49-F238E27FC236}">
                <a16:creationId xmlns:a16="http://schemas.microsoft.com/office/drawing/2014/main" id="{50F5D26F-8CC6-4B26-942D-F2DDBF7A64FA}"/>
              </a:ext>
            </a:extLst>
          </p:cNvPr>
          <p:cNvSpPr>
            <a:spLocks noGrp="1"/>
          </p:cNvSpPr>
          <p:nvPr/>
        </p:nvSpPr>
        <p:spPr>
          <a:xfrm>
            <a:off x="552450" y="2647950"/>
            <a:ext cx="3556000" cy="3476625"/>
          </a:xfrm>
          <a:prstGeom prst="rect">
            <a:avLst/>
          </a:prstGeom>
          <a:solidFill>
            <a:srgbClr val="FFFFFF"/>
          </a:solidFill>
          <a:ln w="9525">
            <a:solidFill>
              <a:srgbClr val="E4D9D6"/>
            </a:solidFill>
          </a:ln>
        </p:spPr>
      </p:sp>
      <p:sp>
        <p:nvSpPr>
          <p:cNvPr id="9" name="Oval 8">
            <a:extLst>
              <a:ext uri="{FF2B5EF4-FFF2-40B4-BE49-F238E27FC236}">
                <a16:creationId xmlns:a16="http://schemas.microsoft.com/office/drawing/2014/main" id="{577A45BE-980C-4E9D-8ABF-8342A561BD67}"/>
              </a:ext>
            </a:extLst>
          </p:cNvPr>
          <p:cNvSpPr>
            <a:spLocks noGrp="1"/>
          </p:cNvSpPr>
          <p:nvPr/>
        </p:nvSpPr>
        <p:spPr>
          <a:xfrm>
            <a:off x="781050" y="2876550"/>
            <a:ext cx="400050" cy="400050"/>
          </a:xfrm>
          <a:prstGeom prst="ellipse">
            <a:avLst/>
          </a:prstGeom>
          <a:solidFill>
            <a:srgbClr val="990011"/>
          </a:solidFill>
          <a:ln w="0">
            <a:noFill/>
          </a:ln>
        </p:spPr>
      </p:sp>
      <p:sp>
        <p:nvSpPr>
          <p:cNvPr id="10" name="Rectangle 9">
            <a:extLst>
              <a:ext uri="{FF2B5EF4-FFF2-40B4-BE49-F238E27FC236}">
                <a16:creationId xmlns:a16="http://schemas.microsoft.com/office/drawing/2014/main" id="{1D65DECF-AB8F-4DD8-BD24-06AF587A90EC}"/>
              </a:ext>
            </a:extLst>
          </p:cNvPr>
          <p:cNvSpPr>
            <a:spLocks noGrp="1"/>
          </p:cNvSpPr>
          <p:nvPr/>
        </p:nvSpPr>
        <p:spPr>
          <a:xfrm>
            <a:off x="781050" y="287655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a:t>
            </a:r>
          </a:p>
        </p:txBody>
      </p:sp>
      <p:sp>
        <p:nvSpPr>
          <p:cNvPr id="11" name="Rectangle 10">
            <a:extLst>
              <a:ext uri="{FF2B5EF4-FFF2-40B4-BE49-F238E27FC236}">
                <a16:creationId xmlns:a16="http://schemas.microsoft.com/office/drawing/2014/main" id="{774EC0CA-2C4C-446C-8720-E6335B7267BE}"/>
              </a:ext>
            </a:extLst>
          </p:cNvPr>
          <p:cNvSpPr>
            <a:spLocks noGrp="1"/>
          </p:cNvSpPr>
          <p:nvPr/>
        </p:nvSpPr>
        <p:spPr>
          <a:xfrm>
            <a:off x="819150" y="34861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Asking:</a:t>
            </a:r>
          </a:p>
        </p:txBody>
      </p:sp>
      <p:sp>
        <p:nvSpPr>
          <p:cNvPr id="12" name="Rectangle 11">
            <a:extLst>
              <a:ext uri="{FF2B5EF4-FFF2-40B4-BE49-F238E27FC236}">
                <a16:creationId xmlns:a16="http://schemas.microsoft.com/office/drawing/2014/main" id="{EBE418B3-B2F7-4928-85D3-63097A5DE149}"/>
              </a:ext>
            </a:extLst>
          </p:cNvPr>
          <p:cNvSpPr>
            <a:spLocks noGrp="1"/>
          </p:cNvSpPr>
          <p:nvPr/>
        </p:nvSpPr>
        <p:spPr>
          <a:xfrm>
            <a:off x="819150" y="4229100"/>
            <a:ext cx="3022600" cy="16859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The analyst simply asks users what they need. This works best for stable systems where users know exactly what they want.</a:t>
            </a:r>
          </a:p>
        </p:txBody>
      </p:sp>
      <p:sp>
        <p:nvSpPr>
          <p:cNvPr id="13" name="Rectangle 12">
            <a:extLst>
              <a:ext uri="{FF2B5EF4-FFF2-40B4-BE49-F238E27FC236}">
                <a16:creationId xmlns:a16="http://schemas.microsoft.com/office/drawing/2014/main" id="{633A9AF4-21F8-4203-8D93-B57B9B2ED35B}"/>
              </a:ext>
            </a:extLst>
          </p:cNvPr>
          <p:cNvSpPr>
            <a:spLocks noGrp="1"/>
          </p:cNvSpPr>
          <p:nvPr/>
        </p:nvSpPr>
        <p:spPr>
          <a:xfrm>
            <a:off x="4318000" y="2647950"/>
            <a:ext cx="3556000" cy="3476625"/>
          </a:xfrm>
          <a:prstGeom prst="rect">
            <a:avLst/>
          </a:prstGeom>
          <a:solidFill>
            <a:srgbClr val="FFFFFF"/>
          </a:solidFill>
          <a:ln w="9525">
            <a:solidFill>
              <a:srgbClr val="E4D9D6"/>
            </a:solidFill>
          </a:ln>
        </p:spPr>
      </p:sp>
      <p:sp>
        <p:nvSpPr>
          <p:cNvPr id="14" name="Oval 13">
            <a:extLst>
              <a:ext uri="{FF2B5EF4-FFF2-40B4-BE49-F238E27FC236}">
                <a16:creationId xmlns:a16="http://schemas.microsoft.com/office/drawing/2014/main" id="{B7F53C98-B77F-4EF8-B4B7-C780DADF28CB}"/>
              </a:ext>
            </a:extLst>
          </p:cNvPr>
          <p:cNvSpPr>
            <a:spLocks noGrp="1"/>
          </p:cNvSpPr>
          <p:nvPr/>
        </p:nvSpPr>
        <p:spPr>
          <a:xfrm>
            <a:off x="4546600" y="2876550"/>
            <a:ext cx="400050" cy="400050"/>
          </a:xfrm>
          <a:prstGeom prst="ellipse">
            <a:avLst/>
          </a:prstGeom>
          <a:solidFill>
            <a:srgbClr val="990011"/>
          </a:solidFill>
          <a:ln w="0">
            <a:noFill/>
          </a:ln>
        </p:spPr>
      </p:sp>
      <p:sp>
        <p:nvSpPr>
          <p:cNvPr id="15" name="Rectangle 14">
            <a:extLst>
              <a:ext uri="{FF2B5EF4-FFF2-40B4-BE49-F238E27FC236}">
                <a16:creationId xmlns:a16="http://schemas.microsoft.com/office/drawing/2014/main" id="{74A913EB-A556-4175-B45D-65961B79C207}"/>
              </a:ext>
            </a:extLst>
          </p:cNvPr>
          <p:cNvSpPr>
            <a:spLocks noGrp="1"/>
          </p:cNvSpPr>
          <p:nvPr/>
        </p:nvSpPr>
        <p:spPr>
          <a:xfrm>
            <a:off x="4546600" y="287655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a:t>
            </a:r>
          </a:p>
        </p:txBody>
      </p:sp>
      <p:sp>
        <p:nvSpPr>
          <p:cNvPr id="16" name="Rectangle 15">
            <a:extLst>
              <a:ext uri="{FF2B5EF4-FFF2-40B4-BE49-F238E27FC236}">
                <a16:creationId xmlns:a16="http://schemas.microsoft.com/office/drawing/2014/main" id="{83B58C96-0142-4CEC-8CE7-652D890855C9}"/>
              </a:ext>
            </a:extLst>
          </p:cNvPr>
          <p:cNvSpPr>
            <a:spLocks noGrp="1"/>
          </p:cNvSpPr>
          <p:nvPr/>
        </p:nvSpPr>
        <p:spPr>
          <a:xfrm>
            <a:off x="4584700" y="34861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Existing Systems:</a:t>
            </a:r>
          </a:p>
        </p:txBody>
      </p:sp>
      <p:sp>
        <p:nvSpPr>
          <p:cNvPr id="17" name="Rectangle 16">
            <a:extLst>
              <a:ext uri="{FF2B5EF4-FFF2-40B4-BE49-F238E27FC236}">
                <a16:creationId xmlns:a16="http://schemas.microsoft.com/office/drawing/2014/main" id="{E82E8045-4617-469F-864D-379513C94858}"/>
              </a:ext>
            </a:extLst>
          </p:cNvPr>
          <p:cNvSpPr>
            <a:spLocks noGrp="1"/>
          </p:cNvSpPr>
          <p:nvPr/>
        </p:nvSpPr>
        <p:spPr>
          <a:xfrm>
            <a:off x="4584700" y="4229100"/>
            <a:ext cx="3022600" cy="16859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The analyst looks at current reports and data to see what is already there and what is missing.</a:t>
            </a:r>
          </a:p>
        </p:txBody>
      </p:sp>
      <p:sp>
        <p:nvSpPr>
          <p:cNvPr id="18" name="Rectangle 17">
            <a:extLst>
              <a:ext uri="{FF2B5EF4-FFF2-40B4-BE49-F238E27FC236}">
                <a16:creationId xmlns:a16="http://schemas.microsoft.com/office/drawing/2014/main" id="{4F1A0200-1C60-4444-832D-5B3B6F3DA946}"/>
              </a:ext>
            </a:extLst>
          </p:cNvPr>
          <p:cNvSpPr>
            <a:spLocks noGrp="1"/>
          </p:cNvSpPr>
          <p:nvPr/>
        </p:nvSpPr>
        <p:spPr>
          <a:xfrm>
            <a:off x="8083550" y="2647950"/>
            <a:ext cx="3556000" cy="3476625"/>
          </a:xfrm>
          <a:prstGeom prst="rect">
            <a:avLst/>
          </a:prstGeom>
          <a:solidFill>
            <a:srgbClr val="FFFFFF"/>
          </a:solidFill>
          <a:ln w="9525">
            <a:solidFill>
              <a:srgbClr val="E4D9D6"/>
            </a:solidFill>
          </a:ln>
        </p:spPr>
      </p:sp>
      <p:sp>
        <p:nvSpPr>
          <p:cNvPr id="19" name="Oval 18">
            <a:extLst>
              <a:ext uri="{FF2B5EF4-FFF2-40B4-BE49-F238E27FC236}">
                <a16:creationId xmlns:a16="http://schemas.microsoft.com/office/drawing/2014/main" id="{9465DF0D-B33A-4BCC-9897-F808FC7A8D59}"/>
              </a:ext>
            </a:extLst>
          </p:cNvPr>
          <p:cNvSpPr>
            <a:spLocks noGrp="1"/>
          </p:cNvSpPr>
          <p:nvPr/>
        </p:nvSpPr>
        <p:spPr>
          <a:xfrm>
            <a:off x="8312150" y="2876550"/>
            <a:ext cx="400050" cy="400050"/>
          </a:xfrm>
          <a:prstGeom prst="ellipse">
            <a:avLst/>
          </a:prstGeom>
          <a:solidFill>
            <a:srgbClr val="990011"/>
          </a:solidFill>
          <a:ln w="0">
            <a:noFill/>
          </a:ln>
        </p:spPr>
      </p:sp>
      <p:sp>
        <p:nvSpPr>
          <p:cNvPr id="20" name="Rectangle 19">
            <a:extLst>
              <a:ext uri="{FF2B5EF4-FFF2-40B4-BE49-F238E27FC236}">
                <a16:creationId xmlns:a16="http://schemas.microsoft.com/office/drawing/2014/main" id="{452D1268-8C3D-4EA7-8AE4-B0348C553AD9}"/>
              </a:ext>
            </a:extLst>
          </p:cNvPr>
          <p:cNvSpPr>
            <a:spLocks noGrp="1"/>
          </p:cNvSpPr>
          <p:nvPr/>
        </p:nvSpPr>
        <p:spPr>
          <a:xfrm>
            <a:off x="8312150" y="2876550"/>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3</a:t>
            </a:r>
          </a:p>
        </p:txBody>
      </p:sp>
      <p:sp>
        <p:nvSpPr>
          <p:cNvPr id="21" name="Rectangle 20">
            <a:extLst>
              <a:ext uri="{FF2B5EF4-FFF2-40B4-BE49-F238E27FC236}">
                <a16:creationId xmlns:a16="http://schemas.microsoft.com/office/drawing/2014/main" id="{E4BDD28B-611C-40C8-994E-7FA1DA82017A}"/>
              </a:ext>
            </a:extLst>
          </p:cNvPr>
          <p:cNvSpPr>
            <a:spLocks noGrp="1"/>
          </p:cNvSpPr>
          <p:nvPr/>
        </p:nvSpPr>
        <p:spPr>
          <a:xfrm>
            <a:off x="8350250" y="34861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Prototyping:</a:t>
            </a:r>
          </a:p>
        </p:txBody>
      </p:sp>
      <p:sp>
        <p:nvSpPr>
          <p:cNvPr id="22" name="Rectangle 21">
            <a:extLst>
              <a:ext uri="{FF2B5EF4-FFF2-40B4-BE49-F238E27FC236}">
                <a16:creationId xmlns:a16="http://schemas.microsoft.com/office/drawing/2014/main" id="{E91B5914-DA3A-45AD-96F6-05CAD859B50B}"/>
              </a:ext>
            </a:extLst>
          </p:cNvPr>
          <p:cNvSpPr>
            <a:spLocks noGrp="1"/>
          </p:cNvSpPr>
          <p:nvPr/>
        </p:nvSpPr>
        <p:spPr>
          <a:xfrm>
            <a:off x="8350250" y="4229100"/>
            <a:ext cx="3022600" cy="16859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A small version of the system is built first. Users try it out and then suggest changes based on their experience.</a:t>
            </a:r>
          </a:p>
        </p:txBody>
      </p:sp>
    </p:spTree>
    <p:extLst>
      <p:ext uri="{BB962C8B-B14F-4D97-AF65-F5344CB8AC3E}">
        <p14:creationId xmlns:p14="http://schemas.microsoft.com/office/powerpoint/2010/main" val="1331129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A625ADC-7C1C-4670-B91E-3789CCC88DDD}"/>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INFORMATION REQUIREMENTS</a:t>
            </a:r>
          </a:p>
        </p:txBody>
      </p:sp>
      <p:sp>
        <p:nvSpPr>
          <p:cNvPr id="2" name="Rectangle 1">
            <a:extLst>
              <a:ext uri="{FF2B5EF4-FFF2-40B4-BE49-F238E27FC236}">
                <a16:creationId xmlns:a16="http://schemas.microsoft.com/office/drawing/2014/main" id="{D5C6C205-D874-49D9-9C53-0444B4691A00}"/>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Factors for Choosing a Strategy</a:t>
            </a:r>
          </a:p>
        </p:txBody>
      </p:sp>
      <p:sp>
        <p:nvSpPr>
          <p:cNvPr id="3" name="Rectangle 2">
            <a:extLst>
              <a:ext uri="{FF2B5EF4-FFF2-40B4-BE49-F238E27FC236}">
                <a16:creationId xmlns:a16="http://schemas.microsoft.com/office/drawing/2014/main" id="{7745E5D5-E7B8-45B7-8DA3-A4DA822D90AE}"/>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89E14658-1475-4785-A7A4-F4B1F0E794F1}"/>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BEEC0DC0-B636-4D44-BB07-B8FA709D803E}"/>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6581F11E-2191-48B7-8670-74163540140D}"/>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14</a:t>
            </a:r>
          </a:p>
        </p:txBody>
      </p:sp>
      <p:sp>
        <p:nvSpPr>
          <p:cNvPr id="7" name="Rectangle 6">
            <a:extLst>
              <a:ext uri="{FF2B5EF4-FFF2-40B4-BE49-F238E27FC236}">
                <a16:creationId xmlns:a16="http://schemas.microsoft.com/office/drawing/2014/main" id="{CE8CCFFD-C749-4765-B629-7D59F7FC6C5F}"/>
              </a:ext>
            </a:extLst>
          </p:cNvPr>
          <p:cNvSpPr>
            <a:spLocks noGrp="1"/>
          </p:cNvSpPr>
          <p:nvPr/>
        </p:nvSpPr>
        <p:spPr>
          <a:xfrm>
            <a:off x="647700" y="1533525"/>
            <a:ext cx="10668000" cy="476250"/>
          </a:xfrm>
          <a:prstGeom prst="rect">
            <a:avLst/>
          </a:prstGeom>
          <a:noFill/>
          <a:ln w="0">
            <a:noFill/>
          </a:ln>
        </p:spPr>
        <p:txBody>
          <a:bodyPr wrap="square" lIns="0" tIns="0" rIns="0" bIns="0" anchor="t">
            <a:noAutofit/>
          </a:bodyPr>
          <a:lstStyle/>
          <a:p>
            <a:pPr algn="l">
              <a:defRPr sz="1600" i="1">
                <a:solidFill>
                  <a:srgbClr val="6B6B6B"/>
                </a:solidFill>
                <a:latin typeface="Georgia"/>
                <a:ea typeface="Georgia"/>
                <a:cs typeface="Georgia"/>
              </a:defRPr>
            </a:pPr>
            <a:r>
              <a:rPr sz="1600" i="1">
                <a:solidFill>
                  <a:srgbClr val="6B6B6B"/>
                </a:solidFill>
                <a:latin typeface="Georgia"/>
                <a:ea typeface="Georgia"/>
                <a:cs typeface="Georgia"/>
              </a:rPr>
              <a:t>The best method depends on the Level of Uncertainty:</a:t>
            </a:r>
          </a:p>
        </p:txBody>
      </p:sp>
      <p:sp>
        <p:nvSpPr>
          <p:cNvPr id="8" name="Rectangle 7">
            <a:extLst>
              <a:ext uri="{FF2B5EF4-FFF2-40B4-BE49-F238E27FC236}">
                <a16:creationId xmlns:a16="http://schemas.microsoft.com/office/drawing/2014/main" id="{14E2A135-A18B-4CFB-815F-690E2A19B91E}"/>
              </a:ext>
            </a:extLst>
          </p:cNvPr>
          <p:cNvSpPr>
            <a:spLocks noGrp="1"/>
          </p:cNvSpPr>
          <p:nvPr/>
        </p:nvSpPr>
        <p:spPr>
          <a:xfrm>
            <a:off x="552450" y="2238375"/>
            <a:ext cx="5438775" cy="3886200"/>
          </a:xfrm>
          <a:prstGeom prst="rect">
            <a:avLst/>
          </a:prstGeom>
          <a:solidFill>
            <a:srgbClr val="FFFFFF"/>
          </a:solidFill>
          <a:ln w="9525">
            <a:solidFill>
              <a:srgbClr val="E4D9D6"/>
            </a:solidFill>
          </a:ln>
        </p:spPr>
      </p:sp>
      <p:sp>
        <p:nvSpPr>
          <p:cNvPr id="9" name="Rectangle 8">
            <a:extLst>
              <a:ext uri="{FF2B5EF4-FFF2-40B4-BE49-F238E27FC236}">
                <a16:creationId xmlns:a16="http://schemas.microsoft.com/office/drawing/2014/main" id="{6BE0E3AB-923A-4954-866B-7DBA2EA53119}"/>
              </a:ext>
            </a:extLst>
          </p:cNvPr>
          <p:cNvSpPr>
            <a:spLocks noGrp="1"/>
          </p:cNvSpPr>
          <p:nvPr/>
        </p:nvSpPr>
        <p:spPr>
          <a:xfrm>
            <a:off x="819150" y="2466975"/>
            <a:ext cx="4905375"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Low Uncertainty (Use "Asking"):</a:t>
            </a:r>
          </a:p>
        </p:txBody>
      </p:sp>
      <p:sp>
        <p:nvSpPr>
          <p:cNvPr id="10" name="Rectangle 9">
            <a:extLst>
              <a:ext uri="{FF2B5EF4-FFF2-40B4-BE49-F238E27FC236}">
                <a16:creationId xmlns:a16="http://schemas.microsoft.com/office/drawing/2014/main" id="{2716E839-5FA9-4D6C-983F-EDD0F23E9E1C}"/>
              </a:ext>
            </a:extLst>
          </p:cNvPr>
          <p:cNvSpPr>
            <a:spLocks noGrp="1"/>
          </p:cNvSpPr>
          <p:nvPr/>
        </p:nvSpPr>
        <p:spPr>
          <a:xfrm>
            <a:off x="819150" y="3209925"/>
            <a:ext cx="4905375" cy="270510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Choose this when the requirements are stable and the user can easily explain them.</a:t>
            </a:r>
          </a:p>
        </p:txBody>
      </p:sp>
      <p:sp>
        <p:nvSpPr>
          <p:cNvPr id="11" name="Rectangle 10">
            <a:extLst>
              <a:ext uri="{FF2B5EF4-FFF2-40B4-BE49-F238E27FC236}">
                <a16:creationId xmlns:a16="http://schemas.microsoft.com/office/drawing/2014/main" id="{518C8BA3-845C-4FD0-98A4-0056A8748CA5}"/>
              </a:ext>
            </a:extLst>
          </p:cNvPr>
          <p:cNvSpPr>
            <a:spLocks noGrp="1"/>
          </p:cNvSpPr>
          <p:nvPr/>
        </p:nvSpPr>
        <p:spPr>
          <a:xfrm>
            <a:off x="6200775" y="2238375"/>
            <a:ext cx="5438775" cy="3886200"/>
          </a:xfrm>
          <a:prstGeom prst="rect">
            <a:avLst/>
          </a:prstGeom>
          <a:solidFill>
            <a:srgbClr val="FFFFFF"/>
          </a:solidFill>
          <a:ln w="9525">
            <a:solidFill>
              <a:srgbClr val="E4D9D6"/>
            </a:solidFill>
          </a:ln>
        </p:spPr>
      </p:sp>
      <p:sp>
        <p:nvSpPr>
          <p:cNvPr id="12" name="Rectangle 11">
            <a:extLst>
              <a:ext uri="{FF2B5EF4-FFF2-40B4-BE49-F238E27FC236}">
                <a16:creationId xmlns:a16="http://schemas.microsoft.com/office/drawing/2014/main" id="{9A3AC7A9-1196-4949-B004-A090136D095B}"/>
              </a:ext>
            </a:extLst>
          </p:cNvPr>
          <p:cNvSpPr>
            <a:spLocks noGrp="1"/>
          </p:cNvSpPr>
          <p:nvPr/>
        </p:nvSpPr>
        <p:spPr>
          <a:xfrm>
            <a:off x="6467475" y="2466975"/>
            <a:ext cx="4905375"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High Uncertainty (Use "Prototyping"):</a:t>
            </a:r>
          </a:p>
        </p:txBody>
      </p:sp>
      <p:sp>
        <p:nvSpPr>
          <p:cNvPr id="13" name="Rectangle 12">
            <a:extLst>
              <a:ext uri="{FF2B5EF4-FFF2-40B4-BE49-F238E27FC236}">
                <a16:creationId xmlns:a16="http://schemas.microsoft.com/office/drawing/2014/main" id="{E7D5487E-4185-44ED-B458-7CCCECC75A84}"/>
              </a:ext>
            </a:extLst>
          </p:cNvPr>
          <p:cNvSpPr>
            <a:spLocks noGrp="1"/>
          </p:cNvSpPr>
          <p:nvPr/>
        </p:nvSpPr>
        <p:spPr>
          <a:xfrm>
            <a:off x="6467475" y="3209925"/>
            <a:ext cx="4905375" cy="270510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Choose this when it is hard to visualize the system or when needs are constantly changing.</a:t>
            </a:r>
          </a:p>
        </p:txBody>
      </p:sp>
    </p:spTree>
    <p:extLst>
      <p:ext uri="{BB962C8B-B14F-4D97-AF65-F5344CB8AC3E}">
        <p14:creationId xmlns:p14="http://schemas.microsoft.com/office/powerpoint/2010/main" val="925374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79C6B6-BF7B-4FFD-B167-1E0D3D535FF7}"/>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INFORMATION REQUIREMENTS</a:t>
            </a:r>
          </a:p>
        </p:txBody>
      </p:sp>
      <p:sp>
        <p:nvSpPr>
          <p:cNvPr id="2" name="Rectangle 1">
            <a:extLst>
              <a:ext uri="{FF2B5EF4-FFF2-40B4-BE49-F238E27FC236}">
                <a16:creationId xmlns:a16="http://schemas.microsoft.com/office/drawing/2014/main" id="{A020B57D-C310-4D41-AE05-892FA61EB9D8}"/>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3" name="Rectangle 2">
            <a:extLst>
              <a:ext uri="{FF2B5EF4-FFF2-40B4-BE49-F238E27FC236}">
                <a16:creationId xmlns:a16="http://schemas.microsoft.com/office/drawing/2014/main" id="{3EFFBE2B-9D27-4781-81AD-949FA526332E}"/>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4" name="Oval 3">
            <a:extLst>
              <a:ext uri="{FF2B5EF4-FFF2-40B4-BE49-F238E27FC236}">
                <a16:creationId xmlns:a16="http://schemas.microsoft.com/office/drawing/2014/main" id="{3235685A-1CB5-4708-B5C9-C1FEE9E5D41D}"/>
              </a:ext>
            </a:extLst>
          </p:cNvPr>
          <p:cNvSpPr>
            <a:spLocks noGrp="1"/>
          </p:cNvSpPr>
          <p:nvPr/>
        </p:nvSpPr>
        <p:spPr>
          <a:xfrm>
            <a:off x="11624786" y="6291072"/>
            <a:ext cx="365760" cy="365760"/>
          </a:xfrm>
          <a:prstGeom prst="ellipse">
            <a:avLst/>
          </a:prstGeom>
          <a:solidFill>
            <a:srgbClr val="990011"/>
          </a:solidFill>
          <a:ln w="0">
            <a:noFill/>
          </a:ln>
        </p:spPr>
      </p:sp>
      <p:sp>
        <p:nvSpPr>
          <p:cNvPr id="5" name="Rectangle 4">
            <a:extLst>
              <a:ext uri="{FF2B5EF4-FFF2-40B4-BE49-F238E27FC236}">
                <a16:creationId xmlns:a16="http://schemas.microsoft.com/office/drawing/2014/main" id="{79FCCC3C-B65A-4F39-A5A9-8299CDE01B95}"/>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15</a:t>
            </a:r>
          </a:p>
        </p:txBody>
      </p:sp>
      <p:pic>
        <p:nvPicPr>
          <p:cNvPr id="8" name="Picture 7">
            <a:extLst>
              <a:ext uri="{FF2B5EF4-FFF2-40B4-BE49-F238E27FC236}">
                <a16:creationId xmlns:a16="http://schemas.microsoft.com/office/drawing/2014/main" id="{0C3E5A49-2607-C9AA-564C-7524ADD73F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7366" y="711842"/>
            <a:ext cx="8271641" cy="5579229"/>
          </a:xfrm>
          <a:prstGeom prst="rect">
            <a:avLst/>
          </a:prstGeom>
        </p:spPr>
      </p:pic>
    </p:spTree>
    <p:extLst>
      <p:ext uri="{BB962C8B-B14F-4D97-AF65-F5344CB8AC3E}">
        <p14:creationId xmlns:p14="http://schemas.microsoft.com/office/powerpoint/2010/main" val="396703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F36E8E6-D24B-4D93-85AB-80DA5F20DB95}"/>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INFORMATION REQUIREMENTS</a:t>
            </a:r>
          </a:p>
        </p:txBody>
      </p:sp>
      <p:sp>
        <p:nvSpPr>
          <p:cNvPr id="2" name="Rectangle 1">
            <a:extLst>
              <a:ext uri="{FF2B5EF4-FFF2-40B4-BE49-F238E27FC236}">
                <a16:creationId xmlns:a16="http://schemas.microsoft.com/office/drawing/2014/main" id="{11AC233E-8843-4130-B116-ACE59103870D}"/>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dirty="0">
                <a:solidFill>
                  <a:srgbClr val="2A2A2A"/>
                </a:solidFill>
                <a:latin typeface="Georgia"/>
                <a:ea typeface="Georgia"/>
                <a:cs typeface="Georgia"/>
              </a:rPr>
              <a:t>User Defensive Strategies (The "Predicament")</a:t>
            </a:r>
          </a:p>
        </p:txBody>
      </p:sp>
      <p:sp>
        <p:nvSpPr>
          <p:cNvPr id="3" name="Rectangle 2">
            <a:extLst>
              <a:ext uri="{FF2B5EF4-FFF2-40B4-BE49-F238E27FC236}">
                <a16:creationId xmlns:a16="http://schemas.microsoft.com/office/drawing/2014/main" id="{1768A387-5D3F-4211-8BEC-86FC25C76A0C}"/>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A870FF6F-6DD0-42AB-B505-06620FA8FD75}"/>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5CC165DE-50F8-47E3-AE82-04B468174A1B}"/>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0FF563C5-C332-4922-9AED-19F5911922B9}"/>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16</a:t>
            </a:r>
          </a:p>
        </p:txBody>
      </p:sp>
      <p:sp>
        <p:nvSpPr>
          <p:cNvPr id="7" name="Rectangle 6">
            <a:extLst>
              <a:ext uri="{FF2B5EF4-FFF2-40B4-BE49-F238E27FC236}">
                <a16:creationId xmlns:a16="http://schemas.microsoft.com/office/drawing/2014/main" id="{4CA69A7C-AEA8-4051-87BC-D083A74E368A}"/>
              </a:ext>
            </a:extLst>
          </p:cNvPr>
          <p:cNvSpPr>
            <a:spLocks noGrp="1"/>
          </p:cNvSpPr>
          <p:nvPr/>
        </p:nvSpPr>
        <p:spPr>
          <a:xfrm>
            <a:off x="647700" y="1524000"/>
            <a:ext cx="10839450" cy="628650"/>
          </a:xfrm>
          <a:prstGeom prst="rect">
            <a:avLst/>
          </a:prstGeom>
          <a:noFill/>
          <a:ln w="0">
            <a:noFill/>
          </a:ln>
        </p:spPr>
        <p:txBody>
          <a:bodyPr wrap="square" lIns="0" tIns="0" rIns="0" bIns="0" anchor="t">
            <a:noAutofit/>
          </a:bodyPr>
          <a:lstStyle/>
          <a:p>
            <a:pPr algn="l">
              <a:defRPr sz="1600" i="1">
                <a:solidFill>
                  <a:srgbClr val="6B6B6B"/>
                </a:solidFill>
                <a:latin typeface="Georgia"/>
                <a:ea typeface="Georgia"/>
                <a:cs typeface="Georgia"/>
              </a:defRPr>
            </a:pPr>
            <a:r>
              <a:rPr sz="1600" i="1">
                <a:solidFill>
                  <a:srgbClr val="6B6B6B"/>
                </a:solidFill>
                <a:latin typeface="Georgia"/>
                <a:ea typeface="Georgia"/>
                <a:cs typeface="Georgia"/>
              </a:rPr>
              <a:t>When users struggle to meet an analyst's technical expectations, they often adopt these strategies:</a:t>
            </a:r>
          </a:p>
        </p:txBody>
      </p:sp>
      <p:sp>
        <p:nvSpPr>
          <p:cNvPr id="8" name="Rectangle 7">
            <a:extLst>
              <a:ext uri="{FF2B5EF4-FFF2-40B4-BE49-F238E27FC236}">
                <a16:creationId xmlns:a16="http://schemas.microsoft.com/office/drawing/2014/main" id="{8ED43918-FD8A-4545-9EEF-ED122F79A68B}"/>
              </a:ext>
            </a:extLst>
          </p:cNvPr>
          <p:cNvSpPr>
            <a:spLocks noGrp="1"/>
          </p:cNvSpPr>
          <p:nvPr/>
        </p:nvSpPr>
        <p:spPr>
          <a:xfrm>
            <a:off x="552450" y="2371725"/>
            <a:ext cx="3556000" cy="3752850"/>
          </a:xfrm>
          <a:prstGeom prst="rect">
            <a:avLst/>
          </a:prstGeom>
          <a:solidFill>
            <a:srgbClr val="FFFFFF"/>
          </a:solidFill>
          <a:ln w="9525">
            <a:solidFill>
              <a:srgbClr val="E4D9D6"/>
            </a:solidFill>
          </a:ln>
        </p:spPr>
      </p:sp>
      <p:sp>
        <p:nvSpPr>
          <p:cNvPr id="9" name="Oval 8">
            <a:extLst>
              <a:ext uri="{FF2B5EF4-FFF2-40B4-BE49-F238E27FC236}">
                <a16:creationId xmlns:a16="http://schemas.microsoft.com/office/drawing/2014/main" id="{0AE67960-B677-49CE-B6FD-3504DCF1E7B0}"/>
              </a:ext>
            </a:extLst>
          </p:cNvPr>
          <p:cNvSpPr>
            <a:spLocks noGrp="1"/>
          </p:cNvSpPr>
          <p:nvPr/>
        </p:nvSpPr>
        <p:spPr>
          <a:xfrm>
            <a:off x="781050" y="2600325"/>
            <a:ext cx="400050" cy="400050"/>
          </a:xfrm>
          <a:prstGeom prst="ellipse">
            <a:avLst/>
          </a:prstGeom>
          <a:solidFill>
            <a:srgbClr val="990011"/>
          </a:solidFill>
          <a:ln w="0">
            <a:noFill/>
          </a:ln>
        </p:spPr>
      </p:sp>
      <p:sp>
        <p:nvSpPr>
          <p:cNvPr id="10" name="Rectangle 9">
            <a:extLst>
              <a:ext uri="{FF2B5EF4-FFF2-40B4-BE49-F238E27FC236}">
                <a16:creationId xmlns:a16="http://schemas.microsoft.com/office/drawing/2014/main" id="{15194D60-A016-43EA-904A-6AB44534A46B}"/>
              </a:ext>
            </a:extLst>
          </p:cNvPr>
          <p:cNvSpPr>
            <a:spLocks noGrp="1"/>
          </p:cNvSpPr>
          <p:nvPr/>
        </p:nvSpPr>
        <p:spPr>
          <a:xfrm>
            <a:off x="781050" y="260032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a:t>
            </a:r>
          </a:p>
        </p:txBody>
      </p:sp>
      <p:sp>
        <p:nvSpPr>
          <p:cNvPr id="11" name="Rectangle 10">
            <a:extLst>
              <a:ext uri="{FF2B5EF4-FFF2-40B4-BE49-F238E27FC236}">
                <a16:creationId xmlns:a16="http://schemas.microsoft.com/office/drawing/2014/main" id="{9146D28F-D4B6-4154-A7C9-A0D289E1D66D}"/>
              </a:ext>
            </a:extLst>
          </p:cNvPr>
          <p:cNvSpPr>
            <a:spLocks noGrp="1"/>
          </p:cNvSpPr>
          <p:nvPr/>
        </p:nvSpPr>
        <p:spPr>
          <a:xfrm>
            <a:off x="819150" y="320992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The Kitchen Sink:</a:t>
            </a:r>
          </a:p>
        </p:txBody>
      </p:sp>
      <p:sp>
        <p:nvSpPr>
          <p:cNvPr id="12" name="Rectangle 11">
            <a:extLst>
              <a:ext uri="{FF2B5EF4-FFF2-40B4-BE49-F238E27FC236}">
                <a16:creationId xmlns:a16="http://schemas.microsoft.com/office/drawing/2014/main" id="{C9DDDED9-77D4-411A-A1C5-530B11C6AAC4}"/>
              </a:ext>
            </a:extLst>
          </p:cNvPr>
          <p:cNvSpPr>
            <a:spLocks noGrp="1"/>
          </p:cNvSpPr>
          <p:nvPr/>
        </p:nvSpPr>
        <p:spPr>
          <a:xfrm>
            <a:off x="819150" y="3952875"/>
            <a:ext cx="3022600" cy="19621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Requesting every possible report and feature out of fear of missing something (usually indicates inexperience).</a:t>
            </a:r>
          </a:p>
        </p:txBody>
      </p:sp>
      <p:sp>
        <p:nvSpPr>
          <p:cNvPr id="13" name="Rectangle 12">
            <a:extLst>
              <a:ext uri="{FF2B5EF4-FFF2-40B4-BE49-F238E27FC236}">
                <a16:creationId xmlns:a16="http://schemas.microsoft.com/office/drawing/2014/main" id="{AC740F14-4640-4211-8707-41F54B4A6182}"/>
              </a:ext>
            </a:extLst>
          </p:cNvPr>
          <p:cNvSpPr>
            <a:spLocks noGrp="1"/>
          </p:cNvSpPr>
          <p:nvPr/>
        </p:nvSpPr>
        <p:spPr>
          <a:xfrm>
            <a:off x="4318000" y="2371725"/>
            <a:ext cx="3556000" cy="3752850"/>
          </a:xfrm>
          <a:prstGeom prst="rect">
            <a:avLst/>
          </a:prstGeom>
          <a:solidFill>
            <a:srgbClr val="FFFFFF"/>
          </a:solidFill>
          <a:ln w="9525">
            <a:solidFill>
              <a:srgbClr val="E4D9D6"/>
            </a:solidFill>
          </a:ln>
        </p:spPr>
      </p:sp>
      <p:sp>
        <p:nvSpPr>
          <p:cNvPr id="14" name="Oval 13">
            <a:extLst>
              <a:ext uri="{FF2B5EF4-FFF2-40B4-BE49-F238E27FC236}">
                <a16:creationId xmlns:a16="http://schemas.microsoft.com/office/drawing/2014/main" id="{237BB437-EFC5-4D4B-818C-53EE6B3CDF3D}"/>
              </a:ext>
            </a:extLst>
          </p:cNvPr>
          <p:cNvSpPr>
            <a:spLocks noGrp="1"/>
          </p:cNvSpPr>
          <p:nvPr/>
        </p:nvSpPr>
        <p:spPr>
          <a:xfrm>
            <a:off x="4546600" y="2600325"/>
            <a:ext cx="400050" cy="400050"/>
          </a:xfrm>
          <a:prstGeom prst="ellipse">
            <a:avLst/>
          </a:prstGeom>
          <a:solidFill>
            <a:srgbClr val="990011"/>
          </a:solidFill>
          <a:ln w="0">
            <a:noFill/>
          </a:ln>
        </p:spPr>
      </p:sp>
      <p:sp>
        <p:nvSpPr>
          <p:cNvPr id="15" name="Rectangle 14">
            <a:extLst>
              <a:ext uri="{FF2B5EF4-FFF2-40B4-BE49-F238E27FC236}">
                <a16:creationId xmlns:a16="http://schemas.microsoft.com/office/drawing/2014/main" id="{3F0D1A78-B2C2-4E48-A86E-443447F93D24}"/>
              </a:ext>
            </a:extLst>
          </p:cNvPr>
          <p:cNvSpPr>
            <a:spLocks noGrp="1"/>
          </p:cNvSpPr>
          <p:nvPr/>
        </p:nvSpPr>
        <p:spPr>
          <a:xfrm>
            <a:off x="4546600" y="260032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a:t>
            </a:r>
          </a:p>
        </p:txBody>
      </p:sp>
      <p:sp>
        <p:nvSpPr>
          <p:cNvPr id="16" name="Rectangle 15">
            <a:extLst>
              <a:ext uri="{FF2B5EF4-FFF2-40B4-BE49-F238E27FC236}">
                <a16:creationId xmlns:a16="http://schemas.microsoft.com/office/drawing/2014/main" id="{6AF9A3EA-2086-4FD8-8D01-76B2724D3D9B}"/>
              </a:ext>
            </a:extLst>
          </p:cNvPr>
          <p:cNvSpPr>
            <a:spLocks noGrp="1"/>
          </p:cNvSpPr>
          <p:nvPr/>
        </p:nvSpPr>
        <p:spPr>
          <a:xfrm>
            <a:off x="4584700" y="320992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The Smoking Screen:</a:t>
            </a:r>
          </a:p>
        </p:txBody>
      </p:sp>
      <p:sp>
        <p:nvSpPr>
          <p:cNvPr id="17" name="Rectangle 16">
            <a:extLst>
              <a:ext uri="{FF2B5EF4-FFF2-40B4-BE49-F238E27FC236}">
                <a16:creationId xmlns:a16="http://schemas.microsoft.com/office/drawing/2014/main" id="{B0B6B8B0-7D61-46C2-A78E-6CA4EE10C1F2}"/>
              </a:ext>
            </a:extLst>
          </p:cNvPr>
          <p:cNvSpPr>
            <a:spLocks noGrp="1"/>
          </p:cNvSpPr>
          <p:nvPr/>
        </p:nvSpPr>
        <p:spPr>
          <a:xfrm>
            <a:off x="4584700" y="3952875"/>
            <a:ext cx="3022600" cy="19621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Requesting many features to use as "bargaining chips," knowing they only need one or two (indicates a savvy but cautious user).</a:t>
            </a:r>
          </a:p>
        </p:txBody>
      </p:sp>
      <p:sp>
        <p:nvSpPr>
          <p:cNvPr id="18" name="Rectangle 17">
            <a:extLst>
              <a:ext uri="{FF2B5EF4-FFF2-40B4-BE49-F238E27FC236}">
                <a16:creationId xmlns:a16="http://schemas.microsoft.com/office/drawing/2014/main" id="{E64866CA-9F65-4579-9090-CB57E9BC66F0}"/>
              </a:ext>
            </a:extLst>
          </p:cNvPr>
          <p:cNvSpPr>
            <a:spLocks noGrp="1"/>
          </p:cNvSpPr>
          <p:nvPr/>
        </p:nvSpPr>
        <p:spPr>
          <a:xfrm>
            <a:off x="8083550" y="2371725"/>
            <a:ext cx="3556000" cy="3752850"/>
          </a:xfrm>
          <a:prstGeom prst="rect">
            <a:avLst/>
          </a:prstGeom>
          <a:solidFill>
            <a:srgbClr val="FFFFFF"/>
          </a:solidFill>
          <a:ln w="9525">
            <a:solidFill>
              <a:srgbClr val="E4D9D6"/>
            </a:solidFill>
          </a:ln>
        </p:spPr>
      </p:sp>
      <p:sp>
        <p:nvSpPr>
          <p:cNvPr id="19" name="Oval 18">
            <a:extLst>
              <a:ext uri="{FF2B5EF4-FFF2-40B4-BE49-F238E27FC236}">
                <a16:creationId xmlns:a16="http://schemas.microsoft.com/office/drawing/2014/main" id="{137F4F8C-4A99-494F-BD31-CBB0072AD678}"/>
              </a:ext>
            </a:extLst>
          </p:cNvPr>
          <p:cNvSpPr>
            <a:spLocks noGrp="1"/>
          </p:cNvSpPr>
          <p:nvPr/>
        </p:nvSpPr>
        <p:spPr>
          <a:xfrm>
            <a:off x="8312150" y="2600325"/>
            <a:ext cx="400050" cy="400050"/>
          </a:xfrm>
          <a:prstGeom prst="ellipse">
            <a:avLst/>
          </a:prstGeom>
          <a:solidFill>
            <a:srgbClr val="990011"/>
          </a:solidFill>
          <a:ln w="0">
            <a:noFill/>
          </a:ln>
        </p:spPr>
      </p:sp>
      <p:sp>
        <p:nvSpPr>
          <p:cNvPr id="20" name="Rectangle 19">
            <a:extLst>
              <a:ext uri="{FF2B5EF4-FFF2-40B4-BE49-F238E27FC236}">
                <a16:creationId xmlns:a16="http://schemas.microsoft.com/office/drawing/2014/main" id="{EAAA9B8E-4C62-4CD5-B020-B7661532540F}"/>
              </a:ext>
            </a:extLst>
          </p:cNvPr>
          <p:cNvSpPr>
            <a:spLocks noGrp="1"/>
          </p:cNvSpPr>
          <p:nvPr/>
        </p:nvSpPr>
        <p:spPr>
          <a:xfrm>
            <a:off x="8312150" y="260032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3</a:t>
            </a:r>
          </a:p>
        </p:txBody>
      </p:sp>
      <p:sp>
        <p:nvSpPr>
          <p:cNvPr id="21" name="Rectangle 20">
            <a:extLst>
              <a:ext uri="{FF2B5EF4-FFF2-40B4-BE49-F238E27FC236}">
                <a16:creationId xmlns:a16="http://schemas.microsoft.com/office/drawing/2014/main" id="{78185035-3E09-4C73-8FB0-9E996357FED1}"/>
              </a:ext>
            </a:extLst>
          </p:cNvPr>
          <p:cNvSpPr>
            <a:spLocks noGrp="1"/>
          </p:cNvSpPr>
          <p:nvPr/>
        </p:nvSpPr>
        <p:spPr>
          <a:xfrm>
            <a:off x="8350250" y="320992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The Same Thing:</a:t>
            </a:r>
          </a:p>
        </p:txBody>
      </p:sp>
      <p:sp>
        <p:nvSpPr>
          <p:cNvPr id="22" name="Rectangle 21">
            <a:extLst>
              <a:ext uri="{FF2B5EF4-FFF2-40B4-BE49-F238E27FC236}">
                <a16:creationId xmlns:a16="http://schemas.microsoft.com/office/drawing/2014/main" id="{DA7808A1-51A1-4E1D-BC87-B24759EF3E93}"/>
              </a:ext>
            </a:extLst>
          </p:cNvPr>
          <p:cNvSpPr>
            <a:spLocks noGrp="1"/>
          </p:cNvSpPr>
          <p:nvPr/>
        </p:nvSpPr>
        <p:spPr>
          <a:xfrm>
            <a:off x="8350250" y="3952875"/>
            <a:ext cx="3022600" cy="19621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Asking for the exact current manual process but on a computer (indicates laziness or a lack of knowledge).</a:t>
            </a:r>
          </a:p>
        </p:txBody>
      </p:sp>
    </p:spTree>
    <p:extLst>
      <p:ext uri="{BB962C8B-B14F-4D97-AF65-F5344CB8AC3E}">
        <p14:creationId xmlns:p14="http://schemas.microsoft.com/office/powerpoint/2010/main" val="1303988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9C793E4-01C4-4EBB-BF87-AE232899A40E}"/>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INFORMATION REQUIREMENTS</a:t>
            </a:r>
          </a:p>
        </p:txBody>
      </p:sp>
      <p:sp>
        <p:nvSpPr>
          <p:cNvPr id="2" name="Rectangle 1">
            <a:extLst>
              <a:ext uri="{FF2B5EF4-FFF2-40B4-BE49-F238E27FC236}">
                <a16:creationId xmlns:a16="http://schemas.microsoft.com/office/drawing/2014/main" id="{A3B0ABEC-0A73-4546-8F89-39A6866131F8}"/>
              </a:ext>
            </a:extLst>
          </p:cNvPr>
          <p:cNvSpPr>
            <a:spLocks noGrp="1"/>
          </p:cNvSpPr>
          <p:nvPr/>
        </p:nvSpPr>
        <p:spPr>
          <a:xfrm>
            <a:off x="552450" y="781050"/>
            <a:ext cx="11049000" cy="104775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Human Limitations (Psychological Barriers)</a:t>
            </a:r>
          </a:p>
        </p:txBody>
      </p:sp>
      <p:sp>
        <p:nvSpPr>
          <p:cNvPr id="3" name="Rectangle 2">
            <a:extLst>
              <a:ext uri="{FF2B5EF4-FFF2-40B4-BE49-F238E27FC236}">
                <a16:creationId xmlns:a16="http://schemas.microsoft.com/office/drawing/2014/main" id="{CBD6CCB7-2B67-45A1-9AF7-5652451339AA}"/>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1A1A64A5-AFC0-4071-A980-51B159831FE2}"/>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E1A1021A-8753-49ED-8912-7E6B756F3250}"/>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5EBF1A46-1D6B-4E8F-A6F9-3860696B218E}"/>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17</a:t>
            </a:r>
          </a:p>
        </p:txBody>
      </p:sp>
      <p:sp>
        <p:nvSpPr>
          <p:cNvPr id="7" name="Rectangle 6">
            <a:extLst>
              <a:ext uri="{FF2B5EF4-FFF2-40B4-BE49-F238E27FC236}">
                <a16:creationId xmlns:a16="http://schemas.microsoft.com/office/drawing/2014/main" id="{673AFFF1-E876-4CC5-95D3-52446C89B9CF}"/>
              </a:ext>
            </a:extLst>
          </p:cNvPr>
          <p:cNvSpPr>
            <a:spLocks noGrp="1"/>
          </p:cNvSpPr>
          <p:nvPr/>
        </p:nvSpPr>
        <p:spPr>
          <a:xfrm>
            <a:off x="552450" y="2009775"/>
            <a:ext cx="5438775" cy="1952625"/>
          </a:xfrm>
          <a:prstGeom prst="rect">
            <a:avLst/>
          </a:prstGeom>
          <a:solidFill>
            <a:srgbClr val="FFFFFF"/>
          </a:solidFill>
          <a:ln w="9525">
            <a:solidFill>
              <a:srgbClr val="E4D9D6"/>
            </a:solidFill>
          </a:ln>
        </p:spPr>
      </p:sp>
      <p:sp>
        <p:nvSpPr>
          <p:cNvPr id="8" name="Rectangle 7">
            <a:extLst>
              <a:ext uri="{FF2B5EF4-FFF2-40B4-BE49-F238E27FC236}">
                <a16:creationId xmlns:a16="http://schemas.microsoft.com/office/drawing/2014/main" id="{046D69DD-1B4F-4CB9-94C2-E053D1F544C3}"/>
              </a:ext>
            </a:extLst>
          </p:cNvPr>
          <p:cNvSpPr>
            <a:spLocks noGrp="1"/>
          </p:cNvSpPr>
          <p:nvPr/>
        </p:nvSpPr>
        <p:spPr>
          <a:xfrm>
            <a:off x="819150" y="2238375"/>
            <a:ext cx="4905375"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Short-term Memory:</a:t>
            </a:r>
          </a:p>
        </p:txBody>
      </p:sp>
      <p:sp>
        <p:nvSpPr>
          <p:cNvPr id="9" name="Rectangle 8">
            <a:extLst>
              <a:ext uri="{FF2B5EF4-FFF2-40B4-BE49-F238E27FC236}">
                <a16:creationId xmlns:a16="http://schemas.microsoft.com/office/drawing/2014/main" id="{8D5235F2-8A88-442A-AA13-15B2DD00751B}"/>
              </a:ext>
            </a:extLst>
          </p:cNvPr>
          <p:cNvSpPr>
            <a:spLocks noGrp="1"/>
          </p:cNvSpPr>
          <p:nvPr/>
        </p:nvSpPr>
        <p:spPr>
          <a:xfrm>
            <a:off x="819150" y="2981325"/>
            <a:ext cx="4905375" cy="7715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Users only remember a few "important" things during an interview.</a:t>
            </a:r>
          </a:p>
        </p:txBody>
      </p:sp>
      <p:sp>
        <p:nvSpPr>
          <p:cNvPr id="10" name="Rectangle 9">
            <a:extLst>
              <a:ext uri="{FF2B5EF4-FFF2-40B4-BE49-F238E27FC236}">
                <a16:creationId xmlns:a16="http://schemas.microsoft.com/office/drawing/2014/main" id="{F7581ED7-10E0-47AF-B2CB-BC9BE8DD11FE}"/>
              </a:ext>
            </a:extLst>
          </p:cNvPr>
          <p:cNvSpPr>
            <a:spLocks noGrp="1"/>
          </p:cNvSpPr>
          <p:nvPr/>
        </p:nvSpPr>
        <p:spPr>
          <a:xfrm>
            <a:off x="6200775" y="2009775"/>
            <a:ext cx="5438775" cy="1952625"/>
          </a:xfrm>
          <a:prstGeom prst="rect">
            <a:avLst/>
          </a:prstGeom>
          <a:solidFill>
            <a:srgbClr val="FFFFFF"/>
          </a:solidFill>
          <a:ln w="9525">
            <a:solidFill>
              <a:srgbClr val="E4D9D6"/>
            </a:solidFill>
          </a:ln>
        </p:spPr>
      </p:sp>
      <p:sp>
        <p:nvSpPr>
          <p:cNvPr id="11" name="Rectangle 10">
            <a:extLst>
              <a:ext uri="{FF2B5EF4-FFF2-40B4-BE49-F238E27FC236}">
                <a16:creationId xmlns:a16="http://schemas.microsoft.com/office/drawing/2014/main" id="{D857F3F6-32FF-45D6-AD11-7B162BB74F69}"/>
              </a:ext>
            </a:extLst>
          </p:cNvPr>
          <p:cNvSpPr>
            <a:spLocks noGrp="1"/>
          </p:cNvSpPr>
          <p:nvPr/>
        </p:nvSpPr>
        <p:spPr>
          <a:xfrm>
            <a:off x="6467475" y="2238375"/>
            <a:ext cx="4905375"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Recency Effect:</a:t>
            </a:r>
          </a:p>
        </p:txBody>
      </p:sp>
      <p:sp>
        <p:nvSpPr>
          <p:cNvPr id="12" name="Rectangle 11">
            <a:extLst>
              <a:ext uri="{FF2B5EF4-FFF2-40B4-BE49-F238E27FC236}">
                <a16:creationId xmlns:a16="http://schemas.microsoft.com/office/drawing/2014/main" id="{140A1907-0DAA-42C2-AAE2-3B911204C522}"/>
              </a:ext>
            </a:extLst>
          </p:cNvPr>
          <p:cNvSpPr>
            <a:spLocks noGrp="1"/>
          </p:cNvSpPr>
          <p:nvPr/>
        </p:nvSpPr>
        <p:spPr>
          <a:xfrm>
            <a:off x="6467475" y="2981325"/>
            <a:ext cx="4905375" cy="7715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Users give more weight to recent problems than those from the past.</a:t>
            </a:r>
          </a:p>
        </p:txBody>
      </p:sp>
      <p:sp>
        <p:nvSpPr>
          <p:cNvPr id="13" name="Rectangle 12">
            <a:extLst>
              <a:ext uri="{FF2B5EF4-FFF2-40B4-BE49-F238E27FC236}">
                <a16:creationId xmlns:a16="http://schemas.microsoft.com/office/drawing/2014/main" id="{B3E3CE28-3DA7-47C8-A1B1-456522A48B21}"/>
              </a:ext>
            </a:extLst>
          </p:cNvPr>
          <p:cNvSpPr>
            <a:spLocks noGrp="1"/>
          </p:cNvSpPr>
          <p:nvPr/>
        </p:nvSpPr>
        <p:spPr>
          <a:xfrm>
            <a:off x="552450" y="4171950"/>
            <a:ext cx="5438775" cy="1952625"/>
          </a:xfrm>
          <a:prstGeom prst="rect">
            <a:avLst/>
          </a:prstGeom>
          <a:solidFill>
            <a:srgbClr val="FFFFFF"/>
          </a:solidFill>
          <a:ln w="9525">
            <a:solidFill>
              <a:srgbClr val="E4D9D6"/>
            </a:solidFill>
          </a:ln>
        </p:spPr>
      </p:sp>
      <p:sp>
        <p:nvSpPr>
          <p:cNvPr id="14" name="Rectangle 13">
            <a:extLst>
              <a:ext uri="{FF2B5EF4-FFF2-40B4-BE49-F238E27FC236}">
                <a16:creationId xmlns:a16="http://schemas.microsoft.com/office/drawing/2014/main" id="{C319C84E-8387-4052-9796-A47FE32CFD65}"/>
              </a:ext>
            </a:extLst>
          </p:cNvPr>
          <p:cNvSpPr>
            <a:spLocks noGrp="1"/>
          </p:cNvSpPr>
          <p:nvPr/>
        </p:nvSpPr>
        <p:spPr>
          <a:xfrm>
            <a:off x="819150" y="4400550"/>
            <a:ext cx="4905375"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Availability Bias:</a:t>
            </a:r>
          </a:p>
        </p:txBody>
      </p:sp>
      <p:sp>
        <p:nvSpPr>
          <p:cNvPr id="15" name="Rectangle 14">
            <a:extLst>
              <a:ext uri="{FF2B5EF4-FFF2-40B4-BE49-F238E27FC236}">
                <a16:creationId xmlns:a16="http://schemas.microsoft.com/office/drawing/2014/main" id="{AC592123-7CC3-4AE0-9992-83A063EA0977}"/>
              </a:ext>
            </a:extLst>
          </p:cNvPr>
          <p:cNvSpPr>
            <a:spLocks noGrp="1"/>
          </p:cNvSpPr>
          <p:nvPr/>
        </p:nvSpPr>
        <p:spPr>
          <a:xfrm>
            <a:off x="819150" y="5143500"/>
            <a:ext cx="4905375" cy="7715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Users only ask for features based on the information they can see right now.</a:t>
            </a:r>
          </a:p>
        </p:txBody>
      </p:sp>
      <p:sp>
        <p:nvSpPr>
          <p:cNvPr id="16" name="Rectangle 15">
            <a:extLst>
              <a:ext uri="{FF2B5EF4-FFF2-40B4-BE49-F238E27FC236}">
                <a16:creationId xmlns:a16="http://schemas.microsoft.com/office/drawing/2014/main" id="{00BC779F-5C20-4AEA-96E9-226F0C7AD1F0}"/>
              </a:ext>
            </a:extLst>
          </p:cNvPr>
          <p:cNvSpPr>
            <a:spLocks noGrp="1"/>
          </p:cNvSpPr>
          <p:nvPr/>
        </p:nvSpPr>
        <p:spPr>
          <a:xfrm>
            <a:off x="6200775" y="4171950"/>
            <a:ext cx="5438775" cy="1952625"/>
          </a:xfrm>
          <a:prstGeom prst="rect">
            <a:avLst/>
          </a:prstGeom>
          <a:solidFill>
            <a:srgbClr val="FFFFFF"/>
          </a:solidFill>
          <a:ln w="9525">
            <a:solidFill>
              <a:srgbClr val="E4D9D6"/>
            </a:solidFill>
          </a:ln>
        </p:spPr>
      </p:sp>
      <p:sp>
        <p:nvSpPr>
          <p:cNvPr id="17" name="Rectangle 16">
            <a:extLst>
              <a:ext uri="{FF2B5EF4-FFF2-40B4-BE49-F238E27FC236}">
                <a16:creationId xmlns:a16="http://schemas.microsoft.com/office/drawing/2014/main" id="{18ABFC74-3CA9-464A-B792-AC1542CD1179}"/>
              </a:ext>
            </a:extLst>
          </p:cNvPr>
          <p:cNvSpPr>
            <a:spLocks noGrp="1"/>
          </p:cNvSpPr>
          <p:nvPr/>
        </p:nvSpPr>
        <p:spPr>
          <a:xfrm>
            <a:off x="6467475" y="4400550"/>
            <a:ext cx="4905375"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Bounded Rationality:</a:t>
            </a:r>
          </a:p>
        </p:txBody>
      </p:sp>
      <p:sp>
        <p:nvSpPr>
          <p:cNvPr id="18" name="Rectangle 17">
            <a:extLst>
              <a:ext uri="{FF2B5EF4-FFF2-40B4-BE49-F238E27FC236}">
                <a16:creationId xmlns:a16="http://schemas.microsoft.com/office/drawing/2014/main" id="{DD4FED11-82DF-4CC0-BD49-B7CBB222E112}"/>
              </a:ext>
            </a:extLst>
          </p:cNvPr>
          <p:cNvSpPr>
            <a:spLocks noGrp="1"/>
          </p:cNvSpPr>
          <p:nvPr/>
        </p:nvSpPr>
        <p:spPr>
          <a:xfrm>
            <a:off x="6467475" y="5143500"/>
            <a:ext cx="4905375" cy="771525"/>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Humans simplify complex problems because our brains have limited processing capacity.</a:t>
            </a:r>
          </a:p>
        </p:txBody>
      </p:sp>
    </p:spTree>
    <p:extLst>
      <p:ext uri="{BB962C8B-B14F-4D97-AF65-F5344CB8AC3E}">
        <p14:creationId xmlns:p14="http://schemas.microsoft.com/office/powerpoint/2010/main" val="1673411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92C248C-FD5F-4AF3-BC50-4EFAF030ACD8}"/>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INFORMATION GATHERING</a:t>
            </a:r>
          </a:p>
        </p:txBody>
      </p:sp>
      <p:sp>
        <p:nvSpPr>
          <p:cNvPr id="2" name="Rectangle 1">
            <a:extLst>
              <a:ext uri="{FF2B5EF4-FFF2-40B4-BE49-F238E27FC236}">
                <a16:creationId xmlns:a16="http://schemas.microsoft.com/office/drawing/2014/main" id="{41479617-C406-41CC-8FFB-4316F87BDE8D}"/>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Three Ways to "Ask"</a:t>
            </a:r>
          </a:p>
        </p:txBody>
      </p:sp>
      <p:sp>
        <p:nvSpPr>
          <p:cNvPr id="3" name="Rectangle 2">
            <a:extLst>
              <a:ext uri="{FF2B5EF4-FFF2-40B4-BE49-F238E27FC236}">
                <a16:creationId xmlns:a16="http://schemas.microsoft.com/office/drawing/2014/main" id="{34C0A8CF-A9F7-41E0-ADA2-9B21FB97529A}"/>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D9A4FB3E-8230-40D3-B940-95927073D9CC}"/>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1938E1FA-568D-40B8-AE36-4B354D409AA5}"/>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BA55E15E-6846-4F34-85E2-28FBD2D72F46}"/>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18</a:t>
            </a:r>
          </a:p>
        </p:txBody>
      </p:sp>
      <p:sp>
        <p:nvSpPr>
          <p:cNvPr id="7" name="Rectangle 6">
            <a:extLst>
              <a:ext uri="{FF2B5EF4-FFF2-40B4-BE49-F238E27FC236}">
                <a16:creationId xmlns:a16="http://schemas.microsoft.com/office/drawing/2014/main" id="{E38A696A-AF07-4AD3-A52E-C9B3B7A32288}"/>
              </a:ext>
            </a:extLst>
          </p:cNvPr>
          <p:cNvSpPr>
            <a:spLocks noGrp="1"/>
          </p:cNvSpPr>
          <p:nvPr/>
        </p:nvSpPr>
        <p:spPr>
          <a:xfrm>
            <a:off x="552450" y="1743075"/>
            <a:ext cx="3556000" cy="4381500"/>
          </a:xfrm>
          <a:prstGeom prst="rect">
            <a:avLst/>
          </a:prstGeom>
          <a:solidFill>
            <a:srgbClr val="FFFFFF"/>
          </a:solidFill>
          <a:ln w="9525">
            <a:solidFill>
              <a:srgbClr val="E4D9D6"/>
            </a:solidFill>
          </a:ln>
        </p:spPr>
      </p:sp>
      <p:sp>
        <p:nvSpPr>
          <p:cNvPr id="8" name="Oval 7">
            <a:extLst>
              <a:ext uri="{FF2B5EF4-FFF2-40B4-BE49-F238E27FC236}">
                <a16:creationId xmlns:a16="http://schemas.microsoft.com/office/drawing/2014/main" id="{6C3A7EE3-EE3B-40D1-91A7-C568446BD676}"/>
              </a:ext>
            </a:extLst>
          </p:cNvPr>
          <p:cNvSpPr>
            <a:spLocks noGrp="1"/>
          </p:cNvSpPr>
          <p:nvPr/>
        </p:nvSpPr>
        <p:spPr>
          <a:xfrm>
            <a:off x="781050" y="1971675"/>
            <a:ext cx="400050" cy="400050"/>
          </a:xfrm>
          <a:prstGeom prst="ellipse">
            <a:avLst/>
          </a:prstGeom>
          <a:solidFill>
            <a:srgbClr val="990011"/>
          </a:solidFill>
          <a:ln w="0">
            <a:noFill/>
          </a:ln>
        </p:spPr>
      </p:sp>
      <p:sp>
        <p:nvSpPr>
          <p:cNvPr id="9" name="Rectangle 8">
            <a:extLst>
              <a:ext uri="{FF2B5EF4-FFF2-40B4-BE49-F238E27FC236}">
                <a16:creationId xmlns:a16="http://schemas.microsoft.com/office/drawing/2014/main" id="{2F3ED6D0-BEC3-4F9A-AE7B-71B57851B5C4}"/>
              </a:ext>
            </a:extLst>
          </p:cNvPr>
          <p:cNvSpPr>
            <a:spLocks noGrp="1"/>
          </p:cNvSpPr>
          <p:nvPr/>
        </p:nvSpPr>
        <p:spPr>
          <a:xfrm>
            <a:off x="781050" y="197167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a:t>
            </a:r>
          </a:p>
        </p:txBody>
      </p:sp>
      <p:sp>
        <p:nvSpPr>
          <p:cNvPr id="10" name="Rectangle 9">
            <a:extLst>
              <a:ext uri="{FF2B5EF4-FFF2-40B4-BE49-F238E27FC236}">
                <a16:creationId xmlns:a16="http://schemas.microsoft.com/office/drawing/2014/main" id="{86A9310C-5C07-42F6-8D57-55450603556F}"/>
              </a:ext>
            </a:extLst>
          </p:cNvPr>
          <p:cNvSpPr>
            <a:spLocks noGrp="1"/>
          </p:cNvSpPr>
          <p:nvPr/>
        </p:nvSpPr>
        <p:spPr>
          <a:xfrm>
            <a:off x="819150" y="25812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Questions:</a:t>
            </a:r>
          </a:p>
        </p:txBody>
      </p:sp>
      <p:sp>
        <p:nvSpPr>
          <p:cNvPr id="11" name="Rectangle 10">
            <a:extLst>
              <a:ext uri="{FF2B5EF4-FFF2-40B4-BE49-F238E27FC236}">
                <a16:creationId xmlns:a16="http://schemas.microsoft.com/office/drawing/2014/main" id="{2D9CE406-24AE-4629-84CD-B5B38E3A8166}"/>
              </a:ext>
            </a:extLst>
          </p:cNvPr>
          <p:cNvSpPr>
            <a:spLocks noGrp="1"/>
          </p:cNvSpPr>
          <p:nvPr/>
        </p:nvSpPr>
        <p:spPr>
          <a:xfrm>
            <a:off x="819150" y="3324225"/>
            <a:ext cx="3022600" cy="259080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Using open-ended questions for opinions or closed questions for facts.</a:t>
            </a:r>
          </a:p>
        </p:txBody>
      </p:sp>
      <p:sp>
        <p:nvSpPr>
          <p:cNvPr id="12" name="Rectangle 11">
            <a:extLst>
              <a:ext uri="{FF2B5EF4-FFF2-40B4-BE49-F238E27FC236}">
                <a16:creationId xmlns:a16="http://schemas.microsoft.com/office/drawing/2014/main" id="{BC0809F4-B7CC-4D16-A6DC-EBBB0E4B521A}"/>
              </a:ext>
            </a:extLst>
          </p:cNvPr>
          <p:cNvSpPr>
            <a:spLocks noGrp="1"/>
          </p:cNvSpPr>
          <p:nvPr/>
        </p:nvSpPr>
        <p:spPr>
          <a:xfrm>
            <a:off x="4318000" y="1743075"/>
            <a:ext cx="3556000" cy="4381500"/>
          </a:xfrm>
          <a:prstGeom prst="rect">
            <a:avLst/>
          </a:prstGeom>
          <a:solidFill>
            <a:srgbClr val="FFFFFF"/>
          </a:solidFill>
          <a:ln w="9525">
            <a:solidFill>
              <a:srgbClr val="E4D9D6"/>
            </a:solidFill>
          </a:ln>
        </p:spPr>
      </p:sp>
      <p:sp>
        <p:nvSpPr>
          <p:cNvPr id="13" name="Oval 12">
            <a:extLst>
              <a:ext uri="{FF2B5EF4-FFF2-40B4-BE49-F238E27FC236}">
                <a16:creationId xmlns:a16="http://schemas.microsoft.com/office/drawing/2014/main" id="{D0BC3F2E-4DC0-4BBE-A933-3A25B23258CA}"/>
              </a:ext>
            </a:extLst>
          </p:cNvPr>
          <p:cNvSpPr>
            <a:spLocks noGrp="1"/>
          </p:cNvSpPr>
          <p:nvPr/>
        </p:nvSpPr>
        <p:spPr>
          <a:xfrm>
            <a:off x="4546600" y="1971675"/>
            <a:ext cx="400050" cy="400050"/>
          </a:xfrm>
          <a:prstGeom prst="ellipse">
            <a:avLst/>
          </a:prstGeom>
          <a:solidFill>
            <a:srgbClr val="990011"/>
          </a:solidFill>
          <a:ln w="0">
            <a:noFill/>
          </a:ln>
        </p:spPr>
      </p:sp>
      <p:sp>
        <p:nvSpPr>
          <p:cNvPr id="14" name="Rectangle 13">
            <a:extLst>
              <a:ext uri="{FF2B5EF4-FFF2-40B4-BE49-F238E27FC236}">
                <a16:creationId xmlns:a16="http://schemas.microsoft.com/office/drawing/2014/main" id="{4FB85B15-34C5-420C-B1D2-B64725CACCAA}"/>
              </a:ext>
            </a:extLst>
          </p:cNvPr>
          <p:cNvSpPr>
            <a:spLocks noGrp="1"/>
          </p:cNvSpPr>
          <p:nvPr/>
        </p:nvSpPr>
        <p:spPr>
          <a:xfrm>
            <a:off x="4546600" y="197167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a:t>
            </a:r>
          </a:p>
        </p:txBody>
      </p:sp>
      <p:sp>
        <p:nvSpPr>
          <p:cNvPr id="15" name="Rectangle 14">
            <a:extLst>
              <a:ext uri="{FF2B5EF4-FFF2-40B4-BE49-F238E27FC236}">
                <a16:creationId xmlns:a16="http://schemas.microsoft.com/office/drawing/2014/main" id="{3D2E0493-9D16-47B3-815D-E9FA5F711CE6}"/>
              </a:ext>
            </a:extLst>
          </p:cNvPr>
          <p:cNvSpPr>
            <a:spLocks noGrp="1"/>
          </p:cNvSpPr>
          <p:nvPr/>
        </p:nvSpPr>
        <p:spPr>
          <a:xfrm>
            <a:off x="4584700" y="25812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Brainstorming:</a:t>
            </a:r>
          </a:p>
        </p:txBody>
      </p:sp>
      <p:sp>
        <p:nvSpPr>
          <p:cNvPr id="16" name="Rectangle 15">
            <a:extLst>
              <a:ext uri="{FF2B5EF4-FFF2-40B4-BE49-F238E27FC236}">
                <a16:creationId xmlns:a16="http://schemas.microsoft.com/office/drawing/2014/main" id="{0D6A8E49-4085-4868-BE34-60935400462D}"/>
              </a:ext>
            </a:extLst>
          </p:cNvPr>
          <p:cNvSpPr>
            <a:spLocks noGrp="1"/>
          </p:cNvSpPr>
          <p:nvPr/>
        </p:nvSpPr>
        <p:spPr>
          <a:xfrm>
            <a:off x="4584700" y="3324225"/>
            <a:ext cx="3022600" cy="259080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A group meeting to generate new or non-traditional ideas.</a:t>
            </a:r>
          </a:p>
        </p:txBody>
      </p:sp>
      <p:sp>
        <p:nvSpPr>
          <p:cNvPr id="17" name="Rectangle 16">
            <a:extLst>
              <a:ext uri="{FF2B5EF4-FFF2-40B4-BE49-F238E27FC236}">
                <a16:creationId xmlns:a16="http://schemas.microsoft.com/office/drawing/2014/main" id="{0113829E-5113-47CF-8F54-0EB51FAEBBDE}"/>
              </a:ext>
            </a:extLst>
          </p:cNvPr>
          <p:cNvSpPr>
            <a:spLocks noGrp="1"/>
          </p:cNvSpPr>
          <p:nvPr/>
        </p:nvSpPr>
        <p:spPr>
          <a:xfrm>
            <a:off x="8083550" y="1743075"/>
            <a:ext cx="3556000" cy="4381500"/>
          </a:xfrm>
          <a:prstGeom prst="rect">
            <a:avLst/>
          </a:prstGeom>
          <a:solidFill>
            <a:srgbClr val="FFFFFF"/>
          </a:solidFill>
          <a:ln w="9525">
            <a:solidFill>
              <a:srgbClr val="E4D9D6"/>
            </a:solidFill>
          </a:ln>
        </p:spPr>
      </p:sp>
      <p:sp>
        <p:nvSpPr>
          <p:cNvPr id="18" name="Oval 17">
            <a:extLst>
              <a:ext uri="{FF2B5EF4-FFF2-40B4-BE49-F238E27FC236}">
                <a16:creationId xmlns:a16="http://schemas.microsoft.com/office/drawing/2014/main" id="{1DEB350A-B87A-4CC8-8C56-0B3B39337072}"/>
              </a:ext>
            </a:extLst>
          </p:cNvPr>
          <p:cNvSpPr>
            <a:spLocks noGrp="1"/>
          </p:cNvSpPr>
          <p:nvPr/>
        </p:nvSpPr>
        <p:spPr>
          <a:xfrm>
            <a:off x="8312150" y="1971675"/>
            <a:ext cx="400050" cy="400050"/>
          </a:xfrm>
          <a:prstGeom prst="ellipse">
            <a:avLst/>
          </a:prstGeom>
          <a:solidFill>
            <a:srgbClr val="990011"/>
          </a:solidFill>
          <a:ln w="0">
            <a:noFill/>
          </a:ln>
        </p:spPr>
      </p:sp>
      <p:sp>
        <p:nvSpPr>
          <p:cNvPr id="19" name="Rectangle 18">
            <a:extLst>
              <a:ext uri="{FF2B5EF4-FFF2-40B4-BE49-F238E27FC236}">
                <a16:creationId xmlns:a16="http://schemas.microsoft.com/office/drawing/2014/main" id="{F35065FF-E31F-4FA0-8508-3A4503D79A20}"/>
              </a:ext>
            </a:extLst>
          </p:cNvPr>
          <p:cNvSpPr>
            <a:spLocks noGrp="1"/>
          </p:cNvSpPr>
          <p:nvPr/>
        </p:nvSpPr>
        <p:spPr>
          <a:xfrm>
            <a:off x="8312150" y="1971675"/>
            <a:ext cx="400050" cy="40005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3</a:t>
            </a:r>
          </a:p>
        </p:txBody>
      </p:sp>
      <p:sp>
        <p:nvSpPr>
          <p:cNvPr id="20" name="Rectangle 19">
            <a:extLst>
              <a:ext uri="{FF2B5EF4-FFF2-40B4-BE49-F238E27FC236}">
                <a16:creationId xmlns:a16="http://schemas.microsoft.com/office/drawing/2014/main" id="{47CECA5A-6376-441C-810E-2D2E69F18CC1}"/>
              </a:ext>
            </a:extLst>
          </p:cNvPr>
          <p:cNvSpPr>
            <a:spLocks noGrp="1"/>
          </p:cNvSpPr>
          <p:nvPr/>
        </p:nvSpPr>
        <p:spPr>
          <a:xfrm>
            <a:off x="8350250" y="2581275"/>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Group Consensus:</a:t>
            </a:r>
          </a:p>
        </p:txBody>
      </p:sp>
      <p:sp>
        <p:nvSpPr>
          <p:cNvPr id="21" name="Rectangle 20">
            <a:extLst>
              <a:ext uri="{FF2B5EF4-FFF2-40B4-BE49-F238E27FC236}">
                <a16:creationId xmlns:a16="http://schemas.microsoft.com/office/drawing/2014/main" id="{0B854B1D-C1F6-432D-93F3-9787E1F27DDB}"/>
              </a:ext>
            </a:extLst>
          </p:cNvPr>
          <p:cNvSpPr>
            <a:spLocks noGrp="1"/>
          </p:cNvSpPr>
          <p:nvPr/>
        </p:nvSpPr>
        <p:spPr>
          <a:xfrm>
            <a:off x="8350250" y="3324225"/>
            <a:ext cx="3022600" cy="259080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Using a "Delphi" method where people answer questionnaires until everyone agrees, avoiding pressure from bosses.</a:t>
            </a:r>
          </a:p>
        </p:txBody>
      </p:sp>
    </p:spTree>
    <p:extLst>
      <p:ext uri="{BB962C8B-B14F-4D97-AF65-F5344CB8AC3E}">
        <p14:creationId xmlns:p14="http://schemas.microsoft.com/office/powerpoint/2010/main" val="558603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A476440-E196-412E-9417-52AA99CEE72E}"/>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INFORMATION GATHERING</a:t>
            </a:r>
          </a:p>
        </p:txBody>
      </p:sp>
      <p:sp>
        <p:nvSpPr>
          <p:cNvPr id="2" name="Rectangle 1">
            <a:extLst>
              <a:ext uri="{FF2B5EF4-FFF2-40B4-BE49-F238E27FC236}">
                <a16:creationId xmlns:a16="http://schemas.microsoft.com/office/drawing/2014/main" id="{7BAE0884-0A31-4351-A109-A8AE93BC7AE6}"/>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The Goal of the Information Analyst</a:t>
            </a:r>
          </a:p>
        </p:txBody>
      </p:sp>
      <p:sp>
        <p:nvSpPr>
          <p:cNvPr id="3" name="Rectangle 2">
            <a:extLst>
              <a:ext uri="{FF2B5EF4-FFF2-40B4-BE49-F238E27FC236}">
                <a16:creationId xmlns:a16="http://schemas.microsoft.com/office/drawing/2014/main" id="{06955603-4DBF-47EC-8A48-5379AA87F6A6}"/>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B7714115-493A-409C-AAF3-0D36366536C5}"/>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A2707D3D-5014-4805-998E-1D06F44E016A}"/>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2753C469-F347-4E97-AA8C-249E3AE77C09}"/>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19</a:t>
            </a:r>
          </a:p>
        </p:txBody>
      </p:sp>
      <p:sp>
        <p:nvSpPr>
          <p:cNvPr id="7" name="Rectangle 6">
            <a:extLst>
              <a:ext uri="{FF2B5EF4-FFF2-40B4-BE49-F238E27FC236}">
                <a16:creationId xmlns:a16="http://schemas.microsoft.com/office/drawing/2014/main" id="{5E6B7538-E161-40EE-BF76-F63487D6FA1B}"/>
              </a:ext>
            </a:extLst>
          </p:cNvPr>
          <p:cNvSpPr>
            <a:spLocks noGrp="1"/>
          </p:cNvSpPr>
          <p:nvPr/>
        </p:nvSpPr>
        <p:spPr>
          <a:xfrm>
            <a:off x="552450" y="1695450"/>
            <a:ext cx="11068050" cy="1000125"/>
          </a:xfrm>
          <a:prstGeom prst="rect">
            <a:avLst/>
          </a:prstGeom>
          <a:solidFill>
            <a:srgbClr val="FCF6F5"/>
          </a:solidFill>
          <a:ln w="0">
            <a:noFill/>
          </a:ln>
        </p:spPr>
      </p:sp>
      <p:sp>
        <p:nvSpPr>
          <p:cNvPr id="8" name="Rectangle 7">
            <a:extLst>
              <a:ext uri="{FF2B5EF4-FFF2-40B4-BE49-F238E27FC236}">
                <a16:creationId xmlns:a16="http://schemas.microsoft.com/office/drawing/2014/main" id="{1067239D-C2E6-45F7-A86B-B0F0803F80C5}"/>
              </a:ext>
            </a:extLst>
          </p:cNvPr>
          <p:cNvSpPr>
            <a:spLocks noGrp="1"/>
          </p:cNvSpPr>
          <p:nvPr/>
        </p:nvSpPr>
        <p:spPr>
          <a:xfrm>
            <a:off x="809625" y="1895475"/>
            <a:ext cx="10553700" cy="72390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b="1">
                <a:solidFill>
                  <a:srgbClr val="2A2A2A"/>
                </a:solidFill>
                <a:latin typeface="Georgia"/>
                <a:ea typeface="Georgia"/>
                <a:cs typeface="Georgia"/>
              </a:rPr>
              <a:t>The Mission:</a:t>
            </a:r>
            <a:r>
              <a:rPr sz="1600" b="0">
                <a:solidFill>
                  <a:srgbClr val="2A2A2A"/>
                </a:solidFill>
                <a:latin typeface="Georgia"/>
                <a:ea typeface="Georgia"/>
                <a:cs typeface="Georgia"/>
              </a:rPr>
              <a:t> To determine what the user </a:t>
            </a:r>
            <a:r>
              <a:rPr sz="1600" b="1">
                <a:solidFill>
                  <a:srgbClr val="2A2A2A"/>
                </a:solidFill>
                <a:latin typeface="Georgia"/>
                <a:ea typeface="Georgia"/>
                <a:cs typeface="Georgia"/>
              </a:rPr>
              <a:t>needs</a:t>
            </a:r>
            <a:r>
              <a:rPr sz="1600" b="0">
                <a:solidFill>
                  <a:srgbClr val="2A2A2A"/>
                </a:solidFill>
                <a:latin typeface="Georgia"/>
                <a:ea typeface="Georgia"/>
                <a:cs typeface="Georgia"/>
              </a:rPr>
              <a:t> (essential for the job) rather than what they </a:t>
            </a:r>
            <a:r>
              <a:rPr sz="1600" b="1">
                <a:solidFill>
                  <a:srgbClr val="2A2A2A"/>
                </a:solidFill>
                <a:latin typeface="Georgia"/>
                <a:ea typeface="Georgia"/>
                <a:cs typeface="Georgia"/>
              </a:rPr>
              <a:t>want</a:t>
            </a:r>
            <a:r>
              <a:rPr sz="1600" b="0">
                <a:solidFill>
                  <a:srgbClr val="2A2A2A"/>
                </a:solidFill>
                <a:latin typeface="Georgia"/>
                <a:ea typeface="Georgia"/>
                <a:cs typeface="Georgia"/>
              </a:rPr>
              <a:t> (nice to have).</a:t>
            </a:r>
          </a:p>
        </p:txBody>
      </p:sp>
      <p:sp>
        <p:nvSpPr>
          <p:cNvPr id="9" name="Rectangle 8">
            <a:extLst>
              <a:ext uri="{FF2B5EF4-FFF2-40B4-BE49-F238E27FC236}">
                <a16:creationId xmlns:a16="http://schemas.microsoft.com/office/drawing/2014/main" id="{8BBE5DE8-03ED-4292-93C8-24CCED837A0E}"/>
              </a:ext>
            </a:extLst>
          </p:cNvPr>
          <p:cNvSpPr>
            <a:spLocks noGrp="1"/>
          </p:cNvSpPr>
          <p:nvPr/>
        </p:nvSpPr>
        <p:spPr>
          <a:xfrm>
            <a:off x="647700" y="3000375"/>
            <a:ext cx="10477500" cy="30480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The Process: </a:t>
            </a:r>
          </a:p>
        </p:txBody>
      </p:sp>
      <p:sp>
        <p:nvSpPr>
          <p:cNvPr id="10" name="Rectangle 9">
            <a:extLst>
              <a:ext uri="{FF2B5EF4-FFF2-40B4-BE49-F238E27FC236}">
                <a16:creationId xmlns:a16="http://schemas.microsoft.com/office/drawing/2014/main" id="{C14917DC-6D4B-4ACC-BF72-7206D1D9F7F7}"/>
              </a:ext>
            </a:extLst>
          </p:cNvPr>
          <p:cNvSpPr>
            <a:spLocks noGrp="1"/>
          </p:cNvSpPr>
          <p:nvPr/>
        </p:nvSpPr>
        <p:spPr>
          <a:xfrm>
            <a:off x="552450" y="3505200"/>
            <a:ext cx="3571875" cy="1428750"/>
          </a:xfrm>
          <a:prstGeom prst="rect">
            <a:avLst/>
          </a:prstGeom>
          <a:solidFill>
            <a:srgbClr val="FFFFFF"/>
          </a:solidFill>
          <a:ln w="9525">
            <a:solidFill>
              <a:srgbClr val="E4D9D6"/>
            </a:solidFill>
          </a:ln>
        </p:spPr>
      </p:sp>
      <p:sp>
        <p:nvSpPr>
          <p:cNvPr id="11" name="Rectangle 10">
            <a:extLst>
              <a:ext uri="{FF2B5EF4-FFF2-40B4-BE49-F238E27FC236}">
                <a16:creationId xmlns:a16="http://schemas.microsoft.com/office/drawing/2014/main" id="{ACC49561-F63A-478A-86DB-4F6074740D4C}"/>
              </a:ext>
            </a:extLst>
          </p:cNvPr>
          <p:cNvSpPr>
            <a:spLocks noGrp="1"/>
          </p:cNvSpPr>
          <p:nvPr/>
        </p:nvSpPr>
        <p:spPr>
          <a:xfrm>
            <a:off x="809625" y="3762375"/>
            <a:ext cx="3048000" cy="95250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1. Ask what is currently available.</a:t>
            </a:r>
          </a:p>
        </p:txBody>
      </p:sp>
      <p:sp>
        <p:nvSpPr>
          <p:cNvPr id="12" name="Rectangle 11">
            <a:extLst>
              <a:ext uri="{FF2B5EF4-FFF2-40B4-BE49-F238E27FC236}">
                <a16:creationId xmlns:a16="http://schemas.microsoft.com/office/drawing/2014/main" id="{44E57E78-5EFE-407D-A453-201528C82E51}"/>
              </a:ext>
            </a:extLst>
          </p:cNvPr>
          <p:cNvSpPr>
            <a:spLocks noGrp="1"/>
          </p:cNvSpPr>
          <p:nvPr/>
        </p:nvSpPr>
        <p:spPr>
          <a:xfrm>
            <a:off x="4333875" y="3505200"/>
            <a:ext cx="3571875" cy="1428750"/>
          </a:xfrm>
          <a:prstGeom prst="rect">
            <a:avLst/>
          </a:prstGeom>
          <a:solidFill>
            <a:srgbClr val="FFFFFF"/>
          </a:solidFill>
          <a:ln w="9525">
            <a:solidFill>
              <a:srgbClr val="E4D9D6"/>
            </a:solidFill>
          </a:ln>
        </p:spPr>
      </p:sp>
      <p:sp>
        <p:nvSpPr>
          <p:cNvPr id="13" name="Rectangle 12">
            <a:extLst>
              <a:ext uri="{FF2B5EF4-FFF2-40B4-BE49-F238E27FC236}">
                <a16:creationId xmlns:a16="http://schemas.microsoft.com/office/drawing/2014/main" id="{801D3F9D-9608-4686-A885-1C639CAF60C1}"/>
              </a:ext>
            </a:extLst>
          </p:cNvPr>
          <p:cNvSpPr>
            <a:spLocks noGrp="1"/>
          </p:cNvSpPr>
          <p:nvPr/>
        </p:nvSpPr>
        <p:spPr>
          <a:xfrm>
            <a:off x="4591050" y="3762375"/>
            <a:ext cx="3048000" cy="95250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2. Identify what is missing.</a:t>
            </a:r>
          </a:p>
        </p:txBody>
      </p:sp>
      <p:sp>
        <p:nvSpPr>
          <p:cNvPr id="14" name="Rectangle 13">
            <a:extLst>
              <a:ext uri="{FF2B5EF4-FFF2-40B4-BE49-F238E27FC236}">
                <a16:creationId xmlns:a16="http://schemas.microsoft.com/office/drawing/2014/main" id="{DBFD1E76-F920-4627-8323-2DC21C8BD42F}"/>
              </a:ext>
            </a:extLst>
          </p:cNvPr>
          <p:cNvSpPr>
            <a:spLocks noGrp="1"/>
          </p:cNvSpPr>
          <p:nvPr/>
        </p:nvSpPr>
        <p:spPr>
          <a:xfrm>
            <a:off x="8115300" y="3505200"/>
            <a:ext cx="3571875" cy="1428750"/>
          </a:xfrm>
          <a:prstGeom prst="rect">
            <a:avLst/>
          </a:prstGeom>
          <a:solidFill>
            <a:srgbClr val="FFFFFF"/>
          </a:solidFill>
          <a:ln w="9525">
            <a:solidFill>
              <a:srgbClr val="E4D9D6"/>
            </a:solidFill>
          </a:ln>
        </p:spPr>
      </p:sp>
      <p:sp>
        <p:nvSpPr>
          <p:cNvPr id="15" name="Rectangle 14">
            <a:extLst>
              <a:ext uri="{FF2B5EF4-FFF2-40B4-BE49-F238E27FC236}">
                <a16:creationId xmlns:a16="http://schemas.microsoft.com/office/drawing/2014/main" id="{422E5A26-EA8D-477C-8871-49704A3FA11B}"/>
              </a:ext>
            </a:extLst>
          </p:cNvPr>
          <p:cNvSpPr>
            <a:spLocks noGrp="1"/>
          </p:cNvSpPr>
          <p:nvPr/>
        </p:nvSpPr>
        <p:spPr>
          <a:xfrm>
            <a:off x="8372475" y="3762375"/>
            <a:ext cx="3048000" cy="95250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3. Reach an agreement on what the new system will provide.</a:t>
            </a:r>
          </a:p>
        </p:txBody>
      </p:sp>
      <p:sp>
        <p:nvSpPr>
          <p:cNvPr id="16" name="Rectangle 15">
            <a:extLst>
              <a:ext uri="{FF2B5EF4-FFF2-40B4-BE49-F238E27FC236}">
                <a16:creationId xmlns:a16="http://schemas.microsoft.com/office/drawing/2014/main" id="{71CEE7CB-C1FB-4E66-8EB3-909D06579A50}"/>
              </a:ext>
            </a:extLst>
          </p:cNvPr>
          <p:cNvSpPr>
            <a:spLocks noGrp="1"/>
          </p:cNvSpPr>
          <p:nvPr/>
        </p:nvSpPr>
        <p:spPr>
          <a:xfrm>
            <a:off x="552450" y="5257800"/>
            <a:ext cx="11068050" cy="876300"/>
          </a:xfrm>
          <a:prstGeom prst="rect">
            <a:avLst/>
          </a:prstGeom>
          <a:solidFill>
            <a:srgbClr val="990011"/>
          </a:solidFill>
          <a:ln w="0">
            <a:noFill/>
          </a:ln>
        </p:spPr>
      </p:sp>
      <p:sp>
        <p:nvSpPr>
          <p:cNvPr id="17" name="Rectangle 16">
            <a:extLst>
              <a:ext uri="{FF2B5EF4-FFF2-40B4-BE49-F238E27FC236}">
                <a16:creationId xmlns:a16="http://schemas.microsoft.com/office/drawing/2014/main" id="{35D66DE5-60C2-4757-80C4-D0A4F46B4EB7}"/>
              </a:ext>
            </a:extLst>
          </p:cNvPr>
          <p:cNvSpPr>
            <a:spLocks noGrp="1"/>
          </p:cNvSpPr>
          <p:nvPr/>
        </p:nvSpPr>
        <p:spPr>
          <a:xfrm>
            <a:off x="809625" y="5448300"/>
            <a:ext cx="10553700" cy="609600"/>
          </a:xfrm>
          <a:prstGeom prst="rect">
            <a:avLst/>
          </a:prstGeom>
          <a:noFill/>
          <a:ln w="0">
            <a:noFill/>
          </a:ln>
        </p:spPr>
        <p:txBody>
          <a:bodyPr wrap="square" lIns="0" tIns="0" rIns="0" bIns="0" anchor="t">
            <a:noAutofit/>
          </a:bodyPr>
          <a:lstStyle/>
          <a:p>
            <a:pPr algn="l">
              <a:defRPr sz="1600" i="1">
                <a:solidFill>
                  <a:srgbClr val="FFFFFF"/>
                </a:solidFill>
                <a:latin typeface="Georgia"/>
                <a:ea typeface="Georgia"/>
                <a:cs typeface="Georgia"/>
              </a:defRPr>
            </a:pPr>
            <a:r>
              <a:rPr sz="1600" b="1" i="1">
                <a:solidFill>
                  <a:srgbClr val="FFFFFF"/>
                </a:solidFill>
                <a:latin typeface="Georgia"/>
                <a:ea typeface="Georgia"/>
                <a:cs typeface="Georgia"/>
              </a:rPr>
              <a:t>The Outcome:</a:t>
            </a:r>
            <a:r>
              <a:rPr sz="1600" b="0" i="1">
                <a:solidFill>
                  <a:srgbClr val="FFFFFF"/>
                </a:solidFill>
                <a:latin typeface="Georgia"/>
                <a:ea typeface="Georgia"/>
                <a:cs typeface="Georgia"/>
              </a:rPr>
              <a:t> A "Logical Design" that serves as the foundation for the "Physical Design."</a:t>
            </a:r>
          </a:p>
        </p:txBody>
      </p:sp>
    </p:spTree>
    <p:extLst>
      <p:ext uri="{BB962C8B-B14F-4D97-AF65-F5344CB8AC3E}">
        <p14:creationId xmlns:p14="http://schemas.microsoft.com/office/powerpoint/2010/main" val="646499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9150889-35B9-4694-BC5C-DED8AAEE95E2}"/>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INFORMATION GATHERING</a:t>
            </a:r>
          </a:p>
        </p:txBody>
      </p:sp>
      <p:sp>
        <p:nvSpPr>
          <p:cNvPr id="2" name="Rectangle 1">
            <a:extLst>
              <a:ext uri="{FF2B5EF4-FFF2-40B4-BE49-F238E27FC236}">
                <a16:creationId xmlns:a16="http://schemas.microsoft.com/office/drawing/2014/main" id="{4C0FFC0B-9E51-44A4-BB52-B7A04D4D4401}"/>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Fact Finding Tools :</a:t>
            </a:r>
          </a:p>
        </p:txBody>
      </p:sp>
      <p:sp>
        <p:nvSpPr>
          <p:cNvPr id="3" name="Rectangle 2">
            <a:extLst>
              <a:ext uri="{FF2B5EF4-FFF2-40B4-BE49-F238E27FC236}">
                <a16:creationId xmlns:a16="http://schemas.microsoft.com/office/drawing/2014/main" id="{2D875E53-5012-4D23-904B-DAA19A524FF1}"/>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EC837A5F-6895-451F-9209-2D502BC39D29}"/>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F5BDE698-9E7F-4187-BCE2-35F8C2E84D17}"/>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C7002323-1473-4D68-9CF8-6B4016692A2B}"/>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20</a:t>
            </a:r>
          </a:p>
        </p:txBody>
      </p:sp>
      <p:sp>
        <p:nvSpPr>
          <p:cNvPr id="7" name="Rectangle 6">
            <a:extLst>
              <a:ext uri="{FF2B5EF4-FFF2-40B4-BE49-F238E27FC236}">
                <a16:creationId xmlns:a16="http://schemas.microsoft.com/office/drawing/2014/main" id="{47F17ADD-809C-4530-9B02-ECEEC04E65F3}"/>
              </a:ext>
            </a:extLst>
          </p:cNvPr>
          <p:cNvSpPr>
            <a:spLocks noGrp="1"/>
          </p:cNvSpPr>
          <p:nvPr/>
        </p:nvSpPr>
        <p:spPr>
          <a:xfrm>
            <a:off x="552450" y="1695450"/>
            <a:ext cx="5438775" cy="2114550"/>
          </a:xfrm>
          <a:prstGeom prst="rect">
            <a:avLst/>
          </a:prstGeom>
          <a:solidFill>
            <a:srgbClr val="FFFFFF"/>
          </a:solidFill>
          <a:ln w="9525">
            <a:solidFill>
              <a:srgbClr val="E4D9D6"/>
            </a:solidFill>
          </a:ln>
        </p:spPr>
      </p:sp>
      <p:sp>
        <p:nvSpPr>
          <p:cNvPr id="8" name="Rectangle 7">
            <a:extLst>
              <a:ext uri="{FF2B5EF4-FFF2-40B4-BE49-F238E27FC236}">
                <a16:creationId xmlns:a16="http://schemas.microsoft.com/office/drawing/2014/main" id="{0E49AB19-A9C0-47F9-9B1A-FCE395C5AE6D}"/>
              </a:ext>
            </a:extLst>
          </p:cNvPr>
          <p:cNvSpPr>
            <a:spLocks noGrp="1"/>
          </p:cNvSpPr>
          <p:nvPr/>
        </p:nvSpPr>
        <p:spPr>
          <a:xfrm>
            <a:off x="819150" y="1924050"/>
            <a:ext cx="4905375"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Review of Written Documents:</a:t>
            </a:r>
          </a:p>
        </p:txBody>
      </p:sp>
      <p:sp>
        <p:nvSpPr>
          <p:cNvPr id="9" name="Rectangle 8">
            <a:extLst>
              <a:ext uri="{FF2B5EF4-FFF2-40B4-BE49-F238E27FC236}">
                <a16:creationId xmlns:a16="http://schemas.microsoft.com/office/drawing/2014/main" id="{D7CE4024-C30D-4778-9D0B-C45D01908B1F}"/>
              </a:ext>
            </a:extLst>
          </p:cNvPr>
          <p:cNvSpPr>
            <a:spLocks noGrp="1"/>
          </p:cNvSpPr>
          <p:nvPr/>
        </p:nvSpPr>
        <p:spPr>
          <a:xfrm>
            <a:off x="819150" y="2667000"/>
            <a:ext cx="4905375" cy="9334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This involves examining official manuals, forms, and reports to understand how the system is designed to work.</a:t>
            </a:r>
          </a:p>
        </p:txBody>
      </p:sp>
      <p:sp>
        <p:nvSpPr>
          <p:cNvPr id="10" name="Rectangle 9">
            <a:extLst>
              <a:ext uri="{FF2B5EF4-FFF2-40B4-BE49-F238E27FC236}">
                <a16:creationId xmlns:a16="http://schemas.microsoft.com/office/drawing/2014/main" id="{4887F7B8-508D-4B9E-9DC3-23631B614C06}"/>
              </a:ext>
            </a:extLst>
          </p:cNvPr>
          <p:cNvSpPr>
            <a:spLocks noGrp="1"/>
          </p:cNvSpPr>
          <p:nvPr/>
        </p:nvSpPr>
        <p:spPr>
          <a:xfrm>
            <a:off x="6200775" y="1695450"/>
            <a:ext cx="5438775" cy="2114550"/>
          </a:xfrm>
          <a:prstGeom prst="rect">
            <a:avLst/>
          </a:prstGeom>
          <a:solidFill>
            <a:srgbClr val="FFFFFF"/>
          </a:solidFill>
          <a:ln w="9525">
            <a:solidFill>
              <a:srgbClr val="E4D9D6"/>
            </a:solidFill>
          </a:ln>
        </p:spPr>
      </p:sp>
      <p:sp>
        <p:nvSpPr>
          <p:cNvPr id="11" name="Rectangle 10">
            <a:extLst>
              <a:ext uri="{FF2B5EF4-FFF2-40B4-BE49-F238E27FC236}">
                <a16:creationId xmlns:a16="http://schemas.microsoft.com/office/drawing/2014/main" id="{D9C19B3F-AD8B-458E-8C1A-F021F4043FEB}"/>
              </a:ext>
            </a:extLst>
          </p:cNvPr>
          <p:cNvSpPr>
            <a:spLocks noGrp="1"/>
          </p:cNvSpPr>
          <p:nvPr/>
        </p:nvSpPr>
        <p:spPr>
          <a:xfrm>
            <a:off x="6467475" y="1924050"/>
            <a:ext cx="4905375"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On-site Observations:</a:t>
            </a:r>
          </a:p>
        </p:txBody>
      </p:sp>
      <p:sp>
        <p:nvSpPr>
          <p:cNvPr id="12" name="Rectangle 11">
            <a:extLst>
              <a:ext uri="{FF2B5EF4-FFF2-40B4-BE49-F238E27FC236}">
                <a16:creationId xmlns:a16="http://schemas.microsoft.com/office/drawing/2014/main" id="{30B51B58-D1E2-4B1D-8918-B1723882DE78}"/>
              </a:ext>
            </a:extLst>
          </p:cNvPr>
          <p:cNvSpPr>
            <a:spLocks noGrp="1"/>
          </p:cNvSpPr>
          <p:nvPr/>
        </p:nvSpPr>
        <p:spPr>
          <a:xfrm>
            <a:off x="6467475" y="2667000"/>
            <a:ext cx="4905375" cy="9334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The analyst watches the work process in person to see how tasks are actually performed in the real-world environment.</a:t>
            </a:r>
          </a:p>
        </p:txBody>
      </p:sp>
      <p:sp>
        <p:nvSpPr>
          <p:cNvPr id="13" name="Rectangle 12">
            <a:extLst>
              <a:ext uri="{FF2B5EF4-FFF2-40B4-BE49-F238E27FC236}">
                <a16:creationId xmlns:a16="http://schemas.microsoft.com/office/drawing/2014/main" id="{814F9254-5510-4E3F-A859-2E738728313B}"/>
              </a:ext>
            </a:extLst>
          </p:cNvPr>
          <p:cNvSpPr>
            <a:spLocks noGrp="1"/>
          </p:cNvSpPr>
          <p:nvPr/>
        </p:nvSpPr>
        <p:spPr>
          <a:xfrm>
            <a:off x="552450" y="4019550"/>
            <a:ext cx="5438775" cy="2114550"/>
          </a:xfrm>
          <a:prstGeom prst="rect">
            <a:avLst/>
          </a:prstGeom>
          <a:solidFill>
            <a:srgbClr val="FFFFFF"/>
          </a:solidFill>
          <a:ln w="9525">
            <a:solidFill>
              <a:srgbClr val="E4D9D6"/>
            </a:solidFill>
          </a:ln>
        </p:spPr>
      </p:sp>
      <p:sp>
        <p:nvSpPr>
          <p:cNvPr id="14" name="Rectangle 13">
            <a:extLst>
              <a:ext uri="{FF2B5EF4-FFF2-40B4-BE49-F238E27FC236}">
                <a16:creationId xmlns:a16="http://schemas.microsoft.com/office/drawing/2014/main" id="{8EE419FA-5018-46C8-8602-5E5DD4398719}"/>
              </a:ext>
            </a:extLst>
          </p:cNvPr>
          <p:cNvSpPr>
            <a:spLocks noGrp="1"/>
          </p:cNvSpPr>
          <p:nvPr/>
        </p:nvSpPr>
        <p:spPr>
          <a:xfrm>
            <a:off x="819150" y="4248150"/>
            <a:ext cx="4905375"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Interviews:</a:t>
            </a:r>
          </a:p>
        </p:txBody>
      </p:sp>
      <p:sp>
        <p:nvSpPr>
          <p:cNvPr id="15" name="Rectangle 14">
            <a:extLst>
              <a:ext uri="{FF2B5EF4-FFF2-40B4-BE49-F238E27FC236}">
                <a16:creationId xmlns:a16="http://schemas.microsoft.com/office/drawing/2014/main" id="{37381394-E140-405A-8C4F-BB087AD82D85}"/>
              </a:ext>
            </a:extLst>
          </p:cNvPr>
          <p:cNvSpPr>
            <a:spLocks noGrp="1"/>
          </p:cNvSpPr>
          <p:nvPr/>
        </p:nvSpPr>
        <p:spPr>
          <a:xfrm>
            <a:off x="819150" y="4991100"/>
            <a:ext cx="4905375" cy="9334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Direct conversations with users and staff to gather their specific requirements, opinions, and feelings about the system.</a:t>
            </a:r>
          </a:p>
        </p:txBody>
      </p:sp>
      <p:sp>
        <p:nvSpPr>
          <p:cNvPr id="16" name="Rectangle 15">
            <a:extLst>
              <a:ext uri="{FF2B5EF4-FFF2-40B4-BE49-F238E27FC236}">
                <a16:creationId xmlns:a16="http://schemas.microsoft.com/office/drawing/2014/main" id="{648B347F-8824-4F95-B86C-A0CBC2440DE4}"/>
              </a:ext>
            </a:extLst>
          </p:cNvPr>
          <p:cNvSpPr>
            <a:spLocks noGrp="1"/>
          </p:cNvSpPr>
          <p:nvPr/>
        </p:nvSpPr>
        <p:spPr>
          <a:xfrm>
            <a:off x="6200775" y="4019550"/>
            <a:ext cx="5438775" cy="2114550"/>
          </a:xfrm>
          <a:prstGeom prst="rect">
            <a:avLst/>
          </a:prstGeom>
          <a:solidFill>
            <a:srgbClr val="FFFFFF"/>
          </a:solidFill>
          <a:ln w="9525">
            <a:solidFill>
              <a:srgbClr val="E4D9D6"/>
            </a:solidFill>
          </a:ln>
        </p:spPr>
      </p:sp>
      <p:sp>
        <p:nvSpPr>
          <p:cNvPr id="17" name="Rectangle 16">
            <a:extLst>
              <a:ext uri="{FF2B5EF4-FFF2-40B4-BE49-F238E27FC236}">
                <a16:creationId xmlns:a16="http://schemas.microsoft.com/office/drawing/2014/main" id="{1D45557E-1DED-45EE-BE05-396E0DFBF8F5}"/>
              </a:ext>
            </a:extLst>
          </p:cNvPr>
          <p:cNvSpPr>
            <a:spLocks noGrp="1"/>
          </p:cNvSpPr>
          <p:nvPr/>
        </p:nvSpPr>
        <p:spPr>
          <a:xfrm>
            <a:off x="6467475" y="4248150"/>
            <a:ext cx="4905375"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Questionnaires:</a:t>
            </a:r>
          </a:p>
        </p:txBody>
      </p:sp>
      <p:sp>
        <p:nvSpPr>
          <p:cNvPr id="18" name="Rectangle 17">
            <a:extLst>
              <a:ext uri="{FF2B5EF4-FFF2-40B4-BE49-F238E27FC236}">
                <a16:creationId xmlns:a16="http://schemas.microsoft.com/office/drawing/2014/main" id="{10D31463-5F87-4A92-BFE7-EA9D83B429F4}"/>
              </a:ext>
            </a:extLst>
          </p:cNvPr>
          <p:cNvSpPr>
            <a:spLocks noGrp="1"/>
          </p:cNvSpPr>
          <p:nvPr/>
        </p:nvSpPr>
        <p:spPr>
          <a:xfrm>
            <a:off x="6467475" y="4991100"/>
            <a:ext cx="4905375" cy="9334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A tool used to collect information from a large group of people efficiently</a:t>
            </a:r>
          </a:p>
        </p:txBody>
      </p:sp>
    </p:spTree>
    <p:extLst>
      <p:ext uri="{BB962C8B-B14F-4D97-AF65-F5344CB8AC3E}">
        <p14:creationId xmlns:p14="http://schemas.microsoft.com/office/powerpoint/2010/main" val="889107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21245B9-2A8E-4D95-AABE-3EC9C30DF1CC}"/>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STRUCTURED ANALYSIS</a:t>
            </a:r>
          </a:p>
        </p:txBody>
      </p:sp>
      <p:sp>
        <p:nvSpPr>
          <p:cNvPr id="2" name="Rectangle 1">
            <a:extLst>
              <a:ext uri="{FF2B5EF4-FFF2-40B4-BE49-F238E27FC236}">
                <a16:creationId xmlns:a16="http://schemas.microsoft.com/office/drawing/2014/main" id="{106DF4CD-26C3-49BE-A92D-6CA5295C473D}"/>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the tools of structured analysis</a:t>
            </a:r>
          </a:p>
        </p:txBody>
      </p:sp>
      <p:sp>
        <p:nvSpPr>
          <p:cNvPr id="3" name="Rectangle 2">
            <a:extLst>
              <a:ext uri="{FF2B5EF4-FFF2-40B4-BE49-F238E27FC236}">
                <a16:creationId xmlns:a16="http://schemas.microsoft.com/office/drawing/2014/main" id="{6C228228-CCE4-43A4-AE36-9676B152890F}"/>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1C9224AC-59C8-4FB4-B562-BCF8E4BA70BB}"/>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1BDCD6D4-5009-4D62-9AF3-C7E33DA1B3E8}"/>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47AF3612-8CA3-483D-90D9-DC01428E10AC}"/>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21</a:t>
            </a:r>
          </a:p>
        </p:txBody>
      </p:sp>
      <p:sp>
        <p:nvSpPr>
          <p:cNvPr id="7" name="Rectangle 6">
            <a:extLst>
              <a:ext uri="{FF2B5EF4-FFF2-40B4-BE49-F238E27FC236}">
                <a16:creationId xmlns:a16="http://schemas.microsoft.com/office/drawing/2014/main" id="{C26D5689-B083-4AA1-85AC-6202FDF82CF8}"/>
              </a:ext>
            </a:extLst>
          </p:cNvPr>
          <p:cNvSpPr>
            <a:spLocks noGrp="1"/>
          </p:cNvSpPr>
          <p:nvPr/>
        </p:nvSpPr>
        <p:spPr>
          <a:xfrm>
            <a:off x="647700" y="1800225"/>
            <a:ext cx="3048000"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Review of Written Documents:</a:t>
            </a:r>
          </a:p>
        </p:txBody>
      </p:sp>
      <p:sp>
        <p:nvSpPr>
          <p:cNvPr id="8" name="Rectangle 7">
            <a:extLst>
              <a:ext uri="{FF2B5EF4-FFF2-40B4-BE49-F238E27FC236}">
                <a16:creationId xmlns:a16="http://schemas.microsoft.com/office/drawing/2014/main" id="{E5453B9D-B869-4E5F-91D7-3839211B2EA8}"/>
              </a:ext>
            </a:extLst>
          </p:cNvPr>
          <p:cNvSpPr>
            <a:spLocks noGrp="1"/>
          </p:cNvSpPr>
          <p:nvPr/>
        </p:nvSpPr>
        <p:spPr>
          <a:xfrm>
            <a:off x="3933825" y="1800225"/>
            <a:ext cx="7648575"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Examining existing manuals, forms, and reports to understand how the system is currently designed to work.</a:t>
            </a:r>
          </a:p>
        </p:txBody>
      </p:sp>
      <p:sp>
        <p:nvSpPr>
          <p:cNvPr id="9" name="Rectangle 8">
            <a:extLst>
              <a:ext uri="{FF2B5EF4-FFF2-40B4-BE49-F238E27FC236}">
                <a16:creationId xmlns:a16="http://schemas.microsoft.com/office/drawing/2014/main" id="{B5A30832-7764-49A0-B56E-5929EE10ADBE}"/>
              </a:ext>
            </a:extLst>
          </p:cNvPr>
          <p:cNvSpPr>
            <a:spLocks noGrp="1"/>
          </p:cNvSpPr>
          <p:nvPr/>
        </p:nvSpPr>
        <p:spPr>
          <a:xfrm>
            <a:off x="552450" y="2533650"/>
            <a:ext cx="11068050" cy="9525"/>
          </a:xfrm>
          <a:prstGeom prst="rect">
            <a:avLst/>
          </a:prstGeom>
          <a:solidFill>
            <a:srgbClr val="E4D9D6"/>
          </a:solidFill>
          <a:ln w="0">
            <a:noFill/>
          </a:ln>
        </p:spPr>
      </p:sp>
      <p:sp>
        <p:nvSpPr>
          <p:cNvPr id="10" name="Rectangle 9">
            <a:extLst>
              <a:ext uri="{FF2B5EF4-FFF2-40B4-BE49-F238E27FC236}">
                <a16:creationId xmlns:a16="http://schemas.microsoft.com/office/drawing/2014/main" id="{9EB91BED-83A5-4E31-A8F1-5110B8160F98}"/>
              </a:ext>
            </a:extLst>
          </p:cNvPr>
          <p:cNvSpPr>
            <a:spLocks noGrp="1"/>
          </p:cNvSpPr>
          <p:nvPr/>
        </p:nvSpPr>
        <p:spPr>
          <a:xfrm>
            <a:off x="647700" y="2686050"/>
            <a:ext cx="3048000"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On-site Observations:</a:t>
            </a:r>
          </a:p>
        </p:txBody>
      </p:sp>
      <p:sp>
        <p:nvSpPr>
          <p:cNvPr id="11" name="Rectangle 10">
            <a:extLst>
              <a:ext uri="{FF2B5EF4-FFF2-40B4-BE49-F238E27FC236}">
                <a16:creationId xmlns:a16="http://schemas.microsoft.com/office/drawing/2014/main" id="{6684C946-B1CB-4C27-A3A4-9316857D2F43}"/>
              </a:ext>
            </a:extLst>
          </p:cNvPr>
          <p:cNvSpPr>
            <a:spLocks noGrp="1"/>
          </p:cNvSpPr>
          <p:nvPr/>
        </p:nvSpPr>
        <p:spPr>
          <a:xfrm>
            <a:off x="3933825" y="2686050"/>
            <a:ext cx="7648575"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Watching the physical processes and person-to-person interactions to see how work is actually handled in the environment.</a:t>
            </a:r>
          </a:p>
        </p:txBody>
      </p:sp>
      <p:sp>
        <p:nvSpPr>
          <p:cNvPr id="12" name="Rectangle 11">
            <a:extLst>
              <a:ext uri="{FF2B5EF4-FFF2-40B4-BE49-F238E27FC236}">
                <a16:creationId xmlns:a16="http://schemas.microsoft.com/office/drawing/2014/main" id="{3820E131-12CD-4FB3-819D-8D1A8166E819}"/>
              </a:ext>
            </a:extLst>
          </p:cNvPr>
          <p:cNvSpPr>
            <a:spLocks noGrp="1"/>
          </p:cNvSpPr>
          <p:nvPr/>
        </p:nvSpPr>
        <p:spPr>
          <a:xfrm>
            <a:off x="552450" y="3419475"/>
            <a:ext cx="11068050" cy="9525"/>
          </a:xfrm>
          <a:prstGeom prst="rect">
            <a:avLst/>
          </a:prstGeom>
          <a:solidFill>
            <a:srgbClr val="E4D9D6"/>
          </a:solidFill>
          <a:ln w="0">
            <a:noFill/>
          </a:ln>
        </p:spPr>
      </p:sp>
      <p:sp>
        <p:nvSpPr>
          <p:cNvPr id="13" name="Rectangle 12">
            <a:extLst>
              <a:ext uri="{FF2B5EF4-FFF2-40B4-BE49-F238E27FC236}">
                <a16:creationId xmlns:a16="http://schemas.microsoft.com/office/drawing/2014/main" id="{375FCFD6-7D2D-452D-AE1D-F10B9C751477}"/>
              </a:ext>
            </a:extLst>
          </p:cNvPr>
          <p:cNvSpPr>
            <a:spLocks noGrp="1"/>
          </p:cNvSpPr>
          <p:nvPr/>
        </p:nvSpPr>
        <p:spPr>
          <a:xfrm>
            <a:off x="647700" y="3571875"/>
            <a:ext cx="3048000"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Interviews:</a:t>
            </a:r>
          </a:p>
        </p:txBody>
      </p:sp>
      <p:sp>
        <p:nvSpPr>
          <p:cNvPr id="14" name="Rectangle 13">
            <a:extLst>
              <a:ext uri="{FF2B5EF4-FFF2-40B4-BE49-F238E27FC236}">
                <a16:creationId xmlns:a16="http://schemas.microsoft.com/office/drawing/2014/main" id="{B7B64450-264A-42BD-9E0F-8CC158024441}"/>
              </a:ext>
            </a:extLst>
          </p:cNvPr>
          <p:cNvSpPr>
            <a:spLocks noGrp="1"/>
          </p:cNvSpPr>
          <p:nvPr/>
        </p:nvSpPr>
        <p:spPr>
          <a:xfrm>
            <a:off x="3933825" y="3571875"/>
            <a:ext cx="7648575"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Direct communication with users to gather specific requirements, feelings, and opinions.</a:t>
            </a:r>
          </a:p>
        </p:txBody>
      </p:sp>
      <p:sp>
        <p:nvSpPr>
          <p:cNvPr id="15" name="Rectangle 14">
            <a:extLst>
              <a:ext uri="{FF2B5EF4-FFF2-40B4-BE49-F238E27FC236}">
                <a16:creationId xmlns:a16="http://schemas.microsoft.com/office/drawing/2014/main" id="{3D8086FE-C6E2-4DB8-BDC1-7D40FAFE70FF}"/>
              </a:ext>
            </a:extLst>
          </p:cNvPr>
          <p:cNvSpPr>
            <a:spLocks noGrp="1"/>
          </p:cNvSpPr>
          <p:nvPr/>
        </p:nvSpPr>
        <p:spPr>
          <a:xfrm>
            <a:off x="552450" y="4305300"/>
            <a:ext cx="11068050" cy="9525"/>
          </a:xfrm>
          <a:prstGeom prst="rect">
            <a:avLst/>
          </a:prstGeom>
          <a:solidFill>
            <a:srgbClr val="E4D9D6"/>
          </a:solidFill>
          <a:ln w="0">
            <a:noFill/>
          </a:ln>
        </p:spPr>
      </p:sp>
      <p:sp>
        <p:nvSpPr>
          <p:cNvPr id="16" name="Rectangle 15">
            <a:extLst>
              <a:ext uri="{FF2B5EF4-FFF2-40B4-BE49-F238E27FC236}">
                <a16:creationId xmlns:a16="http://schemas.microsoft.com/office/drawing/2014/main" id="{2D07C070-5E9C-47EF-B0FA-BFA61B77094A}"/>
              </a:ext>
            </a:extLst>
          </p:cNvPr>
          <p:cNvSpPr>
            <a:spLocks noGrp="1"/>
          </p:cNvSpPr>
          <p:nvPr/>
        </p:nvSpPr>
        <p:spPr>
          <a:xfrm>
            <a:off x="647700" y="4457700"/>
            <a:ext cx="3048000"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Questionnaires:</a:t>
            </a:r>
          </a:p>
        </p:txBody>
      </p:sp>
      <p:sp>
        <p:nvSpPr>
          <p:cNvPr id="17" name="Rectangle 16">
            <a:extLst>
              <a:ext uri="{FF2B5EF4-FFF2-40B4-BE49-F238E27FC236}">
                <a16:creationId xmlns:a16="http://schemas.microsoft.com/office/drawing/2014/main" id="{F26866A7-4634-4F0E-B178-6F54B7DB70EA}"/>
              </a:ext>
            </a:extLst>
          </p:cNvPr>
          <p:cNvSpPr>
            <a:spLocks noGrp="1"/>
          </p:cNvSpPr>
          <p:nvPr/>
        </p:nvSpPr>
        <p:spPr>
          <a:xfrm>
            <a:off x="3933825" y="4457700"/>
            <a:ext cx="7648575"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Distributing forms to collect data from a large group of people efficiently.</a:t>
            </a:r>
          </a:p>
        </p:txBody>
      </p:sp>
      <p:sp>
        <p:nvSpPr>
          <p:cNvPr id="18" name="Rectangle 17">
            <a:extLst>
              <a:ext uri="{FF2B5EF4-FFF2-40B4-BE49-F238E27FC236}">
                <a16:creationId xmlns:a16="http://schemas.microsoft.com/office/drawing/2014/main" id="{A3D81ED8-06C4-4919-A791-A9CAB1E2C24F}"/>
              </a:ext>
            </a:extLst>
          </p:cNvPr>
          <p:cNvSpPr>
            <a:spLocks noGrp="1"/>
          </p:cNvSpPr>
          <p:nvPr/>
        </p:nvSpPr>
        <p:spPr>
          <a:xfrm>
            <a:off x="552450" y="5191125"/>
            <a:ext cx="11068050" cy="9525"/>
          </a:xfrm>
          <a:prstGeom prst="rect">
            <a:avLst/>
          </a:prstGeom>
          <a:solidFill>
            <a:srgbClr val="E4D9D6"/>
          </a:solidFill>
          <a:ln w="0">
            <a:noFill/>
          </a:ln>
        </p:spPr>
      </p:sp>
      <p:sp>
        <p:nvSpPr>
          <p:cNvPr id="19" name="Rectangle 18">
            <a:extLst>
              <a:ext uri="{FF2B5EF4-FFF2-40B4-BE49-F238E27FC236}">
                <a16:creationId xmlns:a16="http://schemas.microsoft.com/office/drawing/2014/main" id="{9B8E537C-8C3F-472C-9C4C-711ADEC21A23}"/>
              </a:ext>
            </a:extLst>
          </p:cNvPr>
          <p:cNvSpPr>
            <a:spLocks noGrp="1"/>
          </p:cNvSpPr>
          <p:nvPr/>
        </p:nvSpPr>
        <p:spPr>
          <a:xfrm>
            <a:off x="647700" y="5343525"/>
            <a:ext cx="3048000"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Organization Charts:</a:t>
            </a:r>
          </a:p>
        </p:txBody>
      </p:sp>
      <p:sp>
        <p:nvSpPr>
          <p:cNvPr id="20" name="Rectangle 19">
            <a:extLst>
              <a:ext uri="{FF2B5EF4-FFF2-40B4-BE49-F238E27FC236}">
                <a16:creationId xmlns:a16="http://schemas.microsoft.com/office/drawing/2014/main" id="{0B43B110-6C74-4A77-8BD4-5691BB57BA90}"/>
              </a:ext>
            </a:extLst>
          </p:cNvPr>
          <p:cNvSpPr>
            <a:spLocks noGrp="1"/>
          </p:cNvSpPr>
          <p:nvPr/>
        </p:nvSpPr>
        <p:spPr>
          <a:xfrm>
            <a:off x="3933825" y="5343525"/>
            <a:ext cx="7648575"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Preparing a visual chart that lists functions and the people who perform them to understand the work environment and reporting structure.</a:t>
            </a:r>
          </a:p>
        </p:txBody>
      </p:sp>
    </p:spTree>
    <p:extLst>
      <p:ext uri="{BB962C8B-B14F-4D97-AF65-F5344CB8AC3E}">
        <p14:creationId xmlns:p14="http://schemas.microsoft.com/office/powerpoint/2010/main" val="1598499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6632DB8-552C-467C-B2F1-9C6BF5943792}"/>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FEASIBILITY STUDY</a:t>
            </a:r>
          </a:p>
        </p:txBody>
      </p:sp>
      <p:sp>
        <p:nvSpPr>
          <p:cNvPr id="2" name="Rectangle 1">
            <a:extLst>
              <a:ext uri="{FF2B5EF4-FFF2-40B4-BE49-F238E27FC236}">
                <a16:creationId xmlns:a16="http://schemas.microsoft.com/office/drawing/2014/main" id="{C37B17B0-14E2-425F-9E6A-5390A1336CC6}"/>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Feasibility study:</a:t>
            </a:r>
          </a:p>
        </p:txBody>
      </p:sp>
      <p:sp>
        <p:nvSpPr>
          <p:cNvPr id="3" name="Rectangle 2">
            <a:extLst>
              <a:ext uri="{FF2B5EF4-FFF2-40B4-BE49-F238E27FC236}">
                <a16:creationId xmlns:a16="http://schemas.microsoft.com/office/drawing/2014/main" id="{5C66DC15-3302-49AF-A22F-8B09C36BC935}"/>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B89F9879-A5C2-406C-A567-6D53811E9FA9}"/>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0E200C57-5CE7-434E-9CFB-337079D2C82B}"/>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BE0DB2E8-69B0-416F-A038-6770869B1269}"/>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22</a:t>
            </a:r>
          </a:p>
        </p:txBody>
      </p:sp>
      <p:sp>
        <p:nvSpPr>
          <p:cNvPr id="7" name="Rectangle 6">
            <a:extLst>
              <a:ext uri="{FF2B5EF4-FFF2-40B4-BE49-F238E27FC236}">
                <a16:creationId xmlns:a16="http://schemas.microsoft.com/office/drawing/2014/main" id="{32614E06-BCBD-4FF8-832C-E0A4C6F688E4}"/>
              </a:ext>
            </a:extLst>
          </p:cNvPr>
          <p:cNvSpPr>
            <a:spLocks noGrp="1"/>
          </p:cNvSpPr>
          <p:nvPr/>
        </p:nvSpPr>
        <p:spPr>
          <a:xfrm>
            <a:off x="647700" y="1800225"/>
            <a:ext cx="3095625"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Technical Feasibility</a:t>
            </a:r>
          </a:p>
        </p:txBody>
      </p:sp>
      <p:sp>
        <p:nvSpPr>
          <p:cNvPr id="8" name="Rectangle 7">
            <a:extLst>
              <a:ext uri="{FF2B5EF4-FFF2-40B4-BE49-F238E27FC236}">
                <a16:creationId xmlns:a16="http://schemas.microsoft.com/office/drawing/2014/main" id="{8070D2DE-0C17-416C-A423-DD166932B58E}"/>
              </a:ext>
            </a:extLst>
          </p:cNvPr>
          <p:cNvSpPr>
            <a:spLocks noGrp="1"/>
          </p:cNvSpPr>
          <p:nvPr/>
        </p:nvSpPr>
        <p:spPr>
          <a:xfrm>
            <a:off x="3981450" y="1800225"/>
            <a:ext cx="7600950"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Checks whether the required hardware, software, and technology are available and usable.</a:t>
            </a:r>
          </a:p>
        </p:txBody>
      </p:sp>
      <p:sp>
        <p:nvSpPr>
          <p:cNvPr id="9" name="Rectangle 8">
            <a:extLst>
              <a:ext uri="{FF2B5EF4-FFF2-40B4-BE49-F238E27FC236}">
                <a16:creationId xmlns:a16="http://schemas.microsoft.com/office/drawing/2014/main" id="{697C4C0F-FB12-4B49-A11F-9246E547489B}"/>
              </a:ext>
            </a:extLst>
          </p:cNvPr>
          <p:cNvSpPr>
            <a:spLocks noGrp="1"/>
          </p:cNvSpPr>
          <p:nvPr/>
        </p:nvSpPr>
        <p:spPr>
          <a:xfrm>
            <a:off x="552450" y="2533650"/>
            <a:ext cx="11068050" cy="9525"/>
          </a:xfrm>
          <a:prstGeom prst="rect">
            <a:avLst/>
          </a:prstGeom>
          <a:solidFill>
            <a:srgbClr val="E4D9D6"/>
          </a:solidFill>
          <a:ln w="0">
            <a:noFill/>
          </a:ln>
        </p:spPr>
      </p:sp>
      <p:sp>
        <p:nvSpPr>
          <p:cNvPr id="10" name="Rectangle 9">
            <a:extLst>
              <a:ext uri="{FF2B5EF4-FFF2-40B4-BE49-F238E27FC236}">
                <a16:creationId xmlns:a16="http://schemas.microsoft.com/office/drawing/2014/main" id="{7920D0AA-6864-4FEF-B3F7-5405B9D476FA}"/>
              </a:ext>
            </a:extLst>
          </p:cNvPr>
          <p:cNvSpPr>
            <a:spLocks noGrp="1"/>
          </p:cNvSpPr>
          <p:nvPr/>
        </p:nvSpPr>
        <p:spPr>
          <a:xfrm>
            <a:off x="647700" y="2686050"/>
            <a:ext cx="3095625"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Economic Feasibility</a:t>
            </a:r>
          </a:p>
        </p:txBody>
      </p:sp>
      <p:sp>
        <p:nvSpPr>
          <p:cNvPr id="11" name="Rectangle 10">
            <a:extLst>
              <a:ext uri="{FF2B5EF4-FFF2-40B4-BE49-F238E27FC236}">
                <a16:creationId xmlns:a16="http://schemas.microsoft.com/office/drawing/2014/main" id="{364B61D6-A77E-470E-BD84-807CA9D7F78A}"/>
              </a:ext>
            </a:extLst>
          </p:cNvPr>
          <p:cNvSpPr>
            <a:spLocks noGrp="1"/>
          </p:cNvSpPr>
          <p:nvPr/>
        </p:nvSpPr>
        <p:spPr>
          <a:xfrm>
            <a:off x="3981450" y="2686050"/>
            <a:ext cx="7600950"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Examines whether the benefits of the system are greater than its costs.</a:t>
            </a:r>
          </a:p>
        </p:txBody>
      </p:sp>
      <p:sp>
        <p:nvSpPr>
          <p:cNvPr id="12" name="Rectangle 11">
            <a:extLst>
              <a:ext uri="{FF2B5EF4-FFF2-40B4-BE49-F238E27FC236}">
                <a16:creationId xmlns:a16="http://schemas.microsoft.com/office/drawing/2014/main" id="{3D94C3C4-D57E-44DA-8F0D-D494F93BF279}"/>
              </a:ext>
            </a:extLst>
          </p:cNvPr>
          <p:cNvSpPr>
            <a:spLocks noGrp="1"/>
          </p:cNvSpPr>
          <p:nvPr/>
        </p:nvSpPr>
        <p:spPr>
          <a:xfrm>
            <a:off x="552450" y="3419475"/>
            <a:ext cx="11068050" cy="9525"/>
          </a:xfrm>
          <a:prstGeom prst="rect">
            <a:avLst/>
          </a:prstGeom>
          <a:solidFill>
            <a:srgbClr val="E4D9D6"/>
          </a:solidFill>
          <a:ln w="0">
            <a:noFill/>
          </a:ln>
        </p:spPr>
      </p:sp>
      <p:sp>
        <p:nvSpPr>
          <p:cNvPr id="13" name="Rectangle 12">
            <a:extLst>
              <a:ext uri="{FF2B5EF4-FFF2-40B4-BE49-F238E27FC236}">
                <a16:creationId xmlns:a16="http://schemas.microsoft.com/office/drawing/2014/main" id="{A8F89DB8-744B-408B-B107-8E58D7DC8C63}"/>
              </a:ext>
            </a:extLst>
          </p:cNvPr>
          <p:cNvSpPr>
            <a:spLocks noGrp="1"/>
          </p:cNvSpPr>
          <p:nvPr/>
        </p:nvSpPr>
        <p:spPr>
          <a:xfrm>
            <a:off x="647700" y="3571875"/>
            <a:ext cx="3095625"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Operational Feasibility</a:t>
            </a:r>
          </a:p>
        </p:txBody>
      </p:sp>
      <p:sp>
        <p:nvSpPr>
          <p:cNvPr id="14" name="Rectangle 13">
            <a:extLst>
              <a:ext uri="{FF2B5EF4-FFF2-40B4-BE49-F238E27FC236}">
                <a16:creationId xmlns:a16="http://schemas.microsoft.com/office/drawing/2014/main" id="{5F820231-E3DE-4EEA-A64B-626EFC512096}"/>
              </a:ext>
            </a:extLst>
          </p:cNvPr>
          <p:cNvSpPr>
            <a:spLocks noGrp="1"/>
          </p:cNvSpPr>
          <p:nvPr/>
        </p:nvSpPr>
        <p:spPr>
          <a:xfrm>
            <a:off x="3981450" y="3571875"/>
            <a:ext cx="7600950"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Determines whether the system will work in the organization and be accepted by users.</a:t>
            </a:r>
          </a:p>
        </p:txBody>
      </p:sp>
      <p:sp>
        <p:nvSpPr>
          <p:cNvPr id="15" name="Rectangle 14">
            <a:extLst>
              <a:ext uri="{FF2B5EF4-FFF2-40B4-BE49-F238E27FC236}">
                <a16:creationId xmlns:a16="http://schemas.microsoft.com/office/drawing/2014/main" id="{22F3D7C4-3548-4A19-8ABB-3143EE7F3E16}"/>
              </a:ext>
            </a:extLst>
          </p:cNvPr>
          <p:cNvSpPr>
            <a:spLocks noGrp="1"/>
          </p:cNvSpPr>
          <p:nvPr/>
        </p:nvSpPr>
        <p:spPr>
          <a:xfrm>
            <a:off x="552450" y="4305300"/>
            <a:ext cx="11068050" cy="9525"/>
          </a:xfrm>
          <a:prstGeom prst="rect">
            <a:avLst/>
          </a:prstGeom>
          <a:solidFill>
            <a:srgbClr val="E4D9D6"/>
          </a:solidFill>
          <a:ln w="0">
            <a:noFill/>
          </a:ln>
        </p:spPr>
      </p:sp>
      <p:sp>
        <p:nvSpPr>
          <p:cNvPr id="16" name="Rectangle 15">
            <a:extLst>
              <a:ext uri="{FF2B5EF4-FFF2-40B4-BE49-F238E27FC236}">
                <a16:creationId xmlns:a16="http://schemas.microsoft.com/office/drawing/2014/main" id="{6C02E102-0E57-42D2-B60D-E23EB4ED25C1}"/>
              </a:ext>
            </a:extLst>
          </p:cNvPr>
          <p:cNvSpPr>
            <a:spLocks noGrp="1"/>
          </p:cNvSpPr>
          <p:nvPr/>
        </p:nvSpPr>
        <p:spPr>
          <a:xfrm>
            <a:off x="647700" y="4457700"/>
            <a:ext cx="3095625"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Schedule (Time) Feasibility</a:t>
            </a:r>
          </a:p>
        </p:txBody>
      </p:sp>
      <p:sp>
        <p:nvSpPr>
          <p:cNvPr id="17" name="Rectangle 16">
            <a:extLst>
              <a:ext uri="{FF2B5EF4-FFF2-40B4-BE49-F238E27FC236}">
                <a16:creationId xmlns:a16="http://schemas.microsoft.com/office/drawing/2014/main" id="{37BAEDCB-CE19-440D-832D-4F7132D82D2B}"/>
              </a:ext>
            </a:extLst>
          </p:cNvPr>
          <p:cNvSpPr>
            <a:spLocks noGrp="1"/>
          </p:cNvSpPr>
          <p:nvPr/>
        </p:nvSpPr>
        <p:spPr>
          <a:xfrm>
            <a:off x="3981450" y="4457700"/>
            <a:ext cx="7600950"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Evaluates whether the system can be completed within the required time frame.</a:t>
            </a:r>
          </a:p>
        </p:txBody>
      </p:sp>
      <p:sp>
        <p:nvSpPr>
          <p:cNvPr id="18" name="Rectangle 17">
            <a:extLst>
              <a:ext uri="{FF2B5EF4-FFF2-40B4-BE49-F238E27FC236}">
                <a16:creationId xmlns:a16="http://schemas.microsoft.com/office/drawing/2014/main" id="{B8733AE8-EA71-47E1-A8EE-3C038A920705}"/>
              </a:ext>
            </a:extLst>
          </p:cNvPr>
          <p:cNvSpPr>
            <a:spLocks noGrp="1"/>
          </p:cNvSpPr>
          <p:nvPr/>
        </p:nvSpPr>
        <p:spPr>
          <a:xfrm>
            <a:off x="552450" y="5191125"/>
            <a:ext cx="11068050" cy="9525"/>
          </a:xfrm>
          <a:prstGeom prst="rect">
            <a:avLst/>
          </a:prstGeom>
          <a:solidFill>
            <a:srgbClr val="E4D9D6"/>
          </a:solidFill>
          <a:ln w="0">
            <a:noFill/>
          </a:ln>
        </p:spPr>
      </p:sp>
      <p:sp>
        <p:nvSpPr>
          <p:cNvPr id="19" name="Rectangle 18">
            <a:extLst>
              <a:ext uri="{FF2B5EF4-FFF2-40B4-BE49-F238E27FC236}">
                <a16:creationId xmlns:a16="http://schemas.microsoft.com/office/drawing/2014/main" id="{9848D8FD-6BED-4A2D-ABF3-A531EB562C99}"/>
              </a:ext>
            </a:extLst>
          </p:cNvPr>
          <p:cNvSpPr>
            <a:spLocks noGrp="1"/>
          </p:cNvSpPr>
          <p:nvPr/>
        </p:nvSpPr>
        <p:spPr>
          <a:xfrm>
            <a:off x="647700" y="5343525"/>
            <a:ext cx="3095625" cy="7429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Legal Feasibility</a:t>
            </a:r>
          </a:p>
        </p:txBody>
      </p:sp>
      <p:sp>
        <p:nvSpPr>
          <p:cNvPr id="20" name="Rectangle 19">
            <a:extLst>
              <a:ext uri="{FF2B5EF4-FFF2-40B4-BE49-F238E27FC236}">
                <a16:creationId xmlns:a16="http://schemas.microsoft.com/office/drawing/2014/main" id="{B7A5CFDA-F6B9-4915-8619-CB264A9FB10E}"/>
              </a:ext>
            </a:extLst>
          </p:cNvPr>
          <p:cNvSpPr>
            <a:spLocks noGrp="1"/>
          </p:cNvSpPr>
          <p:nvPr/>
        </p:nvSpPr>
        <p:spPr>
          <a:xfrm>
            <a:off x="3981450" y="5343525"/>
            <a:ext cx="7600950" cy="742950"/>
          </a:xfrm>
          <a:prstGeom prst="rect">
            <a:avLst/>
          </a:prstGeom>
          <a:noFill/>
          <a:ln w="0">
            <a:noFill/>
          </a:ln>
        </p:spPr>
        <p:txBody>
          <a:bodyPr wrap="square" lIns="0" tIns="0" rIns="0" bIns="0" anchor="t">
            <a:noAutofit/>
          </a:bodyPr>
          <a:lstStyle/>
          <a:p>
            <a:pPr algn="l">
              <a:defRPr sz="1600">
                <a:solidFill>
                  <a:srgbClr val="2A2A2A"/>
                </a:solidFill>
                <a:latin typeface="Georgia"/>
                <a:ea typeface="Georgia"/>
                <a:cs typeface="Georgia"/>
              </a:defRPr>
            </a:pPr>
            <a:r>
              <a:rPr sz="1600">
                <a:solidFill>
                  <a:srgbClr val="2A2A2A"/>
                </a:solidFill>
                <a:latin typeface="Georgia"/>
                <a:ea typeface="Georgia"/>
                <a:cs typeface="Georgia"/>
              </a:rPr>
              <a:t>Ensures the system does not violate laws, regulations, or company policies.</a:t>
            </a:r>
          </a:p>
        </p:txBody>
      </p:sp>
    </p:spTree>
    <p:extLst>
      <p:ext uri="{BB962C8B-B14F-4D97-AF65-F5344CB8AC3E}">
        <p14:creationId xmlns:p14="http://schemas.microsoft.com/office/powerpoint/2010/main" val="2000673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34BE6526-A81A-45DA-9835-E698FE1BF0E2}"/>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COST/BENEFIT ANALYSIS</a:t>
            </a:r>
          </a:p>
        </p:txBody>
      </p:sp>
      <p:sp>
        <p:nvSpPr>
          <p:cNvPr id="2" name="Rectangle 1">
            <a:extLst>
              <a:ext uri="{FF2B5EF4-FFF2-40B4-BE49-F238E27FC236}">
                <a16:creationId xmlns:a16="http://schemas.microsoft.com/office/drawing/2014/main" id="{33F34211-1FCC-4FB4-B982-C86501AE869A}"/>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COST/BENEFIT ANALYSIS</a:t>
            </a:r>
          </a:p>
        </p:txBody>
      </p:sp>
      <p:sp>
        <p:nvSpPr>
          <p:cNvPr id="3" name="Rectangle 2">
            <a:extLst>
              <a:ext uri="{FF2B5EF4-FFF2-40B4-BE49-F238E27FC236}">
                <a16:creationId xmlns:a16="http://schemas.microsoft.com/office/drawing/2014/main" id="{7118C080-93EA-48E9-A344-3BA205CD043E}"/>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FA67B874-E13E-4BD9-9414-AAFC4B331629}"/>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D0F9E6E1-7322-4B29-B61A-A440D52C0D76}"/>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D912886C-5625-4853-BEED-51685AB17BD0}"/>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23</a:t>
            </a:r>
          </a:p>
        </p:txBody>
      </p:sp>
      <p:sp>
        <p:nvSpPr>
          <p:cNvPr id="7" name="Rectangle 6">
            <a:extLst>
              <a:ext uri="{FF2B5EF4-FFF2-40B4-BE49-F238E27FC236}">
                <a16:creationId xmlns:a16="http://schemas.microsoft.com/office/drawing/2014/main" id="{0648BD86-CA7E-4C58-A8C4-9529B0632470}"/>
              </a:ext>
            </a:extLst>
          </p:cNvPr>
          <p:cNvSpPr>
            <a:spLocks noGrp="1"/>
          </p:cNvSpPr>
          <p:nvPr/>
        </p:nvSpPr>
        <p:spPr>
          <a:xfrm>
            <a:off x="647700" y="1552575"/>
            <a:ext cx="10668000" cy="34290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Costs</a:t>
            </a:r>
          </a:p>
        </p:txBody>
      </p:sp>
      <p:sp>
        <p:nvSpPr>
          <p:cNvPr id="8" name="Rectangle 7">
            <a:extLst>
              <a:ext uri="{FF2B5EF4-FFF2-40B4-BE49-F238E27FC236}">
                <a16:creationId xmlns:a16="http://schemas.microsoft.com/office/drawing/2014/main" id="{CF6607C9-656A-418D-AD40-24133948A5EE}"/>
              </a:ext>
            </a:extLst>
          </p:cNvPr>
          <p:cNvSpPr>
            <a:spLocks noGrp="1"/>
          </p:cNvSpPr>
          <p:nvPr/>
        </p:nvSpPr>
        <p:spPr>
          <a:xfrm>
            <a:off x="552450" y="2076450"/>
            <a:ext cx="3556000" cy="1924050"/>
          </a:xfrm>
          <a:prstGeom prst="rect">
            <a:avLst/>
          </a:prstGeom>
          <a:solidFill>
            <a:srgbClr val="FFFFFF"/>
          </a:solidFill>
          <a:ln w="9525">
            <a:solidFill>
              <a:srgbClr val="E4D9D6"/>
            </a:solidFill>
          </a:ln>
        </p:spPr>
      </p:sp>
      <p:sp>
        <p:nvSpPr>
          <p:cNvPr id="9" name="Rectangle 8">
            <a:extLst>
              <a:ext uri="{FF2B5EF4-FFF2-40B4-BE49-F238E27FC236}">
                <a16:creationId xmlns:a16="http://schemas.microsoft.com/office/drawing/2014/main" id="{6EC4DB20-9EB0-4F26-A6E7-59B51A666E26}"/>
              </a:ext>
            </a:extLst>
          </p:cNvPr>
          <p:cNvSpPr>
            <a:spLocks noGrp="1"/>
          </p:cNvSpPr>
          <p:nvPr/>
        </p:nvSpPr>
        <p:spPr>
          <a:xfrm>
            <a:off x="819150" y="23050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Development Costs –</a:t>
            </a:r>
          </a:p>
        </p:txBody>
      </p:sp>
      <p:sp>
        <p:nvSpPr>
          <p:cNvPr id="10" name="Rectangle 9">
            <a:extLst>
              <a:ext uri="{FF2B5EF4-FFF2-40B4-BE49-F238E27FC236}">
                <a16:creationId xmlns:a16="http://schemas.microsoft.com/office/drawing/2014/main" id="{3664BA1C-3C65-4644-989E-546A861C94BF}"/>
              </a:ext>
            </a:extLst>
          </p:cNvPr>
          <p:cNvSpPr>
            <a:spLocks noGrp="1"/>
          </p:cNvSpPr>
          <p:nvPr/>
        </p:nvSpPr>
        <p:spPr>
          <a:xfrm>
            <a:off x="819150" y="3048000"/>
            <a:ext cx="3022600" cy="7429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Cost of designing and building the system.</a:t>
            </a:r>
          </a:p>
        </p:txBody>
      </p:sp>
      <p:sp>
        <p:nvSpPr>
          <p:cNvPr id="11" name="Rectangle 10">
            <a:extLst>
              <a:ext uri="{FF2B5EF4-FFF2-40B4-BE49-F238E27FC236}">
                <a16:creationId xmlns:a16="http://schemas.microsoft.com/office/drawing/2014/main" id="{E9C2EF96-326A-49B7-8FEF-436F52CB4180}"/>
              </a:ext>
            </a:extLst>
          </p:cNvPr>
          <p:cNvSpPr>
            <a:spLocks noGrp="1"/>
          </p:cNvSpPr>
          <p:nvPr/>
        </p:nvSpPr>
        <p:spPr>
          <a:xfrm>
            <a:off x="4318000" y="2076450"/>
            <a:ext cx="3556000" cy="1924050"/>
          </a:xfrm>
          <a:prstGeom prst="rect">
            <a:avLst/>
          </a:prstGeom>
          <a:solidFill>
            <a:srgbClr val="FFFFFF"/>
          </a:solidFill>
          <a:ln w="9525">
            <a:solidFill>
              <a:srgbClr val="E4D9D6"/>
            </a:solidFill>
          </a:ln>
        </p:spPr>
      </p:sp>
      <p:sp>
        <p:nvSpPr>
          <p:cNvPr id="12" name="Rectangle 11">
            <a:extLst>
              <a:ext uri="{FF2B5EF4-FFF2-40B4-BE49-F238E27FC236}">
                <a16:creationId xmlns:a16="http://schemas.microsoft.com/office/drawing/2014/main" id="{E6835B73-57CE-451E-BB46-7A461869C15D}"/>
              </a:ext>
            </a:extLst>
          </p:cNvPr>
          <p:cNvSpPr>
            <a:spLocks noGrp="1"/>
          </p:cNvSpPr>
          <p:nvPr/>
        </p:nvSpPr>
        <p:spPr>
          <a:xfrm>
            <a:off x="4584700" y="23050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Operating Costs –</a:t>
            </a:r>
          </a:p>
        </p:txBody>
      </p:sp>
      <p:sp>
        <p:nvSpPr>
          <p:cNvPr id="13" name="Rectangle 12">
            <a:extLst>
              <a:ext uri="{FF2B5EF4-FFF2-40B4-BE49-F238E27FC236}">
                <a16:creationId xmlns:a16="http://schemas.microsoft.com/office/drawing/2014/main" id="{9552B7E5-A16C-43C3-833F-B60ADC587699}"/>
              </a:ext>
            </a:extLst>
          </p:cNvPr>
          <p:cNvSpPr>
            <a:spLocks noGrp="1"/>
          </p:cNvSpPr>
          <p:nvPr/>
        </p:nvSpPr>
        <p:spPr>
          <a:xfrm>
            <a:off x="4584700" y="3048000"/>
            <a:ext cx="3022600" cy="7429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Day-to-day running costs of the system.</a:t>
            </a:r>
          </a:p>
        </p:txBody>
      </p:sp>
      <p:sp>
        <p:nvSpPr>
          <p:cNvPr id="14" name="Rectangle 13">
            <a:extLst>
              <a:ext uri="{FF2B5EF4-FFF2-40B4-BE49-F238E27FC236}">
                <a16:creationId xmlns:a16="http://schemas.microsoft.com/office/drawing/2014/main" id="{3D59113D-7875-4FD7-9C23-C97772405A01}"/>
              </a:ext>
            </a:extLst>
          </p:cNvPr>
          <p:cNvSpPr>
            <a:spLocks noGrp="1"/>
          </p:cNvSpPr>
          <p:nvPr/>
        </p:nvSpPr>
        <p:spPr>
          <a:xfrm>
            <a:off x="8083550" y="2076450"/>
            <a:ext cx="3556000" cy="1924050"/>
          </a:xfrm>
          <a:prstGeom prst="rect">
            <a:avLst/>
          </a:prstGeom>
          <a:solidFill>
            <a:srgbClr val="FFFFFF"/>
          </a:solidFill>
          <a:ln w="9525">
            <a:solidFill>
              <a:srgbClr val="E4D9D6"/>
            </a:solidFill>
          </a:ln>
        </p:spPr>
      </p:sp>
      <p:sp>
        <p:nvSpPr>
          <p:cNvPr id="15" name="Rectangle 14">
            <a:extLst>
              <a:ext uri="{FF2B5EF4-FFF2-40B4-BE49-F238E27FC236}">
                <a16:creationId xmlns:a16="http://schemas.microsoft.com/office/drawing/2014/main" id="{833E60E1-C641-4A2B-9AA5-4799EDE7DE74}"/>
              </a:ext>
            </a:extLst>
          </p:cNvPr>
          <p:cNvSpPr>
            <a:spLocks noGrp="1"/>
          </p:cNvSpPr>
          <p:nvPr/>
        </p:nvSpPr>
        <p:spPr>
          <a:xfrm>
            <a:off x="8350250" y="23050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Fixed Costs –</a:t>
            </a:r>
          </a:p>
        </p:txBody>
      </p:sp>
      <p:sp>
        <p:nvSpPr>
          <p:cNvPr id="16" name="Rectangle 15">
            <a:extLst>
              <a:ext uri="{FF2B5EF4-FFF2-40B4-BE49-F238E27FC236}">
                <a16:creationId xmlns:a16="http://schemas.microsoft.com/office/drawing/2014/main" id="{3AABA5BA-280D-4F70-AEEF-2634A86882E6}"/>
              </a:ext>
            </a:extLst>
          </p:cNvPr>
          <p:cNvSpPr>
            <a:spLocks noGrp="1"/>
          </p:cNvSpPr>
          <p:nvPr/>
        </p:nvSpPr>
        <p:spPr>
          <a:xfrm>
            <a:off x="8350250" y="3048000"/>
            <a:ext cx="3022600" cy="7429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Costs that do not change with system usage.</a:t>
            </a:r>
          </a:p>
        </p:txBody>
      </p:sp>
      <p:sp>
        <p:nvSpPr>
          <p:cNvPr id="17" name="Rectangle 16">
            <a:extLst>
              <a:ext uri="{FF2B5EF4-FFF2-40B4-BE49-F238E27FC236}">
                <a16:creationId xmlns:a16="http://schemas.microsoft.com/office/drawing/2014/main" id="{A921B4F8-31A4-4CAD-9AEF-136C2892C535}"/>
              </a:ext>
            </a:extLst>
          </p:cNvPr>
          <p:cNvSpPr>
            <a:spLocks noGrp="1"/>
          </p:cNvSpPr>
          <p:nvPr/>
        </p:nvSpPr>
        <p:spPr>
          <a:xfrm>
            <a:off x="552450" y="4210050"/>
            <a:ext cx="3556000" cy="1924050"/>
          </a:xfrm>
          <a:prstGeom prst="rect">
            <a:avLst/>
          </a:prstGeom>
          <a:solidFill>
            <a:srgbClr val="FFFFFF"/>
          </a:solidFill>
          <a:ln w="9525">
            <a:solidFill>
              <a:srgbClr val="E4D9D6"/>
            </a:solidFill>
          </a:ln>
        </p:spPr>
      </p:sp>
      <p:sp>
        <p:nvSpPr>
          <p:cNvPr id="18" name="Rectangle 17">
            <a:extLst>
              <a:ext uri="{FF2B5EF4-FFF2-40B4-BE49-F238E27FC236}">
                <a16:creationId xmlns:a16="http://schemas.microsoft.com/office/drawing/2014/main" id="{84FB52BC-B370-4FEF-8F25-065ABA07673B}"/>
              </a:ext>
            </a:extLst>
          </p:cNvPr>
          <p:cNvSpPr>
            <a:spLocks noGrp="1"/>
          </p:cNvSpPr>
          <p:nvPr/>
        </p:nvSpPr>
        <p:spPr>
          <a:xfrm>
            <a:off x="819150" y="44386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Variable Costs –</a:t>
            </a:r>
          </a:p>
        </p:txBody>
      </p:sp>
      <p:sp>
        <p:nvSpPr>
          <p:cNvPr id="19" name="Rectangle 18">
            <a:extLst>
              <a:ext uri="{FF2B5EF4-FFF2-40B4-BE49-F238E27FC236}">
                <a16:creationId xmlns:a16="http://schemas.microsoft.com/office/drawing/2014/main" id="{ADAE998F-3328-451C-A846-2D2054CFACB1}"/>
              </a:ext>
            </a:extLst>
          </p:cNvPr>
          <p:cNvSpPr>
            <a:spLocks noGrp="1"/>
          </p:cNvSpPr>
          <p:nvPr/>
        </p:nvSpPr>
        <p:spPr>
          <a:xfrm>
            <a:off x="819150" y="5181600"/>
            <a:ext cx="3022600" cy="7429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Costs that change based on system usage.</a:t>
            </a:r>
          </a:p>
        </p:txBody>
      </p:sp>
      <p:sp>
        <p:nvSpPr>
          <p:cNvPr id="20" name="Rectangle 19">
            <a:extLst>
              <a:ext uri="{FF2B5EF4-FFF2-40B4-BE49-F238E27FC236}">
                <a16:creationId xmlns:a16="http://schemas.microsoft.com/office/drawing/2014/main" id="{52A402D8-CAD6-4393-905D-1617EBEBF137}"/>
              </a:ext>
            </a:extLst>
          </p:cNvPr>
          <p:cNvSpPr>
            <a:spLocks noGrp="1"/>
          </p:cNvSpPr>
          <p:nvPr/>
        </p:nvSpPr>
        <p:spPr>
          <a:xfrm>
            <a:off x="4318000" y="4210050"/>
            <a:ext cx="3556000" cy="1924050"/>
          </a:xfrm>
          <a:prstGeom prst="rect">
            <a:avLst/>
          </a:prstGeom>
          <a:solidFill>
            <a:srgbClr val="FFFFFF"/>
          </a:solidFill>
          <a:ln w="9525">
            <a:solidFill>
              <a:srgbClr val="E4D9D6"/>
            </a:solidFill>
          </a:ln>
        </p:spPr>
      </p:sp>
      <p:sp>
        <p:nvSpPr>
          <p:cNvPr id="21" name="Rectangle 20">
            <a:extLst>
              <a:ext uri="{FF2B5EF4-FFF2-40B4-BE49-F238E27FC236}">
                <a16:creationId xmlns:a16="http://schemas.microsoft.com/office/drawing/2014/main" id="{87ED77EB-1B65-4ED7-B89C-6DBD3F3A58D7}"/>
              </a:ext>
            </a:extLst>
          </p:cNvPr>
          <p:cNvSpPr>
            <a:spLocks noGrp="1"/>
          </p:cNvSpPr>
          <p:nvPr/>
        </p:nvSpPr>
        <p:spPr>
          <a:xfrm>
            <a:off x="4584700" y="44386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Direct Costs –</a:t>
            </a:r>
          </a:p>
        </p:txBody>
      </p:sp>
      <p:sp>
        <p:nvSpPr>
          <p:cNvPr id="22" name="Rectangle 21">
            <a:extLst>
              <a:ext uri="{FF2B5EF4-FFF2-40B4-BE49-F238E27FC236}">
                <a16:creationId xmlns:a16="http://schemas.microsoft.com/office/drawing/2014/main" id="{9DB5E226-8B0B-4B36-A670-7FCD7DD762CE}"/>
              </a:ext>
            </a:extLst>
          </p:cNvPr>
          <p:cNvSpPr>
            <a:spLocks noGrp="1"/>
          </p:cNvSpPr>
          <p:nvPr/>
        </p:nvSpPr>
        <p:spPr>
          <a:xfrm>
            <a:off x="4584700" y="5181600"/>
            <a:ext cx="3022600" cy="7429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Costs directly related to the system.</a:t>
            </a:r>
          </a:p>
        </p:txBody>
      </p:sp>
      <p:sp>
        <p:nvSpPr>
          <p:cNvPr id="23" name="Rectangle 22">
            <a:extLst>
              <a:ext uri="{FF2B5EF4-FFF2-40B4-BE49-F238E27FC236}">
                <a16:creationId xmlns:a16="http://schemas.microsoft.com/office/drawing/2014/main" id="{5AB3A165-73AF-475A-8B48-ABF5065B8A18}"/>
              </a:ext>
            </a:extLst>
          </p:cNvPr>
          <p:cNvSpPr>
            <a:spLocks noGrp="1"/>
          </p:cNvSpPr>
          <p:nvPr/>
        </p:nvSpPr>
        <p:spPr>
          <a:xfrm>
            <a:off x="8083550" y="4210050"/>
            <a:ext cx="3556000" cy="1924050"/>
          </a:xfrm>
          <a:prstGeom prst="rect">
            <a:avLst/>
          </a:prstGeom>
          <a:solidFill>
            <a:srgbClr val="FFFFFF"/>
          </a:solidFill>
          <a:ln w="9525">
            <a:solidFill>
              <a:srgbClr val="E4D9D6"/>
            </a:solidFill>
          </a:ln>
        </p:spPr>
      </p:sp>
      <p:sp>
        <p:nvSpPr>
          <p:cNvPr id="24" name="Rectangle 23">
            <a:extLst>
              <a:ext uri="{FF2B5EF4-FFF2-40B4-BE49-F238E27FC236}">
                <a16:creationId xmlns:a16="http://schemas.microsoft.com/office/drawing/2014/main" id="{0C646232-E58F-4EE6-AD2C-AE5229D25016}"/>
              </a:ext>
            </a:extLst>
          </p:cNvPr>
          <p:cNvSpPr>
            <a:spLocks noGrp="1"/>
          </p:cNvSpPr>
          <p:nvPr/>
        </p:nvSpPr>
        <p:spPr>
          <a:xfrm>
            <a:off x="8350250" y="4438650"/>
            <a:ext cx="3022600" cy="666750"/>
          </a:xfrm>
          <a:prstGeom prst="rect">
            <a:avLst/>
          </a:prstGeom>
          <a:noFill/>
          <a:ln w="0">
            <a:noFill/>
          </a:ln>
        </p:spPr>
        <p:txBody>
          <a:bodyPr wrap="square" lIns="0" tIns="0" rIns="0" bIns="0" anchor="t">
            <a:noAutofit/>
          </a:bodyPr>
          <a:lstStyle/>
          <a:p>
            <a:pPr algn="l">
              <a:defRPr sz="1800" b="1" i="1">
                <a:solidFill>
                  <a:srgbClr val="2A2A2A"/>
                </a:solidFill>
                <a:latin typeface="Georgia"/>
                <a:ea typeface="Georgia"/>
                <a:cs typeface="Georgia"/>
              </a:defRPr>
            </a:pPr>
            <a:r>
              <a:rPr sz="1800" b="1" i="1">
                <a:solidFill>
                  <a:srgbClr val="2A2A2A"/>
                </a:solidFill>
                <a:latin typeface="Georgia"/>
                <a:ea typeface="Georgia"/>
                <a:cs typeface="Georgia"/>
              </a:rPr>
              <a:t>Indirect Costs –</a:t>
            </a:r>
          </a:p>
        </p:txBody>
      </p:sp>
      <p:sp>
        <p:nvSpPr>
          <p:cNvPr id="25" name="Rectangle 24">
            <a:extLst>
              <a:ext uri="{FF2B5EF4-FFF2-40B4-BE49-F238E27FC236}">
                <a16:creationId xmlns:a16="http://schemas.microsoft.com/office/drawing/2014/main" id="{3B68677B-8559-4985-BFC2-4392FA8632DB}"/>
              </a:ext>
            </a:extLst>
          </p:cNvPr>
          <p:cNvSpPr>
            <a:spLocks noGrp="1"/>
          </p:cNvSpPr>
          <p:nvPr/>
        </p:nvSpPr>
        <p:spPr>
          <a:xfrm>
            <a:off x="8350250" y="5181600"/>
            <a:ext cx="3022600" cy="742950"/>
          </a:xfrm>
          <a:prstGeom prst="rect">
            <a:avLst/>
          </a:prstGeom>
          <a:noFill/>
          <a:ln w="0">
            <a:noFill/>
          </a:ln>
        </p:spPr>
        <p:txBody>
          <a:bodyPr wrap="square" lIns="0" tIns="0" rIns="0" bIns="0" anchor="t">
            <a:noAutofit/>
          </a:bodyPr>
          <a:lstStyle/>
          <a:p>
            <a:pPr algn="l">
              <a:defRPr sz="1600">
                <a:solidFill>
                  <a:srgbClr val="6B6B6B"/>
                </a:solidFill>
                <a:latin typeface="Georgia"/>
                <a:ea typeface="Georgia"/>
                <a:cs typeface="Georgia"/>
              </a:defRPr>
            </a:pPr>
            <a:r>
              <a:rPr sz="1600">
                <a:solidFill>
                  <a:srgbClr val="6B6B6B"/>
                </a:solidFill>
                <a:latin typeface="Georgia"/>
                <a:ea typeface="Georgia"/>
                <a:cs typeface="Georgia"/>
              </a:rPr>
              <a:t>Costs not directly tied to the system but affected by it.</a:t>
            </a:r>
          </a:p>
        </p:txBody>
      </p:sp>
    </p:spTree>
    <p:extLst>
      <p:ext uri="{BB962C8B-B14F-4D97-AF65-F5344CB8AC3E}">
        <p14:creationId xmlns:p14="http://schemas.microsoft.com/office/powerpoint/2010/main" val="19885718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4483081-0A3A-4D70-A976-C1E9B1BE64D8}"/>
              </a:ext>
            </a:extLst>
          </p:cNvPr>
          <p:cNvSpPr>
            <a:spLocks noGrp="1"/>
          </p:cNvSpPr>
          <p:nvPr/>
        </p:nvSpPr>
        <p:spPr>
          <a:xfrm>
            <a:off x="647700" y="428625"/>
            <a:ext cx="10877550" cy="228600"/>
          </a:xfrm>
          <a:prstGeom prst="rect">
            <a:avLst/>
          </a:prstGeom>
          <a:noFill/>
          <a:ln w="0">
            <a:noFill/>
          </a:ln>
        </p:spPr>
        <p:txBody>
          <a:bodyPr wrap="square" lIns="0" tIns="0" rIns="0" bIns="0" anchor="t">
            <a:noAutofit/>
          </a:bodyPr>
          <a:lstStyle/>
          <a:p>
            <a:pPr algn="l">
              <a:defRPr sz="1200" b="1">
                <a:solidFill>
                  <a:srgbClr val="990011"/>
                </a:solidFill>
                <a:latin typeface="Calibri"/>
                <a:ea typeface="Calibri"/>
                <a:cs typeface="Calibri"/>
              </a:defRPr>
            </a:pPr>
            <a:r>
              <a:rPr sz="1200" b="1" spc="200">
                <a:solidFill>
                  <a:srgbClr val="990011"/>
                </a:solidFill>
                <a:latin typeface="Calibri"/>
                <a:ea typeface="Calibri"/>
                <a:cs typeface="Calibri"/>
              </a:rPr>
              <a:t>COST/BENEFIT ANALYSIS</a:t>
            </a:r>
          </a:p>
        </p:txBody>
      </p:sp>
      <p:sp>
        <p:nvSpPr>
          <p:cNvPr id="2" name="Rectangle 1">
            <a:extLst>
              <a:ext uri="{FF2B5EF4-FFF2-40B4-BE49-F238E27FC236}">
                <a16:creationId xmlns:a16="http://schemas.microsoft.com/office/drawing/2014/main" id="{CC408D02-08C7-4ED3-8EF3-D7C681BCD0BA}"/>
              </a:ext>
            </a:extLst>
          </p:cNvPr>
          <p:cNvSpPr>
            <a:spLocks noGrp="1"/>
          </p:cNvSpPr>
          <p:nvPr/>
        </p:nvSpPr>
        <p:spPr>
          <a:xfrm>
            <a:off x="552450" y="781050"/>
            <a:ext cx="11049000" cy="723900"/>
          </a:xfrm>
          <a:prstGeom prst="rect">
            <a:avLst/>
          </a:prstGeom>
          <a:noFill/>
          <a:ln w="0">
            <a:noFill/>
          </a:ln>
        </p:spPr>
        <p:txBody>
          <a:bodyPr wrap="square" lIns="0" tIns="0" rIns="0" bIns="0" anchor="t">
            <a:noAutofit/>
          </a:bodyPr>
          <a:lstStyle/>
          <a:p>
            <a:pPr algn="l">
              <a:defRPr sz="3200" b="1" i="1">
                <a:solidFill>
                  <a:srgbClr val="2A2A2A"/>
                </a:solidFill>
                <a:latin typeface="Georgia"/>
                <a:ea typeface="Georgia"/>
                <a:cs typeface="Georgia"/>
              </a:defRPr>
            </a:pPr>
            <a:r>
              <a:rPr sz="3200" b="1" i="1">
                <a:solidFill>
                  <a:srgbClr val="2A2A2A"/>
                </a:solidFill>
                <a:latin typeface="Georgia"/>
                <a:ea typeface="Georgia"/>
                <a:cs typeface="Georgia"/>
              </a:rPr>
              <a:t>COST/BENEFIT ANALYSIS</a:t>
            </a:r>
          </a:p>
        </p:txBody>
      </p:sp>
      <p:sp>
        <p:nvSpPr>
          <p:cNvPr id="3" name="Rectangle 2">
            <a:extLst>
              <a:ext uri="{FF2B5EF4-FFF2-40B4-BE49-F238E27FC236}">
                <a16:creationId xmlns:a16="http://schemas.microsoft.com/office/drawing/2014/main" id="{4BC196DF-A626-4EE0-AB97-77983BC41B30}"/>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6B6B6B"/>
                </a:solidFill>
                <a:latin typeface="Calibri"/>
                <a:ea typeface="Calibri"/>
                <a:cs typeface="Calibri"/>
              </a:defRPr>
            </a:pPr>
            <a:r>
              <a:rPr sz="1000">
                <a:solidFill>
                  <a:srgbClr val="6B6B6B"/>
                </a:solidFill>
                <a:latin typeface="Calibri"/>
                <a:ea typeface="Calibri"/>
                <a:cs typeface="Calibri"/>
              </a:rPr>
              <a:t>1/20/2026</a:t>
            </a:r>
          </a:p>
        </p:txBody>
      </p:sp>
      <p:sp>
        <p:nvSpPr>
          <p:cNvPr id="4" name="Rectangle 3">
            <a:extLst>
              <a:ext uri="{FF2B5EF4-FFF2-40B4-BE49-F238E27FC236}">
                <a16:creationId xmlns:a16="http://schemas.microsoft.com/office/drawing/2014/main" id="{7F36E78D-27F8-4E16-88E4-B4756B501141}"/>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6B6B6B"/>
                </a:solidFill>
                <a:latin typeface="Calibri"/>
                <a:ea typeface="Calibri"/>
                <a:cs typeface="Calibri"/>
              </a:defRPr>
            </a:pPr>
            <a:r>
              <a:rPr sz="1000">
                <a:solidFill>
                  <a:srgbClr val="6B6B6B"/>
                </a:solidFill>
                <a:latin typeface="Calibri"/>
                <a:ea typeface="Calibri"/>
                <a:cs typeface="Calibri"/>
              </a:rPr>
              <a:t>Md. Manirujjaman</a:t>
            </a:r>
          </a:p>
        </p:txBody>
      </p:sp>
      <p:sp>
        <p:nvSpPr>
          <p:cNvPr id="5" name="Oval 4">
            <a:extLst>
              <a:ext uri="{FF2B5EF4-FFF2-40B4-BE49-F238E27FC236}">
                <a16:creationId xmlns:a16="http://schemas.microsoft.com/office/drawing/2014/main" id="{0F4F422F-9888-41DB-951A-1B3B8C137694}"/>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BC866BF4-3ADB-42F4-AB8A-77FF54862239}"/>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24</a:t>
            </a:r>
          </a:p>
        </p:txBody>
      </p:sp>
      <p:sp>
        <p:nvSpPr>
          <p:cNvPr id="7" name="Rectangle 6">
            <a:extLst>
              <a:ext uri="{FF2B5EF4-FFF2-40B4-BE49-F238E27FC236}">
                <a16:creationId xmlns:a16="http://schemas.microsoft.com/office/drawing/2014/main" id="{8F695572-1EDA-4B26-BFAF-352ECF9F1628}"/>
              </a:ext>
            </a:extLst>
          </p:cNvPr>
          <p:cNvSpPr>
            <a:spLocks noGrp="1"/>
          </p:cNvSpPr>
          <p:nvPr/>
        </p:nvSpPr>
        <p:spPr>
          <a:xfrm>
            <a:off x="552450" y="1724025"/>
            <a:ext cx="5410200" cy="4400550"/>
          </a:xfrm>
          <a:prstGeom prst="rect">
            <a:avLst/>
          </a:prstGeom>
          <a:solidFill>
            <a:srgbClr val="FCF6F5"/>
          </a:solidFill>
          <a:ln w="9525">
            <a:solidFill>
              <a:srgbClr val="E4D9D6"/>
            </a:solidFill>
          </a:ln>
        </p:spPr>
      </p:sp>
      <p:sp>
        <p:nvSpPr>
          <p:cNvPr id="8" name="Rectangle 7">
            <a:extLst>
              <a:ext uri="{FF2B5EF4-FFF2-40B4-BE49-F238E27FC236}">
                <a16:creationId xmlns:a16="http://schemas.microsoft.com/office/drawing/2014/main" id="{75E122E0-0BBA-42D0-9FED-DCED86BF3293}"/>
              </a:ext>
            </a:extLst>
          </p:cNvPr>
          <p:cNvSpPr>
            <a:spLocks noGrp="1"/>
          </p:cNvSpPr>
          <p:nvPr/>
        </p:nvSpPr>
        <p:spPr>
          <a:xfrm>
            <a:off x="857250" y="2009775"/>
            <a:ext cx="4819650" cy="381000"/>
          </a:xfrm>
          <a:prstGeom prst="rect">
            <a:avLst/>
          </a:prstGeom>
          <a:noFill/>
          <a:ln w="0">
            <a:noFill/>
          </a:ln>
        </p:spPr>
        <p:txBody>
          <a:bodyPr wrap="square" lIns="0" tIns="0" rIns="0" bIns="0" anchor="t">
            <a:noAutofit/>
          </a:bodyPr>
          <a:lstStyle/>
          <a:p>
            <a:pPr algn="l">
              <a:defRPr sz="2000" b="1" i="1">
                <a:solidFill>
                  <a:srgbClr val="990011"/>
                </a:solidFill>
                <a:latin typeface="Georgia"/>
                <a:ea typeface="Georgia"/>
                <a:cs typeface="Georgia"/>
              </a:defRPr>
            </a:pPr>
            <a:r>
              <a:rPr sz="2000" b="1" i="1">
                <a:solidFill>
                  <a:srgbClr val="990011"/>
                </a:solidFill>
                <a:latin typeface="Georgia"/>
                <a:ea typeface="Georgia"/>
                <a:cs typeface="Georgia"/>
              </a:rPr>
              <a:t>Benefits</a:t>
            </a:r>
          </a:p>
        </p:txBody>
      </p:sp>
      <p:sp>
        <p:nvSpPr>
          <p:cNvPr id="9" name="Rectangle 8">
            <a:extLst>
              <a:ext uri="{FF2B5EF4-FFF2-40B4-BE49-F238E27FC236}">
                <a16:creationId xmlns:a16="http://schemas.microsoft.com/office/drawing/2014/main" id="{96A78C70-F0A3-4963-A8AD-0E7E936040F5}"/>
              </a:ext>
            </a:extLst>
          </p:cNvPr>
          <p:cNvSpPr>
            <a:spLocks noGrp="1"/>
          </p:cNvSpPr>
          <p:nvPr/>
        </p:nvSpPr>
        <p:spPr>
          <a:xfrm>
            <a:off x="857250" y="2705100"/>
            <a:ext cx="4800600" cy="3105150"/>
          </a:xfrm>
          <a:prstGeom prst="rect">
            <a:avLst/>
          </a:prstGeom>
          <a:noFill/>
          <a:ln w="0">
            <a:noFill/>
          </a:ln>
        </p:spPr>
        <p:txBody>
          <a:bodyPr wrap="square" lIns="0" tIns="0" rIns="0" bIns="0" anchor="t">
            <a:noAutofit/>
          </a:bodyPr>
          <a:lstStyle/>
          <a:p>
            <a:pPr marL="152400" indent="-152400" algn="l">
              <a:spcAft>
                <a:spcPts val="800"/>
              </a:spcAft>
              <a:buChar char="▪"/>
              <a:defRPr sz="1600">
                <a:solidFill>
                  <a:srgbClr val="2A2A2A"/>
                </a:solidFill>
                <a:latin typeface="Georgia"/>
                <a:ea typeface="Georgia"/>
                <a:cs typeface="Georgia"/>
              </a:defRPr>
            </a:pPr>
            <a:r>
              <a:rPr b="1"/>
              <a:t>Tangible Benefits</a:t>
            </a:r>
            <a:r>
              <a:rPr b="0"/>
              <a:t> – Benefits that can be measured in money.</a:t>
            </a:r>
          </a:p>
          <a:p>
            <a:pPr marL="152400" indent="-152400" algn="l">
              <a:spcAft>
                <a:spcPts val="800"/>
              </a:spcAft>
              <a:buChar char="▪"/>
              <a:defRPr sz="1600">
                <a:solidFill>
                  <a:srgbClr val="2A2A2A"/>
                </a:solidFill>
                <a:latin typeface="Georgia"/>
                <a:ea typeface="Georgia"/>
                <a:cs typeface="Georgia"/>
              </a:defRPr>
            </a:pPr>
            <a:r>
              <a:rPr b="1"/>
              <a:t>Intangible Benefits</a:t>
            </a:r>
            <a:r>
              <a:rPr b="0"/>
              <a:t> – Benefits that cannot be easily measured in money.</a:t>
            </a:r>
          </a:p>
          <a:p>
            <a:pPr marL="152400" indent="-152400" algn="l">
              <a:spcAft>
                <a:spcPts val="800"/>
              </a:spcAft>
              <a:buChar char="▪"/>
              <a:defRPr sz="1600">
                <a:solidFill>
                  <a:srgbClr val="2A2A2A"/>
                </a:solidFill>
                <a:latin typeface="Georgia"/>
                <a:ea typeface="Georgia"/>
                <a:cs typeface="Georgia"/>
              </a:defRPr>
            </a:pPr>
            <a:r>
              <a:rPr b="1"/>
              <a:t>Direct Benefits</a:t>
            </a:r>
            <a:r>
              <a:rPr b="0"/>
              <a:t> – Benefits that result directly from the system.</a:t>
            </a:r>
          </a:p>
          <a:p>
            <a:pPr marL="152400" indent="-152400" algn="l">
              <a:spcAft>
                <a:spcPts val="800"/>
              </a:spcAft>
              <a:buChar char="▪"/>
              <a:defRPr sz="1600">
                <a:solidFill>
                  <a:srgbClr val="2A2A2A"/>
                </a:solidFill>
                <a:latin typeface="Georgia"/>
                <a:ea typeface="Georgia"/>
                <a:cs typeface="Georgia"/>
              </a:defRPr>
            </a:pPr>
            <a:r>
              <a:rPr b="1"/>
              <a:t>Indirect Benefits</a:t>
            </a:r>
            <a:r>
              <a:rPr b="0"/>
              <a:t> – Secondary or long-term benefits of the system.</a:t>
            </a:r>
          </a:p>
        </p:txBody>
      </p:sp>
      <p:sp>
        <p:nvSpPr>
          <p:cNvPr id="10" name="Rectangle 9">
            <a:extLst>
              <a:ext uri="{FF2B5EF4-FFF2-40B4-BE49-F238E27FC236}">
                <a16:creationId xmlns:a16="http://schemas.microsoft.com/office/drawing/2014/main" id="{D2F059C8-8CAD-4EB2-8656-F71E1544FDF3}"/>
              </a:ext>
            </a:extLst>
          </p:cNvPr>
          <p:cNvSpPr>
            <a:spLocks noGrp="1"/>
          </p:cNvSpPr>
          <p:nvPr/>
        </p:nvSpPr>
        <p:spPr>
          <a:xfrm>
            <a:off x="6210300" y="1724025"/>
            <a:ext cx="5410200" cy="4400550"/>
          </a:xfrm>
          <a:prstGeom prst="rect">
            <a:avLst/>
          </a:prstGeom>
          <a:solidFill>
            <a:srgbClr val="FFFFFF"/>
          </a:solidFill>
          <a:ln w="9525">
            <a:solidFill>
              <a:srgbClr val="E4D9D6"/>
            </a:solidFill>
          </a:ln>
        </p:spPr>
      </p:sp>
      <p:sp>
        <p:nvSpPr>
          <p:cNvPr id="11" name="Rectangle 10">
            <a:extLst>
              <a:ext uri="{FF2B5EF4-FFF2-40B4-BE49-F238E27FC236}">
                <a16:creationId xmlns:a16="http://schemas.microsoft.com/office/drawing/2014/main" id="{C824B235-1253-4F31-830A-256A348BB5C0}"/>
              </a:ext>
            </a:extLst>
          </p:cNvPr>
          <p:cNvSpPr>
            <a:spLocks noGrp="1"/>
          </p:cNvSpPr>
          <p:nvPr/>
        </p:nvSpPr>
        <p:spPr>
          <a:xfrm>
            <a:off x="6515100" y="2009775"/>
            <a:ext cx="4819650" cy="381000"/>
          </a:xfrm>
          <a:prstGeom prst="rect">
            <a:avLst/>
          </a:prstGeom>
          <a:noFill/>
          <a:ln w="0">
            <a:noFill/>
          </a:ln>
        </p:spPr>
        <p:txBody>
          <a:bodyPr wrap="square" lIns="0" tIns="0" rIns="0" bIns="0" anchor="t">
            <a:noAutofit/>
          </a:bodyPr>
          <a:lstStyle/>
          <a:p>
            <a:pPr algn="l">
              <a:defRPr sz="2000" b="1" i="1">
                <a:solidFill>
                  <a:srgbClr val="2F3C7E"/>
                </a:solidFill>
                <a:latin typeface="Georgia"/>
                <a:ea typeface="Georgia"/>
                <a:cs typeface="Georgia"/>
              </a:defRPr>
            </a:pPr>
            <a:r>
              <a:rPr sz="2000" b="1" i="1">
                <a:solidFill>
                  <a:srgbClr val="2F3C7E"/>
                </a:solidFill>
                <a:latin typeface="Georgia"/>
                <a:ea typeface="Georgia"/>
                <a:cs typeface="Georgia"/>
              </a:rPr>
              <a:t>Evaluation Measures</a:t>
            </a:r>
          </a:p>
        </p:txBody>
      </p:sp>
      <p:sp>
        <p:nvSpPr>
          <p:cNvPr id="12" name="Rectangle 11">
            <a:extLst>
              <a:ext uri="{FF2B5EF4-FFF2-40B4-BE49-F238E27FC236}">
                <a16:creationId xmlns:a16="http://schemas.microsoft.com/office/drawing/2014/main" id="{988C95F6-B246-4137-9B7C-DFCAB11EB4F4}"/>
              </a:ext>
            </a:extLst>
          </p:cNvPr>
          <p:cNvSpPr>
            <a:spLocks noGrp="1"/>
          </p:cNvSpPr>
          <p:nvPr/>
        </p:nvSpPr>
        <p:spPr>
          <a:xfrm>
            <a:off x="6515100" y="2705100"/>
            <a:ext cx="4800600" cy="3105150"/>
          </a:xfrm>
          <a:prstGeom prst="rect">
            <a:avLst/>
          </a:prstGeom>
          <a:noFill/>
          <a:ln w="0">
            <a:noFill/>
          </a:ln>
        </p:spPr>
        <p:txBody>
          <a:bodyPr wrap="square" lIns="0" tIns="0" rIns="0" bIns="0" anchor="t">
            <a:noAutofit/>
          </a:bodyPr>
          <a:lstStyle/>
          <a:p>
            <a:pPr marL="152400" indent="-152400" algn="l">
              <a:spcAft>
                <a:spcPts val="800"/>
              </a:spcAft>
              <a:buChar char="▪"/>
              <a:defRPr sz="1600">
                <a:solidFill>
                  <a:srgbClr val="2A2A2A"/>
                </a:solidFill>
                <a:latin typeface="Georgia"/>
                <a:ea typeface="Georgia"/>
                <a:cs typeface="Georgia"/>
              </a:defRPr>
            </a:pPr>
            <a:r>
              <a:rPr b="1"/>
              <a:t>Payback Period</a:t>
            </a:r>
            <a:r>
              <a:rPr b="0"/>
              <a:t> – Time needed to recover the investment.</a:t>
            </a:r>
          </a:p>
          <a:p>
            <a:pPr marL="152400" indent="-152400" algn="l">
              <a:spcAft>
                <a:spcPts val="800"/>
              </a:spcAft>
              <a:buChar char="▪"/>
              <a:defRPr sz="1600">
                <a:solidFill>
                  <a:srgbClr val="2A2A2A"/>
                </a:solidFill>
                <a:latin typeface="Georgia"/>
                <a:ea typeface="Georgia"/>
                <a:cs typeface="Georgia"/>
              </a:defRPr>
            </a:pPr>
            <a:r>
              <a:rPr b="1"/>
              <a:t>Return on Investment (ROI)</a:t>
            </a:r>
            <a:r>
              <a:rPr b="0"/>
              <a:t> – Profit gained from the system compared to its cost.</a:t>
            </a:r>
          </a:p>
          <a:p>
            <a:pPr marL="152400" indent="-152400" algn="l">
              <a:spcAft>
                <a:spcPts val="800"/>
              </a:spcAft>
              <a:buChar char="▪"/>
              <a:defRPr sz="1600">
                <a:solidFill>
                  <a:srgbClr val="2A2A2A"/>
                </a:solidFill>
                <a:latin typeface="Georgia"/>
                <a:ea typeface="Georgia"/>
                <a:cs typeface="Georgia"/>
              </a:defRPr>
            </a:pPr>
            <a:r>
              <a:rPr b="1"/>
              <a:t>Net Present Value (NPV)</a:t>
            </a:r>
            <a:r>
              <a:rPr b="0"/>
              <a:t> – Value of future benefits compared to current costs.</a:t>
            </a:r>
          </a:p>
        </p:txBody>
      </p:sp>
    </p:spTree>
    <p:extLst>
      <p:ext uri="{BB962C8B-B14F-4D97-AF65-F5344CB8AC3E}">
        <p14:creationId xmlns:p14="http://schemas.microsoft.com/office/powerpoint/2010/main" val="887005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57C9B38-B2AD-407B-A95C-6BA89DFC74AE}"/>
              </a:ext>
            </a:extLst>
          </p:cNvPr>
          <p:cNvSpPr>
            <a:spLocks noGrp="1"/>
          </p:cNvSpPr>
          <p:nvPr/>
        </p:nvSpPr>
        <p:spPr>
          <a:xfrm>
            <a:off x="819150" y="2438400"/>
            <a:ext cx="10287000" cy="1714500"/>
          </a:xfrm>
          <a:prstGeom prst="rect">
            <a:avLst/>
          </a:prstGeom>
          <a:noFill/>
          <a:ln w="0">
            <a:noFill/>
          </a:ln>
        </p:spPr>
        <p:txBody>
          <a:bodyPr wrap="square" lIns="0" tIns="0" rIns="0" bIns="0" anchor="t">
            <a:noAutofit/>
          </a:bodyPr>
          <a:lstStyle/>
          <a:p>
            <a:pPr algn="l">
              <a:defRPr sz="5400" b="1" i="1">
                <a:solidFill>
                  <a:srgbClr val="FFFFFF"/>
                </a:solidFill>
                <a:latin typeface="Georgia"/>
                <a:ea typeface="Georgia"/>
                <a:cs typeface="Georgia"/>
              </a:defRPr>
            </a:pPr>
            <a:r>
              <a:rPr sz="5400" b="1" i="1">
                <a:solidFill>
                  <a:srgbClr val="FFFFFF"/>
                </a:solidFill>
                <a:latin typeface="Georgia"/>
                <a:ea typeface="Georgia"/>
                <a:cs typeface="Georgia"/>
              </a:rPr>
              <a:t>Thank You</a:t>
            </a:r>
          </a:p>
        </p:txBody>
      </p:sp>
      <p:sp>
        <p:nvSpPr>
          <p:cNvPr id="3" name="Rectangle 2">
            <a:extLst>
              <a:ext uri="{FF2B5EF4-FFF2-40B4-BE49-F238E27FC236}">
                <a16:creationId xmlns:a16="http://schemas.microsoft.com/office/drawing/2014/main" id="{341DAB35-7E6E-4CFF-9CD2-79F3A55D6BF2}"/>
              </a:ext>
            </a:extLst>
          </p:cNvPr>
          <p:cNvSpPr>
            <a:spLocks noGrp="1"/>
          </p:cNvSpPr>
          <p:nvPr/>
        </p:nvSpPr>
        <p:spPr>
          <a:xfrm>
            <a:off x="552450" y="6429375"/>
            <a:ext cx="1619250" cy="209550"/>
          </a:xfrm>
          <a:prstGeom prst="rect">
            <a:avLst/>
          </a:prstGeom>
          <a:noFill/>
          <a:ln w="0">
            <a:noFill/>
          </a:ln>
        </p:spPr>
        <p:txBody>
          <a:bodyPr wrap="square" lIns="0" tIns="0" rIns="0" bIns="0" anchor="t">
            <a:noAutofit/>
          </a:bodyPr>
          <a:lstStyle/>
          <a:p>
            <a:pPr algn="l">
              <a:defRPr sz="1000">
                <a:solidFill>
                  <a:srgbClr val="C9A7AB"/>
                </a:solidFill>
                <a:latin typeface="Calibri"/>
                <a:ea typeface="Calibri"/>
                <a:cs typeface="Calibri"/>
              </a:defRPr>
            </a:pPr>
            <a:r>
              <a:rPr sz="1000">
                <a:solidFill>
                  <a:srgbClr val="C9A7AB"/>
                </a:solidFill>
                <a:latin typeface="Calibri"/>
                <a:ea typeface="Calibri"/>
                <a:cs typeface="Calibri"/>
              </a:rPr>
              <a:t>1/20/2026</a:t>
            </a:r>
          </a:p>
        </p:txBody>
      </p:sp>
      <p:sp>
        <p:nvSpPr>
          <p:cNvPr id="4" name="Rectangle 3">
            <a:extLst>
              <a:ext uri="{FF2B5EF4-FFF2-40B4-BE49-F238E27FC236}">
                <a16:creationId xmlns:a16="http://schemas.microsoft.com/office/drawing/2014/main" id="{5F73AE76-F495-49C4-858B-1740D10DA8DB}"/>
              </a:ext>
            </a:extLst>
          </p:cNvPr>
          <p:cNvSpPr>
            <a:spLocks noGrp="1"/>
          </p:cNvSpPr>
          <p:nvPr/>
        </p:nvSpPr>
        <p:spPr>
          <a:xfrm>
            <a:off x="4572000" y="6429375"/>
            <a:ext cx="3143250" cy="209550"/>
          </a:xfrm>
          <a:prstGeom prst="rect">
            <a:avLst/>
          </a:prstGeom>
          <a:noFill/>
          <a:ln w="0">
            <a:noFill/>
          </a:ln>
        </p:spPr>
        <p:txBody>
          <a:bodyPr wrap="square" lIns="0" tIns="0" rIns="0" bIns="0" anchor="t">
            <a:noAutofit/>
          </a:bodyPr>
          <a:lstStyle/>
          <a:p>
            <a:pPr algn="ctr">
              <a:defRPr sz="1000">
                <a:solidFill>
                  <a:srgbClr val="C9A7AB"/>
                </a:solidFill>
                <a:latin typeface="Calibri"/>
                <a:ea typeface="Calibri"/>
                <a:cs typeface="Calibri"/>
              </a:defRPr>
            </a:pPr>
            <a:r>
              <a:rPr sz="1000">
                <a:solidFill>
                  <a:srgbClr val="C9A7AB"/>
                </a:solidFill>
                <a:latin typeface="Calibri"/>
                <a:ea typeface="Calibri"/>
                <a:cs typeface="Calibri"/>
              </a:rPr>
              <a:t>Md. Manirujjaman</a:t>
            </a:r>
          </a:p>
        </p:txBody>
      </p:sp>
      <p:sp>
        <p:nvSpPr>
          <p:cNvPr id="5" name="Oval 4">
            <a:extLst>
              <a:ext uri="{FF2B5EF4-FFF2-40B4-BE49-F238E27FC236}">
                <a16:creationId xmlns:a16="http://schemas.microsoft.com/office/drawing/2014/main" id="{ABE84FD2-83EC-4524-9C12-E35BC3C668BF}"/>
              </a:ext>
            </a:extLst>
          </p:cNvPr>
          <p:cNvSpPr>
            <a:spLocks noGrp="1"/>
          </p:cNvSpPr>
          <p:nvPr/>
        </p:nvSpPr>
        <p:spPr>
          <a:xfrm>
            <a:off x="11624786" y="6291072"/>
            <a:ext cx="365760" cy="365760"/>
          </a:xfrm>
          <a:prstGeom prst="ellipse">
            <a:avLst/>
          </a:prstGeom>
          <a:solidFill>
            <a:srgbClr val="990011"/>
          </a:solidFill>
          <a:ln w="0">
            <a:noFill/>
          </a:ln>
        </p:spPr>
      </p:sp>
      <p:sp>
        <p:nvSpPr>
          <p:cNvPr id="6" name="Rectangle 5">
            <a:extLst>
              <a:ext uri="{FF2B5EF4-FFF2-40B4-BE49-F238E27FC236}">
                <a16:creationId xmlns:a16="http://schemas.microsoft.com/office/drawing/2014/main" id="{7853B713-6BEC-43B7-AB35-AB95ADB04A4C}"/>
              </a:ext>
            </a:extLst>
          </p:cNvPr>
          <p:cNvSpPr>
            <a:spLocks noGrp="1"/>
          </p:cNvSpPr>
          <p:nvPr/>
        </p:nvSpPr>
        <p:spPr>
          <a:xfrm>
            <a:off x="11624786" y="6291072"/>
            <a:ext cx="365760" cy="365760"/>
          </a:xfrm>
          <a:prstGeom prst="rect">
            <a:avLst/>
          </a:prstGeom>
          <a:noFill/>
          <a:ln w="0">
            <a:noFill/>
          </a:ln>
        </p:spPr>
        <p:txBody>
          <a:bodyPr wrap="square" lIns="0" tIns="0" rIns="0" bIns="0" anchor="ctr">
            <a:noAutofit/>
          </a:bodyPr>
          <a:lstStyle/>
          <a:p>
            <a:pPr algn="ctr">
              <a:defRPr sz="1600" b="1">
                <a:solidFill>
                  <a:srgbClr val="FFFFFF"/>
                </a:solidFill>
                <a:latin typeface="Calibri"/>
                <a:ea typeface="Calibri"/>
                <a:cs typeface="Calibri"/>
              </a:defRPr>
            </a:pPr>
            <a:r>
              <a:rPr sz="1600" b="1">
                <a:solidFill>
                  <a:srgbClr val="FFFFFF"/>
                </a:solidFill>
                <a:latin typeface="Calibri"/>
                <a:ea typeface="Calibri"/>
                <a:cs typeface="Calibri"/>
              </a:rPr>
              <a:t>25</a:t>
            </a:r>
          </a:p>
        </p:txBody>
      </p:sp>
    </p:spTree>
    <p:extLst>
      <p:ext uri="{BB962C8B-B14F-4D97-AF65-F5344CB8AC3E}">
        <p14:creationId xmlns:p14="http://schemas.microsoft.com/office/powerpoint/2010/main" val="53089221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518</TotalTime>
  <Words>2688</Words>
  <Application>Microsoft Office PowerPoint</Application>
  <DocSecurity>0</DocSecurity>
  <PresentationFormat>Widescreen</PresentationFormat>
  <Paragraphs>374</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Calibri</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 Manirujjaman</cp:lastModifiedBy>
  <cp:revision>6</cp:revision>
  <dcterms:created xsi:type="dcterms:W3CDTF">2026-09-22T02:47:51Z</dcterms:created>
  <dcterms:modified xsi:type="dcterms:W3CDTF">2026-09-22T16:08:39Z</dcterms:modified>
</cp:coreProperties>
</file>