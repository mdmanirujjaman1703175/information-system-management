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37"/>
  </p:notesMasterIdLst>
  <p:handoutMasterIdLst>
    <p:handoutMasterId r:id="rId38"/>
  </p:handoutMasterIdLst>
  <p:sldIdLst>
    <p:sldId id="341" r:id="rId2"/>
    <p:sldId id="297" r:id="rId3"/>
    <p:sldId id="298" r:id="rId4"/>
    <p:sldId id="299" r:id="rId5"/>
    <p:sldId id="300" r:id="rId6"/>
    <p:sldId id="343" r:id="rId7"/>
    <p:sldId id="344" r:id="rId8"/>
    <p:sldId id="302" r:id="rId9"/>
    <p:sldId id="303" r:id="rId10"/>
    <p:sldId id="334" r:id="rId11"/>
    <p:sldId id="342" r:id="rId12"/>
    <p:sldId id="335" r:id="rId13"/>
    <p:sldId id="353" r:id="rId14"/>
    <p:sldId id="336" r:id="rId15"/>
    <p:sldId id="337" r:id="rId16"/>
    <p:sldId id="338" r:id="rId17"/>
    <p:sldId id="339" r:id="rId18"/>
    <p:sldId id="340" r:id="rId19"/>
    <p:sldId id="306" r:id="rId20"/>
    <p:sldId id="346" r:id="rId21"/>
    <p:sldId id="308" r:id="rId22"/>
    <p:sldId id="309" r:id="rId23"/>
    <p:sldId id="347" r:id="rId24"/>
    <p:sldId id="348" r:id="rId25"/>
    <p:sldId id="311" r:id="rId26"/>
    <p:sldId id="349" r:id="rId27"/>
    <p:sldId id="312" r:id="rId28"/>
    <p:sldId id="313" r:id="rId29"/>
    <p:sldId id="352" r:id="rId30"/>
    <p:sldId id="350" r:id="rId31"/>
    <p:sldId id="351" r:id="rId32"/>
    <p:sldId id="315" r:id="rId33"/>
    <p:sldId id="328" r:id="rId34"/>
    <p:sldId id="316" r:id="rId35"/>
    <p:sldId id="345" r:id="rId3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4" autoAdjust="0"/>
    <p:restoredTop sz="52288" autoAdjust="0"/>
  </p:normalViewPr>
  <p:slideViewPr>
    <p:cSldViewPr>
      <p:cViewPr varScale="1">
        <p:scale>
          <a:sx n="43" d="100"/>
          <a:sy n="43" d="100"/>
        </p:scale>
        <p:origin x="261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F9EFEA9-66BC-4174-926C-F8093975A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D0B02A-F0B0-4301-8903-DF68581631A0}" type="datetimeFigureOut">
              <a:rPr lang="en-US"/>
              <a:pPr>
                <a:defRPr/>
              </a:pPr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A44F01-B7E3-454B-9683-8F374F9D0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971927" y="8831422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500" tIns="46753" rIns="93500" bIns="46753" anchor="b"/>
          <a:lstStyle/>
          <a:p>
            <a:pPr algn="r" defTabSz="935178"/>
            <a:fld id="{D7450BE2-CD82-44E1-87D8-89131E24FFFD}" type="slidenum">
              <a:rPr lang="en-US" sz="1200">
                <a:latin typeface="Times New Roman" pitchFamily="18" charset="0"/>
              </a:rPr>
              <a:pPr algn="r" defTabSz="935178"/>
              <a:t>2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59736-7B20-4309-B593-4C001D5DD98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59736-7B20-4309-B593-4C001D5DD98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confusion matrix</a:t>
            </a:r>
            <a:r>
              <a:rPr lang="en-US" dirty="0"/>
              <a:t> is a table that compares </a:t>
            </a:r>
            <a:r>
              <a:rPr lang="en-US" b="1" dirty="0"/>
              <a:t>actual class labels</a:t>
            </a:r>
            <a:r>
              <a:rPr lang="en-US" dirty="0"/>
              <a:t> with </a:t>
            </a:r>
            <a:r>
              <a:rPr lang="en-US" b="1" dirty="0"/>
              <a:t>predicted class labels</a:t>
            </a:r>
            <a:r>
              <a:rPr lang="en-US" dirty="0"/>
              <a:t> to show how well a classifier performs.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Accuracy</a:t>
            </a:r>
            <a:r>
              <a:rPr lang="en-US" dirty="0"/>
              <a:t> is the proportion of correctly classified instances among all instances.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F1-score gives one balanced measure of a model’s positive-class performance.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80D21-67B5-40BF-911A-F76ED7F8F42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703263"/>
            <a:ext cx="4630737" cy="3473450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9" y="4416509"/>
            <a:ext cx="5140325" cy="4184819"/>
          </a:xfrm>
          <a:noFill/>
          <a:ln/>
        </p:spPr>
        <p:txBody>
          <a:bodyPr lIns="87348" tIns="43673" rIns="87348" bIns="43673"/>
          <a:lstStyle/>
          <a:p>
            <a:r>
              <a:rPr lang="en-US" dirty="0"/>
              <a:t>In the </a:t>
            </a:r>
            <a:r>
              <a:rPr lang="en-US" b="1" dirty="0"/>
              <a:t>holdout method</a:t>
            </a:r>
            <a:r>
              <a:rPr lang="en-US" dirty="0"/>
              <a:t>, the whole dataset is divided randomly into </a:t>
            </a:r>
            <a:r>
              <a:rPr lang="en-US" b="1" dirty="0"/>
              <a:t>two separate parts</a:t>
            </a:r>
            <a:r>
              <a:rPr lang="en-US" dirty="0"/>
              <a:t>. One part is the </a:t>
            </a:r>
            <a:r>
              <a:rPr lang="en-US" b="1" dirty="0"/>
              <a:t>training set</a:t>
            </a:r>
            <a:r>
              <a:rPr lang="en-US" dirty="0"/>
              <a:t>, which is used to build or train the model, and the other part is the </a:t>
            </a:r>
            <a:r>
              <a:rPr lang="en-US" b="1" dirty="0"/>
              <a:t>test set</a:t>
            </a:r>
            <a:r>
              <a:rPr lang="en-US" dirty="0"/>
              <a:t>, which is used to check how accurate the trained model is on unseen data. For example, we may use </a:t>
            </a:r>
            <a:r>
              <a:rPr lang="en-US" b="1" dirty="0"/>
              <a:t>2/3 of the data for training</a:t>
            </a:r>
            <a:r>
              <a:rPr lang="en-US" dirty="0"/>
              <a:t> and </a:t>
            </a:r>
            <a:r>
              <a:rPr lang="en-US" b="1" dirty="0"/>
              <a:t>1/3 for testing</a:t>
            </a:r>
            <a:r>
              <a:rPr lang="en-US" dirty="0"/>
              <a:t>.</a:t>
            </a:r>
          </a:p>
          <a:p>
            <a:r>
              <a:rPr lang="en-US" dirty="0"/>
              <a:t>Then it mentions </a:t>
            </a:r>
            <a:r>
              <a:rPr lang="en-US" b="1" dirty="0"/>
              <a:t>random sampling</a:t>
            </a:r>
            <a:r>
              <a:rPr lang="en-US" dirty="0"/>
              <a:t>, which is just a repeated version of the holdout method. Instead of splitting the data only once, we split it </a:t>
            </a:r>
            <a:r>
              <a:rPr lang="en-US" b="1" dirty="0"/>
              <a:t>k times</a:t>
            </a:r>
            <a:r>
              <a:rPr lang="en-US" dirty="0"/>
              <a:t>, train and test the model each time, and then take the </a:t>
            </a:r>
            <a:r>
              <a:rPr lang="en-US" b="1" dirty="0"/>
              <a:t>average of all accuracies</a:t>
            </a:r>
            <a:r>
              <a:rPr lang="en-US" dirty="0"/>
              <a:t>. This gives a more reliable estimate because the result does not depend on only one random split.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880D21-67B5-40BF-911A-F76ED7F8F42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703263"/>
            <a:ext cx="4630737" cy="3473450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9" y="4416509"/>
            <a:ext cx="5140325" cy="4184819"/>
          </a:xfrm>
          <a:noFill/>
          <a:ln/>
        </p:spPr>
        <p:txBody>
          <a:bodyPr lIns="87348" tIns="43673" rIns="87348" bIns="43673"/>
          <a:lstStyle/>
          <a:p>
            <a:r>
              <a:rPr lang="en-US" b="1" dirty="0"/>
              <a:t>Cross-validation</a:t>
            </a:r>
            <a:r>
              <a:rPr lang="en-US" dirty="0"/>
              <a:t> is a method to evaluate a classifier more reliably than one single train-test split. In </a:t>
            </a:r>
            <a:r>
              <a:rPr lang="en-US" b="1" dirty="0"/>
              <a:t>k-fold cross-validation</a:t>
            </a:r>
            <a:r>
              <a:rPr lang="en-US" dirty="0"/>
              <a:t>, the dataset is divided into </a:t>
            </a:r>
            <a:r>
              <a:rPr lang="en-US" b="1" dirty="0"/>
              <a:t>k equal parts</a:t>
            </a:r>
            <a:r>
              <a:rPr lang="en-US" dirty="0"/>
              <a:t>. Each time, </a:t>
            </a:r>
            <a:r>
              <a:rPr lang="en-US" b="1" dirty="0"/>
              <a:t>one part is used for testing</a:t>
            </a:r>
            <a:r>
              <a:rPr lang="en-US" dirty="0"/>
              <a:t> and the </a:t>
            </a:r>
            <a:r>
              <a:rPr lang="en-US" b="1" dirty="0"/>
              <a:t>remaining parts are used for training</a:t>
            </a:r>
            <a:r>
              <a:rPr lang="en-US" dirty="0"/>
              <a:t>. This process is repeated </a:t>
            </a:r>
            <a:r>
              <a:rPr lang="en-US" b="1" dirty="0"/>
              <a:t>k times</a:t>
            </a:r>
            <a:r>
              <a:rPr lang="en-US" dirty="0"/>
              <a:t>, so every part is used as the test set once, and the </a:t>
            </a:r>
            <a:r>
              <a:rPr lang="en-US" b="1" dirty="0"/>
              <a:t>final accuracy is the average</a:t>
            </a:r>
            <a:r>
              <a:rPr lang="en-US" dirty="0"/>
              <a:t> of all runs.</a:t>
            </a:r>
          </a:p>
          <a:p>
            <a:r>
              <a:rPr lang="en-US" dirty="0"/>
              <a:t>In </a:t>
            </a:r>
            <a:r>
              <a:rPr lang="en-US" b="1" dirty="0"/>
              <a:t>leave-one-out</a:t>
            </a:r>
            <a:r>
              <a:rPr lang="en-US" dirty="0"/>
              <a:t>, each data sample is treated as one fold, so in every run </a:t>
            </a:r>
            <a:r>
              <a:rPr lang="en-US" b="1" dirty="0"/>
              <a:t>one sample is used for testing</a:t>
            </a:r>
            <a:r>
              <a:rPr lang="en-US" dirty="0"/>
              <a:t> and all others for training. It is mostly used for </a:t>
            </a:r>
            <a:r>
              <a:rPr lang="en-US" b="1" dirty="0"/>
              <a:t>small datasets</a:t>
            </a:r>
            <a:r>
              <a:rPr lang="en-US" dirty="0"/>
              <a:t>. In </a:t>
            </a:r>
            <a:r>
              <a:rPr lang="en-US" b="1" dirty="0"/>
              <a:t>stratified cross-validation</a:t>
            </a:r>
            <a:r>
              <a:rPr lang="en-US" dirty="0"/>
              <a:t>, each fold keeps </a:t>
            </a:r>
            <a:r>
              <a:rPr lang="en-US" b="1" dirty="0"/>
              <a:t>almost the same class proportion</a:t>
            </a:r>
            <a:r>
              <a:rPr lang="en-US" dirty="0"/>
              <a:t> as the original dataset, which is especially useful when the data is </a:t>
            </a:r>
            <a:r>
              <a:rPr lang="en-US" b="1" dirty="0"/>
              <a:t>imbalanced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A5E9E3-0893-4EE9-923F-A706C4250BA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703263"/>
            <a:ext cx="4630737" cy="3473450"/>
          </a:xfrm>
          <a:ln w="12700" cap="flat">
            <a:solidFill>
              <a:schemeClr val="tx1"/>
            </a:solidFill>
          </a:ln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9" y="4416509"/>
            <a:ext cx="5140325" cy="4184819"/>
          </a:xfrm>
          <a:noFill/>
          <a:ln/>
        </p:spPr>
        <p:txBody>
          <a:bodyPr lIns="87348" tIns="43673" rIns="87348" bIns="43673"/>
          <a:lstStyle/>
          <a:p>
            <a:r>
              <a:rPr lang="en-US" b="1" dirty="0"/>
              <a:t>Bootstrap</a:t>
            </a:r>
            <a:r>
              <a:rPr lang="en-US" dirty="0"/>
              <a:t> is an evaluation method that works well for </a:t>
            </a:r>
            <a:r>
              <a:rPr lang="en-US" b="1" dirty="0"/>
              <a:t>small datasets</a:t>
            </a:r>
            <a:r>
              <a:rPr lang="en-US" dirty="0"/>
              <a:t>. It creates a training set by randomly selecting samples </a:t>
            </a:r>
            <a:r>
              <a:rPr lang="en-US" b="1" dirty="0"/>
              <a:t>with replacement</a:t>
            </a:r>
            <a:r>
              <a:rPr lang="en-US" dirty="0"/>
              <a:t>, which means the same sample can be chosen more than once. Because of this, some original samples may appear multiple times in training, while some may not appear at all.</a:t>
            </a:r>
          </a:p>
          <a:p>
            <a:r>
              <a:rPr lang="en-US" dirty="0"/>
              <a:t>In </a:t>
            </a:r>
            <a:r>
              <a:rPr lang="en-US" b="1" dirty="0"/>
              <a:t>.632 bootstrap</a:t>
            </a:r>
            <a:r>
              <a:rPr lang="en-US" dirty="0"/>
              <a:t>, if a dataset has </a:t>
            </a:r>
            <a:r>
              <a:rPr lang="en-US" b="1" dirty="0"/>
              <a:t>d samples</a:t>
            </a:r>
            <a:r>
              <a:rPr lang="en-US" dirty="0"/>
              <a:t>, we draw </a:t>
            </a:r>
            <a:r>
              <a:rPr lang="en-US" b="1" dirty="0"/>
              <a:t>d times with replacement</a:t>
            </a:r>
            <a:r>
              <a:rPr lang="en-US" dirty="0"/>
              <a:t> to make the training set. On average, about </a:t>
            </a:r>
            <a:r>
              <a:rPr lang="en-US" b="1" dirty="0"/>
              <a:t>63.2%</a:t>
            </a:r>
            <a:r>
              <a:rPr lang="en-US" dirty="0"/>
              <a:t> of the original data appear in the bootstrap training set, and the remaining </a:t>
            </a:r>
            <a:r>
              <a:rPr lang="en-US" b="1" dirty="0"/>
              <a:t>36.8%</a:t>
            </a:r>
            <a:r>
              <a:rPr lang="en-US" dirty="0"/>
              <a:t> that were not selected are used as the </a:t>
            </a:r>
            <a:r>
              <a:rPr lang="en-US" b="1" dirty="0"/>
              <a:t>test set</a:t>
            </a:r>
            <a:r>
              <a:rPr lang="en-US" dirty="0"/>
              <a:t>. This process is repeated </a:t>
            </a:r>
            <a:r>
              <a:rPr lang="en-US" b="1" dirty="0"/>
              <a:t>k times</a:t>
            </a:r>
            <a:r>
              <a:rPr lang="en-US" dirty="0"/>
              <a:t>, and the final accuracy is computed by combining the training and test accuracies from all runs.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Use cross-validation to estimate errors, then apply statistical significance test and confidence intervals to determine if one model is truly better than the other.</a:t>
                </a:r>
              </a:p>
            </p:txBody>
          </p:sp>
        </mc:Choice>
        <mc:Fallback xmlns="">
          <p:sp>
            <p:nvSpPr>
              <p:cNvPr id="14131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if we have two classifiers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𝑀_1</a:t>
                </a:r>
                <a:r>
                  <a:rPr lang="en-US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𝑀_2</a:t>
                </a:r>
                <a:r>
                  <a:rPr lang="ar-AE" dirty="0"/>
                  <a:t>, </a:t>
                </a:r>
                <a:r>
                  <a:rPr lang="en-US" dirty="0"/>
                  <a:t>we can use </a:t>
                </a:r>
                <a:r>
                  <a:rPr lang="en-US" b="1" dirty="0"/>
                  <a:t>10-fold cross-validation</a:t>
                </a:r>
                <a:r>
                  <a:rPr lang="en-US" dirty="0"/>
                  <a:t> to estimate their average error rates, but those error values are only </a:t>
                </a:r>
                <a:r>
                  <a:rPr lang="en-US" b="1" dirty="0"/>
                  <a:t>estimates</a:t>
                </a:r>
                <a:r>
                  <a:rPr lang="en-US" dirty="0"/>
                  <a:t>, not exact truth. So if one model looks better than the other, that difference may just be due to </a:t>
                </a:r>
                <a:r>
                  <a:rPr lang="en-US" b="1" dirty="0"/>
                  <a:t>random chance</a:t>
                </a:r>
                <a:r>
                  <a:rPr lang="en-US" dirty="0"/>
                  <a:t>. To decide whether the difference is really meaningful, we use a </a:t>
                </a:r>
                <a:r>
                  <a:rPr lang="en-US" b="1" dirty="0"/>
                  <a:t>statistical significance test</a:t>
                </a:r>
                <a:r>
                  <a:rPr lang="en-US" dirty="0"/>
                  <a:t> and compute </a:t>
                </a:r>
                <a:r>
                  <a:rPr lang="en-US" b="1" dirty="0"/>
                  <a:t>confidence intervals/confidence limits</a:t>
                </a:r>
                <a:r>
                  <a:rPr lang="en-US" dirty="0"/>
                  <a:t> for the error estimates.</a:t>
                </a:r>
              </a:p>
            </p:txBody>
          </p:sp>
        </mc:Fallback>
      </mc:AlternateContent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First, use </a:t>
                </a:r>
                <a:r>
                  <a:rPr lang="en-US" b="1" dirty="0"/>
                  <a:t>10-fold cross-validation</a:t>
                </a:r>
                <a:r>
                  <a:rPr lang="en-US" dirty="0"/>
                  <a:t> to get error values of both models.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Assume the results follow a </a:t>
                </a:r>
                <a:r>
                  <a:rPr lang="en-US" b="1" dirty="0"/>
                  <a:t>t-distribution</a:t>
                </a:r>
                <a:r>
                  <a:rPr lang="en-US" dirty="0"/>
                  <a:t> (used when sample size is small).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Set </a:t>
                </a:r>
                <a:r>
                  <a:rPr lang="en-US" b="1" dirty="0"/>
                  <a:t>Null Hypothesis (H₀):</a:t>
                </a:r>
                <a:br>
                  <a:rPr lang="en-US" dirty="0"/>
                </a:br>
                <a:r>
                  <a:rPr lang="en-US" dirty="0"/>
                  <a:t>→ Model M₁ and M₂ have </a:t>
                </a:r>
                <a:r>
                  <a:rPr lang="en-US" b="1" dirty="0"/>
                  <a:t>same performance</a:t>
                </a:r>
                <a:r>
                  <a:rPr lang="en-US" dirty="0"/>
                  <a:t> (no real difference).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Apply </a:t>
                </a:r>
                <a:r>
                  <a:rPr lang="en-US" b="1" dirty="0"/>
                  <a:t>t-test</a:t>
                </a:r>
                <a:r>
                  <a:rPr lang="en-US" dirty="0"/>
                  <a:t> to check difference between their errors.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If we </a:t>
                </a:r>
                <a:r>
                  <a:rPr lang="en-US" b="1" dirty="0"/>
                  <a:t>reject H₀</a:t>
                </a:r>
                <a:r>
                  <a:rPr lang="en-US" dirty="0"/>
                  <a:t> → difference is </a:t>
                </a:r>
                <a:r>
                  <a:rPr lang="en-US" b="1" dirty="0"/>
                  <a:t>real (statistically significant)</a:t>
                </a:r>
                <a:r>
                  <a:rPr lang="en-US" dirty="0"/>
                  <a:t>. 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Then choose the model with </a:t>
                </a:r>
                <a:r>
                  <a:rPr lang="en-US" b="1" dirty="0"/>
                  <a:t>lower error rate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423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This slide explains how to check whether the performance difference between two classifiers is </a:t>
                </a:r>
                <a:r>
                  <a:rPr lang="en-US" b="1" dirty="0"/>
                  <a:t>real or just due to chance</a:t>
                </a:r>
                <a:r>
                  <a:rPr lang="en-US" dirty="0"/>
                  <a:t>. First, we apply </a:t>
                </a:r>
                <a:r>
                  <a:rPr lang="en-US" b="1" dirty="0"/>
                  <a:t>10-fold cross-validation</a:t>
                </a:r>
                <a:r>
                  <a:rPr lang="en-US" dirty="0"/>
                  <a:t> and assume the results follow a </a:t>
                </a:r>
                <a:r>
                  <a:rPr lang="en-US" b="1" dirty="0"/>
                  <a:t>t-distribution</a:t>
                </a:r>
                <a:r>
                  <a:rPr lang="en-US" dirty="0"/>
                  <a:t> with </a:t>
                </a:r>
                <a:r>
                  <a:rPr lang="en-US" b="1" dirty="0"/>
                  <a:t>k−1 degrees of freedom</a:t>
                </a:r>
                <a:r>
                  <a:rPr lang="en-US" dirty="0"/>
                  <a:t>. Then we use a </a:t>
                </a:r>
                <a:r>
                  <a:rPr lang="en-US" b="1" dirty="0"/>
                  <a:t>t-test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null hypothesis</a:t>
                </a:r>
                <a:r>
                  <a:rPr lang="en-US" dirty="0"/>
                  <a:t> says that models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𝑀_1</a:t>
                </a:r>
                <a:r>
                  <a:rPr lang="en-US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𝑀_2</a:t>
                </a:r>
                <a:r>
                  <a:rPr lang="en-US" dirty="0"/>
                  <a:t>are initially considered to have </a:t>
                </a:r>
                <a:r>
                  <a:rPr lang="en-US" b="1" dirty="0"/>
                  <a:t>no real difference</a:t>
                </a:r>
                <a:r>
                  <a:rPr lang="en-US" dirty="0"/>
                  <a:t>. If we can </a:t>
                </a:r>
                <a:r>
                  <a:rPr lang="en-US" b="1" dirty="0"/>
                  <a:t>reject the null hypothesis</a:t>
                </a:r>
                <a:r>
                  <a:rPr lang="en-US" dirty="0"/>
                  <a:t>, then the difference is </a:t>
                </a:r>
                <a:r>
                  <a:rPr lang="en-US" b="1" dirty="0"/>
                  <a:t>statistically significant</a:t>
                </a:r>
                <a:r>
                  <a:rPr lang="en-US" dirty="0"/>
                  <a:t>, meaning it is likely real. In that case, we choose the model with the </a:t>
                </a:r>
                <a:r>
                  <a:rPr lang="en-US" b="1" dirty="0"/>
                  <a:t>lower error rate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Case 1: Only ONE test set (paired t-test)</a:t>
                </a:r>
              </a:p>
              <a:p>
                <a:r>
                  <a:rPr lang="en-US" dirty="0"/>
                  <a:t>In each fold, calculate error of both models →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𝑒𝑟𝑟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ar-AE" sz="12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𝑒𝑟𝑟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ar-AE" sz="1200" i="1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ar-AE" sz="120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dirty="0"/>
                  <a:t>Compute difference for each fold. </a:t>
                </a:r>
              </a:p>
              <a:p>
                <a:r>
                  <a:rPr lang="en-US" dirty="0"/>
                  <a:t>Use t-test on these differences. </a:t>
                </a:r>
              </a:p>
              <a:p>
                <a:r>
                  <a:rPr lang="en-US" dirty="0"/>
                  <a:t>Degrees of freedom =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dirty="0"/>
                  <a:t>(here k = 10) </a:t>
                </a:r>
              </a:p>
              <a:p>
                <a:r>
                  <a:rPr lang="en-US" dirty="0"/>
                  <a:t>→ This checks if average difference is real or just random.</a:t>
                </a:r>
              </a:p>
              <a:p>
                <a:r>
                  <a:rPr lang="en-US" b="1" dirty="0"/>
                  <a:t>Case 2: TWO different test sets (non-paired t-test)</a:t>
                </a:r>
              </a:p>
              <a:p>
                <a:r>
                  <a:rPr lang="en-US" dirty="0"/>
                  <a:t>Errors of M₁ and M₂ come from different data. </a:t>
                </a:r>
              </a:p>
              <a:p>
                <a:r>
                  <a:rPr lang="en-US" dirty="0"/>
                  <a:t>Compare their averages separately. </a:t>
                </a:r>
              </a:p>
              <a:p>
                <a:r>
                  <a:rPr lang="en-US" dirty="0"/>
                  <a:t>Use non-paired t-test formula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336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Case 1: Only ONE test set (paired t-test)</a:t>
                </a:r>
              </a:p>
              <a:p>
                <a:r>
                  <a:rPr lang="en-US" dirty="0"/>
                  <a:t>In each fold, calculate error of both models →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𝑒𝑟𝑟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(𝑀_1 )_𝑖</a:t>
                </a:r>
                <a:r>
                  <a:rPr lang="ar-AE" dirty="0"/>
                  <a:t>,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𝑒𝑟𝑟(𝑀_2 )_𝑖</a:t>
                </a:r>
                <a:endParaRPr lang="ar-AE" dirty="0"/>
              </a:p>
              <a:p>
                <a:r>
                  <a:rPr lang="en-US" dirty="0"/>
                  <a:t>Compute difference for each fold. </a:t>
                </a:r>
              </a:p>
              <a:p>
                <a:r>
                  <a:rPr lang="en-US" dirty="0"/>
                  <a:t>Use t-test on these differences. </a:t>
                </a:r>
              </a:p>
              <a:p>
                <a:r>
                  <a:rPr lang="en-US" dirty="0"/>
                  <a:t>Degrees of freedom =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𝑘−1</a:t>
                </a:r>
                <a:r>
                  <a:rPr lang="en-US" dirty="0"/>
                  <a:t>(here k = 10) </a:t>
                </a:r>
              </a:p>
              <a:p>
                <a:r>
                  <a:rPr lang="en-US" dirty="0"/>
                  <a:t>→ This checks if average difference is real or just random.</a:t>
                </a:r>
              </a:p>
              <a:p>
                <a:r>
                  <a:rPr lang="en-US" b="1" dirty="0"/>
                  <a:t>Case 2: TWO different test sets (non-paired t-test)</a:t>
                </a:r>
              </a:p>
              <a:p>
                <a:r>
                  <a:rPr lang="en-US" dirty="0"/>
                  <a:t>Errors of M₁ and M₂ come from different data. </a:t>
                </a:r>
              </a:p>
              <a:p>
                <a:r>
                  <a:rPr lang="en-US" dirty="0"/>
                  <a:t>Compare their averages separately. </a:t>
                </a:r>
              </a:p>
              <a:p>
                <a:r>
                  <a:rPr lang="en-US" dirty="0"/>
                  <a:t>Use non-paired t-test formula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ROC curve is used to </a:t>
            </a:r>
            <a:r>
              <a:rPr lang="en-US" b="1" dirty="0"/>
              <a:t>compare classification models visually</a:t>
            </a:r>
            <a:r>
              <a:rPr lang="en-US" dirty="0"/>
              <a:t>. </a:t>
            </a:r>
          </a:p>
          <a:p>
            <a:r>
              <a:rPr lang="en-US" dirty="0"/>
              <a:t>It comes from </a:t>
            </a:r>
            <a:r>
              <a:rPr lang="en-US" b="1" dirty="0"/>
              <a:t>signal detection theory</a:t>
            </a:r>
            <a:r>
              <a:rPr lang="en-US" dirty="0"/>
              <a:t>. </a:t>
            </a:r>
          </a:p>
          <a:p>
            <a:r>
              <a:rPr lang="en-US" dirty="0"/>
              <a:t>It shows the </a:t>
            </a:r>
            <a:r>
              <a:rPr lang="en-US" b="1" dirty="0"/>
              <a:t>trade-off between True Positive Rate (TPR)</a:t>
            </a:r>
            <a:r>
              <a:rPr lang="en-US" dirty="0"/>
              <a:t> and </a:t>
            </a:r>
            <a:r>
              <a:rPr lang="en-US" b="1" dirty="0"/>
              <a:t>False Positive Rate (FPR)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b="1" dirty="0"/>
              <a:t>Y-axis (vertical):</a:t>
            </a:r>
            <a:r>
              <a:rPr lang="en-US" dirty="0"/>
              <a:t> True Positive Rate (TPR)</a:t>
            </a:r>
          </a:p>
          <a:p>
            <a:r>
              <a:rPr lang="en-US" dirty="0"/>
              <a:t> </a:t>
            </a:r>
            <a:r>
              <a:rPr lang="en-US" b="1" dirty="0"/>
              <a:t>X-axis (horizontal):</a:t>
            </a:r>
            <a:r>
              <a:rPr lang="en-US" dirty="0"/>
              <a:t> False Positive Rate (FPR) </a:t>
            </a:r>
          </a:p>
          <a:p>
            <a:r>
              <a:rPr lang="en-US" dirty="0"/>
              <a:t>The </a:t>
            </a:r>
            <a:r>
              <a:rPr lang="en-US" b="1" dirty="0"/>
              <a:t>area under the curve (AUC)</a:t>
            </a:r>
            <a:r>
              <a:rPr lang="en-US" dirty="0"/>
              <a:t> measures model performance: </a:t>
            </a:r>
          </a:p>
          <a:p>
            <a:r>
              <a:rPr lang="en-US" b="1" dirty="0"/>
              <a:t>AUC = 1.0 → perfect model</a:t>
            </a:r>
            <a:r>
              <a:rPr lang="en-US" dirty="0"/>
              <a:t> </a:t>
            </a:r>
          </a:p>
          <a:p>
            <a:r>
              <a:rPr lang="en-US" b="1" dirty="0"/>
              <a:t>AUC ≈ 0.5 → poor model (random guess)</a:t>
            </a:r>
            <a:r>
              <a:rPr lang="en-US" dirty="0"/>
              <a:t> </a:t>
            </a:r>
          </a:p>
          <a:p>
            <a:r>
              <a:rPr lang="en-US" dirty="0"/>
              <a:t>Data points are </a:t>
            </a:r>
            <a:r>
              <a:rPr lang="en-US" b="1" dirty="0"/>
              <a:t>ranked by probability</a:t>
            </a:r>
            <a:r>
              <a:rPr lang="en-US" dirty="0"/>
              <a:t>, with most likely positive cases at the top. </a:t>
            </a:r>
          </a:p>
          <a:p>
            <a:r>
              <a:rPr lang="en-US" dirty="0"/>
              <a:t>A curve </a:t>
            </a:r>
            <a:r>
              <a:rPr lang="en-US" b="1" dirty="0"/>
              <a:t>closer to the top-left corner</a:t>
            </a:r>
            <a:r>
              <a:rPr lang="en-US" dirty="0"/>
              <a:t> means better performance. </a:t>
            </a:r>
          </a:p>
          <a:p>
            <a:r>
              <a:rPr lang="en-US" dirty="0"/>
              <a:t>A curve </a:t>
            </a:r>
            <a:r>
              <a:rPr lang="en-US" b="1" dirty="0"/>
              <a:t>closer to the diagonal line</a:t>
            </a:r>
            <a:r>
              <a:rPr lang="en-US" dirty="0"/>
              <a:t> means lower accuracy.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AD93E-0585-4190-B3DD-9FF28A2E0DF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True Positive Rate (TPR):</a:t>
            </a:r>
            <a:br>
              <a:rPr lang="en-US" dirty="0"/>
            </a:br>
            <a:r>
              <a:rPr lang="en-US" dirty="0"/>
              <a:t>TPR = TP / (TP + FN)</a:t>
            </a:r>
            <a:br>
              <a:rPr lang="en-US" dirty="0"/>
            </a:br>
            <a:r>
              <a:rPr lang="en-US" dirty="0"/>
              <a:t>It shows how many </a:t>
            </a:r>
            <a:r>
              <a:rPr lang="en-US" b="1" dirty="0"/>
              <a:t>actual positive cases are correctly identified</a:t>
            </a:r>
            <a:r>
              <a:rPr lang="en-US" dirty="0"/>
              <a:t>. </a:t>
            </a:r>
            <a:r>
              <a:rPr lang="en-US" b="1" dirty="0"/>
              <a:t>False Positive Rate (FPR):</a:t>
            </a:r>
            <a:br>
              <a:rPr lang="en-US" dirty="0"/>
            </a:br>
            <a:r>
              <a:rPr lang="en-US" dirty="0"/>
              <a:t>FPR = FP / (FP + TN)</a:t>
            </a:r>
            <a:br>
              <a:rPr lang="en-US" dirty="0"/>
            </a:br>
            <a:r>
              <a:rPr lang="en-US" dirty="0"/>
              <a:t>It shows how many </a:t>
            </a:r>
            <a:r>
              <a:rPr lang="en-US" b="1" dirty="0"/>
              <a:t>negative cases are wrongly classified as positive</a:t>
            </a:r>
            <a:r>
              <a:rPr lang="en-US" dirty="0"/>
              <a:t>. </a:t>
            </a:r>
          </a:p>
          <a:p>
            <a:r>
              <a:rPr lang="en-US" dirty="0"/>
              <a:t>Data is first </a:t>
            </a:r>
            <a:r>
              <a:rPr lang="en-US" b="1" dirty="0"/>
              <a:t>sorted by predicted probability (highest to lowest)</a:t>
            </a:r>
            <a:r>
              <a:rPr lang="en-US" dirty="0"/>
              <a:t>. </a:t>
            </a:r>
          </a:p>
          <a:p>
            <a:r>
              <a:rPr lang="en-US" dirty="0"/>
              <a:t>Then, for each threshold, we calculate </a:t>
            </a:r>
            <a:r>
              <a:rPr lang="en-US" b="1" dirty="0"/>
              <a:t>TP, FP, TN, FN</a:t>
            </a:r>
            <a:r>
              <a:rPr lang="en-US" dirty="0"/>
              <a:t>, and get TPR &amp; FPR. </a:t>
            </a:r>
          </a:p>
          <a:p>
            <a:r>
              <a:rPr lang="en-US" dirty="0"/>
              <a:t>These values are plotted to form the </a:t>
            </a:r>
            <a:r>
              <a:rPr lang="en-US" b="1" dirty="0"/>
              <a:t>ROC curve</a:t>
            </a:r>
            <a:r>
              <a:rPr lang="en-US" dirty="0"/>
              <a:t>. </a:t>
            </a:r>
          </a:p>
          <a:p>
            <a:r>
              <a:rPr lang="en-US" dirty="0"/>
              <a:t>The curve shows how TPR changes when FPR increases.</a:t>
            </a:r>
          </a:p>
          <a:p>
            <a:r>
              <a:rPr lang="en-US" dirty="0"/>
              <a:t> A </a:t>
            </a:r>
            <a:r>
              <a:rPr lang="en-US" b="1" dirty="0"/>
              <a:t>better model</a:t>
            </a:r>
            <a:r>
              <a:rPr lang="en-US" dirty="0"/>
              <a:t> will have </a:t>
            </a:r>
            <a:r>
              <a:rPr lang="en-US" b="1" dirty="0"/>
              <a:t>high TPR and low FPR</a:t>
            </a:r>
            <a:r>
              <a:rPr lang="en-US" dirty="0"/>
              <a:t> (curve goes toward top-left). </a:t>
            </a:r>
          </a:p>
          <a:p>
            <a:r>
              <a:rPr lang="en-US" dirty="0"/>
              <a:t>The diagonal line represents </a:t>
            </a:r>
            <a:r>
              <a:rPr lang="en-US" b="1" dirty="0"/>
              <a:t>random guessing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 txBox="1">
            <a:spLocks noGrp="1" noChangeArrowheads="1"/>
          </p:cNvSpPr>
          <p:nvPr/>
        </p:nvSpPr>
        <p:spPr bwMode="auto">
          <a:xfrm>
            <a:off x="3971927" y="8831422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500" tIns="46753" rIns="93500" bIns="46753" anchor="b"/>
          <a:lstStyle/>
          <a:p>
            <a:pPr algn="r" defTabSz="935178"/>
            <a:fld id="{108C6249-EECD-4950-89C3-E2BA0F5C718C}" type="slidenum">
              <a:rPr lang="en-US" sz="1200">
                <a:latin typeface="Times New Roman" pitchFamily="18" charset="0"/>
              </a:rPr>
              <a:pPr algn="r" defTabSz="935178"/>
              <a:t>21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703263"/>
            <a:ext cx="4632325" cy="3473450"/>
          </a:xfrm>
          <a:ln w="12700" cap="flat">
            <a:solidFill>
              <a:schemeClr val="tx1"/>
            </a:solidFill>
          </a:ln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40" y="4416511"/>
            <a:ext cx="5140325" cy="4184819"/>
          </a:xfrm>
          <a:noFill/>
          <a:ln/>
        </p:spPr>
        <p:txBody>
          <a:bodyPr lIns="87659" tIns="43828" rIns="87659" bIns="43828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3971927" y="8831422"/>
            <a:ext cx="3038475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500" tIns="46753" rIns="93500" bIns="46753" anchor="b"/>
          <a:lstStyle/>
          <a:p>
            <a:pPr algn="r" defTabSz="935178"/>
            <a:fld id="{D7450BE2-CD82-44E1-87D8-89131E24FFFD}" type="slidenum">
              <a:rPr lang="en-US" sz="1200">
                <a:latin typeface="Times New Roman" pitchFamily="18" charset="0"/>
              </a:rPr>
              <a:pPr algn="r" defTabSz="935178"/>
              <a:t>22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Ensemble methods:</a:t>
            </a:r>
            <a:br>
              <a:rPr lang="en-US" dirty="0"/>
            </a:br>
            <a:r>
              <a:rPr lang="en-US" dirty="0"/>
              <a:t>Combine multiple classifiers instead of using a single model to improve accuracy. A set of classifiers is </a:t>
            </a:r>
            <a:r>
              <a:rPr lang="en-US" b="1" dirty="0"/>
              <a:t>built from the training data</a:t>
            </a:r>
            <a:r>
              <a:rPr lang="en-US" dirty="0"/>
              <a:t>. For new (unseen) data, predictions from all classifiers are </a:t>
            </a:r>
            <a:r>
              <a:rPr lang="en-US" b="1" dirty="0"/>
              <a:t>combined (e.g., voting)</a:t>
            </a:r>
            <a:r>
              <a:rPr lang="en-US" dirty="0"/>
              <a:t> to give the final result. This works because </a:t>
            </a:r>
            <a:r>
              <a:rPr lang="en-US" b="1" dirty="0"/>
              <a:t>multiple models together reduce errors</a:t>
            </a:r>
            <a:r>
              <a:rPr lang="en-US" dirty="0"/>
              <a:t> and give more reliable predictions.</a:t>
            </a:r>
          </a:p>
          <a:p>
            <a:r>
              <a:rPr lang="en-US" dirty="0"/>
              <a:t> </a:t>
            </a:r>
            <a:r>
              <a:rPr lang="en-US" b="1" dirty="0"/>
              <a:t>Popular ensemble methods:</a:t>
            </a:r>
            <a:r>
              <a:rPr lang="en-US" dirty="0"/>
              <a:t> </a:t>
            </a:r>
            <a:r>
              <a:rPr lang="en-US" b="1" dirty="0"/>
              <a:t>Bagging:</a:t>
            </a:r>
            <a:r>
              <a:rPr lang="en-US" dirty="0"/>
              <a:t> Builds multiple models using different random samples of data and combines their results. </a:t>
            </a:r>
          </a:p>
          <a:p>
            <a:r>
              <a:rPr lang="en-US" b="1" dirty="0"/>
              <a:t>Boosting:</a:t>
            </a:r>
            <a:r>
              <a:rPr lang="en-US" dirty="0"/>
              <a:t> Builds models step-by-step, focusing more on previously misclassified data.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Bagging (Bootstrap Aggregating):</a:t>
            </a:r>
            <a:endParaRPr lang="en-US" dirty="0"/>
          </a:p>
          <a:p>
            <a:r>
              <a:rPr lang="en-US" dirty="0"/>
              <a:t>Classifiers are built </a:t>
            </a:r>
            <a:r>
              <a:rPr lang="en-US" b="1" dirty="0"/>
              <a:t>independently</a:t>
            </a:r>
            <a:r>
              <a:rPr lang="en-US" dirty="0"/>
              <a:t> from different random samples of data. </a:t>
            </a:r>
          </a:p>
          <a:p>
            <a:r>
              <a:rPr lang="en-US" dirty="0"/>
              <a:t>Each model works separately. </a:t>
            </a:r>
          </a:p>
          <a:p>
            <a:r>
              <a:rPr lang="en-US" dirty="0"/>
              <a:t>Final prediction is made using </a:t>
            </a:r>
            <a:r>
              <a:rPr lang="en-US" b="1" dirty="0"/>
              <a:t>equal voting</a:t>
            </a:r>
            <a:r>
              <a:rPr lang="en-US" dirty="0"/>
              <a:t> (all models have same importance). </a:t>
            </a:r>
          </a:p>
          <a:p>
            <a:r>
              <a:rPr lang="en-US" b="1" dirty="0"/>
              <a:t>Boosting:</a:t>
            </a:r>
            <a:endParaRPr lang="en-US" dirty="0"/>
          </a:p>
          <a:p>
            <a:r>
              <a:rPr lang="en-US" dirty="0"/>
              <a:t>Classifiers are built </a:t>
            </a:r>
            <a:r>
              <a:rPr lang="en-US" b="1" dirty="0"/>
              <a:t>sequentially (one after another)</a:t>
            </a:r>
            <a:r>
              <a:rPr lang="en-US" dirty="0"/>
              <a:t>. </a:t>
            </a:r>
          </a:p>
          <a:p>
            <a:r>
              <a:rPr lang="en-US" dirty="0"/>
              <a:t>Each new model focuses on </a:t>
            </a:r>
            <a:r>
              <a:rPr lang="en-US" b="1" dirty="0"/>
              <a:t>errors of previous models</a:t>
            </a:r>
            <a:r>
              <a:rPr lang="en-US" dirty="0"/>
              <a:t>. </a:t>
            </a:r>
          </a:p>
          <a:p>
            <a:r>
              <a:rPr lang="en-US" dirty="0"/>
              <a:t>Final prediction uses </a:t>
            </a:r>
            <a:r>
              <a:rPr lang="en-US" b="1" dirty="0"/>
              <a:t>weighted voting</a:t>
            </a:r>
            <a:r>
              <a:rPr lang="en-US" dirty="0"/>
              <a:t> (better models get more importance). </a:t>
            </a:r>
          </a:p>
          <a:p>
            <a:r>
              <a:rPr lang="en-US" b="1" dirty="0"/>
              <a:t>Key Difference:</a:t>
            </a:r>
            <a:endParaRPr lang="en-US" dirty="0"/>
          </a:p>
          <a:p>
            <a:r>
              <a:rPr lang="en-US" b="1" dirty="0"/>
              <a:t>Bagging → independent + equal voting</a:t>
            </a:r>
            <a:r>
              <a:rPr lang="en-US" dirty="0"/>
              <a:t> </a:t>
            </a:r>
          </a:p>
          <a:p>
            <a:r>
              <a:rPr lang="en-US" b="1" dirty="0"/>
              <a:t>Boosting → sequential + weighted voting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Idea:</a:t>
            </a:r>
            <a:br>
              <a:rPr lang="en-US" dirty="0"/>
            </a:br>
            <a:r>
              <a:rPr lang="en-US" dirty="0"/>
              <a:t>Bagging creates multiple models and combines them using </a:t>
            </a:r>
            <a:r>
              <a:rPr lang="en-US" b="1" dirty="0"/>
              <a:t>equal voting</a:t>
            </a:r>
            <a:r>
              <a:rPr lang="en-US" dirty="0"/>
              <a:t> to improve accuracy. </a:t>
            </a:r>
          </a:p>
          <a:p>
            <a:r>
              <a:rPr lang="en-US" b="1" dirty="0"/>
              <a:t>D:</a:t>
            </a:r>
            <a:r>
              <a:rPr lang="en-US" dirty="0"/>
              <a:t> Training dataset </a:t>
            </a:r>
          </a:p>
          <a:p>
            <a:r>
              <a:rPr lang="en-US" b="1" dirty="0"/>
              <a:t>k:</a:t>
            </a:r>
            <a:r>
              <a:rPr lang="en-US" dirty="0"/>
              <a:t> Number of models to build </a:t>
            </a:r>
          </a:p>
          <a:p>
            <a:r>
              <a:rPr lang="en-US" b="1" dirty="0"/>
              <a:t>Learning method:</a:t>
            </a:r>
            <a:r>
              <a:rPr lang="en-US" dirty="0"/>
              <a:t> Any classifier (e.g., decision tree, Naive Bayes)</a:t>
            </a:r>
          </a:p>
          <a:p>
            <a:endParaRPr lang="en-US" dirty="0"/>
          </a:p>
          <a:p>
            <a:r>
              <a:rPr lang="en-US" b="1" dirty="0"/>
              <a:t>Output: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final combined model (ensemble)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Method (Steps):</a:t>
            </a:r>
            <a:endParaRPr lang="en-US" dirty="0"/>
          </a:p>
          <a:p>
            <a:r>
              <a:rPr lang="en-US" dirty="0"/>
              <a:t>Repeat for </a:t>
            </a:r>
            <a:r>
              <a:rPr lang="en-US" b="1" dirty="0" err="1"/>
              <a:t>i</a:t>
            </a:r>
            <a:r>
              <a:rPr lang="en-US" b="1" dirty="0"/>
              <a:t> = 1 to k</a:t>
            </a:r>
            <a:r>
              <a:rPr lang="en-US" dirty="0"/>
              <a:t> (create k models): </a:t>
            </a:r>
          </a:p>
          <a:p>
            <a:r>
              <a:rPr lang="en-US" dirty="0"/>
              <a:t>Create a </a:t>
            </a:r>
            <a:r>
              <a:rPr lang="en-US" b="1" dirty="0"/>
              <a:t>bootstrap sample Di</a:t>
            </a:r>
            <a:r>
              <a:rPr lang="en-US" dirty="0"/>
              <a:t> from D (random sampling with replacement). </a:t>
            </a:r>
          </a:p>
          <a:p>
            <a:r>
              <a:rPr lang="en-US" dirty="0"/>
              <a:t>Train a model </a:t>
            </a:r>
            <a:r>
              <a:rPr lang="en-US" b="1" dirty="0"/>
              <a:t>Mi</a:t>
            </a:r>
            <a:r>
              <a:rPr lang="en-US" dirty="0"/>
              <a:t> using Di. </a:t>
            </a:r>
          </a:p>
          <a:p>
            <a:r>
              <a:rPr lang="en-US" dirty="0"/>
              <a:t>End loop.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Prediction:</a:t>
            </a:r>
            <a:endParaRPr lang="en-US" dirty="0"/>
          </a:p>
          <a:p>
            <a:r>
              <a:rPr lang="en-US" dirty="0"/>
              <a:t>For a new data point </a:t>
            </a:r>
            <a:r>
              <a:rPr lang="en-US" b="1" dirty="0"/>
              <a:t>X</a:t>
            </a:r>
            <a:r>
              <a:rPr lang="en-US" dirty="0"/>
              <a:t>, all k models predict the class. </a:t>
            </a:r>
          </a:p>
          <a:p>
            <a:r>
              <a:rPr lang="en-US" dirty="0"/>
              <a:t>Final result is given by </a:t>
            </a:r>
            <a:r>
              <a:rPr lang="en-US" b="1" dirty="0"/>
              <a:t>majority voting</a:t>
            </a:r>
            <a:r>
              <a:rPr lang="en-US" dirty="0"/>
              <a:t> (most common class).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5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Like taking opinions from multiple doctors, but </a:t>
                </a:r>
                <a:r>
                  <a:rPr lang="en-US" b="1" dirty="0"/>
                  <a:t>more accurate doctors get more importance (weight)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How Boosting Works:</a:t>
                </a:r>
                <a:endParaRPr lang="en-US" dirty="0"/>
              </a:p>
              <a:p>
                <a:r>
                  <a:rPr lang="en-US" dirty="0"/>
                  <a:t>Each training sample is given a </a:t>
                </a:r>
                <a:r>
                  <a:rPr lang="en-US" b="1" dirty="0"/>
                  <a:t>weight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A sequence of </a:t>
                </a:r>
                <a:r>
                  <a:rPr lang="en-US" b="1" dirty="0"/>
                  <a:t>k classifiers is built one after another (sequentially)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After each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</a:p>
              <a:p>
                <a:pPr lvl="1"/>
                <a:r>
                  <a:rPr lang="en-US" dirty="0"/>
                  <a:t>We </a:t>
                </a:r>
                <a:r>
                  <a:rPr lang="en-US" b="1" dirty="0"/>
                  <a:t>increase weight of misclassified data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Next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focuses more on these difficult cases. </a:t>
                </a:r>
              </a:p>
              <a:p>
                <a:r>
                  <a:rPr lang="en-US" dirty="0"/>
                  <a:t>This process continues, so each new model </a:t>
                </a:r>
                <a:r>
                  <a:rPr lang="en-US" b="1" dirty="0"/>
                  <a:t>learns from previous mistakes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Final Prediction:</a:t>
                </a:r>
                <a:endParaRPr lang="en-US" dirty="0"/>
              </a:p>
              <a:p>
                <a:r>
                  <a:rPr lang="en-US" dirty="0"/>
                  <a:t>All models vote, but not equally. </a:t>
                </a:r>
              </a:p>
              <a:p>
                <a:r>
                  <a:rPr lang="en-US" b="1" dirty="0"/>
                  <a:t>More accurate models get higher weight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Final result is based on </a:t>
                </a:r>
                <a:r>
                  <a:rPr lang="en-US" b="1" dirty="0"/>
                  <a:t>weighted voting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155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Like taking opinions from multiple doctors, but </a:t>
                </a:r>
                <a:r>
                  <a:rPr lang="en-US" b="1" dirty="0"/>
                  <a:t>more accurate doctors get more importance (weight)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How Boosting Works:</a:t>
                </a:r>
                <a:endParaRPr lang="en-US" dirty="0"/>
              </a:p>
              <a:p>
                <a:r>
                  <a:rPr lang="en-US" dirty="0"/>
                  <a:t>Each training sample is given a </a:t>
                </a:r>
                <a:r>
                  <a:rPr lang="en-US" b="1" dirty="0"/>
                  <a:t>weight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A sequence of </a:t>
                </a:r>
                <a:r>
                  <a:rPr lang="en-US" b="1" dirty="0"/>
                  <a:t>k classifiers is built one after another (sequentially)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After each model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</a:t>
                </a:r>
                <a:r>
                  <a:rPr lang="ar-AE" dirty="0"/>
                  <a:t>: </a:t>
                </a:r>
              </a:p>
              <a:p>
                <a:pPr lvl="1"/>
                <a:r>
                  <a:rPr lang="en-US" dirty="0"/>
                  <a:t>We </a:t>
                </a:r>
                <a:r>
                  <a:rPr lang="en-US" b="1" dirty="0"/>
                  <a:t>increase weight of misclassified data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Next model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𝑀_(𝑖+1)</a:t>
                </a:r>
                <a:r>
                  <a:rPr lang="en-US" dirty="0"/>
                  <a:t>focuses more on these difficult cases. </a:t>
                </a:r>
              </a:p>
              <a:p>
                <a:r>
                  <a:rPr lang="en-US" dirty="0"/>
                  <a:t>This process continues, so each new model </a:t>
                </a:r>
                <a:r>
                  <a:rPr lang="en-US" b="1" dirty="0"/>
                  <a:t>learns from previous mistakes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Final Prediction:</a:t>
                </a:r>
                <a:endParaRPr lang="en-US" dirty="0"/>
              </a:p>
              <a:p>
                <a:r>
                  <a:rPr lang="en-US" dirty="0"/>
                  <a:t>All models vote, but not equally. </a:t>
                </a:r>
              </a:p>
              <a:p>
                <a:r>
                  <a:rPr lang="en-US" b="1" dirty="0"/>
                  <a:t>More accurate models get higher weight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Final result is based on </a:t>
                </a:r>
                <a:r>
                  <a:rPr lang="en-US" b="1" dirty="0"/>
                  <a:t>weighted voting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5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Start with </a:t>
                </a:r>
                <a:r>
                  <a:rPr lang="en-US" b="1" dirty="0"/>
                  <a:t>d training samples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 </a:t>
                </a:r>
                <a:r>
                  <a:rPr lang="en-US" dirty="0"/>
                  <a:t>Initially, all samples have </a:t>
                </a:r>
                <a:r>
                  <a:rPr lang="en-US" b="1" dirty="0"/>
                  <a:t>equal weight = 1/d</a:t>
                </a:r>
                <a:r>
                  <a:rPr lang="en-US" dirty="0"/>
                  <a:t>.</a:t>
                </a:r>
                <a:r>
                  <a:rPr lang="en-US" b="1" dirty="0"/>
                  <a:t> Process (k rounds):</a:t>
                </a:r>
                <a:endParaRPr lang="en-US" dirty="0"/>
              </a:p>
              <a:p>
                <a:r>
                  <a:rPr lang="en-US" b="1" dirty="0"/>
                  <a:t>For each round </a:t>
                </a:r>
                <a14:m>
                  <m:oMath xmlns:m="http://schemas.openxmlformats.org/officeDocument/2006/math">
                    <m:r>
                      <a:rPr lang="en-US" sz="1200" b="1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𝒊</m:t>
                    </m:r>
                  </m:oMath>
                </a14:m>
                <a:r>
                  <a:rPr lang="en-US" b="1" dirty="0"/>
                  <a:t>: </a:t>
                </a:r>
              </a:p>
              <a:p>
                <a:pPr lvl="1"/>
                <a:r>
                  <a:rPr lang="en-US" dirty="0"/>
                  <a:t>Create a training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by </a:t>
                </a:r>
                <a:r>
                  <a:rPr lang="en-US" b="1" dirty="0"/>
                  <a:t>sampling with replacement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Samples are chosen based on their </a:t>
                </a:r>
                <a:r>
                  <a:rPr lang="en-US" b="1" dirty="0"/>
                  <a:t>weights</a:t>
                </a:r>
                <a:r>
                  <a:rPr lang="en-US" dirty="0"/>
                  <a:t> (higher weight → higher chance). </a:t>
                </a:r>
              </a:p>
              <a:p>
                <a:pPr lvl="1"/>
                <a:r>
                  <a:rPr lang="en-US" dirty="0"/>
                  <a:t>Train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</a:p>
              <a:p>
                <a:r>
                  <a:rPr lang="en-US" b="1" dirty="0"/>
                  <a:t>Calculate error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𝑴</m:t>
                        </m:r>
                      </m:e>
                      <m:sub>
                        <m: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ar-AE" b="1" dirty="0"/>
                  <a:t>: </a:t>
                </a:r>
              </a:p>
              <a:p>
                <a:pPr lvl="1"/>
                <a:r>
                  <a:rPr lang="en-US" dirty="0"/>
                  <a:t>Error = sum of weights of </a:t>
                </a:r>
                <a:r>
                  <a:rPr lang="en-US" b="1" dirty="0"/>
                  <a:t>misclassified samples</a:t>
                </a:r>
                <a:r>
                  <a:rPr lang="en-US" dirty="0"/>
                  <a:t>. </a:t>
                </a:r>
              </a:p>
              <a:p>
                <a:r>
                  <a:rPr lang="en-US" b="1" dirty="0"/>
                  <a:t>Update weights: </a:t>
                </a:r>
              </a:p>
              <a:p>
                <a:pPr lvl="1"/>
                <a:r>
                  <a:rPr lang="en-US" dirty="0"/>
                  <a:t>If a sample is </a:t>
                </a:r>
                <a:r>
                  <a:rPr lang="en-US" b="1" dirty="0"/>
                  <a:t>misclassified → increase its weight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correctly classified → </a:t>
                </a:r>
                <a:r>
                  <a:rPr lang="en-US" b="1" dirty="0"/>
                  <a:t>decrease its weight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Each model gets a </a:t>
                </a:r>
                <a:r>
                  <a:rPr lang="en-US" b="1" dirty="0"/>
                  <a:t>vote weight based on its accuracy</a:t>
                </a:r>
                <a:r>
                  <a:rPr lang="en-US" dirty="0"/>
                  <a:t>: More accurate model → higher weight. </a:t>
                </a:r>
              </a:p>
              <a:p>
                <a:r>
                  <a:rPr lang="en-US" dirty="0"/>
                  <a:t>Final result is given by </a:t>
                </a:r>
                <a:r>
                  <a:rPr lang="en-US" b="1" dirty="0"/>
                  <a:t>weighted voting of all models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257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Start with </a:t>
                </a:r>
                <a:r>
                  <a:rPr lang="en-US" b="1" dirty="0"/>
                  <a:t>d training samples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(𝑋_1ⓜ,𝑦_1 ),…,(𝑋_𝑑ⓜ,𝑦_𝑑 )</a:t>
                </a:r>
                <a:r>
                  <a:rPr lang="ar-AE" dirty="0"/>
                  <a:t>. </a:t>
                </a:r>
                <a:r>
                  <a:rPr lang="en-US" dirty="0"/>
                  <a:t>Initially, all samples have </a:t>
                </a:r>
                <a:r>
                  <a:rPr lang="en-US" b="1" dirty="0"/>
                  <a:t>equal weight = 1/d</a:t>
                </a:r>
                <a:r>
                  <a:rPr lang="en-US" dirty="0"/>
                  <a:t>.</a:t>
                </a:r>
                <a:r>
                  <a:rPr lang="en-US" b="1" dirty="0"/>
                  <a:t> Process (k rounds):</a:t>
                </a:r>
                <a:endParaRPr lang="en-US" dirty="0"/>
              </a:p>
              <a:p>
                <a:r>
                  <a:rPr lang="en-US" dirty="0"/>
                  <a:t>For each round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Create a training set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𝐷_𝑖</a:t>
                </a:r>
                <a:r>
                  <a:rPr lang="en-US" dirty="0"/>
                  <a:t>by </a:t>
                </a:r>
                <a:r>
                  <a:rPr lang="en-US" b="1" dirty="0"/>
                  <a:t>sampling with replacement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Samples are chosen based on their </a:t>
                </a:r>
                <a:r>
                  <a:rPr lang="en-US" b="1" dirty="0"/>
                  <a:t>weights</a:t>
                </a:r>
                <a:r>
                  <a:rPr lang="en-US" dirty="0"/>
                  <a:t> (higher weight → higher chance). </a:t>
                </a:r>
              </a:p>
              <a:p>
                <a:pPr lvl="1"/>
                <a:r>
                  <a:rPr lang="en-US" dirty="0"/>
                  <a:t>Train a model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</a:t>
                </a:r>
                <a:r>
                  <a:rPr lang="en-US" dirty="0"/>
                  <a:t>using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𝐷_𝑖</a:t>
                </a:r>
                <a:r>
                  <a:rPr lang="ar-AE" dirty="0"/>
                  <a:t>. </a:t>
                </a:r>
              </a:p>
              <a:p>
                <a:r>
                  <a:rPr lang="en-US" dirty="0"/>
                  <a:t>Calculate </a:t>
                </a:r>
                <a:r>
                  <a:rPr lang="en-US" b="1" dirty="0"/>
                  <a:t>error of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</a:t>
                </a:r>
                <a:r>
                  <a:rPr lang="ar-AE" dirty="0"/>
                  <a:t>: </a:t>
                </a:r>
              </a:p>
              <a:p>
                <a:pPr lvl="1"/>
                <a:r>
                  <a:rPr lang="en-US" dirty="0"/>
                  <a:t>Error = sum of weights of </a:t>
                </a:r>
                <a:r>
                  <a:rPr lang="en-US" b="1" dirty="0"/>
                  <a:t>misclassified samples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Update weights: </a:t>
                </a:r>
              </a:p>
              <a:p>
                <a:pPr lvl="1"/>
                <a:r>
                  <a:rPr lang="en-US" dirty="0"/>
                  <a:t>If a sample is </a:t>
                </a:r>
                <a:r>
                  <a:rPr lang="en-US" b="1" dirty="0"/>
                  <a:t>misclassified → increase its weight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correctly classified → </a:t>
                </a:r>
                <a:r>
                  <a:rPr lang="en-US" b="1" dirty="0"/>
                  <a:t>decrease its weight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Each model gets a </a:t>
                </a:r>
                <a:r>
                  <a:rPr lang="en-US" b="1" dirty="0"/>
                  <a:t>vote weight based on its accuracy</a:t>
                </a:r>
                <a:r>
                  <a:rPr lang="en-US" dirty="0"/>
                  <a:t>: More accurate model → higher weight. </a:t>
                </a:r>
              </a:p>
              <a:p>
                <a:r>
                  <a:rPr lang="en-US" dirty="0"/>
                  <a:t>Final result is given by </a:t>
                </a:r>
                <a:r>
                  <a:rPr lang="en-US" b="1" dirty="0"/>
                  <a:t>weighted voting of all models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AdaBoost Algorithm – Exam Ready Steps</a:t>
                </a:r>
                <a:endParaRPr lang="en-US" dirty="0"/>
              </a:p>
              <a:p>
                <a:r>
                  <a:rPr lang="en-US" b="1" dirty="0"/>
                  <a:t>Idea:</a:t>
                </a:r>
                <a:br>
                  <a:rPr lang="en-US" dirty="0"/>
                </a:br>
                <a:r>
                  <a:rPr lang="en-US" dirty="0"/>
                  <a:t>Build multiple classifiers </a:t>
                </a:r>
                <a:r>
                  <a:rPr lang="en-US" b="1" dirty="0"/>
                  <a:t>sequentially</a:t>
                </a:r>
                <a:r>
                  <a:rPr lang="en-US" dirty="0"/>
                  <a:t>, each giving a </a:t>
                </a:r>
                <a:r>
                  <a:rPr lang="en-US" b="1" dirty="0"/>
                  <a:t>weighted vote</a:t>
                </a:r>
                <a:r>
                  <a:rPr lang="en-US" dirty="0"/>
                  <a:t>.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Input:</a:t>
                </a:r>
                <a:endParaRPr lang="en-US" dirty="0"/>
              </a:p>
              <a:p>
                <a:r>
                  <a:rPr lang="en-US" b="1" dirty="0"/>
                  <a:t>D:</a:t>
                </a:r>
                <a:r>
                  <a:rPr lang="en-US" dirty="0"/>
                  <a:t> Training dataset </a:t>
                </a:r>
              </a:p>
              <a:p>
                <a:r>
                  <a:rPr lang="en-US" b="1" dirty="0"/>
                  <a:t>k:</a:t>
                </a:r>
                <a:r>
                  <a:rPr lang="en-US" dirty="0"/>
                  <a:t> Number of rounds (models) </a:t>
                </a:r>
              </a:p>
              <a:p>
                <a:r>
                  <a:rPr lang="en-US" b="1" dirty="0"/>
                  <a:t>Learning method:</a:t>
                </a:r>
                <a:r>
                  <a:rPr lang="en-US" dirty="0"/>
                  <a:t> Any classifier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Output:</a:t>
                </a:r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combined (ensemble) model</a:t>
                </a:r>
                <a:r>
                  <a:rPr lang="en-US" dirty="0"/>
                  <a:t>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Method (Steps):</a:t>
                </a:r>
                <a:endParaRPr lang="en-US" dirty="0"/>
              </a:p>
              <a:p>
                <a:r>
                  <a:rPr lang="en-US" dirty="0"/>
                  <a:t>Initialize weight of each sample = </a:t>
                </a:r>
                <a:r>
                  <a:rPr lang="en-US" b="1" dirty="0"/>
                  <a:t>1/d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For </a:t>
                </a:r>
                <a:r>
                  <a:rPr lang="en-US" b="1" dirty="0" err="1"/>
                  <a:t>i</a:t>
                </a:r>
                <a:r>
                  <a:rPr lang="en-US" b="1" dirty="0"/>
                  <a:t> = 1 to k (each round):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Sample data </a:t>
                </a:r>
                <a:r>
                  <a:rPr lang="en-US" b="1" dirty="0"/>
                  <a:t>based on weights</a:t>
                </a:r>
                <a:r>
                  <a:rPr lang="en-US" dirty="0"/>
                  <a:t> to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</a:p>
              <a:p>
                <a:pPr lvl="1"/>
                <a:r>
                  <a:rPr lang="en-US" dirty="0"/>
                  <a:t>Train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</a:p>
              <a:p>
                <a:pPr lvl="1"/>
                <a:r>
                  <a:rPr lang="en-US" dirty="0"/>
                  <a:t>Compute </a:t>
                </a:r>
                <a:r>
                  <a:rPr lang="en-US" b="1" dirty="0"/>
                  <a:t>error(</a:t>
                </a:r>
                <a:r>
                  <a:rPr lang="en-US" b="1" dirty="0" err="1"/>
                  <a:t>M_i</a:t>
                </a:r>
                <a:r>
                  <a:rPr lang="en-US" b="1" dirty="0"/>
                  <a:t>)</a:t>
                </a:r>
                <a:r>
                  <a:rPr lang="en-US" dirty="0"/>
                  <a:t> (weighted error). </a:t>
                </a:r>
              </a:p>
              <a:p>
                <a:r>
                  <a:rPr lang="en-US" dirty="0"/>
                  <a:t>If </a:t>
                </a:r>
                <a:r>
                  <a:rPr lang="en-US" b="1" dirty="0"/>
                  <a:t>error(</a:t>
                </a:r>
                <a:r>
                  <a:rPr lang="en-US" b="1" dirty="0" err="1"/>
                  <a:t>M_i</a:t>
                </a:r>
                <a:r>
                  <a:rPr lang="en-US" b="1" dirty="0"/>
                  <a:t>) &gt; 0.5</a:t>
                </a:r>
                <a:r>
                  <a:rPr lang="en-US" dirty="0"/>
                  <a:t>, discard and retrain. </a:t>
                </a:r>
              </a:p>
              <a:p>
                <a:r>
                  <a:rPr lang="en-US" dirty="0"/>
                  <a:t>Update weights: </a:t>
                </a:r>
              </a:p>
              <a:p>
                <a:pPr lvl="1"/>
                <a:r>
                  <a:rPr lang="en-US" b="1" dirty="0"/>
                  <a:t>Correctly classified → decrease weight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Misclassified → increase importance (relatively higher weight)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Normalize weights (so total = 1).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Final Prediction:</a:t>
                </a:r>
                <a:endParaRPr lang="en-US" dirty="0"/>
              </a:p>
              <a:p>
                <a:r>
                  <a:rPr lang="en-US" dirty="0"/>
                  <a:t>Combine all models using </a:t>
                </a:r>
                <a:r>
                  <a:rPr lang="en-US" b="1" dirty="0"/>
                  <a:t>weighted voting</a:t>
                </a:r>
                <a:r>
                  <a:rPr lang="en-US" dirty="0"/>
                  <a:t> (better models → higher weight).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9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AdaBoost Algorithm – Exam Ready Steps</a:t>
                </a:r>
                <a:endParaRPr lang="en-US" dirty="0"/>
              </a:p>
              <a:p>
                <a:r>
                  <a:rPr lang="en-US" b="1" dirty="0"/>
                  <a:t>Idea:</a:t>
                </a:r>
                <a:br>
                  <a:rPr lang="en-US" dirty="0"/>
                </a:br>
                <a:r>
                  <a:rPr lang="en-US" dirty="0"/>
                  <a:t>Build multiple classifiers </a:t>
                </a:r>
                <a:r>
                  <a:rPr lang="en-US" b="1" dirty="0"/>
                  <a:t>sequentially</a:t>
                </a:r>
                <a:r>
                  <a:rPr lang="en-US" dirty="0"/>
                  <a:t>, each giving a </a:t>
                </a:r>
                <a:r>
                  <a:rPr lang="en-US" b="1" dirty="0"/>
                  <a:t>weighted vote</a:t>
                </a:r>
                <a:r>
                  <a:rPr lang="en-US" dirty="0"/>
                  <a:t>.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Input:</a:t>
                </a:r>
                <a:endParaRPr lang="en-US" dirty="0"/>
              </a:p>
              <a:p>
                <a:r>
                  <a:rPr lang="en-US" b="1" dirty="0"/>
                  <a:t>D:</a:t>
                </a:r>
                <a:r>
                  <a:rPr lang="en-US" dirty="0"/>
                  <a:t> Training dataset </a:t>
                </a:r>
              </a:p>
              <a:p>
                <a:r>
                  <a:rPr lang="en-US" b="1" dirty="0"/>
                  <a:t>k:</a:t>
                </a:r>
                <a:r>
                  <a:rPr lang="en-US" dirty="0"/>
                  <a:t> Number of rounds (models) </a:t>
                </a:r>
              </a:p>
              <a:p>
                <a:r>
                  <a:rPr lang="en-US" b="1" dirty="0"/>
                  <a:t>Learning method:</a:t>
                </a:r>
                <a:r>
                  <a:rPr lang="en-US" dirty="0"/>
                  <a:t> Any classifier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Output:</a:t>
                </a:r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combined (ensemble) model</a:t>
                </a:r>
                <a:r>
                  <a:rPr lang="en-US" dirty="0"/>
                  <a:t>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Method (Steps):</a:t>
                </a:r>
                <a:endParaRPr lang="en-US" dirty="0"/>
              </a:p>
              <a:p>
                <a:r>
                  <a:rPr lang="en-US" dirty="0"/>
                  <a:t>Initialize weight of each sample = </a:t>
                </a:r>
                <a:r>
                  <a:rPr lang="en-US" b="1" dirty="0"/>
                  <a:t>1/d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For </a:t>
                </a:r>
                <a:r>
                  <a:rPr lang="en-US" b="1" dirty="0" err="1"/>
                  <a:t>i</a:t>
                </a:r>
                <a:r>
                  <a:rPr lang="en-US" b="1" dirty="0"/>
                  <a:t> = 1 to k (each round):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Sample data </a:t>
                </a:r>
                <a:r>
                  <a:rPr lang="en-US" b="1" dirty="0"/>
                  <a:t>based on weights</a:t>
                </a:r>
                <a:r>
                  <a:rPr lang="en-US" dirty="0"/>
                  <a:t> to form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𝐷_𝑖</a:t>
                </a:r>
                <a:r>
                  <a:rPr lang="ar-AE" dirty="0"/>
                  <a:t>. </a:t>
                </a:r>
              </a:p>
              <a:p>
                <a:pPr lvl="1"/>
                <a:r>
                  <a:rPr lang="en-US" dirty="0"/>
                  <a:t>Train model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</a:t>
                </a:r>
                <a:r>
                  <a:rPr lang="en-US" dirty="0"/>
                  <a:t>using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𝐷_𝑖</a:t>
                </a:r>
                <a:r>
                  <a:rPr lang="ar-AE" dirty="0"/>
                  <a:t>. </a:t>
                </a:r>
              </a:p>
              <a:p>
                <a:pPr lvl="1"/>
                <a:r>
                  <a:rPr lang="en-US" dirty="0"/>
                  <a:t>Compute </a:t>
                </a:r>
                <a:r>
                  <a:rPr lang="en-US" b="1" dirty="0"/>
                  <a:t>error(</a:t>
                </a:r>
                <a:r>
                  <a:rPr lang="en-US" b="1" dirty="0" err="1"/>
                  <a:t>M_i</a:t>
                </a:r>
                <a:r>
                  <a:rPr lang="en-US" b="1" dirty="0"/>
                  <a:t>)</a:t>
                </a:r>
                <a:r>
                  <a:rPr lang="en-US" dirty="0"/>
                  <a:t> (weighted error). </a:t>
                </a:r>
              </a:p>
              <a:p>
                <a:r>
                  <a:rPr lang="en-US" dirty="0"/>
                  <a:t>If </a:t>
                </a:r>
                <a:r>
                  <a:rPr lang="en-US" b="1" dirty="0"/>
                  <a:t>error(</a:t>
                </a:r>
                <a:r>
                  <a:rPr lang="en-US" b="1" dirty="0" err="1"/>
                  <a:t>M_i</a:t>
                </a:r>
                <a:r>
                  <a:rPr lang="en-US" b="1" dirty="0"/>
                  <a:t>) &gt; 0.5</a:t>
                </a:r>
                <a:r>
                  <a:rPr lang="en-US" dirty="0"/>
                  <a:t>, discard and retrain. </a:t>
                </a:r>
              </a:p>
              <a:p>
                <a:r>
                  <a:rPr lang="en-US" dirty="0"/>
                  <a:t>Update weights: </a:t>
                </a:r>
              </a:p>
              <a:p>
                <a:pPr lvl="1"/>
                <a:r>
                  <a:rPr lang="en-US" b="1" dirty="0"/>
                  <a:t>Correctly classified → decrease weight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Misclassified → increase importance (relatively higher weight)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Normalize weights (so total = 1).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Final Prediction:</a:t>
                </a:r>
                <a:endParaRPr lang="en-US" dirty="0"/>
              </a:p>
              <a:p>
                <a:r>
                  <a:rPr lang="en-US" dirty="0"/>
                  <a:t>Combine all models using </a:t>
                </a:r>
                <a:r>
                  <a:rPr lang="en-US" b="1" dirty="0"/>
                  <a:t>weighted voting</a:t>
                </a:r>
                <a:r>
                  <a:rPr lang="en-US" dirty="0"/>
                  <a:t> (better models → higher weight).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Boosting Prediction (Using Ensemble) – Exam Ready</a:t>
                </a:r>
                <a:endParaRPr lang="en-US" dirty="0"/>
              </a:p>
              <a:p>
                <a:r>
                  <a:rPr lang="en-US" dirty="0"/>
                  <a:t>To classify a new tuple </a:t>
                </a:r>
                <a:r>
                  <a:rPr lang="en-US" b="1" dirty="0"/>
                  <a:t>X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Initialize </a:t>
                </a:r>
                <a:r>
                  <a:rPr lang="en-US" b="1" dirty="0"/>
                  <a:t>weight of each class = 0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For each classifier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 = 1 to k): </a:t>
                </a:r>
              </a:p>
              <a:p>
                <a:pPr lvl="1"/>
                <a:r>
                  <a:rPr lang="en-US" dirty="0"/>
                  <a:t>Compute classifier weight: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𝑒𝑟𝑟𝑜𝑟</m:t>
                                  </m:r>
                                  <m:d>
                                    <m:dPr>
                                      <m:ctrlP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𝑒𝑟𝑟𝑜𝑟</m:t>
                                  </m:r>
                                  <m:d>
                                    <m:dPr>
                                      <m:ctrlP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ar-AE" sz="1200" i="1" kern="12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Get prediction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to the total weight of class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After all classifiers vote: </a:t>
                </a:r>
              </a:p>
              <a:p>
                <a:pPr lvl="1"/>
                <a:r>
                  <a:rPr lang="en-US" dirty="0"/>
                  <a:t>Choose the class with the </a:t>
                </a:r>
                <a:r>
                  <a:rPr lang="en-US" b="1" dirty="0"/>
                  <a:t>highest total weight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9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b="1" dirty="0"/>
                  <a:t>Boosting Prediction (Using Ensemble) – Exam Ready</a:t>
                </a:r>
                <a:endParaRPr lang="en-US" dirty="0"/>
              </a:p>
              <a:p>
                <a:r>
                  <a:rPr lang="en-US" dirty="0"/>
                  <a:t>To classify a new tuple </a:t>
                </a:r>
                <a:r>
                  <a:rPr lang="en-US" b="1" dirty="0"/>
                  <a:t>X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Initialize </a:t>
                </a:r>
                <a:r>
                  <a:rPr lang="en-US" b="1" dirty="0"/>
                  <a:t>weight of each class = 0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For each classifier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</a:t>
                </a:r>
                <a:r>
                  <a:rPr lang="ar-AE" dirty="0"/>
                  <a:t>(</a:t>
                </a:r>
                <a:r>
                  <a:rPr lang="en-US" dirty="0" err="1"/>
                  <a:t>i</a:t>
                </a:r>
                <a:r>
                  <a:rPr lang="en-US" dirty="0"/>
                  <a:t> = 1 to k): </a:t>
                </a:r>
              </a:p>
              <a:p>
                <a:pPr lvl="1"/>
                <a:r>
                  <a:rPr lang="en-US" dirty="0"/>
                  <a:t>Compute classifier weight:</a:t>
                </a:r>
                <a:br>
                  <a:rPr lang="en-US" dirty="0"/>
                </a:b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𝑤_𝑖=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⁡((1−𝑒𝑟𝑟𝑜𝑟(𝑀_𝑖 ))/𝑒𝑟𝑟𝑜𝑟(𝑀_𝑖 ) )</a:t>
                </a:r>
                <a:endParaRPr lang="ar-AE" dirty="0"/>
              </a:p>
              <a:p>
                <a:pPr lvl="1"/>
                <a:r>
                  <a:rPr lang="en-US" dirty="0"/>
                  <a:t>Get prediction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𝑀_𝑖 (𝑋)</a:t>
                </a:r>
                <a:r>
                  <a:rPr lang="ar-AE" dirty="0"/>
                  <a:t>. </a:t>
                </a:r>
              </a:p>
              <a:p>
                <a:pPr lvl="1"/>
                <a:r>
                  <a:rPr lang="en-US" dirty="0"/>
                  <a:t>Add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𝑤_𝑖</a:t>
                </a:r>
                <a:r>
                  <a:rPr lang="en-US" dirty="0"/>
                  <a:t>to the total weight of class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After all classifiers vote: </a:t>
                </a:r>
              </a:p>
              <a:p>
                <a:pPr lvl="1"/>
                <a:r>
                  <a:rPr lang="en-US" dirty="0"/>
                  <a:t>Choose the class with the </a:t>
                </a:r>
                <a:r>
                  <a:rPr lang="en-US" b="1" dirty="0"/>
                  <a:t>highest total weight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Random Forest – Exam Ready Explanation</a:t>
            </a:r>
            <a:endParaRPr lang="en-US" dirty="0"/>
          </a:p>
          <a:p>
            <a:r>
              <a:rPr lang="en-US" b="1" dirty="0"/>
              <a:t>Random Forest:</a:t>
            </a:r>
            <a:br>
              <a:rPr lang="en-US" dirty="0"/>
            </a:br>
            <a:r>
              <a:rPr lang="en-US" dirty="0"/>
              <a:t>An ensemble method where each model is a </a:t>
            </a:r>
            <a:r>
              <a:rPr lang="en-US" b="1" dirty="0"/>
              <a:t>decision tree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tree is built using a </a:t>
            </a:r>
            <a:r>
              <a:rPr lang="en-US" b="1" dirty="0"/>
              <a:t>random subset of features</a:t>
            </a:r>
            <a:r>
              <a:rPr lang="en-US" dirty="0"/>
              <a:t> at each split. </a:t>
            </a:r>
          </a:p>
          <a:p>
            <a:r>
              <a:rPr lang="en-US" dirty="0"/>
              <a:t>During prediction: </a:t>
            </a:r>
          </a:p>
          <a:p>
            <a:pPr lvl="1"/>
            <a:r>
              <a:rPr lang="en-US" dirty="0"/>
              <a:t>Each tree gives a </a:t>
            </a:r>
            <a:r>
              <a:rPr lang="en-US" b="1" dirty="0"/>
              <a:t>vote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Final class = </a:t>
            </a:r>
            <a:r>
              <a:rPr lang="en-US" b="1" dirty="0"/>
              <a:t>majority vote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Methods to Build Random Forest:</a:t>
            </a:r>
            <a:endParaRPr lang="en-US" dirty="0"/>
          </a:p>
          <a:p>
            <a:r>
              <a:rPr lang="en-US" b="1" dirty="0"/>
              <a:t>Forest-RI (Random Input Selection):</a:t>
            </a:r>
            <a:br>
              <a:rPr lang="en-US" dirty="0"/>
            </a:br>
            <a:r>
              <a:rPr lang="en-US" dirty="0"/>
              <a:t>At each node, randomly select a subset of features to decide the split. </a:t>
            </a:r>
          </a:p>
          <a:p>
            <a:r>
              <a:rPr lang="en-US" b="1" dirty="0"/>
              <a:t>Forest-RC (Random Combination):</a:t>
            </a:r>
            <a:br>
              <a:rPr lang="en-US" dirty="0"/>
            </a:br>
            <a:r>
              <a:rPr lang="en-US" dirty="0"/>
              <a:t>Create new features by combining existing ones (linear combination) to reduce similarity between trees.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US" dirty="0"/>
              <a:t>Accuracy is </a:t>
            </a:r>
            <a:r>
              <a:rPr lang="en-US" b="1" dirty="0"/>
              <a:t>similar to AdaBoost</a:t>
            </a:r>
            <a:r>
              <a:rPr lang="en-US" dirty="0"/>
              <a:t>, but more </a:t>
            </a:r>
            <a:r>
              <a:rPr lang="en-US" b="1" dirty="0"/>
              <a:t>robust to noise and outliers</a:t>
            </a:r>
            <a:r>
              <a:rPr lang="en-US" dirty="0"/>
              <a:t>. </a:t>
            </a:r>
          </a:p>
          <a:p>
            <a:r>
              <a:rPr lang="en-US" b="1" dirty="0"/>
              <a:t>Less sensitive</a:t>
            </a:r>
            <a:r>
              <a:rPr lang="en-US" dirty="0"/>
              <a:t> to number of features selected at each split. </a:t>
            </a:r>
          </a:p>
          <a:p>
            <a:r>
              <a:rPr lang="en-US" dirty="0"/>
              <a:t>Usually </a:t>
            </a:r>
            <a:r>
              <a:rPr lang="en-US" b="1" dirty="0"/>
              <a:t>faster than bagging and boosting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99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/>
          </a:bodyPr>
          <a:lstStyle/>
          <a:p>
            <a:r>
              <a:rPr lang="en-US" b="1" dirty="0"/>
              <a:t>Class-Imbalanced Data Sets – Exam Ready Explanation</a:t>
            </a:r>
            <a:endParaRPr lang="en-US" dirty="0"/>
          </a:p>
          <a:p>
            <a:r>
              <a:rPr lang="en-US" b="1" dirty="0"/>
              <a:t>Class imbalance problem:</a:t>
            </a:r>
            <a:br>
              <a:rPr lang="en-US" dirty="0"/>
            </a:br>
            <a:r>
              <a:rPr lang="en-US" dirty="0"/>
              <a:t>One class (usually positive) has </a:t>
            </a:r>
            <a:r>
              <a:rPr lang="en-US" b="1" dirty="0"/>
              <a:t>very few examples</a:t>
            </a:r>
            <a:r>
              <a:rPr lang="en-US" dirty="0"/>
              <a:t>, while the other (negative) has many.</a:t>
            </a:r>
            <a:br>
              <a:rPr lang="en-US" dirty="0"/>
            </a:br>
            <a:r>
              <a:rPr lang="en-US" dirty="0"/>
              <a:t>Example: fraud detection, medical diagnosis. </a:t>
            </a:r>
          </a:p>
          <a:p>
            <a:r>
              <a:rPr lang="en-US" dirty="0"/>
              <a:t>Traditional methods assume </a:t>
            </a:r>
            <a:r>
              <a:rPr lang="en-US" b="1" dirty="0"/>
              <a:t>balanced classes and equal error cost</a:t>
            </a:r>
            <a:r>
              <a:rPr lang="en-US" dirty="0"/>
              <a:t>, so they </a:t>
            </a:r>
            <a:r>
              <a:rPr lang="en-US" b="1" dirty="0"/>
              <a:t>do not work well</a:t>
            </a:r>
            <a:r>
              <a:rPr lang="en-US" dirty="0"/>
              <a:t> for imbalanced data.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Methods to Handle Imbalance:</a:t>
            </a:r>
            <a:endParaRPr lang="en-US" dirty="0"/>
          </a:p>
          <a:p>
            <a:r>
              <a:rPr lang="en-US" b="1" dirty="0"/>
              <a:t>Oversampling:</a:t>
            </a:r>
            <a:br>
              <a:rPr lang="en-US" dirty="0"/>
            </a:br>
            <a:r>
              <a:rPr lang="en-US" dirty="0"/>
              <a:t>Increase samples of the </a:t>
            </a:r>
            <a:r>
              <a:rPr lang="en-US" b="1" dirty="0"/>
              <a:t>minority (positive) class</a:t>
            </a:r>
            <a:r>
              <a:rPr lang="en-US" dirty="0"/>
              <a:t> by resampling. </a:t>
            </a:r>
          </a:p>
          <a:p>
            <a:r>
              <a:rPr lang="en-US" b="1" dirty="0" err="1"/>
              <a:t>Undersampling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Reduce samples from the </a:t>
            </a:r>
            <a:r>
              <a:rPr lang="en-US" b="1" dirty="0"/>
              <a:t>majority (negative) class</a:t>
            </a:r>
            <a:r>
              <a:rPr lang="en-US" dirty="0"/>
              <a:t>. </a:t>
            </a:r>
          </a:p>
          <a:p>
            <a:r>
              <a:rPr lang="en-US" b="1" dirty="0"/>
              <a:t>Threshold-moving:</a:t>
            </a:r>
            <a:br>
              <a:rPr lang="en-US" dirty="0"/>
            </a:br>
            <a:r>
              <a:rPr lang="en-US" dirty="0"/>
              <a:t>Change decision threshold so that </a:t>
            </a:r>
            <a:r>
              <a:rPr lang="en-US" b="1" dirty="0"/>
              <a:t>minority class is easier to detect</a:t>
            </a:r>
            <a:r>
              <a:rPr lang="en-US" dirty="0"/>
              <a:t>, reducing false negatives. </a:t>
            </a:r>
          </a:p>
          <a:p>
            <a:r>
              <a:rPr lang="en-US" b="1" dirty="0"/>
              <a:t>Ensemble techniques:</a:t>
            </a:r>
            <a:br>
              <a:rPr lang="en-US" dirty="0"/>
            </a:br>
            <a:r>
              <a:rPr lang="en-US" dirty="0"/>
              <a:t>Use multiple classifiers together to improve performance. </a:t>
            </a:r>
          </a:p>
          <a:p>
            <a:br>
              <a:rPr lang="en-US" dirty="0"/>
            </a:br>
            <a:r>
              <a:rPr lang="en-US" b="1" dirty="0"/>
              <a:t>Limitation:</a:t>
            </a:r>
            <a:br>
              <a:rPr lang="en-US" dirty="0"/>
            </a:br>
            <a:r>
              <a:rPr lang="en-US" dirty="0"/>
              <a:t>Handling imbalance is still </a:t>
            </a:r>
            <a:r>
              <a:rPr lang="en-US" b="1" dirty="0"/>
              <a:t>difficult for multiclass problems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CS252 S05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E8ECEB-82CC-4598-934F-541F9CB94AD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085F-0862-4687-969E-A113ED526F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212DC-59E6-444E-AD7D-AB217D4E46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1DB46-EA3B-4771-84A7-EF2A89089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7241A-14B4-47C9-97AA-E825931DE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99CB-E299-4B2F-A5FF-BAA7A4455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54605-094D-467A-98B4-485DD3857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456F1-5FD4-4074-A7F5-122F6C81D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69C9D-9F2F-431A-8109-7CE4B4AFDF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69A7-3DB0-47C4-8AB7-03B3E235F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5A3F1-4B91-4C91-96E0-C7B24072A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256C4-D2FC-483B-A9EE-73C10A4B5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D61D0-5A32-4214-9618-E7413E4A3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FB4B7-C880-4E23-B63A-36FC71DF6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00500"/>
            <a:ext cx="8458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F334B-3E70-4F21-AE6F-BFBA6B8E5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AFD74-5170-4EB8-8EBC-53EAF0F4B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716607F1-F5B4-40CE-9840-A0B6A98E7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717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5" r:id="rId13"/>
    <p:sldLayoutId id="2147483826" r:id="rId14"/>
    <p:sldLayoutId id="2147483827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990600"/>
            <a:ext cx="6781800" cy="1066800"/>
          </a:xfrm>
        </p:spPr>
        <p:txBody>
          <a:bodyPr/>
          <a:lstStyle/>
          <a:p>
            <a:pPr algn="ctr" eaLnBrk="1" hangingPunct="1"/>
            <a:r>
              <a:rPr lang="en-US" sz="2800" dirty="0"/>
              <a:t>Data Mining (CSE 6506)</a:t>
            </a:r>
            <a:br>
              <a:rPr lang="en-US" sz="2800" dirty="0"/>
            </a:br>
            <a:br>
              <a:rPr lang="en-US" sz="2800" dirty="0"/>
            </a:br>
            <a:endParaRPr lang="en-US" sz="2800" b="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sz="2400"/>
              <a:t>Mahmuda</a:t>
            </a:r>
            <a:r>
              <a:rPr lang="en-US" sz="2400" dirty="0"/>
              <a:t> </a:t>
            </a:r>
            <a:r>
              <a:rPr lang="en-US" sz="2400" dirty="0" err="1"/>
              <a:t>Naznin</a:t>
            </a: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Department of Computer Science Engineering, BUET </a:t>
            </a:r>
            <a:br>
              <a:rPr lang="en-US" sz="2400" dirty="0"/>
            </a:b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1905000"/>
            <a:ext cx="6781800" cy="609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/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Classification</a:t>
            </a:r>
            <a:r>
              <a:rPr kumimoji="0" lang="en-US" sz="2800" b="1" i="0" u="none" strike="noStrike" kern="0" cap="none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-Ensemble Methods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/>
              <a:t>Classification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dirty="0" err="1"/>
              <a:t>Bayes</a:t>
            </a:r>
            <a:r>
              <a:rPr lang="en-US" dirty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b="1" i="1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dirty="0"/>
              <a:t>Techniques to Improve Classification Accuracy: Ensemble Methods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i="1" dirty="0"/>
              <a:t>Evaluation metrics-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i="1" dirty="0"/>
              <a:t>	</a:t>
            </a:r>
            <a:r>
              <a:rPr lang="en-US" sz="2400" dirty="0"/>
              <a:t>How can we measure accuracy?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/>
              <a:t>	Other metrics to consider?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Use </a:t>
            </a:r>
            <a:r>
              <a:rPr lang="en-US" sz="2400" b="1" i="1" dirty="0"/>
              <a:t>validation test set</a:t>
            </a:r>
            <a:r>
              <a:rPr lang="en-US" sz="2400" dirty="0"/>
              <a:t> of class-labeled </a:t>
            </a:r>
            <a:r>
              <a:rPr lang="en-US" sz="2400" dirty="0" err="1"/>
              <a:t>tuples</a:t>
            </a:r>
            <a:r>
              <a:rPr lang="en-US" sz="2400" dirty="0"/>
              <a:t> instead of training set when assessing accuracy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b="1" i="1" dirty="0"/>
              <a:t>Methods for estimating a classifier’s accuracy-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Holdout method, random sub-sampling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Cross-validation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Bootstrap</a:t>
            </a:r>
          </a:p>
          <a:p>
            <a:pPr lvl="1">
              <a:lnSpc>
                <a:spcPct val="90000"/>
              </a:lnSpc>
            </a:pPr>
            <a:endParaRPr lang="en-US" sz="2200" dirty="0"/>
          </a:p>
          <a:p>
            <a:pPr eaLnBrk="1" hangingPunct="1">
              <a:lnSpc>
                <a:spcPct val="90000"/>
              </a:lnSpc>
            </a:pPr>
            <a:r>
              <a:rPr lang="en-US" sz="2400" b="1" i="1" dirty="0"/>
              <a:t>Comparing classifiers-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ROC Curves</a:t>
            </a:r>
          </a:p>
          <a:p>
            <a:pPr eaLnBrk="1" hangingPunct="1">
              <a:lnSpc>
                <a:spcPct val="90000"/>
              </a:lnSpc>
            </a:pPr>
            <a:endParaRPr lang="en-US" sz="2400" i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Model Evaluation and Selection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4038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2400" dirty="0">
                <a:solidFill>
                  <a:srgbClr val="FF0000"/>
                </a:solidFill>
              </a:rPr>
              <a:t>Positive </a:t>
            </a:r>
            <a:r>
              <a:rPr lang="en-AU" sz="2400" dirty="0" err="1">
                <a:solidFill>
                  <a:srgbClr val="FF0000"/>
                </a:solidFill>
              </a:rPr>
              <a:t>tuples</a:t>
            </a:r>
            <a:r>
              <a:rPr lang="en-AU" sz="2400" dirty="0"/>
              <a:t>- </a:t>
            </a:r>
            <a:r>
              <a:rPr lang="en-AU" sz="2400" dirty="0" err="1"/>
              <a:t>tuples</a:t>
            </a:r>
            <a:r>
              <a:rPr lang="en-AU" sz="2400" dirty="0"/>
              <a:t> of the main class of interest</a:t>
            </a:r>
          </a:p>
          <a:p>
            <a:pPr>
              <a:lnSpc>
                <a:spcPct val="90000"/>
              </a:lnSpc>
            </a:pPr>
            <a:r>
              <a:rPr lang="en-AU" sz="2400" dirty="0">
                <a:solidFill>
                  <a:srgbClr val="FF0000"/>
                </a:solidFill>
              </a:rPr>
              <a:t>Negative </a:t>
            </a:r>
            <a:r>
              <a:rPr lang="en-AU" sz="2400" dirty="0" err="1">
                <a:solidFill>
                  <a:srgbClr val="FF0000"/>
                </a:solidFill>
              </a:rPr>
              <a:t>tuples</a:t>
            </a:r>
            <a:r>
              <a:rPr lang="en-AU" sz="2400" dirty="0"/>
              <a:t>- </a:t>
            </a:r>
            <a:r>
              <a:rPr lang="en-AU" sz="2400" dirty="0" err="1"/>
              <a:t>tuples</a:t>
            </a:r>
            <a:r>
              <a:rPr lang="en-AU" sz="2400" dirty="0"/>
              <a:t> of the other class</a:t>
            </a:r>
          </a:p>
          <a:p>
            <a:pPr>
              <a:lnSpc>
                <a:spcPct val="90000"/>
              </a:lnSpc>
            </a:pPr>
            <a:endParaRPr lang="en-AU" sz="2400" i="1" dirty="0"/>
          </a:p>
          <a:p>
            <a:pPr>
              <a:lnSpc>
                <a:spcPct val="90000"/>
              </a:lnSpc>
            </a:pPr>
            <a:r>
              <a:rPr lang="en-AU" sz="2400" dirty="0"/>
              <a:t>True Positives- positive </a:t>
            </a:r>
            <a:r>
              <a:rPr lang="en-AU" sz="2400" dirty="0" err="1"/>
              <a:t>tuples</a:t>
            </a:r>
            <a:r>
              <a:rPr lang="en-AU" sz="2400" dirty="0"/>
              <a:t> correctly </a:t>
            </a:r>
            <a:r>
              <a:rPr lang="en-AU" sz="2400" dirty="0" err="1"/>
              <a:t>labeled</a:t>
            </a:r>
            <a:r>
              <a:rPr lang="en-AU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True Negatives- negative </a:t>
            </a:r>
            <a:r>
              <a:rPr lang="en-AU" sz="2400" dirty="0" err="1"/>
              <a:t>tuples</a:t>
            </a:r>
            <a:r>
              <a:rPr lang="en-AU" sz="2400" dirty="0"/>
              <a:t> correctly </a:t>
            </a:r>
            <a:r>
              <a:rPr lang="en-AU" sz="2400" dirty="0" err="1"/>
              <a:t>labeled</a:t>
            </a:r>
            <a:r>
              <a:rPr lang="en-AU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False Positives- negative </a:t>
            </a:r>
            <a:r>
              <a:rPr lang="en-AU" sz="2400" dirty="0" err="1"/>
              <a:t>tuples</a:t>
            </a:r>
            <a:r>
              <a:rPr lang="en-AU" sz="2400" dirty="0"/>
              <a:t> incorrectly </a:t>
            </a:r>
            <a:r>
              <a:rPr lang="en-AU" sz="2400" dirty="0" err="1"/>
              <a:t>labeled</a:t>
            </a:r>
            <a:r>
              <a:rPr lang="en-AU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False Negatives- positive </a:t>
            </a:r>
            <a:r>
              <a:rPr lang="en-AU" sz="2400" dirty="0" err="1"/>
              <a:t>tuples</a:t>
            </a:r>
            <a:r>
              <a:rPr lang="en-AU" sz="2400" dirty="0"/>
              <a:t> incorrectly </a:t>
            </a:r>
            <a:r>
              <a:rPr lang="en-AU" sz="2400" dirty="0" err="1"/>
              <a:t>labeled</a:t>
            </a:r>
            <a:endParaRPr lang="en-US" sz="2400" i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Model Evaluation and Selection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228600"/>
            <a:ext cx="9144000" cy="7620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Evaluation Metrics- </a:t>
            </a:r>
            <a:r>
              <a:rPr lang="en-US" sz="3600" b="1" i="1" dirty="0">
                <a:solidFill>
                  <a:schemeClr val="tx2"/>
                </a:solidFill>
                <a:latin typeface="+mj-lt"/>
              </a:rPr>
              <a:t>Confusion Matrix</a:t>
            </a:r>
          </a:p>
        </p:txBody>
      </p:sp>
      <p:graphicFrame>
        <p:nvGraphicFramePr>
          <p:cNvPr id="61519" name="Group 79"/>
          <p:cNvGraphicFramePr>
            <a:graphicFrameLocks noGrp="1"/>
          </p:cNvGraphicFramePr>
          <p:nvPr>
            <p:ph sz="half" idx="1"/>
          </p:nvPr>
        </p:nvGraphicFramePr>
        <p:xfrm>
          <a:off x="1066800" y="3352800"/>
          <a:ext cx="7010400" cy="1935163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254" name="Rectangle 6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5372100"/>
            <a:ext cx="8458200" cy="1257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Given</a:t>
            </a:r>
            <a:r>
              <a:rPr lang="en-US" sz="2400" i="1"/>
              <a:t> m</a:t>
            </a:r>
            <a:r>
              <a:rPr lang="en-US" sz="2400"/>
              <a:t> classes, an entry, </a:t>
            </a:r>
            <a:r>
              <a:rPr lang="en-US" sz="2400" b="1" i="1"/>
              <a:t>CM</a:t>
            </a:r>
            <a:r>
              <a:rPr lang="en-US" sz="2400" b="1" i="1" baseline="-25000"/>
              <a:t>i,j</a:t>
            </a:r>
            <a:r>
              <a:rPr lang="en-US" sz="2400" b="1" baseline="-25000"/>
              <a:t> </a:t>
            </a:r>
            <a:r>
              <a:rPr lang="en-US" sz="2400"/>
              <a:t> in a </a:t>
            </a:r>
            <a:r>
              <a:rPr lang="en-US" sz="2400" b="1"/>
              <a:t>confusion matrix</a:t>
            </a:r>
            <a:r>
              <a:rPr lang="en-US" sz="2400"/>
              <a:t> indicates # of tuples in class </a:t>
            </a:r>
            <a:r>
              <a:rPr lang="en-US" sz="2400" i="1"/>
              <a:t>i</a:t>
            </a:r>
            <a:r>
              <a:rPr lang="en-US" sz="2400"/>
              <a:t>  that were labeled by the classifier as class </a:t>
            </a:r>
            <a:r>
              <a:rPr lang="en-US" sz="2400" i="1"/>
              <a:t>j</a:t>
            </a:r>
          </a:p>
          <a:p>
            <a:pPr>
              <a:lnSpc>
                <a:spcPct val="90000"/>
              </a:lnSpc>
            </a:pPr>
            <a:r>
              <a:rPr lang="en-US" sz="2400"/>
              <a:t>May have extra rows/columns to provide totals</a:t>
            </a:r>
          </a:p>
        </p:txBody>
      </p:sp>
      <p:sp>
        <p:nvSpPr>
          <p:cNvPr id="52255" name="Text Box 66"/>
          <p:cNvSpPr txBox="1">
            <a:spLocks noChangeArrowheads="1"/>
          </p:cNvSpPr>
          <p:nvPr/>
        </p:nvSpPr>
        <p:spPr bwMode="auto">
          <a:xfrm>
            <a:off x="228600" y="1066800"/>
            <a:ext cx="2608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latin typeface="Calibri" pitchFamily="34" charset="0"/>
              </a:rPr>
              <a:t>Confusion Matrix:</a:t>
            </a:r>
          </a:p>
        </p:txBody>
      </p:sp>
      <p:graphicFrame>
        <p:nvGraphicFramePr>
          <p:cNvPr id="61517" name="Group 77"/>
          <p:cNvGraphicFramePr>
            <a:graphicFrameLocks noGrp="1"/>
          </p:cNvGraphicFramePr>
          <p:nvPr/>
        </p:nvGraphicFramePr>
        <p:xfrm>
          <a:off x="533400" y="1676400"/>
          <a:ext cx="7924800" cy="1235076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7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274" name="Rectangle 78"/>
          <p:cNvSpPr>
            <a:spLocks noChangeArrowheads="1"/>
          </p:cNvSpPr>
          <p:nvPr/>
        </p:nvSpPr>
        <p:spPr bwMode="auto">
          <a:xfrm>
            <a:off x="304800" y="2971800"/>
            <a:ext cx="3565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Example of Confusion Matrix: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CF334B-3E70-4F21-AE6F-BFBA6B8E546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Evaluation Metrics - </a:t>
            </a:r>
            <a:r>
              <a:rPr lang="en-US" sz="3600" b="1" i="1" dirty="0">
                <a:solidFill>
                  <a:schemeClr val="tx2"/>
                </a:solidFill>
                <a:latin typeface="+mj-lt"/>
              </a:rPr>
              <a:t>Accuracy, Error Rate, </a:t>
            </a:r>
            <a:endParaRPr kumimoji="0" lang="en-US" sz="3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800" y="2057400"/>
            <a:ext cx="4724400" cy="3505200"/>
          </a:xfrm>
        </p:spPr>
        <p:txBody>
          <a:bodyPr/>
          <a:lstStyle/>
          <a:p>
            <a:r>
              <a:rPr lang="en-US" sz="2400" b="1" dirty="0"/>
              <a:t>Classifier Accuracy, </a:t>
            </a:r>
            <a:r>
              <a:rPr lang="en-US" sz="2400" dirty="0"/>
              <a:t>or recognition rate: percentage of test set </a:t>
            </a:r>
            <a:r>
              <a:rPr lang="en-US" sz="2400" dirty="0" err="1"/>
              <a:t>tuples</a:t>
            </a:r>
            <a:r>
              <a:rPr lang="en-US" sz="2400" dirty="0"/>
              <a:t> that are correctly classified</a:t>
            </a:r>
          </a:p>
          <a:p>
            <a:pPr lvl="1">
              <a:buFont typeface="Wingdings" pitchFamily="2" charset="2"/>
              <a:buNone/>
            </a:pPr>
            <a:r>
              <a:rPr lang="en-US" sz="2400" b="1" dirty="0"/>
              <a:t>Accuracy = (TP + TN)/All</a:t>
            </a:r>
            <a:endParaRPr lang="en-US" sz="2400" dirty="0"/>
          </a:p>
          <a:p>
            <a:r>
              <a:rPr lang="en-US" sz="2400" b="1" dirty="0"/>
              <a:t>Error rate:</a:t>
            </a:r>
            <a:r>
              <a:rPr lang="en-US" sz="2400" dirty="0"/>
              <a:t> </a:t>
            </a:r>
            <a:r>
              <a:rPr lang="en-US" sz="2400" i="1" dirty="0"/>
              <a:t>1 –</a:t>
            </a:r>
            <a:r>
              <a:rPr lang="en-US" sz="2400" dirty="0"/>
              <a:t> </a:t>
            </a:r>
            <a:r>
              <a:rPr lang="en-US" sz="2400" i="1" dirty="0"/>
              <a:t>accuracy</a:t>
            </a:r>
            <a:r>
              <a:rPr lang="en-US" sz="2400" dirty="0"/>
              <a:t>, or</a:t>
            </a:r>
          </a:p>
          <a:p>
            <a:pPr lvl="1">
              <a:buFont typeface="Wingdings" pitchFamily="2" charset="2"/>
              <a:buNone/>
            </a:pPr>
            <a:r>
              <a:rPr lang="en-US" sz="2400" b="1" dirty="0"/>
              <a:t>Error rate = (FP + FN)/All</a:t>
            </a: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/>
        </p:nvGraphicFramePr>
        <p:xfrm>
          <a:off x="762000" y="2514599"/>
          <a:ext cx="2209800" cy="1694540"/>
        </p:xfrm>
        <a:graphic>
          <a:graphicData uri="http://schemas.openxmlformats.org/drawingml/2006/table">
            <a:tbl>
              <a:tblPr/>
              <a:tblGrid>
                <a:gridCol w="618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8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Evaluation Metrics:</a:t>
            </a:r>
            <a:r>
              <a:rPr lang="en-US" sz="3600" b="1" i="1" dirty="0">
                <a:solidFill>
                  <a:schemeClr val="tx2"/>
                </a:solidFill>
                <a:latin typeface="+mj-lt"/>
              </a:rPr>
              <a:t> Sensitivity, </a:t>
            </a:r>
          </a:p>
          <a:p>
            <a:pPr lvl="0" eaLnBrk="1" fontAlgn="auto" hangingPunct="1">
              <a:spcAft>
                <a:spcPts val="0"/>
              </a:spcAft>
            </a:pPr>
            <a:r>
              <a:rPr lang="en-US" sz="3600" b="1" i="1" dirty="0">
                <a:solidFill>
                  <a:schemeClr val="tx2"/>
                </a:solidFill>
                <a:latin typeface="+mj-lt"/>
              </a:rPr>
              <a:t>Specificity</a:t>
            </a:r>
            <a:endParaRPr kumimoji="0" lang="en-US" sz="3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3048000" y="1371600"/>
            <a:ext cx="5943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b="1" dirty="0">
                <a:latin typeface="+mn-lt"/>
              </a:rPr>
              <a:t>Class Imbalance Problem</a:t>
            </a:r>
            <a:r>
              <a:rPr lang="en-US" sz="2400" dirty="0">
                <a:latin typeface="+mn-lt"/>
              </a:rPr>
              <a:t>: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One class may be </a:t>
            </a:r>
            <a:r>
              <a:rPr lang="en-US" sz="2400" i="1" dirty="0">
                <a:latin typeface="+mn-lt"/>
              </a:rPr>
              <a:t>rare</a:t>
            </a:r>
            <a:r>
              <a:rPr lang="en-US" sz="2400" dirty="0">
                <a:latin typeface="+mn-lt"/>
              </a:rPr>
              <a:t>, e.g. fraud, or HIV-positive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dirty="0">
                <a:latin typeface="+mn-lt"/>
              </a:rPr>
              <a:t>Significant </a:t>
            </a:r>
            <a:r>
              <a:rPr lang="en-US" sz="2400" i="1" dirty="0">
                <a:latin typeface="+mn-lt"/>
              </a:rPr>
              <a:t>majority of the negative class</a:t>
            </a:r>
            <a:r>
              <a:rPr lang="en-US" sz="2400" dirty="0">
                <a:latin typeface="+mn-lt"/>
              </a:rPr>
              <a:t> and minority of the positive class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b="1" dirty="0">
                <a:latin typeface="+mn-lt"/>
              </a:rPr>
              <a:t>Sensitivity</a:t>
            </a:r>
            <a:r>
              <a:rPr lang="en-US" sz="2400" dirty="0">
                <a:latin typeface="+mn-lt"/>
              </a:rPr>
              <a:t>: True Positive recognition rate (TPR)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400" b="1" dirty="0">
                <a:latin typeface="+mn-lt"/>
              </a:rPr>
              <a:t>Sensitivity = TP/P= </a:t>
            </a:r>
            <a:r>
              <a:rPr lang="en-US" sz="2400" b="1" dirty="0"/>
              <a:t>TP/(TP+FN)</a:t>
            </a:r>
            <a:endParaRPr lang="en-US" sz="2400" b="1" dirty="0">
              <a:latin typeface="+mn-lt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b="1" dirty="0">
                <a:latin typeface="+mn-lt"/>
              </a:rPr>
              <a:t>Specificity</a:t>
            </a:r>
            <a:r>
              <a:rPr lang="en-US" sz="2400" dirty="0">
                <a:latin typeface="+mn-lt"/>
              </a:rPr>
              <a:t>: True Negative recognition rate (TNR)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400" b="1" dirty="0">
                <a:latin typeface="+mn-lt"/>
              </a:rPr>
              <a:t>Specificity = TN/N = T</a:t>
            </a:r>
            <a:r>
              <a:rPr lang="en-US" sz="2400" b="1" dirty="0"/>
              <a:t>N/(TN+FP)</a:t>
            </a:r>
            <a:endParaRPr lang="en-US" sz="2400" b="1" dirty="0">
              <a:latin typeface="+mn-lt"/>
            </a:endParaRP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/>
        </p:nvGraphicFramePr>
        <p:xfrm>
          <a:off x="914400" y="2438400"/>
          <a:ext cx="1905000" cy="1466852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175" y="1371600"/>
            <a:ext cx="8429625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Precision</a:t>
            </a:r>
            <a:r>
              <a:rPr lang="en-US" sz="2400" dirty="0"/>
              <a:t>: exactness – what % of </a:t>
            </a:r>
            <a:r>
              <a:rPr lang="en-US" sz="2400" dirty="0" err="1"/>
              <a:t>tuples</a:t>
            </a:r>
            <a:r>
              <a:rPr lang="en-US" sz="2400" dirty="0"/>
              <a:t> that the classifier labeled as positive are actually positive</a:t>
            </a:r>
          </a:p>
          <a:p>
            <a:pPr lvl="1">
              <a:lnSpc>
                <a:spcPct val="90000"/>
              </a:lnSpc>
            </a:pPr>
            <a:r>
              <a:rPr lang="en-US" sz="2400" b="1" dirty="0"/>
              <a:t>Or Sensitivity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Recall: </a:t>
            </a:r>
            <a:r>
              <a:rPr lang="en-US" sz="2400" dirty="0"/>
              <a:t>completeness – what % of positive </a:t>
            </a:r>
            <a:r>
              <a:rPr lang="en-US" sz="2400" dirty="0" err="1"/>
              <a:t>tuples</a:t>
            </a:r>
            <a:r>
              <a:rPr lang="en-US" sz="2400" dirty="0"/>
              <a:t> did the classifier label as positive?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Perfect score is 1.0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Inverse relationship between precision &amp; recall</a:t>
            </a:r>
          </a:p>
          <a:p>
            <a:pPr>
              <a:lnSpc>
                <a:spcPct val="80000"/>
              </a:lnSpc>
            </a:pPr>
            <a:r>
              <a:rPr lang="en-US" sz="2400" b="1" i="1" dirty="0"/>
              <a:t>F</a:t>
            </a:r>
            <a:r>
              <a:rPr lang="en-US" sz="2400" b="1" dirty="0"/>
              <a:t> measure (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1</a:t>
            </a:r>
            <a:r>
              <a:rPr lang="en-US" sz="2400" b="1" dirty="0"/>
              <a:t> </a:t>
            </a:r>
            <a:r>
              <a:rPr lang="en-US" sz="2400" dirty="0"/>
              <a:t>or</a:t>
            </a:r>
            <a:r>
              <a:rPr lang="en-US" sz="2400" b="1" dirty="0"/>
              <a:t> </a:t>
            </a:r>
            <a:r>
              <a:rPr lang="en-US" sz="2400" b="1" i="1" dirty="0"/>
              <a:t>F</a:t>
            </a:r>
            <a:r>
              <a:rPr lang="en-US" sz="2400" b="1" dirty="0"/>
              <a:t>-score)</a:t>
            </a:r>
            <a:r>
              <a:rPr lang="en-US" sz="2400" dirty="0"/>
              <a:t>: harmonic mean of precision and recall,</a:t>
            </a:r>
            <a:endParaRPr lang="en-US" sz="2400" b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b="1" i="1" dirty="0"/>
          </a:p>
          <a:p>
            <a:pPr>
              <a:lnSpc>
                <a:spcPct val="80000"/>
              </a:lnSpc>
            </a:pPr>
            <a:endParaRPr lang="en-US" sz="2400" b="1" i="1" dirty="0"/>
          </a:p>
          <a:p>
            <a:pPr>
              <a:lnSpc>
                <a:spcPct val="80000"/>
              </a:lnSpc>
            </a:pPr>
            <a:r>
              <a:rPr lang="en-US" sz="2400" b="1" i="1" dirty="0" err="1"/>
              <a:t>F</a:t>
            </a:r>
            <a:r>
              <a:rPr lang="en-US" sz="2400" b="1" i="1" baseline="-25000" dirty="0" err="1">
                <a:cs typeface="Tahoma" pitchFamily="34" charset="0"/>
              </a:rPr>
              <a:t>ß</a:t>
            </a:r>
            <a:r>
              <a:rPr lang="en-US" sz="2400" b="1" dirty="0"/>
              <a:t>:  </a:t>
            </a:r>
            <a:r>
              <a:rPr lang="en-US" sz="2400" dirty="0"/>
              <a:t>weighted measure of precision and recall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assigns </a:t>
            </a:r>
            <a:r>
              <a:rPr lang="en-US" sz="2400" dirty="0">
                <a:cs typeface="Tahoma" pitchFamily="34" charset="0"/>
              </a:rPr>
              <a:t>ß times as much weight to recall as to precision</a:t>
            </a:r>
            <a:endParaRPr lang="en-US" sz="24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Evaluation Metrics-</a:t>
            </a:r>
            <a:br>
              <a:rPr lang="en-US" sz="3600" dirty="0">
                <a:solidFill>
                  <a:schemeClr val="tx2"/>
                </a:solidFill>
                <a:latin typeface="+mj-lt"/>
              </a:rPr>
            </a:br>
            <a:r>
              <a:rPr lang="en-US" sz="3600" b="1" dirty="0">
                <a:solidFill>
                  <a:schemeClr val="tx2"/>
                </a:solidFill>
                <a:latin typeface="+mj-lt"/>
              </a:rPr>
              <a:t>Precision, Recall, and F-measures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4274" name="Picture 7" descr="8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4495800"/>
            <a:ext cx="4267200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8" descr="8recal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2895600"/>
            <a:ext cx="3124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6" name="Picture 7" descr="8precis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1752600"/>
            <a:ext cx="2819400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9" name="Text Box 5"/>
          <p:cNvSpPr txBox="1">
            <a:spLocks noChangeArrowheads="1"/>
          </p:cNvSpPr>
          <p:nvPr/>
        </p:nvSpPr>
        <p:spPr bwMode="auto">
          <a:xfrm>
            <a:off x="1050925" y="50101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800"/>
          </a:p>
        </p:txBody>
      </p:sp>
      <p:pic>
        <p:nvPicPr>
          <p:cNvPr id="54281" name="Picture 8" descr="8Fbet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2800" y="6172201"/>
            <a:ext cx="5791200" cy="68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4953000" y="6629400"/>
            <a:ext cx="2895600" cy="457200"/>
          </a:xfrm>
        </p:spPr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5"/>
          <p:cNvSpPr>
            <a:spLocks noChangeArrowheads="1"/>
          </p:cNvSpPr>
          <p:nvPr/>
        </p:nvSpPr>
        <p:spPr bwMode="auto">
          <a:xfrm>
            <a:off x="228600" y="4572000"/>
            <a:ext cx="8610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55301" name="Content Placeholder 1"/>
          <p:cNvSpPr>
            <a:spLocks noGrp="1"/>
          </p:cNvSpPr>
          <p:nvPr>
            <p:ph sz="half" idx="1"/>
          </p:nvPr>
        </p:nvSpPr>
        <p:spPr>
          <a:xfrm>
            <a:off x="228600" y="3429000"/>
            <a:ext cx="8458200" cy="609600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400" i="1"/>
              <a:t>Precision</a:t>
            </a:r>
            <a:r>
              <a:rPr lang="en-US" sz="2400"/>
              <a:t> = 90/230 = 39.13%             </a:t>
            </a:r>
            <a:r>
              <a:rPr lang="en-US" sz="2400" i="1"/>
              <a:t>Recall</a:t>
            </a:r>
            <a:r>
              <a:rPr lang="en-US" sz="2400"/>
              <a:t> = 90/300 = 30.00%</a:t>
            </a:r>
          </a:p>
          <a:p>
            <a:endParaRPr lang="en-US"/>
          </a:p>
        </p:txBody>
      </p:sp>
      <p:graphicFrame>
        <p:nvGraphicFramePr>
          <p:cNvPr id="7" name="Group 54"/>
          <p:cNvGraphicFramePr>
            <a:graphicFrameLocks noGrp="1"/>
          </p:cNvGraphicFramePr>
          <p:nvPr/>
        </p:nvGraphicFramePr>
        <p:xfrm>
          <a:off x="228600" y="1889125"/>
          <a:ext cx="8839200" cy="146685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Recognition(%)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sensitivity)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specificity)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96.40 (</a:t>
                      </a: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Classifier Evaluation Metrics- Example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CF334B-3E70-4F21-AE6F-BFBA6B8E546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20088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Evaluation Classifier Accuracy- </a:t>
            </a:r>
            <a:br>
              <a:rPr lang="en-US" dirty="0"/>
            </a:br>
            <a:r>
              <a:rPr lang="en-US" dirty="0"/>
              <a:t>Holdout  Method</a:t>
            </a:r>
            <a:endParaRPr lang="en-US" sz="40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3657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sz="2400" b="1" dirty="0"/>
              <a:t>Holdout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Given data is randomly partitioned into two independent sets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/>
              <a:t>Training set (e.g., 2/3) for model construction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/>
              <a:t>Test set (e.g., 1/3) for accuracy estimation</a:t>
            </a:r>
          </a:p>
          <a:p>
            <a:pPr lvl="1" eaLnBrk="1" hangingPunct="1">
              <a:lnSpc>
                <a:spcPct val="80000"/>
              </a:lnSpc>
            </a:pPr>
            <a:endParaRPr lang="en-US" sz="2400" u="sng" dirty="0"/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/>
              <a:t>Random sampling</a:t>
            </a:r>
            <a:r>
              <a:rPr lang="en-US" sz="2400" dirty="0"/>
              <a:t>: a variation of holdout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/>
              <a:t>Repeat holdout </a:t>
            </a:r>
            <a:r>
              <a:rPr lang="en-US" b="1" i="1" dirty="0"/>
              <a:t>k </a:t>
            </a:r>
            <a:r>
              <a:rPr lang="en-US" dirty="0"/>
              <a:t>times, accuracy = avg. of the accuracies obtained</a:t>
            </a:r>
          </a:p>
        </p:txBody>
      </p:sp>
      <p:sp>
        <p:nvSpPr>
          <p:cNvPr id="5632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4E7B239-CEA6-4885-AAE7-E518D812A6FA}" type="slidenum">
              <a:rPr lang="en-US" sz="1200" b="1">
                <a:latin typeface="Calibri" pitchFamily="34" charset="0"/>
              </a:rPr>
              <a:pPr algn="r"/>
              <a:t>10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396288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Evaluating Classifier Accuracy-</a:t>
            </a:r>
            <a:br>
              <a:rPr lang="en-US" dirty="0"/>
            </a:br>
            <a:r>
              <a:rPr lang="en-US" dirty="0"/>
              <a:t> Cross-Validation Method</a:t>
            </a:r>
            <a:endParaRPr lang="en-US" sz="40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686800" cy="4191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sz="2400" b="1" dirty="0"/>
              <a:t>Cross-validation</a:t>
            </a:r>
            <a:r>
              <a:rPr lang="en-US" sz="2400" dirty="0"/>
              <a:t> (</a:t>
            </a:r>
            <a:r>
              <a:rPr lang="en-US" sz="2400" i="1" dirty="0"/>
              <a:t>k</a:t>
            </a:r>
            <a:r>
              <a:rPr lang="en-US" sz="2400" dirty="0"/>
              <a:t>-fold, where </a:t>
            </a:r>
            <a:r>
              <a:rPr lang="en-US" sz="2400" i="1" dirty="0"/>
              <a:t>k</a:t>
            </a:r>
            <a:r>
              <a:rPr lang="en-US" sz="2400" dirty="0"/>
              <a:t> = 10 is most popular)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Randomly partition the data into </a:t>
            </a:r>
            <a:r>
              <a:rPr lang="en-US" sz="2400" i="1" dirty="0"/>
              <a:t>k</a:t>
            </a:r>
            <a:r>
              <a:rPr lang="en-US" sz="2400" dirty="0"/>
              <a:t> </a:t>
            </a:r>
            <a:r>
              <a:rPr lang="en-US" sz="2400" i="1" dirty="0"/>
              <a:t>mutually exclusive</a:t>
            </a:r>
            <a:r>
              <a:rPr lang="en-US" sz="2400" dirty="0"/>
              <a:t> subsets, each approximately equal size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At </a:t>
            </a:r>
            <a:r>
              <a:rPr lang="en-US" sz="2400" i="1" dirty="0" err="1"/>
              <a:t>i</a:t>
            </a:r>
            <a:r>
              <a:rPr lang="en-US" sz="2400" dirty="0" err="1"/>
              <a:t>-th</a:t>
            </a:r>
            <a:r>
              <a:rPr lang="en-US" sz="2400" dirty="0"/>
              <a:t> iteration, use </a:t>
            </a:r>
            <a:r>
              <a:rPr lang="en-US" sz="2400" i="1" dirty="0"/>
              <a:t>D</a:t>
            </a:r>
            <a:r>
              <a:rPr lang="en-US" sz="2400" i="1" baseline="-25000" dirty="0"/>
              <a:t>i</a:t>
            </a:r>
            <a:r>
              <a:rPr lang="en-US" sz="2400" baseline="-25000" dirty="0"/>
              <a:t> </a:t>
            </a:r>
            <a:r>
              <a:rPr lang="en-US" sz="2400" dirty="0"/>
              <a:t>as test set and others as training set</a:t>
            </a:r>
          </a:p>
          <a:p>
            <a:pPr lvl="1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/>
              <a:t>Leave-one-out</a:t>
            </a:r>
            <a:r>
              <a:rPr lang="en-US" sz="2400" dirty="0"/>
              <a:t>: </a:t>
            </a:r>
            <a:r>
              <a:rPr lang="en-US" sz="2400" i="1" dirty="0"/>
              <a:t>k</a:t>
            </a:r>
            <a:r>
              <a:rPr lang="en-US" sz="2400" dirty="0"/>
              <a:t> folds where </a:t>
            </a:r>
            <a:r>
              <a:rPr lang="en-US" sz="2400" i="1" dirty="0"/>
              <a:t>k</a:t>
            </a:r>
            <a:r>
              <a:rPr lang="en-US" sz="2400" dirty="0"/>
              <a:t> = # of </a:t>
            </a:r>
            <a:r>
              <a:rPr lang="en-US" sz="2400" dirty="0" err="1"/>
              <a:t>tuples</a:t>
            </a:r>
            <a:r>
              <a:rPr lang="en-US" sz="2400" dirty="0"/>
              <a:t>, for small sized data. One set is isolated as test set</a:t>
            </a:r>
          </a:p>
          <a:p>
            <a:pPr lvl="1" eaLnBrk="1" hangingPunct="1">
              <a:lnSpc>
                <a:spcPct val="80000"/>
              </a:lnSpc>
              <a:buNone/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b="1" u="sng" dirty="0"/>
              <a:t>*Stratified cross-validation*</a:t>
            </a:r>
            <a:r>
              <a:rPr lang="en-US" sz="2400" dirty="0"/>
              <a:t>: folds are stratified so that class distribution in each fold is approximately the same distribution as it has been in the initial dataset</a:t>
            </a:r>
          </a:p>
        </p:txBody>
      </p:sp>
      <p:sp>
        <p:nvSpPr>
          <p:cNvPr id="5632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4E7B239-CEA6-4885-AAE7-E518D812A6FA}" type="slidenum">
              <a:rPr lang="en-US" sz="1200" b="1">
                <a:latin typeface="Calibri" pitchFamily="34" charset="0"/>
              </a:rPr>
              <a:pPr algn="r"/>
              <a:t>11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91600" cy="1371600"/>
          </a:xfrm>
          <a:noFill/>
        </p:spPr>
        <p:txBody>
          <a:bodyPr lIns="92075" tIns="46038" rIns="92075" bIns="46038"/>
          <a:lstStyle/>
          <a:p>
            <a:pPr eaLnBrk="1" hangingPunct="1"/>
            <a:br>
              <a:rPr lang="en-US" dirty="0"/>
            </a:br>
            <a:r>
              <a:rPr lang="en-US" dirty="0"/>
              <a:t>Evaluating Classifier Accuracy- Bootstrap</a:t>
            </a:r>
            <a:endParaRPr lang="en-US" sz="4000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000" b="1"/>
              <a:t>Bootstrap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/>
              <a:t>Works well with small data sets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/>
              <a:t>Samples the given training tuples uniformly </a:t>
            </a:r>
            <a:r>
              <a:rPr lang="en-US" sz="2000" i="1"/>
              <a:t>with replacement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/>
              <a:t>i.e., each time a tuple is selected, it is equally likely to be selected again and re-added to the training set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/>
              <a:t>Several bootstrap methods, and a common one is </a:t>
            </a:r>
            <a:r>
              <a:rPr lang="en-US" sz="2000" b="1"/>
              <a:t>.632 boostrap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/>
              <a:t>A data set with </a:t>
            </a:r>
            <a:r>
              <a:rPr lang="en-US" sz="2000" i="1"/>
              <a:t>d</a:t>
            </a:r>
            <a:r>
              <a:rPr lang="en-US" sz="2000"/>
              <a:t> tuples is sampled </a:t>
            </a:r>
            <a:r>
              <a:rPr lang="en-US" sz="2000" i="1"/>
              <a:t>d</a:t>
            </a:r>
            <a:r>
              <a:rPr lang="en-US" sz="2000"/>
              <a:t> times, with replacement, resulting in a training set of </a:t>
            </a:r>
            <a:r>
              <a:rPr lang="en-US" sz="2000" i="1"/>
              <a:t>d</a:t>
            </a:r>
            <a:r>
              <a:rPr lang="en-US" sz="2000"/>
              <a:t> samples.  The data tuples that did not make it into the training set end up forming the test set.  About 63.2% of the original data end up in the bootstrap, and the remaining 36.8% form the test set (since (1 – 1/d)</a:t>
            </a:r>
            <a:r>
              <a:rPr lang="en-US" sz="2000" baseline="30000"/>
              <a:t>d</a:t>
            </a:r>
            <a:r>
              <a:rPr lang="en-US" sz="2000"/>
              <a:t> ≈ e</a:t>
            </a:r>
            <a:r>
              <a:rPr lang="en-US" sz="2000" baseline="30000"/>
              <a:t>-1</a:t>
            </a:r>
            <a:r>
              <a:rPr lang="en-US" sz="2000"/>
              <a:t> = 0.368)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000"/>
              <a:t>Repeat the sampling procedure </a:t>
            </a:r>
            <a:r>
              <a:rPr lang="en-US" sz="2000" i="1"/>
              <a:t>k</a:t>
            </a:r>
            <a:r>
              <a:rPr lang="en-US" sz="2000"/>
              <a:t> times, overall accuracy of the model:</a:t>
            </a:r>
          </a:p>
          <a:p>
            <a:pPr lvl="1" eaLnBrk="1" hangingPunct="1">
              <a:lnSpc>
                <a:spcPct val="110000"/>
              </a:lnSpc>
            </a:pPr>
            <a:endParaRPr lang="en-US" sz="2000"/>
          </a:p>
        </p:txBody>
      </p:sp>
      <p:sp>
        <p:nvSpPr>
          <p:cNvPr id="57348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382CDBF-CB3B-4171-9F98-FC1000B73178}" type="slidenum">
              <a:rPr lang="en-US" sz="1200" b="1">
                <a:latin typeface="Calibri" pitchFamily="34" charset="0"/>
              </a:rPr>
              <a:pPr algn="r"/>
              <a:t>12</a:t>
            </a:fld>
            <a:endParaRPr lang="en-US" sz="1200" b="1">
              <a:latin typeface="Calibri" pitchFamily="34" charset="0"/>
            </a:endParaRPr>
          </a:p>
        </p:txBody>
      </p:sp>
      <p:pic>
        <p:nvPicPr>
          <p:cNvPr id="5734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6019800"/>
            <a:ext cx="7162800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A5DC09-F580-D94F-4036-263FCFDFDF3A}"/>
                  </a:ext>
                </a:extLst>
              </p:cNvPr>
              <p:cNvSpPr txBox="1"/>
              <p:nvPr/>
            </p:nvSpPr>
            <p:spPr>
              <a:xfrm>
                <a:off x="1143000" y="889843"/>
                <a:ext cx="7315200" cy="5078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To determine which classifier (M₁ or M₂) is better: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Estimate error rates</a:t>
                </a:r>
                <a:br>
                  <a:rPr lang="en-US" dirty="0"/>
                </a:br>
                <a:r>
                  <a:rPr lang="en-US" dirty="0"/>
                  <a:t>Use </a:t>
                </a:r>
                <a:r>
                  <a:rPr lang="en-US" b="1" dirty="0"/>
                  <a:t>10-fold cross-validation</a:t>
                </a:r>
                <a:r>
                  <a:rPr lang="en-US" dirty="0"/>
                  <a:t> to compute average error:</a:t>
                </a:r>
                <a:br>
                  <a:rPr lang="en-US" dirty="0"/>
                </a:br>
                <a:r>
                  <a:rPr lang="en-US" dirty="0"/>
                  <a:t>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𝑒𝑟𝑟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𝑒𝑟𝑟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Formulate hypothesis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Null hypothesis (H₀): M₁ and M₂ have </a:t>
                </a:r>
                <a:r>
                  <a:rPr lang="en-US" b="1" dirty="0"/>
                  <a:t>same performance</a:t>
                </a:r>
                <a:r>
                  <a:rPr lang="en-US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Apply statistical test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Use </a:t>
                </a:r>
                <a:r>
                  <a:rPr lang="en-US" b="1" dirty="0"/>
                  <a:t>paired t-test</a:t>
                </a:r>
                <a:r>
                  <a:rPr lang="en-US" dirty="0"/>
                  <a:t> (since same data is used)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:r>
                  <a:rPr lang="en-US" b="1" dirty="0"/>
                  <a:t>t-statistic</a:t>
                </a:r>
                <a:r>
                  <a:rPr lang="en-US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Select significance level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Usually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US" dirty="0"/>
                  <a:t>(95% confidence)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Compare with t-table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Find critical t-value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∣&gt;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𝑐𝑟𝑖𝑡𝑖𝑐𝑎𝑙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US" dirty="0"/>
                  <a:t>reject H₀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Conclusion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If H₀ rejected → difference is </a:t>
                </a:r>
                <a:r>
                  <a:rPr lang="en-US" b="1" dirty="0"/>
                  <a:t>statistically significant</a:t>
                </a:r>
                <a:br>
                  <a:rPr lang="en-US" dirty="0"/>
                </a:br>
                <a:r>
                  <a:rPr lang="en-US" dirty="0"/>
                  <a:t>→ Choose model with </a:t>
                </a:r>
                <a:r>
                  <a:rPr lang="en-US" b="1" dirty="0"/>
                  <a:t>lower error rate</a:t>
                </a:r>
                <a:r>
                  <a:rPr lang="en-US" dirty="0"/>
                  <a:t>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dirty="0"/>
                  <a:t>Otherwise → no significant difference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A5DC09-F580-D94F-4036-263FCFDFD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889843"/>
                <a:ext cx="7315200" cy="5078313"/>
              </a:xfrm>
              <a:prstGeom prst="rect">
                <a:avLst/>
              </a:prstGeom>
              <a:blipFill>
                <a:blip r:embed="rId2"/>
                <a:stretch>
                  <a:fillRect l="-750" t="-840" b="-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655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dirty="0"/>
              <a:t>Estimating Confidence Intervals-</a:t>
            </a:r>
            <a:br>
              <a:rPr lang="en-US" dirty="0"/>
            </a:br>
            <a:r>
              <a:rPr lang="en-US" dirty="0"/>
              <a:t>Two Classifier Models M</a:t>
            </a:r>
            <a:r>
              <a:rPr lang="en-US" baseline="-25000" dirty="0"/>
              <a:t>1</a:t>
            </a:r>
            <a:r>
              <a:rPr lang="en-US" dirty="0"/>
              <a:t> vs. M</a:t>
            </a:r>
            <a:r>
              <a:rPr lang="en-US" baseline="-25000" dirty="0"/>
              <a:t>2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138737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Suppose we have 2 classifiers, M</a:t>
            </a:r>
            <a:r>
              <a:rPr lang="en-US" sz="2400" b="1" i="1" baseline="-25000" dirty="0">
                <a:solidFill>
                  <a:srgbClr val="FF0000"/>
                </a:solidFill>
              </a:rPr>
              <a:t>1</a:t>
            </a:r>
            <a:r>
              <a:rPr lang="en-US" sz="2400" b="1" i="1" dirty="0">
                <a:solidFill>
                  <a:srgbClr val="FF0000"/>
                </a:solidFill>
              </a:rPr>
              <a:t> and M</a:t>
            </a:r>
            <a:r>
              <a:rPr lang="en-US" sz="2400" b="1" i="1" baseline="-25000" dirty="0">
                <a:solidFill>
                  <a:srgbClr val="FF0000"/>
                </a:solidFill>
              </a:rPr>
              <a:t>2</a:t>
            </a:r>
            <a:r>
              <a:rPr lang="en-US" sz="2400" b="1" i="1" dirty="0">
                <a:solidFill>
                  <a:srgbClr val="FF0000"/>
                </a:solidFill>
              </a:rPr>
              <a:t>, which one is better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Use 10-fold cross-validation to obtain                and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These mean error rates are just </a:t>
            </a:r>
            <a:r>
              <a:rPr lang="en-US" sz="2400" i="1" dirty="0"/>
              <a:t>estimates</a:t>
            </a:r>
            <a:r>
              <a:rPr lang="en-US" sz="2400" dirty="0"/>
              <a:t> of error on the true population of </a:t>
            </a:r>
            <a:r>
              <a:rPr lang="en-US" sz="2400" i="1" dirty="0"/>
              <a:t>future</a:t>
            </a:r>
            <a:r>
              <a:rPr lang="en-US" sz="2400" dirty="0"/>
              <a:t> data cases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 if the difference between the 2 error rates is just attributed to </a:t>
            </a:r>
            <a:r>
              <a:rPr lang="en-US" sz="2400" i="1" dirty="0"/>
              <a:t>chance</a:t>
            </a:r>
            <a:r>
              <a:rPr lang="en-US" sz="2400" dirty="0"/>
              <a:t>?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Use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b="1" dirty="0">
                <a:solidFill>
                  <a:srgbClr val="FF0000"/>
                </a:solidFill>
              </a:rPr>
              <a:t>test of statistical significance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Obtain </a:t>
            </a:r>
            <a:r>
              <a:rPr lang="en-US" sz="2400" b="1" dirty="0">
                <a:solidFill>
                  <a:srgbClr val="FF0000"/>
                </a:solidFill>
              </a:rPr>
              <a:t>confidence limits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for our error estimates</a:t>
            </a:r>
          </a:p>
        </p:txBody>
      </p:sp>
      <p:pic>
        <p:nvPicPr>
          <p:cNvPr id="58372" name="Picture 5" descr="8mean-err-m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43800" y="2667000"/>
            <a:ext cx="12954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3" name="Picture 6" descr="8mean-err-m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0" y="2667000"/>
            <a:ext cx="129540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CEE99F-758C-4CB6-9B4F-AC52053AD52A}" type="slidenum">
              <a:rPr lang="en-US" sz="1200" b="1">
                <a:latin typeface="Calibri" pitchFamily="34" charset="0"/>
              </a:rPr>
              <a:pPr algn="r"/>
              <a:t>14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9144000" cy="1066800"/>
          </a:xfrm>
        </p:spPr>
        <p:txBody>
          <a:bodyPr/>
          <a:lstStyle/>
          <a:p>
            <a:r>
              <a:rPr lang="en-US" dirty="0"/>
              <a:t>Estimating Confidence Intervals-</a:t>
            </a:r>
            <a:br>
              <a:rPr lang="en-US" dirty="0"/>
            </a:br>
            <a:r>
              <a:rPr lang="en-US" dirty="0"/>
              <a:t>Using Null Hypothesis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719263"/>
            <a:ext cx="8763000" cy="441166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400" dirty="0"/>
              <a:t>Perform 10-fold cross-validation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Assume samples follow a </a:t>
            </a:r>
            <a:r>
              <a:rPr lang="en-US" sz="2400" b="1" i="1" dirty="0"/>
              <a:t>t</a:t>
            </a:r>
            <a:r>
              <a:rPr lang="en-US" sz="2400" b="1" dirty="0"/>
              <a:t> distribution</a:t>
            </a:r>
            <a:r>
              <a:rPr lang="en-US" sz="2400" dirty="0"/>
              <a:t> with </a:t>
            </a:r>
            <a:r>
              <a:rPr lang="en-US" sz="2400" i="1" dirty="0"/>
              <a:t>k–1</a:t>
            </a:r>
            <a:r>
              <a:rPr lang="en-US" sz="2400" dirty="0"/>
              <a:t> </a:t>
            </a:r>
            <a:r>
              <a:rPr lang="en-US" sz="2400" b="1" dirty="0"/>
              <a:t>degrees of freedom </a:t>
            </a:r>
            <a:r>
              <a:rPr lang="en-US" sz="2400" dirty="0"/>
              <a:t>(here, </a:t>
            </a:r>
            <a:r>
              <a:rPr lang="en-US" sz="2400" i="1" dirty="0"/>
              <a:t>k=10</a:t>
            </a:r>
            <a:r>
              <a:rPr lang="en-US" sz="2400" dirty="0"/>
              <a:t>)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Use </a:t>
            </a:r>
            <a:r>
              <a:rPr lang="en-US" sz="2400" b="1" i="1" dirty="0"/>
              <a:t>t</a:t>
            </a:r>
            <a:r>
              <a:rPr lang="en-US" sz="2400" b="1" dirty="0"/>
              <a:t>-test</a:t>
            </a:r>
            <a:r>
              <a:rPr lang="en-US" sz="2400" dirty="0"/>
              <a:t> (or </a:t>
            </a:r>
            <a:r>
              <a:rPr lang="en-US" sz="2400" b="1" dirty="0"/>
              <a:t>Student’s </a:t>
            </a:r>
            <a:r>
              <a:rPr lang="en-US" sz="2400" b="1" i="1" dirty="0"/>
              <a:t>t</a:t>
            </a:r>
            <a:r>
              <a:rPr lang="en-US" sz="2400" b="1" dirty="0"/>
              <a:t>-test</a:t>
            </a:r>
            <a:r>
              <a:rPr lang="en-US" sz="2400" dirty="0"/>
              <a:t>)</a:t>
            </a:r>
            <a:endParaRPr lang="en-US" sz="2400" b="1" dirty="0"/>
          </a:p>
          <a:p>
            <a:pPr>
              <a:lnSpc>
                <a:spcPct val="130000"/>
              </a:lnSpc>
            </a:pPr>
            <a:r>
              <a:rPr lang="en-US" sz="2400" b="1" dirty="0"/>
              <a:t>Null Hypothesis-</a:t>
            </a:r>
            <a:r>
              <a:rPr lang="en-US" sz="2400" dirty="0"/>
              <a:t> Initially two models </a:t>
            </a:r>
            <a:r>
              <a:rPr lang="en-US" sz="2400" b="1" i="1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&amp; </a:t>
            </a:r>
            <a:r>
              <a:rPr lang="en-US" sz="2400" b="1" i="1" dirty="0"/>
              <a:t>M</a:t>
            </a:r>
            <a:r>
              <a:rPr lang="en-US" sz="2400" baseline="-25000" dirty="0"/>
              <a:t>2</a:t>
            </a:r>
            <a:r>
              <a:rPr lang="en-US" sz="2400" dirty="0"/>
              <a:t> are the same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If we can </a:t>
            </a:r>
            <a:r>
              <a:rPr lang="en-US" sz="2400" b="1" dirty="0"/>
              <a:t>reject</a:t>
            </a:r>
            <a:r>
              <a:rPr lang="en-US" sz="2400" dirty="0"/>
              <a:t> null hypothesis, then 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we conclude that the difference between </a:t>
            </a:r>
            <a:r>
              <a:rPr lang="en-US" sz="2400" b="1" i="1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&amp; </a:t>
            </a:r>
            <a:r>
              <a:rPr lang="en-US" sz="2400" b="1" i="1" dirty="0"/>
              <a:t>M</a:t>
            </a:r>
            <a:r>
              <a:rPr lang="en-US" sz="2400" baseline="-25000" dirty="0"/>
              <a:t>2 </a:t>
            </a:r>
            <a:r>
              <a:rPr lang="en-US" sz="2400" dirty="0"/>
              <a:t> which is </a:t>
            </a:r>
            <a:r>
              <a:rPr lang="en-US" sz="2400" b="1" i="1" dirty="0">
                <a:solidFill>
                  <a:srgbClr val="FF0000"/>
                </a:solidFill>
              </a:rPr>
              <a:t>statistically significant</a:t>
            </a:r>
          </a:p>
          <a:p>
            <a:pPr lvl="1">
              <a:lnSpc>
                <a:spcPct val="130000"/>
              </a:lnSpc>
            </a:pPr>
            <a:r>
              <a:rPr lang="en-US" sz="2400" dirty="0"/>
              <a:t>We chose the model with </a:t>
            </a:r>
            <a:r>
              <a:rPr lang="en-US" sz="2400" b="1" i="1" dirty="0">
                <a:solidFill>
                  <a:srgbClr val="FF0000"/>
                </a:solidFill>
              </a:rPr>
              <a:t>lower error rate</a:t>
            </a:r>
          </a:p>
        </p:txBody>
      </p:sp>
      <p:sp>
        <p:nvSpPr>
          <p:cNvPr id="59396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B8F58EF-D9F2-4242-B936-FA0568EAB5E1}" type="slidenum">
              <a:rPr lang="en-US" sz="1200" b="1">
                <a:latin typeface="Calibri" pitchFamily="34" charset="0"/>
              </a:rPr>
              <a:pPr algn="r"/>
              <a:t>15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33400"/>
          </a:xfrm>
        </p:spPr>
        <p:txBody>
          <a:bodyPr/>
          <a:lstStyle/>
          <a:p>
            <a:r>
              <a:rPr lang="en-US" sz="3200" dirty="0"/>
              <a:t>Estimating Confidence Intervals- </a:t>
            </a:r>
            <a:r>
              <a:rPr lang="en-US" sz="3200" i="1" dirty="0"/>
              <a:t>t</a:t>
            </a:r>
            <a:r>
              <a:rPr lang="en-US" sz="3200" dirty="0"/>
              <a:t>-test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140325"/>
          </a:xfrm>
        </p:spPr>
        <p:txBody>
          <a:bodyPr/>
          <a:lstStyle/>
          <a:p>
            <a:r>
              <a:rPr lang="en-US" dirty="0"/>
              <a:t>If only 1 test set available- pair wise comparison</a:t>
            </a:r>
          </a:p>
          <a:p>
            <a:pPr lvl="1"/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baseline="30000" dirty="0" err="1"/>
              <a:t>th</a:t>
            </a:r>
            <a:r>
              <a:rPr lang="en-US" sz="2400" dirty="0"/>
              <a:t> round of 10-fold cross-validation, the same cross partitioning is used to obtain </a:t>
            </a:r>
            <a:r>
              <a:rPr lang="en-US" sz="2400" i="1" dirty="0"/>
              <a:t>err(M</a:t>
            </a:r>
            <a:r>
              <a:rPr lang="en-US" sz="2400" i="1" baseline="-25000" dirty="0"/>
              <a:t>1</a:t>
            </a:r>
            <a:r>
              <a:rPr lang="en-US" sz="2400" i="1" dirty="0"/>
              <a:t>)</a:t>
            </a:r>
            <a:r>
              <a:rPr lang="en-US" sz="2400" i="1" baseline="-25000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and </a:t>
            </a:r>
            <a:r>
              <a:rPr lang="en-US" sz="2400" i="1" dirty="0"/>
              <a:t>err(M</a:t>
            </a:r>
            <a:r>
              <a:rPr lang="en-US" sz="2400" i="1" baseline="-25000" dirty="0"/>
              <a:t>2</a:t>
            </a:r>
            <a:r>
              <a:rPr lang="en-US" sz="2400" i="1" dirty="0"/>
              <a:t>)</a:t>
            </a:r>
            <a:r>
              <a:rPr lang="en-US" sz="2400" i="1" baseline="-25000" dirty="0" err="1"/>
              <a:t>i</a:t>
            </a:r>
            <a:endParaRPr lang="en-US" sz="2400" i="1" baseline="-25000" dirty="0"/>
          </a:p>
          <a:p>
            <a:pPr lvl="1"/>
            <a:r>
              <a:rPr lang="en-US" sz="2400" dirty="0"/>
              <a:t>Average over 10 rounds to get </a:t>
            </a:r>
            <a:endParaRPr lang="en-US" sz="2400" dirty="0">
              <a:solidFill>
                <a:schemeClr val="hlink"/>
              </a:solidFill>
            </a:endParaRPr>
          </a:p>
          <a:p>
            <a:pPr lvl="1"/>
            <a:r>
              <a:rPr lang="en-US" b="1" dirty="0"/>
              <a:t>t-test</a:t>
            </a:r>
            <a:r>
              <a:rPr lang="en-US" dirty="0"/>
              <a:t> computes </a:t>
            </a:r>
            <a:r>
              <a:rPr lang="en-US" b="1" dirty="0"/>
              <a:t>t-statistic</a:t>
            </a:r>
            <a:r>
              <a:rPr lang="en-US" dirty="0"/>
              <a:t> with </a:t>
            </a:r>
            <a:r>
              <a:rPr lang="en-US" i="1" dirty="0"/>
              <a:t>k-1</a:t>
            </a:r>
            <a:r>
              <a:rPr lang="en-US" dirty="0"/>
              <a:t> </a:t>
            </a:r>
            <a:r>
              <a:rPr lang="en-US" b="1" dirty="0"/>
              <a:t>degrees of freedom:</a:t>
            </a:r>
          </a:p>
          <a:p>
            <a:pPr lvl="1"/>
            <a:endParaRPr lang="en-US" b="1" dirty="0"/>
          </a:p>
          <a:p>
            <a:endParaRPr lang="en-US" dirty="0"/>
          </a:p>
          <a:p>
            <a:r>
              <a:rPr lang="en-US" dirty="0"/>
              <a:t>If two test sets available- use non-paired t-test</a:t>
            </a:r>
          </a:p>
        </p:txBody>
      </p:sp>
      <p:pic>
        <p:nvPicPr>
          <p:cNvPr id="60420" name="Picture 5" descr="t-test-non-pair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5562600"/>
            <a:ext cx="41148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1" name="Text Box 8"/>
          <p:cNvSpPr txBox="1">
            <a:spLocks noChangeArrowheads="1"/>
          </p:cNvSpPr>
          <p:nvPr/>
        </p:nvSpPr>
        <p:spPr bwMode="auto">
          <a:xfrm>
            <a:off x="6705600" y="3733800"/>
            <a:ext cx="80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where</a:t>
            </a:r>
          </a:p>
        </p:txBody>
      </p:sp>
      <p:pic>
        <p:nvPicPr>
          <p:cNvPr id="60422" name="Picture 9" descr="8mean-err-m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2819400"/>
            <a:ext cx="1010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3" name="Picture 10" descr="8mean-err-m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67600" y="2819400"/>
            <a:ext cx="12954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4" name="Text Box 11"/>
          <p:cNvSpPr txBox="1">
            <a:spLocks noChangeArrowheads="1"/>
          </p:cNvSpPr>
          <p:nvPr/>
        </p:nvSpPr>
        <p:spPr bwMode="auto">
          <a:xfrm>
            <a:off x="6553200" y="289560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and</a:t>
            </a:r>
          </a:p>
        </p:txBody>
      </p:sp>
      <p:sp>
        <p:nvSpPr>
          <p:cNvPr id="60425" name="Text Box 12"/>
          <p:cNvSpPr txBox="1">
            <a:spLocks noChangeArrowheads="1"/>
          </p:cNvSpPr>
          <p:nvPr/>
        </p:nvSpPr>
        <p:spPr bwMode="auto">
          <a:xfrm>
            <a:off x="1828800" y="563880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where</a:t>
            </a:r>
          </a:p>
        </p:txBody>
      </p:sp>
      <p:sp>
        <p:nvSpPr>
          <p:cNvPr id="60426" name="Text Box 13"/>
          <p:cNvSpPr txBox="1">
            <a:spLocks noChangeArrowheads="1"/>
          </p:cNvSpPr>
          <p:nvPr/>
        </p:nvSpPr>
        <p:spPr bwMode="auto">
          <a:xfrm>
            <a:off x="914400" y="6248400"/>
            <a:ext cx="74183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where</a:t>
            </a:r>
            <a:r>
              <a:rPr lang="en-US" i="1"/>
              <a:t> k</a:t>
            </a:r>
            <a:r>
              <a:rPr lang="en-US" i="1" baseline="-25000"/>
              <a:t>1</a:t>
            </a:r>
            <a:r>
              <a:rPr lang="en-US"/>
              <a:t> &amp;</a:t>
            </a:r>
            <a:r>
              <a:rPr lang="en-US" i="1"/>
              <a:t> k</a:t>
            </a:r>
            <a:r>
              <a:rPr lang="en-US" i="1" baseline="-25000"/>
              <a:t>2</a:t>
            </a:r>
            <a:r>
              <a:rPr lang="en-US"/>
              <a:t> are # of cross-validation samples used for </a:t>
            </a:r>
            <a:r>
              <a:rPr lang="en-US" i="1"/>
              <a:t>M</a:t>
            </a:r>
            <a:r>
              <a:rPr lang="en-US" i="1" baseline="-25000"/>
              <a:t>1</a:t>
            </a:r>
            <a:r>
              <a:rPr lang="en-US"/>
              <a:t> &amp; </a:t>
            </a:r>
            <a:r>
              <a:rPr lang="en-US" i="1"/>
              <a:t>M</a:t>
            </a:r>
            <a:r>
              <a:rPr lang="en-US" i="1" baseline="-25000"/>
              <a:t>2</a:t>
            </a:r>
            <a:r>
              <a:rPr lang="en-US"/>
              <a:t>, resp.</a:t>
            </a:r>
          </a:p>
        </p:txBody>
      </p:sp>
      <p:pic>
        <p:nvPicPr>
          <p:cNvPr id="60427" name="Picture 1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9000" y="3657600"/>
            <a:ext cx="2743200" cy="71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8" name="Picture 1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62000" y="4343400"/>
            <a:ext cx="7924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9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C38E930-091A-41FD-AF62-2AAACA8C7934}" type="slidenum">
              <a:rPr lang="en-US" sz="1200" b="1">
                <a:latin typeface="Calibri" pitchFamily="34" charset="0"/>
              </a:rPr>
              <a:pPr algn="r"/>
              <a:t>16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Estimating Confidence Intervals-</a:t>
            </a:r>
            <a:br>
              <a:rPr lang="en-US" sz="3200" dirty="0"/>
            </a:br>
            <a:r>
              <a:rPr lang="en-US" sz="3200" dirty="0"/>
              <a:t>Table for </a:t>
            </a:r>
            <a:r>
              <a:rPr lang="en-US" sz="3200" i="1" dirty="0"/>
              <a:t>t</a:t>
            </a:r>
            <a:r>
              <a:rPr lang="en-US" sz="3200" dirty="0"/>
              <a:t>-distribution</a:t>
            </a:r>
          </a:p>
        </p:txBody>
      </p:sp>
      <p:sp>
        <p:nvSpPr>
          <p:cNvPr id="6144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30480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Symmetric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Significance level</a:t>
            </a:r>
            <a:r>
              <a:rPr lang="en-US" sz="2400" dirty="0"/>
              <a:t>, e.g., </a:t>
            </a:r>
            <a:r>
              <a:rPr lang="en-US" sz="2400" i="1" dirty="0"/>
              <a:t>sig = 0.05 </a:t>
            </a:r>
            <a:r>
              <a:rPr lang="en-US" sz="2400" dirty="0"/>
              <a:t>or</a:t>
            </a:r>
            <a:r>
              <a:rPr lang="en-US" sz="2400" i="1" dirty="0"/>
              <a:t> 5% </a:t>
            </a:r>
            <a:r>
              <a:rPr lang="en-US" sz="2400" dirty="0"/>
              <a:t>means </a:t>
            </a:r>
            <a:r>
              <a:rPr lang="en-US" sz="2400" b="1" i="1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&amp; </a:t>
            </a:r>
            <a:r>
              <a:rPr lang="en-US" sz="2400" b="1" i="1" dirty="0"/>
              <a:t>M</a:t>
            </a:r>
            <a:r>
              <a:rPr lang="en-US" sz="2400" baseline="-25000" dirty="0"/>
              <a:t>2</a:t>
            </a:r>
            <a:r>
              <a:rPr lang="en-US" sz="2400" dirty="0"/>
              <a:t> are </a:t>
            </a:r>
            <a:r>
              <a:rPr lang="en-US" sz="2400" i="1" dirty="0"/>
              <a:t>significantly different</a:t>
            </a:r>
            <a:r>
              <a:rPr lang="en-US" sz="2400" dirty="0"/>
              <a:t> for 95% of population</a:t>
            </a:r>
          </a:p>
          <a:p>
            <a:pPr>
              <a:lnSpc>
                <a:spcPct val="90000"/>
              </a:lnSpc>
            </a:pPr>
            <a:r>
              <a:rPr lang="en-US" sz="2400" b="1" dirty="0"/>
              <a:t>Confidence limit</a:t>
            </a:r>
            <a:r>
              <a:rPr lang="en-US" sz="2400" dirty="0"/>
              <a:t>, </a:t>
            </a:r>
            <a:r>
              <a:rPr lang="en-US" sz="2400" i="1" dirty="0"/>
              <a:t>z = sig/2</a:t>
            </a:r>
          </a:p>
        </p:txBody>
      </p:sp>
      <p:pic>
        <p:nvPicPr>
          <p:cNvPr id="61444" name="Picture 6" descr="8ttablevalues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3733800" y="914400"/>
            <a:ext cx="5181600" cy="5791200"/>
          </a:xfrm>
        </p:spPr>
      </p:pic>
      <p:pic>
        <p:nvPicPr>
          <p:cNvPr id="61445" name="Picture 7" descr="8tcurv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1143000"/>
            <a:ext cx="3429000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6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BBE9F96-BD7D-42B9-8E8C-5426D3714B30}" type="slidenum">
              <a:rPr lang="en-US" sz="1200" b="1">
                <a:latin typeface="Calibri" pitchFamily="34" charset="0"/>
              </a:rPr>
              <a:pPr algn="r"/>
              <a:t>17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dirty="0"/>
              <a:t>Estimating Confidence Intervals-</a:t>
            </a:r>
            <a:br>
              <a:rPr lang="en-US" dirty="0"/>
            </a:br>
            <a:r>
              <a:rPr lang="en-US" dirty="0"/>
              <a:t>Statistical Significance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638800"/>
          </a:xfrm>
        </p:spPr>
        <p:txBody>
          <a:bodyPr/>
          <a:lstStyle/>
          <a:p>
            <a:r>
              <a:rPr lang="en-US" sz="2400" dirty="0"/>
              <a:t>Are </a:t>
            </a:r>
            <a:r>
              <a:rPr lang="en-US" sz="2400" b="1" i="1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 &amp; </a:t>
            </a:r>
            <a:r>
              <a:rPr lang="en-US" sz="2400" b="1" i="1" dirty="0"/>
              <a:t>M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b="1" dirty="0"/>
              <a:t>significantly different</a:t>
            </a:r>
            <a:r>
              <a:rPr lang="en-US" sz="2400" dirty="0"/>
              <a:t>?</a:t>
            </a:r>
          </a:p>
          <a:p>
            <a:pPr lvl="1"/>
            <a:r>
              <a:rPr lang="en-US" sz="2400" dirty="0"/>
              <a:t>We compute </a:t>
            </a:r>
            <a:r>
              <a:rPr lang="en-US" sz="2400" i="1" dirty="0"/>
              <a:t>t. </a:t>
            </a:r>
          </a:p>
          <a:p>
            <a:pPr lvl="1"/>
            <a:r>
              <a:rPr lang="en-US" sz="2400" dirty="0"/>
              <a:t>We select </a:t>
            </a:r>
            <a:r>
              <a:rPr lang="en-US" sz="2400" i="1" dirty="0"/>
              <a:t>significance level</a:t>
            </a:r>
            <a:r>
              <a:rPr lang="en-US" sz="2400" dirty="0"/>
              <a:t> (e.g. </a:t>
            </a:r>
            <a:r>
              <a:rPr lang="en-US" sz="2400" i="1" dirty="0"/>
              <a:t>sig = 5%)</a:t>
            </a:r>
          </a:p>
          <a:p>
            <a:pPr lvl="1"/>
            <a:r>
              <a:rPr lang="en-US" sz="2400" dirty="0"/>
              <a:t>We consult table for </a:t>
            </a:r>
            <a:r>
              <a:rPr lang="en-US" sz="2400" i="1" dirty="0"/>
              <a:t>t</a:t>
            </a:r>
            <a:r>
              <a:rPr lang="en-US" sz="2400" dirty="0"/>
              <a:t>-distribution: Find </a:t>
            </a:r>
            <a:r>
              <a:rPr lang="en-US" sz="2400" i="1" dirty="0"/>
              <a:t>t value</a:t>
            </a:r>
            <a:r>
              <a:rPr lang="en-US" sz="2400" dirty="0"/>
              <a:t> corresponding to </a:t>
            </a:r>
            <a:r>
              <a:rPr lang="en-US" sz="2400" i="1" dirty="0"/>
              <a:t>k-1 degrees of freedom</a:t>
            </a:r>
            <a:r>
              <a:rPr lang="en-US" sz="2400" dirty="0"/>
              <a:t> (here, 9)</a:t>
            </a:r>
          </a:p>
          <a:p>
            <a:pPr lvl="1"/>
            <a:r>
              <a:rPr lang="en-US" sz="2400" i="1" dirty="0"/>
              <a:t>t</a:t>
            </a:r>
            <a:r>
              <a:rPr lang="en-US" sz="2400" dirty="0"/>
              <a:t>-distribution is symmetric: typically upper % points of distribution shown → look up value for </a:t>
            </a:r>
            <a:r>
              <a:rPr lang="en-US" sz="2400" b="1" dirty="0"/>
              <a:t>confidence limit</a:t>
            </a:r>
            <a:r>
              <a:rPr lang="en-US" sz="2400" dirty="0"/>
              <a:t> </a:t>
            </a:r>
            <a:r>
              <a:rPr lang="en-US" sz="2400" i="1" dirty="0"/>
              <a:t>z=sig/2</a:t>
            </a:r>
            <a:r>
              <a:rPr lang="en-US" sz="2400" dirty="0"/>
              <a:t> (here, 0.025)</a:t>
            </a:r>
          </a:p>
          <a:p>
            <a:pPr lvl="1"/>
            <a:r>
              <a:rPr lang="en-US" sz="2400" b="1" dirty="0"/>
              <a:t>If</a:t>
            </a:r>
            <a:r>
              <a:rPr lang="en-US" sz="2400" dirty="0"/>
              <a:t> </a:t>
            </a:r>
            <a:r>
              <a:rPr lang="en-US" sz="2400" b="1" i="1" dirty="0"/>
              <a:t>t</a:t>
            </a:r>
            <a:r>
              <a:rPr lang="en-US" sz="2400" b="1" dirty="0"/>
              <a:t> &gt; z or t &lt; -z</a:t>
            </a:r>
            <a:r>
              <a:rPr lang="en-US" sz="2400" dirty="0"/>
              <a:t>, then </a:t>
            </a:r>
            <a:r>
              <a:rPr lang="en-US" sz="2400" i="1" dirty="0"/>
              <a:t>t</a:t>
            </a:r>
            <a:r>
              <a:rPr lang="en-US" sz="2400" dirty="0"/>
              <a:t> value lies in rejection region:</a:t>
            </a:r>
          </a:p>
          <a:p>
            <a:pPr lvl="2"/>
            <a:r>
              <a:rPr lang="en-US" b="1" dirty="0"/>
              <a:t>Reject null hypothesis</a:t>
            </a:r>
            <a:r>
              <a:rPr lang="en-US" dirty="0"/>
              <a:t> that mean error rates of </a:t>
            </a:r>
            <a:r>
              <a:rPr lang="en-US" sz="2000" b="1" i="1" dirty="0"/>
              <a:t>M</a:t>
            </a:r>
            <a:r>
              <a:rPr lang="en-US" sz="2000" baseline="-25000" dirty="0"/>
              <a:t>1</a:t>
            </a:r>
            <a:r>
              <a:rPr lang="en-US" sz="2000" dirty="0"/>
              <a:t> &amp; </a:t>
            </a:r>
            <a:r>
              <a:rPr lang="en-US" sz="2000" b="1" i="1" dirty="0"/>
              <a:t>M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dirty="0"/>
              <a:t>are same</a:t>
            </a:r>
          </a:p>
          <a:p>
            <a:pPr lvl="2"/>
            <a:r>
              <a:rPr lang="en-US" dirty="0"/>
              <a:t>We conclude: </a:t>
            </a:r>
            <a:r>
              <a:rPr lang="en-US" u="sng" dirty="0"/>
              <a:t>statistically significant</a:t>
            </a:r>
            <a:r>
              <a:rPr lang="en-US" dirty="0"/>
              <a:t> difference between</a:t>
            </a:r>
            <a:r>
              <a:rPr lang="en-US" sz="2000" b="1" i="1" dirty="0"/>
              <a:t> M</a:t>
            </a:r>
            <a:r>
              <a:rPr lang="en-US" sz="2000" baseline="-25000" dirty="0"/>
              <a:t>1</a:t>
            </a:r>
            <a:r>
              <a:rPr lang="en-US" sz="2000" dirty="0"/>
              <a:t> &amp; </a:t>
            </a:r>
            <a:r>
              <a:rPr lang="en-US" sz="2000" b="1" i="1" dirty="0"/>
              <a:t>M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endParaRPr lang="en-US" dirty="0"/>
          </a:p>
          <a:p>
            <a:pPr lvl="1"/>
            <a:r>
              <a:rPr lang="en-US" sz="2400" b="1" dirty="0"/>
              <a:t>Otherwise</a:t>
            </a:r>
            <a:r>
              <a:rPr lang="en-US" sz="2400" dirty="0"/>
              <a:t>, conclude that no difference among the models </a:t>
            </a:r>
          </a:p>
        </p:txBody>
      </p:sp>
      <p:sp>
        <p:nvSpPr>
          <p:cNvPr id="62468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98FCACB-A9A5-4A5E-9603-E4D6CF789513}" type="slidenum">
              <a:rPr lang="en-US" sz="1200" b="1">
                <a:latin typeface="Calibri" pitchFamily="34" charset="0"/>
              </a:rPr>
              <a:pPr algn="r"/>
              <a:t>18</a:t>
            </a:fld>
            <a:endParaRPr lang="en-US" sz="1200" b="1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76200"/>
            <a:ext cx="3429000" cy="32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Model Selection: ROC Curves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295400"/>
            <a:ext cx="5562600" cy="5257800"/>
          </a:xfrm>
        </p:spPr>
        <p:txBody>
          <a:bodyPr>
            <a:normAutofit fontScale="92500"/>
          </a:bodyPr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400" b="1" dirty="0"/>
              <a:t>ROC</a:t>
            </a:r>
            <a:r>
              <a:rPr lang="en-US" sz="2400" dirty="0"/>
              <a:t> (Receiver Operating Characteristics) curves: for visual comparison of classification models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Originated from signal detection theory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Shows the trade-off between the true positive rate (TPR) and the false positive rate (FPR)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The area under the ROC curve is a measure of the accuracy of the model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Rank the test </a:t>
            </a:r>
            <a:r>
              <a:rPr lang="en-US" sz="2400" dirty="0" err="1"/>
              <a:t>tuples</a:t>
            </a:r>
            <a:r>
              <a:rPr lang="en-US" sz="2400" dirty="0"/>
              <a:t> in decreasing order: the one that is most likely to belong to the positive class appears at the top of the list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The closer to the diagonal line (i.e., the closer the area is to 0.5), the less accurate is the model</a:t>
            </a:r>
          </a:p>
        </p:txBody>
      </p:sp>
      <p:sp>
        <p:nvSpPr>
          <p:cNvPr id="63493" name="Rectangle 7"/>
          <p:cNvSpPr>
            <a:spLocks noChangeArrowheads="1"/>
          </p:cNvSpPr>
          <p:nvPr/>
        </p:nvSpPr>
        <p:spPr bwMode="auto">
          <a:xfrm>
            <a:off x="5791200" y="3429000"/>
            <a:ext cx="3352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Vertical axis represents the true positive rate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Horizontal axis rep. the false positive rate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The plot also shows a diagonal line</a:t>
            </a:r>
          </a:p>
          <a:p>
            <a:pPr marL="457200" indent="-457200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A model with perfect accuracy will have an area of 1.0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>
            <a:normAutofit/>
          </a:bodyPr>
          <a:lstStyle/>
          <a:p>
            <a:r>
              <a:rPr lang="en-US" sz="2400" dirty="0"/>
              <a:t>True Positive Rate TPR: TP/P=</a:t>
            </a:r>
            <a:r>
              <a:rPr lang="en-US" sz="2400" b="1" dirty="0"/>
              <a:t> </a:t>
            </a:r>
            <a:r>
              <a:rPr lang="en-US" sz="2400" dirty="0"/>
              <a:t>TP/(TP+FN)</a:t>
            </a:r>
          </a:p>
          <a:p>
            <a:r>
              <a:rPr lang="en-US" sz="2400" dirty="0"/>
              <a:t>False Positive Rate FPR: FP/N=</a:t>
            </a:r>
            <a:r>
              <a:rPr lang="en-US" sz="2400" b="1" dirty="0"/>
              <a:t> </a:t>
            </a:r>
            <a:r>
              <a:rPr lang="en-US" sz="2400" dirty="0"/>
              <a:t>FP/(FP+TN)</a:t>
            </a:r>
            <a:endParaRPr lang="en-US" sz="2400" i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Model Selection-ROC Curves</a:t>
            </a:r>
            <a:endParaRPr lang="en-US" sz="3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40656"/>
            <a:ext cx="5219700" cy="3001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11980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2438400"/>
            <a:ext cx="3276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Metrics and Issues for Model Selection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8378825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 b="1" dirty="0"/>
              <a:t>Accuracy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Classifier accuracy- Predicting class label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 dirty="0"/>
              <a:t>Speed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Time to construct the model (training time)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Time to use the model (classification/prediction time)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 dirty="0"/>
              <a:t>Robustness-</a:t>
            </a:r>
            <a:r>
              <a:rPr lang="en-US" sz="2400" dirty="0"/>
              <a:t> Handling noise and missing values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 dirty="0"/>
              <a:t>Scalability-</a:t>
            </a:r>
            <a:r>
              <a:rPr lang="en-US" sz="2400" dirty="0"/>
              <a:t> Ability to deal with huge volume of data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b="1" dirty="0"/>
              <a:t>Interpretability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Understanding and insight provided by the model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Other measures, e.g., goodness of rules, such as decision tree size or compactness of classification rules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/>
              <a:t>Classification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dirty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dirty="0" err="1"/>
              <a:t>Bayes</a:t>
            </a:r>
            <a:r>
              <a:rPr lang="en-US" dirty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US" dirty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dirty="0"/>
              <a:t>Model Evaluation and Selection</a:t>
            </a:r>
          </a:p>
          <a:p>
            <a:pPr>
              <a:lnSpc>
                <a:spcPct val="130000"/>
              </a:lnSpc>
            </a:pPr>
            <a:r>
              <a:rPr lang="en-US" b="1" i="1" dirty="0"/>
              <a:t>Techniques to Improve Classification Accuracy: Ensemble Methods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13613-FD62-4FDA-8444-F94981C0198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Increasing the Accuracy-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</a:p>
          <a:p>
            <a:pPr lvl="0" eaLnBrk="1" fontAlgn="auto" hangingPunct="1">
              <a:spcAft>
                <a:spcPts val="0"/>
              </a:spcAft>
            </a:pPr>
            <a:r>
              <a:rPr lang="en-US" sz="3200" b="1" i="1" dirty="0">
                <a:solidFill>
                  <a:schemeClr val="tx2"/>
                </a:solidFill>
              </a:rPr>
              <a:t>Ensemble Methods</a:t>
            </a:r>
            <a:endParaRPr kumimoji="0" lang="en-US" sz="3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174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1676400"/>
            <a:ext cx="866775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Increasing the Accuracy-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</a:p>
          <a:p>
            <a:pPr lvl="0" eaLnBrk="1" fontAlgn="auto" hangingPunct="1">
              <a:spcAft>
                <a:spcPts val="0"/>
              </a:spcAft>
            </a:pPr>
            <a:r>
              <a:rPr lang="en-US" sz="3200" b="1" i="1" dirty="0">
                <a:solidFill>
                  <a:schemeClr val="tx2"/>
                </a:solidFill>
              </a:rPr>
              <a:t>Ensemble Methods</a:t>
            </a:r>
            <a:endParaRPr kumimoji="0" lang="en-US" sz="3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656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960437"/>
            <a:ext cx="4572000" cy="216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590800"/>
            <a:ext cx="8458200" cy="3810000"/>
          </a:xfrm>
        </p:spPr>
        <p:txBody>
          <a:bodyPr/>
          <a:lstStyle/>
          <a:p>
            <a:pPr eaLnBrk="1" hangingPunct="1"/>
            <a:r>
              <a:rPr lang="en-US" sz="2400" dirty="0"/>
              <a:t>Ensemble methods</a:t>
            </a:r>
          </a:p>
          <a:p>
            <a:pPr lvl="1"/>
            <a:r>
              <a:rPr lang="en-US" sz="2400" dirty="0"/>
              <a:t>Construct a set of classifiers from the training data</a:t>
            </a:r>
          </a:p>
          <a:p>
            <a:pPr lvl="1"/>
            <a:r>
              <a:rPr lang="en-US" sz="2400" dirty="0"/>
              <a:t>Predict class label of previously unseen records by aggregating predictions made by multiple classifiers</a:t>
            </a:r>
          </a:p>
          <a:p>
            <a:pPr lvl="1" eaLnBrk="1" hangingPunct="1">
              <a:buNone/>
            </a:pPr>
            <a:endParaRPr lang="en-US" sz="2400" dirty="0"/>
          </a:p>
          <a:p>
            <a:pPr eaLnBrk="1" hangingPunct="1"/>
            <a:r>
              <a:rPr lang="en-US" sz="2400" dirty="0"/>
              <a:t>Popular ensemble methods</a:t>
            </a:r>
          </a:p>
          <a:p>
            <a:pPr lvl="1" eaLnBrk="1" hangingPunct="1"/>
            <a:r>
              <a:rPr lang="en-US" sz="2400" dirty="0"/>
              <a:t>Bagging</a:t>
            </a:r>
          </a:p>
          <a:p>
            <a:pPr lvl="1" eaLnBrk="1" hangingPunct="1"/>
            <a:r>
              <a:rPr lang="en-US" sz="2400" dirty="0"/>
              <a:t>Boosting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334000"/>
          </a:xfrm>
        </p:spPr>
        <p:txBody>
          <a:bodyPr>
            <a:normAutofit/>
          </a:bodyPr>
          <a:lstStyle/>
          <a:p>
            <a:r>
              <a:rPr lang="en-US" dirty="0"/>
              <a:t>Bagging</a:t>
            </a:r>
          </a:p>
          <a:p>
            <a:pPr lvl="1"/>
            <a:r>
              <a:rPr lang="en-US" dirty="0"/>
              <a:t>Construction of Bagging classifiers are independent</a:t>
            </a:r>
          </a:p>
          <a:p>
            <a:pPr lvl="1"/>
            <a:r>
              <a:rPr lang="en-US" dirty="0"/>
              <a:t>Equal voting</a:t>
            </a:r>
          </a:p>
          <a:p>
            <a:r>
              <a:rPr lang="en-US" dirty="0"/>
              <a:t>Boosting</a:t>
            </a:r>
          </a:p>
          <a:p>
            <a:pPr lvl="1"/>
            <a:r>
              <a:rPr lang="en-US" dirty="0"/>
              <a:t>Construction of a new Boosting classifier depends on the performance of its previous classifier, i.e. sequential construction (a series of classifiers)</a:t>
            </a:r>
          </a:p>
          <a:p>
            <a:pPr lvl="1"/>
            <a:r>
              <a:rPr lang="en-US" dirty="0"/>
              <a:t>Weighted voting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152400"/>
            <a:ext cx="9144000" cy="10668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200" b="1" dirty="0">
                <a:solidFill>
                  <a:schemeClr val="tx2"/>
                </a:solidFill>
              </a:rPr>
              <a:t>Ensemble Methods-</a:t>
            </a:r>
            <a:r>
              <a:rPr lang="en-US" sz="3200" b="1" i="1" dirty="0">
                <a:solidFill>
                  <a:schemeClr val="tx2"/>
                </a:solidFill>
              </a:rPr>
              <a:t> </a:t>
            </a:r>
            <a:r>
              <a:rPr lang="en-US" sz="3200" b="1" i="1" dirty="0">
                <a:solidFill>
                  <a:schemeClr val="tx2"/>
                </a:solidFill>
                <a:latin typeface="+mj-lt"/>
              </a:rPr>
              <a:t>Bagging vs. Boosting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1062038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kumimoji="0" lang="en-US" sz="3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Bagging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1751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066800"/>
            <a:ext cx="82010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53340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000" dirty="0"/>
              <a:t>Analogy: Diagnosis based on multiple doctors’ majority vote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Training</a:t>
            </a:r>
          </a:p>
          <a:p>
            <a:pPr lvl="1" eaLnBrk="1" hangingPunct="1"/>
            <a:r>
              <a:rPr lang="en-US" sz="2000" dirty="0"/>
              <a:t>Given a set D of </a:t>
            </a:r>
            <a:r>
              <a:rPr lang="en-US" sz="2000" i="1" dirty="0"/>
              <a:t>d </a:t>
            </a:r>
            <a:r>
              <a:rPr lang="en-US" sz="2000" dirty="0" err="1"/>
              <a:t>tuples</a:t>
            </a:r>
            <a:r>
              <a:rPr lang="en-US" sz="2000" dirty="0"/>
              <a:t>, at each iteration </a:t>
            </a:r>
            <a:r>
              <a:rPr lang="en-US" sz="2000" i="1" dirty="0" err="1"/>
              <a:t>i</a:t>
            </a:r>
            <a:r>
              <a:rPr lang="en-US" sz="2000" dirty="0"/>
              <a:t>, a training set D</a:t>
            </a:r>
            <a:r>
              <a:rPr lang="en-US" sz="2000" baseline="-25000" dirty="0"/>
              <a:t>i</a:t>
            </a:r>
            <a:r>
              <a:rPr lang="en-US" sz="2000" dirty="0"/>
              <a:t> of </a:t>
            </a:r>
            <a:r>
              <a:rPr lang="en-US" sz="2000" i="1" dirty="0"/>
              <a:t>d</a:t>
            </a:r>
            <a:r>
              <a:rPr lang="en-US" sz="2000" dirty="0"/>
              <a:t> </a:t>
            </a:r>
            <a:r>
              <a:rPr lang="en-US" sz="2000" dirty="0" err="1"/>
              <a:t>tuples</a:t>
            </a:r>
            <a:r>
              <a:rPr lang="en-US" sz="2000" dirty="0"/>
              <a:t> is sampled with replacement from D (i.e., bootstrap)</a:t>
            </a:r>
          </a:p>
          <a:p>
            <a:pPr lvl="1" eaLnBrk="1" hangingPunct="1"/>
            <a:r>
              <a:rPr lang="en-US" sz="2000" dirty="0"/>
              <a:t>A classifier model M</a:t>
            </a:r>
            <a:r>
              <a:rPr lang="en-US" sz="2000" baseline="-25000" dirty="0"/>
              <a:t>i</a:t>
            </a:r>
            <a:r>
              <a:rPr lang="en-US" sz="2000" dirty="0"/>
              <a:t> is learned for each training set D</a:t>
            </a:r>
            <a:r>
              <a:rPr lang="en-US" sz="2000" baseline="-25000" dirty="0"/>
              <a:t>i</a:t>
            </a:r>
          </a:p>
          <a:p>
            <a:pPr lvl="1" eaLnBrk="1" hangingPunct="1">
              <a:buNone/>
            </a:pPr>
            <a:endParaRPr lang="en-US" sz="2000" dirty="0"/>
          </a:p>
          <a:p>
            <a:pPr eaLnBrk="1" hangingPunct="1"/>
            <a:r>
              <a:rPr lang="en-US" sz="2000" dirty="0"/>
              <a:t>Classification: classify an unknown sample</a:t>
            </a:r>
            <a:r>
              <a:rPr lang="en-US" sz="2000" b="1" dirty="0"/>
              <a:t> X</a:t>
            </a:r>
            <a:r>
              <a:rPr lang="en-US" sz="2000" dirty="0"/>
              <a:t> </a:t>
            </a:r>
          </a:p>
          <a:p>
            <a:pPr lvl="1" eaLnBrk="1" hangingPunct="1"/>
            <a:r>
              <a:rPr lang="en-US" sz="2000" dirty="0"/>
              <a:t>Each classifier M</a:t>
            </a:r>
            <a:r>
              <a:rPr lang="en-US" sz="2000" baseline="-25000" dirty="0"/>
              <a:t>i</a:t>
            </a:r>
            <a:r>
              <a:rPr lang="en-US" sz="2000" dirty="0"/>
              <a:t> returns its class prediction</a:t>
            </a:r>
          </a:p>
          <a:p>
            <a:pPr lvl="1" eaLnBrk="1" hangingPunct="1"/>
            <a:r>
              <a:rPr lang="en-US" sz="2000" dirty="0"/>
              <a:t>The bagged classifier M* counts the votes and assigns the class with the most votes to </a:t>
            </a:r>
            <a:r>
              <a:rPr lang="en-US" sz="2000" b="1" dirty="0"/>
              <a:t>X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000" dirty="0"/>
              <a:t>Prediction: can be applied to the prediction of continuous values by taking the average value of each prediction for a given test </a:t>
            </a:r>
            <a:r>
              <a:rPr lang="en-US" sz="2000" dirty="0" err="1"/>
              <a:t>tuple</a:t>
            </a:r>
            <a:endParaRPr lang="en-US" sz="2000" dirty="0"/>
          </a:p>
          <a:p>
            <a:pPr eaLnBrk="1" hangingPunct="1">
              <a:buNone/>
            </a:pPr>
            <a:endParaRPr lang="en-US" sz="2000" dirty="0"/>
          </a:p>
          <a:p>
            <a:pPr eaLnBrk="1" hangingPunct="1"/>
            <a:r>
              <a:rPr lang="en-US" sz="2000" dirty="0"/>
              <a:t>Accuracy</a:t>
            </a:r>
          </a:p>
          <a:p>
            <a:pPr lvl="1" eaLnBrk="1" hangingPunct="1"/>
            <a:r>
              <a:rPr lang="en-US" sz="2000" dirty="0"/>
              <a:t>Often significantly better than a single classifier derived from D</a:t>
            </a:r>
          </a:p>
          <a:p>
            <a:pPr lvl="1" eaLnBrk="1" hangingPunct="1">
              <a:buNone/>
            </a:pPr>
            <a:endParaRPr lang="en-US" sz="20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Bagging- </a:t>
            </a:r>
            <a:r>
              <a:rPr lang="en-US" sz="3600" b="1" i="1" dirty="0">
                <a:solidFill>
                  <a:schemeClr val="tx2"/>
                </a:solidFill>
                <a:latin typeface="+mj-lt"/>
              </a:rPr>
              <a:t>Bootstrap Aggregation</a:t>
            </a:r>
            <a:endParaRPr kumimoji="0" lang="en-US" sz="36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Boosting (Weighted Voting)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400" i="1" dirty="0">
                <a:solidFill>
                  <a:srgbClr val="FF0000"/>
                </a:solidFill>
              </a:rPr>
              <a:t>Analogy: Consult several doctors, based on a combination of weighted diagnoses—weight assigned based on the previous diagnosis accuracy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400" dirty="0"/>
              <a:t>How boosting works?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b="1" dirty="0"/>
              <a:t>Weights</a:t>
            </a:r>
            <a:r>
              <a:rPr lang="en-US" sz="2400" dirty="0"/>
              <a:t> are assigned to each training </a:t>
            </a:r>
            <a:r>
              <a:rPr lang="en-US" sz="2400" dirty="0" err="1"/>
              <a:t>tuple</a:t>
            </a:r>
            <a:endParaRPr lang="en-US"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dirty="0"/>
              <a:t>A series of k classifiers is iteratively learned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dirty="0"/>
              <a:t>After a classifier M</a:t>
            </a:r>
            <a:r>
              <a:rPr lang="en-US" sz="2400" baseline="-25000" dirty="0"/>
              <a:t>i</a:t>
            </a:r>
            <a:r>
              <a:rPr lang="en-US" sz="2400" dirty="0"/>
              <a:t> is learned, the weights are updated to allow the subsequent classifier, M</a:t>
            </a:r>
            <a:r>
              <a:rPr lang="en-US" sz="2400" baseline="-25000" dirty="0"/>
              <a:t>i+1</a:t>
            </a:r>
            <a:r>
              <a:rPr lang="en-US" sz="2400" dirty="0"/>
              <a:t>, to </a:t>
            </a:r>
            <a:r>
              <a:rPr lang="en-US" sz="2400" b="1" dirty="0"/>
              <a:t>pay more attention to the training </a:t>
            </a:r>
            <a:r>
              <a:rPr lang="en-US" sz="2400" b="1" dirty="0" err="1"/>
              <a:t>tuples</a:t>
            </a:r>
            <a:r>
              <a:rPr lang="en-US" sz="2400" b="1" dirty="0"/>
              <a:t> that were misclassified</a:t>
            </a:r>
            <a:r>
              <a:rPr lang="en-US" sz="2400" dirty="0"/>
              <a:t> by M</a:t>
            </a:r>
            <a:r>
              <a:rPr lang="en-US" sz="2400" baseline="-25000" dirty="0"/>
              <a:t>i</a:t>
            </a:r>
            <a:endParaRPr lang="en-US" sz="2400" dirty="0"/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400" dirty="0"/>
              <a:t>The final </a:t>
            </a:r>
            <a:r>
              <a:rPr lang="en-US" sz="2400" b="1" dirty="0"/>
              <a:t>M* combines the votes</a:t>
            </a:r>
            <a:r>
              <a:rPr lang="en-US" sz="2400" dirty="0"/>
              <a:t> of each individual classifier, where the weight of each classifier's vote is a function of its accuracy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Boosting - </a:t>
            </a:r>
            <a:r>
              <a:rPr lang="en-US" sz="3600" b="1" i="1" dirty="0" err="1">
                <a:solidFill>
                  <a:schemeClr val="tx2"/>
                </a:solidFill>
                <a:latin typeface="+mj-lt"/>
              </a:rPr>
              <a:t>Adaboost</a:t>
            </a:r>
            <a:endParaRPr kumimoji="0" lang="en-US" sz="36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382000" cy="51054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sz="2000" dirty="0"/>
              <a:t>Given a set of </a:t>
            </a:r>
            <a:r>
              <a:rPr lang="en-US" sz="2000" i="1" dirty="0"/>
              <a:t>d</a:t>
            </a:r>
            <a:r>
              <a:rPr lang="en-US" sz="2000" dirty="0"/>
              <a:t> class-labeled </a:t>
            </a:r>
            <a:r>
              <a:rPr lang="en-US" sz="2000" dirty="0" err="1"/>
              <a:t>tuples</a:t>
            </a:r>
            <a:r>
              <a:rPr lang="en-US" sz="2000" dirty="0"/>
              <a:t>, (</a:t>
            </a:r>
            <a:r>
              <a:rPr lang="en-US" sz="2000" b="1" dirty="0"/>
              <a:t>X</a:t>
            </a:r>
            <a:r>
              <a:rPr lang="en-US" sz="2000" b="1" baseline="-25000" dirty="0"/>
              <a:t>1</a:t>
            </a:r>
            <a:r>
              <a:rPr lang="en-US" sz="2000" dirty="0"/>
              <a:t>, y</a:t>
            </a:r>
            <a:r>
              <a:rPr lang="en-US" sz="2000" baseline="-25000" dirty="0"/>
              <a:t>1</a:t>
            </a:r>
            <a:r>
              <a:rPr lang="en-US" sz="2000" dirty="0"/>
              <a:t>), …, (</a:t>
            </a:r>
            <a:r>
              <a:rPr lang="en-US" sz="2000" b="1" dirty="0" err="1"/>
              <a:t>X</a:t>
            </a:r>
            <a:r>
              <a:rPr lang="en-US" sz="2000" b="1" baseline="-25000" dirty="0" err="1"/>
              <a:t>d</a:t>
            </a:r>
            <a:r>
              <a:rPr lang="en-US" sz="2000" dirty="0"/>
              <a:t>, y</a:t>
            </a:r>
            <a:r>
              <a:rPr lang="en-US" sz="2000" baseline="-25000" dirty="0"/>
              <a:t>d</a:t>
            </a:r>
            <a:r>
              <a:rPr lang="en-US" sz="2000" dirty="0"/>
              <a:t>)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000" dirty="0"/>
              <a:t>Initially, all the weights of </a:t>
            </a:r>
            <a:r>
              <a:rPr lang="en-US" sz="2000" dirty="0" err="1"/>
              <a:t>tuples</a:t>
            </a:r>
            <a:r>
              <a:rPr lang="en-US" sz="2000" dirty="0"/>
              <a:t> are set the same (1/d)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000" dirty="0"/>
              <a:t>Generate k classifiers in k rounds.  At round </a:t>
            </a:r>
            <a:r>
              <a:rPr lang="en-US" sz="2000" dirty="0" err="1"/>
              <a:t>i</a:t>
            </a:r>
            <a:r>
              <a:rPr lang="en-US" sz="2000" dirty="0"/>
              <a:t>,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000" dirty="0" err="1"/>
              <a:t>Tuples</a:t>
            </a:r>
            <a:r>
              <a:rPr lang="en-US" sz="2000" dirty="0"/>
              <a:t> from D are sampled (with replacement) to form a training set D</a:t>
            </a:r>
            <a:r>
              <a:rPr lang="en-US" sz="2000" baseline="-25000" dirty="0"/>
              <a:t>i</a:t>
            </a:r>
            <a:r>
              <a:rPr lang="en-US" sz="2000" dirty="0"/>
              <a:t> of the same size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000" dirty="0"/>
              <a:t>Each </a:t>
            </a:r>
            <a:r>
              <a:rPr lang="en-US" sz="2000" dirty="0" err="1"/>
              <a:t>tuple’s</a:t>
            </a:r>
            <a:r>
              <a:rPr lang="en-US" sz="2000" dirty="0"/>
              <a:t> chance of being selected is based on its weight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000" dirty="0"/>
              <a:t>A classification model M</a:t>
            </a:r>
            <a:r>
              <a:rPr lang="en-US" sz="2000" baseline="-25000" dirty="0"/>
              <a:t>i</a:t>
            </a:r>
            <a:r>
              <a:rPr lang="en-US" sz="2000" dirty="0"/>
              <a:t> is derived from D</a:t>
            </a:r>
            <a:r>
              <a:rPr lang="en-US" sz="2000" baseline="-25000" dirty="0"/>
              <a:t>i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000" dirty="0"/>
              <a:t>Its error rate is calculated using a test set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en-US" sz="2000" dirty="0"/>
              <a:t>If a </a:t>
            </a:r>
            <a:r>
              <a:rPr lang="en-US" sz="2000" dirty="0" err="1"/>
              <a:t>tuple</a:t>
            </a:r>
            <a:r>
              <a:rPr lang="en-US" sz="2000" dirty="0"/>
              <a:t> is misclassified, its weight is increased, </a:t>
            </a:r>
            <a:r>
              <a:rPr lang="en-US" sz="2000" dirty="0" err="1"/>
              <a:t>o.w</a:t>
            </a:r>
            <a:r>
              <a:rPr lang="en-US" sz="2000" dirty="0"/>
              <a:t>. it is decreased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000" dirty="0"/>
              <a:t>Error rate: err(</a:t>
            </a:r>
            <a:r>
              <a:rPr lang="en-US" sz="2000" b="1" dirty="0" err="1"/>
              <a:t>X</a:t>
            </a:r>
            <a:r>
              <a:rPr lang="en-US" sz="2000" b="1" baseline="-25000" dirty="0" err="1"/>
              <a:t>j</a:t>
            </a:r>
            <a:r>
              <a:rPr lang="en-US" sz="2000" dirty="0"/>
              <a:t>) is the misclassification error of </a:t>
            </a:r>
            <a:r>
              <a:rPr lang="en-US" sz="2000" dirty="0" err="1"/>
              <a:t>tuple</a:t>
            </a:r>
            <a:r>
              <a:rPr lang="en-US" sz="2000" dirty="0"/>
              <a:t> </a:t>
            </a:r>
            <a:r>
              <a:rPr lang="en-US" sz="2000" b="1" dirty="0" err="1"/>
              <a:t>X</a:t>
            </a:r>
            <a:r>
              <a:rPr lang="en-US" sz="2000" b="1" baseline="-25000" dirty="0" err="1"/>
              <a:t>j</a:t>
            </a:r>
            <a:r>
              <a:rPr lang="en-US" sz="2000" dirty="0"/>
              <a:t>. Classifier M</a:t>
            </a:r>
            <a:r>
              <a:rPr lang="en-US" sz="2000" baseline="-25000" dirty="0"/>
              <a:t>i</a:t>
            </a:r>
            <a:r>
              <a:rPr lang="en-US" sz="2000" dirty="0"/>
              <a:t> error rate is the sum of the weights of the misclassified </a:t>
            </a:r>
            <a:r>
              <a:rPr lang="en-US" sz="2000" dirty="0" err="1"/>
              <a:t>tuples</a:t>
            </a:r>
            <a:r>
              <a:rPr lang="en-US" sz="2000" dirty="0"/>
              <a:t>: </a:t>
            </a:r>
          </a:p>
          <a:p>
            <a:pPr marL="457200" indent="-457200" eaLnBrk="1" hangingPunct="1">
              <a:lnSpc>
                <a:spcPct val="90000"/>
              </a:lnSpc>
            </a:pPr>
            <a:endParaRPr lang="en-US" sz="2000" dirty="0"/>
          </a:p>
          <a:p>
            <a:pPr marL="457200" indent="-457200" eaLnBrk="1" hangingPunct="1">
              <a:lnSpc>
                <a:spcPct val="90000"/>
              </a:lnSpc>
            </a:pPr>
            <a:endParaRPr lang="en-US" sz="2000" dirty="0"/>
          </a:p>
          <a:p>
            <a:pPr marL="457200" indent="-457200" eaLnBrk="1" hangingPunct="1">
              <a:lnSpc>
                <a:spcPct val="90000"/>
              </a:lnSpc>
            </a:pPr>
            <a:r>
              <a:rPr lang="en-US" sz="2000" dirty="0"/>
              <a:t>The weight of classifier M</a:t>
            </a:r>
            <a:r>
              <a:rPr lang="en-US" sz="2000" baseline="-25000" dirty="0"/>
              <a:t>i</a:t>
            </a:r>
            <a:r>
              <a:rPr lang="en-US" sz="2000" dirty="0"/>
              <a:t>’s vote is</a:t>
            </a:r>
          </a:p>
        </p:txBody>
      </p:sp>
      <p:graphicFrame>
        <p:nvGraphicFramePr>
          <p:cNvPr id="6963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943600" y="5638800"/>
          <a:ext cx="1828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431613" progId="Equation.3">
                  <p:embed/>
                </p:oleObj>
              </mc:Choice>
              <mc:Fallback>
                <p:oleObj name="Equation" r:id="rId3" imgW="1091726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638800"/>
                        <a:ext cx="18288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14600" y="5181600"/>
          <a:ext cx="350520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600" imgH="444500" progId="Equation.3">
                  <p:embed/>
                </p:oleObj>
              </mc:Choice>
              <mc:Fallback>
                <p:oleObj name="Equation" r:id="rId5" imgW="17526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181600"/>
                        <a:ext cx="3505200" cy="71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7AFD74-5170-4EB8-8EBC-53EAF0F4BFE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kumimoji="0" lang="en-US" sz="3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Boosting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838200"/>
            <a:ext cx="8953500" cy="591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1524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kumimoji="0" lang="en-US" sz="3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Boosting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8300" y="2009775"/>
            <a:ext cx="58674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5410200"/>
          </a:xfrm>
        </p:spPr>
        <p:txBody>
          <a:bodyPr/>
          <a:lstStyle/>
          <a:p>
            <a:r>
              <a:rPr lang="en-US" sz="2000" dirty="0"/>
              <a:t>Random Forest: </a:t>
            </a:r>
          </a:p>
          <a:p>
            <a:pPr lvl="1"/>
            <a:r>
              <a:rPr lang="en-US" sz="2000" dirty="0"/>
              <a:t>Each classifier in the ensemble is a </a:t>
            </a:r>
            <a:r>
              <a:rPr lang="en-US" sz="2000" i="1" dirty="0"/>
              <a:t>decision tree </a:t>
            </a:r>
            <a:r>
              <a:rPr lang="en-US" sz="2000" dirty="0"/>
              <a:t>classifier and is generated using a random selection of attributes at each node to determine the split</a:t>
            </a:r>
          </a:p>
          <a:p>
            <a:pPr lvl="1"/>
            <a:r>
              <a:rPr lang="en-US" sz="2000" dirty="0"/>
              <a:t>During classification, each tree votes and the most popular class is returned</a:t>
            </a:r>
          </a:p>
          <a:p>
            <a:r>
              <a:rPr lang="en-US" sz="2000" dirty="0"/>
              <a:t>Two Methods to construct Random Forest:</a:t>
            </a:r>
          </a:p>
          <a:p>
            <a:pPr lvl="1"/>
            <a:r>
              <a:rPr lang="en-US" sz="2000" dirty="0"/>
              <a:t>Forest-RI (</a:t>
            </a:r>
            <a:r>
              <a:rPr lang="en-US" sz="2000" i="1" dirty="0"/>
              <a:t>random input selection</a:t>
            </a:r>
            <a:r>
              <a:rPr lang="en-US" sz="2000" dirty="0"/>
              <a:t>):  Randomly select, at each node, F attributes as candidates for the split at the node. </a:t>
            </a:r>
          </a:p>
          <a:p>
            <a:pPr lvl="1"/>
            <a:r>
              <a:rPr lang="en-US" sz="2000" dirty="0"/>
              <a:t>Forest-RC (</a:t>
            </a:r>
            <a:r>
              <a:rPr lang="en-US" sz="2000" i="1" dirty="0"/>
              <a:t>random linear combinations</a:t>
            </a:r>
            <a:r>
              <a:rPr lang="en-US" sz="2000" dirty="0"/>
              <a:t>)</a:t>
            </a:r>
            <a:r>
              <a:rPr lang="en-US" sz="2000" i="1" dirty="0"/>
              <a:t>: </a:t>
            </a:r>
            <a:r>
              <a:rPr lang="en-US" sz="2000" dirty="0"/>
              <a:t> </a:t>
            </a:r>
            <a:r>
              <a:rPr lang="en-US" sz="2000" b="1" i="1" dirty="0"/>
              <a:t>Creates new attributes </a:t>
            </a:r>
            <a:r>
              <a:rPr lang="en-US" sz="2000" dirty="0"/>
              <a:t>(or features) that are a linear combination of the existing attributes (reduces the correlation between individual classifiers)</a:t>
            </a:r>
          </a:p>
          <a:p>
            <a:r>
              <a:rPr lang="en-US" sz="2000" dirty="0"/>
              <a:t>Comparable in accuracy to </a:t>
            </a:r>
            <a:r>
              <a:rPr lang="en-US" sz="2000" dirty="0" err="1"/>
              <a:t>Adaboost</a:t>
            </a:r>
            <a:r>
              <a:rPr lang="en-US" sz="2000" dirty="0"/>
              <a:t>, but more robust to errors and outliers </a:t>
            </a:r>
          </a:p>
          <a:p>
            <a:r>
              <a:rPr lang="en-US" sz="2000" dirty="0"/>
              <a:t>Insensitive to the number of attributes selected for consideration at each split, and faster than bagging or boosting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Ensemble Technique- </a:t>
            </a:r>
            <a:r>
              <a:rPr lang="en-US" sz="3600" b="1" i="1" dirty="0">
                <a:solidFill>
                  <a:schemeClr val="tx2"/>
                </a:solidFill>
                <a:latin typeface="+mj-lt"/>
              </a:rPr>
              <a:t>Random Forest 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(</a:t>
            </a:r>
            <a:r>
              <a:rPr lang="en-US" sz="3600" dirty="0" err="1">
                <a:solidFill>
                  <a:schemeClr val="tx2"/>
                </a:solidFill>
                <a:latin typeface="+mj-lt"/>
              </a:rPr>
              <a:t>Breiman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2001)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543800" cy="960438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128002" name="Picture 2" descr="Decision Tree vs. Random Forest - Which Algorithm Should you Use?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371600"/>
            <a:ext cx="7058025" cy="47815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6096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200" dirty="0">
                <a:solidFill>
                  <a:schemeClr val="tx2"/>
                </a:solidFill>
                <a:latin typeface="+mj-lt"/>
              </a:rPr>
              <a:t>Classification-</a:t>
            </a:r>
            <a:r>
              <a:rPr lang="en-US" sz="3200" b="1" i="1" dirty="0">
                <a:solidFill>
                  <a:schemeClr val="tx2"/>
                </a:solidFill>
                <a:latin typeface="+mj-lt"/>
              </a:rPr>
              <a:t>Class-Imbalanced Data Sets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05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Class-imbalance problem: Rare positive example but numerous negative ones, e.g., medical diagnosis, fraud, oil-spill, fault, etc.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Traditional methods assume a balanced distribution of classes and equal error costs: not suitable for class-imbalanced data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Typical methods for imbalance data in 2-class classification: </a:t>
            </a:r>
          </a:p>
          <a:p>
            <a:pPr lvl="1">
              <a:lnSpc>
                <a:spcPct val="90000"/>
              </a:lnSpc>
            </a:pPr>
            <a:r>
              <a:rPr lang="en-US" sz="2400" b="1" i="1" dirty="0">
                <a:solidFill>
                  <a:srgbClr val="FF0000"/>
                </a:solidFill>
              </a:rPr>
              <a:t>Oversampling</a:t>
            </a:r>
            <a:r>
              <a:rPr lang="en-US" sz="2400" i="1" dirty="0">
                <a:solidFill>
                  <a:srgbClr val="FF0000"/>
                </a:solidFill>
              </a:rPr>
              <a:t>- </a:t>
            </a:r>
            <a:r>
              <a:rPr lang="en-US" sz="2400" dirty="0"/>
              <a:t>re-sampling of data from </a:t>
            </a:r>
            <a:r>
              <a:rPr lang="en-US" sz="2400" b="1" i="1" dirty="0"/>
              <a:t>positive class</a:t>
            </a:r>
          </a:p>
          <a:p>
            <a:pPr lvl="1">
              <a:lnSpc>
                <a:spcPct val="90000"/>
              </a:lnSpc>
            </a:pPr>
            <a:r>
              <a:rPr lang="en-US" sz="2400" b="1" i="1" dirty="0">
                <a:solidFill>
                  <a:srgbClr val="FF0000"/>
                </a:solidFill>
              </a:rPr>
              <a:t>Under-sampling-</a:t>
            </a:r>
            <a:r>
              <a:rPr lang="en-US" sz="2400" dirty="0"/>
              <a:t> randomly eliminate  </a:t>
            </a:r>
            <a:r>
              <a:rPr lang="en-US" sz="2400" dirty="0" err="1"/>
              <a:t>tuples</a:t>
            </a:r>
            <a:r>
              <a:rPr lang="en-US" sz="2400" dirty="0"/>
              <a:t> from the </a:t>
            </a:r>
            <a:r>
              <a:rPr lang="en-US" sz="2400" b="1" i="1" dirty="0"/>
              <a:t>negative class</a:t>
            </a:r>
          </a:p>
          <a:p>
            <a:pPr lvl="1">
              <a:lnSpc>
                <a:spcPct val="90000"/>
              </a:lnSpc>
            </a:pPr>
            <a:r>
              <a:rPr lang="en-US" sz="2400" b="1" i="1" dirty="0">
                <a:solidFill>
                  <a:srgbClr val="FF0000"/>
                </a:solidFill>
              </a:rPr>
              <a:t>Threshold-moving-</a:t>
            </a:r>
            <a:r>
              <a:rPr lang="en-US" sz="2400" dirty="0"/>
              <a:t> moves the decision threshold </a:t>
            </a:r>
            <a:r>
              <a:rPr lang="en-US" sz="2400" i="1" dirty="0"/>
              <a:t>t</a:t>
            </a:r>
            <a:r>
              <a:rPr lang="en-US" sz="2400" dirty="0"/>
              <a:t>, so that the rare class </a:t>
            </a:r>
            <a:r>
              <a:rPr lang="en-US" sz="2400" dirty="0" err="1"/>
              <a:t>tuples</a:t>
            </a:r>
            <a:r>
              <a:rPr lang="en-US" sz="2400" dirty="0"/>
              <a:t> are easier to classify, and hence, less chance of costly false negative errors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Ensemble techniques: Ensemble multiple classifiers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Still difficult for handling class imbalance problem on multiclass tasks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Acknowledgement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/>
            <a:r>
              <a:rPr lang="en-US" sz="2600" dirty="0" err="1"/>
              <a:t>Jiawei</a:t>
            </a:r>
            <a:r>
              <a:rPr lang="en-US" sz="2600" dirty="0"/>
              <a:t> Han (UIUC</a:t>
            </a:r>
            <a:r>
              <a:rPr lang="en-US" sz="2600"/>
              <a:t>) -Reading </a:t>
            </a:r>
            <a:r>
              <a:rPr lang="en-US" sz="2600" dirty="0"/>
              <a:t>Materials</a:t>
            </a:r>
          </a:p>
          <a:p>
            <a:pPr lvl="1" eaLnBrk="1" hangingPunct="1"/>
            <a:r>
              <a:rPr lang="en-US" dirty="0" err="1"/>
              <a:t>Vipin</a:t>
            </a:r>
            <a:r>
              <a:rPr lang="en-US" dirty="0"/>
              <a:t> Kumar et al. (University of Minnesota at Twin Cities)</a:t>
            </a:r>
          </a:p>
          <a:p>
            <a:pPr lvl="1" eaLnBrk="1" hangingPunct="1"/>
            <a:endParaRPr lang="en-US" sz="2600" dirty="0"/>
          </a:p>
          <a:p>
            <a:pPr lvl="1" eaLnBrk="1" hangingPunct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</TotalTime>
  <Words>4444</Words>
  <Application>Microsoft Office PowerPoint</Application>
  <PresentationFormat>On-screen Show (4:3)</PresentationFormat>
  <Paragraphs>536</Paragraphs>
  <Slides>35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 Math</vt:lpstr>
      <vt:lpstr>Tahoma</vt:lpstr>
      <vt:lpstr>Times New Roman</vt:lpstr>
      <vt:lpstr>Wingdings</vt:lpstr>
      <vt:lpstr>Network</vt:lpstr>
      <vt:lpstr>Equation</vt:lpstr>
      <vt:lpstr>Data Mining (CSE 6506)  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Classifier Accuracy-  Holdout  Method</vt:lpstr>
      <vt:lpstr>Evaluating Classifier Accuracy-  Cross-Validation Method</vt:lpstr>
      <vt:lpstr> Evaluating Classifier Accuracy- Bootstrap</vt:lpstr>
      <vt:lpstr>PowerPoint Presentation</vt:lpstr>
      <vt:lpstr>Estimating Confidence Intervals- Two Classifier Models M1 vs. M2</vt:lpstr>
      <vt:lpstr>Estimating Confidence Intervals- Using Null Hypothesis</vt:lpstr>
      <vt:lpstr>Estimating Confidence Intervals- t-test</vt:lpstr>
      <vt:lpstr>Estimating Confidence Intervals- Table for t-distribution</vt:lpstr>
      <vt:lpstr>Estimating Confidence Intervals- Statistical Significance</vt:lpstr>
      <vt:lpstr>PowerPoint Presentation</vt:lpstr>
      <vt:lpstr>PowerPoint Presentation</vt:lpstr>
      <vt:lpstr>PowerPoint Presentation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 Forest</vt:lpstr>
      <vt:lpstr>PowerPoint Presentation</vt:lpstr>
      <vt:lpstr>Acknowledgement</vt:lpstr>
    </vt:vector>
  </TitlesOfParts>
  <Company>Orion Research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COVERAGE IN HETEROGENEOUS SENSOR NETWORK</dc:title>
  <dc:creator>Orion</dc:creator>
  <cp:lastModifiedBy>Md Manirujjaman</cp:lastModifiedBy>
  <cp:revision>154</cp:revision>
  <dcterms:created xsi:type="dcterms:W3CDTF">2006-11-09T03:30:31Z</dcterms:created>
  <dcterms:modified xsi:type="dcterms:W3CDTF">2026-03-30T02:34:57Z</dcterms:modified>
</cp:coreProperties>
</file>