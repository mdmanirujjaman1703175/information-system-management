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 id="287" r:id="rId15"/>
    <p:sldId id="288" r:id="rId16"/>
    <p:sldId id="289" r:id="rId17"/>
    <p:sldId id="271" r:id="rId18"/>
    <p:sldId id="272" r:id="rId19"/>
    <p:sldId id="273" r:id="rId20"/>
    <p:sldId id="274" r:id="rId21"/>
    <p:sldId id="276" r:id="rId22"/>
    <p:sldId id="277" r:id="rId23"/>
    <p:sldId id="278" r:id="rId24"/>
    <p:sldId id="290" r:id="rId25"/>
    <p:sldId id="291" r:id="rId26"/>
    <p:sldId id="279" r:id="rId27"/>
    <p:sldId id="286"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1830" autoAdjust="0"/>
  </p:normalViewPr>
  <p:slideViewPr>
    <p:cSldViewPr snapToGrid="0" snapToObjects="1">
      <p:cViewPr varScale="1">
        <p:scale>
          <a:sx n="67" d="100"/>
          <a:sy n="67" d="100"/>
        </p:scale>
        <p:origin x="1267"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98147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Structured Interview</a:t>
            </a:r>
          </a:p>
          <a:p>
            <a:r>
              <a:rPr lang="en-US" dirty="0"/>
              <a:t>In a structured interview, </a:t>
            </a:r>
            <a:r>
              <a:rPr lang="en-US" b="1" dirty="0"/>
              <a:t>the same questions are asked to everyone in the same order</a:t>
            </a:r>
            <a:r>
              <a:rPr lang="en-US" dirty="0"/>
              <a:t>. Follow-up questions are usually not used, or are very limited.</a:t>
            </a:r>
          </a:p>
          <a:p>
            <a:r>
              <a:rPr lang="en-US" b="1" dirty="0"/>
              <a:t>Example questions:</a:t>
            </a:r>
            <a:endParaRPr lang="en-US" dirty="0"/>
          </a:p>
          <a:p>
            <a:pPr lvl="0"/>
            <a:r>
              <a:rPr lang="en-US" dirty="0"/>
              <a:t>How many minutes does course registration usually take?</a:t>
            </a:r>
          </a:p>
          <a:p>
            <a:pPr lvl="0"/>
            <a:r>
              <a:rPr lang="en-US" dirty="0"/>
              <a:t>How often does the system show an error?</a:t>
            </a:r>
          </a:p>
          <a:p>
            <a:pPr lvl="0"/>
            <a:r>
              <a:rPr lang="en-US" dirty="0"/>
              <a:t>How long does payment status take to update?</a:t>
            </a:r>
          </a:p>
          <a:p>
            <a:endParaRPr lang="en-US" dirty="0"/>
          </a:p>
          <a:p>
            <a:r>
              <a:rPr lang="en-US" b="1" dirty="0"/>
              <a:t>2. Semi-Structured Interview</a:t>
            </a:r>
          </a:p>
          <a:p>
            <a:r>
              <a:rPr lang="en-US" dirty="0"/>
              <a:t>In a semi-structured interview, the analyst has some </a:t>
            </a:r>
            <a:r>
              <a:rPr lang="en-US" b="1" dirty="0"/>
              <a:t>planned questions</a:t>
            </a:r>
            <a:r>
              <a:rPr lang="en-US" dirty="0"/>
              <a:t>, but asks </a:t>
            </a:r>
            <a:r>
              <a:rPr lang="en-US" b="1" dirty="0"/>
              <a:t>follow-up questions</a:t>
            </a:r>
            <a:r>
              <a:rPr lang="en-US" dirty="0"/>
              <a:t> when an important or unexpected issue appears.</a:t>
            </a:r>
          </a:p>
          <a:p>
            <a:endParaRPr lang="en-US" dirty="0"/>
          </a:p>
          <a:p>
            <a:r>
              <a:rPr lang="en-US" b="1" dirty="0"/>
              <a:t>Main Question 1:</a:t>
            </a:r>
            <a:br>
              <a:rPr lang="en-US" dirty="0"/>
            </a:br>
            <a:r>
              <a:rPr lang="en-US" dirty="0"/>
              <a:t>“What is the most common problem you face during course registration?”</a:t>
            </a:r>
          </a:p>
          <a:p>
            <a:r>
              <a:rPr lang="en-US" dirty="0"/>
              <a:t>Student says:</a:t>
            </a:r>
            <a:br>
              <a:rPr lang="en-US" dirty="0"/>
            </a:br>
            <a:r>
              <a:rPr lang="en-US" dirty="0"/>
              <a:t>“Even after payment, the system sometimes shows unpaid.”</a:t>
            </a:r>
          </a:p>
          <a:p>
            <a:r>
              <a:rPr lang="en-US" b="1" dirty="0"/>
              <a:t>Follow-up questions:</a:t>
            </a:r>
            <a:endParaRPr lang="en-US" dirty="0"/>
          </a:p>
          <a:p>
            <a:pPr lvl="0"/>
            <a:r>
              <a:rPr lang="en-US" dirty="0"/>
              <a:t>When did this happen last?</a:t>
            </a:r>
          </a:p>
          <a:p>
            <a:pPr lvl="0"/>
            <a:r>
              <a:rPr lang="en-US" dirty="0"/>
              <a:t>How long did the system continue showing unpaid?</a:t>
            </a:r>
          </a:p>
          <a:p>
            <a:pPr lvl="0"/>
            <a:endParaRPr lang="en-US" dirty="0"/>
          </a:p>
          <a:p>
            <a:pPr lvl="0"/>
            <a:r>
              <a:rPr lang="en-US" dirty="0"/>
              <a:t>In an unstructured interview, there is no fixed list of questions. The analyst starts with a broad topic and follows the user's answers.</a:t>
            </a:r>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“Do you like our new fast portal?”</a:t>
            </a:r>
          </a:p>
          <a:p>
            <a:r>
              <a:rPr lang="en-US" dirty="0"/>
              <a:t>The word </a:t>
            </a:r>
            <a:r>
              <a:rPr lang="en-US" b="1" dirty="0"/>
              <a:t>“fast”</a:t>
            </a:r>
            <a:r>
              <a:rPr lang="en-US" dirty="0"/>
              <a:t> already gives a positive judgement about the portal.</a:t>
            </a:r>
          </a:p>
          <a:p>
            <a:r>
              <a:rPr lang="en-US" b="1" dirty="0"/>
              <a:t>2. “Was the problem caused by the small button?”</a:t>
            </a:r>
          </a:p>
          <a:p>
            <a:r>
              <a:rPr lang="en-US" dirty="0"/>
              <a:t>Here, the analyst is already assuming that the </a:t>
            </a:r>
            <a:r>
              <a:rPr lang="en-US" b="1" dirty="0"/>
              <a:t>small button caused the problem</a:t>
            </a:r>
            <a:r>
              <a:rPr lang="en-US" dirty="0"/>
              <a:t>.</a:t>
            </a:r>
          </a:p>
          <a:p>
            <a:r>
              <a:rPr lang="en-US" b="1" dirty="0"/>
              <a:t>3. “Do you use it every morning?”</a:t>
            </a:r>
          </a:p>
          <a:p>
            <a:r>
              <a:rPr lang="en-US" dirty="0"/>
              <a:t>This mainly produces a </a:t>
            </a:r>
            <a:r>
              <a:rPr lang="en-US" b="1" dirty="0"/>
              <a:t>Yes/No answer</a:t>
            </a:r>
            <a:r>
              <a:rPr lang="en-US" dirty="0"/>
              <a:t>, so we learn very little.</a:t>
            </a:r>
          </a:p>
          <a:p>
            <a:r>
              <a:rPr lang="en-US" b="1" dirty="0"/>
              <a:t>4. “What is your average workday like?”</a:t>
            </a:r>
          </a:p>
          <a:p>
            <a:r>
              <a:rPr lang="en-US" dirty="0"/>
              <a:t>This question is too broad and may produce a general answer.</a:t>
            </a:r>
          </a:p>
          <a:p>
            <a:r>
              <a:rPr lang="en-US" dirty="0"/>
              <a:t>A good system analyst asks </a:t>
            </a:r>
            <a:r>
              <a:rPr lang="en-US" b="1" dirty="0"/>
              <a:t>neutral, open, and experience-based questions</a:t>
            </a:r>
            <a:r>
              <a:rPr lang="en-US" dirty="0"/>
              <a:t> instead of questions that push users toward a particular answer.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Prepare</a:t>
            </a:r>
          </a:p>
          <a:p>
            <a:r>
              <a:rPr lang="en-US" dirty="0"/>
              <a:t>Before conducting the interview, the analyst should </a:t>
            </a:r>
            <a:r>
              <a:rPr lang="en-US" b="1" dirty="0"/>
              <a:t>study documents, decide which topics to discuss, and plan which participants should be interviewed.</a:t>
            </a:r>
            <a:endParaRPr lang="en-US" dirty="0"/>
          </a:p>
          <a:p>
            <a:r>
              <a:rPr lang="en-US" b="1" dirty="0"/>
              <a:t>Example:</a:t>
            </a:r>
            <a:r>
              <a:rPr lang="en-US" dirty="0"/>
              <a:t> If we are </a:t>
            </a:r>
            <a:r>
              <a:rPr lang="en-US" dirty="0" err="1"/>
              <a:t>analysing</a:t>
            </a:r>
            <a:r>
              <a:rPr lang="en-US" dirty="0"/>
              <a:t> a banking system, we may first study existing forms, complaint reports, and approval policies.</a:t>
            </a:r>
          </a:p>
          <a:p>
            <a:r>
              <a:rPr lang="en-US" b="1" dirty="0"/>
              <a:t>2. Open</a:t>
            </a:r>
          </a:p>
          <a:p>
            <a:r>
              <a:rPr lang="en-US" dirty="0"/>
              <a:t>At the beginning of the interview, the analyst should clearly explain the </a:t>
            </a:r>
            <a:r>
              <a:rPr lang="en-US" b="1" dirty="0"/>
              <a:t>purpose of the interview, consent, confidentiality, and how the information will be used.</a:t>
            </a:r>
            <a:endParaRPr lang="en-US" dirty="0"/>
          </a:p>
          <a:p>
            <a:r>
              <a:rPr lang="en-US" dirty="0"/>
              <a:t>This helps the participant feel comfortable and provide more honest information.</a:t>
            </a:r>
          </a:p>
          <a:p>
            <a:r>
              <a:rPr lang="en-US" b="1" dirty="0"/>
              <a:t>3. Probe</a:t>
            </a:r>
          </a:p>
          <a:p>
            <a:r>
              <a:rPr lang="en-US" dirty="0"/>
              <a:t>This is the most important part of the interview.</a:t>
            </a:r>
          </a:p>
          <a:p>
            <a:r>
              <a:rPr lang="en-US" dirty="0"/>
              <a:t>It is not enough to ask only, </a:t>
            </a:r>
            <a:r>
              <a:rPr lang="en-US" b="1" dirty="0"/>
              <a:t>“Is the software slow?”</a:t>
            </a:r>
            <a:r>
              <a:rPr lang="en-US" dirty="0"/>
              <a:t> The analyst should ask deeper questions such as:</a:t>
            </a:r>
          </a:p>
          <a:p>
            <a:r>
              <a:rPr lang="en-US" b="1" dirty="0"/>
              <a:t>“When was the last time it became slow?”</a:t>
            </a:r>
            <a:br>
              <a:rPr lang="en-US" dirty="0"/>
            </a:br>
            <a:r>
              <a:rPr lang="en-US" b="1" dirty="0"/>
              <a:t>“What did you do after that?”</a:t>
            </a:r>
            <a:br>
              <a:rPr lang="en-US" dirty="0"/>
            </a:br>
            <a:r>
              <a:rPr lang="en-US" b="1" dirty="0"/>
              <a:t>“At which step did it take the most time?”</a:t>
            </a:r>
            <a:endParaRPr lang="en-US" dirty="0"/>
          </a:p>
          <a:p>
            <a:r>
              <a:rPr lang="en-US" dirty="0"/>
              <a:t>In other words, the analyst should discover </a:t>
            </a:r>
            <a:r>
              <a:rPr lang="en-US" b="1" dirty="0"/>
              <a:t>stories, reasons, examples, and exceptions.</a:t>
            </a:r>
            <a:endParaRPr lang="en-US" dirty="0"/>
          </a:p>
          <a:p>
            <a:r>
              <a:rPr lang="en-US" b="1" dirty="0"/>
              <a:t>4. Check</a:t>
            </a:r>
          </a:p>
          <a:p>
            <a:r>
              <a:rPr lang="en-US" dirty="0"/>
              <a:t>The analyst should confirm with the user whether the interpretation is correct.</a:t>
            </a:r>
          </a:p>
          <a:p>
            <a:r>
              <a:rPr lang="en-US" dirty="0"/>
              <a:t>For example:</a:t>
            </a:r>
          </a:p>
          <a:p>
            <a:r>
              <a:rPr lang="en-US" b="1" dirty="0"/>
              <a:t>“So, your main problem is not screen loading, but the repeated steps in the approval process—right?”</a:t>
            </a:r>
            <a:endParaRPr lang="en-US" dirty="0"/>
          </a:p>
          <a:p>
            <a:r>
              <a:rPr lang="en-US" dirty="0"/>
              <a:t>If the user says, </a:t>
            </a:r>
            <a:r>
              <a:rPr lang="en-US" b="1" dirty="0"/>
              <a:t>“No, it is slightly different,”</a:t>
            </a:r>
            <a:r>
              <a:rPr lang="en-US" dirty="0"/>
              <a:t> the analyst can correct the interpretation.</a:t>
            </a:r>
          </a:p>
          <a:p>
            <a:r>
              <a:rPr lang="en-US" b="1" dirty="0"/>
              <a:t>5. Translate</a:t>
            </a:r>
          </a:p>
          <a:p>
            <a:r>
              <a:rPr lang="en-US" dirty="0"/>
              <a:t>Finally, the raw statements from the interview should not be directly turned into requirements. The analyst should </a:t>
            </a:r>
            <a:r>
              <a:rPr lang="en-US" dirty="0" err="1"/>
              <a:t>analyse</a:t>
            </a:r>
            <a:r>
              <a:rPr lang="en-US" dirty="0"/>
              <a:t> them, create </a:t>
            </a:r>
            <a:r>
              <a:rPr lang="en-US" b="1" dirty="0"/>
              <a:t>requirement candidates</a:t>
            </a:r>
            <a:r>
              <a:rPr lang="en-US" dirty="0"/>
              <a:t>, and validate them later.</a:t>
            </a:r>
          </a:p>
          <a:p>
            <a:r>
              <a:rPr lang="en-US" b="1" dirty="0"/>
              <a:t>Bank Customer Service Example</a:t>
            </a:r>
          </a:p>
          <a:p>
            <a:r>
              <a:rPr lang="en-US" dirty="0"/>
              <a:t>Suppose bank employees say:</a:t>
            </a:r>
          </a:p>
          <a:p>
            <a:r>
              <a:rPr lang="en-US" b="1" dirty="0"/>
              <a:t>“Our software is very slow.”</a:t>
            </a:r>
            <a:endParaRPr lang="en-US" dirty="0"/>
          </a:p>
          <a:p>
            <a:r>
              <a:rPr lang="en-US" dirty="0"/>
              <a:t>At first, it may seem that the software processing speed is the main problem.</a:t>
            </a:r>
          </a:p>
          <a:p>
            <a:r>
              <a:rPr lang="en-US" dirty="0"/>
              <a:t>But after conducting interviews, the analyst discovers that a major part of the delay is caused by </a:t>
            </a:r>
            <a:r>
              <a:rPr lang="en-US" b="1" dirty="0"/>
              <a:t>four repeated manual approval steps for the same work.</a:t>
            </a:r>
            <a:endParaRPr lang="en-US" dirty="0"/>
          </a:p>
          <a:p>
            <a:r>
              <a:rPr lang="en-US" dirty="0"/>
              <a:t>SRS Impact means: interview findings finally change what requirements we write in the SRS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Why Useful</a:t>
            </a:r>
          </a:p>
          <a:p>
            <a:r>
              <a:rPr lang="en-US" b="1" dirty="0"/>
              <a:t>Participants trigger each other’s memories</a:t>
            </a:r>
            <a:br>
              <a:rPr lang="en-US" dirty="0"/>
            </a:br>
            <a:r>
              <a:rPr lang="en-US" dirty="0"/>
              <a:t>When one participant says something, another participant may remember a related experience.</a:t>
            </a:r>
          </a:p>
          <a:p>
            <a:r>
              <a:rPr lang="en-US" b="1" dirty="0"/>
              <a:t>Example:</a:t>
            </a:r>
            <a:r>
              <a:rPr lang="en-US" dirty="0"/>
              <a:t> One student says, </a:t>
            </a:r>
            <a:r>
              <a:rPr lang="en-US" i="1" dirty="0"/>
              <a:t>“I do not receive confirmation after submitting an assignment.”</a:t>
            </a:r>
            <a:r>
              <a:rPr lang="en-US" dirty="0"/>
              <a:t> Then another student may say, </a:t>
            </a:r>
            <a:r>
              <a:rPr lang="en-US" i="1" dirty="0"/>
              <a:t>“Yes, I faced the same problem during late submission.”</a:t>
            </a:r>
            <a:endParaRPr lang="en-US" dirty="0"/>
          </a:p>
          <a:p>
            <a:r>
              <a:rPr lang="en-US" b="1" dirty="0"/>
              <a:t>Shared vocabulary and mental models appear</a:t>
            </a:r>
            <a:br>
              <a:rPr lang="en-US" dirty="0"/>
            </a:br>
            <a:r>
              <a:rPr lang="en-US" dirty="0"/>
              <a:t>The analyst can understand what </a:t>
            </a:r>
            <a:r>
              <a:rPr lang="en-US" b="1" dirty="0"/>
              <a:t>common terms</a:t>
            </a:r>
            <a:r>
              <a:rPr lang="en-US" dirty="0"/>
              <a:t> users use for the same system and how they understand the system.</a:t>
            </a:r>
          </a:p>
          <a:p>
            <a:r>
              <a:rPr lang="en-US" b="1" dirty="0"/>
              <a:t>Work-arounds become visible</a:t>
            </a:r>
            <a:br>
              <a:rPr lang="en-US" dirty="0"/>
            </a:br>
            <a:r>
              <a:rPr lang="en-US" dirty="0"/>
              <a:t>The discussion may reveal what alternative methods users use to avoid problems in the system.</a:t>
            </a:r>
          </a:p>
          <a:p>
            <a:r>
              <a:rPr lang="en-US" b="1" dirty="0"/>
              <a:t>Disagreements show requirement conflicts</a:t>
            </a:r>
            <a:br>
              <a:rPr lang="en-US" dirty="0"/>
            </a:br>
            <a:r>
              <a:rPr lang="en-US" dirty="0"/>
              <a:t>All stakeholders may not have the same requirements.</a:t>
            </a:r>
          </a:p>
          <a:p>
            <a:r>
              <a:rPr lang="en-US" b="1" dirty="0"/>
              <a:t>Example:</a:t>
            </a:r>
            <a:r>
              <a:rPr lang="en-US" dirty="0"/>
              <a:t> A student may want late submission to be allowed, but a teacher may want a strict deadline.</a:t>
            </a:r>
            <a:br>
              <a:rPr lang="en-US" dirty="0"/>
            </a:br>
            <a:r>
              <a:rPr lang="en-US" dirty="0"/>
              <a:t>This disagreement shows the analyst a </a:t>
            </a:r>
            <a:r>
              <a:rPr lang="en-US" b="1" dirty="0"/>
              <a:t>requirement conflict</a:t>
            </a:r>
            <a:r>
              <a:rPr lang="en-US" dirty="0"/>
              <a:t>.</a:t>
            </a:r>
          </a:p>
          <a:p>
            <a:br>
              <a:rPr lang="en-US" dirty="0"/>
            </a:br>
            <a:endParaRPr lang="en-US" dirty="0"/>
          </a:p>
          <a:p>
            <a:r>
              <a:rPr lang="en-US" b="1" dirty="0"/>
              <a:t>2. System Analysis Example</a:t>
            </a:r>
          </a:p>
          <a:p>
            <a:r>
              <a:rPr lang="en-US" dirty="0"/>
              <a:t>Suppose we are </a:t>
            </a:r>
            <a:r>
              <a:rPr lang="en-US" dirty="0" err="1"/>
              <a:t>analysing</a:t>
            </a:r>
            <a:r>
              <a:rPr lang="en-US" dirty="0"/>
              <a:t> a </a:t>
            </a:r>
            <a:r>
              <a:rPr lang="en-US" b="1" dirty="0"/>
              <a:t>University LMS</a:t>
            </a:r>
            <a:r>
              <a:rPr lang="en-US" dirty="0"/>
              <a:t>.</a:t>
            </a:r>
          </a:p>
          <a:p>
            <a:r>
              <a:rPr lang="en-US" dirty="0"/>
              <a:t>In the focus group:</a:t>
            </a:r>
          </a:p>
          <a:p>
            <a:pPr lvl="0"/>
            <a:r>
              <a:rPr lang="en-US" dirty="0"/>
              <a:t>students,</a:t>
            </a:r>
          </a:p>
          <a:p>
            <a:pPr lvl="0"/>
            <a:r>
              <a:rPr lang="en-US" dirty="0"/>
              <a:t>teachers,</a:t>
            </a:r>
          </a:p>
          <a:p>
            <a:pPr lvl="0"/>
            <a:r>
              <a:rPr lang="en-US" dirty="0"/>
              <a:t>advisors</a:t>
            </a:r>
          </a:p>
          <a:p>
            <a:r>
              <a:rPr lang="en-US" dirty="0"/>
              <a:t>discuss assignment submission, late penalties, and feedback together.</a:t>
            </a:r>
          </a:p>
          <a:p>
            <a:r>
              <a:rPr lang="en-US" dirty="0"/>
              <a:t>A student may say:</a:t>
            </a:r>
            <a:br>
              <a:rPr lang="en-US" dirty="0"/>
            </a:br>
            <a:r>
              <a:rPr lang="en-US" b="1" dirty="0"/>
              <a:t>“There should be a late submission option.”</a:t>
            </a:r>
            <a:endParaRPr lang="en-US" dirty="0"/>
          </a:p>
          <a:p>
            <a:r>
              <a:rPr lang="en-US" dirty="0"/>
              <a:t>A teacher may say:</a:t>
            </a:r>
            <a:br>
              <a:rPr lang="en-US" dirty="0"/>
            </a:br>
            <a:r>
              <a:rPr lang="en-US" b="1" dirty="0"/>
              <a:t>“No, the deadline should be strict.”</a:t>
            </a:r>
            <a:endParaRPr lang="en-US" dirty="0"/>
          </a:p>
          <a:p>
            <a:r>
              <a:rPr lang="en-US" dirty="0"/>
              <a:t>An advisor may say:</a:t>
            </a:r>
            <a:br>
              <a:rPr lang="en-US" dirty="0"/>
            </a:br>
            <a:r>
              <a:rPr lang="en-US" b="1" dirty="0"/>
              <a:t>“There should be an exception process for special cases.”</a:t>
            </a:r>
            <a:endParaRPr lang="en-US" dirty="0"/>
          </a:p>
          <a:p>
            <a:r>
              <a:rPr lang="en-US" dirty="0"/>
              <a:t>In an individual interview, we might not see these three conflicting expectations together.</a:t>
            </a:r>
          </a:p>
          <a:p>
            <a:br>
              <a:rPr lang="en-US" dirty="0"/>
            </a:br>
            <a:endParaRPr lang="en-US" dirty="0"/>
          </a:p>
          <a:p>
            <a:r>
              <a:rPr lang="en-US" b="1" dirty="0"/>
              <a:t>3. Output for Analyst</a:t>
            </a:r>
          </a:p>
          <a:p>
            <a:r>
              <a:rPr lang="en-US" dirty="0"/>
              <a:t>After the focus group, the analyst gets some important outputs:</a:t>
            </a:r>
          </a:p>
          <a:p>
            <a:pPr lvl="0"/>
            <a:r>
              <a:rPr lang="en-US" b="1" dirty="0"/>
              <a:t>Themes and recurring pain points</a:t>
            </a:r>
            <a:r>
              <a:rPr lang="en-US" dirty="0"/>
              <a:t> → which problems appear repeatedly</a:t>
            </a:r>
          </a:p>
          <a:p>
            <a:pPr lvl="0"/>
            <a:r>
              <a:rPr lang="en-US" b="1" dirty="0"/>
              <a:t>Possible user roles and exceptions</a:t>
            </a:r>
            <a:r>
              <a:rPr lang="en-US" dirty="0"/>
              <a:t> → different users may have different needs</a:t>
            </a:r>
          </a:p>
          <a:p>
            <a:pPr lvl="0"/>
            <a:r>
              <a:rPr lang="en-US" b="1" dirty="0"/>
              <a:t>Hypotheses for surveys or CI</a:t>
            </a:r>
            <a:r>
              <a:rPr lang="en-US" dirty="0"/>
              <a:t> → which issues should later be verified through a survey or Contextual Inquiry</a:t>
            </a:r>
          </a:p>
          <a:p>
            <a:pPr lvl="0"/>
            <a:r>
              <a:rPr lang="en-US" b="1" dirty="0"/>
              <a:t>Terms users expect in the interface</a:t>
            </a:r>
            <a:r>
              <a:rPr lang="en-US" dirty="0"/>
              <a:t> → what familiar wording users expect in the system</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Interviewer Trap</a:t>
            </a:r>
          </a:p>
          <a:p>
            <a:r>
              <a:rPr lang="en-US" dirty="0"/>
              <a:t>Here, the analyst asks so many questions that the user </a:t>
            </a:r>
            <a:r>
              <a:rPr lang="en-US" b="1" dirty="0"/>
              <a:t>stops doing their normal work and starts giving an interview instead</a:t>
            </a:r>
            <a:r>
              <a:rPr lang="en-US" dirty="0"/>
              <a:t>.</a:t>
            </a:r>
          </a:p>
          <a:p>
            <a:r>
              <a:rPr lang="en-US" b="1" dirty="0"/>
              <a:t>Example:</a:t>
            </a:r>
            <a:br>
              <a:rPr lang="en-US" dirty="0"/>
            </a:br>
            <a:r>
              <a:rPr lang="en-US" dirty="0"/>
              <a:t>Suppose an analyst is observing a cashier. Normally, the cashier should be serving customers. But because the analyst keeps asking one question after another, the cashier stops working and only answers questions.</a:t>
            </a:r>
          </a:p>
          <a:p>
            <a:r>
              <a:rPr lang="en-US" dirty="0"/>
              <a:t>Then the analyst can no longer </a:t>
            </a:r>
            <a:r>
              <a:rPr lang="en-US" b="1" dirty="0"/>
              <a:t>observe the real workflow</a:t>
            </a:r>
            <a:r>
              <a:rPr lang="en-US" dirty="0"/>
              <a:t>.</a:t>
            </a:r>
          </a:p>
          <a:p>
            <a:endParaRPr lang="en-US" dirty="0"/>
          </a:p>
          <a:p>
            <a:r>
              <a:rPr lang="en-US" b="1" dirty="0"/>
              <a:t>2. Expert Trap</a:t>
            </a:r>
          </a:p>
          <a:p>
            <a:r>
              <a:rPr lang="en-US" dirty="0"/>
              <a:t>Here, the analyst sees a problem and immediately </a:t>
            </a:r>
            <a:r>
              <a:rPr lang="en-US" b="1" dirty="0"/>
              <a:t>starts giving a solution</a:t>
            </a:r>
            <a:r>
              <a:rPr lang="en-US" dirty="0"/>
              <a:t>, without first understanding the problem properly.</a:t>
            </a:r>
          </a:p>
          <a:p>
            <a:r>
              <a:rPr lang="en-US" b="1" dirty="0"/>
              <a:t>Example:</a:t>
            </a:r>
            <a:br>
              <a:rPr lang="en-US" dirty="0"/>
            </a:br>
            <a:r>
              <a:rPr lang="en-US" dirty="0"/>
              <a:t>The cashier says, “It takes a lot of time to work on this screen.”</a:t>
            </a:r>
          </a:p>
          <a:p>
            <a:endParaRPr lang="en-US" dirty="0"/>
          </a:p>
          <a:p>
            <a:endParaRPr lang="en-US" dirty="0"/>
          </a:p>
          <a:p>
            <a:r>
              <a:rPr lang="en-US" b="1" dirty="0"/>
              <a:t>3. Guest Trap</a:t>
            </a:r>
          </a:p>
          <a:p>
            <a:r>
              <a:rPr lang="en-US" dirty="0"/>
              <a:t>Here, the analyst thinks of themselves as a guest and becomes </a:t>
            </a:r>
            <a:r>
              <a:rPr lang="en-US" b="1" dirty="0"/>
              <a:t>too polite</a:t>
            </a:r>
            <a:r>
              <a:rPr lang="en-US" dirty="0"/>
              <a:t>, so they are afraid to ask important questions.</a:t>
            </a:r>
          </a:p>
          <a:p>
            <a:r>
              <a:rPr lang="en-US" b="1" dirty="0"/>
              <a:t>Example:</a:t>
            </a:r>
            <a:br>
              <a:rPr lang="en-US" dirty="0"/>
            </a:br>
            <a:r>
              <a:rPr lang="en-US" dirty="0"/>
              <a:t>The analyst notices that the cashier writes some transactions in a private notebook.</a:t>
            </a:r>
          </a:p>
          <a:p>
            <a:r>
              <a:rPr lang="en-US" dirty="0"/>
              <a:t>But the analyst thinks:</a:t>
            </a:r>
            <a:br>
              <a:rPr lang="en-US" dirty="0"/>
            </a:br>
            <a:r>
              <a:rPr lang="en-US" b="1" dirty="0"/>
              <a:t>“This may be personal. They may feel uncomfortable if I ask.”</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What is a Survey?</a:t>
            </a:r>
          </a:p>
          <a:p>
            <a:r>
              <a:rPr lang="en-US" dirty="0"/>
              <a:t>A survey is a method of collecting information from many users through specific questions. It helps measure users' problems, preferences, and satisfaction.</a:t>
            </a:r>
          </a:p>
          <a:p>
            <a:r>
              <a:rPr lang="en-US" dirty="0"/>
              <a:t>Example: Surveying 500 Banking App users to find out how many experience login problems.</a:t>
            </a:r>
          </a:p>
          <a:p>
            <a:r>
              <a:rPr lang="en-US" b="1" dirty="0"/>
              <a:t>2. What a Requirements Survey Can Do</a:t>
            </a:r>
          </a:p>
          <a:p>
            <a:r>
              <a:rPr lang="en-US" dirty="0"/>
              <a:t>- Estimate Problems: Identify how many users experience a problem. Example: 300 out of 1,000 customers report payment failures.</a:t>
            </a:r>
          </a:p>
          <a:p>
            <a:r>
              <a:rPr lang="en-US" dirty="0"/>
              <a:t>- Compare Users: Compare problems across different user roles or devices. Example: Comparing doctors' report-access problems with nurses' patient-update problems in a Hospital System.</a:t>
            </a:r>
          </a:p>
          <a:p>
            <a:r>
              <a:rPr lang="en-US" dirty="0"/>
              <a:t>- Measure Experience: Measure satisfaction, preferences, usage frequency, and difficulty. Example: Finding out whether customers prefer SMS or App Notifications.</a:t>
            </a:r>
          </a:p>
          <a:p>
            <a:r>
              <a:rPr lang="en-US" dirty="0"/>
              <a:t>- Validate Interview Findings: Check whether interview findings also affect many other users. Example: Surveying 500 customers after identifying checkout problems in 10 interviews.</a:t>
            </a:r>
          </a:p>
          <a:p>
            <a:r>
              <a:rPr lang="en-US" b="1" dirty="0"/>
              <a:t>3. When Survey Is Not the Best First Method</a:t>
            </a:r>
          </a:p>
          <a:p>
            <a:r>
              <a:rPr lang="en-US" dirty="0"/>
              <a:t>- Unknown Cause: Use interviews first when the reason behind a problem is unknown. Example: Interview customers to understand why they consider a Banking App bad.</a:t>
            </a:r>
          </a:p>
          <a:p>
            <a:r>
              <a:rPr lang="en-US" dirty="0"/>
              <a:t>- Real-work Context: Use Contextual Inquiry to understand problems during actual work. Example: Observing whether barcode scanner problems delay inventory updates in a warehouse.</a:t>
            </a:r>
          </a:p>
          <a:p>
            <a:r>
              <a:rPr lang="en-US" dirty="0"/>
              <a:t>- Sensitive Issues: Use confidential interviews to understand private or sensitive problems. Example: Patient information privacy issues in a Hospital System.</a:t>
            </a:r>
          </a:p>
          <a:p>
            <a:r>
              <a:rPr lang="en-US" dirty="0"/>
              <a:t>- Before Survey: Decide what to measure, who should respond, and which decision the results will support. Example: Measure how many customers face payment failures before deciding how to improve the Payment System.</a:t>
            </a:r>
          </a:p>
          <a:p>
            <a:r>
              <a:rPr lang="en-US" dirty="0"/>
              <a:t>- Limitation: Surveys show how many users experience a problem but may not explain the detailed reasons. Example: If 60% of customers are dissatisfied, interviews may be needed to understand why.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FFE06-54B3-A390-DA61-08942E988B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0FC34A-9E64-DD67-D699-D5FCAE7431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CD84F2-3546-FC3E-FC7C-1DB86AD2F0B2}"/>
              </a:ext>
            </a:extLst>
          </p:cNvPr>
          <p:cNvSpPr>
            <a:spLocks noGrp="1"/>
          </p:cNvSpPr>
          <p:nvPr>
            <p:ph type="body" idx="1"/>
          </p:nvPr>
        </p:nvSpPr>
        <p:spPr/>
        <p:txBody>
          <a:bodyPr/>
          <a:lstStyle/>
          <a:p>
            <a:r>
              <a:rPr lang="en-US" b="1" dirty="0"/>
              <a:t>. Poor Question → Better Question</a:t>
            </a:r>
          </a:p>
          <a:p>
            <a:r>
              <a:rPr lang="en-US" dirty="0"/>
              <a:t>1. Leading Question</a:t>
            </a:r>
          </a:p>
          <a:p>
            <a:r>
              <a:rPr lang="en-US" dirty="0"/>
              <a:t>The question itself suggests a positive or negative opinion.</a:t>
            </a:r>
          </a:p>
          <a:p>
            <a:pPr lvl="0"/>
            <a:r>
              <a:rPr lang="en-US" dirty="0"/>
              <a:t>Poor: “How excellent is our new portal?”</a:t>
            </a:r>
          </a:p>
          <a:p>
            <a:pPr lvl="0"/>
            <a:r>
              <a:rPr lang="en-US" dirty="0"/>
              <a:t>Better: “How would you rate your experience with the portal?”</a:t>
            </a:r>
          </a:p>
          <a:p>
            <a:r>
              <a:rPr lang="en-US" dirty="0"/>
              <a:t>Reason: The first question already describes the portal as excellent. This may influence the user's answer.</a:t>
            </a:r>
          </a:p>
          <a:p>
            <a:endParaRPr lang="en-US" dirty="0"/>
          </a:p>
          <a:p>
            <a:r>
              <a:rPr lang="en-US" dirty="0"/>
              <a:t>2. Forced Assumption</a:t>
            </a:r>
          </a:p>
          <a:p>
            <a:r>
              <a:rPr lang="en-US" dirty="0"/>
              <a:t>Assuming that users perform an activity without checking first.</a:t>
            </a:r>
          </a:p>
          <a:p>
            <a:pPr lvl="0"/>
            <a:r>
              <a:rPr lang="en-US" dirty="0"/>
              <a:t>Poor: “Why do you use mobile registration daily?”</a:t>
            </a:r>
          </a:p>
          <a:p>
            <a:pPr lvl="0"/>
            <a:r>
              <a:rPr lang="en-US" dirty="0"/>
              <a:t>Better: “Which device do you use for registration, and how often?”</a:t>
            </a:r>
          </a:p>
          <a:p>
            <a:r>
              <a:rPr lang="en-US" dirty="0"/>
              <a:t>Reason: The user may not use mobile registration every day.</a:t>
            </a:r>
          </a:p>
          <a:p>
            <a:endParaRPr lang="en-US" dirty="0"/>
          </a:p>
          <a:p>
            <a:r>
              <a:rPr lang="en-US" dirty="0"/>
              <a:t>3. Double-Barreled Question</a:t>
            </a:r>
          </a:p>
          <a:p>
            <a:r>
              <a:rPr lang="en-US" dirty="0"/>
              <a:t>Asking about two different issues in one question.</a:t>
            </a:r>
          </a:p>
          <a:p>
            <a:pPr lvl="0"/>
            <a:r>
              <a:rPr lang="en-US" dirty="0"/>
              <a:t>Poor: “Is the banking app easy and reliable?”</a:t>
            </a:r>
          </a:p>
          <a:p>
            <a:pPr lvl="0"/>
            <a:r>
              <a:rPr lang="en-US" dirty="0"/>
              <a:t>Better: “Is the banking app easy to use?” and “Does the banking app work reliably?”</a:t>
            </a:r>
          </a:p>
          <a:p>
            <a:r>
              <a:rPr lang="en-US" dirty="0"/>
              <a:t>Reason: An app may be easy to use but may crash frequently. Therefore, the two issues should be asked separately.</a:t>
            </a:r>
          </a:p>
          <a:p>
            <a:endParaRPr lang="en-US" dirty="0"/>
          </a:p>
          <a:p>
            <a:r>
              <a:rPr lang="en-US" dirty="0"/>
              <a:t>4. Too Broad Question</a:t>
            </a:r>
          </a:p>
          <a:p>
            <a:r>
              <a:rPr lang="en-US" dirty="0"/>
              <a:t>Asking a question that is too general.</a:t>
            </a:r>
          </a:p>
          <a:p>
            <a:pPr lvl="0"/>
            <a:r>
              <a:rPr lang="en-US" dirty="0"/>
              <a:t>Poor: “Is the hospital system good?”</a:t>
            </a:r>
          </a:p>
          <a:p>
            <a:pPr lvl="0"/>
            <a:r>
              <a:rPr lang="en-US" dirty="0"/>
              <a:t>Better: “How easy is it to find a patient's previous medical report?”</a:t>
            </a:r>
          </a:p>
          <a:p>
            <a:r>
              <a:rPr lang="en-US" dirty="0"/>
              <a:t>Reason: Specific questions help identify which system feature has a problem.</a:t>
            </a:r>
          </a:p>
          <a:p>
            <a:endParaRPr lang="en-US" dirty="0"/>
          </a:p>
          <a:p>
            <a:r>
              <a:rPr lang="en-US" b="1" dirty="0"/>
              <a:t>2. Rules for Useful Requirement Evidence</a:t>
            </a:r>
          </a:p>
          <a:p>
            <a:r>
              <a:rPr lang="en-US" dirty="0"/>
              <a:t>1. Clear and Neutral Language</a:t>
            </a:r>
          </a:p>
          <a:p>
            <a:r>
              <a:rPr lang="en-US" dirty="0"/>
              <a:t>Questions should be simple and unbiased.</a:t>
            </a:r>
          </a:p>
          <a:p>
            <a:r>
              <a:rPr lang="en-US" dirty="0"/>
              <a:t>Example: “How satisfied are you with the payment process?” — This question does not influence users toward a positive or negative answer.</a:t>
            </a:r>
          </a:p>
          <a:p>
            <a:r>
              <a:rPr lang="en-US" dirty="0"/>
              <a:t>2. Ask Specific Tasks and Frequencies</a:t>
            </a:r>
          </a:p>
          <a:p>
            <a:r>
              <a:rPr lang="en-US" dirty="0"/>
              <a:t>Ask about specific activities and how often problems occur.</a:t>
            </a:r>
          </a:p>
          <a:p>
            <a:r>
              <a:rPr lang="en-US" dirty="0"/>
              <a:t>Example: “How many times did your payment fail last week?”</a:t>
            </a:r>
          </a:p>
          <a:p>
            <a:r>
              <a:rPr lang="en-US" dirty="0"/>
              <a:t>3. Complete Response Options</a:t>
            </a:r>
          </a:p>
          <a:p>
            <a:r>
              <a:rPr lang="en-US" dirty="0"/>
              <a:t>Include all necessary response options.</a:t>
            </a:r>
          </a:p>
          <a:p>
            <a:r>
              <a:rPr lang="en-US" dirty="0"/>
              <a:t>Example: Preferred Payment Method: Card / Mobile Banking / Bank Transfer / Other / Not Applicable.</a:t>
            </a:r>
          </a:p>
          <a:p>
            <a:r>
              <a:rPr lang="en-US" dirty="0"/>
              <a:t>4. Avoid Combining Different Issues</a:t>
            </a:r>
          </a:p>
          <a:p>
            <a:r>
              <a:rPr lang="en-US" dirty="0"/>
              <a:t>Do not combine two different problems in one question.</a:t>
            </a:r>
          </a:p>
          <a:p>
            <a:r>
              <a:rPr lang="en-US" dirty="0"/>
              <a:t>Example: Ask separate questions about Payment Speed and Payment Security.</a:t>
            </a:r>
          </a:p>
          <a:p>
            <a:r>
              <a:rPr lang="en-US" dirty="0"/>
              <a:t>5. Connect Questions to SRS Decisions</a:t>
            </a:r>
          </a:p>
          <a:p>
            <a:r>
              <a:rPr lang="en-US" dirty="0"/>
              <a:t>Survey answers should help determine system requirements.</a:t>
            </a:r>
          </a:p>
          <a:p>
            <a:r>
              <a:rPr lang="en-US" dirty="0"/>
              <a:t>Example: If users report payment failures, analysts should investigate whether a Failed Transaction Handling requirement needs to be included in the SRS.</a:t>
            </a:r>
          </a:p>
          <a:p>
            <a:r>
              <a:rPr lang="en-US" dirty="0"/>
              <a:t>6. Remove Unnecessary Questions</a:t>
            </a:r>
          </a:p>
          <a:p>
            <a:r>
              <a:rPr lang="en-US" dirty="0"/>
              <a:t>Remove questions whose answers will not help determine system requirements.</a:t>
            </a:r>
          </a:p>
          <a:p>
            <a:r>
              <a:rPr lang="en-US" dirty="0"/>
              <a:t>Example: Asking employees about their favorite movies is unnecessary in a survey about improving an Inventory System.</a:t>
            </a:r>
          </a:p>
          <a:p>
            <a:endParaRPr lang="en-US" dirty="0"/>
          </a:p>
          <a:p>
            <a:endParaRPr lang="en-US" dirty="0"/>
          </a:p>
        </p:txBody>
      </p:sp>
      <p:sp>
        <p:nvSpPr>
          <p:cNvPr id="4" name="Slide Number Placeholder 3">
            <a:extLst>
              <a:ext uri="{FF2B5EF4-FFF2-40B4-BE49-F238E27FC236}">
                <a16:creationId xmlns:a16="http://schemas.microsoft.com/office/drawing/2014/main" id="{D65108F8-BAB1-16B6-8B67-280D2A8093C7}"/>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451495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79A86-5364-19FC-FFC9-5287A3E9DA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EDA725-82C2-6C51-B67B-D6BA7B5BE5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ADB0D5-9296-E810-7A8C-AC31A8AD6B9B}"/>
              </a:ext>
            </a:extLst>
          </p:cNvPr>
          <p:cNvSpPr>
            <a:spLocks noGrp="1"/>
          </p:cNvSpPr>
          <p:nvPr>
            <p:ph type="body" idx="1"/>
          </p:nvPr>
        </p:nvSpPr>
        <p:spPr/>
        <p:txBody>
          <a:bodyPr/>
          <a:lstStyle/>
          <a:p>
            <a:r>
              <a:rPr lang="en-US" b="1" dirty="0"/>
              <a:t>1. Reduce Response Burden</a:t>
            </a:r>
          </a:p>
          <a:p>
            <a:r>
              <a:rPr lang="en-US" dirty="0"/>
              <a:t>Response Burden means the time and effort users need to complete a survey.</a:t>
            </a:r>
          </a:p>
          <a:p>
            <a:r>
              <a:rPr lang="en-US" dirty="0"/>
              <a:t>- Necessary Questions: Include only necessary questions. In many cases, 6–8 core questions and around 10–12 questions in total may be enough. Example: Asking about Login, Payment, and Security in a Banking Survey.</a:t>
            </a:r>
          </a:p>
          <a:p>
            <a:r>
              <a:rPr lang="en-US" dirty="0"/>
              <a:t>- Open-ended Questions: These require detailed answers, so they should be used selectively. Example: “What problems do you face while transferring money?”</a:t>
            </a:r>
          </a:p>
          <a:p>
            <a:r>
              <a:rPr lang="en-US" dirty="0"/>
              <a:t>- Avoid Large Rating Matrices: Rating many features in one table can be difficult, especially on mobile devices. Example: Asking users to rate 20 Banking App features in one table.</a:t>
            </a:r>
          </a:p>
          <a:p>
            <a:r>
              <a:rPr lang="en-US" dirty="0"/>
              <a:t>- Test Before Distribution: Test the survey on both mobile and desktop before sending it. Example: Checking whether all Google Form questions display correctly on mobile.</a:t>
            </a:r>
          </a:p>
          <a:p>
            <a:r>
              <a:rPr lang="en-US" dirty="0"/>
              <a:t>- Survey Fatigue: Very long surveys may cause users to skip questions or leave before completing them. Example: A user stops answering a 50-question Banking Survey halfway through.</a:t>
            </a:r>
          </a:p>
          <a:p>
            <a:r>
              <a:rPr lang="en-US" b="1" dirty="0"/>
              <a:t>2. Choose the Right Tool</a:t>
            </a:r>
          </a:p>
          <a:p>
            <a:r>
              <a:rPr lang="en-US" dirty="0"/>
              <a:t>- Platform Selection: Choose Google Forms, </a:t>
            </a:r>
            <a:r>
              <a:rPr lang="en-US" dirty="0" err="1"/>
              <a:t>Typeform</a:t>
            </a:r>
            <a:r>
              <a:rPr lang="en-US" dirty="0"/>
              <a:t>, or another tool based on user needs. Example: Using Google Forms to collect general employee feedback.</a:t>
            </a:r>
          </a:p>
          <a:p>
            <a:r>
              <a:rPr lang="en-US" dirty="0"/>
              <a:t>- Compatibility and Branching: Check device support, question types, and conditional questions. Example: If a user answers Yes to “Did your payment fail?”, show additional questions about payment failure.</a:t>
            </a:r>
          </a:p>
          <a:p>
            <a:r>
              <a:rPr lang="en-US" dirty="0"/>
              <a:t>- Privacy and Data Export: Protect user information and allow data export for analysis. Example: Exporting Customer Survey responses into CSV for analysis.</a:t>
            </a:r>
          </a:p>
          <a:p>
            <a:r>
              <a:rPr lang="en-US" dirty="0"/>
              <a:t>- Usability over Appearance: Select a tool that is easy to use, not just visually attractive. Example: Choosing a simple form instead of an attractive form that has problems on mobile devices.</a:t>
            </a:r>
          </a:p>
          <a:p>
            <a:r>
              <a:rPr lang="en-US" b="1" dirty="0"/>
              <a:t>3. Invitation and Question Order</a:t>
            </a:r>
          </a:p>
          <a:p>
            <a:r>
              <a:rPr lang="en-US" dirty="0"/>
              <a:t>- Explain Purpose: Tell participants why the survey is being conducted and how the information will be used. Example: “We are collecting feedback to improve our Hospital Management System.”</a:t>
            </a:r>
          </a:p>
          <a:p>
            <a:r>
              <a:rPr lang="en-US" dirty="0"/>
              <a:t>- Completion Time: Tell participants approximately how long the survey will take. Example: “This survey will take approximately 5 minutes.”</a:t>
            </a:r>
          </a:p>
          <a:p>
            <a:r>
              <a:rPr lang="en-US" dirty="0"/>
              <a:t>- Logical Question Order: Place simple questions first and more difficult questions later. Example: First ask which Banking Service they use, then ask detailed questions about problems.</a:t>
            </a:r>
          </a:p>
          <a:p>
            <a:r>
              <a:rPr lang="en-US" dirty="0"/>
              <a:t>- Relevant User Details: Collect user role or device information only when necessary. Example: Analyzing problems faced by doctors and nurses separately in a Hospital System.</a:t>
            </a:r>
          </a:p>
          <a:p>
            <a:r>
              <a:rPr lang="en-US" dirty="0"/>
              <a:t>- Optional Feedback and Follow-up: Provide opportunities for additional feedback and follow-up interviews. Example: “Would you like to join a follow-up interview?”</a:t>
            </a:r>
          </a:p>
          <a:p>
            <a:endParaRPr lang="en-US" dirty="0"/>
          </a:p>
        </p:txBody>
      </p:sp>
      <p:sp>
        <p:nvSpPr>
          <p:cNvPr id="4" name="Slide Number Placeholder 3">
            <a:extLst>
              <a:ext uri="{FF2B5EF4-FFF2-40B4-BE49-F238E27FC236}">
                <a16:creationId xmlns:a16="http://schemas.microsoft.com/office/drawing/2014/main" id="{CF2689A9-F4AD-5CC3-C67F-006A36865CBC}"/>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5005120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3BE94-EA4B-4561-4C3F-60F3E762B3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5213CF-A981-592A-AD18-F1EBC9A3AF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6D3008-91F2-5453-57B4-82D3C85332E4}"/>
              </a:ext>
            </a:extLst>
          </p:cNvPr>
          <p:cNvSpPr>
            <a:spLocks noGrp="1"/>
          </p:cNvSpPr>
          <p:nvPr>
            <p:ph type="body" idx="1"/>
          </p:nvPr>
        </p:nvSpPr>
        <p:spPr/>
        <p:txBody>
          <a:bodyPr/>
          <a:lstStyle/>
          <a:p>
            <a:r>
              <a:rPr lang="en-US" dirty="0"/>
              <a:t>1. Self-report (Inaccurate Recall)</a:t>
            </a:r>
          </a:p>
          <a:p>
            <a:r>
              <a:rPr lang="en-US" dirty="0"/>
              <a:t>Users may not correctly remember past events or how frequently problems occurred.</a:t>
            </a:r>
          </a:p>
          <a:p>
            <a:r>
              <a:rPr lang="en-US" dirty="0"/>
              <a:t>Example: A customer says the Banking App crashed 10 times last month, but the System Log shows only 4 crashes.</a:t>
            </a:r>
          </a:p>
          <a:p>
            <a:r>
              <a:rPr lang="en-US" dirty="0"/>
              <a:t>2. Selection Bias</a:t>
            </a:r>
          </a:p>
          <a:p>
            <a:r>
              <a:rPr lang="en-US" dirty="0"/>
              <a:t>People who respond to a survey may have different experiences from those who do not respond.</a:t>
            </a:r>
          </a:p>
          <a:p>
            <a:r>
              <a:rPr lang="en-US" dirty="0"/>
              <a:t>Example: Mostly dissatisfied customers answer an E-commerce Survey. As a result, it may appear that most customers are dissatisfied.</a:t>
            </a:r>
          </a:p>
          <a:p>
            <a:r>
              <a:rPr lang="en-US" dirty="0"/>
              <a:t>3. Leading Wording or Missing Options</a:t>
            </a:r>
          </a:p>
          <a:p>
            <a:r>
              <a:rPr lang="en-US" dirty="0"/>
              <a:t>Biased questions or missing answer options can produce misleading results.</a:t>
            </a:r>
          </a:p>
          <a:p>
            <a:r>
              <a:rPr lang="en-US" dirty="0"/>
              <a:t>Example: “How excellent is our Banking App?” encourages positive answers. Also, if Payment Method options include only Card and Cash, Mobile Banking users cannot answer correctly.</a:t>
            </a:r>
          </a:p>
          <a:p>
            <a:r>
              <a:rPr lang="en-US" dirty="0"/>
              <a:t>4. Non-representative Sample</a:t>
            </a:r>
          </a:p>
          <a:p>
            <a:r>
              <a:rPr lang="en-US" dirty="0"/>
              <a:t>A large number of responses does not mean the results represent all users.</a:t>
            </a:r>
          </a:p>
          <a:p>
            <a:r>
              <a:rPr lang="en-US" dirty="0"/>
              <a:t>Example: Surveying 10,000 young Banking App users may fail to identify problems faced by older users.</a:t>
            </a:r>
          </a:p>
          <a:p>
            <a:r>
              <a:rPr lang="en-US" dirty="0"/>
              <a:t>5. Percentages Do Not Explain Root Cause</a:t>
            </a:r>
          </a:p>
          <a:p>
            <a:r>
              <a:rPr lang="en-US" dirty="0"/>
              <a:t>Surveys show how many users experience problems but may not explain the actual causes.</a:t>
            </a:r>
          </a:p>
          <a:p>
            <a:r>
              <a:rPr lang="en-US" dirty="0"/>
              <a:t>Example: 60% of customers report Payment Failure. Interviews and System Logs are needed to determine whether the cause is the Network, Server, or Payment Gateway.</a:t>
            </a:r>
          </a:p>
          <a:p>
            <a:r>
              <a:rPr lang="en-US" dirty="0"/>
              <a:t>SRS Connection: Survey findings should be validated before converting them into final system requirements.</a:t>
            </a:r>
          </a:p>
          <a:p>
            <a:endParaRPr lang="en-US" dirty="0"/>
          </a:p>
        </p:txBody>
      </p:sp>
      <p:sp>
        <p:nvSpPr>
          <p:cNvPr id="4" name="Slide Number Placeholder 3">
            <a:extLst>
              <a:ext uri="{FF2B5EF4-FFF2-40B4-BE49-F238E27FC236}">
                <a16:creationId xmlns:a16="http://schemas.microsoft.com/office/drawing/2014/main" id="{EBC2747A-2D36-69CD-D491-2D0457DE4AFA}"/>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2727908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Diary Study is a Requirement Gathering Method where users record their experiences and problems while using a system over several days or weeks.</a:t>
            </a:r>
          </a:p>
          <a:p>
            <a:r>
              <a:rPr lang="en-US" dirty="0"/>
              <a:t>Example: Banking App users record when transaction failures occur and the circumstances during those failures for two weeks.</a:t>
            </a:r>
          </a:p>
          <a:p>
            <a:r>
              <a:rPr lang="en-US" b="1" dirty="0"/>
              <a:t>1. Why Time Matters</a:t>
            </a:r>
          </a:p>
          <a:p>
            <a:r>
              <a:rPr lang="en-US" dirty="0"/>
              <a:t>Some problems do not happen all the time; they occur during specific times or situations. Therefore, a single interview may miss these problems.</a:t>
            </a:r>
          </a:p>
          <a:p>
            <a:r>
              <a:rPr lang="en-US" dirty="0"/>
              <a:t>Example: An E-commerce System works well normally but becomes slow during Festival Sales because of heavy traffic.</a:t>
            </a:r>
          </a:p>
          <a:p>
            <a:r>
              <a:rPr lang="en-US" b="1" dirty="0"/>
              <a:t>2. Entry Strategies</a:t>
            </a:r>
          </a:p>
          <a:p>
            <a:r>
              <a:rPr lang="en-US" dirty="0"/>
              <a:t>1. Event-triggered: Users record an experience whenever a problem occurs.</a:t>
            </a:r>
          </a:p>
          <a:p>
            <a:r>
              <a:rPr lang="en-US" dirty="0"/>
              <a:t>Example: A user records the incident whenever a transaction fails in a Banking App.</a:t>
            </a:r>
          </a:p>
          <a:p>
            <a:r>
              <a:rPr lang="en-US" dirty="0"/>
              <a:t>2. Time-based: Users write a daily or weekly summary of their experiences.</a:t>
            </a:r>
          </a:p>
          <a:p>
            <a:r>
              <a:rPr lang="en-US" dirty="0"/>
              <a:t>Example: Hospital Staff record the problems they face with the Patient Management System every day.</a:t>
            </a:r>
          </a:p>
          <a:p>
            <a:r>
              <a:rPr lang="en-US" dirty="0"/>
              <a:t>3. Experience Sampling: Users receive notifications at specific times asking about their current experiences.</a:t>
            </a:r>
          </a:p>
          <a:p>
            <a:r>
              <a:rPr lang="en-US" dirty="0"/>
              <a:t>Example: Every day at 2 PM, Warehouse Staff are asked, “Are you facing any inventory update problems right now?”</a:t>
            </a:r>
          </a:p>
          <a:p>
            <a:r>
              <a:rPr lang="en-US" dirty="0"/>
              <a:t>4. End-of-period Reflection: Users provide an overall summary of their experiences at the end of a specific period.</a:t>
            </a:r>
          </a:p>
          <a:p>
            <a:r>
              <a:rPr lang="en-US" dirty="0"/>
              <a:t>Example: After two weeks, Bank Employees report which problem occurred most frequently.</a:t>
            </a:r>
          </a:p>
          <a:p>
            <a:r>
              <a:rPr lang="en-US" b="1" dirty="0"/>
              <a:t>3. Requirement Value</a:t>
            </a:r>
          </a:p>
          <a:p>
            <a:r>
              <a:rPr lang="en-US" dirty="0"/>
              <a:t>1. Repeated Pain Points: Identify problems that occur repeatedly.</a:t>
            </a:r>
          </a:p>
          <a:p>
            <a:r>
              <a:rPr lang="en-US" dirty="0"/>
              <a:t>Example: Updating Patient Records takes too much time every day in a Hospital System.</a:t>
            </a:r>
          </a:p>
          <a:p>
            <a:r>
              <a:rPr lang="en-US" dirty="0"/>
              <a:t>2. Coping Strategies: Identify alternative methods users apply to overcome system problems.</a:t>
            </a:r>
          </a:p>
          <a:p>
            <a:r>
              <a:rPr lang="en-US" dirty="0"/>
              <a:t>Example: Employees record stock information in Excel when the Inventory System is unavailable.</a:t>
            </a:r>
          </a:p>
          <a:p>
            <a:r>
              <a:rPr lang="en-US" dirty="0"/>
              <a:t>3. Context Near the Event: Understand the situation when a problem occurs.</a:t>
            </a:r>
          </a:p>
          <a:p>
            <a:r>
              <a:rPr lang="en-US" dirty="0"/>
              <a:t>Example: Transaction failures occur in a Banking App during poor Internet connectivity.</a:t>
            </a:r>
          </a:p>
          <a:p>
            <a:r>
              <a:rPr lang="en-US" dirty="0"/>
              <a:t>4. Concrete Examples for Interviews: Real incidents recorded in diaries can be discussed further during interviews or participatory analysis.</a:t>
            </a:r>
          </a:p>
          <a:p>
            <a:r>
              <a:rPr lang="en-US" dirty="0"/>
              <a:t>Example: After identifying a payment failure in a diary, the analyst investigates its cause through an interview.</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Study Design — How Do We Conduct the Study?</a:t>
            </a:r>
          </a:p>
          <a:p>
            <a:r>
              <a:rPr lang="en-US" dirty="0"/>
              <a:t>1. Record for Two Weeks: Doctors and nurses record system problems for two weeks.</a:t>
            </a:r>
          </a:p>
          <a:p>
            <a:r>
              <a:rPr lang="en-US" dirty="0"/>
              <a:t>Example: A nurse records how much time it takes to update patient records every day.</a:t>
            </a:r>
          </a:p>
          <a:p>
            <a:r>
              <a:rPr lang="en-US" dirty="0"/>
              <a:t>2. Event-based Recording: They record a problem whenever it occurs during patient care.</a:t>
            </a:r>
          </a:p>
          <a:p>
            <a:r>
              <a:rPr lang="en-US" dirty="0"/>
              <a:t>Example: They record an incident when a patient report cannot be opened during an emergency.</a:t>
            </a:r>
          </a:p>
          <a:p>
            <a:r>
              <a:rPr lang="en-US" dirty="0"/>
              <a:t>3. Describe Task, Problem, Workaround and Result: They describe the task, the problem, the alternative method used, and the outcome.</a:t>
            </a:r>
          </a:p>
          <a:p>
            <a:r>
              <a:rPr lang="en-US" dirty="0"/>
              <a:t>Example: Patient Record cannot be saved → Write it on paper → Update it in the system later.</a:t>
            </a:r>
          </a:p>
          <a:p>
            <a:r>
              <a:rPr lang="en-US" dirty="0"/>
              <a:t>4. Different Recording Formats: Problems can be reported using text, screenshots, or voice notes.</a:t>
            </a:r>
          </a:p>
          <a:p>
            <a:r>
              <a:rPr lang="en-US" dirty="0"/>
              <a:t>Example: Taking a screenshot of an error message when a system error occurs.</a:t>
            </a:r>
          </a:p>
          <a:p>
            <a:r>
              <a:rPr lang="en-US" b="1" dirty="0"/>
              <a:t>2. Possible Diary Evidence — What Problems Did We Find?</a:t>
            </a:r>
          </a:p>
          <a:p>
            <a:r>
              <a:rPr lang="en-US" dirty="0"/>
              <a:t>1. Repeated Delays: Nurses repeatedly report delays while updating patient records.</a:t>
            </a:r>
          </a:p>
          <a:p>
            <a:r>
              <a:rPr lang="en-US" dirty="0"/>
              <a:t>Example: Saving patient information takes 30 seconds each time.</a:t>
            </a:r>
          </a:p>
          <a:p>
            <a:r>
              <a:rPr lang="en-US" dirty="0"/>
              <a:t>2. Report Access Problem: Doctors cannot open previous medical reports during emergencies.</a:t>
            </a:r>
          </a:p>
          <a:p>
            <a:r>
              <a:rPr lang="en-US" dirty="0"/>
              <a:t>Example: A patient's previous blood test report cannot be found during emergency treatment.</a:t>
            </a:r>
          </a:p>
          <a:p>
            <a:r>
              <a:rPr lang="en-US" dirty="0"/>
              <a:t>3. Data Loss: Entered information is lost during network failures.</a:t>
            </a:r>
          </a:p>
          <a:p>
            <a:r>
              <a:rPr lang="en-US" dirty="0"/>
              <a:t>Example: Internet disconnection prevents medicine information from being saved.</a:t>
            </a:r>
          </a:p>
          <a:p>
            <a:r>
              <a:rPr lang="en-US" dirty="0"/>
              <a:t>4. Manual Workaround: Staff use alternative methods when the system is unavailable.</a:t>
            </a:r>
          </a:p>
          <a:p>
            <a:r>
              <a:rPr lang="en-US" dirty="0"/>
              <a:t>Example: Nurses record patient information on paper when the server is down.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SDLC, the System Design Phase comes after Requirements Analysis. So why is Participatory Design included in Requirements Gathering?</a:t>
            </a:r>
          </a:p>
          <a:p>
            <a:r>
              <a:rPr lang="en-US" dirty="0"/>
              <a:t>Because here, Participatory Design does not mean Final System Design. It means involving users in identifying problems, determining requirements, and discussing possible solutions.</a:t>
            </a:r>
          </a:p>
          <a:p>
            <a:endParaRPr lang="en-US" dirty="0"/>
          </a:p>
          <a:p>
            <a:r>
              <a:rPr lang="en-US" b="1" dirty="0"/>
              <a:t>Example: Hospital Management System</a:t>
            </a:r>
          </a:p>
          <a:p>
            <a:r>
              <a:rPr lang="en-US" dirty="0"/>
              <a:t>Suppose we are developing a Hospital Management System.</a:t>
            </a:r>
          </a:p>
          <a:p>
            <a:r>
              <a:rPr lang="en-US" dirty="0"/>
              <a:t>1. Consultation: The analyst asks doctors, “What problems do you face with the current system?”</a:t>
            </a:r>
          </a:p>
          <a:p>
            <a:r>
              <a:rPr lang="en-US" dirty="0"/>
              <a:t>Doctors respond, “Finding patient reports takes too much time.”</a:t>
            </a:r>
          </a:p>
          <a:p>
            <a:r>
              <a:rPr lang="en-US" dirty="0"/>
              <a:t>Here, doctors only provide feedback.</a:t>
            </a:r>
          </a:p>
          <a:p>
            <a:r>
              <a:rPr lang="en-US" dirty="0"/>
              <a:t>2. Collaborative Analysis: Now the analyst, doctors, and nurses discuss the problems together.</a:t>
            </a:r>
          </a:p>
          <a:p>
            <a:r>
              <a:rPr lang="en-US" dirty="0"/>
              <a:t>They identify that quick access to patient reports and prioritizing emergency reports are important needs.</a:t>
            </a:r>
          </a:p>
          <a:p>
            <a:r>
              <a:rPr lang="en-US" dirty="0"/>
              <a:t>Here, users actively participate in determining requirements.</a:t>
            </a:r>
          </a:p>
          <a:p>
            <a:r>
              <a:rPr lang="en-US" dirty="0"/>
              <a:t>3. System Analysis Value: System Analysis Value means the important information that system analysts can discover through Participatory Design to develop correct requirements.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Tokenistic Participation</a:t>
            </a:r>
          </a:p>
          <a:p>
            <a:r>
              <a:rPr lang="en-US" dirty="0"/>
              <a:t>Users are asked for opinions, but important decisions have already been made.</a:t>
            </a:r>
          </a:p>
          <a:p>
            <a:pPr lvl="0"/>
            <a:r>
              <a:rPr lang="en-US" dirty="0"/>
              <a:t>Problem Already Fixed: The problem to be solved has already been decided.</a:t>
            </a:r>
          </a:p>
          <a:p>
            <a:pPr lvl="0"/>
            <a:r>
              <a:rPr lang="en-US" dirty="0"/>
              <a:t>Features Already Approved: System features have already been approved.</a:t>
            </a:r>
          </a:p>
          <a:p>
            <a:pPr lvl="0"/>
            <a:r>
              <a:rPr lang="en-US" dirty="0"/>
              <a:t>Only Colors or Labels: Users can only choose interface colors or labels.</a:t>
            </a:r>
          </a:p>
          <a:p>
            <a:pPr lvl="0"/>
            <a:r>
              <a:rPr lang="en-US" dirty="0"/>
              <a:t>Hidden Constraints: Budget or technical limitations are not explained.</a:t>
            </a:r>
          </a:p>
          <a:p>
            <a:pPr lvl="0"/>
            <a:r>
              <a:rPr lang="en-US" dirty="0"/>
              <a:t>No Explanation: Users are not told how their feedback was used.</a:t>
            </a:r>
          </a:p>
          <a:p>
            <a:r>
              <a:rPr lang="en-US" dirty="0"/>
              <a:t>Example: All features of a Hospital Management System are decided first, and doctors are only asked to choose the dashboard color.</a:t>
            </a:r>
          </a:p>
          <a:p>
            <a:r>
              <a:rPr lang="en-US" b="1" dirty="0"/>
              <a:t>2. Genuine Participation</a:t>
            </a:r>
          </a:p>
          <a:p>
            <a:r>
              <a:rPr lang="en-US" dirty="0"/>
              <a:t>Stakeholders actively participate in determining system requirements.</a:t>
            </a:r>
          </a:p>
          <a:p>
            <a:pPr lvl="0"/>
            <a:r>
              <a:rPr lang="en-US" dirty="0"/>
              <a:t>Open Problem Framing: Stakeholders can discuss which problems are most important to solve.</a:t>
            </a:r>
          </a:p>
          <a:p>
            <a:pPr lvl="0"/>
            <a:r>
              <a:rPr lang="en-US" dirty="0"/>
              <a:t>Affected Groups Represented: Representatives from all important user groups participate.</a:t>
            </a:r>
          </a:p>
          <a:p>
            <a:pPr lvl="0"/>
            <a:r>
              <a:rPr lang="en-US" dirty="0"/>
              <a:t>Express Ideas: Users can share ideas without having technical knowledge.</a:t>
            </a:r>
          </a:p>
          <a:p>
            <a:pPr lvl="0"/>
            <a:r>
              <a:rPr lang="en-US" dirty="0"/>
              <a:t>Transparent Constraints: Budget, time, and technical limitations are explained.</a:t>
            </a:r>
          </a:p>
          <a:p>
            <a:pPr lvl="0"/>
            <a:r>
              <a:rPr lang="en-US" dirty="0"/>
              <a:t>Input Changes Requirements: Requirements or priorities can change based on user feedback.</a:t>
            </a:r>
          </a:p>
          <a:p>
            <a:r>
              <a:rPr lang="en-US" dirty="0"/>
              <a:t>Example: Before developing a Hospital System, doctors, nurses, and receptionists discuss and decide that quick access to emergency patient records is the highest priority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0A0A7-0D08-F66C-6F98-3F6BEFD1B6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E0E61C-1E36-4EB9-D5EB-AA58AD75E2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FF589B-3D40-23E8-57CE-939D4E66CD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F84B48-9DCD-3F0F-B894-6960624110FB}"/>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2511354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b="1" dirty="0"/>
              <a:t>Correctness</a:t>
            </a:r>
            <a:br>
              <a:rPr lang="en-US" dirty="0"/>
            </a:br>
            <a:r>
              <a:rPr lang="en-US" dirty="0"/>
              <a:t>Users expect instant bill payment confirmation, but the SRS says “within 24 hours.” That is incorrect. Fix: “within 5 seconds.”</a:t>
            </a:r>
          </a:p>
          <a:p>
            <a:r>
              <a:rPr lang="en-US" b="1" dirty="0"/>
              <a:t>2. Completeness </a:t>
            </a:r>
            <a:r>
              <a:rPr lang="en-US" dirty="0"/>
              <a:t>Requirement: ATM Cash Withdrawal।</a:t>
            </a:r>
          </a:p>
          <a:p>
            <a:pPr lvl="0"/>
            <a:r>
              <a:rPr lang="en-US" dirty="0"/>
              <a:t>Incomplete: The system shall allow customers to withdraw money when sufficient balance is available.</a:t>
            </a:r>
          </a:p>
          <a:p>
            <a:pPr lvl="0"/>
            <a:r>
              <a:rPr lang="en-US" dirty="0"/>
              <a:t>Complete: The system shall verify the PIN, available balance, withdrawal limit, and ATM cash availability before dispensing money. It shall reject invalid withdrawals with an appropriate message.</a:t>
            </a:r>
          </a:p>
          <a:p>
            <a:pPr lvl="0"/>
            <a:r>
              <a:rPr lang="en-US" b="1" dirty="0"/>
              <a:t>3. Consistency</a:t>
            </a:r>
            <a:br>
              <a:rPr lang="en-US" dirty="0"/>
            </a:br>
            <a:r>
              <a:rPr lang="en-US" dirty="0"/>
              <a:t>Req 4.1 says “auto logout after 5 minutes,” while Req 7.3 says “stay logged in until manual logout.” These conflict.</a:t>
            </a:r>
          </a:p>
          <a:p>
            <a:pPr lvl="0"/>
            <a:r>
              <a:rPr lang="en-US" b="1" dirty="0"/>
              <a:t>4. Unambiguousness</a:t>
            </a:r>
            <a:br>
              <a:rPr lang="en-US" dirty="0"/>
            </a:br>
            <a:r>
              <a:rPr lang="en-US" dirty="0"/>
              <a:t>“The system shall respond quickly” is ambiguous. Fix: “Search results appear within 2 seconds for 95% of queries.”</a:t>
            </a:r>
          </a:p>
          <a:p>
            <a:pPr marL="0" indent="0">
              <a:buNone/>
            </a:pP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65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45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305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65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25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25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25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25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25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250" kern="1200">
          <a:solidFill>
            <a:schemeClr val="tx1"/>
          </a:solidFill>
          <a:latin typeface="+mn-lt"/>
          <a:ea typeface="+mn-ea"/>
          <a:cs typeface="+mn-cs"/>
        </a:defRPr>
      </a:lvl9pPr>
    </p:bodyStyle>
    <p:otherStyle>
      <a:defPPr>
        <a:defRPr lang="en-US"/>
      </a:defPPr>
      <a:lvl1pPr marL="0" algn="l" defTabSz="914400" rtl="0" eaLnBrk="1" latinLnBrk="0" hangingPunct="1">
        <a:defRPr sz="2050" kern="1200">
          <a:solidFill>
            <a:schemeClr val="tx1"/>
          </a:solidFill>
          <a:latin typeface="+mn-lt"/>
          <a:ea typeface="+mn-ea"/>
          <a:cs typeface="+mn-cs"/>
        </a:defRPr>
      </a:lvl1pPr>
      <a:lvl2pPr marL="457200" algn="l" defTabSz="914400" rtl="0" eaLnBrk="1" latinLnBrk="0" hangingPunct="1">
        <a:defRPr sz="2050" kern="1200">
          <a:solidFill>
            <a:schemeClr val="tx1"/>
          </a:solidFill>
          <a:latin typeface="+mn-lt"/>
          <a:ea typeface="+mn-ea"/>
          <a:cs typeface="+mn-cs"/>
        </a:defRPr>
      </a:lvl2pPr>
      <a:lvl3pPr marL="914400" algn="l" defTabSz="914400" rtl="0" eaLnBrk="1" latinLnBrk="0" hangingPunct="1">
        <a:defRPr sz="2050" kern="1200">
          <a:solidFill>
            <a:schemeClr val="tx1"/>
          </a:solidFill>
          <a:latin typeface="+mn-lt"/>
          <a:ea typeface="+mn-ea"/>
          <a:cs typeface="+mn-cs"/>
        </a:defRPr>
      </a:lvl3pPr>
      <a:lvl4pPr marL="1371600" algn="l" defTabSz="914400" rtl="0" eaLnBrk="1" latinLnBrk="0" hangingPunct="1">
        <a:defRPr sz="2050" kern="1200">
          <a:solidFill>
            <a:schemeClr val="tx1"/>
          </a:solidFill>
          <a:latin typeface="+mn-lt"/>
          <a:ea typeface="+mn-ea"/>
          <a:cs typeface="+mn-cs"/>
        </a:defRPr>
      </a:lvl4pPr>
      <a:lvl5pPr marL="1828800" algn="l" defTabSz="914400" rtl="0" eaLnBrk="1" latinLnBrk="0" hangingPunct="1">
        <a:defRPr sz="2050" kern="1200">
          <a:solidFill>
            <a:schemeClr val="tx1"/>
          </a:solidFill>
          <a:latin typeface="+mn-lt"/>
          <a:ea typeface="+mn-ea"/>
          <a:cs typeface="+mn-cs"/>
        </a:defRPr>
      </a:lvl5pPr>
      <a:lvl6pPr marL="2286000" algn="l" defTabSz="914400" rtl="0" eaLnBrk="1" latinLnBrk="0" hangingPunct="1">
        <a:defRPr sz="2050" kern="1200">
          <a:solidFill>
            <a:schemeClr val="tx1"/>
          </a:solidFill>
          <a:latin typeface="+mn-lt"/>
          <a:ea typeface="+mn-ea"/>
          <a:cs typeface="+mn-cs"/>
        </a:defRPr>
      </a:lvl6pPr>
      <a:lvl7pPr marL="2743200" algn="l" defTabSz="914400" rtl="0" eaLnBrk="1" latinLnBrk="0" hangingPunct="1">
        <a:defRPr sz="2050" kern="1200">
          <a:solidFill>
            <a:schemeClr val="tx1"/>
          </a:solidFill>
          <a:latin typeface="+mn-lt"/>
          <a:ea typeface="+mn-ea"/>
          <a:cs typeface="+mn-cs"/>
        </a:defRPr>
      </a:lvl7pPr>
      <a:lvl8pPr marL="3200400" algn="l" defTabSz="914400" rtl="0" eaLnBrk="1" latinLnBrk="0" hangingPunct="1">
        <a:defRPr sz="2050" kern="1200">
          <a:solidFill>
            <a:schemeClr val="tx1"/>
          </a:solidFill>
          <a:latin typeface="+mn-lt"/>
          <a:ea typeface="+mn-ea"/>
          <a:cs typeface="+mn-cs"/>
        </a:defRPr>
      </a:lvl8pPr>
      <a:lvl9pPr marL="3657600" algn="l" defTabSz="914400" rtl="0" eaLnBrk="1" latinLnBrk="0" hangingPunct="1">
        <a:defRPr sz="20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B000B"/>
        </a:solidFill>
        <a:effectLst/>
      </p:bgPr>
    </p:bg>
    <p:spTree>
      <p:nvGrpSpPr>
        <p:cNvPr id="1" name=""/>
        <p:cNvGrpSpPr/>
        <p:nvPr/>
      </p:nvGrpSpPr>
      <p:grpSpPr>
        <a:xfrm>
          <a:off x="0" y="0"/>
          <a:ext cx="0" cy="0"/>
          <a:chOff x="0" y="0"/>
          <a:chExt cx="0" cy="0"/>
        </a:xfrm>
      </p:grpSpPr>
      <p:sp>
        <p:nvSpPr>
          <p:cNvPr id="2" name="Text 0"/>
          <p:cNvSpPr/>
          <p:nvPr/>
        </p:nvSpPr>
        <p:spPr>
          <a:xfrm>
            <a:off x="576072" y="2084831"/>
            <a:ext cx="8229600" cy="310896"/>
          </a:xfrm>
          <a:prstGeom prst="rect">
            <a:avLst/>
          </a:prstGeom>
          <a:noFill/>
          <a:ln/>
        </p:spPr>
        <p:txBody>
          <a:bodyPr wrap="square" lIns="0" tIns="0" rIns="0" bIns="0" rtlCol="0" anchor="ctr">
            <a:noAutofit/>
          </a:bodyPr>
          <a:lstStyle/>
          <a:p>
            <a:pPr marL="0" indent="0">
              <a:buNone/>
            </a:pPr>
            <a:r>
              <a:rPr lang="en-US" sz="1600" dirty="0">
                <a:solidFill>
                  <a:srgbClr val="FFFFFF">
                    <a:alpha val="85000"/>
                  </a:srgbClr>
                </a:solidFill>
                <a:latin typeface="Aptos" pitchFamily="34" charset="0"/>
                <a:ea typeface="Aptos" pitchFamily="34" charset="-122"/>
                <a:cs typeface="Aptos" pitchFamily="34" charset="-120"/>
              </a:rPr>
              <a:t>Chapter -05</a:t>
            </a:r>
            <a:endParaRPr lang="en-US" sz="1600" dirty="0"/>
          </a:p>
        </p:txBody>
      </p:sp>
      <p:sp>
        <p:nvSpPr>
          <p:cNvPr id="3" name="Text 1"/>
          <p:cNvSpPr/>
          <p:nvPr/>
        </p:nvSpPr>
        <p:spPr>
          <a:xfrm>
            <a:off x="576072" y="2468880"/>
            <a:ext cx="9144000" cy="777240"/>
          </a:xfrm>
          <a:prstGeom prst="rect">
            <a:avLst/>
          </a:prstGeom>
          <a:noFill/>
          <a:ln/>
        </p:spPr>
        <p:txBody>
          <a:bodyPr wrap="square" lIns="0" tIns="0" rIns="0" bIns="0" rtlCol="0" anchor="ctr"/>
          <a:lstStyle/>
          <a:p>
            <a:pPr marL="0" indent="0">
              <a:buNone/>
            </a:pPr>
            <a:r>
              <a:rPr lang="en-US" sz="4400" b="1" i="1" dirty="0">
                <a:solidFill>
                  <a:srgbClr val="FFFFFF"/>
                </a:solidFill>
                <a:latin typeface="Georgia" pitchFamily="34" charset="0"/>
                <a:ea typeface="Georgia" pitchFamily="34" charset="-122"/>
                <a:cs typeface="Georgia" pitchFamily="34" charset="-120"/>
              </a:rPr>
              <a:t>Systems Analysis</a:t>
            </a:r>
            <a:endParaRPr lang="en-US" sz="4400" dirty="0"/>
          </a:p>
        </p:txBody>
      </p:sp>
      <p:sp>
        <p:nvSpPr>
          <p:cNvPr id="4" name="Text 2"/>
          <p:cNvSpPr/>
          <p:nvPr/>
        </p:nvSpPr>
        <p:spPr>
          <a:xfrm>
            <a:off x="576072" y="3310128"/>
            <a:ext cx="8229600" cy="384048"/>
          </a:xfrm>
          <a:prstGeom prst="rect">
            <a:avLst/>
          </a:prstGeom>
          <a:noFill/>
          <a:ln/>
        </p:spPr>
        <p:txBody>
          <a:bodyPr wrap="square" lIns="0" tIns="0" rIns="0" bIns="0" rtlCol="0" anchor="ctr">
            <a:noAutofit/>
          </a:bodyPr>
          <a:lstStyle/>
          <a:p>
            <a:pPr marL="0" indent="0">
              <a:buNone/>
            </a:pPr>
            <a:r>
              <a:rPr lang="en-US" sz="2000" dirty="0">
                <a:solidFill>
                  <a:srgbClr val="FFFFFF">
                    <a:alpha val="85000"/>
                  </a:srgbClr>
                </a:solidFill>
                <a:latin typeface="Aptos" pitchFamily="34" charset="0"/>
                <a:ea typeface="Aptos" pitchFamily="34" charset="-122"/>
                <a:cs typeface="Aptos" pitchFamily="34" charset="-120"/>
              </a:rPr>
              <a:t>Tools for Information Requirements &amp; SRS</a:t>
            </a:r>
            <a:endParaRPr lang="en-US" sz="2000" dirty="0"/>
          </a:p>
        </p:txBody>
      </p:sp>
      <p:sp>
        <p:nvSpPr>
          <p:cNvPr id="5" name="Text 3"/>
          <p:cNvSpPr/>
          <p:nvPr/>
        </p:nvSpPr>
        <p:spPr>
          <a:xfrm>
            <a:off x="576072" y="6236208"/>
            <a:ext cx="3657600" cy="256032"/>
          </a:xfrm>
          <a:prstGeom prst="rect">
            <a:avLst/>
          </a:prstGeom>
          <a:noFill/>
          <a:ln/>
        </p:spPr>
        <p:txBody>
          <a:bodyPr wrap="square" lIns="0" tIns="0" rIns="0" bIns="0" rtlCol="0" anchor="ctr">
            <a:noAutofit/>
          </a:bodyPr>
          <a:lstStyle/>
          <a:p>
            <a:pPr marL="0" indent="0">
              <a:buNone/>
            </a:pPr>
            <a:r>
              <a:rPr lang="en-US" sz="1200" dirty="0">
                <a:solidFill>
                  <a:srgbClr val="FFFFFF">
                    <a:alpha val="88000"/>
                  </a:srgbClr>
                </a:solidFill>
                <a:latin typeface="Aptos" pitchFamily="34" charset="0"/>
                <a:ea typeface="Aptos" pitchFamily="34" charset="-122"/>
                <a:cs typeface="Aptos" pitchFamily="34" charset="-120"/>
              </a:rPr>
              <a:t>Md. Manirujjaman</a:t>
            </a:r>
            <a:endParaRPr lang="en-US" sz="1200" dirty="0"/>
          </a:p>
        </p:txBody>
      </p:sp>
      <p:sp>
        <p:nvSpPr>
          <p:cNvPr id="7" name="Shape 5"/>
          <p:cNvSpPr/>
          <p:nvPr/>
        </p:nvSpPr>
        <p:spPr>
          <a:xfrm>
            <a:off x="11430000" y="6327648"/>
            <a:ext cx="274320" cy="274320"/>
          </a:xfrm>
          <a:prstGeom prst="ellipse">
            <a:avLst/>
          </a:prstGeom>
          <a:solidFill>
            <a:srgbClr val="B4001B"/>
          </a:solidFill>
          <a:ln w="12700">
            <a:solidFill>
              <a:srgbClr val="B4001B"/>
            </a:solidFill>
            <a:prstDash val="solid"/>
          </a:ln>
        </p:spPr>
        <p:txBody>
          <a:bodyPr wrap="none" lIns="0" tIns="0" rIns="0" bIns="0" anchor="ctr"/>
          <a:lstStyle/>
          <a:p>
            <a:pPr algn="ctr"/>
            <a:fld id="{8A2B6C1E-3F4D-4E5A-9B7C-1D2E3F4A5B6C}" type="slidenum">
              <a:rPr lang="en-US" sz="900" b="1">
                <a:solidFill>
                  <a:srgbClr val="FFFFFF"/>
                </a:solidFill>
                <a:latin typeface="Aptos"/>
              </a:rPr>
              <a:t>1</a:t>
            </a:fld>
            <a:endParaRPr lang="en-US" sz="900" b="1">
              <a:solidFill>
                <a:srgbClr val="FFFFFF"/>
              </a:solidFill>
              <a:latin typeface="Apto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55448"/>
            <a:ext cx="5486400" cy="201168"/>
          </a:xfrm>
          <a:prstGeom prst="rect">
            <a:avLst/>
          </a:prstGeom>
          <a:noFill/>
          <a:ln/>
        </p:spPr>
        <p:txBody>
          <a:bodyPr wrap="square" lIns="0" tIns="0" rIns="0" bIns="0" rtlCol="0" anchor="ctr">
            <a:noAutofit/>
          </a:bodyPr>
          <a:lstStyle/>
          <a:p>
            <a:pPr marL="0" indent="0">
              <a:buNone/>
            </a:pPr>
            <a:r>
              <a:rPr lang="en-US" sz="1100" b="1" dirty="0">
                <a:solidFill>
                  <a:srgbClr val="B4001B"/>
                </a:solidFill>
                <a:latin typeface="Aptos" pitchFamily="34" charset="0"/>
                <a:ea typeface="Aptos" pitchFamily="34" charset="-122"/>
                <a:cs typeface="Aptos" pitchFamily="34" charset="-120"/>
              </a:rPr>
              <a:t>SYSTEM ANALYSIS</a:t>
            </a:r>
            <a:endParaRPr lang="en-US" sz="1100" b="1" dirty="0"/>
          </a:p>
        </p:txBody>
      </p:sp>
      <p:sp>
        <p:nvSpPr>
          <p:cNvPr id="3" name="Text 1"/>
          <p:cNvSpPr/>
          <p:nvPr/>
        </p:nvSpPr>
        <p:spPr>
          <a:xfrm>
            <a:off x="411480" y="365760"/>
            <a:ext cx="11365992" cy="512064"/>
          </a:xfrm>
          <a:prstGeom prst="rect">
            <a:avLst/>
          </a:prstGeom>
          <a:noFill/>
          <a:ln/>
        </p:spPr>
        <p:txBody>
          <a:bodyPr wrap="square" lIns="0" tIns="0" rIns="0" bIns="0" rtlCol="0" anchor="ctr">
            <a:noAutofit/>
          </a:bodyPr>
          <a:lstStyle/>
          <a:p>
            <a:pPr marL="0" indent="0" algn="l">
              <a:buNone/>
            </a:pPr>
            <a:r>
              <a:rPr lang="en-US" sz="3200" b="1" i="1" dirty="0">
                <a:solidFill>
                  <a:srgbClr val="111111"/>
                </a:solidFill>
                <a:latin typeface="Georgia"/>
                <a:ea typeface="Georgia"/>
                <a:cs typeface="Georgia"/>
              </a:rPr>
              <a:t>Lecture Roadmap</a:t>
            </a:r>
          </a:p>
        </p:txBody>
      </p:sp>
      <p:sp>
        <p:nvSpPr>
          <p:cNvPr id="5" name="Text 3"/>
          <p:cNvSpPr/>
          <p:nvPr/>
        </p:nvSpPr>
        <p:spPr>
          <a:xfrm>
            <a:off x="502920" y="6565392"/>
            <a:ext cx="1280160" cy="109728"/>
          </a:xfrm>
          <a:prstGeom prst="rect">
            <a:avLst/>
          </a:prstGeom>
          <a:noFill/>
          <a:ln/>
        </p:spPr>
        <p:txBody>
          <a:bodyPr wrap="square" rtlCol="0" anchor="ctr"/>
          <a:lstStyle/>
          <a:p>
            <a:pPr marL="0" indent="0">
              <a:buNone/>
            </a:pPr>
            <a:r>
              <a:rPr lang="en-US" sz="790" dirty="0">
                <a:solidFill>
                  <a:srgbClr val="777777"/>
                </a:solidFill>
                <a:latin typeface="Aptos" pitchFamily="34" charset="0"/>
                <a:ea typeface="Aptos" pitchFamily="34" charset="-122"/>
                <a:cs typeface="Aptos" pitchFamily="34" charset="-120"/>
              </a:rPr>
              <a:t>1/28/2026</a:t>
            </a:r>
            <a:endParaRPr lang="en-US" sz="790" dirty="0"/>
          </a:p>
        </p:txBody>
      </p:sp>
      <p:sp>
        <p:nvSpPr>
          <p:cNvPr id="6" name="Text 4"/>
          <p:cNvSpPr/>
          <p:nvPr/>
        </p:nvSpPr>
        <p:spPr>
          <a:xfrm>
            <a:off x="5257800" y="6565392"/>
            <a:ext cx="1645920" cy="109728"/>
          </a:xfrm>
          <a:prstGeom prst="rect">
            <a:avLst/>
          </a:prstGeom>
          <a:noFill/>
          <a:ln/>
        </p:spPr>
        <p:txBody>
          <a:bodyPr wrap="square" rtlCol="0" anchor="ctr"/>
          <a:lstStyle/>
          <a:p>
            <a:pPr marL="0" indent="0" algn="ctr">
              <a:buNone/>
            </a:pPr>
            <a:r>
              <a:rPr lang="en-US" sz="790" dirty="0">
                <a:solidFill>
                  <a:srgbClr val="777777"/>
                </a:solidFill>
                <a:latin typeface="Aptos" pitchFamily="34" charset="0"/>
                <a:ea typeface="Aptos" pitchFamily="34" charset="-122"/>
                <a:cs typeface="Aptos" pitchFamily="34" charset="-120"/>
              </a:rPr>
              <a:t>Md. Manirujjaman</a:t>
            </a:r>
            <a:endParaRPr lang="en-US" sz="790" dirty="0"/>
          </a:p>
        </p:txBody>
      </p:sp>
      <p:sp>
        <p:nvSpPr>
          <p:cNvPr id="7" name="Shape 5"/>
          <p:cNvSpPr/>
          <p:nvPr/>
        </p:nvSpPr>
        <p:spPr>
          <a:xfrm>
            <a:off x="11430000" y="6327648"/>
            <a:ext cx="274320" cy="274320"/>
          </a:xfrm>
          <a:prstGeom prst="ellipse">
            <a:avLst/>
          </a:prstGeom>
          <a:solidFill>
            <a:srgbClr val="B4001B"/>
          </a:solidFill>
          <a:ln w="12700">
            <a:solidFill>
              <a:srgbClr val="B4001B"/>
            </a:solidFill>
            <a:prstDash val="solid"/>
          </a:ln>
        </p:spPr>
        <p:txBody>
          <a:bodyPr wrap="none" lIns="0" tIns="0" rIns="0" bIns="0" anchor="ctr"/>
          <a:lstStyle/>
          <a:p>
            <a:pPr algn="ctr"/>
            <a:fld id="{8A2B6C1E-3F4D-4E5A-9B7C-1D2E3F4A5B6C}" type="slidenum">
              <a:rPr lang="en-US" sz="900" b="1">
                <a:solidFill>
                  <a:srgbClr val="FFFFFF"/>
                </a:solidFill>
                <a:latin typeface="Aptos"/>
              </a:rPr>
              <a:t>2</a:t>
            </a:fld>
            <a:endParaRPr lang="en-US" sz="900" b="1">
              <a:solidFill>
                <a:srgbClr val="FFFFFF"/>
              </a:solidFill>
              <a:latin typeface="Aptos"/>
            </a:endParaRPr>
          </a:p>
        </p:txBody>
      </p:sp>
      <p:sp>
        <p:nvSpPr>
          <p:cNvPr id="9" name="Shape 7"/>
          <p:cNvSpPr/>
          <p:nvPr/>
        </p:nvSpPr>
        <p:spPr>
          <a:xfrm>
            <a:off x="411480" y="1298448"/>
            <a:ext cx="3605784" cy="2331720"/>
          </a:xfrm>
          <a:prstGeom prst="rect">
            <a:avLst/>
          </a:prstGeom>
          <a:solidFill>
            <a:srgbClr val="FFFFFF"/>
          </a:solidFill>
          <a:ln w="12700">
            <a:solidFill>
              <a:srgbClr val="E6DCDC">
                <a:alpha val="95000"/>
              </a:srgbClr>
            </a:solidFill>
            <a:prstDash val="solid"/>
          </a:ln>
        </p:spPr>
        <p:txBody>
          <a:bodyPr/>
          <a:lstStyle/>
          <a:p>
            <a:endParaRPr/>
          </a:p>
        </p:txBody>
      </p:sp>
      <p:sp>
        <p:nvSpPr>
          <p:cNvPr id="10" name="Shape 8"/>
          <p:cNvSpPr/>
          <p:nvPr/>
        </p:nvSpPr>
        <p:spPr>
          <a:xfrm>
            <a:off x="594360" y="1453895"/>
            <a:ext cx="292608" cy="292608"/>
          </a:xfrm>
          <a:prstGeom prst="ellipse">
            <a:avLst/>
          </a:prstGeom>
          <a:solidFill>
            <a:srgbClr val="B4001B"/>
          </a:solidFill>
          <a:ln w="12700">
            <a:solidFill>
              <a:srgbClr val="B4001B"/>
            </a:solidFill>
            <a:prstDash val="solid"/>
          </a:ln>
        </p:spPr>
        <p:txBody>
          <a:bodyPr/>
          <a:lstStyle/>
          <a:p>
            <a:endParaRPr/>
          </a:p>
        </p:txBody>
      </p:sp>
      <p:sp>
        <p:nvSpPr>
          <p:cNvPr id="11" name="Text 9"/>
          <p:cNvSpPr/>
          <p:nvPr/>
        </p:nvSpPr>
        <p:spPr>
          <a:xfrm>
            <a:off x="594360" y="1453895"/>
            <a:ext cx="292608" cy="292608"/>
          </a:xfrm>
          <a:prstGeom prst="rect">
            <a:avLst/>
          </a:prstGeom>
          <a:noFill/>
          <a:ln/>
        </p:spPr>
        <p:txBody>
          <a:bodyPr wrap="non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1</a:t>
            </a:r>
            <a:endParaRPr lang="en-US" sz="1100" b="1" dirty="0"/>
          </a:p>
        </p:txBody>
      </p:sp>
      <p:sp>
        <p:nvSpPr>
          <p:cNvPr id="12" name="Text 10"/>
          <p:cNvSpPr/>
          <p:nvPr/>
        </p:nvSpPr>
        <p:spPr>
          <a:xfrm>
            <a:off x="996695" y="1444751"/>
            <a:ext cx="2892552" cy="566928"/>
          </a:xfrm>
          <a:prstGeom prst="rect">
            <a:avLst/>
          </a:prstGeom>
          <a:noFill/>
          <a:ln/>
        </p:spPr>
        <p:txBody>
          <a:bodyPr wrap="square" lIns="0" tIns="0" rIns="0" bIns="0" rtlCol="0" anchor="t">
            <a:noAutofit/>
          </a:bodyPr>
          <a:lstStyle/>
          <a:p>
            <a:pPr marL="0" indent="0" algn="l">
              <a:lnSpc>
                <a:spcPct val="100000"/>
              </a:lnSpc>
              <a:buNone/>
            </a:pPr>
            <a:r>
              <a:rPr lang="en-US" sz="1800" b="1" i="1" dirty="0">
                <a:solidFill>
                  <a:srgbClr val="111111"/>
                </a:solidFill>
                <a:latin typeface="Georgia"/>
                <a:ea typeface="Georgia"/>
                <a:cs typeface="Georgia"/>
              </a:rPr>
              <a:t>Information Requirement Tools</a:t>
            </a:r>
          </a:p>
        </p:txBody>
      </p:sp>
      <p:sp>
        <p:nvSpPr>
          <p:cNvPr id="13" name="Text 11"/>
          <p:cNvSpPr/>
          <p:nvPr/>
        </p:nvSpPr>
        <p:spPr>
          <a:xfrm>
            <a:off x="594360" y="2139696"/>
            <a:ext cx="3240024" cy="1362455"/>
          </a:xfrm>
          <a:prstGeom prst="rect">
            <a:avLst/>
          </a:prstGeom>
          <a:noFill/>
          <a:ln/>
        </p:spPr>
        <p:txBody>
          <a:bodyPr wrap="square" lIns="0" tIns="0" rIns="0" bIns="0" rtlCol="0" anchor="t">
            <a:noAutofit/>
          </a:bodyPr>
          <a:lstStyle/>
          <a:p>
            <a:pPr marL="0" indent="0">
              <a:lnSpc>
                <a:spcPct val="100000"/>
              </a:lnSpc>
              <a:spcBef>
                <a:spcPts val="0"/>
              </a:spcBef>
              <a:spcAft>
                <a:spcPts val="0"/>
              </a:spcAft>
              <a:buNone/>
            </a:pPr>
            <a:r>
              <a:rPr lang="en-US" sz="1800" dirty="0">
                <a:solidFill>
                  <a:srgbClr val="000000"/>
                </a:solidFill>
                <a:latin typeface="Aptos" pitchFamily="34" charset="0"/>
                <a:ea typeface="Aptos" pitchFamily="34" charset="-122"/>
                <a:cs typeface="Aptos" pitchFamily="34" charset="-120"/>
              </a:rPr>
              <a:t>Core fact-finding tools used by system analysts.</a:t>
            </a:r>
            <a:endParaRPr lang="en-US" sz="1800" dirty="0">
              <a:solidFill>
                <a:srgbClr val="000000"/>
              </a:solidFill>
            </a:endParaRPr>
          </a:p>
        </p:txBody>
      </p:sp>
      <p:sp>
        <p:nvSpPr>
          <p:cNvPr id="14" name="Shape 12"/>
          <p:cNvSpPr/>
          <p:nvPr/>
        </p:nvSpPr>
        <p:spPr>
          <a:xfrm>
            <a:off x="4291584" y="1298448"/>
            <a:ext cx="3605784" cy="2331720"/>
          </a:xfrm>
          <a:prstGeom prst="rect">
            <a:avLst/>
          </a:prstGeom>
          <a:solidFill>
            <a:srgbClr val="FFFFFF"/>
          </a:solidFill>
          <a:ln w="12700">
            <a:solidFill>
              <a:srgbClr val="E6DCDC">
                <a:alpha val="95000"/>
              </a:srgbClr>
            </a:solidFill>
            <a:prstDash val="solid"/>
          </a:ln>
        </p:spPr>
        <p:txBody>
          <a:bodyPr/>
          <a:lstStyle/>
          <a:p>
            <a:endParaRPr/>
          </a:p>
        </p:txBody>
      </p:sp>
      <p:sp>
        <p:nvSpPr>
          <p:cNvPr id="15" name="Shape 13"/>
          <p:cNvSpPr/>
          <p:nvPr/>
        </p:nvSpPr>
        <p:spPr>
          <a:xfrm>
            <a:off x="4474464" y="1453895"/>
            <a:ext cx="292608" cy="292608"/>
          </a:xfrm>
          <a:prstGeom prst="ellipse">
            <a:avLst/>
          </a:prstGeom>
          <a:solidFill>
            <a:srgbClr val="B4001B"/>
          </a:solidFill>
          <a:ln w="12700">
            <a:solidFill>
              <a:srgbClr val="B4001B"/>
            </a:solidFill>
            <a:prstDash val="solid"/>
          </a:ln>
        </p:spPr>
        <p:txBody>
          <a:bodyPr/>
          <a:lstStyle/>
          <a:p>
            <a:endParaRPr/>
          </a:p>
        </p:txBody>
      </p:sp>
      <p:sp>
        <p:nvSpPr>
          <p:cNvPr id="16" name="Text 14"/>
          <p:cNvSpPr/>
          <p:nvPr/>
        </p:nvSpPr>
        <p:spPr>
          <a:xfrm>
            <a:off x="4474464" y="1453895"/>
            <a:ext cx="292608" cy="292608"/>
          </a:xfrm>
          <a:prstGeom prst="rect">
            <a:avLst/>
          </a:prstGeom>
          <a:noFill/>
          <a:ln/>
        </p:spPr>
        <p:txBody>
          <a:bodyPr wrap="non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2</a:t>
            </a:r>
            <a:endParaRPr lang="en-US" sz="1100" b="1" dirty="0"/>
          </a:p>
        </p:txBody>
      </p:sp>
      <p:sp>
        <p:nvSpPr>
          <p:cNvPr id="17" name="Text 15"/>
          <p:cNvSpPr/>
          <p:nvPr/>
        </p:nvSpPr>
        <p:spPr>
          <a:xfrm>
            <a:off x="4876800" y="1444751"/>
            <a:ext cx="2892552" cy="566928"/>
          </a:xfrm>
          <a:prstGeom prst="rect">
            <a:avLst/>
          </a:prstGeom>
          <a:noFill/>
          <a:ln/>
        </p:spPr>
        <p:txBody>
          <a:bodyPr wrap="square" lIns="0" tIns="0" rIns="0" bIns="0" rtlCol="0" anchor="t">
            <a:noAutofit/>
          </a:bodyPr>
          <a:lstStyle/>
          <a:p>
            <a:pPr marL="0" indent="0" algn="l">
              <a:lnSpc>
                <a:spcPct val="100000"/>
              </a:lnSpc>
              <a:buNone/>
            </a:pPr>
            <a:r>
              <a:rPr lang="en-US" sz="1800" b="1" i="1" dirty="0">
                <a:solidFill>
                  <a:srgbClr val="111111"/>
                </a:solidFill>
                <a:latin typeface="Georgia"/>
                <a:ea typeface="Georgia"/>
                <a:cs typeface="Georgia"/>
              </a:rPr>
              <a:t>Needfinding &amp; User Requests</a:t>
            </a:r>
          </a:p>
        </p:txBody>
      </p:sp>
      <p:sp>
        <p:nvSpPr>
          <p:cNvPr id="18" name="Text 16"/>
          <p:cNvSpPr/>
          <p:nvPr/>
        </p:nvSpPr>
        <p:spPr>
          <a:xfrm>
            <a:off x="4474464" y="2139696"/>
            <a:ext cx="3240024" cy="1362455"/>
          </a:xfrm>
          <a:prstGeom prst="rect">
            <a:avLst/>
          </a:prstGeom>
          <a:noFill/>
          <a:ln/>
        </p:spPr>
        <p:txBody>
          <a:bodyPr wrap="square" lIns="0" tIns="0" rIns="0" bIns="0" rtlCol="0" anchor="t">
            <a:noAutofit/>
          </a:bodyPr>
          <a:lstStyle/>
          <a:p>
            <a:pPr marL="0" indent="0">
              <a:lnSpc>
                <a:spcPct val="100000"/>
              </a:lnSpc>
              <a:spcBef>
                <a:spcPts val="0"/>
              </a:spcBef>
              <a:spcAft>
                <a:spcPts val="0"/>
              </a:spcAft>
              <a:buNone/>
            </a:pPr>
            <a:r>
              <a:rPr lang="en-US" sz="1800" dirty="0">
                <a:solidFill>
                  <a:srgbClr val="000000"/>
                </a:solidFill>
                <a:latin typeface="Aptos" pitchFamily="34" charset="0"/>
                <a:ea typeface="Aptos" pitchFamily="34" charset="-122"/>
                <a:cs typeface="Aptos" pitchFamily="34" charset="-120"/>
              </a:rPr>
              <a:t>Find the real problem before deciding a solution.</a:t>
            </a:r>
            <a:endParaRPr lang="en-US" sz="1800" dirty="0">
              <a:solidFill>
                <a:srgbClr val="000000"/>
              </a:solidFill>
            </a:endParaRPr>
          </a:p>
        </p:txBody>
      </p:sp>
      <p:sp>
        <p:nvSpPr>
          <p:cNvPr id="19" name="Shape 17"/>
          <p:cNvSpPr/>
          <p:nvPr/>
        </p:nvSpPr>
        <p:spPr>
          <a:xfrm>
            <a:off x="8171688" y="1298448"/>
            <a:ext cx="3605784" cy="2331720"/>
          </a:xfrm>
          <a:prstGeom prst="rect">
            <a:avLst/>
          </a:prstGeom>
          <a:solidFill>
            <a:srgbClr val="FFFFFF"/>
          </a:solidFill>
          <a:ln w="12700">
            <a:solidFill>
              <a:srgbClr val="E6DCDC">
                <a:alpha val="95000"/>
              </a:srgbClr>
            </a:solidFill>
            <a:prstDash val="solid"/>
          </a:ln>
        </p:spPr>
        <p:txBody>
          <a:bodyPr/>
          <a:lstStyle/>
          <a:p>
            <a:endParaRPr/>
          </a:p>
        </p:txBody>
      </p:sp>
      <p:sp>
        <p:nvSpPr>
          <p:cNvPr id="20" name="Shape 18"/>
          <p:cNvSpPr/>
          <p:nvPr/>
        </p:nvSpPr>
        <p:spPr>
          <a:xfrm>
            <a:off x="8354568" y="1453895"/>
            <a:ext cx="292608" cy="292608"/>
          </a:xfrm>
          <a:prstGeom prst="ellipse">
            <a:avLst/>
          </a:prstGeom>
          <a:solidFill>
            <a:srgbClr val="B4001B"/>
          </a:solidFill>
          <a:ln w="12700">
            <a:solidFill>
              <a:srgbClr val="B4001B"/>
            </a:solidFill>
            <a:prstDash val="solid"/>
          </a:ln>
        </p:spPr>
        <p:txBody>
          <a:bodyPr/>
          <a:lstStyle/>
          <a:p>
            <a:endParaRPr/>
          </a:p>
        </p:txBody>
      </p:sp>
      <p:sp>
        <p:nvSpPr>
          <p:cNvPr id="21" name="Text 19"/>
          <p:cNvSpPr/>
          <p:nvPr/>
        </p:nvSpPr>
        <p:spPr>
          <a:xfrm>
            <a:off x="8354568" y="1453895"/>
            <a:ext cx="292608" cy="292608"/>
          </a:xfrm>
          <a:prstGeom prst="rect">
            <a:avLst/>
          </a:prstGeom>
          <a:noFill/>
          <a:ln/>
        </p:spPr>
        <p:txBody>
          <a:bodyPr wrap="non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3</a:t>
            </a:r>
            <a:endParaRPr lang="en-US" sz="1100" b="1" dirty="0"/>
          </a:p>
        </p:txBody>
      </p:sp>
      <p:sp>
        <p:nvSpPr>
          <p:cNvPr id="22" name="Text 20"/>
          <p:cNvSpPr/>
          <p:nvPr/>
        </p:nvSpPr>
        <p:spPr>
          <a:xfrm>
            <a:off x="8756904" y="1444751"/>
            <a:ext cx="2892552" cy="566928"/>
          </a:xfrm>
          <a:prstGeom prst="rect">
            <a:avLst/>
          </a:prstGeom>
          <a:noFill/>
          <a:ln/>
        </p:spPr>
        <p:txBody>
          <a:bodyPr wrap="square" lIns="0" tIns="0" rIns="0" bIns="0" rtlCol="0" anchor="t">
            <a:noAutofit/>
          </a:bodyPr>
          <a:lstStyle/>
          <a:p>
            <a:pPr marL="0" indent="0" algn="l">
              <a:lnSpc>
                <a:spcPct val="100000"/>
              </a:lnSpc>
              <a:buNone/>
            </a:pPr>
            <a:r>
              <a:rPr lang="en-US" sz="1800" b="1" i="1" dirty="0">
                <a:solidFill>
                  <a:srgbClr val="111111"/>
                </a:solidFill>
                <a:latin typeface="Georgia"/>
                <a:ea typeface="Georgia"/>
                <a:cs typeface="Georgia"/>
              </a:rPr>
              <a:t>Interviews, Focus Groups, CI</a:t>
            </a:r>
          </a:p>
        </p:txBody>
      </p:sp>
      <p:sp>
        <p:nvSpPr>
          <p:cNvPr id="23" name="Text 21"/>
          <p:cNvSpPr/>
          <p:nvPr/>
        </p:nvSpPr>
        <p:spPr>
          <a:xfrm>
            <a:off x="8354568" y="2139696"/>
            <a:ext cx="3240024" cy="1362455"/>
          </a:xfrm>
          <a:prstGeom prst="rect">
            <a:avLst/>
          </a:prstGeom>
          <a:noFill/>
          <a:ln/>
        </p:spPr>
        <p:txBody>
          <a:bodyPr wrap="square" lIns="0" tIns="0" rIns="0" bIns="0" rtlCol="0" anchor="t">
            <a:noAutofit/>
          </a:bodyPr>
          <a:lstStyle/>
          <a:p>
            <a:pPr marL="0" indent="0">
              <a:lnSpc>
                <a:spcPct val="100000"/>
              </a:lnSpc>
              <a:spcBef>
                <a:spcPts val="0"/>
              </a:spcBef>
              <a:spcAft>
                <a:spcPts val="0"/>
              </a:spcAft>
              <a:buNone/>
            </a:pPr>
            <a:r>
              <a:rPr lang="en-US" sz="1800" dirty="0">
                <a:solidFill>
                  <a:srgbClr val="000000"/>
                </a:solidFill>
                <a:latin typeface="Aptos" pitchFamily="34" charset="0"/>
                <a:ea typeface="Aptos" pitchFamily="34" charset="-122"/>
                <a:cs typeface="Aptos" pitchFamily="34" charset="-120"/>
              </a:rPr>
              <a:t>Use depth methods to understand users, tasks and organizational work.</a:t>
            </a:r>
            <a:endParaRPr lang="en-US" sz="1800" dirty="0">
              <a:solidFill>
                <a:srgbClr val="000000"/>
              </a:solidFill>
            </a:endParaRPr>
          </a:p>
        </p:txBody>
      </p:sp>
      <p:sp>
        <p:nvSpPr>
          <p:cNvPr id="24" name="Shape 22"/>
          <p:cNvSpPr/>
          <p:nvPr/>
        </p:nvSpPr>
        <p:spPr>
          <a:xfrm>
            <a:off x="411480" y="3904487"/>
            <a:ext cx="3605784" cy="2331720"/>
          </a:xfrm>
          <a:prstGeom prst="rect">
            <a:avLst/>
          </a:prstGeom>
          <a:solidFill>
            <a:srgbClr val="FFFFFF"/>
          </a:solidFill>
          <a:ln w="12700">
            <a:solidFill>
              <a:srgbClr val="E6DCDC">
                <a:alpha val="95000"/>
              </a:srgbClr>
            </a:solidFill>
            <a:prstDash val="solid"/>
          </a:ln>
        </p:spPr>
        <p:txBody>
          <a:bodyPr/>
          <a:lstStyle/>
          <a:p>
            <a:endParaRPr/>
          </a:p>
        </p:txBody>
      </p:sp>
      <p:sp>
        <p:nvSpPr>
          <p:cNvPr id="25" name="Shape 23"/>
          <p:cNvSpPr/>
          <p:nvPr/>
        </p:nvSpPr>
        <p:spPr>
          <a:xfrm>
            <a:off x="594360" y="4059935"/>
            <a:ext cx="292608" cy="292608"/>
          </a:xfrm>
          <a:prstGeom prst="ellipse">
            <a:avLst/>
          </a:prstGeom>
          <a:solidFill>
            <a:srgbClr val="B4001B"/>
          </a:solidFill>
          <a:ln w="12700">
            <a:solidFill>
              <a:srgbClr val="B4001B"/>
            </a:solidFill>
            <a:prstDash val="solid"/>
          </a:ln>
        </p:spPr>
        <p:txBody>
          <a:bodyPr/>
          <a:lstStyle/>
          <a:p>
            <a:endParaRPr/>
          </a:p>
        </p:txBody>
      </p:sp>
      <p:sp>
        <p:nvSpPr>
          <p:cNvPr id="26" name="Text 24"/>
          <p:cNvSpPr/>
          <p:nvPr/>
        </p:nvSpPr>
        <p:spPr>
          <a:xfrm>
            <a:off x="594360" y="4059935"/>
            <a:ext cx="292608" cy="292608"/>
          </a:xfrm>
          <a:prstGeom prst="rect">
            <a:avLst/>
          </a:prstGeom>
          <a:noFill/>
          <a:ln/>
        </p:spPr>
        <p:txBody>
          <a:bodyPr wrap="non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4</a:t>
            </a:r>
            <a:endParaRPr lang="en-US" sz="1100" b="1" dirty="0"/>
          </a:p>
        </p:txBody>
      </p:sp>
      <p:sp>
        <p:nvSpPr>
          <p:cNvPr id="27" name="Text 25"/>
          <p:cNvSpPr/>
          <p:nvPr/>
        </p:nvSpPr>
        <p:spPr>
          <a:xfrm>
            <a:off x="996695" y="4050791"/>
            <a:ext cx="2892552" cy="566928"/>
          </a:xfrm>
          <a:prstGeom prst="rect">
            <a:avLst/>
          </a:prstGeom>
          <a:noFill/>
          <a:ln/>
        </p:spPr>
        <p:txBody>
          <a:bodyPr wrap="square" lIns="0" tIns="0" rIns="0" bIns="0" rtlCol="0" anchor="t">
            <a:noAutofit/>
          </a:bodyPr>
          <a:lstStyle/>
          <a:p>
            <a:pPr marL="0" indent="0" algn="l">
              <a:lnSpc>
                <a:spcPct val="100000"/>
              </a:lnSpc>
              <a:buNone/>
            </a:pPr>
            <a:r>
              <a:rPr lang="en-US" sz="1800" b="1" i="1" dirty="0">
                <a:solidFill>
                  <a:srgbClr val="111111"/>
                </a:solidFill>
                <a:latin typeface="Georgia"/>
                <a:ea typeface="Georgia"/>
                <a:cs typeface="Georgia"/>
              </a:rPr>
              <a:t>Surveys, Diaries &amp; Participatory Analysis</a:t>
            </a:r>
          </a:p>
        </p:txBody>
      </p:sp>
      <p:sp>
        <p:nvSpPr>
          <p:cNvPr id="28" name="Text 26"/>
          <p:cNvSpPr/>
          <p:nvPr/>
        </p:nvSpPr>
        <p:spPr>
          <a:xfrm>
            <a:off x="594360" y="4745736"/>
            <a:ext cx="3240024" cy="1362456"/>
          </a:xfrm>
          <a:prstGeom prst="rect">
            <a:avLst/>
          </a:prstGeom>
          <a:noFill/>
          <a:ln/>
        </p:spPr>
        <p:txBody>
          <a:bodyPr wrap="square" lIns="0" tIns="0" rIns="0" bIns="0" rtlCol="0" anchor="t">
            <a:noAutofit/>
          </a:bodyPr>
          <a:lstStyle/>
          <a:p>
            <a:pPr marL="0" indent="0">
              <a:lnSpc>
                <a:spcPct val="100000"/>
              </a:lnSpc>
              <a:spcBef>
                <a:spcPts val="0"/>
              </a:spcBef>
              <a:spcAft>
                <a:spcPts val="0"/>
              </a:spcAft>
              <a:buNone/>
            </a:pPr>
            <a:r>
              <a:rPr lang="en-US" sz="1800" dirty="0">
                <a:solidFill>
                  <a:srgbClr val="000000"/>
                </a:solidFill>
                <a:latin typeface="Aptos" pitchFamily="34" charset="0"/>
                <a:ea typeface="Aptos" pitchFamily="34" charset="-122"/>
                <a:cs typeface="Aptos" pitchFamily="34" charset="-120"/>
              </a:rPr>
              <a:t>Use breadth, time-based evidence and stakeholder participation to strengthen requirements.</a:t>
            </a:r>
            <a:endParaRPr lang="en-US" sz="1800" dirty="0">
              <a:solidFill>
                <a:srgbClr val="000000"/>
              </a:solidFill>
            </a:endParaRPr>
          </a:p>
        </p:txBody>
      </p:sp>
      <p:sp>
        <p:nvSpPr>
          <p:cNvPr id="29" name="Shape 27"/>
          <p:cNvSpPr/>
          <p:nvPr/>
        </p:nvSpPr>
        <p:spPr>
          <a:xfrm>
            <a:off x="4291584" y="3904487"/>
            <a:ext cx="3605784" cy="2331720"/>
          </a:xfrm>
          <a:prstGeom prst="rect">
            <a:avLst/>
          </a:prstGeom>
          <a:solidFill>
            <a:srgbClr val="FFFFFF"/>
          </a:solidFill>
          <a:ln w="12700">
            <a:solidFill>
              <a:srgbClr val="E6DCDC">
                <a:alpha val="95000"/>
              </a:srgbClr>
            </a:solidFill>
            <a:prstDash val="solid"/>
          </a:ln>
        </p:spPr>
        <p:txBody>
          <a:bodyPr/>
          <a:lstStyle/>
          <a:p>
            <a:endParaRPr/>
          </a:p>
        </p:txBody>
      </p:sp>
      <p:sp>
        <p:nvSpPr>
          <p:cNvPr id="30" name="Shape 28"/>
          <p:cNvSpPr/>
          <p:nvPr/>
        </p:nvSpPr>
        <p:spPr>
          <a:xfrm>
            <a:off x="4474464" y="4059935"/>
            <a:ext cx="292608" cy="292608"/>
          </a:xfrm>
          <a:prstGeom prst="ellipse">
            <a:avLst/>
          </a:prstGeom>
          <a:solidFill>
            <a:srgbClr val="B4001B"/>
          </a:solidFill>
          <a:ln w="12700">
            <a:solidFill>
              <a:srgbClr val="B4001B"/>
            </a:solidFill>
            <a:prstDash val="solid"/>
          </a:ln>
        </p:spPr>
        <p:txBody>
          <a:bodyPr/>
          <a:lstStyle/>
          <a:p>
            <a:endParaRPr/>
          </a:p>
        </p:txBody>
      </p:sp>
      <p:sp>
        <p:nvSpPr>
          <p:cNvPr id="31" name="Text 29"/>
          <p:cNvSpPr/>
          <p:nvPr/>
        </p:nvSpPr>
        <p:spPr>
          <a:xfrm>
            <a:off x="4474464" y="4059935"/>
            <a:ext cx="292608" cy="292608"/>
          </a:xfrm>
          <a:prstGeom prst="rect">
            <a:avLst/>
          </a:prstGeom>
          <a:noFill/>
          <a:ln/>
        </p:spPr>
        <p:txBody>
          <a:bodyPr wrap="non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5</a:t>
            </a:r>
            <a:endParaRPr lang="en-US" sz="1100" b="1" dirty="0"/>
          </a:p>
        </p:txBody>
      </p:sp>
      <p:sp>
        <p:nvSpPr>
          <p:cNvPr id="32" name="Text 30"/>
          <p:cNvSpPr/>
          <p:nvPr/>
        </p:nvSpPr>
        <p:spPr>
          <a:xfrm>
            <a:off x="4876800" y="4050791"/>
            <a:ext cx="2892552" cy="566928"/>
          </a:xfrm>
          <a:prstGeom prst="rect">
            <a:avLst/>
          </a:prstGeom>
          <a:noFill/>
          <a:ln/>
        </p:spPr>
        <p:txBody>
          <a:bodyPr wrap="square" lIns="0" tIns="0" rIns="0" bIns="0" rtlCol="0" anchor="t">
            <a:noAutofit/>
          </a:bodyPr>
          <a:lstStyle/>
          <a:p>
            <a:pPr marL="0" indent="0" algn="l">
              <a:lnSpc>
                <a:spcPct val="100000"/>
              </a:lnSpc>
              <a:buNone/>
            </a:pPr>
            <a:r>
              <a:rPr lang="en-US" sz="1800" b="1" i="1" dirty="0">
                <a:solidFill>
                  <a:srgbClr val="111111"/>
                </a:solidFill>
                <a:latin typeface="Georgia"/>
                <a:ea typeface="Georgia"/>
                <a:cs typeface="Georgia"/>
              </a:rPr>
              <a:t>Converting Evidence into SRS</a:t>
            </a:r>
          </a:p>
        </p:txBody>
      </p:sp>
      <p:sp>
        <p:nvSpPr>
          <p:cNvPr id="33" name="Text 31"/>
          <p:cNvSpPr/>
          <p:nvPr/>
        </p:nvSpPr>
        <p:spPr>
          <a:xfrm>
            <a:off x="4474464" y="4745736"/>
            <a:ext cx="3240024" cy="1362456"/>
          </a:xfrm>
          <a:prstGeom prst="rect">
            <a:avLst/>
          </a:prstGeom>
          <a:noFill/>
          <a:ln/>
        </p:spPr>
        <p:txBody>
          <a:bodyPr wrap="square" lIns="0" tIns="0" rIns="0" bIns="0" rtlCol="0" anchor="t">
            <a:noAutofit/>
          </a:bodyPr>
          <a:lstStyle/>
          <a:p>
            <a:pPr marL="0" indent="0">
              <a:lnSpc>
                <a:spcPct val="100000"/>
              </a:lnSpc>
              <a:spcBef>
                <a:spcPts val="0"/>
              </a:spcBef>
              <a:spcAft>
                <a:spcPts val="0"/>
              </a:spcAft>
              <a:buNone/>
            </a:pPr>
            <a:r>
              <a:rPr lang="en-US" sz="1800" dirty="0">
                <a:solidFill>
                  <a:srgbClr val="000000"/>
                </a:solidFill>
                <a:latin typeface="Aptos" pitchFamily="34" charset="0"/>
                <a:ea typeface="Aptos" pitchFamily="34" charset="-122"/>
                <a:cs typeface="Aptos" pitchFamily="34" charset="-120"/>
              </a:rPr>
              <a:t>Trace findings into logical, testable requirements.</a:t>
            </a:r>
            <a:endParaRPr lang="en-US" sz="1800" dirty="0">
              <a:solidFill>
                <a:srgbClr val="000000"/>
              </a:solidFill>
            </a:endParaRPr>
          </a:p>
        </p:txBody>
      </p:sp>
      <p:sp>
        <p:nvSpPr>
          <p:cNvPr id="34" name="Shape 32"/>
          <p:cNvSpPr/>
          <p:nvPr/>
        </p:nvSpPr>
        <p:spPr>
          <a:xfrm>
            <a:off x="8171688" y="3904487"/>
            <a:ext cx="3605784" cy="2331720"/>
          </a:xfrm>
          <a:prstGeom prst="rect">
            <a:avLst/>
          </a:prstGeom>
          <a:solidFill>
            <a:srgbClr val="FFFFFF"/>
          </a:solidFill>
          <a:ln w="12700">
            <a:solidFill>
              <a:srgbClr val="E6DCDC">
                <a:alpha val="95000"/>
              </a:srgbClr>
            </a:solidFill>
            <a:prstDash val="solid"/>
          </a:ln>
        </p:spPr>
        <p:txBody>
          <a:bodyPr/>
          <a:lstStyle/>
          <a:p>
            <a:endParaRPr/>
          </a:p>
        </p:txBody>
      </p:sp>
      <p:sp>
        <p:nvSpPr>
          <p:cNvPr id="35" name="Shape 33"/>
          <p:cNvSpPr/>
          <p:nvPr/>
        </p:nvSpPr>
        <p:spPr>
          <a:xfrm>
            <a:off x="8354568" y="4059935"/>
            <a:ext cx="292608" cy="292608"/>
          </a:xfrm>
          <a:prstGeom prst="ellipse">
            <a:avLst/>
          </a:prstGeom>
          <a:solidFill>
            <a:srgbClr val="B4001B"/>
          </a:solidFill>
          <a:ln w="12700">
            <a:solidFill>
              <a:srgbClr val="B4001B"/>
            </a:solidFill>
            <a:prstDash val="solid"/>
          </a:ln>
        </p:spPr>
        <p:txBody>
          <a:bodyPr/>
          <a:lstStyle/>
          <a:p>
            <a:endParaRPr/>
          </a:p>
        </p:txBody>
      </p:sp>
      <p:sp>
        <p:nvSpPr>
          <p:cNvPr id="36" name="Text 34"/>
          <p:cNvSpPr/>
          <p:nvPr/>
        </p:nvSpPr>
        <p:spPr>
          <a:xfrm>
            <a:off x="8354568" y="4059935"/>
            <a:ext cx="292608" cy="292608"/>
          </a:xfrm>
          <a:prstGeom prst="rect">
            <a:avLst/>
          </a:prstGeom>
          <a:noFill/>
          <a:ln/>
        </p:spPr>
        <p:txBody>
          <a:bodyPr wrap="non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6</a:t>
            </a:r>
            <a:endParaRPr lang="en-US" sz="1100" b="1" dirty="0"/>
          </a:p>
        </p:txBody>
      </p:sp>
      <p:sp>
        <p:nvSpPr>
          <p:cNvPr id="37" name="Text 35"/>
          <p:cNvSpPr/>
          <p:nvPr/>
        </p:nvSpPr>
        <p:spPr>
          <a:xfrm>
            <a:off x="8756904" y="4050791"/>
            <a:ext cx="2892552" cy="566928"/>
          </a:xfrm>
          <a:prstGeom prst="rect">
            <a:avLst/>
          </a:prstGeom>
          <a:noFill/>
          <a:ln/>
        </p:spPr>
        <p:txBody>
          <a:bodyPr wrap="square" lIns="0" tIns="0" rIns="0" bIns="0" rtlCol="0" anchor="t">
            <a:noAutofit/>
          </a:bodyPr>
          <a:lstStyle/>
          <a:p>
            <a:pPr marL="0" indent="0" algn="l">
              <a:lnSpc>
                <a:spcPct val="100000"/>
              </a:lnSpc>
              <a:buNone/>
            </a:pPr>
            <a:r>
              <a:rPr lang="en-US" sz="1800" b="1" i="1" dirty="0">
                <a:solidFill>
                  <a:srgbClr val="111111"/>
                </a:solidFill>
                <a:latin typeface="Georgia"/>
                <a:ea typeface="Georgia"/>
                <a:cs typeface="Georgia"/>
              </a:rPr>
              <a:t>SRS Quality </a:t>
            </a:r>
          </a:p>
        </p:txBody>
      </p:sp>
      <p:sp>
        <p:nvSpPr>
          <p:cNvPr id="38" name="Text 36"/>
          <p:cNvSpPr/>
          <p:nvPr/>
        </p:nvSpPr>
        <p:spPr>
          <a:xfrm>
            <a:off x="8354568" y="4745736"/>
            <a:ext cx="3240024" cy="1362456"/>
          </a:xfrm>
          <a:prstGeom prst="rect">
            <a:avLst/>
          </a:prstGeom>
          <a:noFill/>
          <a:ln/>
        </p:spPr>
        <p:txBody>
          <a:bodyPr wrap="square" lIns="0" tIns="0" rIns="0" bIns="0" rtlCol="0" anchor="t">
            <a:noAutofit/>
          </a:bodyPr>
          <a:lstStyle/>
          <a:p>
            <a:pPr marL="0" indent="0">
              <a:lnSpc>
                <a:spcPct val="100000"/>
              </a:lnSpc>
              <a:spcBef>
                <a:spcPts val="0"/>
              </a:spcBef>
              <a:spcAft>
                <a:spcPts val="0"/>
              </a:spcAft>
              <a:buNone/>
            </a:pPr>
            <a:r>
              <a:rPr lang="en-US" sz="1800" dirty="0">
                <a:solidFill>
                  <a:srgbClr val="000000"/>
                </a:solidFill>
                <a:latin typeface="Aptos" pitchFamily="34" charset="0"/>
                <a:ea typeface="Aptos" pitchFamily="34" charset="-122"/>
                <a:cs typeface="Aptos" pitchFamily="34" charset="-120"/>
              </a:rPr>
              <a:t>Check completeness, consistency, ambiguity, priority.</a:t>
            </a:r>
            <a:endParaRPr lang="en-US" sz="1800" dirty="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55448"/>
            <a:ext cx="5486400" cy="201168"/>
          </a:xfrm>
          <a:prstGeom prst="rect">
            <a:avLst/>
          </a:prstGeom>
          <a:noFill/>
          <a:ln/>
        </p:spPr>
        <p:txBody>
          <a:bodyPr wrap="square" lIns="0" tIns="0" rIns="0" bIns="0" rtlCol="0" anchor="ctr">
            <a:noAutofit/>
          </a:bodyPr>
          <a:lstStyle/>
          <a:p>
            <a:pPr marL="0" indent="0">
              <a:buNone/>
            </a:pPr>
            <a:r>
              <a:rPr lang="en-US" sz="1100" b="1" dirty="0">
                <a:solidFill>
                  <a:srgbClr val="B4001B"/>
                </a:solidFill>
                <a:latin typeface="Aptos" pitchFamily="34" charset="0"/>
                <a:ea typeface="Aptos" pitchFamily="34" charset="-122"/>
                <a:cs typeface="Aptos" pitchFamily="34" charset="-120"/>
              </a:rPr>
              <a:t>INFORMATION REQUIREMENTS</a:t>
            </a:r>
            <a:endParaRPr lang="en-US" sz="1100" b="1" dirty="0"/>
          </a:p>
        </p:txBody>
      </p:sp>
      <p:sp>
        <p:nvSpPr>
          <p:cNvPr id="3" name="Text 1"/>
          <p:cNvSpPr/>
          <p:nvPr/>
        </p:nvSpPr>
        <p:spPr>
          <a:xfrm>
            <a:off x="411480" y="365760"/>
            <a:ext cx="11365992" cy="512064"/>
          </a:xfrm>
          <a:prstGeom prst="rect">
            <a:avLst/>
          </a:prstGeom>
          <a:noFill/>
          <a:ln/>
        </p:spPr>
        <p:txBody>
          <a:bodyPr wrap="square" lIns="0" tIns="0" rIns="0" bIns="0" rtlCol="0" anchor="ctr">
            <a:noAutofit/>
          </a:bodyPr>
          <a:lstStyle/>
          <a:p>
            <a:pPr marL="0" indent="0" algn="l">
              <a:buNone/>
            </a:pPr>
            <a:r>
              <a:rPr lang="en-US" sz="3200" b="1" i="1" dirty="0">
                <a:solidFill>
                  <a:srgbClr val="111111"/>
                </a:solidFill>
                <a:latin typeface="Georgia"/>
                <a:ea typeface="Georgia"/>
                <a:cs typeface="Georgia"/>
              </a:rPr>
              <a:t>What Analysts Are Trying to Discover</a:t>
            </a:r>
          </a:p>
        </p:txBody>
      </p:sp>
      <p:sp>
        <p:nvSpPr>
          <p:cNvPr id="4" name="Text 2"/>
          <p:cNvSpPr/>
          <p:nvPr/>
        </p:nvSpPr>
        <p:spPr>
          <a:xfrm>
            <a:off x="411480" y="932688"/>
            <a:ext cx="11365992" cy="280416"/>
          </a:xfrm>
          <a:prstGeom prst="rect">
            <a:avLst/>
          </a:prstGeom>
          <a:noFill/>
          <a:ln/>
        </p:spPr>
        <p:txBody>
          <a:bodyPr wrap="square" lIns="0" tIns="0" rIns="0" bIns="0" rtlCol="0" anchor="t">
            <a:noAutofit/>
          </a:bodyPr>
          <a:lstStyle/>
          <a:p>
            <a:pPr marL="0" indent="0" algn="l">
              <a:lnSpc>
                <a:spcPct val="100000"/>
              </a:lnSpc>
              <a:buNone/>
            </a:pPr>
            <a:r>
              <a:rPr lang="en-US" sz="1600" b="0" i="1" dirty="0">
                <a:solidFill>
                  <a:srgbClr val="000000"/>
                </a:solidFill>
                <a:latin typeface="Aptos"/>
                <a:ea typeface="Aptos"/>
                <a:cs typeface="Aptos"/>
              </a:rPr>
              <a:t>Information requirement work is not only asking users what they want; it is discovering what the system must support.</a:t>
            </a:r>
          </a:p>
        </p:txBody>
      </p:sp>
      <p:sp>
        <p:nvSpPr>
          <p:cNvPr id="5" name="Text 3"/>
          <p:cNvSpPr/>
          <p:nvPr/>
        </p:nvSpPr>
        <p:spPr>
          <a:xfrm>
            <a:off x="502920" y="6565392"/>
            <a:ext cx="1280160" cy="109728"/>
          </a:xfrm>
          <a:prstGeom prst="rect">
            <a:avLst/>
          </a:prstGeom>
          <a:noFill/>
          <a:ln/>
        </p:spPr>
        <p:txBody>
          <a:bodyPr wrap="square" rtlCol="0" anchor="ctr"/>
          <a:lstStyle/>
          <a:p>
            <a:pPr marL="0" indent="0">
              <a:buNone/>
            </a:pPr>
            <a:r>
              <a:rPr lang="en-US" sz="790" dirty="0">
                <a:solidFill>
                  <a:srgbClr val="777777"/>
                </a:solidFill>
                <a:latin typeface="Aptos" pitchFamily="34" charset="0"/>
                <a:ea typeface="Aptos" pitchFamily="34" charset="-122"/>
                <a:cs typeface="Aptos" pitchFamily="34" charset="-120"/>
              </a:rPr>
              <a:t>1/28/2026</a:t>
            </a:r>
            <a:endParaRPr lang="en-US" sz="790" dirty="0"/>
          </a:p>
        </p:txBody>
      </p:sp>
      <p:sp>
        <p:nvSpPr>
          <p:cNvPr id="6" name="Text 4"/>
          <p:cNvSpPr/>
          <p:nvPr/>
        </p:nvSpPr>
        <p:spPr>
          <a:xfrm>
            <a:off x="5257800" y="6565392"/>
            <a:ext cx="1645920" cy="109728"/>
          </a:xfrm>
          <a:prstGeom prst="rect">
            <a:avLst/>
          </a:prstGeom>
          <a:noFill/>
          <a:ln/>
        </p:spPr>
        <p:txBody>
          <a:bodyPr wrap="square" rtlCol="0" anchor="ctr"/>
          <a:lstStyle/>
          <a:p>
            <a:pPr marL="0" indent="0" algn="ctr">
              <a:buNone/>
            </a:pPr>
            <a:r>
              <a:rPr lang="en-US" sz="790" dirty="0">
                <a:solidFill>
                  <a:srgbClr val="777777"/>
                </a:solidFill>
                <a:latin typeface="Aptos" pitchFamily="34" charset="0"/>
                <a:ea typeface="Aptos" pitchFamily="34" charset="-122"/>
                <a:cs typeface="Aptos" pitchFamily="34" charset="-120"/>
              </a:rPr>
              <a:t>Md. Manirujjaman</a:t>
            </a:r>
            <a:endParaRPr lang="en-US" sz="790" dirty="0"/>
          </a:p>
        </p:txBody>
      </p:sp>
      <p:sp>
        <p:nvSpPr>
          <p:cNvPr id="7" name="Shape 5"/>
          <p:cNvSpPr/>
          <p:nvPr/>
        </p:nvSpPr>
        <p:spPr>
          <a:xfrm>
            <a:off x="11430000" y="6327648"/>
            <a:ext cx="274320" cy="274320"/>
          </a:xfrm>
          <a:prstGeom prst="ellipse">
            <a:avLst/>
          </a:prstGeom>
          <a:solidFill>
            <a:srgbClr val="B4001B"/>
          </a:solidFill>
          <a:ln w="12700">
            <a:solidFill>
              <a:srgbClr val="B4001B"/>
            </a:solidFill>
            <a:prstDash val="solid"/>
          </a:ln>
        </p:spPr>
        <p:txBody>
          <a:bodyPr wrap="none" lIns="0" tIns="0" rIns="0" bIns="0" anchor="ctr"/>
          <a:lstStyle/>
          <a:p>
            <a:pPr algn="ctr"/>
            <a:fld id="{8A2B6C1E-3F4D-4E5A-9B7C-1D2E3F4A5B6C}" type="slidenum">
              <a:rPr lang="en-US" sz="900" b="1">
                <a:solidFill>
                  <a:srgbClr val="FFFFFF"/>
                </a:solidFill>
                <a:latin typeface="Aptos"/>
              </a:rPr>
              <a:t>3</a:t>
            </a:fld>
            <a:endParaRPr lang="en-US" sz="900" b="1">
              <a:solidFill>
                <a:srgbClr val="FFFFFF"/>
              </a:solidFill>
              <a:latin typeface="Aptos"/>
            </a:endParaRPr>
          </a:p>
        </p:txBody>
      </p:sp>
      <p:sp>
        <p:nvSpPr>
          <p:cNvPr id="9" name="Shape 7"/>
          <p:cNvSpPr/>
          <p:nvPr/>
        </p:nvSpPr>
        <p:spPr>
          <a:xfrm>
            <a:off x="411480" y="1432560"/>
            <a:ext cx="3605784" cy="2212848"/>
          </a:xfrm>
          <a:prstGeom prst="rect">
            <a:avLst/>
          </a:prstGeom>
          <a:solidFill>
            <a:srgbClr val="FFFFFF"/>
          </a:solidFill>
          <a:ln w="12700">
            <a:solidFill>
              <a:srgbClr val="E6DCDC">
                <a:alpha val="95000"/>
              </a:srgbClr>
            </a:solidFill>
            <a:prstDash val="solid"/>
          </a:ln>
        </p:spPr>
        <p:txBody>
          <a:bodyPr/>
          <a:lstStyle/>
          <a:p>
            <a:endParaRPr/>
          </a:p>
        </p:txBody>
      </p:sp>
      <p:sp>
        <p:nvSpPr>
          <p:cNvPr id="10" name="Shape 8"/>
          <p:cNvSpPr/>
          <p:nvPr/>
        </p:nvSpPr>
        <p:spPr>
          <a:xfrm>
            <a:off x="594360" y="1588008"/>
            <a:ext cx="292608" cy="292608"/>
          </a:xfrm>
          <a:prstGeom prst="ellipse">
            <a:avLst/>
          </a:prstGeom>
          <a:solidFill>
            <a:srgbClr val="B4001B"/>
          </a:solidFill>
          <a:ln w="12700">
            <a:solidFill>
              <a:srgbClr val="B4001B"/>
            </a:solidFill>
            <a:prstDash val="solid"/>
          </a:ln>
        </p:spPr>
        <p:txBody>
          <a:bodyPr/>
          <a:lstStyle/>
          <a:p>
            <a:endParaRPr/>
          </a:p>
        </p:txBody>
      </p:sp>
      <p:sp>
        <p:nvSpPr>
          <p:cNvPr id="11" name="Text 9"/>
          <p:cNvSpPr/>
          <p:nvPr/>
        </p:nvSpPr>
        <p:spPr>
          <a:xfrm>
            <a:off x="594360" y="1588008"/>
            <a:ext cx="292608" cy="292608"/>
          </a:xfrm>
          <a:prstGeom prst="rect">
            <a:avLst/>
          </a:prstGeom>
          <a:noFill/>
          <a:ln/>
        </p:spPr>
        <p:txBody>
          <a:bodyPr wrap="non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1</a:t>
            </a:r>
            <a:endParaRPr lang="en-US" sz="1100" b="1" dirty="0"/>
          </a:p>
        </p:txBody>
      </p:sp>
      <p:sp>
        <p:nvSpPr>
          <p:cNvPr id="12" name="Text 10"/>
          <p:cNvSpPr/>
          <p:nvPr/>
        </p:nvSpPr>
        <p:spPr>
          <a:xfrm>
            <a:off x="996695" y="1578864"/>
            <a:ext cx="2892552" cy="323088"/>
          </a:xfrm>
          <a:prstGeom prst="rect">
            <a:avLst/>
          </a:prstGeom>
          <a:noFill/>
          <a:ln/>
        </p:spPr>
        <p:txBody>
          <a:bodyPr wrap="square" lIns="0" tIns="0" rIns="0" bIns="0" rtlCol="0" anchor="t">
            <a:noAutofit/>
          </a:bodyPr>
          <a:lstStyle/>
          <a:p>
            <a:pPr marL="0" indent="0" algn="l">
              <a:lnSpc>
                <a:spcPct val="100000"/>
              </a:lnSpc>
              <a:buNone/>
            </a:pPr>
            <a:r>
              <a:rPr lang="en-US" sz="2000" b="1" i="1" dirty="0">
                <a:solidFill>
                  <a:srgbClr val="111111"/>
                </a:solidFill>
                <a:latin typeface="Georgia"/>
                <a:ea typeface="Georgia"/>
                <a:cs typeface="Georgia"/>
              </a:rPr>
              <a:t>Need</a:t>
            </a:r>
          </a:p>
        </p:txBody>
      </p:sp>
      <p:sp>
        <p:nvSpPr>
          <p:cNvPr id="13" name="Text 11"/>
          <p:cNvSpPr/>
          <p:nvPr/>
        </p:nvSpPr>
        <p:spPr>
          <a:xfrm>
            <a:off x="594360" y="2029968"/>
            <a:ext cx="3240024" cy="1487423"/>
          </a:xfrm>
          <a:prstGeom prst="rect">
            <a:avLst/>
          </a:prstGeom>
          <a:noFill/>
          <a:ln/>
        </p:spPr>
        <p:txBody>
          <a:bodyPr wrap="square" lIns="0" tIns="0" rIns="0" bIns="0" rtlCol="0" anchor="t">
            <a:noAutofit/>
          </a:bodyPr>
          <a:lstStyle/>
          <a:p>
            <a:pPr marL="0" indent="0">
              <a:lnSpc>
                <a:spcPct val="100000"/>
              </a:lnSpc>
              <a:spcBef>
                <a:spcPts val="0"/>
              </a:spcBef>
              <a:spcAft>
                <a:spcPts val="0"/>
              </a:spcAft>
              <a:buNone/>
            </a:pPr>
            <a:r>
              <a:rPr lang="en-US" sz="1600" dirty="0">
                <a:solidFill>
                  <a:srgbClr val="000000"/>
                </a:solidFill>
                <a:latin typeface="Aptos" pitchFamily="34" charset="0"/>
                <a:ea typeface="Aptos" pitchFamily="34" charset="-122"/>
                <a:cs typeface="Aptos" pitchFamily="34" charset="-120"/>
              </a:rPr>
              <a:t>Essential capability required for users or the organization to work effectively. Example: a doctor needs quick allergy and medication information before prescribing.</a:t>
            </a:r>
            <a:endParaRPr lang="en-US" sz="1600" dirty="0">
              <a:solidFill>
                <a:srgbClr val="000000"/>
              </a:solidFill>
            </a:endParaRPr>
          </a:p>
        </p:txBody>
      </p:sp>
      <p:sp>
        <p:nvSpPr>
          <p:cNvPr id="14" name="Shape 12"/>
          <p:cNvSpPr/>
          <p:nvPr/>
        </p:nvSpPr>
        <p:spPr>
          <a:xfrm>
            <a:off x="4291584" y="1432560"/>
            <a:ext cx="3605784" cy="2212848"/>
          </a:xfrm>
          <a:prstGeom prst="rect">
            <a:avLst/>
          </a:prstGeom>
          <a:solidFill>
            <a:srgbClr val="FFFFFF"/>
          </a:solidFill>
          <a:ln w="12700">
            <a:solidFill>
              <a:srgbClr val="E6DCDC">
                <a:alpha val="95000"/>
              </a:srgbClr>
            </a:solidFill>
            <a:prstDash val="solid"/>
          </a:ln>
        </p:spPr>
        <p:txBody>
          <a:bodyPr/>
          <a:lstStyle/>
          <a:p>
            <a:endParaRPr/>
          </a:p>
        </p:txBody>
      </p:sp>
      <p:sp>
        <p:nvSpPr>
          <p:cNvPr id="15" name="Shape 13"/>
          <p:cNvSpPr/>
          <p:nvPr/>
        </p:nvSpPr>
        <p:spPr>
          <a:xfrm>
            <a:off x="4474464" y="1588008"/>
            <a:ext cx="292608" cy="292608"/>
          </a:xfrm>
          <a:prstGeom prst="ellipse">
            <a:avLst/>
          </a:prstGeom>
          <a:solidFill>
            <a:srgbClr val="B4001B"/>
          </a:solidFill>
          <a:ln w="12700">
            <a:solidFill>
              <a:srgbClr val="B4001B"/>
            </a:solidFill>
            <a:prstDash val="solid"/>
          </a:ln>
        </p:spPr>
        <p:txBody>
          <a:bodyPr/>
          <a:lstStyle/>
          <a:p>
            <a:endParaRPr/>
          </a:p>
        </p:txBody>
      </p:sp>
      <p:sp>
        <p:nvSpPr>
          <p:cNvPr id="16" name="Text 14"/>
          <p:cNvSpPr/>
          <p:nvPr/>
        </p:nvSpPr>
        <p:spPr>
          <a:xfrm>
            <a:off x="4474464" y="1588008"/>
            <a:ext cx="292608" cy="292608"/>
          </a:xfrm>
          <a:prstGeom prst="rect">
            <a:avLst/>
          </a:prstGeom>
          <a:noFill/>
          <a:ln/>
        </p:spPr>
        <p:txBody>
          <a:bodyPr wrap="non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2</a:t>
            </a:r>
            <a:endParaRPr lang="en-US" sz="1100" b="1" dirty="0"/>
          </a:p>
        </p:txBody>
      </p:sp>
      <p:sp>
        <p:nvSpPr>
          <p:cNvPr id="17" name="Text 15"/>
          <p:cNvSpPr/>
          <p:nvPr/>
        </p:nvSpPr>
        <p:spPr>
          <a:xfrm>
            <a:off x="4876800" y="1578864"/>
            <a:ext cx="2892552" cy="323088"/>
          </a:xfrm>
          <a:prstGeom prst="rect">
            <a:avLst/>
          </a:prstGeom>
          <a:noFill/>
          <a:ln/>
        </p:spPr>
        <p:txBody>
          <a:bodyPr wrap="square" lIns="0" tIns="0" rIns="0" bIns="0" rtlCol="0" anchor="t">
            <a:noAutofit/>
          </a:bodyPr>
          <a:lstStyle/>
          <a:p>
            <a:pPr marL="0" indent="0" algn="l">
              <a:lnSpc>
                <a:spcPct val="100000"/>
              </a:lnSpc>
              <a:buNone/>
            </a:pPr>
            <a:r>
              <a:rPr lang="en-US" sz="2000" b="1" i="1" dirty="0">
                <a:solidFill>
                  <a:srgbClr val="111111"/>
                </a:solidFill>
                <a:latin typeface="Georgia"/>
                <a:ea typeface="Georgia"/>
                <a:cs typeface="Georgia"/>
              </a:rPr>
              <a:t>Want</a:t>
            </a:r>
          </a:p>
        </p:txBody>
      </p:sp>
      <p:sp>
        <p:nvSpPr>
          <p:cNvPr id="18" name="Text 16"/>
          <p:cNvSpPr/>
          <p:nvPr/>
        </p:nvSpPr>
        <p:spPr>
          <a:xfrm>
            <a:off x="4474464" y="2029968"/>
            <a:ext cx="3240024" cy="1487423"/>
          </a:xfrm>
          <a:prstGeom prst="rect">
            <a:avLst/>
          </a:prstGeom>
          <a:noFill/>
          <a:ln/>
        </p:spPr>
        <p:txBody>
          <a:bodyPr wrap="square" lIns="0" tIns="0" rIns="0" bIns="0" rtlCol="0" anchor="t">
            <a:noAutofit/>
          </a:bodyPr>
          <a:lstStyle/>
          <a:p>
            <a:pPr marL="0" indent="0">
              <a:lnSpc>
                <a:spcPct val="100000"/>
              </a:lnSpc>
              <a:spcBef>
                <a:spcPts val="0"/>
              </a:spcBef>
              <a:spcAft>
                <a:spcPts val="0"/>
              </a:spcAft>
              <a:buNone/>
            </a:pPr>
            <a:r>
              <a:rPr lang="en-US" sz="1600" dirty="0">
                <a:solidFill>
                  <a:srgbClr val="000000"/>
                </a:solidFill>
                <a:latin typeface="Aptos" pitchFamily="34" charset="0"/>
                <a:ea typeface="Aptos" pitchFamily="34" charset="-122"/>
                <a:cs typeface="Aptos" pitchFamily="34" charset="-120"/>
              </a:rPr>
              <a:t>A preferred feature or appearance that may be useful, but is not always necessary. Example: colorful dashboard animations.</a:t>
            </a:r>
            <a:endParaRPr lang="en-US" sz="1600" dirty="0">
              <a:solidFill>
                <a:srgbClr val="000000"/>
              </a:solidFill>
            </a:endParaRPr>
          </a:p>
        </p:txBody>
      </p:sp>
      <p:sp>
        <p:nvSpPr>
          <p:cNvPr id="19" name="Shape 17"/>
          <p:cNvSpPr/>
          <p:nvPr/>
        </p:nvSpPr>
        <p:spPr>
          <a:xfrm>
            <a:off x="8171688" y="1432560"/>
            <a:ext cx="3605784" cy="2212848"/>
          </a:xfrm>
          <a:prstGeom prst="rect">
            <a:avLst/>
          </a:prstGeom>
          <a:solidFill>
            <a:srgbClr val="FFFFFF"/>
          </a:solidFill>
          <a:ln w="12700">
            <a:solidFill>
              <a:srgbClr val="E6DCDC">
                <a:alpha val="95000"/>
              </a:srgbClr>
            </a:solidFill>
            <a:prstDash val="solid"/>
          </a:ln>
        </p:spPr>
        <p:txBody>
          <a:bodyPr/>
          <a:lstStyle/>
          <a:p>
            <a:endParaRPr/>
          </a:p>
        </p:txBody>
      </p:sp>
      <p:sp>
        <p:nvSpPr>
          <p:cNvPr id="20" name="Shape 18"/>
          <p:cNvSpPr/>
          <p:nvPr/>
        </p:nvSpPr>
        <p:spPr>
          <a:xfrm>
            <a:off x="8354568" y="1588008"/>
            <a:ext cx="292608" cy="292608"/>
          </a:xfrm>
          <a:prstGeom prst="ellipse">
            <a:avLst/>
          </a:prstGeom>
          <a:solidFill>
            <a:srgbClr val="B4001B"/>
          </a:solidFill>
          <a:ln w="12700">
            <a:solidFill>
              <a:srgbClr val="B4001B"/>
            </a:solidFill>
            <a:prstDash val="solid"/>
          </a:ln>
        </p:spPr>
        <p:txBody>
          <a:bodyPr/>
          <a:lstStyle/>
          <a:p>
            <a:endParaRPr/>
          </a:p>
        </p:txBody>
      </p:sp>
      <p:sp>
        <p:nvSpPr>
          <p:cNvPr id="21" name="Text 19"/>
          <p:cNvSpPr/>
          <p:nvPr/>
        </p:nvSpPr>
        <p:spPr>
          <a:xfrm>
            <a:off x="8354568" y="1588008"/>
            <a:ext cx="292608" cy="292608"/>
          </a:xfrm>
          <a:prstGeom prst="rect">
            <a:avLst/>
          </a:prstGeom>
          <a:noFill/>
          <a:ln/>
        </p:spPr>
        <p:txBody>
          <a:bodyPr wrap="non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3</a:t>
            </a:r>
            <a:endParaRPr lang="en-US" sz="1100" b="1" dirty="0"/>
          </a:p>
        </p:txBody>
      </p:sp>
      <p:sp>
        <p:nvSpPr>
          <p:cNvPr id="22" name="Text 20"/>
          <p:cNvSpPr/>
          <p:nvPr/>
        </p:nvSpPr>
        <p:spPr>
          <a:xfrm>
            <a:off x="8756904" y="1578864"/>
            <a:ext cx="2892552" cy="323088"/>
          </a:xfrm>
          <a:prstGeom prst="rect">
            <a:avLst/>
          </a:prstGeom>
          <a:noFill/>
          <a:ln/>
        </p:spPr>
        <p:txBody>
          <a:bodyPr wrap="square" lIns="0" tIns="0" rIns="0" bIns="0" rtlCol="0" anchor="t">
            <a:noAutofit/>
          </a:bodyPr>
          <a:lstStyle/>
          <a:p>
            <a:pPr marL="0" indent="0" algn="l">
              <a:lnSpc>
                <a:spcPct val="100000"/>
              </a:lnSpc>
              <a:buNone/>
            </a:pPr>
            <a:r>
              <a:rPr lang="en-US" sz="2000" b="1" i="1" dirty="0">
                <a:solidFill>
                  <a:srgbClr val="111111"/>
                </a:solidFill>
                <a:latin typeface="Georgia"/>
                <a:ea typeface="Georgia"/>
                <a:cs typeface="Georgia"/>
              </a:rPr>
              <a:t>Constraint</a:t>
            </a:r>
          </a:p>
        </p:txBody>
      </p:sp>
      <p:sp>
        <p:nvSpPr>
          <p:cNvPr id="23" name="Text 21"/>
          <p:cNvSpPr/>
          <p:nvPr/>
        </p:nvSpPr>
        <p:spPr>
          <a:xfrm>
            <a:off x="8354568" y="2029968"/>
            <a:ext cx="3240024" cy="1487423"/>
          </a:xfrm>
          <a:prstGeom prst="rect">
            <a:avLst/>
          </a:prstGeom>
          <a:noFill/>
          <a:ln/>
        </p:spPr>
        <p:txBody>
          <a:bodyPr wrap="square" lIns="0" tIns="0" rIns="0" bIns="0" rtlCol="0" anchor="t">
            <a:noAutofit/>
          </a:bodyPr>
          <a:lstStyle/>
          <a:p>
            <a:pPr marL="0" indent="0">
              <a:lnSpc>
                <a:spcPct val="100000"/>
              </a:lnSpc>
              <a:spcBef>
                <a:spcPts val="0"/>
              </a:spcBef>
              <a:spcAft>
                <a:spcPts val="0"/>
              </a:spcAft>
              <a:buNone/>
            </a:pPr>
            <a:r>
              <a:rPr lang="en-US" sz="1600" dirty="0">
                <a:solidFill>
                  <a:srgbClr val="000000"/>
                </a:solidFill>
                <a:latin typeface="Aptos" pitchFamily="34" charset="0"/>
                <a:ea typeface="Aptos" pitchFamily="34" charset="-122"/>
                <a:cs typeface="Aptos" pitchFamily="34" charset="-120"/>
              </a:rPr>
              <a:t>A condition that limits the solution: budget, law, security, time, policy, staffing, device access, or data quality.</a:t>
            </a:r>
            <a:endParaRPr lang="en-US" sz="1600" dirty="0">
              <a:solidFill>
                <a:srgbClr val="000000"/>
              </a:solidFill>
            </a:endParaRPr>
          </a:p>
        </p:txBody>
      </p:sp>
      <p:sp>
        <p:nvSpPr>
          <p:cNvPr id="24" name="Shape 22"/>
          <p:cNvSpPr/>
          <p:nvPr/>
        </p:nvSpPr>
        <p:spPr>
          <a:xfrm>
            <a:off x="411480" y="3956303"/>
            <a:ext cx="2024481" cy="1024128"/>
          </a:xfrm>
          <a:prstGeom prst="rect">
            <a:avLst/>
          </a:prstGeom>
          <a:solidFill>
            <a:srgbClr val="FFFFFF"/>
          </a:solidFill>
          <a:ln w="12700">
            <a:solidFill>
              <a:srgbClr val="E6DCDC">
                <a:alpha val="95000"/>
              </a:srgbClr>
            </a:solidFill>
            <a:prstDash val="solid"/>
          </a:ln>
        </p:spPr>
        <p:txBody>
          <a:bodyPr/>
          <a:lstStyle/>
          <a:p>
            <a:endParaRPr/>
          </a:p>
        </p:txBody>
      </p:sp>
      <p:sp>
        <p:nvSpPr>
          <p:cNvPr id="25" name="Text 23"/>
          <p:cNvSpPr/>
          <p:nvPr/>
        </p:nvSpPr>
        <p:spPr>
          <a:xfrm>
            <a:off x="521208" y="4047743"/>
            <a:ext cx="1859889" cy="292608"/>
          </a:xfrm>
          <a:prstGeom prst="rect">
            <a:avLst/>
          </a:prstGeom>
          <a:noFill/>
          <a:ln/>
        </p:spPr>
        <p:txBody>
          <a:bodyPr wrap="square" lIns="0" tIns="0" rIns="0" bIns="0" rtlCol="0" anchor="t">
            <a:noAutofit/>
          </a:bodyPr>
          <a:lstStyle/>
          <a:p>
            <a:pPr marL="0" indent="0">
              <a:buNone/>
            </a:pPr>
            <a:r>
              <a:rPr lang="en-US" sz="1800" b="1" i="1" dirty="0">
                <a:solidFill>
                  <a:srgbClr val="111111"/>
                </a:solidFill>
                <a:latin typeface="Georgia"/>
                <a:ea typeface="Georgia"/>
                <a:cs typeface="Georgia"/>
              </a:rPr>
              <a:t>User Request</a:t>
            </a:r>
          </a:p>
        </p:txBody>
      </p:sp>
      <p:sp>
        <p:nvSpPr>
          <p:cNvPr id="26" name="Text 24"/>
          <p:cNvSpPr/>
          <p:nvPr/>
        </p:nvSpPr>
        <p:spPr>
          <a:xfrm>
            <a:off x="521208" y="4395216"/>
            <a:ext cx="1841601" cy="512064"/>
          </a:xfrm>
          <a:prstGeom prst="rect">
            <a:avLst/>
          </a:prstGeom>
          <a:noFill/>
          <a:ln/>
        </p:spPr>
        <p:txBody>
          <a:bodyPr wrap="square" lIns="0" tIns="0" rIns="0" bIns="0" rtlCol="0" anchor="t">
            <a:noAutofit/>
          </a:bodyPr>
          <a:lstStyle/>
          <a:p>
            <a:pPr marL="0" indent="0">
              <a:buNone/>
            </a:pPr>
            <a:r>
              <a:rPr lang="en-US" sz="1400" dirty="0">
                <a:solidFill>
                  <a:srgbClr val="000000"/>
                </a:solidFill>
                <a:latin typeface="Aptos" pitchFamily="34" charset="0"/>
                <a:ea typeface="Aptos" pitchFamily="34" charset="-122"/>
                <a:cs typeface="Aptos" pitchFamily="34" charset="-120"/>
              </a:rPr>
              <a:t>Problem or improvement request</a:t>
            </a:r>
            <a:endParaRPr lang="en-US" sz="1400" dirty="0">
              <a:solidFill>
                <a:srgbClr val="000000"/>
              </a:solidFill>
            </a:endParaRPr>
          </a:p>
        </p:txBody>
      </p:sp>
      <p:sp>
        <p:nvSpPr>
          <p:cNvPr id="27" name="Shape 25"/>
          <p:cNvSpPr/>
          <p:nvPr/>
        </p:nvSpPr>
        <p:spPr>
          <a:xfrm>
            <a:off x="2481681" y="4468368"/>
            <a:ext cx="219456" cy="0"/>
          </a:xfrm>
          <a:prstGeom prst="line">
            <a:avLst/>
          </a:prstGeom>
          <a:noFill/>
          <a:ln w="13970">
            <a:solidFill>
              <a:srgbClr val="B4001B"/>
            </a:solidFill>
            <a:prstDash val="solid"/>
            <a:headEnd type="none"/>
            <a:tailEnd type="triangle"/>
          </a:ln>
        </p:spPr>
        <p:txBody>
          <a:bodyPr/>
          <a:lstStyle/>
          <a:p>
            <a:endParaRPr/>
          </a:p>
        </p:txBody>
      </p:sp>
      <p:sp>
        <p:nvSpPr>
          <p:cNvPr id="28" name="Shape 26"/>
          <p:cNvSpPr/>
          <p:nvPr/>
        </p:nvSpPr>
        <p:spPr>
          <a:xfrm>
            <a:off x="2746857" y="3956303"/>
            <a:ext cx="2024481" cy="1024128"/>
          </a:xfrm>
          <a:prstGeom prst="rect">
            <a:avLst/>
          </a:prstGeom>
          <a:solidFill>
            <a:srgbClr val="FFFFFF"/>
          </a:solidFill>
          <a:ln w="12700">
            <a:solidFill>
              <a:srgbClr val="E6DCDC">
                <a:alpha val="95000"/>
              </a:srgbClr>
            </a:solidFill>
            <a:prstDash val="solid"/>
          </a:ln>
        </p:spPr>
        <p:txBody>
          <a:bodyPr/>
          <a:lstStyle/>
          <a:p>
            <a:endParaRPr/>
          </a:p>
        </p:txBody>
      </p:sp>
      <p:sp>
        <p:nvSpPr>
          <p:cNvPr id="29" name="Text 27"/>
          <p:cNvSpPr/>
          <p:nvPr/>
        </p:nvSpPr>
        <p:spPr>
          <a:xfrm>
            <a:off x="2856585" y="4047743"/>
            <a:ext cx="1859889" cy="292608"/>
          </a:xfrm>
          <a:prstGeom prst="rect">
            <a:avLst/>
          </a:prstGeom>
          <a:noFill/>
          <a:ln/>
        </p:spPr>
        <p:txBody>
          <a:bodyPr wrap="square" lIns="0" tIns="0" rIns="0" bIns="0" rtlCol="0" anchor="t">
            <a:noAutofit/>
          </a:bodyPr>
          <a:lstStyle/>
          <a:p>
            <a:pPr marL="0" indent="0">
              <a:buNone/>
            </a:pPr>
            <a:r>
              <a:rPr lang="en-US" sz="1800" b="1" i="1" dirty="0">
                <a:solidFill>
                  <a:srgbClr val="111111"/>
                </a:solidFill>
                <a:latin typeface="Georgia"/>
                <a:ea typeface="Georgia"/>
                <a:cs typeface="Georgia"/>
              </a:rPr>
              <a:t>Fact Finding</a:t>
            </a:r>
          </a:p>
        </p:txBody>
      </p:sp>
      <p:sp>
        <p:nvSpPr>
          <p:cNvPr id="30" name="Text 28"/>
          <p:cNvSpPr/>
          <p:nvPr/>
        </p:nvSpPr>
        <p:spPr>
          <a:xfrm>
            <a:off x="2856585" y="4395216"/>
            <a:ext cx="1841601" cy="512064"/>
          </a:xfrm>
          <a:prstGeom prst="rect">
            <a:avLst/>
          </a:prstGeom>
          <a:noFill/>
          <a:ln/>
        </p:spPr>
        <p:txBody>
          <a:bodyPr wrap="square" lIns="0" tIns="0" rIns="0" bIns="0" rtlCol="0" anchor="t">
            <a:noAutofit/>
          </a:bodyPr>
          <a:lstStyle/>
          <a:p>
            <a:pPr marL="0" indent="0">
              <a:buNone/>
            </a:pPr>
            <a:r>
              <a:rPr lang="en-US" sz="1400" dirty="0">
                <a:solidFill>
                  <a:srgbClr val="000000"/>
                </a:solidFill>
                <a:latin typeface="Aptos" pitchFamily="34" charset="0"/>
                <a:ea typeface="Aptos" pitchFamily="34" charset="-122"/>
                <a:cs typeface="Aptos" pitchFamily="34" charset="-120"/>
              </a:rPr>
              <a:t>Collect evidence</a:t>
            </a:r>
            <a:endParaRPr lang="en-US" sz="1400" dirty="0">
              <a:solidFill>
                <a:srgbClr val="000000"/>
              </a:solidFill>
            </a:endParaRPr>
          </a:p>
        </p:txBody>
      </p:sp>
      <p:sp>
        <p:nvSpPr>
          <p:cNvPr id="31" name="Shape 29"/>
          <p:cNvSpPr/>
          <p:nvPr/>
        </p:nvSpPr>
        <p:spPr>
          <a:xfrm>
            <a:off x="4817059" y="4468368"/>
            <a:ext cx="219456" cy="0"/>
          </a:xfrm>
          <a:prstGeom prst="line">
            <a:avLst/>
          </a:prstGeom>
          <a:noFill/>
          <a:ln w="13970">
            <a:solidFill>
              <a:srgbClr val="B4001B"/>
            </a:solidFill>
            <a:prstDash val="solid"/>
            <a:headEnd type="none"/>
            <a:tailEnd type="triangle"/>
          </a:ln>
        </p:spPr>
        <p:txBody>
          <a:bodyPr/>
          <a:lstStyle/>
          <a:p>
            <a:endParaRPr/>
          </a:p>
        </p:txBody>
      </p:sp>
      <p:sp>
        <p:nvSpPr>
          <p:cNvPr id="32" name="Shape 30"/>
          <p:cNvSpPr/>
          <p:nvPr/>
        </p:nvSpPr>
        <p:spPr>
          <a:xfrm>
            <a:off x="5082235" y="3956303"/>
            <a:ext cx="2024481" cy="1024128"/>
          </a:xfrm>
          <a:prstGeom prst="rect">
            <a:avLst/>
          </a:prstGeom>
          <a:solidFill>
            <a:srgbClr val="FFFFFF"/>
          </a:solidFill>
          <a:ln w="12700">
            <a:solidFill>
              <a:srgbClr val="E6DCDC">
                <a:alpha val="95000"/>
              </a:srgbClr>
            </a:solidFill>
            <a:prstDash val="solid"/>
          </a:ln>
        </p:spPr>
        <p:txBody>
          <a:bodyPr/>
          <a:lstStyle/>
          <a:p>
            <a:endParaRPr/>
          </a:p>
        </p:txBody>
      </p:sp>
      <p:sp>
        <p:nvSpPr>
          <p:cNvPr id="33" name="Text 31"/>
          <p:cNvSpPr/>
          <p:nvPr/>
        </p:nvSpPr>
        <p:spPr>
          <a:xfrm>
            <a:off x="5191963" y="4047743"/>
            <a:ext cx="1859889" cy="292608"/>
          </a:xfrm>
          <a:prstGeom prst="rect">
            <a:avLst/>
          </a:prstGeom>
          <a:noFill/>
          <a:ln/>
        </p:spPr>
        <p:txBody>
          <a:bodyPr wrap="square" lIns="0" tIns="0" rIns="0" bIns="0" rtlCol="0" anchor="t">
            <a:noAutofit/>
          </a:bodyPr>
          <a:lstStyle/>
          <a:p>
            <a:pPr marL="0" indent="0">
              <a:buNone/>
            </a:pPr>
            <a:r>
              <a:rPr lang="en-US" sz="1800" b="1" i="1" dirty="0">
                <a:solidFill>
                  <a:srgbClr val="111111"/>
                </a:solidFill>
                <a:latin typeface="Georgia"/>
                <a:ea typeface="Georgia"/>
                <a:cs typeface="Georgia"/>
              </a:rPr>
              <a:t>Interpretation</a:t>
            </a:r>
          </a:p>
        </p:txBody>
      </p:sp>
      <p:sp>
        <p:nvSpPr>
          <p:cNvPr id="34" name="Text 32"/>
          <p:cNvSpPr/>
          <p:nvPr/>
        </p:nvSpPr>
        <p:spPr>
          <a:xfrm>
            <a:off x="5191963" y="4395216"/>
            <a:ext cx="1841601" cy="512064"/>
          </a:xfrm>
          <a:prstGeom prst="rect">
            <a:avLst/>
          </a:prstGeom>
          <a:noFill/>
          <a:ln/>
        </p:spPr>
        <p:txBody>
          <a:bodyPr wrap="square" lIns="0" tIns="0" rIns="0" bIns="0" rtlCol="0" anchor="t">
            <a:noAutofit/>
          </a:bodyPr>
          <a:lstStyle/>
          <a:p>
            <a:pPr marL="0" indent="0">
              <a:buNone/>
            </a:pPr>
            <a:r>
              <a:rPr lang="en-US" sz="1400" dirty="0">
                <a:solidFill>
                  <a:srgbClr val="000000"/>
                </a:solidFill>
                <a:latin typeface="Aptos" pitchFamily="34" charset="0"/>
                <a:ea typeface="Aptos" pitchFamily="34" charset="-122"/>
                <a:cs typeface="Aptos" pitchFamily="34" charset="-120"/>
              </a:rPr>
              <a:t>Find underlying need</a:t>
            </a:r>
            <a:endParaRPr lang="en-US" sz="1400" dirty="0">
              <a:solidFill>
                <a:srgbClr val="000000"/>
              </a:solidFill>
            </a:endParaRPr>
          </a:p>
        </p:txBody>
      </p:sp>
      <p:sp>
        <p:nvSpPr>
          <p:cNvPr id="35" name="Shape 33"/>
          <p:cNvSpPr/>
          <p:nvPr/>
        </p:nvSpPr>
        <p:spPr>
          <a:xfrm>
            <a:off x="7152436" y="4468368"/>
            <a:ext cx="219456" cy="0"/>
          </a:xfrm>
          <a:prstGeom prst="line">
            <a:avLst/>
          </a:prstGeom>
          <a:noFill/>
          <a:ln w="13970">
            <a:solidFill>
              <a:srgbClr val="B4001B"/>
            </a:solidFill>
            <a:prstDash val="solid"/>
            <a:headEnd type="none"/>
            <a:tailEnd type="triangle"/>
          </a:ln>
        </p:spPr>
        <p:txBody>
          <a:bodyPr/>
          <a:lstStyle/>
          <a:p>
            <a:endParaRPr/>
          </a:p>
        </p:txBody>
      </p:sp>
      <p:sp>
        <p:nvSpPr>
          <p:cNvPr id="36" name="Shape 34"/>
          <p:cNvSpPr/>
          <p:nvPr/>
        </p:nvSpPr>
        <p:spPr>
          <a:xfrm>
            <a:off x="7417612" y="3956303"/>
            <a:ext cx="2024481" cy="1024128"/>
          </a:xfrm>
          <a:prstGeom prst="rect">
            <a:avLst/>
          </a:prstGeom>
          <a:solidFill>
            <a:srgbClr val="FFFFFF"/>
          </a:solidFill>
          <a:ln w="12700">
            <a:solidFill>
              <a:srgbClr val="E6DCDC">
                <a:alpha val="95000"/>
              </a:srgbClr>
            </a:solidFill>
            <a:prstDash val="solid"/>
          </a:ln>
        </p:spPr>
        <p:txBody>
          <a:bodyPr/>
          <a:lstStyle/>
          <a:p>
            <a:endParaRPr/>
          </a:p>
        </p:txBody>
      </p:sp>
      <p:sp>
        <p:nvSpPr>
          <p:cNvPr id="37" name="Text 35"/>
          <p:cNvSpPr/>
          <p:nvPr/>
        </p:nvSpPr>
        <p:spPr>
          <a:xfrm>
            <a:off x="7527340" y="4047743"/>
            <a:ext cx="1859889" cy="292608"/>
          </a:xfrm>
          <a:prstGeom prst="rect">
            <a:avLst/>
          </a:prstGeom>
          <a:noFill/>
          <a:ln/>
        </p:spPr>
        <p:txBody>
          <a:bodyPr wrap="square" lIns="0" tIns="0" rIns="0" bIns="0" rtlCol="0" anchor="t">
            <a:noAutofit/>
          </a:bodyPr>
          <a:lstStyle/>
          <a:p>
            <a:pPr marL="0" indent="0">
              <a:buNone/>
            </a:pPr>
            <a:r>
              <a:rPr lang="en-US" sz="1800" b="1" i="1" dirty="0">
                <a:solidFill>
                  <a:srgbClr val="111111"/>
                </a:solidFill>
                <a:latin typeface="Georgia"/>
                <a:ea typeface="Georgia"/>
                <a:cs typeface="Georgia"/>
              </a:rPr>
              <a:t>Requirement</a:t>
            </a:r>
          </a:p>
        </p:txBody>
      </p:sp>
      <p:sp>
        <p:nvSpPr>
          <p:cNvPr id="38" name="Text 36"/>
          <p:cNvSpPr/>
          <p:nvPr/>
        </p:nvSpPr>
        <p:spPr>
          <a:xfrm>
            <a:off x="7527340" y="4395216"/>
            <a:ext cx="1841601" cy="512064"/>
          </a:xfrm>
          <a:prstGeom prst="rect">
            <a:avLst/>
          </a:prstGeom>
          <a:noFill/>
          <a:ln/>
        </p:spPr>
        <p:txBody>
          <a:bodyPr wrap="square" lIns="0" tIns="0" rIns="0" bIns="0" rtlCol="0" anchor="t">
            <a:noAutofit/>
          </a:bodyPr>
          <a:lstStyle/>
          <a:p>
            <a:pPr marL="0" indent="0">
              <a:buNone/>
            </a:pPr>
            <a:r>
              <a:rPr lang="en-US" sz="1400" dirty="0">
                <a:solidFill>
                  <a:srgbClr val="000000"/>
                </a:solidFill>
                <a:latin typeface="Aptos" pitchFamily="34" charset="0"/>
                <a:ea typeface="Aptos" pitchFamily="34" charset="-122"/>
                <a:cs typeface="Aptos" pitchFamily="34" charset="-120"/>
              </a:rPr>
              <a:t>Write testable statement</a:t>
            </a:r>
            <a:endParaRPr lang="en-US" sz="1400" dirty="0">
              <a:solidFill>
                <a:srgbClr val="000000"/>
              </a:solidFill>
            </a:endParaRPr>
          </a:p>
        </p:txBody>
      </p:sp>
      <p:sp>
        <p:nvSpPr>
          <p:cNvPr id="39" name="Shape 37"/>
          <p:cNvSpPr/>
          <p:nvPr/>
        </p:nvSpPr>
        <p:spPr>
          <a:xfrm>
            <a:off x="9487814" y="4468368"/>
            <a:ext cx="219455" cy="0"/>
          </a:xfrm>
          <a:prstGeom prst="line">
            <a:avLst/>
          </a:prstGeom>
          <a:noFill/>
          <a:ln w="13970">
            <a:solidFill>
              <a:srgbClr val="B4001B"/>
            </a:solidFill>
            <a:prstDash val="solid"/>
            <a:headEnd type="none"/>
            <a:tailEnd type="triangle"/>
          </a:ln>
        </p:spPr>
        <p:txBody>
          <a:bodyPr/>
          <a:lstStyle/>
          <a:p>
            <a:endParaRPr/>
          </a:p>
        </p:txBody>
      </p:sp>
      <p:sp>
        <p:nvSpPr>
          <p:cNvPr id="40" name="Shape 38"/>
          <p:cNvSpPr/>
          <p:nvPr/>
        </p:nvSpPr>
        <p:spPr>
          <a:xfrm>
            <a:off x="9752990" y="3956303"/>
            <a:ext cx="2024481" cy="1024128"/>
          </a:xfrm>
          <a:prstGeom prst="rect">
            <a:avLst/>
          </a:prstGeom>
          <a:solidFill>
            <a:srgbClr val="FFF5F6"/>
          </a:solidFill>
          <a:ln w="12700">
            <a:solidFill>
              <a:srgbClr val="E6DCDC">
                <a:alpha val="95000"/>
              </a:srgbClr>
            </a:solidFill>
            <a:prstDash val="solid"/>
          </a:ln>
        </p:spPr>
        <p:txBody>
          <a:bodyPr/>
          <a:lstStyle/>
          <a:p>
            <a:endParaRPr/>
          </a:p>
        </p:txBody>
      </p:sp>
      <p:sp>
        <p:nvSpPr>
          <p:cNvPr id="41" name="Text 39"/>
          <p:cNvSpPr/>
          <p:nvPr/>
        </p:nvSpPr>
        <p:spPr>
          <a:xfrm>
            <a:off x="9862718" y="4047743"/>
            <a:ext cx="1859889" cy="292608"/>
          </a:xfrm>
          <a:prstGeom prst="rect">
            <a:avLst/>
          </a:prstGeom>
          <a:noFill/>
          <a:ln/>
        </p:spPr>
        <p:txBody>
          <a:bodyPr wrap="square" lIns="0" tIns="0" rIns="0" bIns="0" rtlCol="0" anchor="t">
            <a:noAutofit/>
          </a:bodyPr>
          <a:lstStyle/>
          <a:p>
            <a:pPr marL="0" indent="0">
              <a:buNone/>
            </a:pPr>
            <a:r>
              <a:rPr lang="en-US" sz="1800" b="1" i="1" dirty="0">
                <a:solidFill>
                  <a:srgbClr val="111111"/>
                </a:solidFill>
                <a:latin typeface="Georgia"/>
                <a:ea typeface="Georgia"/>
                <a:cs typeface="Georgia"/>
              </a:rPr>
              <a:t>SRS</a:t>
            </a:r>
          </a:p>
        </p:txBody>
      </p:sp>
      <p:sp>
        <p:nvSpPr>
          <p:cNvPr id="42" name="Text 40"/>
          <p:cNvSpPr/>
          <p:nvPr/>
        </p:nvSpPr>
        <p:spPr>
          <a:xfrm>
            <a:off x="9862718" y="4395216"/>
            <a:ext cx="1841601" cy="512064"/>
          </a:xfrm>
          <a:prstGeom prst="rect">
            <a:avLst/>
          </a:prstGeom>
          <a:noFill/>
          <a:ln/>
        </p:spPr>
        <p:txBody>
          <a:bodyPr wrap="square" lIns="0" tIns="0" rIns="0" bIns="0" rtlCol="0" anchor="t">
            <a:noAutofit/>
          </a:bodyPr>
          <a:lstStyle/>
          <a:p>
            <a:pPr marL="0" indent="0">
              <a:buNone/>
            </a:pPr>
            <a:r>
              <a:rPr lang="en-US" sz="1400" dirty="0">
                <a:solidFill>
                  <a:srgbClr val="000000"/>
                </a:solidFill>
                <a:latin typeface="Aptos" pitchFamily="34" charset="0"/>
                <a:ea typeface="Aptos" pitchFamily="34" charset="-122"/>
                <a:cs typeface="Aptos" pitchFamily="34" charset="-120"/>
              </a:rPr>
              <a:t>Formal document</a:t>
            </a:r>
            <a:endParaRPr lang="en-US" sz="1400" dirty="0">
              <a:solidFill>
                <a:srgbClr val="000000"/>
              </a:solidFill>
            </a:endParaRPr>
          </a:p>
        </p:txBody>
      </p:sp>
      <p:sp>
        <p:nvSpPr>
          <p:cNvPr id="43" name="Shape 41"/>
          <p:cNvSpPr/>
          <p:nvPr/>
        </p:nvSpPr>
        <p:spPr>
          <a:xfrm>
            <a:off x="411480" y="5309616"/>
            <a:ext cx="11365992" cy="512064"/>
          </a:xfrm>
          <a:prstGeom prst="rect">
            <a:avLst/>
          </a:prstGeom>
          <a:solidFill>
            <a:srgbClr val="B4001B"/>
          </a:solidFill>
          <a:ln w="12700">
            <a:solidFill>
              <a:srgbClr val="B4001B"/>
            </a:solidFill>
            <a:prstDash val="solid"/>
          </a:ln>
        </p:spPr>
        <p:txBody>
          <a:bodyPr/>
          <a:lstStyle/>
          <a:p>
            <a:endParaRPr/>
          </a:p>
        </p:txBody>
      </p:sp>
      <p:sp>
        <p:nvSpPr>
          <p:cNvPr id="44" name="Text 42"/>
          <p:cNvSpPr/>
          <p:nvPr/>
        </p:nvSpPr>
        <p:spPr>
          <a:xfrm>
            <a:off x="594360" y="5309616"/>
            <a:ext cx="11000232" cy="512064"/>
          </a:xfrm>
          <a:prstGeom prst="rect">
            <a:avLst/>
          </a:prstGeom>
          <a:noFill/>
          <a:ln/>
        </p:spPr>
        <p:txBody>
          <a:bodyPr wrap="square" lIns="0" tIns="0" rIns="0" bIns="0" rtlCol="0" anchor="ctr">
            <a:noAutofit/>
          </a:bodyPr>
          <a:lstStyle/>
          <a:p>
            <a:pPr marL="0" indent="0">
              <a:lnSpc>
                <a:spcPct val="100000"/>
              </a:lnSpc>
              <a:buNone/>
            </a:pPr>
            <a:r>
              <a:rPr lang="en-US" sz="1600" b="1" i="1" dirty="0">
                <a:solidFill>
                  <a:srgbClr val="FFFFFF"/>
                </a:solidFill>
                <a:latin typeface="Georgia"/>
                <a:ea typeface="Georgia"/>
                <a:cs typeface="Georgia"/>
              </a:rPr>
              <a:t>Findings are evidence; requirements are carefully interpreted commitments for the future system.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55448"/>
            <a:ext cx="5486400" cy="201168"/>
          </a:xfrm>
          <a:prstGeom prst="rect">
            <a:avLst/>
          </a:prstGeom>
          <a:noFill/>
          <a:ln/>
        </p:spPr>
        <p:txBody>
          <a:bodyPr wrap="square" lIns="0" tIns="0" rIns="0" bIns="0" rtlCol="0" anchor="ctr">
            <a:noAutofit/>
          </a:bodyPr>
          <a:lstStyle/>
          <a:p>
            <a:pPr marL="0" indent="0">
              <a:buNone/>
            </a:pPr>
            <a:r>
              <a:rPr lang="en-US" sz="1100" b="1" dirty="0">
                <a:solidFill>
                  <a:srgbClr val="B4001B"/>
                </a:solidFill>
                <a:latin typeface="Aptos" pitchFamily="34" charset="0"/>
                <a:ea typeface="Aptos" pitchFamily="34" charset="-122"/>
                <a:cs typeface="Aptos" pitchFamily="34" charset="-120"/>
              </a:rPr>
              <a:t>NEEDFINDING</a:t>
            </a:r>
            <a:endParaRPr lang="en-US" sz="1100" b="1" dirty="0"/>
          </a:p>
        </p:txBody>
      </p:sp>
      <p:sp>
        <p:nvSpPr>
          <p:cNvPr id="3" name="Text 1"/>
          <p:cNvSpPr/>
          <p:nvPr/>
        </p:nvSpPr>
        <p:spPr>
          <a:xfrm>
            <a:off x="411480" y="365760"/>
            <a:ext cx="11365992" cy="512064"/>
          </a:xfrm>
          <a:prstGeom prst="rect">
            <a:avLst/>
          </a:prstGeom>
          <a:noFill/>
          <a:ln/>
        </p:spPr>
        <p:txBody>
          <a:bodyPr wrap="square" lIns="0" tIns="0" rIns="0" bIns="0" rtlCol="0" anchor="ctr">
            <a:noAutofit/>
          </a:bodyPr>
          <a:lstStyle/>
          <a:p>
            <a:pPr marL="0" indent="0" algn="l">
              <a:buNone/>
            </a:pPr>
            <a:r>
              <a:rPr lang="en-US" sz="3200" b="1" i="1" dirty="0">
                <a:solidFill>
                  <a:srgbClr val="111111"/>
                </a:solidFill>
                <a:latin typeface="Georgia"/>
                <a:ea typeface="Georgia"/>
                <a:cs typeface="Georgia"/>
              </a:rPr>
              <a:t>Findings Are Not Requirements</a:t>
            </a:r>
          </a:p>
        </p:txBody>
      </p:sp>
      <p:sp>
        <p:nvSpPr>
          <p:cNvPr id="4" name="Text 2"/>
          <p:cNvSpPr/>
          <p:nvPr/>
        </p:nvSpPr>
        <p:spPr>
          <a:xfrm>
            <a:off x="411480" y="932688"/>
            <a:ext cx="11365992" cy="280416"/>
          </a:xfrm>
          <a:prstGeom prst="rect">
            <a:avLst/>
          </a:prstGeom>
          <a:noFill/>
          <a:ln/>
        </p:spPr>
        <p:txBody>
          <a:bodyPr wrap="square" lIns="0" tIns="0" rIns="0" bIns="0" rtlCol="0" anchor="t">
            <a:noAutofit/>
          </a:bodyPr>
          <a:lstStyle/>
          <a:p>
            <a:pPr marL="0" indent="0" algn="l">
              <a:lnSpc>
                <a:spcPct val="100000"/>
              </a:lnSpc>
              <a:buNone/>
            </a:pPr>
            <a:r>
              <a:rPr lang="en-US" sz="1600" b="0" i="1" dirty="0">
                <a:solidFill>
                  <a:srgbClr val="000000"/>
                </a:solidFill>
                <a:latin typeface="Aptos"/>
                <a:ea typeface="Aptos"/>
                <a:cs typeface="Aptos"/>
              </a:rPr>
              <a:t>Qualitative findings must be translated carefully, not copied directly into SRS.</a:t>
            </a:r>
          </a:p>
        </p:txBody>
      </p:sp>
      <p:sp>
        <p:nvSpPr>
          <p:cNvPr id="5" name="Text 3"/>
          <p:cNvSpPr/>
          <p:nvPr/>
        </p:nvSpPr>
        <p:spPr>
          <a:xfrm>
            <a:off x="502920" y="6565392"/>
            <a:ext cx="1280160" cy="109728"/>
          </a:xfrm>
          <a:prstGeom prst="rect">
            <a:avLst/>
          </a:prstGeom>
          <a:noFill/>
          <a:ln/>
        </p:spPr>
        <p:txBody>
          <a:bodyPr wrap="square" rtlCol="0" anchor="ctr"/>
          <a:lstStyle/>
          <a:p>
            <a:pPr marL="0" indent="0">
              <a:buNone/>
            </a:pPr>
            <a:r>
              <a:rPr lang="en-US" sz="790" dirty="0">
                <a:solidFill>
                  <a:srgbClr val="777777"/>
                </a:solidFill>
                <a:latin typeface="Aptos" pitchFamily="34" charset="0"/>
                <a:ea typeface="Aptos" pitchFamily="34" charset="-122"/>
                <a:cs typeface="Aptos" pitchFamily="34" charset="-120"/>
              </a:rPr>
              <a:t>1/28/2026</a:t>
            </a:r>
            <a:endParaRPr lang="en-US" sz="790" dirty="0"/>
          </a:p>
        </p:txBody>
      </p:sp>
      <p:sp>
        <p:nvSpPr>
          <p:cNvPr id="6" name="Text 4"/>
          <p:cNvSpPr/>
          <p:nvPr/>
        </p:nvSpPr>
        <p:spPr>
          <a:xfrm>
            <a:off x="5257800" y="6565392"/>
            <a:ext cx="1645920" cy="109728"/>
          </a:xfrm>
          <a:prstGeom prst="rect">
            <a:avLst/>
          </a:prstGeom>
          <a:noFill/>
          <a:ln/>
        </p:spPr>
        <p:txBody>
          <a:bodyPr wrap="square" rtlCol="0" anchor="ctr"/>
          <a:lstStyle/>
          <a:p>
            <a:pPr marL="0" indent="0" algn="ctr">
              <a:buNone/>
            </a:pPr>
            <a:r>
              <a:rPr lang="en-US" sz="790" dirty="0">
                <a:solidFill>
                  <a:srgbClr val="777777"/>
                </a:solidFill>
                <a:latin typeface="Aptos" pitchFamily="34" charset="0"/>
                <a:ea typeface="Aptos" pitchFamily="34" charset="-122"/>
                <a:cs typeface="Aptos" pitchFamily="34" charset="-120"/>
              </a:rPr>
              <a:t>Md. Manirujjaman</a:t>
            </a:r>
            <a:endParaRPr lang="en-US" sz="790" dirty="0"/>
          </a:p>
        </p:txBody>
      </p:sp>
      <p:sp>
        <p:nvSpPr>
          <p:cNvPr id="7" name="Shape 5"/>
          <p:cNvSpPr/>
          <p:nvPr/>
        </p:nvSpPr>
        <p:spPr>
          <a:xfrm>
            <a:off x="11430000" y="6327648"/>
            <a:ext cx="274320" cy="274320"/>
          </a:xfrm>
          <a:prstGeom prst="ellipse">
            <a:avLst/>
          </a:prstGeom>
          <a:solidFill>
            <a:srgbClr val="B4001B"/>
          </a:solidFill>
          <a:ln w="12700">
            <a:solidFill>
              <a:srgbClr val="B4001B"/>
            </a:solidFill>
            <a:prstDash val="solid"/>
          </a:ln>
        </p:spPr>
        <p:txBody>
          <a:bodyPr wrap="none" lIns="0" tIns="0" rIns="0" bIns="0" anchor="ctr"/>
          <a:lstStyle/>
          <a:p>
            <a:pPr algn="ctr"/>
            <a:fld id="{8A2B6C1E-3F4D-4E5A-9B7C-1D2E3F4A5B6C}" type="slidenum">
              <a:rPr lang="en-US" sz="900" b="1">
                <a:solidFill>
                  <a:srgbClr val="FFFFFF"/>
                </a:solidFill>
                <a:latin typeface="Aptos"/>
              </a:rPr>
              <a:t>4</a:t>
            </a:fld>
            <a:endParaRPr lang="en-US" sz="900" b="1">
              <a:solidFill>
                <a:srgbClr val="FFFFFF"/>
              </a:solidFill>
              <a:latin typeface="Aptos"/>
            </a:endParaRPr>
          </a:p>
        </p:txBody>
      </p:sp>
      <p:sp>
        <p:nvSpPr>
          <p:cNvPr id="9" name="Shape 7"/>
          <p:cNvSpPr/>
          <p:nvPr/>
        </p:nvSpPr>
        <p:spPr>
          <a:xfrm>
            <a:off x="411480" y="1450848"/>
            <a:ext cx="3282244" cy="4748784"/>
          </a:xfrm>
          <a:prstGeom prst="rect">
            <a:avLst/>
          </a:prstGeom>
          <a:solidFill>
            <a:srgbClr val="FFF9F9"/>
          </a:solidFill>
          <a:ln w="12700">
            <a:solidFill>
              <a:srgbClr val="E6DCDC">
                <a:alpha val="95000"/>
              </a:srgbClr>
            </a:solidFill>
            <a:prstDash val="solid"/>
          </a:ln>
        </p:spPr>
        <p:txBody>
          <a:bodyPr/>
          <a:lstStyle/>
          <a:p>
            <a:endParaRPr/>
          </a:p>
        </p:txBody>
      </p:sp>
      <p:sp>
        <p:nvSpPr>
          <p:cNvPr id="10" name="Shape 8"/>
          <p:cNvSpPr/>
          <p:nvPr/>
        </p:nvSpPr>
        <p:spPr>
          <a:xfrm>
            <a:off x="594360" y="1606296"/>
            <a:ext cx="292608" cy="292608"/>
          </a:xfrm>
          <a:prstGeom prst="ellipse">
            <a:avLst/>
          </a:prstGeom>
          <a:solidFill>
            <a:srgbClr val="B4001B"/>
          </a:solidFill>
          <a:ln w="12700">
            <a:solidFill>
              <a:srgbClr val="B4001B"/>
            </a:solidFill>
            <a:prstDash val="solid"/>
          </a:ln>
        </p:spPr>
        <p:txBody>
          <a:bodyPr/>
          <a:lstStyle/>
          <a:p>
            <a:endParaRPr/>
          </a:p>
        </p:txBody>
      </p:sp>
      <p:sp>
        <p:nvSpPr>
          <p:cNvPr id="11" name="Text 9"/>
          <p:cNvSpPr/>
          <p:nvPr/>
        </p:nvSpPr>
        <p:spPr>
          <a:xfrm>
            <a:off x="594360" y="1606296"/>
            <a:ext cx="292608" cy="292608"/>
          </a:xfrm>
          <a:prstGeom prst="rect">
            <a:avLst/>
          </a:prstGeom>
          <a:noFill/>
          <a:ln/>
        </p:spPr>
        <p:txBody>
          <a:bodyPr wrap="non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1</a:t>
            </a:r>
            <a:endParaRPr lang="en-US" sz="1100" b="1" dirty="0"/>
          </a:p>
        </p:txBody>
      </p:sp>
      <p:sp>
        <p:nvSpPr>
          <p:cNvPr id="12" name="Text 10"/>
          <p:cNvSpPr/>
          <p:nvPr/>
        </p:nvSpPr>
        <p:spPr>
          <a:xfrm>
            <a:off x="996695" y="1597152"/>
            <a:ext cx="2569012" cy="323088"/>
          </a:xfrm>
          <a:prstGeom prst="rect">
            <a:avLst/>
          </a:prstGeom>
          <a:noFill/>
          <a:ln/>
        </p:spPr>
        <p:txBody>
          <a:bodyPr wrap="square" lIns="0" tIns="0" rIns="0" bIns="0" rtlCol="0" anchor="t">
            <a:noAutofit/>
          </a:bodyPr>
          <a:lstStyle/>
          <a:p>
            <a:pPr marL="0" indent="0" algn="l">
              <a:lnSpc>
                <a:spcPct val="100000"/>
              </a:lnSpc>
              <a:buNone/>
            </a:pPr>
            <a:r>
              <a:rPr lang="en-US" sz="2000" b="1" i="1" dirty="0">
                <a:solidFill>
                  <a:srgbClr val="111111"/>
                </a:solidFill>
                <a:latin typeface="Georgia"/>
                <a:ea typeface="Georgia"/>
                <a:cs typeface="Georgia"/>
              </a:rPr>
              <a:t>Finding</a:t>
            </a:r>
          </a:p>
        </p:txBody>
      </p:sp>
      <p:sp>
        <p:nvSpPr>
          <p:cNvPr id="13" name="Text 11"/>
          <p:cNvSpPr/>
          <p:nvPr/>
        </p:nvSpPr>
        <p:spPr>
          <a:xfrm>
            <a:off x="594360" y="2048256"/>
            <a:ext cx="2916484" cy="4023360"/>
          </a:xfrm>
          <a:prstGeom prst="rect">
            <a:avLst/>
          </a:prstGeom>
          <a:noFill/>
          <a:ln/>
        </p:spPr>
        <p:txBody>
          <a:bodyPr wrap="square" lIns="0" tIns="0" rIns="0" bIns="0" rtlCol="0" anchor="t">
            <a:noAutofit/>
          </a:bodyPr>
          <a:lstStyle/>
          <a:p>
            <a:pPr marL="0" indent="0">
              <a:lnSpc>
                <a:spcPct val="100000"/>
              </a:lnSpc>
              <a:spcBef>
                <a:spcPts val="0"/>
              </a:spcBef>
              <a:spcAft>
                <a:spcPts val="0"/>
              </a:spcAft>
              <a:buNone/>
            </a:pPr>
            <a:r>
              <a:rPr lang="en-US" sz="1800" dirty="0">
                <a:solidFill>
                  <a:srgbClr val="000000"/>
                </a:solidFill>
                <a:latin typeface="Aptos" pitchFamily="34" charset="0"/>
                <a:ea typeface="Aptos" pitchFamily="34" charset="-122"/>
                <a:cs typeface="Aptos" pitchFamily="34" charset="-120"/>
              </a:rPr>
              <a:t>A user says: “I get lost in the course registration menu.”</a:t>
            </a:r>
            <a:endParaRPr lang="en-US" sz="1800" dirty="0">
              <a:solidFill>
                <a:srgbClr val="000000"/>
              </a:solidFill>
            </a:endParaRPr>
          </a:p>
          <a:p>
            <a:pPr marL="0" indent="0">
              <a:lnSpc>
                <a:spcPct val="100000"/>
              </a:lnSpc>
              <a:spcBef>
                <a:spcPts val="1400"/>
              </a:spcBef>
              <a:spcAft>
                <a:spcPts val="0"/>
              </a:spcAft>
              <a:buNone/>
            </a:pPr>
            <a:r>
              <a:rPr lang="en-US" sz="1800" dirty="0">
                <a:solidFill>
                  <a:srgbClr val="000000"/>
                </a:solidFill>
                <a:latin typeface="Aptos" pitchFamily="34" charset="0"/>
                <a:ea typeface="Aptos" pitchFamily="34" charset="-122"/>
                <a:cs typeface="Aptos" pitchFamily="34" charset="-120"/>
              </a:rPr>
              <a:t>This is evidence about confusion, not yet a final design requirement.</a:t>
            </a:r>
            <a:endParaRPr lang="en-US" sz="1800" dirty="0">
              <a:solidFill>
                <a:srgbClr val="000000"/>
              </a:solidFill>
            </a:endParaRPr>
          </a:p>
        </p:txBody>
      </p:sp>
      <p:sp>
        <p:nvSpPr>
          <p:cNvPr id="14" name="Shape 12"/>
          <p:cNvSpPr/>
          <p:nvPr/>
        </p:nvSpPr>
        <p:spPr>
          <a:xfrm>
            <a:off x="4059484" y="1450848"/>
            <a:ext cx="3282244" cy="4748784"/>
          </a:xfrm>
          <a:prstGeom prst="rect">
            <a:avLst/>
          </a:prstGeom>
          <a:solidFill>
            <a:srgbClr val="FFFFFF"/>
          </a:solidFill>
          <a:ln w="12700">
            <a:solidFill>
              <a:srgbClr val="E6DCDC">
                <a:alpha val="95000"/>
              </a:srgbClr>
            </a:solidFill>
            <a:prstDash val="solid"/>
          </a:ln>
        </p:spPr>
        <p:txBody>
          <a:bodyPr/>
          <a:lstStyle/>
          <a:p>
            <a:endParaRPr/>
          </a:p>
        </p:txBody>
      </p:sp>
      <p:sp>
        <p:nvSpPr>
          <p:cNvPr id="15" name="Shape 13"/>
          <p:cNvSpPr/>
          <p:nvPr/>
        </p:nvSpPr>
        <p:spPr>
          <a:xfrm>
            <a:off x="4242364" y="1606296"/>
            <a:ext cx="292608" cy="292608"/>
          </a:xfrm>
          <a:prstGeom prst="ellipse">
            <a:avLst/>
          </a:prstGeom>
          <a:solidFill>
            <a:srgbClr val="B4001B"/>
          </a:solidFill>
          <a:ln w="12700">
            <a:solidFill>
              <a:srgbClr val="B4001B"/>
            </a:solidFill>
            <a:prstDash val="solid"/>
          </a:ln>
        </p:spPr>
        <p:txBody>
          <a:bodyPr/>
          <a:lstStyle/>
          <a:p>
            <a:endParaRPr/>
          </a:p>
        </p:txBody>
      </p:sp>
      <p:sp>
        <p:nvSpPr>
          <p:cNvPr id="16" name="Text 14"/>
          <p:cNvSpPr/>
          <p:nvPr/>
        </p:nvSpPr>
        <p:spPr>
          <a:xfrm>
            <a:off x="4242364" y="1606296"/>
            <a:ext cx="292608" cy="292608"/>
          </a:xfrm>
          <a:prstGeom prst="rect">
            <a:avLst/>
          </a:prstGeom>
          <a:noFill/>
          <a:ln/>
        </p:spPr>
        <p:txBody>
          <a:bodyPr wrap="non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2</a:t>
            </a:r>
            <a:endParaRPr lang="en-US" sz="1100" b="1" dirty="0"/>
          </a:p>
        </p:txBody>
      </p:sp>
      <p:sp>
        <p:nvSpPr>
          <p:cNvPr id="17" name="Text 15"/>
          <p:cNvSpPr/>
          <p:nvPr/>
        </p:nvSpPr>
        <p:spPr>
          <a:xfrm>
            <a:off x="4644700" y="1597152"/>
            <a:ext cx="2569012" cy="323088"/>
          </a:xfrm>
          <a:prstGeom prst="rect">
            <a:avLst/>
          </a:prstGeom>
          <a:noFill/>
          <a:ln/>
        </p:spPr>
        <p:txBody>
          <a:bodyPr wrap="square" lIns="0" tIns="0" rIns="0" bIns="0" rtlCol="0" anchor="t">
            <a:noAutofit/>
          </a:bodyPr>
          <a:lstStyle/>
          <a:p>
            <a:pPr marL="0" indent="0" algn="l">
              <a:lnSpc>
                <a:spcPct val="100000"/>
              </a:lnSpc>
              <a:buNone/>
            </a:pPr>
            <a:r>
              <a:rPr lang="en-US" sz="2000" b="1" i="1" dirty="0">
                <a:solidFill>
                  <a:srgbClr val="111111"/>
                </a:solidFill>
                <a:latin typeface="Georgia"/>
                <a:ea typeface="Georgia"/>
                <a:cs typeface="Georgia"/>
              </a:rPr>
              <a:t>Underlying Need</a:t>
            </a:r>
          </a:p>
        </p:txBody>
      </p:sp>
      <p:sp>
        <p:nvSpPr>
          <p:cNvPr id="18" name="Text 16"/>
          <p:cNvSpPr/>
          <p:nvPr/>
        </p:nvSpPr>
        <p:spPr>
          <a:xfrm>
            <a:off x="4242364" y="2048256"/>
            <a:ext cx="2916484" cy="4023360"/>
          </a:xfrm>
          <a:prstGeom prst="rect">
            <a:avLst/>
          </a:prstGeom>
          <a:noFill/>
          <a:ln/>
        </p:spPr>
        <p:txBody>
          <a:bodyPr wrap="square" lIns="0" tIns="0" rIns="0" bIns="0" rtlCol="0" anchor="t">
            <a:noAutofit/>
          </a:bodyPr>
          <a:lstStyle/>
          <a:p>
            <a:pPr marL="0" indent="0">
              <a:lnSpc>
                <a:spcPct val="100000"/>
              </a:lnSpc>
              <a:spcBef>
                <a:spcPts val="0"/>
              </a:spcBef>
              <a:spcAft>
                <a:spcPts val="0"/>
              </a:spcAft>
              <a:buNone/>
            </a:pPr>
            <a:r>
              <a:rPr lang="en-US" sz="1800" dirty="0">
                <a:solidFill>
                  <a:srgbClr val="000000"/>
                </a:solidFill>
                <a:latin typeface="Aptos" pitchFamily="34" charset="0"/>
                <a:ea typeface="Aptos" pitchFamily="34" charset="-122"/>
                <a:cs typeface="Aptos" pitchFamily="34" charset="-120"/>
              </a:rPr>
              <a:t>The student needs clear navigation, visible progress, and recoverable steps while selecting courses.</a:t>
            </a:r>
            <a:endParaRPr lang="en-US" sz="1800" dirty="0">
              <a:solidFill>
                <a:srgbClr val="000000"/>
              </a:solidFill>
            </a:endParaRPr>
          </a:p>
        </p:txBody>
      </p:sp>
      <p:sp>
        <p:nvSpPr>
          <p:cNvPr id="19" name="Shape 17"/>
          <p:cNvSpPr/>
          <p:nvPr/>
        </p:nvSpPr>
        <p:spPr>
          <a:xfrm>
            <a:off x="7707488" y="1450848"/>
            <a:ext cx="4069983" cy="4748784"/>
          </a:xfrm>
          <a:prstGeom prst="rect">
            <a:avLst/>
          </a:prstGeom>
          <a:solidFill>
            <a:srgbClr val="FFF5F6"/>
          </a:solidFill>
          <a:ln w="12700">
            <a:solidFill>
              <a:srgbClr val="E6DCDC">
                <a:alpha val="95000"/>
              </a:srgbClr>
            </a:solidFill>
            <a:prstDash val="solid"/>
          </a:ln>
        </p:spPr>
        <p:txBody>
          <a:bodyPr/>
          <a:lstStyle/>
          <a:p>
            <a:endParaRPr/>
          </a:p>
        </p:txBody>
      </p:sp>
      <p:sp>
        <p:nvSpPr>
          <p:cNvPr id="20" name="Shape 18"/>
          <p:cNvSpPr/>
          <p:nvPr/>
        </p:nvSpPr>
        <p:spPr>
          <a:xfrm>
            <a:off x="7890368" y="1606296"/>
            <a:ext cx="292608" cy="292608"/>
          </a:xfrm>
          <a:prstGeom prst="ellipse">
            <a:avLst/>
          </a:prstGeom>
          <a:solidFill>
            <a:srgbClr val="B4001B"/>
          </a:solidFill>
          <a:ln w="12700">
            <a:solidFill>
              <a:srgbClr val="B4001B"/>
            </a:solidFill>
            <a:prstDash val="solid"/>
          </a:ln>
        </p:spPr>
        <p:txBody>
          <a:bodyPr/>
          <a:lstStyle/>
          <a:p>
            <a:endParaRPr/>
          </a:p>
        </p:txBody>
      </p:sp>
      <p:sp>
        <p:nvSpPr>
          <p:cNvPr id="21" name="Text 19"/>
          <p:cNvSpPr/>
          <p:nvPr/>
        </p:nvSpPr>
        <p:spPr>
          <a:xfrm>
            <a:off x="7890368" y="1606296"/>
            <a:ext cx="292608" cy="292608"/>
          </a:xfrm>
          <a:prstGeom prst="rect">
            <a:avLst/>
          </a:prstGeom>
          <a:noFill/>
          <a:ln/>
        </p:spPr>
        <p:txBody>
          <a:bodyPr wrap="non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3</a:t>
            </a:r>
            <a:endParaRPr lang="en-US" sz="1100" b="1" dirty="0"/>
          </a:p>
        </p:txBody>
      </p:sp>
      <p:sp>
        <p:nvSpPr>
          <p:cNvPr id="22" name="Text 20"/>
          <p:cNvSpPr/>
          <p:nvPr/>
        </p:nvSpPr>
        <p:spPr>
          <a:xfrm>
            <a:off x="8292704" y="1597152"/>
            <a:ext cx="3356751" cy="323088"/>
          </a:xfrm>
          <a:prstGeom prst="rect">
            <a:avLst/>
          </a:prstGeom>
          <a:noFill/>
          <a:ln/>
        </p:spPr>
        <p:txBody>
          <a:bodyPr wrap="square" lIns="0" tIns="0" rIns="0" bIns="0" rtlCol="0" anchor="t">
            <a:noAutofit/>
          </a:bodyPr>
          <a:lstStyle/>
          <a:p>
            <a:pPr marL="0" indent="0" algn="l">
              <a:lnSpc>
                <a:spcPct val="100000"/>
              </a:lnSpc>
              <a:buNone/>
            </a:pPr>
            <a:r>
              <a:rPr lang="en-US" sz="2000" b="1" i="1" dirty="0">
                <a:solidFill>
                  <a:srgbClr val="111111"/>
                </a:solidFill>
                <a:latin typeface="Georgia"/>
                <a:ea typeface="Georgia"/>
                <a:cs typeface="Georgia"/>
              </a:rPr>
              <a:t>Requirement Candidate</a:t>
            </a:r>
          </a:p>
        </p:txBody>
      </p:sp>
      <p:sp>
        <p:nvSpPr>
          <p:cNvPr id="23" name="Text 21"/>
          <p:cNvSpPr/>
          <p:nvPr/>
        </p:nvSpPr>
        <p:spPr>
          <a:xfrm>
            <a:off x="7890368" y="2048256"/>
            <a:ext cx="3704223" cy="4023360"/>
          </a:xfrm>
          <a:prstGeom prst="rect">
            <a:avLst/>
          </a:prstGeom>
          <a:noFill/>
          <a:ln/>
        </p:spPr>
        <p:txBody>
          <a:bodyPr wrap="square" lIns="0" tIns="0" rIns="0" bIns="0" rtlCol="0" anchor="t">
            <a:noAutofit/>
          </a:bodyPr>
          <a:lstStyle/>
          <a:p>
            <a:pPr marL="0" indent="0">
              <a:lnSpc>
                <a:spcPct val="100000"/>
              </a:lnSpc>
              <a:spcBef>
                <a:spcPts val="0"/>
              </a:spcBef>
              <a:spcAft>
                <a:spcPts val="0"/>
              </a:spcAft>
              <a:buNone/>
            </a:pPr>
            <a:r>
              <a:rPr lang="en-US" sz="1800" dirty="0">
                <a:solidFill>
                  <a:srgbClr val="000000"/>
                </a:solidFill>
                <a:latin typeface="Aptos" pitchFamily="34" charset="0"/>
                <a:ea typeface="Aptos" pitchFamily="34" charset="-122"/>
                <a:cs typeface="Aptos" pitchFamily="34" charset="-120"/>
              </a:rPr>
              <a:t>The system shall show current registration step, selected courses, conflict warnings, and a clear path to return without losing progress.</a:t>
            </a:r>
            <a:endParaRPr lang="en-US" sz="1800" dirty="0">
              <a:solidFill>
                <a:srgbClr val="000000"/>
              </a:solidFill>
            </a:endParaRPr>
          </a:p>
        </p:txBody>
      </p:sp>
      <p:sp>
        <p:nvSpPr>
          <p:cNvPr id="24" name="Shape 22"/>
          <p:cNvSpPr/>
          <p:nvPr/>
        </p:nvSpPr>
        <p:spPr>
          <a:xfrm>
            <a:off x="3766876" y="3825240"/>
            <a:ext cx="219455" cy="0"/>
          </a:xfrm>
          <a:prstGeom prst="line">
            <a:avLst/>
          </a:prstGeom>
          <a:noFill/>
          <a:ln w="13970">
            <a:solidFill>
              <a:srgbClr val="B4001B"/>
            </a:solidFill>
            <a:prstDash val="solid"/>
            <a:headEnd type="none"/>
            <a:tailEnd type="triangle"/>
          </a:ln>
        </p:spPr>
        <p:txBody>
          <a:bodyPr/>
          <a:lstStyle/>
          <a:p>
            <a:endParaRPr/>
          </a:p>
        </p:txBody>
      </p:sp>
      <p:sp>
        <p:nvSpPr>
          <p:cNvPr id="25" name="Shape 23"/>
          <p:cNvSpPr/>
          <p:nvPr/>
        </p:nvSpPr>
        <p:spPr>
          <a:xfrm>
            <a:off x="7414880" y="3825240"/>
            <a:ext cx="219456" cy="0"/>
          </a:xfrm>
          <a:prstGeom prst="line">
            <a:avLst/>
          </a:prstGeom>
          <a:noFill/>
          <a:ln w="13970">
            <a:solidFill>
              <a:srgbClr val="B4001B"/>
            </a:solidFill>
            <a:prstDash val="solid"/>
            <a:headEnd type="none"/>
            <a:tailEnd type="triangle"/>
          </a:ln>
        </p:spPr>
        <p:txBody>
          <a:bodyPr/>
          <a:lstStyle/>
          <a:p>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55448"/>
            <a:ext cx="5486400" cy="201168"/>
          </a:xfrm>
          <a:prstGeom prst="rect">
            <a:avLst/>
          </a:prstGeom>
          <a:noFill/>
          <a:ln/>
        </p:spPr>
        <p:txBody>
          <a:bodyPr wrap="square" lIns="0" tIns="0" rIns="0" bIns="0" rtlCol="0" anchor="ctr">
            <a:noAutofit/>
          </a:bodyPr>
          <a:lstStyle/>
          <a:p>
            <a:pPr marL="0" indent="0">
              <a:buNone/>
            </a:pPr>
            <a:r>
              <a:rPr lang="en-US" sz="1100" b="1" dirty="0">
                <a:solidFill>
                  <a:srgbClr val="B4001B"/>
                </a:solidFill>
                <a:latin typeface="Aptos" pitchFamily="34" charset="0"/>
                <a:ea typeface="Aptos" pitchFamily="34" charset="-122"/>
                <a:cs typeface="Aptos" pitchFamily="34" charset="-120"/>
              </a:rPr>
              <a:t>INTERVIEWS</a:t>
            </a:r>
            <a:endParaRPr lang="en-US" sz="1100" b="1" dirty="0"/>
          </a:p>
        </p:txBody>
      </p:sp>
      <p:sp>
        <p:nvSpPr>
          <p:cNvPr id="3" name="Text 1"/>
          <p:cNvSpPr/>
          <p:nvPr/>
        </p:nvSpPr>
        <p:spPr>
          <a:xfrm>
            <a:off x="411480" y="365760"/>
            <a:ext cx="11365992" cy="512064"/>
          </a:xfrm>
          <a:prstGeom prst="rect">
            <a:avLst/>
          </a:prstGeom>
          <a:noFill/>
          <a:ln/>
        </p:spPr>
        <p:txBody>
          <a:bodyPr wrap="square" lIns="0" tIns="0" rIns="0" bIns="0" rtlCol="0" anchor="ctr">
            <a:noAutofit/>
          </a:bodyPr>
          <a:lstStyle/>
          <a:p>
            <a:pPr marL="0" indent="0" algn="l">
              <a:buNone/>
            </a:pPr>
            <a:r>
              <a:rPr lang="en-US" sz="3200" b="1" i="1" dirty="0">
                <a:solidFill>
                  <a:srgbClr val="111111"/>
                </a:solidFill>
                <a:latin typeface="Georgia"/>
                <a:ea typeface="Georgia"/>
                <a:cs typeface="Georgia"/>
              </a:rPr>
              <a:t>Interviews in System Analysis</a:t>
            </a:r>
          </a:p>
        </p:txBody>
      </p:sp>
      <p:sp>
        <p:nvSpPr>
          <p:cNvPr id="4" name="Text 2"/>
          <p:cNvSpPr/>
          <p:nvPr/>
        </p:nvSpPr>
        <p:spPr>
          <a:xfrm>
            <a:off x="411480" y="932688"/>
            <a:ext cx="11365992" cy="524256"/>
          </a:xfrm>
          <a:prstGeom prst="rect">
            <a:avLst/>
          </a:prstGeom>
          <a:noFill/>
          <a:ln/>
        </p:spPr>
        <p:txBody>
          <a:bodyPr wrap="square" lIns="0" tIns="0" rIns="0" bIns="0" rtlCol="0" anchor="t">
            <a:noAutofit/>
          </a:bodyPr>
          <a:lstStyle/>
          <a:p>
            <a:pPr marL="0" indent="0" algn="l">
              <a:lnSpc>
                <a:spcPct val="100000"/>
              </a:lnSpc>
              <a:buNone/>
            </a:pPr>
            <a:r>
              <a:rPr lang="en-US" sz="1600" b="0" i="1" dirty="0">
                <a:solidFill>
                  <a:srgbClr val="000000"/>
                </a:solidFill>
                <a:latin typeface="Aptos"/>
                <a:ea typeface="Aptos"/>
                <a:cs typeface="Aptos"/>
              </a:rPr>
              <a:t>A planned conversation for collecting detailed stories, reasons, frustrations, exceptions and meanings from stakeholders.</a:t>
            </a:r>
          </a:p>
        </p:txBody>
      </p:sp>
      <p:sp>
        <p:nvSpPr>
          <p:cNvPr id="5" name="Text 3"/>
          <p:cNvSpPr/>
          <p:nvPr/>
        </p:nvSpPr>
        <p:spPr>
          <a:xfrm>
            <a:off x="502920" y="6565392"/>
            <a:ext cx="1280160" cy="109728"/>
          </a:xfrm>
          <a:prstGeom prst="rect">
            <a:avLst/>
          </a:prstGeom>
          <a:noFill/>
          <a:ln/>
        </p:spPr>
        <p:txBody>
          <a:bodyPr wrap="square" rtlCol="0" anchor="ctr"/>
          <a:lstStyle/>
          <a:p>
            <a:pPr marL="0" indent="0">
              <a:buNone/>
            </a:pPr>
            <a:r>
              <a:rPr lang="en-US" sz="790" dirty="0">
                <a:solidFill>
                  <a:srgbClr val="777777"/>
                </a:solidFill>
                <a:latin typeface="Aptos" pitchFamily="34" charset="0"/>
                <a:ea typeface="Aptos" pitchFamily="34" charset="-122"/>
                <a:cs typeface="Aptos" pitchFamily="34" charset="-120"/>
              </a:rPr>
              <a:t>1/28/2026</a:t>
            </a:r>
            <a:endParaRPr lang="en-US" sz="790" dirty="0"/>
          </a:p>
        </p:txBody>
      </p:sp>
      <p:sp>
        <p:nvSpPr>
          <p:cNvPr id="6" name="Text 4"/>
          <p:cNvSpPr/>
          <p:nvPr/>
        </p:nvSpPr>
        <p:spPr>
          <a:xfrm>
            <a:off x="5257800" y="6565392"/>
            <a:ext cx="1645920" cy="109728"/>
          </a:xfrm>
          <a:prstGeom prst="rect">
            <a:avLst/>
          </a:prstGeom>
          <a:noFill/>
          <a:ln/>
        </p:spPr>
        <p:txBody>
          <a:bodyPr wrap="square" rtlCol="0" anchor="ctr"/>
          <a:lstStyle/>
          <a:p>
            <a:pPr marL="0" indent="0" algn="ctr">
              <a:buNone/>
            </a:pPr>
            <a:r>
              <a:rPr lang="en-US" sz="790" dirty="0">
                <a:solidFill>
                  <a:srgbClr val="777777"/>
                </a:solidFill>
                <a:latin typeface="Aptos" pitchFamily="34" charset="0"/>
                <a:ea typeface="Aptos" pitchFamily="34" charset="-122"/>
                <a:cs typeface="Aptos" pitchFamily="34" charset="-120"/>
              </a:rPr>
              <a:t>Md. Manirujjaman</a:t>
            </a:r>
            <a:endParaRPr lang="en-US" sz="790" dirty="0"/>
          </a:p>
        </p:txBody>
      </p:sp>
      <p:sp>
        <p:nvSpPr>
          <p:cNvPr id="7" name="Shape 5"/>
          <p:cNvSpPr/>
          <p:nvPr/>
        </p:nvSpPr>
        <p:spPr>
          <a:xfrm>
            <a:off x="11430000" y="6327648"/>
            <a:ext cx="274320" cy="274320"/>
          </a:xfrm>
          <a:prstGeom prst="ellipse">
            <a:avLst/>
          </a:prstGeom>
          <a:solidFill>
            <a:srgbClr val="B4001B"/>
          </a:solidFill>
          <a:ln w="12700">
            <a:solidFill>
              <a:srgbClr val="B4001B"/>
            </a:solidFill>
            <a:prstDash val="solid"/>
          </a:ln>
        </p:spPr>
        <p:txBody>
          <a:bodyPr wrap="none" lIns="0" tIns="0" rIns="0" bIns="0" anchor="ctr"/>
          <a:lstStyle/>
          <a:p>
            <a:pPr algn="ctr"/>
            <a:fld id="{8A2B6C1E-3F4D-4E5A-9B7C-1D2E3F4A5B6C}" type="slidenum">
              <a:rPr lang="en-US" sz="900" b="1">
                <a:solidFill>
                  <a:srgbClr val="FFFFFF"/>
                </a:solidFill>
                <a:latin typeface="Aptos"/>
              </a:rPr>
              <a:t>5</a:t>
            </a:fld>
            <a:endParaRPr lang="en-US" sz="900" b="1">
              <a:solidFill>
                <a:srgbClr val="FFFFFF"/>
              </a:solidFill>
              <a:latin typeface="Aptos"/>
            </a:endParaRPr>
          </a:p>
        </p:txBody>
      </p:sp>
      <p:sp>
        <p:nvSpPr>
          <p:cNvPr id="9" name="Shape 7"/>
          <p:cNvSpPr/>
          <p:nvPr/>
        </p:nvSpPr>
        <p:spPr>
          <a:xfrm>
            <a:off x="411480" y="1694688"/>
            <a:ext cx="3605784" cy="3486912"/>
          </a:xfrm>
          <a:prstGeom prst="rect">
            <a:avLst/>
          </a:prstGeom>
          <a:solidFill>
            <a:srgbClr val="FFFFFF"/>
          </a:solidFill>
          <a:ln w="12700">
            <a:solidFill>
              <a:srgbClr val="E6DCDC">
                <a:alpha val="95000"/>
              </a:srgbClr>
            </a:solidFill>
            <a:prstDash val="solid"/>
          </a:ln>
        </p:spPr>
        <p:txBody>
          <a:bodyPr/>
          <a:lstStyle/>
          <a:p>
            <a:endParaRPr/>
          </a:p>
        </p:txBody>
      </p:sp>
      <p:sp>
        <p:nvSpPr>
          <p:cNvPr id="10" name="Shape 8"/>
          <p:cNvSpPr/>
          <p:nvPr/>
        </p:nvSpPr>
        <p:spPr>
          <a:xfrm>
            <a:off x="594360" y="1850135"/>
            <a:ext cx="292608" cy="292608"/>
          </a:xfrm>
          <a:prstGeom prst="ellipse">
            <a:avLst/>
          </a:prstGeom>
          <a:solidFill>
            <a:srgbClr val="B4001B"/>
          </a:solidFill>
          <a:ln w="12700">
            <a:solidFill>
              <a:srgbClr val="B4001B"/>
            </a:solidFill>
            <a:prstDash val="solid"/>
          </a:ln>
        </p:spPr>
        <p:txBody>
          <a:bodyPr/>
          <a:lstStyle/>
          <a:p>
            <a:endParaRPr/>
          </a:p>
        </p:txBody>
      </p:sp>
      <p:sp>
        <p:nvSpPr>
          <p:cNvPr id="11" name="Text 9"/>
          <p:cNvSpPr/>
          <p:nvPr/>
        </p:nvSpPr>
        <p:spPr>
          <a:xfrm>
            <a:off x="594360" y="1850135"/>
            <a:ext cx="292608" cy="292608"/>
          </a:xfrm>
          <a:prstGeom prst="rect">
            <a:avLst/>
          </a:prstGeom>
          <a:noFill/>
          <a:ln/>
        </p:spPr>
        <p:txBody>
          <a:bodyPr wrap="non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1</a:t>
            </a:r>
            <a:endParaRPr lang="en-US" sz="1100" b="1" dirty="0"/>
          </a:p>
        </p:txBody>
      </p:sp>
      <p:sp>
        <p:nvSpPr>
          <p:cNvPr id="12" name="Text 10"/>
          <p:cNvSpPr/>
          <p:nvPr/>
        </p:nvSpPr>
        <p:spPr>
          <a:xfrm>
            <a:off x="996695" y="1840991"/>
            <a:ext cx="2892552" cy="323088"/>
          </a:xfrm>
          <a:prstGeom prst="rect">
            <a:avLst/>
          </a:prstGeom>
          <a:noFill/>
          <a:ln/>
        </p:spPr>
        <p:txBody>
          <a:bodyPr wrap="square" lIns="0" tIns="0" rIns="0" bIns="0" rtlCol="0" anchor="t">
            <a:noAutofit/>
          </a:bodyPr>
          <a:lstStyle/>
          <a:p>
            <a:pPr marL="0" indent="0" algn="l">
              <a:lnSpc>
                <a:spcPct val="100000"/>
              </a:lnSpc>
              <a:buNone/>
            </a:pPr>
            <a:r>
              <a:rPr lang="en-US" sz="2000" b="1" i="1" dirty="0">
                <a:solidFill>
                  <a:srgbClr val="111111"/>
                </a:solidFill>
                <a:latin typeface="Georgia"/>
                <a:ea typeface="Georgia"/>
                <a:cs typeface="Georgia"/>
              </a:rPr>
              <a:t>Structured</a:t>
            </a:r>
          </a:p>
        </p:txBody>
      </p:sp>
      <p:sp>
        <p:nvSpPr>
          <p:cNvPr id="13" name="Text 11"/>
          <p:cNvSpPr/>
          <p:nvPr/>
        </p:nvSpPr>
        <p:spPr>
          <a:xfrm>
            <a:off x="594360" y="2292096"/>
            <a:ext cx="3240024" cy="2761488"/>
          </a:xfrm>
          <a:prstGeom prst="rect">
            <a:avLst/>
          </a:prstGeom>
          <a:noFill/>
          <a:ln/>
        </p:spPr>
        <p:txBody>
          <a:bodyPr wrap="square" lIns="0" tIns="0" rIns="0" bIns="0" rtlCol="0" anchor="t">
            <a:noAutofit/>
          </a:bodyPr>
          <a:lstStyle/>
          <a:p>
            <a:pPr marL="0" indent="0">
              <a:lnSpc>
                <a:spcPct val="100000"/>
              </a:lnSpc>
              <a:spcBef>
                <a:spcPts val="0"/>
              </a:spcBef>
              <a:spcAft>
                <a:spcPts val="0"/>
              </a:spcAft>
              <a:buNone/>
            </a:pPr>
            <a:r>
              <a:rPr lang="en-US" sz="1800" dirty="0">
                <a:solidFill>
                  <a:srgbClr val="000000"/>
                </a:solidFill>
                <a:latin typeface="Aptos" pitchFamily="34" charset="0"/>
                <a:ea typeface="Aptos" pitchFamily="34" charset="-122"/>
                <a:cs typeface="Aptos" pitchFamily="34" charset="-120"/>
              </a:rPr>
              <a:t>Fixed questions in the same order. Useful when comparison matters.</a:t>
            </a:r>
            <a:endParaRPr lang="en-US" sz="1800" dirty="0">
              <a:solidFill>
                <a:srgbClr val="000000"/>
              </a:solidFill>
            </a:endParaRPr>
          </a:p>
          <a:p>
            <a:pPr marL="0" indent="0">
              <a:lnSpc>
                <a:spcPct val="100000"/>
              </a:lnSpc>
              <a:spcBef>
                <a:spcPts val="1400"/>
              </a:spcBef>
              <a:spcAft>
                <a:spcPts val="0"/>
              </a:spcAft>
              <a:buNone/>
            </a:pPr>
            <a:r>
              <a:rPr lang="en-US" sz="1800" dirty="0">
                <a:solidFill>
                  <a:srgbClr val="000000"/>
                </a:solidFill>
                <a:latin typeface="Aptos" pitchFamily="34" charset="0"/>
                <a:ea typeface="Aptos" pitchFamily="34" charset="-122"/>
                <a:cs typeface="Aptos" pitchFamily="34" charset="-120"/>
              </a:rPr>
              <a:t>Example: every branch manager answers the same questions about daily report delays.</a:t>
            </a:r>
            <a:endParaRPr lang="en-US" sz="1800" dirty="0">
              <a:solidFill>
                <a:srgbClr val="000000"/>
              </a:solidFill>
            </a:endParaRPr>
          </a:p>
        </p:txBody>
      </p:sp>
      <p:sp>
        <p:nvSpPr>
          <p:cNvPr id="14" name="Shape 12"/>
          <p:cNvSpPr/>
          <p:nvPr/>
        </p:nvSpPr>
        <p:spPr>
          <a:xfrm>
            <a:off x="4291584" y="1694688"/>
            <a:ext cx="3605784" cy="3486912"/>
          </a:xfrm>
          <a:prstGeom prst="rect">
            <a:avLst/>
          </a:prstGeom>
          <a:solidFill>
            <a:srgbClr val="FFF5F6"/>
          </a:solidFill>
          <a:ln w="12700">
            <a:solidFill>
              <a:srgbClr val="E6DCDC">
                <a:alpha val="95000"/>
              </a:srgbClr>
            </a:solidFill>
            <a:prstDash val="solid"/>
          </a:ln>
        </p:spPr>
        <p:txBody>
          <a:bodyPr/>
          <a:lstStyle/>
          <a:p>
            <a:endParaRPr/>
          </a:p>
        </p:txBody>
      </p:sp>
      <p:sp>
        <p:nvSpPr>
          <p:cNvPr id="15" name="Shape 13"/>
          <p:cNvSpPr/>
          <p:nvPr/>
        </p:nvSpPr>
        <p:spPr>
          <a:xfrm>
            <a:off x="4474464" y="1850135"/>
            <a:ext cx="292608" cy="292608"/>
          </a:xfrm>
          <a:prstGeom prst="ellipse">
            <a:avLst/>
          </a:prstGeom>
          <a:solidFill>
            <a:srgbClr val="B4001B"/>
          </a:solidFill>
          <a:ln w="12700">
            <a:solidFill>
              <a:srgbClr val="B4001B"/>
            </a:solidFill>
            <a:prstDash val="solid"/>
          </a:ln>
        </p:spPr>
        <p:txBody>
          <a:bodyPr/>
          <a:lstStyle/>
          <a:p>
            <a:endParaRPr/>
          </a:p>
        </p:txBody>
      </p:sp>
      <p:sp>
        <p:nvSpPr>
          <p:cNvPr id="16" name="Text 14"/>
          <p:cNvSpPr/>
          <p:nvPr/>
        </p:nvSpPr>
        <p:spPr>
          <a:xfrm>
            <a:off x="4474464" y="1850135"/>
            <a:ext cx="292608" cy="292608"/>
          </a:xfrm>
          <a:prstGeom prst="rect">
            <a:avLst/>
          </a:prstGeom>
          <a:noFill/>
          <a:ln/>
        </p:spPr>
        <p:txBody>
          <a:bodyPr wrap="non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2</a:t>
            </a:r>
            <a:endParaRPr lang="en-US" sz="1100" b="1" dirty="0"/>
          </a:p>
        </p:txBody>
      </p:sp>
      <p:sp>
        <p:nvSpPr>
          <p:cNvPr id="17" name="Text 15"/>
          <p:cNvSpPr/>
          <p:nvPr/>
        </p:nvSpPr>
        <p:spPr>
          <a:xfrm>
            <a:off x="4876800" y="1840991"/>
            <a:ext cx="2892552" cy="323088"/>
          </a:xfrm>
          <a:prstGeom prst="rect">
            <a:avLst/>
          </a:prstGeom>
          <a:noFill/>
          <a:ln/>
        </p:spPr>
        <p:txBody>
          <a:bodyPr wrap="square" lIns="0" tIns="0" rIns="0" bIns="0" rtlCol="0" anchor="t">
            <a:noAutofit/>
          </a:bodyPr>
          <a:lstStyle/>
          <a:p>
            <a:pPr marL="0" indent="0" algn="l">
              <a:lnSpc>
                <a:spcPct val="100000"/>
              </a:lnSpc>
              <a:buNone/>
            </a:pPr>
            <a:r>
              <a:rPr lang="en-US" sz="2000" b="1" i="1" dirty="0">
                <a:solidFill>
                  <a:srgbClr val="111111"/>
                </a:solidFill>
                <a:latin typeface="Georgia"/>
                <a:ea typeface="Georgia"/>
                <a:cs typeface="Georgia"/>
              </a:rPr>
              <a:t>Semi-Structured</a:t>
            </a:r>
          </a:p>
        </p:txBody>
      </p:sp>
      <p:sp>
        <p:nvSpPr>
          <p:cNvPr id="18" name="Text 16"/>
          <p:cNvSpPr/>
          <p:nvPr/>
        </p:nvSpPr>
        <p:spPr>
          <a:xfrm>
            <a:off x="4474464" y="2292096"/>
            <a:ext cx="3240024" cy="2761488"/>
          </a:xfrm>
          <a:prstGeom prst="rect">
            <a:avLst/>
          </a:prstGeom>
          <a:noFill/>
          <a:ln/>
        </p:spPr>
        <p:txBody>
          <a:bodyPr wrap="square" lIns="0" tIns="0" rIns="0" bIns="0" rtlCol="0" anchor="t">
            <a:noAutofit/>
          </a:bodyPr>
          <a:lstStyle/>
          <a:p>
            <a:pPr marL="0" indent="0">
              <a:lnSpc>
                <a:spcPct val="100000"/>
              </a:lnSpc>
              <a:spcBef>
                <a:spcPts val="0"/>
              </a:spcBef>
              <a:spcAft>
                <a:spcPts val="0"/>
              </a:spcAft>
              <a:buNone/>
            </a:pPr>
            <a:r>
              <a:rPr lang="en-US" sz="1800" dirty="0">
                <a:solidFill>
                  <a:srgbClr val="000000"/>
                </a:solidFill>
                <a:latin typeface="Aptos" pitchFamily="34" charset="0"/>
                <a:ea typeface="Aptos" pitchFamily="34" charset="-122"/>
                <a:cs typeface="Aptos" pitchFamily="34" charset="-120"/>
              </a:rPr>
              <a:t>Interview guide plus follow-up probes. Strong choice for most requirement discovery.</a:t>
            </a:r>
            <a:endParaRPr lang="en-US" sz="1800" dirty="0">
              <a:solidFill>
                <a:srgbClr val="000000"/>
              </a:solidFill>
            </a:endParaRPr>
          </a:p>
          <a:p>
            <a:pPr marL="0" indent="0">
              <a:lnSpc>
                <a:spcPct val="100000"/>
              </a:lnSpc>
              <a:spcBef>
                <a:spcPts val="1400"/>
              </a:spcBef>
              <a:spcAft>
                <a:spcPts val="0"/>
              </a:spcAft>
              <a:buNone/>
            </a:pPr>
            <a:r>
              <a:rPr lang="en-US" sz="1800" dirty="0">
                <a:solidFill>
                  <a:srgbClr val="000000"/>
                </a:solidFill>
                <a:latin typeface="Aptos" pitchFamily="34" charset="0"/>
                <a:ea typeface="Aptos" pitchFamily="34" charset="-122"/>
                <a:cs typeface="Aptos" pitchFamily="34" charset="-120"/>
              </a:rPr>
              <a:t>Example: ask planned questions about the admission system, then probe unexpected work-arounds.</a:t>
            </a:r>
            <a:endParaRPr lang="en-US" sz="1800" dirty="0">
              <a:solidFill>
                <a:srgbClr val="000000"/>
              </a:solidFill>
            </a:endParaRPr>
          </a:p>
        </p:txBody>
      </p:sp>
      <p:sp>
        <p:nvSpPr>
          <p:cNvPr id="19" name="Shape 17"/>
          <p:cNvSpPr/>
          <p:nvPr/>
        </p:nvSpPr>
        <p:spPr>
          <a:xfrm>
            <a:off x="8171688" y="1694688"/>
            <a:ext cx="3605784" cy="3486912"/>
          </a:xfrm>
          <a:prstGeom prst="rect">
            <a:avLst/>
          </a:prstGeom>
          <a:solidFill>
            <a:srgbClr val="FFFFFF"/>
          </a:solidFill>
          <a:ln w="12700">
            <a:solidFill>
              <a:srgbClr val="E6DCDC">
                <a:alpha val="95000"/>
              </a:srgbClr>
            </a:solidFill>
            <a:prstDash val="solid"/>
          </a:ln>
        </p:spPr>
        <p:txBody>
          <a:bodyPr/>
          <a:lstStyle/>
          <a:p>
            <a:endParaRPr/>
          </a:p>
        </p:txBody>
      </p:sp>
      <p:sp>
        <p:nvSpPr>
          <p:cNvPr id="20" name="Shape 18"/>
          <p:cNvSpPr/>
          <p:nvPr/>
        </p:nvSpPr>
        <p:spPr>
          <a:xfrm>
            <a:off x="8354568" y="1850135"/>
            <a:ext cx="292608" cy="292608"/>
          </a:xfrm>
          <a:prstGeom prst="ellipse">
            <a:avLst/>
          </a:prstGeom>
          <a:solidFill>
            <a:srgbClr val="B4001B"/>
          </a:solidFill>
          <a:ln w="12700">
            <a:solidFill>
              <a:srgbClr val="B4001B"/>
            </a:solidFill>
            <a:prstDash val="solid"/>
          </a:ln>
        </p:spPr>
        <p:txBody>
          <a:bodyPr/>
          <a:lstStyle/>
          <a:p>
            <a:endParaRPr/>
          </a:p>
        </p:txBody>
      </p:sp>
      <p:sp>
        <p:nvSpPr>
          <p:cNvPr id="21" name="Text 19"/>
          <p:cNvSpPr/>
          <p:nvPr/>
        </p:nvSpPr>
        <p:spPr>
          <a:xfrm>
            <a:off x="8354568" y="1850135"/>
            <a:ext cx="292608" cy="292608"/>
          </a:xfrm>
          <a:prstGeom prst="rect">
            <a:avLst/>
          </a:prstGeom>
          <a:noFill/>
          <a:ln/>
        </p:spPr>
        <p:txBody>
          <a:bodyPr wrap="non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3</a:t>
            </a:r>
            <a:endParaRPr lang="en-US" sz="1100" b="1" dirty="0"/>
          </a:p>
        </p:txBody>
      </p:sp>
      <p:sp>
        <p:nvSpPr>
          <p:cNvPr id="22" name="Text 20"/>
          <p:cNvSpPr/>
          <p:nvPr/>
        </p:nvSpPr>
        <p:spPr>
          <a:xfrm>
            <a:off x="8756904" y="1840991"/>
            <a:ext cx="2892552" cy="323088"/>
          </a:xfrm>
          <a:prstGeom prst="rect">
            <a:avLst/>
          </a:prstGeom>
          <a:noFill/>
          <a:ln/>
        </p:spPr>
        <p:txBody>
          <a:bodyPr wrap="square" lIns="0" tIns="0" rIns="0" bIns="0" rtlCol="0" anchor="t">
            <a:noAutofit/>
          </a:bodyPr>
          <a:lstStyle/>
          <a:p>
            <a:pPr marL="0" indent="0" algn="l">
              <a:lnSpc>
                <a:spcPct val="100000"/>
              </a:lnSpc>
              <a:buNone/>
            </a:pPr>
            <a:r>
              <a:rPr lang="en-US" sz="2000" b="1" i="1" dirty="0">
                <a:solidFill>
                  <a:srgbClr val="111111"/>
                </a:solidFill>
                <a:latin typeface="Georgia"/>
                <a:ea typeface="Georgia"/>
                <a:cs typeface="Georgia"/>
              </a:rPr>
              <a:t>Unstructured</a:t>
            </a:r>
          </a:p>
        </p:txBody>
      </p:sp>
      <p:sp>
        <p:nvSpPr>
          <p:cNvPr id="23" name="Text 21"/>
          <p:cNvSpPr/>
          <p:nvPr/>
        </p:nvSpPr>
        <p:spPr>
          <a:xfrm>
            <a:off x="8354568" y="2292096"/>
            <a:ext cx="3240024" cy="2761488"/>
          </a:xfrm>
          <a:prstGeom prst="rect">
            <a:avLst/>
          </a:prstGeom>
          <a:noFill/>
          <a:ln/>
        </p:spPr>
        <p:txBody>
          <a:bodyPr wrap="square" lIns="0" tIns="0" rIns="0" bIns="0" rtlCol="0" anchor="t">
            <a:noAutofit/>
          </a:bodyPr>
          <a:lstStyle/>
          <a:p>
            <a:pPr marL="0" indent="0">
              <a:lnSpc>
                <a:spcPct val="100000"/>
              </a:lnSpc>
              <a:spcBef>
                <a:spcPts val="0"/>
              </a:spcBef>
              <a:spcAft>
                <a:spcPts val="0"/>
              </a:spcAft>
              <a:buNone/>
            </a:pPr>
            <a:r>
              <a:rPr lang="en-US" sz="1800" dirty="0">
                <a:solidFill>
                  <a:srgbClr val="000000"/>
                </a:solidFill>
                <a:latin typeface="Aptos" pitchFamily="34" charset="0"/>
                <a:ea typeface="Aptos" pitchFamily="34" charset="-122"/>
                <a:cs typeface="Aptos" pitchFamily="34" charset="-120"/>
              </a:rPr>
              <a:t>Open exploratory conversation when the analyst knows little.</a:t>
            </a:r>
            <a:endParaRPr lang="en-US" sz="1800" dirty="0">
              <a:solidFill>
                <a:srgbClr val="000000"/>
              </a:solidFill>
            </a:endParaRPr>
          </a:p>
          <a:p>
            <a:pPr marL="0" indent="0">
              <a:lnSpc>
                <a:spcPct val="100000"/>
              </a:lnSpc>
              <a:spcBef>
                <a:spcPts val="1400"/>
              </a:spcBef>
              <a:spcAft>
                <a:spcPts val="0"/>
              </a:spcAft>
              <a:buNone/>
            </a:pPr>
            <a:r>
              <a:rPr lang="en-US" sz="1800" dirty="0">
                <a:solidFill>
                  <a:srgbClr val="000000"/>
                </a:solidFill>
                <a:latin typeface="Aptos" pitchFamily="34" charset="0"/>
                <a:ea typeface="Aptos" pitchFamily="34" charset="-122"/>
                <a:cs typeface="Aptos" pitchFamily="34" charset="-120"/>
              </a:rPr>
              <a:t>Example: early discussion with staff before redesigning a new department workflow.</a:t>
            </a:r>
            <a:endParaRPr lang="en-US" sz="1800" dirty="0">
              <a:solidFill>
                <a:srgbClr val="000000"/>
              </a:solidFill>
            </a:endParaRPr>
          </a:p>
        </p:txBody>
      </p:sp>
      <p:sp>
        <p:nvSpPr>
          <p:cNvPr id="24" name="Shape 22"/>
          <p:cNvSpPr/>
          <p:nvPr/>
        </p:nvSpPr>
        <p:spPr>
          <a:xfrm>
            <a:off x="411480" y="5474208"/>
            <a:ext cx="11365992" cy="725424"/>
          </a:xfrm>
          <a:prstGeom prst="rect">
            <a:avLst/>
          </a:prstGeom>
          <a:solidFill>
            <a:srgbClr val="B4001B"/>
          </a:solidFill>
          <a:ln w="12700">
            <a:solidFill>
              <a:srgbClr val="B4001B"/>
            </a:solidFill>
            <a:prstDash val="solid"/>
          </a:ln>
        </p:spPr>
        <p:txBody>
          <a:bodyPr/>
          <a:lstStyle/>
          <a:p>
            <a:endParaRPr/>
          </a:p>
        </p:txBody>
      </p:sp>
      <p:sp>
        <p:nvSpPr>
          <p:cNvPr id="25" name="Text 23"/>
          <p:cNvSpPr/>
          <p:nvPr/>
        </p:nvSpPr>
        <p:spPr>
          <a:xfrm>
            <a:off x="594360" y="5474208"/>
            <a:ext cx="11000232" cy="725424"/>
          </a:xfrm>
          <a:prstGeom prst="rect">
            <a:avLst/>
          </a:prstGeom>
          <a:noFill/>
          <a:ln/>
        </p:spPr>
        <p:txBody>
          <a:bodyPr wrap="square" lIns="0" tIns="0" rIns="0" bIns="0" rtlCol="0" anchor="ctr">
            <a:noAutofit/>
          </a:bodyPr>
          <a:lstStyle/>
          <a:p>
            <a:pPr marL="0" indent="0">
              <a:lnSpc>
                <a:spcPct val="100000"/>
              </a:lnSpc>
              <a:buNone/>
            </a:pPr>
            <a:r>
              <a:rPr lang="en-US" sz="1600" b="1" i="1" dirty="0">
                <a:solidFill>
                  <a:srgbClr val="FFFFFF"/>
                </a:solidFill>
                <a:latin typeface="Georgia"/>
                <a:ea typeface="Georgia"/>
                <a:cs typeface="Georgia"/>
              </a:rPr>
              <a:t>Best practice: ask for concrete stories, not only opinions. “Tell me about the last time this problem happened.”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55448"/>
            <a:ext cx="5486400" cy="201168"/>
          </a:xfrm>
          <a:prstGeom prst="rect">
            <a:avLst/>
          </a:prstGeom>
          <a:noFill/>
          <a:ln/>
        </p:spPr>
        <p:txBody>
          <a:bodyPr wrap="square" lIns="0" tIns="0" rIns="0" bIns="0" rtlCol="0" anchor="ctr">
            <a:noAutofit/>
          </a:bodyPr>
          <a:lstStyle/>
          <a:p>
            <a:pPr marL="0" indent="0">
              <a:buNone/>
            </a:pPr>
            <a:r>
              <a:rPr lang="en-US" sz="1100" b="1" dirty="0">
                <a:solidFill>
                  <a:srgbClr val="B4001B"/>
                </a:solidFill>
                <a:latin typeface="Aptos" pitchFamily="34" charset="0"/>
                <a:ea typeface="Aptos" pitchFamily="34" charset="-122"/>
                <a:cs typeface="Aptos" pitchFamily="34" charset="-120"/>
              </a:rPr>
              <a:t>INTERVIEWS</a:t>
            </a:r>
            <a:endParaRPr lang="en-US" sz="1100" b="1" dirty="0"/>
          </a:p>
        </p:txBody>
      </p:sp>
      <p:sp>
        <p:nvSpPr>
          <p:cNvPr id="3" name="Text 1"/>
          <p:cNvSpPr/>
          <p:nvPr/>
        </p:nvSpPr>
        <p:spPr>
          <a:xfrm>
            <a:off x="411480" y="365760"/>
            <a:ext cx="11365992" cy="512064"/>
          </a:xfrm>
          <a:prstGeom prst="rect">
            <a:avLst/>
          </a:prstGeom>
          <a:noFill/>
          <a:ln/>
        </p:spPr>
        <p:txBody>
          <a:bodyPr wrap="square" lIns="0" tIns="0" rIns="0" bIns="0" rtlCol="0" anchor="ctr">
            <a:noAutofit/>
          </a:bodyPr>
          <a:lstStyle/>
          <a:p>
            <a:pPr marL="0" indent="0" algn="l">
              <a:buNone/>
            </a:pPr>
            <a:r>
              <a:rPr lang="en-US" sz="3200" b="1" i="1" dirty="0">
                <a:solidFill>
                  <a:srgbClr val="111111"/>
                </a:solidFill>
                <a:latin typeface="Georgia"/>
                <a:ea typeface="Georgia"/>
                <a:cs typeface="Georgia"/>
              </a:rPr>
              <a:t>Better Questions Produce Better Requirements</a:t>
            </a:r>
          </a:p>
        </p:txBody>
      </p:sp>
      <p:sp>
        <p:nvSpPr>
          <p:cNvPr id="4" name="Text 2"/>
          <p:cNvSpPr/>
          <p:nvPr/>
        </p:nvSpPr>
        <p:spPr>
          <a:xfrm>
            <a:off x="411480" y="932688"/>
            <a:ext cx="11365992" cy="280416"/>
          </a:xfrm>
          <a:prstGeom prst="rect">
            <a:avLst/>
          </a:prstGeom>
          <a:noFill/>
          <a:ln/>
        </p:spPr>
        <p:txBody>
          <a:bodyPr wrap="square" lIns="0" tIns="0" rIns="0" bIns="0" rtlCol="0" anchor="t">
            <a:noAutofit/>
          </a:bodyPr>
          <a:lstStyle/>
          <a:p>
            <a:pPr marL="0" indent="0" algn="l">
              <a:lnSpc>
                <a:spcPct val="100000"/>
              </a:lnSpc>
              <a:buNone/>
            </a:pPr>
            <a:r>
              <a:rPr lang="en-US" sz="1600" b="0" i="1" dirty="0">
                <a:solidFill>
                  <a:srgbClr val="000000"/>
                </a:solidFill>
                <a:latin typeface="Aptos"/>
                <a:ea typeface="Aptos"/>
                <a:cs typeface="Aptos"/>
              </a:rPr>
              <a:t>Question wording can reduce bias and turn vague complaints into useful requirement evidence.</a:t>
            </a:r>
          </a:p>
        </p:txBody>
      </p:sp>
      <p:sp>
        <p:nvSpPr>
          <p:cNvPr id="5" name="Text 3"/>
          <p:cNvSpPr/>
          <p:nvPr/>
        </p:nvSpPr>
        <p:spPr>
          <a:xfrm>
            <a:off x="502920" y="6565392"/>
            <a:ext cx="1280160" cy="109728"/>
          </a:xfrm>
          <a:prstGeom prst="rect">
            <a:avLst/>
          </a:prstGeom>
          <a:noFill/>
          <a:ln/>
        </p:spPr>
        <p:txBody>
          <a:bodyPr wrap="square" rtlCol="0" anchor="ctr"/>
          <a:lstStyle/>
          <a:p>
            <a:pPr marL="0" indent="0">
              <a:buNone/>
            </a:pPr>
            <a:r>
              <a:rPr lang="en-US" sz="790" dirty="0">
                <a:solidFill>
                  <a:srgbClr val="777777"/>
                </a:solidFill>
                <a:latin typeface="Aptos" pitchFamily="34" charset="0"/>
                <a:ea typeface="Aptos" pitchFamily="34" charset="-122"/>
                <a:cs typeface="Aptos" pitchFamily="34" charset="-120"/>
              </a:rPr>
              <a:t>1/28/2026</a:t>
            </a:r>
            <a:endParaRPr lang="en-US" sz="790" dirty="0"/>
          </a:p>
        </p:txBody>
      </p:sp>
      <p:sp>
        <p:nvSpPr>
          <p:cNvPr id="6" name="Text 4"/>
          <p:cNvSpPr/>
          <p:nvPr/>
        </p:nvSpPr>
        <p:spPr>
          <a:xfrm>
            <a:off x="5257800" y="6565392"/>
            <a:ext cx="1645920" cy="109728"/>
          </a:xfrm>
          <a:prstGeom prst="rect">
            <a:avLst/>
          </a:prstGeom>
          <a:noFill/>
          <a:ln/>
        </p:spPr>
        <p:txBody>
          <a:bodyPr wrap="square" rtlCol="0" anchor="ctr"/>
          <a:lstStyle/>
          <a:p>
            <a:pPr marL="0" indent="0" algn="ctr">
              <a:buNone/>
            </a:pPr>
            <a:r>
              <a:rPr lang="en-US" sz="790" dirty="0">
                <a:solidFill>
                  <a:srgbClr val="777777"/>
                </a:solidFill>
                <a:latin typeface="Aptos" pitchFamily="34" charset="0"/>
                <a:ea typeface="Aptos" pitchFamily="34" charset="-122"/>
                <a:cs typeface="Aptos" pitchFamily="34" charset="-120"/>
              </a:rPr>
              <a:t>Md. Manirujjaman</a:t>
            </a:r>
            <a:endParaRPr lang="en-US" sz="790" dirty="0"/>
          </a:p>
        </p:txBody>
      </p:sp>
      <p:sp>
        <p:nvSpPr>
          <p:cNvPr id="7" name="Shape 5"/>
          <p:cNvSpPr/>
          <p:nvPr/>
        </p:nvSpPr>
        <p:spPr>
          <a:xfrm>
            <a:off x="11430000" y="6327648"/>
            <a:ext cx="274320" cy="274320"/>
          </a:xfrm>
          <a:prstGeom prst="ellipse">
            <a:avLst/>
          </a:prstGeom>
          <a:solidFill>
            <a:srgbClr val="B4001B"/>
          </a:solidFill>
          <a:ln w="12700">
            <a:solidFill>
              <a:srgbClr val="B4001B"/>
            </a:solidFill>
            <a:prstDash val="solid"/>
          </a:ln>
        </p:spPr>
        <p:txBody>
          <a:bodyPr wrap="none" lIns="0" tIns="0" rIns="0" bIns="0" anchor="ctr"/>
          <a:lstStyle/>
          <a:p>
            <a:pPr algn="ctr"/>
            <a:fld id="{8A2B6C1E-3F4D-4E5A-9B7C-1D2E3F4A5B6C}" type="slidenum">
              <a:rPr lang="en-US" sz="900" b="1">
                <a:solidFill>
                  <a:srgbClr val="FFFFFF"/>
                </a:solidFill>
                <a:latin typeface="Aptos"/>
              </a:rPr>
              <a:t>6</a:t>
            </a:fld>
            <a:endParaRPr lang="en-US" sz="900" b="1">
              <a:solidFill>
                <a:srgbClr val="FFFFFF"/>
              </a:solidFill>
              <a:latin typeface="Aptos"/>
            </a:endParaRPr>
          </a:p>
        </p:txBody>
      </p:sp>
      <p:sp>
        <p:nvSpPr>
          <p:cNvPr id="9" name="Shape 7"/>
          <p:cNvSpPr/>
          <p:nvPr/>
        </p:nvSpPr>
        <p:spPr>
          <a:xfrm>
            <a:off x="411480" y="1432560"/>
            <a:ext cx="5518404" cy="438912"/>
          </a:xfrm>
          <a:prstGeom prst="rect">
            <a:avLst/>
          </a:prstGeom>
          <a:solidFill>
            <a:srgbClr val="FFF5F6"/>
          </a:solidFill>
          <a:ln w="12700">
            <a:solidFill>
              <a:srgbClr val="FFF5F6"/>
            </a:solidFill>
            <a:prstDash val="solid"/>
          </a:ln>
        </p:spPr>
        <p:txBody>
          <a:bodyPr/>
          <a:lstStyle/>
          <a:p>
            <a:endParaRPr/>
          </a:p>
        </p:txBody>
      </p:sp>
      <p:sp>
        <p:nvSpPr>
          <p:cNvPr id="10" name="Text 8"/>
          <p:cNvSpPr/>
          <p:nvPr/>
        </p:nvSpPr>
        <p:spPr>
          <a:xfrm>
            <a:off x="594360" y="1432560"/>
            <a:ext cx="5152644" cy="438912"/>
          </a:xfrm>
          <a:prstGeom prst="rect">
            <a:avLst/>
          </a:prstGeom>
          <a:noFill/>
          <a:ln/>
        </p:spPr>
        <p:txBody>
          <a:bodyPr wrap="square" lIns="0" tIns="0" rIns="0" bIns="0" rtlCol="0" anchor="ctr">
            <a:noAutofit/>
          </a:bodyPr>
          <a:lstStyle/>
          <a:p>
            <a:pPr marL="0" indent="0">
              <a:buNone/>
            </a:pPr>
            <a:r>
              <a:rPr lang="en-US" sz="2000" b="1" dirty="0">
                <a:solidFill>
                  <a:srgbClr val="B4001B"/>
                </a:solidFill>
                <a:latin typeface="Aptos" pitchFamily="34" charset="0"/>
                <a:ea typeface="Aptos" pitchFamily="34" charset="-122"/>
                <a:cs typeface="Aptos" pitchFamily="34" charset="-120"/>
              </a:rPr>
              <a:t>Weak / biased question</a:t>
            </a:r>
            <a:endParaRPr lang="en-US" sz="2000" b="1" dirty="0"/>
          </a:p>
        </p:txBody>
      </p:sp>
      <p:sp>
        <p:nvSpPr>
          <p:cNvPr id="11" name="Shape 9"/>
          <p:cNvSpPr/>
          <p:nvPr/>
        </p:nvSpPr>
        <p:spPr>
          <a:xfrm>
            <a:off x="6259068" y="1432560"/>
            <a:ext cx="5518404" cy="438912"/>
          </a:xfrm>
          <a:prstGeom prst="rect">
            <a:avLst/>
          </a:prstGeom>
          <a:solidFill>
            <a:srgbClr val="FFF5F6"/>
          </a:solidFill>
          <a:ln w="12700">
            <a:solidFill>
              <a:srgbClr val="FFF5F6"/>
            </a:solidFill>
            <a:prstDash val="solid"/>
          </a:ln>
        </p:spPr>
        <p:txBody>
          <a:bodyPr/>
          <a:lstStyle/>
          <a:p>
            <a:endParaRPr/>
          </a:p>
        </p:txBody>
      </p:sp>
      <p:sp>
        <p:nvSpPr>
          <p:cNvPr id="12" name="Text 10"/>
          <p:cNvSpPr/>
          <p:nvPr/>
        </p:nvSpPr>
        <p:spPr>
          <a:xfrm>
            <a:off x="6441948" y="1432560"/>
            <a:ext cx="5152644" cy="438912"/>
          </a:xfrm>
          <a:prstGeom prst="rect">
            <a:avLst/>
          </a:prstGeom>
          <a:noFill/>
          <a:ln/>
        </p:spPr>
        <p:txBody>
          <a:bodyPr wrap="square" lIns="0" tIns="0" rIns="0" bIns="0" rtlCol="0" anchor="ctr">
            <a:noAutofit/>
          </a:bodyPr>
          <a:lstStyle/>
          <a:p>
            <a:pPr marL="0" indent="0">
              <a:buNone/>
            </a:pPr>
            <a:r>
              <a:rPr lang="en-US" sz="2000" b="1" dirty="0">
                <a:solidFill>
                  <a:srgbClr val="B4001B"/>
                </a:solidFill>
                <a:latin typeface="Aptos" pitchFamily="34" charset="0"/>
                <a:ea typeface="Aptos" pitchFamily="34" charset="-122"/>
                <a:cs typeface="Aptos" pitchFamily="34" charset="-120"/>
              </a:rPr>
              <a:t>Better system-analysis question</a:t>
            </a:r>
            <a:endParaRPr lang="en-US" sz="2000" b="1" dirty="0"/>
          </a:p>
        </p:txBody>
      </p:sp>
      <p:sp>
        <p:nvSpPr>
          <p:cNvPr id="13" name="Shape 11"/>
          <p:cNvSpPr/>
          <p:nvPr/>
        </p:nvSpPr>
        <p:spPr>
          <a:xfrm>
            <a:off x="411480" y="2036064"/>
            <a:ext cx="5518404" cy="681228"/>
          </a:xfrm>
          <a:prstGeom prst="rect">
            <a:avLst/>
          </a:prstGeom>
          <a:solidFill>
            <a:srgbClr val="FFFFFF"/>
          </a:solidFill>
          <a:ln w="12700">
            <a:solidFill>
              <a:srgbClr val="E6DCDC">
                <a:alpha val="95000"/>
              </a:srgbClr>
            </a:solidFill>
            <a:prstDash val="solid"/>
          </a:ln>
        </p:spPr>
        <p:txBody>
          <a:bodyPr/>
          <a:lstStyle/>
          <a:p>
            <a:endParaRPr/>
          </a:p>
        </p:txBody>
      </p:sp>
      <p:sp>
        <p:nvSpPr>
          <p:cNvPr id="14" name="Text 12"/>
          <p:cNvSpPr/>
          <p:nvPr/>
        </p:nvSpPr>
        <p:spPr>
          <a:xfrm>
            <a:off x="594360" y="2036064"/>
            <a:ext cx="5152644" cy="45720"/>
          </a:xfrm>
          <a:prstGeom prst="rect">
            <a:avLst/>
          </a:prstGeom>
          <a:noFill/>
          <a:ln/>
        </p:spPr>
        <p:txBody>
          <a:bodyPr wrap="square" lIns="0" tIns="0" rIns="0" bIns="0" rtlCol="0" anchor="ctr"/>
          <a:lstStyle/>
          <a:p>
            <a:pPr marL="0" indent="0">
              <a:buNone/>
            </a:pPr>
            <a:endParaRPr lang="en-US" sz="3600" dirty="0"/>
          </a:p>
        </p:txBody>
      </p:sp>
      <p:sp>
        <p:nvSpPr>
          <p:cNvPr id="15" name="Text 13"/>
          <p:cNvSpPr/>
          <p:nvPr/>
        </p:nvSpPr>
        <p:spPr>
          <a:xfrm>
            <a:off x="594360" y="2036064"/>
            <a:ext cx="5152644" cy="681228"/>
          </a:xfrm>
          <a:prstGeom prst="rect">
            <a:avLst/>
          </a:prstGeom>
          <a:noFill/>
          <a:ln/>
        </p:spPr>
        <p:txBody>
          <a:bodyPr wrap="square" lIns="0" tIns="0" rIns="0" bIns="0" rtlCol="0" anchor="ctr">
            <a:noAutofit/>
          </a:bodyPr>
          <a:lstStyle/>
          <a:p>
            <a:pPr marL="0" indent="0">
              <a:buNone/>
            </a:pPr>
            <a:r>
              <a:rPr lang="en-US" sz="1800" dirty="0">
                <a:solidFill>
                  <a:srgbClr val="000000"/>
                </a:solidFill>
                <a:latin typeface="Aptos" pitchFamily="34" charset="0"/>
                <a:ea typeface="Aptos" pitchFamily="34" charset="-122"/>
                <a:cs typeface="Aptos" pitchFamily="34" charset="-120"/>
              </a:rPr>
              <a:t>“Do you like our new fast portal?”</a:t>
            </a:r>
            <a:endParaRPr lang="en-US" sz="1800" dirty="0">
              <a:solidFill>
                <a:srgbClr val="000000"/>
              </a:solidFill>
            </a:endParaRPr>
          </a:p>
        </p:txBody>
      </p:sp>
      <p:sp>
        <p:nvSpPr>
          <p:cNvPr id="16" name="Shape 14"/>
          <p:cNvSpPr/>
          <p:nvPr/>
        </p:nvSpPr>
        <p:spPr>
          <a:xfrm>
            <a:off x="6259068" y="2036064"/>
            <a:ext cx="5518404" cy="681228"/>
          </a:xfrm>
          <a:prstGeom prst="rect">
            <a:avLst/>
          </a:prstGeom>
          <a:solidFill>
            <a:srgbClr val="FFFFFF"/>
          </a:solidFill>
          <a:ln w="12700">
            <a:solidFill>
              <a:srgbClr val="E6DCDC">
                <a:alpha val="95000"/>
              </a:srgbClr>
            </a:solidFill>
            <a:prstDash val="solid"/>
          </a:ln>
        </p:spPr>
        <p:txBody>
          <a:bodyPr/>
          <a:lstStyle/>
          <a:p>
            <a:endParaRPr/>
          </a:p>
        </p:txBody>
      </p:sp>
      <p:sp>
        <p:nvSpPr>
          <p:cNvPr id="17" name="Text 15"/>
          <p:cNvSpPr/>
          <p:nvPr/>
        </p:nvSpPr>
        <p:spPr>
          <a:xfrm>
            <a:off x="6441948" y="2036064"/>
            <a:ext cx="5152644" cy="45720"/>
          </a:xfrm>
          <a:prstGeom prst="rect">
            <a:avLst/>
          </a:prstGeom>
          <a:noFill/>
          <a:ln/>
        </p:spPr>
        <p:txBody>
          <a:bodyPr wrap="square" lIns="0" tIns="0" rIns="0" bIns="0" rtlCol="0" anchor="ctr"/>
          <a:lstStyle/>
          <a:p>
            <a:pPr marL="0" indent="0">
              <a:buNone/>
            </a:pPr>
            <a:endParaRPr lang="en-US" sz="3600" dirty="0"/>
          </a:p>
        </p:txBody>
      </p:sp>
      <p:sp>
        <p:nvSpPr>
          <p:cNvPr id="18" name="Text 16"/>
          <p:cNvSpPr/>
          <p:nvPr/>
        </p:nvSpPr>
        <p:spPr>
          <a:xfrm>
            <a:off x="6441948" y="2036064"/>
            <a:ext cx="5152644" cy="681228"/>
          </a:xfrm>
          <a:prstGeom prst="rect">
            <a:avLst/>
          </a:prstGeom>
          <a:noFill/>
          <a:ln/>
        </p:spPr>
        <p:txBody>
          <a:bodyPr wrap="square" lIns="0" tIns="0" rIns="0" bIns="0" rtlCol="0" anchor="ctr">
            <a:noAutofit/>
          </a:bodyPr>
          <a:lstStyle/>
          <a:p>
            <a:pPr marL="0" indent="0">
              <a:buNone/>
            </a:pPr>
            <a:r>
              <a:rPr lang="en-US" sz="1800" dirty="0">
                <a:solidFill>
                  <a:srgbClr val="000000"/>
                </a:solidFill>
                <a:latin typeface="Aptos" pitchFamily="34" charset="0"/>
                <a:ea typeface="Aptos" pitchFamily="34" charset="-122"/>
                <a:cs typeface="Aptos" pitchFamily="34" charset="-120"/>
              </a:rPr>
              <a:t>“How would you describe your experience using the portal?”</a:t>
            </a:r>
            <a:endParaRPr lang="en-US" sz="1800" dirty="0">
              <a:solidFill>
                <a:srgbClr val="000000"/>
              </a:solidFill>
            </a:endParaRPr>
          </a:p>
        </p:txBody>
      </p:sp>
      <p:sp>
        <p:nvSpPr>
          <p:cNvPr id="19" name="Shape 17"/>
          <p:cNvSpPr/>
          <p:nvPr/>
        </p:nvSpPr>
        <p:spPr>
          <a:xfrm>
            <a:off x="411480" y="2863596"/>
            <a:ext cx="5518404" cy="681228"/>
          </a:xfrm>
          <a:prstGeom prst="rect">
            <a:avLst/>
          </a:prstGeom>
          <a:solidFill>
            <a:srgbClr val="FFF9F9"/>
          </a:solidFill>
          <a:ln w="12700">
            <a:solidFill>
              <a:srgbClr val="E6DCDC">
                <a:alpha val="95000"/>
              </a:srgbClr>
            </a:solidFill>
            <a:prstDash val="solid"/>
          </a:ln>
        </p:spPr>
        <p:txBody>
          <a:bodyPr/>
          <a:lstStyle/>
          <a:p>
            <a:endParaRPr/>
          </a:p>
        </p:txBody>
      </p:sp>
      <p:sp>
        <p:nvSpPr>
          <p:cNvPr id="20" name="Text 18"/>
          <p:cNvSpPr/>
          <p:nvPr/>
        </p:nvSpPr>
        <p:spPr>
          <a:xfrm>
            <a:off x="594360" y="2863596"/>
            <a:ext cx="5152644" cy="45720"/>
          </a:xfrm>
          <a:prstGeom prst="rect">
            <a:avLst/>
          </a:prstGeom>
          <a:noFill/>
          <a:ln/>
        </p:spPr>
        <p:txBody>
          <a:bodyPr wrap="square" lIns="0" tIns="0" rIns="0" bIns="0" rtlCol="0" anchor="ctr"/>
          <a:lstStyle/>
          <a:p>
            <a:pPr marL="0" indent="0">
              <a:buNone/>
            </a:pPr>
            <a:endParaRPr lang="en-US" sz="3600" dirty="0"/>
          </a:p>
        </p:txBody>
      </p:sp>
      <p:sp>
        <p:nvSpPr>
          <p:cNvPr id="21" name="Text 19"/>
          <p:cNvSpPr/>
          <p:nvPr/>
        </p:nvSpPr>
        <p:spPr>
          <a:xfrm>
            <a:off x="594360" y="2863596"/>
            <a:ext cx="5152644" cy="681228"/>
          </a:xfrm>
          <a:prstGeom prst="rect">
            <a:avLst/>
          </a:prstGeom>
          <a:noFill/>
          <a:ln/>
        </p:spPr>
        <p:txBody>
          <a:bodyPr wrap="square" lIns="0" tIns="0" rIns="0" bIns="0" rtlCol="0" anchor="ctr">
            <a:noAutofit/>
          </a:bodyPr>
          <a:lstStyle/>
          <a:p>
            <a:pPr marL="0" indent="0">
              <a:buNone/>
            </a:pPr>
            <a:r>
              <a:rPr lang="en-US" sz="1800" dirty="0">
                <a:solidFill>
                  <a:srgbClr val="000000"/>
                </a:solidFill>
                <a:latin typeface="Aptos" pitchFamily="34" charset="0"/>
                <a:ea typeface="Aptos" pitchFamily="34" charset="-122"/>
                <a:cs typeface="Aptos" pitchFamily="34" charset="-120"/>
              </a:rPr>
              <a:t>“Was the problem caused by the small button?”</a:t>
            </a:r>
            <a:endParaRPr lang="en-US" sz="1800" dirty="0">
              <a:solidFill>
                <a:srgbClr val="000000"/>
              </a:solidFill>
            </a:endParaRPr>
          </a:p>
        </p:txBody>
      </p:sp>
      <p:sp>
        <p:nvSpPr>
          <p:cNvPr id="22" name="Shape 20"/>
          <p:cNvSpPr/>
          <p:nvPr/>
        </p:nvSpPr>
        <p:spPr>
          <a:xfrm>
            <a:off x="6259068" y="2863596"/>
            <a:ext cx="5518404" cy="681228"/>
          </a:xfrm>
          <a:prstGeom prst="rect">
            <a:avLst/>
          </a:prstGeom>
          <a:solidFill>
            <a:srgbClr val="FFF9F9"/>
          </a:solidFill>
          <a:ln w="12700">
            <a:solidFill>
              <a:srgbClr val="E6DCDC">
                <a:alpha val="95000"/>
              </a:srgbClr>
            </a:solidFill>
            <a:prstDash val="solid"/>
          </a:ln>
        </p:spPr>
        <p:txBody>
          <a:bodyPr/>
          <a:lstStyle/>
          <a:p>
            <a:endParaRPr/>
          </a:p>
        </p:txBody>
      </p:sp>
      <p:sp>
        <p:nvSpPr>
          <p:cNvPr id="23" name="Text 21"/>
          <p:cNvSpPr/>
          <p:nvPr/>
        </p:nvSpPr>
        <p:spPr>
          <a:xfrm>
            <a:off x="6441948" y="2863596"/>
            <a:ext cx="5152644" cy="45720"/>
          </a:xfrm>
          <a:prstGeom prst="rect">
            <a:avLst/>
          </a:prstGeom>
          <a:noFill/>
          <a:ln/>
        </p:spPr>
        <p:txBody>
          <a:bodyPr wrap="square" lIns="0" tIns="0" rIns="0" bIns="0" rtlCol="0" anchor="ctr"/>
          <a:lstStyle/>
          <a:p>
            <a:pPr marL="0" indent="0">
              <a:buNone/>
            </a:pPr>
            <a:endParaRPr lang="en-US" sz="3600" dirty="0"/>
          </a:p>
        </p:txBody>
      </p:sp>
      <p:sp>
        <p:nvSpPr>
          <p:cNvPr id="24" name="Text 22"/>
          <p:cNvSpPr/>
          <p:nvPr/>
        </p:nvSpPr>
        <p:spPr>
          <a:xfrm>
            <a:off x="6441948" y="2863596"/>
            <a:ext cx="5152644" cy="681228"/>
          </a:xfrm>
          <a:prstGeom prst="rect">
            <a:avLst/>
          </a:prstGeom>
          <a:noFill/>
          <a:ln/>
        </p:spPr>
        <p:txBody>
          <a:bodyPr wrap="square" lIns="0" tIns="0" rIns="0" bIns="0" rtlCol="0" anchor="ctr">
            <a:noAutofit/>
          </a:bodyPr>
          <a:lstStyle/>
          <a:p>
            <a:pPr marL="0" indent="0">
              <a:buNone/>
            </a:pPr>
            <a:r>
              <a:rPr lang="en-US" sz="1800" dirty="0">
                <a:solidFill>
                  <a:srgbClr val="000000"/>
                </a:solidFill>
                <a:latin typeface="Aptos" pitchFamily="34" charset="0"/>
                <a:ea typeface="Aptos" pitchFamily="34" charset="-122"/>
                <a:cs typeface="Aptos" pitchFamily="34" charset="-120"/>
              </a:rPr>
              <a:t>“What made that step difficult?”</a:t>
            </a:r>
            <a:endParaRPr lang="en-US" sz="1800" dirty="0">
              <a:solidFill>
                <a:srgbClr val="000000"/>
              </a:solidFill>
            </a:endParaRPr>
          </a:p>
        </p:txBody>
      </p:sp>
      <p:sp>
        <p:nvSpPr>
          <p:cNvPr id="25" name="Shape 23"/>
          <p:cNvSpPr/>
          <p:nvPr/>
        </p:nvSpPr>
        <p:spPr>
          <a:xfrm>
            <a:off x="411480" y="3691128"/>
            <a:ext cx="5518404" cy="681228"/>
          </a:xfrm>
          <a:prstGeom prst="rect">
            <a:avLst/>
          </a:prstGeom>
          <a:solidFill>
            <a:srgbClr val="FFFFFF"/>
          </a:solidFill>
          <a:ln w="12700">
            <a:solidFill>
              <a:srgbClr val="E6DCDC">
                <a:alpha val="95000"/>
              </a:srgbClr>
            </a:solidFill>
            <a:prstDash val="solid"/>
          </a:ln>
        </p:spPr>
        <p:txBody>
          <a:bodyPr/>
          <a:lstStyle/>
          <a:p>
            <a:endParaRPr/>
          </a:p>
        </p:txBody>
      </p:sp>
      <p:sp>
        <p:nvSpPr>
          <p:cNvPr id="26" name="Text 24"/>
          <p:cNvSpPr/>
          <p:nvPr/>
        </p:nvSpPr>
        <p:spPr>
          <a:xfrm>
            <a:off x="594360" y="3691128"/>
            <a:ext cx="5152644" cy="45720"/>
          </a:xfrm>
          <a:prstGeom prst="rect">
            <a:avLst/>
          </a:prstGeom>
          <a:noFill/>
          <a:ln/>
        </p:spPr>
        <p:txBody>
          <a:bodyPr wrap="square" lIns="0" tIns="0" rIns="0" bIns="0" rtlCol="0" anchor="ctr"/>
          <a:lstStyle/>
          <a:p>
            <a:pPr marL="0" indent="0">
              <a:buNone/>
            </a:pPr>
            <a:endParaRPr lang="en-US" sz="3600" dirty="0"/>
          </a:p>
        </p:txBody>
      </p:sp>
      <p:sp>
        <p:nvSpPr>
          <p:cNvPr id="27" name="Text 25"/>
          <p:cNvSpPr/>
          <p:nvPr/>
        </p:nvSpPr>
        <p:spPr>
          <a:xfrm>
            <a:off x="594360" y="3691128"/>
            <a:ext cx="5152644" cy="681228"/>
          </a:xfrm>
          <a:prstGeom prst="rect">
            <a:avLst/>
          </a:prstGeom>
          <a:noFill/>
          <a:ln/>
        </p:spPr>
        <p:txBody>
          <a:bodyPr wrap="square" lIns="0" tIns="0" rIns="0" bIns="0" rtlCol="0" anchor="ctr">
            <a:noAutofit/>
          </a:bodyPr>
          <a:lstStyle/>
          <a:p>
            <a:pPr marL="0" indent="0">
              <a:buNone/>
            </a:pPr>
            <a:r>
              <a:rPr lang="en-US" sz="1800" dirty="0">
                <a:solidFill>
                  <a:srgbClr val="000000"/>
                </a:solidFill>
                <a:latin typeface="Aptos" pitchFamily="34" charset="0"/>
                <a:ea typeface="Aptos" pitchFamily="34" charset="-122"/>
                <a:cs typeface="Aptos" pitchFamily="34" charset="-120"/>
              </a:rPr>
              <a:t>“Do you use it every morning?”</a:t>
            </a:r>
            <a:endParaRPr lang="en-US" sz="1800" dirty="0">
              <a:solidFill>
                <a:srgbClr val="000000"/>
              </a:solidFill>
            </a:endParaRPr>
          </a:p>
        </p:txBody>
      </p:sp>
      <p:sp>
        <p:nvSpPr>
          <p:cNvPr id="28" name="Shape 26"/>
          <p:cNvSpPr/>
          <p:nvPr/>
        </p:nvSpPr>
        <p:spPr>
          <a:xfrm>
            <a:off x="6259068" y="3691128"/>
            <a:ext cx="5518404" cy="681228"/>
          </a:xfrm>
          <a:prstGeom prst="rect">
            <a:avLst/>
          </a:prstGeom>
          <a:solidFill>
            <a:srgbClr val="FFFFFF"/>
          </a:solidFill>
          <a:ln w="12700">
            <a:solidFill>
              <a:srgbClr val="E6DCDC">
                <a:alpha val="95000"/>
              </a:srgbClr>
            </a:solidFill>
            <a:prstDash val="solid"/>
          </a:ln>
        </p:spPr>
        <p:txBody>
          <a:bodyPr/>
          <a:lstStyle/>
          <a:p>
            <a:endParaRPr/>
          </a:p>
        </p:txBody>
      </p:sp>
      <p:sp>
        <p:nvSpPr>
          <p:cNvPr id="29" name="Text 27"/>
          <p:cNvSpPr/>
          <p:nvPr/>
        </p:nvSpPr>
        <p:spPr>
          <a:xfrm>
            <a:off x="6441948" y="3691128"/>
            <a:ext cx="5152644" cy="45720"/>
          </a:xfrm>
          <a:prstGeom prst="rect">
            <a:avLst/>
          </a:prstGeom>
          <a:noFill/>
          <a:ln/>
        </p:spPr>
        <p:txBody>
          <a:bodyPr wrap="square" lIns="0" tIns="0" rIns="0" bIns="0" rtlCol="0" anchor="ctr"/>
          <a:lstStyle/>
          <a:p>
            <a:pPr marL="0" indent="0">
              <a:buNone/>
            </a:pPr>
            <a:endParaRPr lang="en-US" sz="3600" dirty="0"/>
          </a:p>
        </p:txBody>
      </p:sp>
      <p:sp>
        <p:nvSpPr>
          <p:cNvPr id="30" name="Text 28"/>
          <p:cNvSpPr/>
          <p:nvPr/>
        </p:nvSpPr>
        <p:spPr>
          <a:xfrm>
            <a:off x="6441948" y="3691128"/>
            <a:ext cx="5152644" cy="681228"/>
          </a:xfrm>
          <a:prstGeom prst="rect">
            <a:avLst/>
          </a:prstGeom>
          <a:noFill/>
          <a:ln/>
        </p:spPr>
        <p:txBody>
          <a:bodyPr wrap="square" lIns="0" tIns="0" rIns="0" bIns="0" rtlCol="0" anchor="ctr">
            <a:noAutofit/>
          </a:bodyPr>
          <a:lstStyle/>
          <a:p>
            <a:pPr marL="0" indent="0">
              <a:buNone/>
            </a:pPr>
            <a:r>
              <a:rPr lang="en-US" sz="1800" dirty="0">
                <a:solidFill>
                  <a:srgbClr val="000000"/>
                </a:solidFill>
                <a:latin typeface="Aptos" pitchFamily="34" charset="0"/>
                <a:ea typeface="Aptos" pitchFamily="34" charset="-122"/>
                <a:cs typeface="Aptos" pitchFamily="34" charset="-120"/>
              </a:rPr>
              <a:t>“Can you tell me when and how you use it?”</a:t>
            </a:r>
            <a:endParaRPr lang="en-US" sz="1800" dirty="0">
              <a:solidFill>
                <a:srgbClr val="000000"/>
              </a:solidFill>
            </a:endParaRPr>
          </a:p>
        </p:txBody>
      </p:sp>
      <p:sp>
        <p:nvSpPr>
          <p:cNvPr id="31" name="Shape 29"/>
          <p:cNvSpPr/>
          <p:nvPr/>
        </p:nvSpPr>
        <p:spPr>
          <a:xfrm>
            <a:off x="411480" y="4518660"/>
            <a:ext cx="5518404" cy="681228"/>
          </a:xfrm>
          <a:prstGeom prst="rect">
            <a:avLst/>
          </a:prstGeom>
          <a:solidFill>
            <a:srgbClr val="FFF9F9"/>
          </a:solidFill>
          <a:ln w="12700">
            <a:solidFill>
              <a:srgbClr val="E6DCDC">
                <a:alpha val="95000"/>
              </a:srgbClr>
            </a:solidFill>
            <a:prstDash val="solid"/>
          </a:ln>
        </p:spPr>
        <p:txBody>
          <a:bodyPr/>
          <a:lstStyle/>
          <a:p>
            <a:endParaRPr/>
          </a:p>
        </p:txBody>
      </p:sp>
      <p:sp>
        <p:nvSpPr>
          <p:cNvPr id="32" name="Text 30"/>
          <p:cNvSpPr/>
          <p:nvPr/>
        </p:nvSpPr>
        <p:spPr>
          <a:xfrm>
            <a:off x="594360" y="4518660"/>
            <a:ext cx="5152644" cy="45720"/>
          </a:xfrm>
          <a:prstGeom prst="rect">
            <a:avLst/>
          </a:prstGeom>
          <a:noFill/>
          <a:ln/>
        </p:spPr>
        <p:txBody>
          <a:bodyPr wrap="square" lIns="0" tIns="0" rIns="0" bIns="0" rtlCol="0" anchor="ctr"/>
          <a:lstStyle/>
          <a:p>
            <a:pPr marL="0" indent="0">
              <a:buNone/>
            </a:pPr>
            <a:endParaRPr lang="en-US" sz="3600" dirty="0"/>
          </a:p>
        </p:txBody>
      </p:sp>
      <p:sp>
        <p:nvSpPr>
          <p:cNvPr id="33" name="Text 31"/>
          <p:cNvSpPr/>
          <p:nvPr/>
        </p:nvSpPr>
        <p:spPr>
          <a:xfrm>
            <a:off x="594360" y="4518660"/>
            <a:ext cx="5152644" cy="681228"/>
          </a:xfrm>
          <a:prstGeom prst="rect">
            <a:avLst/>
          </a:prstGeom>
          <a:noFill/>
          <a:ln/>
        </p:spPr>
        <p:txBody>
          <a:bodyPr wrap="square" lIns="0" tIns="0" rIns="0" bIns="0" rtlCol="0" anchor="ctr">
            <a:noAutofit/>
          </a:bodyPr>
          <a:lstStyle/>
          <a:p>
            <a:pPr marL="0" indent="0">
              <a:buNone/>
            </a:pPr>
            <a:r>
              <a:rPr lang="en-US" sz="1800" dirty="0">
                <a:solidFill>
                  <a:srgbClr val="000000"/>
                </a:solidFill>
                <a:latin typeface="Aptos" pitchFamily="34" charset="0"/>
                <a:ea typeface="Aptos" pitchFamily="34" charset="-122"/>
                <a:cs typeface="Aptos" pitchFamily="34" charset="-120"/>
              </a:rPr>
              <a:t>“What is your average workday like?”</a:t>
            </a:r>
            <a:endParaRPr lang="en-US" sz="1800" dirty="0">
              <a:solidFill>
                <a:srgbClr val="000000"/>
              </a:solidFill>
            </a:endParaRPr>
          </a:p>
        </p:txBody>
      </p:sp>
      <p:sp>
        <p:nvSpPr>
          <p:cNvPr id="34" name="Shape 32"/>
          <p:cNvSpPr/>
          <p:nvPr/>
        </p:nvSpPr>
        <p:spPr>
          <a:xfrm>
            <a:off x="6259068" y="4518660"/>
            <a:ext cx="5518404" cy="681228"/>
          </a:xfrm>
          <a:prstGeom prst="rect">
            <a:avLst/>
          </a:prstGeom>
          <a:solidFill>
            <a:srgbClr val="FFF9F9"/>
          </a:solidFill>
          <a:ln w="12700">
            <a:solidFill>
              <a:srgbClr val="E6DCDC">
                <a:alpha val="95000"/>
              </a:srgbClr>
            </a:solidFill>
            <a:prstDash val="solid"/>
          </a:ln>
        </p:spPr>
        <p:txBody>
          <a:bodyPr/>
          <a:lstStyle/>
          <a:p>
            <a:endParaRPr/>
          </a:p>
        </p:txBody>
      </p:sp>
      <p:sp>
        <p:nvSpPr>
          <p:cNvPr id="35" name="Text 33"/>
          <p:cNvSpPr/>
          <p:nvPr/>
        </p:nvSpPr>
        <p:spPr>
          <a:xfrm>
            <a:off x="6441948" y="4518660"/>
            <a:ext cx="5152644" cy="45720"/>
          </a:xfrm>
          <a:prstGeom prst="rect">
            <a:avLst/>
          </a:prstGeom>
          <a:noFill/>
          <a:ln/>
        </p:spPr>
        <p:txBody>
          <a:bodyPr wrap="square" lIns="0" tIns="0" rIns="0" bIns="0" rtlCol="0" anchor="ctr"/>
          <a:lstStyle/>
          <a:p>
            <a:pPr marL="0" indent="0">
              <a:buNone/>
            </a:pPr>
            <a:endParaRPr lang="en-US" sz="3600" dirty="0"/>
          </a:p>
        </p:txBody>
      </p:sp>
      <p:sp>
        <p:nvSpPr>
          <p:cNvPr id="36" name="Text 34"/>
          <p:cNvSpPr/>
          <p:nvPr/>
        </p:nvSpPr>
        <p:spPr>
          <a:xfrm>
            <a:off x="6441948" y="4518660"/>
            <a:ext cx="5152644" cy="681228"/>
          </a:xfrm>
          <a:prstGeom prst="rect">
            <a:avLst/>
          </a:prstGeom>
          <a:noFill/>
          <a:ln/>
        </p:spPr>
        <p:txBody>
          <a:bodyPr wrap="square" lIns="0" tIns="0" rIns="0" bIns="0" rtlCol="0" anchor="ctr">
            <a:noAutofit/>
          </a:bodyPr>
          <a:lstStyle/>
          <a:p>
            <a:pPr marL="0" indent="0">
              <a:buNone/>
            </a:pPr>
            <a:r>
              <a:rPr lang="en-US" sz="1800" dirty="0">
                <a:solidFill>
                  <a:srgbClr val="000000"/>
                </a:solidFill>
                <a:latin typeface="Aptos" pitchFamily="34" charset="0"/>
                <a:ea typeface="Aptos" pitchFamily="34" charset="-122"/>
                <a:cs typeface="Aptos" pitchFamily="34" charset="-120"/>
              </a:rPr>
              <a:t>“Tell me what happened the last time you processed a request.”</a:t>
            </a:r>
            <a:endParaRPr lang="en-US" sz="1800" dirty="0">
              <a:solidFill>
                <a:srgbClr val="000000"/>
              </a:solidFill>
            </a:endParaRPr>
          </a:p>
        </p:txBody>
      </p:sp>
      <p:sp>
        <p:nvSpPr>
          <p:cNvPr id="37" name="Shape 35"/>
          <p:cNvSpPr/>
          <p:nvPr/>
        </p:nvSpPr>
        <p:spPr>
          <a:xfrm>
            <a:off x="411480" y="5474208"/>
            <a:ext cx="11365992" cy="725424"/>
          </a:xfrm>
          <a:prstGeom prst="rect">
            <a:avLst/>
          </a:prstGeom>
          <a:solidFill>
            <a:srgbClr val="B4001B"/>
          </a:solidFill>
          <a:ln w="12700">
            <a:solidFill>
              <a:srgbClr val="B4001B"/>
            </a:solidFill>
            <a:prstDash val="solid"/>
          </a:ln>
        </p:spPr>
        <p:txBody>
          <a:bodyPr/>
          <a:lstStyle/>
          <a:p>
            <a:endParaRPr/>
          </a:p>
        </p:txBody>
      </p:sp>
      <p:sp>
        <p:nvSpPr>
          <p:cNvPr id="38" name="Text 36"/>
          <p:cNvSpPr/>
          <p:nvPr/>
        </p:nvSpPr>
        <p:spPr>
          <a:xfrm>
            <a:off x="594360" y="5474208"/>
            <a:ext cx="11000232" cy="725424"/>
          </a:xfrm>
          <a:prstGeom prst="rect">
            <a:avLst/>
          </a:prstGeom>
          <a:noFill/>
          <a:ln/>
        </p:spPr>
        <p:txBody>
          <a:bodyPr wrap="square" lIns="0" tIns="0" rIns="0" bIns="0" rtlCol="0" anchor="ctr">
            <a:noAutofit/>
          </a:bodyPr>
          <a:lstStyle/>
          <a:p>
            <a:pPr marL="0" indent="0">
              <a:lnSpc>
                <a:spcPct val="100000"/>
              </a:lnSpc>
              <a:buNone/>
            </a:pPr>
            <a:r>
              <a:rPr lang="en-US" sz="1600" b="1" i="1" dirty="0">
                <a:solidFill>
                  <a:srgbClr val="FFFFFF"/>
                </a:solidFill>
                <a:latin typeface="Georgia"/>
                <a:ea typeface="Georgia"/>
                <a:cs typeface="Georgia"/>
              </a:rPr>
              <a:t>Analyst mindset: remain neutral, probe details, avoid suggesting the answer, and document evidence clearly.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55448"/>
            <a:ext cx="5486400" cy="201168"/>
          </a:xfrm>
          <a:prstGeom prst="rect">
            <a:avLst/>
          </a:prstGeom>
          <a:noFill/>
          <a:ln/>
        </p:spPr>
        <p:txBody>
          <a:bodyPr wrap="square" lIns="0" tIns="0" rIns="0" bIns="0" rtlCol="0" anchor="ctr">
            <a:noAutofit/>
          </a:bodyPr>
          <a:lstStyle/>
          <a:p>
            <a:pPr marL="0" indent="0">
              <a:buNone/>
            </a:pPr>
            <a:r>
              <a:rPr lang="en-US" sz="1100" b="1" dirty="0">
                <a:solidFill>
                  <a:srgbClr val="B4001B"/>
                </a:solidFill>
                <a:latin typeface="Aptos" pitchFamily="34" charset="0"/>
                <a:ea typeface="Aptos" pitchFamily="34" charset="-122"/>
                <a:cs typeface="Aptos" pitchFamily="34" charset="-120"/>
              </a:rPr>
              <a:t>INTERVIEWS</a:t>
            </a:r>
            <a:endParaRPr lang="en-US" sz="1100" b="1" dirty="0"/>
          </a:p>
        </p:txBody>
      </p:sp>
      <p:sp>
        <p:nvSpPr>
          <p:cNvPr id="3" name="Text 1"/>
          <p:cNvSpPr/>
          <p:nvPr/>
        </p:nvSpPr>
        <p:spPr>
          <a:xfrm>
            <a:off x="411480" y="365760"/>
            <a:ext cx="11365992" cy="512064"/>
          </a:xfrm>
          <a:prstGeom prst="rect">
            <a:avLst/>
          </a:prstGeom>
          <a:noFill/>
          <a:ln/>
        </p:spPr>
        <p:txBody>
          <a:bodyPr wrap="square" lIns="0" tIns="0" rIns="0" bIns="0" rtlCol="0" anchor="ctr">
            <a:noAutofit/>
          </a:bodyPr>
          <a:lstStyle/>
          <a:p>
            <a:pPr marL="0" indent="0" algn="l">
              <a:buNone/>
            </a:pPr>
            <a:r>
              <a:rPr lang="en-US" sz="3200" b="1" i="1" dirty="0">
                <a:solidFill>
                  <a:srgbClr val="111111"/>
                </a:solidFill>
                <a:latin typeface="Georgia"/>
                <a:ea typeface="Georgia"/>
                <a:cs typeface="Georgia"/>
              </a:rPr>
              <a:t>Interview Workflow for Requirements</a:t>
            </a:r>
          </a:p>
        </p:txBody>
      </p:sp>
      <p:sp>
        <p:nvSpPr>
          <p:cNvPr id="4" name="Text 2"/>
          <p:cNvSpPr/>
          <p:nvPr/>
        </p:nvSpPr>
        <p:spPr>
          <a:xfrm>
            <a:off x="411480" y="932688"/>
            <a:ext cx="11365992" cy="280416"/>
          </a:xfrm>
          <a:prstGeom prst="rect">
            <a:avLst/>
          </a:prstGeom>
          <a:noFill/>
          <a:ln/>
        </p:spPr>
        <p:txBody>
          <a:bodyPr wrap="square" lIns="0" tIns="0" rIns="0" bIns="0" rtlCol="0" anchor="t">
            <a:noAutofit/>
          </a:bodyPr>
          <a:lstStyle/>
          <a:p>
            <a:pPr marL="0" indent="0" algn="l">
              <a:lnSpc>
                <a:spcPct val="100000"/>
              </a:lnSpc>
              <a:buNone/>
            </a:pPr>
            <a:r>
              <a:rPr lang="en-US" sz="1600" b="0" i="1" dirty="0">
                <a:solidFill>
                  <a:srgbClr val="000000"/>
                </a:solidFill>
                <a:latin typeface="Aptos"/>
                <a:ea typeface="Aptos"/>
                <a:cs typeface="Aptos"/>
              </a:rPr>
              <a:t>Use interviews as a disciplined investigation process, not a casual chat.</a:t>
            </a:r>
          </a:p>
        </p:txBody>
      </p:sp>
      <p:sp>
        <p:nvSpPr>
          <p:cNvPr id="5" name="Text 3"/>
          <p:cNvSpPr/>
          <p:nvPr/>
        </p:nvSpPr>
        <p:spPr>
          <a:xfrm>
            <a:off x="502920" y="6565392"/>
            <a:ext cx="1280160" cy="109728"/>
          </a:xfrm>
          <a:prstGeom prst="rect">
            <a:avLst/>
          </a:prstGeom>
          <a:noFill/>
          <a:ln/>
        </p:spPr>
        <p:txBody>
          <a:bodyPr wrap="square" rtlCol="0" anchor="ctr"/>
          <a:lstStyle/>
          <a:p>
            <a:pPr marL="0" indent="0">
              <a:buNone/>
            </a:pPr>
            <a:r>
              <a:rPr lang="en-US" sz="1000" dirty="0">
                <a:solidFill>
                  <a:srgbClr val="777777"/>
                </a:solidFill>
                <a:latin typeface="Aptos" pitchFamily="34" charset="0"/>
                <a:ea typeface="Aptos" pitchFamily="34" charset="-122"/>
                <a:cs typeface="Aptos" pitchFamily="34" charset="-120"/>
              </a:rPr>
              <a:t>1/28/2026</a:t>
            </a:r>
            <a:endParaRPr lang="en-US" sz="1000" dirty="0"/>
          </a:p>
        </p:txBody>
      </p:sp>
      <p:sp>
        <p:nvSpPr>
          <p:cNvPr id="6" name="Text 4"/>
          <p:cNvSpPr/>
          <p:nvPr/>
        </p:nvSpPr>
        <p:spPr>
          <a:xfrm>
            <a:off x="5257800" y="6565392"/>
            <a:ext cx="1645920" cy="109728"/>
          </a:xfrm>
          <a:prstGeom prst="rect">
            <a:avLst/>
          </a:prstGeom>
          <a:noFill/>
          <a:ln/>
        </p:spPr>
        <p:txBody>
          <a:bodyPr wrap="square" rtlCol="0" anchor="ctr"/>
          <a:lstStyle/>
          <a:p>
            <a:pPr marL="0" indent="0" algn="ctr">
              <a:buNone/>
            </a:pPr>
            <a:r>
              <a:rPr lang="en-US" sz="1000" dirty="0">
                <a:solidFill>
                  <a:srgbClr val="777777"/>
                </a:solidFill>
                <a:latin typeface="Aptos" pitchFamily="34" charset="0"/>
                <a:ea typeface="Aptos" pitchFamily="34" charset="-122"/>
                <a:cs typeface="Aptos" pitchFamily="34" charset="-120"/>
              </a:rPr>
              <a:t>Md. Manirujjaman</a:t>
            </a:r>
            <a:endParaRPr lang="en-US" sz="1000" dirty="0"/>
          </a:p>
        </p:txBody>
      </p:sp>
      <p:sp>
        <p:nvSpPr>
          <p:cNvPr id="7" name="Shape 5"/>
          <p:cNvSpPr/>
          <p:nvPr/>
        </p:nvSpPr>
        <p:spPr>
          <a:xfrm>
            <a:off x="11430000" y="6327648"/>
            <a:ext cx="274320" cy="274320"/>
          </a:xfrm>
          <a:prstGeom prst="ellipse">
            <a:avLst/>
          </a:prstGeom>
          <a:solidFill>
            <a:srgbClr val="B4001B"/>
          </a:solidFill>
          <a:ln w="12700">
            <a:solidFill>
              <a:srgbClr val="B4001B"/>
            </a:solidFill>
            <a:prstDash val="solid"/>
          </a:ln>
        </p:spPr>
        <p:txBody>
          <a:bodyPr wrap="none" lIns="0" tIns="0" rIns="0" bIns="0" anchor="ctr"/>
          <a:lstStyle/>
          <a:p>
            <a:pPr algn="ctr"/>
            <a:fld id="{8A2B6C1E-3F4D-4E5A-9B7C-1D2E3F4A5B6C}" type="slidenum">
              <a:rPr lang="en-US" sz="900" b="1">
                <a:solidFill>
                  <a:srgbClr val="FFFFFF"/>
                </a:solidFill>
                <a:latin typeface="Aptos"/>
              </a:rPr>
              <a:t>7</a:t>
            </a:fld>
            <a:endParaRPr lang="en-US" sz="900" b="1">
              <a:solidFill>
                <a:srgbClr val="FFFFFF"/>
              </a:solidFill>
              <a:latin typeface="Aptos"/>
            </a:endParaRPr>
          </a:p>
        </p:txBody>
      </p:sp>
      <p:sp>
        <p:nvSpPr>
          <p:cNvPr id="9" name="Shape 7"/>
          <p:cNvSpPr/>
          <p:nvPr/>
        </p:nvSpPr>
        <p:spPr>
          <a:xfrm>
            <a:off x="428396" y="1770888"/>
            <a:ext cx="2024481" cy="1783080"/>
          </a:xfrm>
          <a:prstGeom prst="rect">
            <a:avLst/>
          </a:prstGeom>
          <a:solidFill>
            <a:srgbClr val="FFFFFF"/>
          </a:solidFill>
          <a:ln w="12700">
            <a:solidFill>
              <a:srgbClr val="E6DCDC">
                <a:alpha val="95000"/>
              </a:srgbClr>
            </a:solidFill>
            <a:prstDash val="solid"/>
          </a:ln>
        </p:spPr>
        <p:txBody>
          <a:bodyPr/>
          <a:lstStyle/>
          <a:p>
            <a:endParaRPr/>
          </a:p>
        </p:txBody>
      </p:sp>
      <p:sp>
        <p:nvSpPr>
          <p:cNvPr id="10" name="Shape 8"/>
          <p:cNvSpPr/>
          <p:nvPr/>
        </p:nvSpPr>
        <p:spPr>
          <a:xfrm>
            <a:off x="611276" y="1926336"/>
            <a:ext cx="292608" cy="292608"/>
          </a:xfrm>
          <a:prstGeom prst="ellipse">
            <a:avLst/>
          </a:prstGeom>
          <a:solidFill>
            <a:srgbClr val="B4001B"/>
          </a:solidFill>
          <a:ln w="12700">
            <a:solidFill>
              <a:srgbClr val="B4001B"/>
            </a:solidFill>
            <a:prstDash val="solid"/>
          </a:ln>
        </p:spPr>
        <p:txBody>
          <a:bodyPr/>
          <a:lstStyle/>
          <a:p>
            <a:endParaRPr/>
          </a:p>
        </p:txBody>
      </p:sp>
      <p:sp>
        <p:nvSpPr>
          <p:cNvPr id="11" name="Text 9"/>
          <p:cNvSpPr/>
          <p:nvPr/>
        </p:nvSpPr>
        <p:spPr>
          <a:xfrm>
            <a:off x="611276" y="1926336"/>
            <a:ext cx="292608" cy="292608"/>
          </a:xfrm>
          <a:prstGeom prst="rect">
            <a:avLst/>
          </a:prstGeom>
          <a:noFill/>
          <a:ln/>
        </p:spPr>
        <p:txBody>
          <a:bodyPr wrap="non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1</a:t>
            </a:r>
            <a:endParaRPr lang="en-US" sz="1100" b="1" dirty="0"/>
          </a:p>
        </p:txBody>
      </p:sp>
      <p:sp>
        <p:nvSpPr>
          <p:cNvPr id="12" name="Text 10"/>
          <p:cNvSpPr/>
          <p:nvPr/>
        </p:nvSpPr>
        <p:spPr>
          <a:xfrm>
            <a:off x="1013611" y="1917192"/>
            <a:ext cx="1311249" cy="292608"/>
          </a:xfrm>
          <a:prstGeom prst="rect">
            <a:avLst/>
          </a:prstGeom>
          <a:noFill/>
          <a:ln/>
        </p:spPr>
        <p:txBody>
          <a:bodyPr wrap="square" lIns="0" tIns="0" rIns="0" bIns="0" rtlCol="0" anchor="t">
            <a:noAutofit/>
          </a:bodyPr>
          <a:lstStyle/>
          <a:p>
            <a:pPr marL="0" indent="0" algn="l">
              <a:lnSpc>
                <a:spcPct val="100000"/>
              </a:lnSpc>
              <a:buNone/>
            </a:pPr>
            <a:r>
              <a:rPr lang="en-US" sz="1800" b="1" i="1" dirty="0">
                <a:solidFill>
                  <a:srgbClr val="111111"/>
                </a:solidFill>
                <a:latin typeface="Georgia"/>
                <a:ea typeface="Georgia"/>
                <a:cs typeface="Georgia"/>
              </a:rPr>
              <a:t>Prepare</a:t>
            </a:r>
          </a:p>
        </p:txBody>
      </p:sp>
      <p:sp>
        <p:nvSpPr>
          <p:cNvPr id="13" name="Text 11"/>
          <p:cNvSpPr/>
          <p:nvPr/>
        </p:nvSpPr>
        <p:spPr>
          <a:xfrm>
            <a:off x="611276" y="2337816"/>
            <a:ext cx="1658721" cy="1088136"/>
          </a:xfrm>
          <a:prstGeom prst="rect">
            <a:avLst/>
          </a:prstGeom>
          <a:noFill/>
          <a:ln/>
        </p:spPr>
        <p:txBody>
          <a:bodyPr wrap="square" lIns="0" tIns="0" rIns="0" bIns="0" rtlCol="0" anchor="t">
            <a:noAutofit/>
          </a:bodyPr>
          <a:lstStyle/>
          <a:p>
            <a:pPr marL="0" indent="0">
              <a:lnSpc>
                <a:spcPct val="100000"/>
              </a:lnSpc>
              <a:spcBef>
                <a:spcPts val="0"/>
              </a:spcBef>
              <a:spcAft>
                <a:spcPts val="0"/>
              </a:spcAft>
              <a:buNone/>
            </a:pPr>
            <a:r>
              <a:rPr lang="en-US" sz="1600" dirty="0">
                <a:solidFill>
                  <a:srgbClr val="000000"/>
                </a:solidFill>
                <a:latin typeface="Aptos" pitchFamily="34" charset="0"/>
                <a:ea typeface="Aptos" pitchFamily="34" charset="-122"/>
                <a:cs typeface="Aptos" pitchFamily="34" charset="-120"/>
              </a:rPr>
              <a:t>Study documents, define topics, plan participants</a:t>
            </a:r>
            <a:endParaRPr lang="en-US" sz="1600" dirty="0">
              <a:solidFill>
                <a:srgbClr val="000000"/>
              </a:solidFill>
            </a:endParaRPr>
          </a:p>
        </p:txBody>
      </p:sp>
      <p:sp>
        <p:nvSpPr>
          <p:cNvPr id="14" name="Shape 12"/>
          <p:cNvSpPr/>
          <p:nvPr/>
        </p:nvSpPr>
        <p:spPr>
          <a:xfrm>
            <a:off x="2498597" y="2662428"/>
            <a:ext cx="219456" cy="0"/>
          </a:xfrm>
          <a:prstGeom prst="line">
            <a:avLst/>
          </a:prstGeom>
          <a:noFill/>
          <a:ln w="13970">
            <a:solidFill>
              <a:srgbClr val="B4001B"/>
            </a:solidFill>
            <a:prstDash val="solid"/>
            <a:headEnd type="none"/>
            <a:tailEnd type="triangle"/>
          </a:ln>
        </p:spPr>
        <p:txBody>
          <a:bodyPr/>
          <a:lstStyle/>
          <a:p>
            <a:endParaRPr/>
          </a:p>
        </p:txBody>
      </p:sp>
      <p:sp>
        <p:nvSpPr>
          <p:cNvPr id="15" name="Shape 13"/>
          <p:cNvSpPr/>
          <p:nvPr/>
        </p:nvSpPr>
        <p:spPr>
          <a:xfrm>
            <a:off x="2763773" y="1770888"/>
            <a:ext cx="2024481" cy="1783080"/>
          </a:xfrm>
          <a:prstGeom prst="rect">
            <a:avLst/>
          </a:prstGeom>
          <a:solidFill>
            <a:srgbClr val="FFFFFF"/>
          </a:solidFill>
          <a:ln w="12700">
            <a:solidFill>
              <a:srgbClr val="E6DCDC">
                <a:alpha val="95000"/>
              </a:srgbClr>
            </a:solidFill>
            <a:prstDash val="solid"/>
          </a:ln>
        </p:spPr>
        <p:txBody>
          <a:bodyPr/>
          <a:lstStyle/>
          <a:p>
            <a:endParaRPr/>
          </a:p>
        </p:txBody>
      </p:sp>
      <p:sp>
        <p:nvSpPr>
          <p:cNvPr id="16" name="Shape 14"/>
          <p:cNvSpPr/>
          <p:nvPr/>
        </p:nvSpPr>
        <p:spPr>
          <a:xfrm>
            <a:off x="2946653" y="1926336"/>
            <a:ext cx="292608" cy="292608"/>
          </a:xfrm>
          <a:prstGeom prst="ellipse">
            <a:avLst/>
          </a:prstGeom>
          <a:solidFill>
            <a:srgbClr val="B4001B"/>
          </a:solidFill>
          <a:ln w="12700">
            <a:solidFill>
              <a:srgbClr val="B4001B"/>
            </a:solidFill>
            <a:prstDash val="solid"/>
          </a:ln>
        </p:spPr>
        <p:txBody>
          <a:bodyPr/>
          <a:lstStyle/>
          <a:p>
            <a:endParaRPr/>
          </a:p>
        </p:txBody>
      </p:sp>
      <p:sp>
        <p:nvSpPr>
          <p:cNvPr id="17" name="Text 15"/>
          <p:cNvSpPr/>
          <p:nvPr/>
        </p:nvSpPr>
        <p:spPr>
          <a:xfrm>
            <a:off x="2946653" y="1926336"/>
            <a:ext cx="292608" cy="292608"/>
          </a:xfrm>
          <a:prstGeom prst="rect">
            <a:avLst/>
          </a:prstGeom>
          <a:noFill/>
          <a:ln/>
        </p:spPr>
        <p:txBody>
          <a:bodyPr wrap="non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2</a:t>
            </a:r>
            <a:endParaRPr lang="en-US" sz="1100" b="1" dirty="0"/>
          </a:p>
        </p:txBody>
      </p:sp>
      <p:sp>
        <p:nvSpPr>
          <p:cNvPr id="18" name="Text 16"/>
          <p:cNvSpPr/>
          <p:nvPr/>
        </p:nvSpPr>
        <p:spPr>
          <a:xfrm>
            <a:off x="3348989" y="1917192"/>
            <a:ext cx="1311249" cy="292608"/>
          </a:xfrm>
          <a:prstGeom prst="rect">
            <a:avLst/>
          </a:prstGeom>
          <a:noFill/>
          <a:ln/>
        </p:spPr>
        <p:txBody>
          <a:bodyPr wrap="square" lIns="0" tIns="0" rIns="0" bIns="0" rtlCol="0" anchor="t">
            <a:noAutofit/>
          </a:bodyPr>
          <a:lstStyle/>
          <a:p>
            <a:pPr marL="0" indent="0" algn="l">
              <a:lnSpc>
                <a:spcPct val="100000"/>
              </a:lnSpc>
              <a:buNone/>
            </a:pPr>
            <a:r>
              <a:rPr lang="en-US" sz="1800" b="1" i="1" dirty="0">
                <a:solidFill>
                  <a:srgbClr val="111111"/>
                </a:solidFill>
                <a:latin typeface="Georgia"/>
                <a:ea typeface="Georgia"/>
                <a:cs typeface="Georgia"/>
              </a:rPr>
              <a:t>Open</a:t>
            </a:r>
          </a:p>
        </p:txBody>
      </p:sp>
      <p:sp>
        <p:nvSpPr>
          <p:cNvPr id="19" name="Text 17"/>
          <p:cNvSpPr/>
          <p:nvPr/>
        </p:nvSpPr>
        <p:spPr>
          <a:xfrm>
            <a:off x="2946653" y="2337816"/>
            <a:ext cx="1658721" cy="1088136"/>
          </a:xfrm>
          <a:prstGeom prst="rect">
            <a:avLst/>
          </a:prstGeom>
          <a:noFill/>
          <a:ln/>
        </p:spPr>
        <p:txBody>
          <a:bodyPr wrap="square" lIns="0" tIns="0" rIns="0" bIns="0" rtlCol="0" anchor="t">
            <a:noAutofit/>
          </a:bodyPr>
          <a:lstStyle/>
          <a:p>
            <a:pPr marL="0" indent="0">
              <a:lnSpc>
                <a:spcPct val="100000"/>
              </a:lnSpc>
              <a:spcBef>
                <a:spcPts val="0"/>
              </a:spcBef>
              <a:spcAft>
                <a:spcPts val="0"/>
              </a:spcAft>
              <a:buNone/>
            </a:pPr>
            <a:r>
              <a:rPr lang="en-US" sz="1600" dirty="0">
                <a:solidFill>
                  <a:srgbClr val="000000"/>
                </a:solidFill>
                <a:latin typeface="Aptos" pitchFamily="34" charset="0"/>
                <a:ea typeface="Aptos" pitchFamily="34" charset="-122"/>
                <a:cs typeface="Aptos" pitchFamily="34" charset="-120"/>
              </a:rPr>
              <a:t>Explain purpose, consent, comfort and confidentiality</a:t>
            </a:r>
            <a:endParaRPr lang="en-US" sz="1600" dirty="0">
              <a:solidFill>
                <a:srgbClr val="000000"/>
              </a:solidFill>
            </a:endParaRPr>
          </a:p>
        </p:txBody>
      </p:sp>
      <p:sp>
        <p:nvSpPr>
          <p:cNvPr id="20" name="Shape 18"/>
          <p:cNvSpPr/>
          <p:nvPr/>
        </p:nvSpPr>
        <p:spPr>
          <a:xfrm>
            <a:off x="4833975" y="2662428"/>
            <a:ext cx="219456" cy="0"/>
          </a:xfrm>
          <a:prstGeom prst="line">
            <a:avLst/>
          </a:prstGeom>
          <a:noFill/>
          <a:ln w="13970">
            <a:solidFill>
              <a:srgbClr val="B4001B"/>
            </a:solidFill>
            <a:prstDash val="solid"/>
            <a:headEnd type="none"/>
            <a:tailEnd type="triangle"/>
          </a:ln>
        </p:spPr>
        <p:txBody>
          <a:bodyPr/>
          <a:lstStyle/>
          <a:p>
            <a:endParaRPr/>
          </a:p>
        </p:txBody>
      </p:sp>
      <p:sp>
        <p:nvSpPr>
          <p:cNvPr id="21" name="Shape 19"/>
          <p:cNvSpPr/>
          <p:nvPr/>
        </p:nvSpPr>
        <p:spPr>
          <a:xfrm>
            <a:off x="5099151" y="1770888"/>
            <a:ext cx="2024481" cy="1783080"/>
          </a:xfrm>
          <a:prstGeom prst="rect">
            <a:avLst/>
          </a:prstGeom>
          <a:solidFill>
            <a:srgbClr val="FFF5F6"/>
          </a:solidFill>
          <a:ln w="12700">
            <a:solidFill>
              <a:srgbClr val="E6DCDC">
                <a:alpha val="95000"/>
              </a:srgbClr>
            </a:solidFill>
            <a:prstDash val="solid"/>
          </a:ln>
        </p:spPr>
        <p:txBody>
          <a:bodyPr/>
          <a:lstStyle/>
          <a:p>
            <a:endParaRPr/>
          </a:p>
        </p:txBody>
      </p:sp>
      <p:sp>
        <p:nvSpPr>
          <p:cNvPr id="22" name="Shape 20"/>
          <p:cNvSpPr/>
          <p:nvPr/>
        </p:nvSpPr>
        <p:spPr>
          <a:xfrm>
            <a:off x="5282031" y="1926336"/>
            <a:ext cx="292608" cy="292608"/>
          </a:xfrm>
          <a:prstGeom prst="ellipse">
            <a:avLst/>
          </a:prstGeom>
          <a:solidFill>
            <a:srgbClr val="B4001B"/>
          </a:solidFill>
          <a:ln w="12700">
            <a:solidFill>
              <a:srgbClr val="B4001B"/>
            </a:solidFill>
            <a:prstDash val="solid"/>
          </a:ln>
        </p:spPr>
        <p:txBody>
          <a:bodyPr/>
          <a:lstStyle/>
          <a:p>
            <a:endParaRPr/>
          </a:p>
        </p:txBody>
      </p:sp>
      <p:sp>
        <p:nvSpPr>
          <p:cNvPr id="23" name="Text 21"/>
          <p:cNvSpPr/>
          <p:nvPr/>
        </p:nvSpPr>
        <p:spPr>
          <a:xfrm>
            <a:off x="5282031" y="1926336"/>
            <a:ext cx="292608" cy="292608"/>
          </a:xfrm>
          <a:prstGeom prst="rect">
            <a:avLst/>
          </a:prstGeom>
          <a:noFill/>
          <a:ln/>
        </p:spPr>
        <p:txBody>
          <a:bodyPr wrap="non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3</a:t>
            </a:r>
            <a:endParaRPr lang="en-US" sz="1100" b="1" dirty="0"/>
          </a:p>
        </p:txBody>
      </p:sp>
      <p:sp>
        <p:nvSpPr>
          <p:cNvPr id="24" name="Text 22"/>
          <p:cNvSpPr/>
          <p:nvPr/>
        </p:nvSpPr>
        <p:spPr>
          <a:xfrm>
            <a:off x="5684367" y="1917192"/>
            <a:ext cx="1311249" cy="292608"/>
          </a:xfrm>
          <a:prstGeom prst="rect">
            <a:avLst/>
          </a:prstGeom>
          <a:noFill/>
          <a:ln/>
        </p:spPr>
        <p:txBody>
          <a:bodyPr wrap="square" lIns="0" tIns="0" rIns="0" bIns="0" rtlCol="0" anchor="t">
            <a:noAutofit/>
          </a:bodyPr>
          <a:lstStyle/>
          <a:p>
            <a:pPr marL="0" indent="0" algn="l">
              <a:lnSpc>
                <a:spcPct val="100000"/>
              </a:lnSpc>
              <a:buNone/>
            </a:pPr>
            <a:r>
              <a:rPr lang="en-US" sz="1800" b="1" i="1" dirty="0">
                <a:solidFill>
                  <a:srgbClr val="111111"/>
                </a:solidFill>
                <a:latin typeface="Georgia"/>
                <a:ea typeface="Georgia"/>
                <a:cs typeface="Georgia"/>
              </a:rPr>
              <a:t>Probe</a:t>
            </a:r>
          </a:p>
        </p:txBody>
      </p:sp>
      <p:sp>
        <p:nvSpPr>
          <p:cNvPr id="25" name="Text 23"/>
          <p:cNvSpPr/>
          <p:nvPr/>
        </p:nvSpPr>
        <p:spPr>
          <a:xfrm>
            <a:off x="5282031" y="2337816"/>
            <a:ext cx="1658721" cy="1088136"/>
          </a:xfrm>
          <a:prstGeom prst="rect">
            <a:avLst/>
          </a:prstGeom>
          <a:noFill/>
          <a:ln/>
        </p:spPr>
        <p:txBody>
          <a:bodyPr wrap="square" lIns="0" tIns="0" rIns="0" bIns="0" rtlCol="0" anchor="t">
            <a:noAutofit/>
          </a:bodyPr>
          <a:lstStyle/>
          <a:p>
            <a:pPr marL="0" indent="0">
              <a:lnSpc>
                <a:spcPct val="100000"/>
              </a:lnSpc>
              <a:spcBef>
                <a:spcPts val="0"/>
              </a:spcBef>
              <a:spcAft>
                <a:spcPts val="0"/>
              </a:spcAft>
              <a:buNone/>
            </a:pPr>
            <a:r>
              <a:rPr lang="en-US" sz="1600" dirty="0">
                <a:solidFill>
                  <a:srgbClr val="000000"/>
                </a:solidFill>
                <a:latin typeface="Aptos" pitchFamily="34" charset="0"/>
                <a:ea typeface="Aptos" pitchFamily="34" charset="-122"/>
                <a:cs typeface="Aptos" pitchFamily="34" charset="-120"/>
              </a:rPr>
              <a:t>Ask stories, examples, reasons and exceptions</a:t>
            </a:r>
            <a:endParaRPr lang="en-US" sz="1600" dirty="0">
              <a:solidFill>
                <a:srgbClr val="000000"/>
              </a:solidFill>
            </a:endParaRPr>
          </a:p>
        </p:txBody>
      </p:sp>
      <p:sp>
        <p:nvSpPr>
          <p:cNvPr id="26" name="Shape 24"/>
          <p:cNvSpPr/>
          <p:nvPr/>
        </p:nvSpPr>
        <p:spPr>
          <a:xfrm>
            <a:off x="7169352" y="2662428"/>
            <a:ext cx="219456" cy="0"/>
          </a:xfrm>
          <a:prstGeom prst="line">
            <a:avLst/>
          </a:prstGeom>
          <a:noFill/>
          <a:ln w="13970">
            <a:solidFill>
              <a:srgbClr val="B4001B"/>
            </a:solidFill>
            <a:prstDash val="solid"/>
            <a:headEnd type="none"/>
            <a:tailEnd type="triangle"/>
          </a:ln>
        </p:spPr>
        <p:txBody>
          <a:bodyPr/>
          <a:lstStyle/>
          <a:p>
            <a:endParaRPr/>
          </a:p>
        </p:txBody>
      </p:sp>
      <p:sp>
        <p:nvSpPr>
          <p:cNvPr id="27" name="Shape 25"/>
          <p:cNvSpPr/>
          <p:nvPr/>
        </p:nvSpPr>
        <p:spPr>
          <a:xfrm>
            <a:off x="7434528" y="1770888"/>
            <a:ext cx="2024481" cy="1783080"/>
          </a:xfrm>
          <a:prstGeom prst="rect">
            <a:avLst/>
          </a:prstGeom>
          <a:solidFill>
            <a:srgbClr val="FFFFFF"/>
          </a:solidFill>
          <a:ln w="12700">
            <a:solidFill>
              <a:srgbClr val="E6DCDC">
                <a:alpha val="95000"/>
              </a:srgbClr>
            </a:solidFill>
            <a:prstDash val="solid"/>
          </a:ln>
        </p:spPr>
        <p:txBody>
          <a:bodyPr/>
          <a:lstStyle/>
          <a:p>
            <a:endParaRPr/>
          </a:p>
        </p:txBody>
      </p:sp>
      <p:sp>
        <p:nvSpPr>
          <p:cNvPr id="28" name="Shape 26"/>
          <p:cNvSpPr/>
          <p:nvPr/>
        </p:nvSpPr>
        <p:spPr>
          <a:xfrm>
            <a:off x="7617408" y="1926336"/>
            <a:ext cx="292608" cy="292608"/>
          </a:xfrm>
          <a:prstGeom prst="ellipse">
            <a:avLst/>
          </a:prstGeom>
          <a:solidFill>
            <a:srgbClr val="B4001B"/>
          </a:solidFill>
          <a:ln w="12700">
            <a:solidFill>
              <a:srgbClr val="B4001B"/>
            </a:solidFill>
            <a:prstDash val="solid"/>
          </a:ln>
        </p:spPr>
        <p:txBody>
          <a:bodyPr/>
          <a:lstStyle/>
          <a:p>
            <a:endParaRPr/>
          </a:p>
        </p:txBody>
      </p:sp>
      <p:sp>
        <p:nvSpPr>
          <p:cNvPr id="29" name="Text 27"/>
          <p:cNvSpPr/>
          <p:nvPr/>
        </p:nvSpPr>
        <p:spPr>
          <a:xfrm>
            <a:off x="7617408" y="1926336"/>
            <a:ext cx="292608" cy="292608"/>
          </a:xfrm>
          <a:prstGeom prst="rect">
            <a:avLst/>
          </a:prstGeom>
          <a:noFill/>
          <a:ln/>
        </p:spPr>
        <p:txBody>
          <a:bodyPr wrap="non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4</a:t>
            </a:r>
            <a:endParaRPr lang="en-US" sz="1100" b="1" dirty="0"/>
          </a:p>
        </p:txBody>
      </p:sp>
      <p:sp>
        <p:nvSpPr>
          <p:cNvPr id="30" name="Text 28"/>
          <p:cNvSpPr/>
          <p:nvPr/>
        </p:nvSpPr>
        <p:spPr>
          <a:xfrm>
            <a:off x="8019744" y="1917192"/>
            <a:ext cx="1311249" cy="292608"/>
          </a:xfrm>
          <a:prstGeom prst="rect">
            <a:avLst/>
          </a:prstGeom>
          <a:noFill/>
          <a:ln/>
        </p:spPr>
        <p:txBody>
          <a:bodyPr wrap="square" lIns="0" tIns="0" rIns="0" bIns="0" rtlCol="0" anchor="t">
            <a:noAutofit/>
          </a:bodyPr>
          <a:lstStyle/>
          <a:p>
            <a:pPr marL="0" indent="0" algn="l">
              <a:lnSpc>
                <a:spcPct val="100000"/>
              </a:lnSpc>
              <a:buNone/>
            </a:pPr>
            <a:r>
              <a:rPr lang="en-US" sz="1800" b="1" i="1" dirty="0">
                <a:solidFill>
                  <a:srgbClr val="111111"/>
                </a:solidFill>
                <a:latin typeface="Georgia"/>
                <a:ea typeface="Georgia"/>
                <a:cs typeface="Georgia"/>
              </a:rPr>
              <a:t>Check</a:t>
            </a:r>
          </a:p>
        </p:txBody>
      </p:sp>
      <p:sp>
        <p:nvSpPr>
          <p:cNvPr id="31" name="Text 29"/>
          <p:cNvSpPr/>
          <p:nvPr/>
        </p:nvSpPr>
        <p:spPr>
          <a:xfrm>
            <a:off x="7617408" y="2337816"/>
            <a:ext cx="1658721" cy="1088136"/>
          </a:xfrm>
          <a:prstGeom prst="rect">
            <a:avLst/>
          </a:prstGeom>
          <a:noFill/>
          <a:ln/>
        </p:spPr>
        <p:txBody>
          <a:bodyPr wrap="square" lIns="0" tIns="0" rIns="0" bIns="0" rtlCol="0" anchor="t">
            <a:noAutofit/>
          </a:bodyPr>
          <a:lstStyle/>
          <a:p>
            <a:pPr marL="0" indent="0">
              <a:lnSpc>
                <a:spcPct val="100000"/>
              </a:lnSpc>
              <a:spcBef>
                <a:spcPts val="0"/>
              </a:spcBef>
              <a:spcAft>
                <a:spcPts val="0"/>
              </a:spcAft>
              <a:buNone/>
            </a:pPr>
            <a:r>
              <a:rPr lang="en-US" sz="1600" dirty="0">
                <a:solidFill>
                  <a:srgbClr val="000000"/>
                </a:solidFill>
                <a:latin typeface="Aptos" pitchFamily="34" charset="0"/>
                <a:ea typeface="Aptos" pitchFamily="34" charset="-122"/>
                <a:cs typeface="Aptos" pitchFamily="34" charset="-120"/>
              </a:rPr>
              <a:t>Summarize interpretation and let user correct it</a:t>
            </a:r>
            <a:endParaRPr lang="en-US" sz="1600" dirty="0">
              <a:solidFill>
                <a:srgbClr val="000000"/>
              </a:solidFill>
            </a:endParaRPr>
          </a:p>
        </p:txBody>
      </p:sp>
      <p:sp>
        <p:nvSpPr>
          <p:cNvPr id="32" name="Shape 30"/>
          <p:cNvSpPr/>
          <p:nvPr/>
        </p:nvSpPr>
        <p:spPr>
          <a:xfrm>
            <a:off x="9504730" y="2662428"/>
            <a:ext cx="219455" cy="0"/>
          </a:xfrm>
          <a:prstGeom prst="line">
            <a:avLst/>
          </a:prstGeom>
          <a:noFill/>
          <a:ln w="13970">
            <a:solidFill>
              <a:srgbClr val="B4001B"/>
            </a:solidFill>
            <a:prstDash val="solid"/>
            <a:headEnd type="none"/>
            <a:tailEnd type="triangle"/>
          </a:ln>
        </p:spPr>
        <p:txBody>
          <a:bodyPr/>
          <a:lstStyle/>
          <a:p>
            <a:endParaRPr/>
          </a:p>
        </p:txBody>
      </p:sp>
      <p:sp>
        <p:nvSpPr>
          <p:cNvPr id="33" name="Shape 31"/>
          <p:cNvSpPr/>
          <p:nvPr/>
        </p:nvSpPr>
        <p:spPr>
          <a:xfrm>
            <a:off x="9769906" y="1770888"/>
            <a:ext cx="2024481" cy="1783080"/>
          </a:xfrm>
          <a:prstGeom prst="rect">
            <a:avLst/>
          </a:prstGeom>
          <a:solidFill>
            <a:srgbClr val="FFFFFF"/>
          </a:solidFill>
          <a:ln w="12700">
            <a:solidFill>
              <a:srgbClr val="E6DCDC">
                <a:alpha val="95000"/>
              </a:srgbClr>
            </a:solidFill>
            <a:prstDash val="solid"/>
          </a:ln>
        </p:spPr>
        <p:txBody>
          <a:bodyPr/>
          <a:lstStyle/>
          <a:p>
            <a:endParaRPr/>
          </a:p>
        </p:txBody>
      </p:sp>
      <p:sp>
        <p:nvSpPr>
          <p:cNvPr id="34" name="Shape 32"/>
          <p:cNvSpPr/>
          <p:nvPr/>
        </p:nvSpPr>
        <p:spPr>
          <a:xfrm>
            <a:off x="9952786" y="1926336"/>
            <a:ext cx="292608" cy="292608"/>
          </a:xfrm>
          <a:prstGeom prst="ellipse">
            <a:avLst/>
          </a:prstGeom>
          <a:solidFill>
            <a:srgbClr val="B4001B"/>
          </a:solidFill>
          <a:ln w="12700">
            <a:solidFill>
              <a:srgbClr val="B4001B"/>
            </a:solidFill>
            <a:prstDash val="solid"/>
          </a:ln>
        </p:spPr>
        <p:txBody>
          <a:bodyPr/>
          <a:lstStyle/>
          <a:p>
            <a:endParaRPr/>
          </a:p>
        </p:txBody>
      </p:sp>
      <p:sp>
        <p:nvSpPr>
          <p:cNvPr id="35" name="Text 33"/>
          <p:cNvSpPr/>
          <p:nvPr/>
        </p:nvSpPr>
        <p:spPr>
          <a:xfrm>
            <a:off x="9952786" y="1926336"/>
            <a:ext cx="292608" cy="292608"/>
          </a:xfrm>
          <a:prstGeom prst="rect">
            <a:avLst/>
          </a:prstGeom>
          <a:noFill/>
          <a:ln/>
        </p:spPr>
        <p:txBody>
          <a:bodyPr wrap="non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5</a:t>
            </a:r>
            <a:endParaRPr lang="en-US" sz="1100" b="1" dirty="0"/>
          </a:p>
        </p:txBody>
      </p:sp>
      <p:sp>
        <p:nvSpPr>
          <p:cNvPr id="36" name="Text 34"/>
          <p:cNvSpPr/>
          <p:nvPr/>
        </p:nvSpPr>
        <p:spPr>
          <a:xfrm>
            <a:off x="10355122" y="1917192"/>
            <a:ext cx="1311249" cy="292608"/>
          </a:xfrm>
          <a:prstGeom prst="rect">
            <a:avLst/>
          </a:prstGeom>
          <a:noFill/>
          <a:ln/>
        </p:spPr>
        <p:txBody>
          <a:bodyPr wrap="square" lIns="0" tIns="0" rIns="0" bIns="0" rtlCol="0" anchor="t">
            <a:noAutofit/>
          </a:bodyPr>
          <a:lstStyle/>
          <a:p>
            <a:pPr marL="0" indent="0" algn="l">
              <a:lnSpc>
                <a:spcPct val="100000"/>
              </a:lnSpc>
              <a:buNone/>
            </a:pPr>
            <a:r>
              <a:rPr lang="en-US" sz="1800" b="1" i="1" dirty="0">
                <a:solidFill>
                  <a:srgbClr val="111111"/>
                </a:solidFill>
                <a:latin typeface="Georgia"/>
                <a:ea typeface="Georgia"/>
                <a:cs typeface="Georgia"/>
              </a:rPr>
              <a:t>Translate</a:t>
            </a:r>
          </a:p>
        </p:txBody>
      </p:sp>
      <p:sp>
        <p:nvSpPr>
          <p:cNvPr id="37" name="Text 35"/>
          <p:cNvSpPr/>
          <p:nvPr/>
        </p:nvSpPr>
        <p:spPr>
          <a:xfrm>
            <a:off x="9952786" y="2337816"/>
            <a:ext cx="1658721" cy="1088136"/>
          </a:xfrm>
          <a:prstGeom prst="rect">
            <a:avLst/>
          </a:prstGeom>
          <a:noFill/>
          <a:ln/>
        </p:spPr>
        <p:txBody>
          <a:bodyPr wrap="square" lIns="0" tIns="0" rIns="0" bIns="0" rtlCol="0" anchor="t">
            <a:noAutofit/>
          </a:bodyPr>
          <a:lstStyle/>
          <a:p>
            <a:pPr marL="0" indent="0">
              <a:lnSpc>
                <a:spcPct val="100000"/>
              </a:lnSpc>
              <a:spcBef>
                <a:spcPts val="0"/>
              </a:spcBef>
              <a:spcAft>
                <a:spcPts val="0"/>
              </a:spcAft>
              <a:buNone/>
            </a:pPr>
            <a:r>
              <a:rPr lang="en-US" sz="1600" dirty="0">
                <a:solidFill>
                  <a:srgbClr val="000000"/>
                </a:solidFill>
                <a:latin typeface="Aptos" pitchFamily="34" charset="0"/>
                <a:ea typeface="Aptos" pitchFamily="34" charset="-122"/>
                <a:cs typeface="Aptos" pitchFamily="34" charset="-120"/>
              </a:rPr>
              <a:t>Write requirement candidates and validate later</a:t>
            </a:r>
            <a:endParaRPr lang="en-US" sz="1600" dirty="0">
              <a:solidFill>
                <a:srgbClr val="000000"/>
              </a:solidFill>
            </a:endParaRPr>
          </a:p>
        </p:txBody>
      </p:sp>
      <p:sp>
        <p:nvSpPr>
          <p:cNvPr id="47" name="Shape 35">
            <a:extLst>
              <a:ext uri="{FF2B5EF4-FFF2-40B4-BE49-F238E27FC236}">
                <a16:creationId xmlns:a16="http://schemas.microsoft.com/office/drawing/2014/main" id="{4A1A0622-F99D-4ADC-3F31-16426251FC25}"/>
              </a:ext>
            </a:extLst>
          </p:cNvPr>
          <p:cNvSpPr/>
          <p:nvPr/>
        </p:nvSpPr>
        <p:spPr>
          <a:xfrm>
            <a:off x="411480" y="5474208"/>
            <a:ext cx="11365992" cy="725424"/>
          </a:xfrm>
          <a:prstGeom prst="rect">
            <a:avLst/>
          </a:prstGeom>
          <a:solidFill>
            <a:srgbClr val="B4001B"/>
          </a:solidFill>
          <a:ln w="12700">
            <a:solidFill>
              <a:srgbClr val="B4001B"/>
            </a:solidFill>
            <a:prstDash val="solid"/>
          </a:ln>
        </p:spPr>
        <p:txBody>
          <a:bodyPr/>
          <a:lstStyle/>
          <a:p>
            <a:endParaRPr/>
          </a:p>
        </p:txBody>
      </p:sp>
      <p:sp>
        <p:nvSpPr>
          <p:cNvPr id="49" name="Text 36">
            <a:extLst>
              <a:ext uri="{FF2B5EF4-FFF2-40B4-BE49-F238E27FC236}">
                <a16:creationId xmlns:a16="http://schemas.microsoft.com/office/drawing/2014/main" id="{C7B0EE7B-7331-6171-0ECA-79B2F1DA929F}"/>
              </a:ext>
            </a:extLst>
          </p:cNvPr>
          <p:cNvSpPr/>
          <p:nvPr/>
        </p:nvSpPr>
        <p:spPr>
          <a:xfrm>
            <a:off x="594360" y="5474208"/>
            <a:ext cx="11000232" cy="725424"/>
          </a:xfrm>
          <a:prstGeom prst="rect">
            <a:avLst/>
          </a:prstGeom>
          <a:noFill/>
          <a:ln/>
        </p:spPr>
        <p:txBody>
          <a:bodyPr wrap="square" lIns="0" tIns="0" rIns="0" bIns="0" rtlCol="0" anchor="ctr">
            <a:noAutofit/>
          </a:bodyPr>
          <a:lstStyle/>
          <a:p>
            <a:pPr>
              <a:lnSpc>
                <a:spcPct val="100000"/>
              </a:lnSpc>
            </a:pPr>
            <a:r>
              <a:rPr lang="en-US" sz="1600" b="1" i="1" dirty="0">
                <a:solidFill>
                  <a:srgbClr val="FFFFFF"/>
                </a:solidFill>
                <a:latin typeface="Georgia"/>
                <a:ea typeface="Georgia"/>
                <a:cs typeface="Georgia"/>
              </a:rPr>
              <a:t>Interview gives individual depth, but Focus Group helps us understand shared views, disagreements, and group-level requirement conflicts.</a:t>
            </a:r>
            <a:endParaRPr lang="en-US" sz="1600" b="1" i="1">
              <a:solidFill>
                <a:srgbClr val="FFFFFF"/>
              </a:solidFill>
              <a:latin typeface="Georgia"/>
              <a:ea typeface="Georgia"/>
              <a:cs typeface="Georgi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55448"/>
            <a:ext cx="5486400" cy="201168"/>
          </a:xfrm>
          <a:prstGeom prst="rect">
            <a:avLst/>
          </a:prstGeom>
          <a:noFill/>
          <a:ln/>
        </p:spPr>
        <p:txBody>
          <a:bodyPr wrap="square" lIns="0" tIns="0" rIns="0" bIns="0" rtlCol="0" anchor="ctr">
            <a:noAutofit/>
          </a:bodyPr>
          <a:lstStyle/>
          <a:p>
            <a:pPr marL="0" indent="0">
              <a:buNone/>
            </a:pPr>
            <a:r>
              <a:rPr lang="en-US" sz="1100" b="1" dirty="0">
                <a:solidFill>
                  <a:srgbClr val="B4001B"/>
                </a:solidFill>
                <a:latin typeface="Aptos" pitchFamily="34" charset="0"/>
                <a:ea typeface="Aptos" pitchFamily="34" charset="-122"/>
                <a:cs typeface="Aptos" pitchFamily="34" charset="-120"/>
              </a:rPr>
              <a:t>FOCUS GROUPS</a:t>
            </a:r>
            <a:endParaRPr lang="en-US" sz="1100" b="1" dirty="0"/>
          </a:p>
        </p:txBody>
      </p:sp>
      <p:sp>
        <p:nvSpPr>
          <p:cNvPr id="3" name="Text 1"/>
          <p:cNvSpPr/>
          <p:nvPr/>
        </p:nvSpPr>
        <p:spPr>
          <a:xfrm>
            <a:off x="411480" y="365760"/>
            <a:ext cx="11365992" cy="512064"/>
          </a:xfrm>
          <a:prstGeom prst="rect">
            <a:avLst/>
          </a:prstGeom>
          <a:noFill/>
          <a:ln/>
        </p:spPr>
        <p:txBody>
          <a:bodyPr wrap="square" lIns="0" tIns="0" rIns="0" bIns="0" rtlCol="0" anchor="ctr">
            <a:noAutofit/>
          </a:bodyPr>
          <a:lstStyle/>
          <a:p>
            <a:pPr marL="0" indent="0" algn="l">
              <a:buNone/>
            </a:pPr>
            <a:r>
              <a:rPr lang="en-US" sz="3200" b="1" i="1" dirty="0">
                <a:solidFill>
                  <a:srgbClr val="111111"/>
                </a:solidFill>
                <a:latin typeface="Georgia"/>
                <a:ea typeface="Georgia"/>
                <a:cs typeface="Georgia"/>
              </a:rPr>
              <a:t>Focus Groups for Shared Understanding</a:t>
            </a:r>
          </a:p>
        </p:txBody>
      </p:sp>
      <p:sp>
        <p:nvSpPr>
          <p:cNvPr id="4" name="Text 2"/>
          <p:cNvSpPr/>
          <p:nvPr/>
        </p:nvSpPr>
        <p:spPr>
          <a:xfrm>
            <a:off x="411480" y="932688"/>
            <a:ext cx="11365992" cy="524256"/>
          </a:xfrm>
          <a:prstGeom prst="rect">
            <a:avLst/>
          </a:prstGeom>
          <a:noFill/>
          <a:ln/>
        </p:spPr>
        <p:txBody>
          <a:bodyPr wrap="square" lIns="0" tIns="0" rIns="0" bIns="0" rtlCol="0" anchor="t">
            <a:noAutofit/>
          </a:bodyPr>
          <a:lstStyle/>
          <a:p>
            <a:pPr marL="0" indent="0" algn="l">
              <a:lnSpc>
                <a:spcPct val="100000"/>
              </a:lnSpc>
              <a:buNone/>
            </a:pPr>
            <a:r>
              <a:rPr lang="en-US" sz="1600" b="0" i="1" dirty="0">
                <a:solidFill>
                  <a:srgbClr val="000000"/>
                </a:solidFill>
                <a:latin typeface="Aptos"/>
                <a:ea typeface="Aptos"/>
                <a:cs typeface="Aptos"/>
              </a:rPr>
              <a:t>A moderated group discussion that uses interaction among participants to reveal shared language, norms and competing views.</a:t>
            </a:r>
          </a:p>
        </p:txBody>
      </p:sp>
      <p:sp>
        <p:nvSpPr>
          <p:cNvPr id="5" name="Text 3"/>
          <p:cNvSpPr/>
          <p:nvPr/>
        </p:nvSpPr>
        <p:spPr>
          <a:xfrm>
            <a:off x="502920" y="6565392"/>
            <a:ext cx="1280160" cy="109728"/>
          </a:xfrm>
          <a:prstGeom prst="rect">
            <a:avLst/>
          </a:prstGeom>
          <a:noFill/>
          <a:ln/>
        </p:spPr>
        <p:txBody>
          <a:bodyPr wrap="square" rtlCol="0" anchor="ctr"/>
          <a:lstStyle/>
          <a:p>
            <a:pPr marL="0" indent="0">
              <a:buNone/>
            </a:pPr>
            <a:r>
              <a:rPr lang="en-US" sz="790" dirty="0">
                <a:solidFill>
                  <a:srgbClr val="777777"/>
                </a:solidFill>
                <a:latin typeface="Aptos" pitchFamily="34" charset="0"/>
                <a:ea typeface="Aptos" pitchFamily="34" charset="-122"/>
                <a:cs typeface="Aptos" pitchFamily="34" charset="-120"/>
              </a:rPr>
              <a:t>1/28/2026</a:t>
            </a:r>
            <a:endParaRPr lang="en-US" sz="790" dirty="0"/>
          </a:p>
        </p:txBody>
      </p:sp>
      <p:sp>
        <p:nvSpPr>
          <p:cNvPr id="6" name="Text 4"/>
          <p:cNvSpPr/>
          <p:nvPr/>
        </p:nvSpPr>
        <p:spPr>
          <a:xfrm>
            <a:off x="5257800" y="6565392"/>
            <a:ext cx="1645920" cy="109728"/>
          </a:xfrm>
          <a:prstGeom prst="rect">
            <a:avLst/>
          </a:prstGeom>
          <a:noFill/>
          <a:ln/>
        </p:spPr>
        <p:txBody>
          <a:bodyPr wrap="square" rtlCol="0" anchor="ctr"/>
          <a:lstStyle/>
          <a:p>
            <a:pPr marL="0" indent="0" algn="ctr">
              <a:buNone/>
            </a:pPr>
            <a:r>
              <a:rPr lang="en-US" sz="790" dirty="0">
                <a:solidFill>
                  <a:srgbClr val="777777"/>
                </a:solidFill>
                <a:latin typeface="Aptos" pitchFamily="34" charset="0"/>
                <a:ea typeface="Aptos" pitchFamily="34" charset="-122"/>
                <a:cs typeface="Aptos" pitchFamily="34" charset="-120"/>
              </a:rPr>
              <a:t>Md. Manirujjaman</a:t>
            </a:r>
            <a:endParaRPr lang="en-US" sz="790" dirty="0"/>
          </a:p>
        </p:txBody>
      </p:sp>
      <p:sp>
        <p:nvSpPr>
          <p:cNvPr id="7" name="Shape 5"/>
          <p:cNvSpPr/>
          <p:nvPr/>
        </p:nvSpPr>
        <p:spPr>
          <a:xfrm>
            <a:off x="11430000" y="6327648"/>
            <a:ext cx="274320" cy="274320"/>
          </a:xfrm>
          <a:prstGeom prst="ellipse">
            <a:avLst/>
          </a:prstGeom>
          <a:solidFill>
            <a:srgbClr val="B4001B"/>
          </a:solidFill>
          <a:ln w="12700">
            <a:solidFill>
              <a:srgbClr val="B4001B"/>
            </a:solidFill>
            <a:prstDash val="solid"/>
          </a:ln>
        </p:spPr>
        <p:txBody>
          <a:bodyPr wrap="none" lIns="0" tIns="0" rIns="0" bIns="0" anchor="ctr"/>
          <a:lstStyle/>
          <a:p>
            <a:pPr algn="ctr"/>
            <a:fld id="{8A2B6C1E-3F4D-4E5A-9B7C-1D2E3F4A5B6C}" type="slidenum">
              <a:rPr lang="en-US" sz="900" b="1">
                <a:solidFill>
                  <a:srgbClr val="FFFFFF"/>
                </a:solidFill>
                <a:latin typeface="Aptos"/>
              </a:rPr>
              <a:t>8</a:t>
            </a:fld>
            <a:endParaRPr lang="en-US" sz="900" b="1">
              <a:solidFill>
                <a:srgbClr val="FFFFFF"/>
              </a:solidFill>
              <a:latin typeface="Aptos"/>
            </a:endParaRPr>
          </a:p>
        </p:txBody>
      </p:sp>
      <p:sp>
        <p:nvSpPr>
          <p:cNvPr id="9" name="Shape 7"/>
          <p:cNvSpPr/>
          <p:nvPr/>
        </p:nvSpPr>
        <p:spPr>
          <a:xfrm>
            <a:off x="411480" y="1694688"/>
            <a:ext cx="3605784" cy="4504944"/>
          </a:xfrm>
          <a:prstGeom prst="rect">
            <a:avLst/>
          </a:prstGeom>
          <a:solidFill>
            <a:srgbClr val="FFF9F9"/>
          </a:solidFill>
          <a:ln w="12700">
            <a:solidFill>
              <a:srgbClr val="E6DCDC">
                <a:alpha val="95000"/>
              </a:srgbClr>
            </a:solidFill>
            <a:prstDash val="solid"/>
          </a:ln>
        </p:spPr>
        <p:txBody>
          <a:bodyPr/>
          <a:lstStyle/>
          <a:p>
            <a:endParaRPr/>
          </a:p>
        </p:txBody>
      </p:sp>
      <p:sp>
        <p:nvSpPr>
          <p:cNvPr id="10" name="Shape 8"/>
          <p:cNvSpPr/>
          <p:nvPr/>
        </p:nvSpPr>
        <p:spPr>
          <a:xfrm>
            <a:off x="594360" y="1850135"/>
            <a:ext cx="292608" cy="292608"/>
          </a:xfrm>
          <a:prstGeom prst="ellipse">
            <a:avLst/>
          </a:prstGeom>
          <a:solidFill>
            <a:srgbClr val="B4001B"/>
          </a:solidFill>
          <a:ln w="12700">
            <a:solidFill>
              <a:srgbClr val="B4001B"/>
            </a:solidFill>
            <a:prstDash val="solid"/>
          </a:ln>
        </p:spPr>
        <p:txBody>
          <a:bodyPr/>
          <a:lstStyle/>
          <a:p>
            <a:endParaRPr/>
          </a:p>
        </p:txBody>
      </p:sp>
      <p:sp>
        <p:nvSpPr>
          <p:cNvPr id="11" name="Text 9"/>
          <p:cNvSpPr/>
          <p:nvPr/>
        </p:nvSpPr>
        <p:spPr>
          <a:xfrm>
            <a:off x="594360" y="1850135"/>
            <a:ext cx="292608" cy="292608"/>
          </a:xfrm>
          <a:prstGeom prst="rect">
            <a:avLst/>
          </a:prstGeom>
          <a:noFill/>
          <a:ln/>
        </p:spPr>
        <p:txBody>
          <a:bodyPr wrap="non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1</a:t>
            </a:r>
            <a:endParaRPr lang="en-US" sz="1100" b="1" dirty="0"/>
          </a:p>
        </p:txBody>
      </p:sp>
      <p:sp>
        <p:nvSpPr>
          <p:cNvPr id="12" name="Text 10"/>
          <p:cNvSpPr/>
          <p:nvPr/>
        </p:nvSpPr>
        <p:spPr>
          <a:xfrm>
            <a:off x="996695" y="1840991"/>
            <a:ext cx="2892552" cy="627888"/>
          </a:xfrm>
          <a:prstGeom prst="rect">
            <a:avLst/>
          </a:prstGeom>
          <a:noFill/>
          <a:ln/>
        </p:spPr>
        <p:txBody>
          <a:bodyPr wrap="square" lIns="0" tIns="0" rIns="0" bIns="0" rtlCol="0" anchor="t">
            <a:noAutofit/>
          </a:bodyPr>
          <a:lstStyle/>
          <a:p>
            <a:pPr marL="0" indent="0" algn="l">
              <a:lnSpc>
                <a:spcPct val="100000"/>
              </a:lnSpc>
              <a:buNone/>
            </a:pPr>
            <a:r>
              <a:rPr lang="en-US" sz="2000" b="1" i="1" dirty="0">
                <a:solidFill>
                  <a:srgbClr val="111111"/>
                </a:solidFill>
                <a:latin typeface="Georgia"/>
                <a:ea typeface="Georgia"/>
                <a:cs typeface="Georgia"/>
              </a:rPr>
              <a:t>Why Useful</a:t>
            </a:r>
          </a:p>
        </p:txBody>
      </p:sp>
      <p:sp>
        <p:nvSpPr>
          <p:cNvPr id="13" name="Text 11"/>
          <p:cNvSpPr/>
          <p:nvPr/>
        </p:nvSpPr>
        <p:spPr>
          <a:xfrm>
            <a:off x="594360" y="2596896"/>
            <a:ext cx="3240024" cy="3474720"/>
          </a:xfrm>
          <a:prstGeom prst="rect">
            <a:avLst/>
          </a:prstGeom>
          <a:noFill/>
          <a:ln/>
        </p:spPr>
        <p:txBody>
          <a:bodyPr wrap="square" lIns="0" tIns="0" rIns="0" bIns="0" rtlCol="0" anchor="t">
            <a:noAutofit/>
          </a:bodyPr>
          <a:lstStyle/>
          <a:p>
            <a:pPr marL="0" indent="0">
              <a:lnSpc>
                <a:spcPct val="100000"/>
              </a:lnSpc>
              <a:spcBef>
                <a:spcPts val="0"/>
              </a:spcBef>
              <a:spcAft>
                <a:spcPts val="0"/>
              </a:spcAft>
              <a:buNone/>
            </a:pPr>
            <a:r>
              <a:rPr lang="en-US" sz="1800" dirty="0">
                <a:solidFill>
                  <a:srgbClr val="000000"/>
                </a:solidFill>
                <a:latin typeface="Aptos" pitchFamily="34" charset="0"/>
                <a:ea typeface="Aptos" pitchFamily="34" charset="-122"/>
                <a:cs typeface="Aptos" pitchFamily="34" charset="-120"/>
              </a:rPr>
              <a:t>• Participants trigger each other’s memories</a:t>
            </a:r>
            <a:endParaRPr lang="en-US" sz="1800" dirty="0">
              <a:solidFill>
                <a:srgbClr val="000000"/>
              </a:solidFill>
            </a:endParaRPr>
          </a:p>
          <a:p>
            <a:pPr marL="0" indent="0">
              <a:lnSpc>
                <a:spcPct val="100000"/>
              </a:lnSpc>
              <a:spcBef>
                <a:spcPts val="800"/>
              </a:spcBef>
              <a:spcAft>
                <a:spcPts val="0"/>
              </a:spcAft>
              <a:buNone/>
            </a:pPr>
            <a:r>
              <a:rPr lang="en-US" sz="1800" dirty="0">
                <a:solidFill>
                  <a:srgbClr val="000000"/>
                </a:solidFill>
                <a:latin typeface="Aptos" pitchFamily="34" charset="0"/>
                <a:ea typeface="Aptos" pitchFamily="34" charset="-122"/>
                <a:cs typeface="Aptos" pitchFamily="34" charset="-120"/>
              </a:rPr>
              <a:t>• Shared vocabulary and mental models appear</a:t>
            </a:r>
            <a:endParaRPr lang="en-US" sz="1800" dirty="0">
              <a:solidFill>
                <a:srgbClr val="000000"/>
              </a:solidFill>
            </a:endParaRPr>
          </a:p>
          <a:p>
            <a:pPr marL="0" indent="0">
              <a:lnSpc>
                <a:spcPct val="100000"/>
              </a:lnSpc>
              <a:spcBef>
                <a:spcPts val="800"/>
              </a:spcBef>
              <a:spcAft>
                <a:spcPts val="0"/>
              </a:spcAft>
              <a:buNone/>
            </a:pPr>
            <a:r>
              <a:rPr lang="en-US" sz="1800" dirty="0">
                <a:solidFill>
                  <a:srgbClr val="000000"/>
                </a:solidFill>
                <a:latin typeface="Aptos" pitchFamily="34" charset="0"/>
                <a:ea typeface="Aptos" pitchFamily="34" charset="-122"/>
                <a:cs typeface="Aptos" pitchFamily="34" charset="-120"/>
              </a:rPr>
              <a:t>• Work-arounds that feel “normal” become visible</a:t>
            </a:r>
            <a:endParaRPr lang="en-US" sz="1800" dirty="0">
              <a:solidFill>
                <a:srgbClr val="000000"/>
              </a:solidFill>
            </a:endParaRPr>
          </a:p>
          <a:p>
            <a:pPr marL="0" indent="0">
              <a:lnSpc>
                <a:spcPct val="100000"/>
              </a:lnSpc>
              <a:spcBef>
                <a:spcPts val="800"/>
              </a:spcBef>
              <a:spcAft>
                <a:spcPts val="0"/>
              </a:spcAft>
              <a:buNone/>
            </a:pPr>
            <a:r>
              <a:rPr lang="en-US" sz="1800" dirty="0">
                <a:solidFill>
                  <a:srgbClr val="000000"/>
                </a:solidFill>
                <a:latin typeface="Aptos" pitchFamily="34" charset="0"/>
                <a:ea typeface="Aptos" pitchFamily="34" charset="-122"/>
                <a:cs typeface="Aptos" pitchFamily="34" charset="-120"/>
              </a:rPr>
              <a:t>• Disagreements show requirement conflicts</a:t>
            </a:r>
            <a:endParaRPr lang="en-US" sz="1800" dirty="0">
              <a:solidFill>
                <a:srgbClr val="000000"/>
              </a:solidFill>
            </a:endParaRPr>
          </a:p>
        </p:txBody>
      </p:sp>
      <p:sp>
        <p:nvSpPr>
          <p:cNvPr id="14" name="Shape 12"/>
          <p:cNvSpPr/>
          <p:nvPr/>
        </p:nvSpPr>
        <p:spPr>
          <a:xfrm>
            <a:off x="4291584" y="1694688"/>
            <a:ext cx="3605784" cy="4504944"/>
          </a:xfrm>
          <a:prstGeom prst="rect">
            <a:avLst/>
          </a:prstGeom>
          <a:solidFill>
            <a:srgbClr val="FFFFFF"/>
          </a:solidFill>
          <a:ln w="12700">
            <a:solidFill>
              <a:srgbClr val="E6DCDC">
                <a:alpha val="95000"/>
              </a:srgbClr>
            </a:solidFill>
            <a:prstDash val="solid"/>
          </a:ln>
        </p:spPr>
        <p:txBody>
          <a:bodyPr/>
          <a:lstStyle/>
          <a:p>
            <a:endParaRPr/>
          </a:p>
        </p:txBody>
      </p:sp>
      <p:sp>
        <p:nvSpPr>
          <p:cNvPr id="15" name="Shape 13"/>
          <p:cNvSpPr/>
          <p:nvPr/>
        </p:nvSpPr>
        <p:spPr>
          <a:xfrm>
            <a:off x="4474464" y="1850135"/>
            <a:ext cx="292608" cy="292608"/>
          </a:xfrm>
          <a:prstGeom prst="ellipse">
            <a:avLst/>
          </a:prstGeom>
          <a:solidFill>
            <a:srgbClr val="B4001B"/>
          </a:solidFill>
          <a:ln w="12700">
            <a:solidFill>
              <a:srgbClr val="B4001B"/>
            </a:solidFill>
            <a:prstDash val="solid"/>
          </a:ln>
        </p:spPr>
        <p:txBody>
          <a:bodyPr/>
          <a:lstStyle/>
          <a:p>
            <a:endParaRPr/>
          </a:p>
        </p:txBody>
      </p:sp>
      <p:sp>
        <p:nvSpPr>
          <p:cNvPr id="16" name="Text 14"/>
          <p:cNvSpPr/>
          <p:nvPr/>
        </p:nvSpPr>
        <p:spPr>
          <a:xfrm>
            <a:off x="4474464" y="1850135"/>
            <a:ext cx="292608" cy="292608"/>
          </a:xfrm>
          <a:prstGeom prst="rect">
            <a:avLst/>
          </a:prstGeom>
          <a:noFill/>
          <a:ln/>
        </p:spPr>
        <p:txBody>
          <a:bodyPr wrap="non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2</a:t>
            </a:r>
            <a:endParaRPr lang="en-US" sz="1100" b="1" dirty="0"/>
          </a:p>
        </p:txBody>
      </p:sp>
      <p:sp>
        <p:nvSpPr>
          <p:cNvPr id="17" name="Text 15"/>
          <p:cNvSpPr/>
          <p:nvPr/>
        </p:nvSpPr>
        <p:spPr>
          <a:xfrm>
            <a:off x="4876800" y="1840991"/>
            <a:ext cx="2892552" cy="627888"/>
          </a:xfrm>
          <a:prstGeom prst="rect">
            <a:avLst/>
          </a:prstGeom>
          <a:noFill/>
          <a:ln/>
        </p:spPr>
        <p:txBody>
          <a:bodyPr wrap="square" lIns="0" tIns="0" rIns="0" bIns="0" rtlCol="0" anchor="t">
            <a:noAutofit/>
          </a:bodyPr>
          <a:lstStyle/>
          <a:p>
            <a:pPr marL="0" indent="0" algn="l">
              <a:lnSpc>
                <a:spcPct val="100000"/>
              </a:lnSpc>
              <a:buNone/>
            </a:pPr>
            <a:r>
              <a:rPr lang="en-US" sz="2000" b="1" i="1" dirty="0">
                <a:solidFill>
                  <a:srgbClr val="111111"/>
                </a:solidFill>
                <a:latin typeface="Georgia"/>
                <a:ea typeface="Georgia"/>
                <a:cs typeface="Georgia"/>
              </a:rPr>
              <a:t>System Analysis Example</a:t>
            </a:r>
          </a:p>
        </p:txBody>
      </p:sp>
      <p:sp>
        <p:nvSpPr>
          <p:cNvPr id="18" name="Text 16"/>
          <p:cNvSpPr/>
          <p:nvPr/>
        </p:nvSpPr>
        <p:spPr>
          <a:xfrm>
            <a:off x="4474464" y="2596896"/>
            <a:ext cx="3240024" cy="3474720"/>
          </a:xfrm>
          <a:prstGeom prst="rect">
            <a:avLst/>
          </a:prstGeom>
          <a:noFill/>
          <a:ln/>
        </p:spPr>
        <p:txBody>
          <a:bodyPr wrap="square" lIns="0" tIns="0" rIns="0" bIns="0" rtlCol="0" anchor="t">
            <a:noAutofit/>
          </a:bodyPr>
          <a:lstStyle/>
          <a:p>
            <a:pPr marL="0" indent="0">
              <a:lnSpc>
                <a:spcPct val="100000"/>
              </a:lnSpc>
              <a:spcBef>
                <a:spcPts val="0"/>
              </a:spcBef>
              <a:spcAft>
                <a:spcPts val="0"/>
              </a:spcAft>
              <a:buNone/>
            </a:pPr>
            <a:r>
              <a:rPr lang="en-US" sz="1800" dirty="0">
                <a:solidFill>
                  <a:srgbClr val="000000"/>
                </a:solidFill>
                <a:latin typeface="Aptos" pitchFamily="34" charset="0"/>
                <a:ea typeface="Aptos" pitchFamily="34" charset="-122"/>
                <a:cs typeface="Aptos" pitchFamily="34" charset="-120"/>
              </a:rPr>
              <a:t>For a university LMS, students, advisors and teachers discuss assignment submission, late penalties and feedback confusion. Their discussion reveals different expectations that one interview may miss.</a:t>
            </a:r>
            <a:endParaRPr lang="en-US" sz="1800" dirty="0">
              <a:solidFill>
                <a:srgbClr val="000000"/>
              </a:solidFill>
            </a:endParaRPr>
          </a:p>
        </p:txBody>
      </p:sp>
      <p:sp>
        <p:nvSpPr>
          <p:cNvPr id="19" name="Shape 17"/>
          <p:cNvSpPr/>
          <p:nvPr/>
        </p:nvSpPr>
        <p:spPr>
          <a:xfrm>
            <a:off x="8171688" y="1694688"/>
            <a:ext cx="3605784" cy="4504944"/>
          </a:xfrm>
          <a:prstGeom prst="rect">
            <a:avLst/>
          </a:prstGeom>
          <a:solidFill>
            <a:srgbClr val="FFF5F6"/>
          </a:solidFill>
          <a:ln w="12700">
            <a:solidFill>
              <a:srgbClr val="E6DCDC">
                <a:alpha val="95000"/>
              </a:srgbClr>
            </a:solidFill>
            <a:prstDash val="solid"/>
          </a:ln>
        </p:spPr>
        <p:txBody>
          <a:bodyPr/>
          <a:lstStyle/>
          <a:p>
            <a:endParaRPr/>
          </a:p>
        </p:txBody>
      </p:sp>
      <p:sp>
        <p:nvSpPr>
          <p:cNvPr id="20" name="Shape 18"/>
          <p:cNvSpPr/>
          <p:nvPr/>
        </p:nvSpPr>
        <p:spPr>
          <a:xfrm>
            <a:off x="8354568" y="1850135"/>
            <a:ext cx="292608" cy="292608"/>
          </a:xfrm>
          <a:prstGeom prst="ellipse">
            <a:avLst/>
          </a:prstGeom>
          <a:solidFill>
            <a:srgbClr val="B4001B"/>
          </a:solidFill>
          <a:ln w="12700">
            <a:solidFill>
              <a:srgbClr val="B4001B"/>
            </a:solidFill>
            <a:prstDash val="solid"/>
          </a:ln>
        </p:spPr>
        <p:txBody>
          <a:bodyPr/>
          <a:lstStyle/>
          <a:p>
            <a:endParaRPr/>
          </a:p>
        </p:txBody>
      </p:sp>
      <p:sp>
        <p:nvSpPr>
          <p:cNvPr id="21" name="Text 19"/>
          <p:cNvSpPr/>
          <p:nvPr/>
        </p:nvSpPr>
        <p:spPr>
          <a:xfrm>
            <a:off x="8354568" y="1850135"/>
            <a:ext cx="292608" cy="292608"/>
          </a:xfrm>
          <a:prstGeom prst="rect">
            <a:avLst/>
          </a:prstGeom>
          <a:noFill/>
          <a:ln/>
        </p:spPr>
        <p:txBody>
          <a:bodyPr wrap="non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3</a:t>
            </a:r>
            <a:endParaRPr lang="en-US" sz="1100" b="1" dirty="0"/>
          </a:p>
        </p:txBody>
      </p:sp>
      <p:sp>
        <p:nvSpPr>
          <p:cNvPr id="22" name="Text 20"/>
          <p:cNvSpPr/>
          <p:nvPr/>
        </p:nvSpPr>
        <p:spPr>
          <a:xfrm>
            <a:off x="8756904" y="1840991"/>
            <a:ext cx="2892552" cy="627888"/>
          </a:xfrm>
          <a:prstGeom prst="rect">
            <a:avLst/>
          </a:prstGeom>
          <a:noFill/>
          <a:ln/>
        </p:spPr>
        <p:txBody>
          <a:bodyPr wrap="square" lIns="0" tIns="0" rIns="0" bIns="0" rtlCol="0" anchor="t">
            <a:noAutofit/>
          </a:bodyPr>
          <a:lstStyle/>
          <a:p>
            <a:pPr marL="0" indent="0" algn="l">
              <a:lnSpc>
                <a:spcPct val="100000"/>
              </a:lnSpc>
              <a:buNone/>
            </a:pPr>
            <a:r>
              <a:rPr lang="en-US" sz="2000" b="1" i="1" dirty="0">
                <a:solidFill>
                  <a:srgbClr val="111111"/>
                </a:solidFill>
                <a:latin typeface="Georgia"/>
                <a:ea typeface="Georgia"/>
                <a:cs typeface="Georgia"/>
              </a:rPr>
              <a:t>Output for Analyst</a:t>
            </a:r>
          </a:p>
        </p:txBody>
      </p:sp>
      <p:sp>
        <p:nvSpPr>
          <p:cNvPr id="23" name="Text 21"/>
          <p:cNvSpPr/>
          <p:nvPr/>
        </p:nvSpPr>
        <p:spPr>
          <a:xfrm>
            <a:off x="8354568" y="2596896"/>
            <a:ext cx="3240024" cy="3474720"/>
          </a:xfrm>
          <a:prstGeom prst="rect">
            <a:avLst/>
          </a:prstGeom>
          <a:noFill/>
          <a:ln/>
        </p:spPr>
        <p:txBody>
          <a:bodyPr wrap="square" lIns="0" tIns="0" rIns="0" bIns="0" rtlCol="0" anchor="t">
            <a:noAutofit/>
          </a:bodyPr>
          <a:lstStyle/>
          <a:p>
            <a:pPr marL="0" indent="0">
              <a:lnSpc>
                <a:spcPct val="100000"/>
              </a:lnSpc>
              <a:spcBef>
                <a:spcPts val="0"/>
              </a:spcBef>
              <a:spcAft>
                <a:spcPts val="0"/>
              </a:spcAft>
              <a:buNone/>
            </a:pPr>
            <a:r>
              <a:rPr lang="en-US" sz="1800" dirty="0">
                <a:solidFill>
                  <a:srgbClr val="000000"/>
                </a:solidFill>
                <a:latin typeface="Aptos" pitchFamily="34" charset="0"/>
                <a:ea typeface="Aptos" pitchFamily="34" charset="-122"/>
                <a:cs typeface="Aptos" pitchFamily="34" charset="-120"/>
              </a:rPr>
              <a:t>• Themes and recurring pain points</a:t>
            </a:r>
            <a:endParaRPr lang="en-US" sz="1800" dirty="0">
              <a:solidFill>
                <a:srgbClr val="000000"/>
              </a:solidFill>
            </a:endParaRPr>
          </a:p>
          <a:p>
            <a:pPr marL="0" indent="0">
              <a:lnSpc>
                <a:spcPct val="100000"/>
              </a:lnSpc>
              <a:spcBef>
                <a:spcPts val="800"/>
              </a:spcBef>
              <a:spcAft>
                <a:spcPts val="0"/>
              </a:spcAft>
              <a:buNone/>
            </a:pPr>
            <a:r>
              <a:rPr lang="en-US" sz="1800" dirty="0">
                <a:solidFill>
                  <a:srgbClr val="000000"/>
                </a:solidFill>
                <a:latin typeface="Aptos" pitchFamily="34" charset="0"/>
                <a:ea typeface="Aptos" pitchFamily="34" charset="-122"/>
                <a:cs typeface="Aptos" pitchFamily="34" charset="-120"/>
              </a:rPr>
              <a:t>• Possible user roles and exceptions</a:t>
            </a:r>
            <a:endParaRPr lang="en-US" sz="1800" dirty="0">
              <a:solidFill>
                <a:srgbClr val="000000"/>
              </a:solidFill>
            </a:endParaRPr>
          </a:p>
          <a:p>
            <a:pPr marL="0" indent="0">
              <a:lnSpc>
                <a:spcPct val="100000"/>
              </a:lnSpc>
              <a:spcBef>
                <a:spcPts val="800"/>
              </a:spcBef>
              <a:spcAft>
                <a:spcPts val="0"/>
              </a:spcAft>
              <a:buNone/>
            </a:pPr>
            <a:r>
              <a:rPr lang="en-US" sz="1800" dirty="0">
                <a:solidFill>
                  <a:srgbClr val="000000"/>
                </a:solidFill>
                <a:latin typeface="Aptos" pitchFamily="34" charset="0"/>
                <a:ea typeface="Aptos" pitchFamily="34" charset="-122"/>
                <a:cs typeface="Aptos" pitchFamily="34" charset="-120"/>
              </a:rPr>
              <a:t>• Hypotheses for surveys or CI</a:t>
            </a:r>
            <a:endParaRPr lang="en-US" sz="1800" dirty="0">
              <a:solidFill>
                <a:srgbClr val="000000"/>
              </a:solidFill>
            </a:endParaRPr>
          </a:p>
          <a:p>
            <a:pPr marL="0" indent="0">
              <a:lnSpc>
                <a:spcPct val="100000"/>
              </a:lnSpc>
              <a:spcBef>
                <a:spcPts val="800"/>
              </a:spcBef>
              <a:spcAft>
                <a:spcPts val="0"/>
              </a:spcAft>
              <a:buNone/>
            </a:pPr>
            <a:r>
              <a:rPr lang="en-US" sz="1800" dirty="0">
                <a:solidFill>
                  <a:srgbClr val="000000"/>
                </a:solidFill>
                <a:latin typeface="Aptos" pitchFamily="34" charset="0"/>
                <a:ea typeface="Aptos" pitchFamily="34" charset="-122"/>
                <a:cs typeface="Aptos" pitchFamily="34" charset="-120"/>
              </a:rPr>
              <a:t>• Terms users expect in the interface</a:t>
            </a:r>
            <a:endParaRPr lang="en-US" sz="1800" dirty="0">
              <a:solidFill>
                <a:srgbClr val="00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55448"/>
            <a:ext cx="5486400" cy="201168"/>
          </a:xfrm>
          <a:prstGeom prst="rect">
            <a:avLst/>
          </a:prstGeom>
          <a:noFill/>
          <a:ln/>
        </p:spPr>
        <p:txBody>
          <a:bodyPr wrap="square" lIns="0" tIns="0" rIns="0" bIns="0" rtlCol="0" anchor="ctr">
            <a:noAutofit/>
          </a:bodyPr>
          <a:lstStyle/>
          <a:p>
            <a:pPr marL="0" indent="0">
              <a:buNone/>
            </a:pPr>
            <a:r>
              <a:rPr lang="en-US" sz="1100" b="1" dirty="0">
                <a:solidFill>
                  <a:srgbClr val="B4001B"/>
                </a:solidFill>
                <a:latin typeface="Aptos" pitchFamily="34" charset="0"/>
                <a:ea typeface="Aptos" pitchFamily="34" charset="-122"/>
                <a:cs typeface="Aptos" pitchFamily="34" charset="-120"/>
              </a:rPr>
              <a:t>FOCUS GROUPS</a:t>
            </a:r>
            <a:endParaRPr lang="en-US" sz="1100" b="1" dirty="0"/>
          </a:p>
        </p:txBody>
      </p:sp>
      <p:sp>
        <p:nvSpPr>
          <p:cNvPr id="3" name="Text 1"/>
          <p:cNvSpPr/>
          <p:nvPr/>
        </p:nvSpPr>
        <p:spPr>
          <a:xfrm>
            <a:off x="411480" y="365760"/>
            <a:ext cx="11365992" cy="512064"/>
          </a:xfrm>
          <a:prstGeom prst="rect">
            <a:avLst/>
          </a:prstGeom>
          <a:noFill/>
          <a:ln/>
        </p:spPr>
        <p:txBody>
          <a:bodyPr wrap="square" lIns="0" tIns="0" rIns="0" bIns="0" rtlCol="0" anchor="ctr">
            <a:noAutofit/>
          </a:bodyPr>
          <a:lstStyle/>
          <a:p>
            <a:pPr marL="0" indent="0" algn="l">
              <a:buNone/>
            </a:pPr>
            <a:r>
              <a:rPr lang="en-US" sz="3200" b="1" i="1" dirty="0">
                <a:solidFill>
                  <a:srgbClr val="111111"/>
                </a:solidFill>
                <a:latin typeface="Georgia"/>
                <a:ea typeface="Georgia"/>
                <a:cs typeface="Georgia"/>
              </a:rPr>
              <a:t>Risks: Group Dynamics and Power</a:t>
            </a:r>
          </a:p>
        </p:txBody>
      </p:sp>
      <p:sp>
        <p:nvSpPr>
          <p:cNvPr id="4" name="Text 2"/>
          <p:cNvSpPr/>
          <p:nvPr/>
        </p:nvSpPr>
        <p:spPr>
          <a:xfrm>
            <a:off x="411480" y="932688"/>
            <a:ext cx="11365992" cy="280416"/>
          </a:xfrm>
          <a:prstGeom prst="rect">
            <a:avLst/>
          </a:prstGeom>
          <a:noFill/>
          <a:ln/>
        </p:spPr>
        <p:txBody>
          <a:bodyPr wrap="square" lIns="0" tIns="0" rIns="0" bIns="0" rtlCol="0" anchor="t">
            <a:noAutofit/>
          </a:bodyPr>
          <a:lstStyle/>
          <a:p>
            <a:pPr marL="0" indent="0" algn="l">
              <a:lnSpc>
                <a:spcPct val="100000"/>
              </a:lnSpc>
              <a:buNone/>
            </a:pPr>
            <a:r>
              <a:rPr lang="en-US" sz="1600" b="0" i="1" dirty="0">
                <a:solidFill>
                  <a:srgbClr val="000000"/>
                </a:solidFill>
                <a:latin typeface="Aptos"/>
                <a:ea typeface="Aptos"/>
                <a:cs typeface="Aptos"/>
              </a:rPr>
              <a:t>The same interaction that makes focus groups rich can also distort evidence.</a:t>
            </a:r>
          </a:p>
        </p:txBody>
      </p:sp>
      <p:sp>
        <p:nvSpPr>
          <p:cNvPr id="5" name="Text 3"/>
          <p:cNvSpPr/>
          <p:nvPr/>
        </p:nvSpPr>
        <p:spPr>
          <a:xfrm>
            <a:off x="502920" y="6565392"/>
            <a:ext cx="1280160" cy="109728"/>
          </a:xfrm>
          <a:prstGeom prst="rect">
            <a:avLst/>
          </a:prstGeom>
          <a:noFill/>
          <a:ln/>
        </p:spPr>
        <p:txBody>
          <a:bodyPr wrap="square" rtlCol="0" anchor="ctr"/>
          <a:lstStyle/>
          <a:p>
            <a:pPr marL="0" indent="0">
              <a:buNone/>
            </a:pPr>
            <a:r>
              <a:rPr lang="en-US" sz="790" dirty="0">
                <a:solidFill>
                  <a:srgbClr val="777777"/>
                </a:solidFill>
                <a:latin typeface="Aptos" pitchFamily="34" charset="0"/>
                <a:ea typeface="Aptos" pitchFamily="34" charset="-122"/>
                <a:cs typeface="Aptos" pitchFamily="34" charset="-120"/>
              </a:rPr>
              <a:t>1/28/2026</a:t>
            </a:r>
            <a:endParaRPr lang="en-US" sz="790" dirty="0"/>
          </a:p>
        </p:txBody>
      </p:sp>
      <p:sp>
        <p:nvSpPr>
          <p:cNvPr id="6" name="Text 4"/>
          <p:cNvSpPr/>
          <p:nvPr/>
        </p:nvSpPr>
        <p:spPr>
          <a:xfrm>
            <a:off x="5257800" y="6565392"/>
            <a:ext cx="1645920" cy="109728"/>
          </a:xfrm>
          <a:prstGeom prst="rect">
            <a:avLst/>
          </a:prstGeom>
          <a:noFill/>
          <a:ln/>
        </p:spPr>
        <p:txBody>
          <a:bodyPr wrap="square" rtlCol="0" anchor="ctr"/>
          <a:lstStyle/>
          <a:p>
            <a:pPr marL="0" indent="0" algn="ctr">
              <a:buNone/>
            </a:pPr>
            <a:r>
              <a:rPr lang="en-US" sz="790" dirty="0">
                <a:solidFill>
                  <a:srgbClr val="777777"/>
                </a:solidFill>
                <a:latin typeface="Aptos" pitchFamily="34" charset="0"/>
                <a:ea typeface="Aptos" pitchFamily="34" charset="-122"/>
                <a:cs typeface="Aptos" pitchFamily="34" charset="-120"/>
              </a:rPr>
              <a:t>Md. Manirujjaman</a:t>
            </a:r>
            <a:endParaRPr lang="en-US" sz="790" dirty="0"/>
          </a:p>
        </p:txBody>
      </p:sp>
      <p:sp>
        <p:nvSpPr>
          <p:cNvPr id="7" name="Shape 5"/>
          <p:cNvSpPr/>
          <p:nvPr/>
        </p:nvSpPr>
        <p:spPr>
          <a:xfrm>
            <a:off x="11430000" y="6327648"/>
            <a:ext cx="274320" cy="274320"/>
          </a:xfrm>
          <a:prstGeom prst="ellipse">
            <a:avLst/>
          </a:prstGeom>
          <a:solidFill>
            <a:srgbClr val="B4001B"/>
          </a:solidFill>
          <a:ln w="12700">
            <a:solidFill>
              <a:srgbClr val="B4001B"/>
            </a:solidFill>
            <a:prstDash val="solid"/>
          </a:ln>
        </p:spPr>
        <p:txBody>
          <a:bodyPr wrap="none" lIns="0" tIns="0" rIns="0" bIns="0" anchor="ctr"/>
          <a:lstStyle/>
          <a:p>
            <a:pPr algn="ctr"/>
            <a:fld id="{8A2B6C1E-3F4D-4E5A-9B7C-1D2E3F4A5B6C}" type="slidenum">
              <a:rPr lang="en-US" sz="900" b="1">
                <a:solidFill>
                  <a:srgbClr val="FFFFFF"/>
                </a:solidFill>
                <a:latin typeface="Aptos"/>
              </a:rPr>
              <a:t>9</a:t>
            </a:fld>
            <a:endParaRPr lang="en-US" sz="900" b="1">
              <a:solidFill>
                <a:srgbClr val="FFFFFF"/>
              </a:solidFill>
              <a:latin typeface="Aptos"/>
            </a:endParaRPr>
          </a:p>
        </p:txBody>
      </p:sp>
      <p:sp>
        <p:nvSpPr>
          <p:cNvPr id="9" name="Shape 7"/>
          <p:cNvSpPr/>
          <p:nvPr/>
        </p:nvSpPr>
        <p:spPr>
          <a:xfrm>
            <a:off x="411480" y="1450848"/>
            <a:ext cx="2670048" cy="4748784"/>
          </a:xfrm>
          <a:prstGeom prst="rect">
            <a:avLst/>
          </a:prstGeom>
          <a:solidFill>
            <a:srgbClr val="FFFFFF"/>
          </a:solidFill>
          <a:ln w="12700">
            <a:solidFill>
              <a:srgbClr val="E6DCDC">
                <a:alpha val="95000"/>
              </a:srgbClr>
            </a:solidFill>
            <a:prstDash val="solid"/>
          </a:ln>
        </p:spPr>
        <p:txBody>
          <a:bodyPr/>
          <a:lstStyle/>
          <a:p>
            <a:endParaRPr/>
          </a:p>
        </p:txBody>
      </p:sp>
      <p:sp>
        <p:nvSpPr>
          <p:cNvPr id="10" name="Shape 8"/>
          <p:cNvSpPr/>
          <p:nvPr/>
        </p:nvSpPr>
        <p:spPr>
          <a:xfrm>
            <a:off x="594360" y="1606296"/>
            <a:ext cx="292608" cy="292608"/>
          </a:xfrm>
          <a:prstGeom prst="ellipse">
            <a:avLst/>
          </a:prstGeom>
          <a:solidFill>
            <a:srgbClr val="B4001B"/>
          </a:solidFill>
          <a:ln w="12700">
            <a:solidFill>
              <a:srgbClr val="B4001B"/>
            </a:solidFill>
            <a:prstDash val="solid"/>
          </a:ln>
        </p:spPr>
        <p:txBody>
          <a:bodyPr/>
          <a:lstStyle/>
          <a:p>
            <a:endParaRPr/>
          </a:p>
        </p:txBody>
      </p:sp>
      <p:sp>
        <p:nvSpPr>
          <p:cNvPr id="11" name="Text 9"/>
          <p:cNvSpPr/>
          <p:nvPr/>
        </p:nvSpPr>
        <p:spPr>
          <a:xfrm>
            <a:off x="594360" y="1606296"/>
            <a:ext cx="292608" cy="292608"/>
          </a:xfrm>
          <a:prstGeom prst="rect">
            <a:avLst/>
          </a:prstGeom>
          <a:noFill/>
          <a:ln/>
        </p:spPr>
        <p:txBody>
          <a:bodyPr wrap="non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1</a:t>
            </a:r>
            <a:endParaRPr lang="en-US" sz="1100" b="1" dirty="0"/>
          </a:p>
        </p:txBody>
      </p:sp>
      <p:sp>
        <p:nvSpPr>
          <p:cNvPr id="12" name="Text 10"/>
          <p:cNvSpPr/>
          <p:nvPr/>
        </p:nvSpPr>
        <p:spPr>
          <a:xfrm>
            <a:off x="996695" y="1597152"/>
            <a:ext cx="1956816" cy="627888"/>
          </a:xfrm>
          <a:prstGeom prst="rect">
            <a:avLst/>
          </a:prstGeom>
          <a:noFill/>
          <a:ln/>
        </p:spPr>
        <p:txBody>
          <a:bodyPr wrap="square" lIns="0" tIns="0" rIns="0" bIns="0" rtlCol="0" anchor="t">
            <a:noAutofit/>
          </a:bodyPr>
          <a:lstStyle/>
          <a:p>
            <a:pPr marL="0" indent="0" algn="l">
              <a:lnSpc>
                <a:spcPct val="100000"/>
              </a:lnSpc>
              <a:buNone/>
            </a:pPr>
            <a:r>
              <a:rPr lang="en-US" sz="2000" b="1" i="1" dirty="0">
                <a:solidFill>
                  <a:srgbClr val="111111"/>
                </a:solidFill>
                <a:latin typeface="Georgia"/>
                <a:ea typeface="Georgia"/>
                <a:cs typeface="Georgia"/>
              </a:rPr>
              <a:t>Dominance</a:t>
            </a:r>
          </a:p>
        </p:txBody>
      </p:sp>
      <p:sp>
        <p:nvSpPr>
          <p:cNvPr id="13" name="Text 11"/>
          <p:cNvSpPr/>
          <p:nvPr/>
        </p:nvSpPr>
        <p:spPr>
          <a:xfrm>
            <a:off x="594360" y="2353056"/>
            <a:ext cx="2304288" cy="3718560"/>
          </a:xfrm>
          <a:prstGeom prst="rect">
            <a:avLst/>
          </a:prstGeom>
          <a:noFill/>
          <a:ln/>
        </p:spPr>
        <p:txBody>
          <a:bodyPr wrap="square" lIns="0" tIns="0" rIns="0" bIns="0" rtlCol="0" anchor="t">
            <a:noAutofit/>
          </a:bodyPr>
          <a:lstStyle/>
          <a:p>
            <a:pPr marL="0" indent="0">
              <a:lnSpc>
                <a:spcPct val="100000"/>
              </a:lnSpc>
              <a:spcBef>
                <a:spcPts val="0"/>
              </a:spcBef>
              <a:spcAft>
                <a:spcPts val="0"/>
              </a:spcAft>
              <a:buNone/>
            </a:pPr>
            <a:r>
              <a:rPr lang="en-US" sz="1800" dirty="0">
                <a:solidFill>
                  <a:srgbClr val="000000"/>
                </a:solidFill>
                <a:latin typeface="Aptos" pitchFamily="34" charset="0"/>
                <a:ea typeface="Aptos" pitchFamily="34" charset="-122"/>
                <a:cs typeface="Aptos" pitchFamily="34" charset="-120"/>
              </a:rPr>
              <a:t>One person may control the discussion, making quieter users invisible.</a:t>
            </a:r>
            <a:endParaRPr lang="en-US" sz="1800" dirty="0">
              <a:solidFill>
                <a:srgbClr val="000000"/>
              </a:solidFill>
            </a:endParaRPr>
          </a:p>
          <a:p>
            <a:pPr marL="0" indent="0">
              <a:lnSpc>
                <a:spcPct val="100000"/>
              </a:lnSpc>
              <a:spcBef>
                <a:spcPts val="1400"/>
              </a:spcBef>
              <a:spcAft>
                <a:spcPts val="0"/>
              </a:spcAft>
              <a:buNone/>
            </a:pPr>
            <a:r>
              <a:rPr lang="en-US" sz="1800" dirty="0">
                <a:solidFill>
                  <a:srgbClr val="000000"/>
                </a:solidFill>
                <a:latin typeface="Aptos" pitchFamily="34" charset="0"/>
                <a:ea typeface="Aptos" pitchFamily="34" charset="-122"/>
                <a:cs typeface="Aptos" pitchFamily="34" charset="-120"/>
              </a:rPr>
              <a:t>Analyst response: use skilled moderation and alternate written input.</a:t>
            </a:r>
            <a:endParaRPr lang="en-US" sz="1800" dirty="0">
              <a:solidFill>
                <a:srgbClr val="000000"/>
              </a:solidFill>
            </a:endParaRPr>
          </a:p>
        </p:txBody>
      </p:sp>
      <p:sp>
        <p:nvSpPr>
          <p:cNvPr id="14" name="Shape 12"/>
          <p:cNvSpPr/>
          <p:nvPr/>
        </p:nvSpPr>
        <p:spPr>
          <a:xfrm>
            <a:off x="3310128" y="1450848"/>
            <a:ext cx="2670048" cy="4748784"/>
          </a:xfrm>
          <a:prstGeom prst="rect">
            <a:avLst/>
          </a:prstGeom>
          <a:solidFill>
            <a:srgbClr val="FFF5F6"/>
          </a:solidFill>
          <a:ln w="12700">
            <a:solidFill>
              <a:srgbClr val="E6DCDC">
                <a:alpha val="95000"/>
              </a:srgbClr>
            </a:solidFill>
            <a:prstDash val="solid"/>
          </a:ln>
        </p:spPr>
        <p:txBody>
          <a:bodyPr/>
          <a:lstStyle/>
          <a:p>
            <a:endParaRPr/>
          </a:p>
        </p:txBody>
      </p:sp>
      <p:sp>
        <p:nvSpPr>
          <p:cNvPr id="15" name="Shape 13"/>
          <p:cNvSpPr/>
          <p:nvPr/>
        </p:nvSpPr>
        <p:spPr>
          <a:xfrm>
            <a:off x="3493008" y="1606296"/>
            <a:ext cx="292608" cy="292608"/>
          </a:xfrm>
          <a:prstGeom prst="ellipse">
            <a:avLst/>
          </a:prstGeom>
          <a:solidFill>
            <a:srgbClr val="B4001B"/>
          </a:solidFill>
          <a:ln w="12700">
            <a:solidFill>
              <a:srgbClr val="B4001B"/>
            </a:solidFill>
            <a:prstDash val="solid"/>
          </a:ln>
        </p:spPr>
        <p:txBody>
          <a:bodyPr/>
          <a:lstStyle/>
          <a:p>
            <a:endParaRPr/>
          </a:p>
        </p:txBody>
      </p:sp>
      <p:sp>
        <p:nvSpPr>
          <p:cNvPr id="16" name="Text 14"/>
          <p:cNvSpPr/>
          <p:nvPr/>
        </p:nvSpPr>
        <p:spPr>
          <a:xfrm>
            <a:off x="3493008" y="1606296"/>
            <a:ext cx="292608" cy="292608"/>
          </a:xfrm>
          <a:prstGeom prst="rect">
            <a:avLst/>
          </a:prstGeom>
          <a:noFill/>
          <a:ln/>
        </p:spPr>
        <p:txBody>
          <a:bodyPr wrap="non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2</a:t>
            </a:r>
            <a:endParaRPr lang="en-US" sz="1100" b="1" dirty="0"/>
          </a:p>
        </p:txBody>
      </p:sp>
      <p:sp>
        <p:nvSpPr>
          <p:cNvPr id="17" name="Text 15"/>
          <p:cNvSpPr/>
          <p:nvPr/>
        </p:nvSpPr>
        <p:spPr>
          <a:xfrm>
            <a:off x="3895344" y="1597152"/>
            <a:ext cx="1956815" cy="627888"/>
          </a:xfrm>
          <a:prstGeom prst="rect">
            <a:avLst/>
          </a:prstGeom>
          <a:noFill/>
          <a:ln/>
        </p:spPr>
        <p:txBody>
          <a:bodyPr wrap="square" lIns="0" tIns="0" rIns="0" bIns="0" rtlCol="0" anchor="t">
            <a:noAutofit/>
          </a:bodyPr>
          <a:lstStyle/>
          <a:p>
            <a:pPr marL="0" indent="0" algn="l">
              <a:lnSpc>
                <a:spcPct val="100000"/>
              </a:lnSpc>
              <a:buNone/>
            </a:pPr>
            <a:r>
              <a:rPr lang="en-US" sz="2000" b="1" i="1" dirty="0">
                <a:solidFill>
                  <a:srgbClr val="111111"/>
                </a:solidFill>
                <a:latin typeface="Georgia"/>
                <a:ea typeface="Georgia"/>
                <a:cs typeface="Georgia"/>
              </a:rPr>
              <a:t>Status Pressure</a:t>
            </a:r>
          </a:p>
        </p:txBody>
      </p:sp>
      <p:sp>
        <p:nvSpPr>
          <p:cNvPr id="18" name="Text 16"/>
          <p:cNvSpPr/>
          <p:nvPr/>
        </p:nvSpPr>
        <p:spPr>
          <a:xfrm>
            <a:off x="3493008" y="2353056"/>
            <a:ext cx="2304288" cy="3718560"/>
          </a:xfrm>
          <a:prstGeom prst="rect">
            <a:avLst/>
          </a:prstGeom>
          <a:noFill/>
          <a:ln/>
        </p:spPr>
        <p:txBody>
          <a:bodyPr wrap="square" lIns="0" tIns="0" rIns="0" bIns="0" rtlCol="0" anchor="t">
            <a:noAutofit/>
          </a:bodyPr>
          <a:lstStyle/>
          <a:p>
            <a:pPr marL="0" indent="0">
              <a:lnSpc>
                <a:spcPct val="100000"/>
              </a:lnSpc>
              <a:spcBef>
                <a:spcPts val="0"/>
              </a:spcBef>
              <a:spcAft>
                <a:spcPts val="0"/>
              </a:spcAft>
              <a:buNone/>
            </a:pPr>
            <a:r>
              <a:rPr lang="en-US" sz="1800" dirty="0">
                <a:solidFill>
                  <a:srgbClr val="000000"/>
                </a:solidFill>
                <a:latin typeface="Aptos" pitchFamily="34" charset="0"/>
                <a:ea typeface="Aptos" pitchFamily="34" charset="-122"/>
                <a:cs typeface="Aptos" pitchFamily="34" charset="-120"/>
              </a:rPr>
              <a:t>Junior staff may agree with managers even when their daily work experience differs.</a:t>
            </a:r>
            <a:endParaRPr lang="en-US" sz="1800" dirty="0">
              <a:solidFill>
                <a:srgbClr val="000000"/>
              </a:solidFill>
            </a:endParaRPr>
          </a:p>
          <a:p>
            <a:pPr marL="0" indent="0">
              <a:lnSpc>
                <a:spcPct val="100000"/>
              </a:lnSpc>
              <a:spcBef>
                <a:spcPts val="1400"/>
              </a:spcBef>
              <a:spcAft>
                <a:spcPts val="0"/>
              </a:spcAft>
              <a:buNone/>
            </a:pPr>
            <a:r>
              <a:rPr lang="en-US" sz="1800" dirty="0">
                <a:solidFill>
                  <a:srgbClr val="000000"/>
                </a:solidFill>
                <a:latin typeface="Aptos" pitchFamily="34" charset="0"/>
                <a:ea typeface="Aptos" pitchFamily="34" charset="-122"/>
                <a:cs typeface="Aptos" pitchFamily="34" charset="-120"/>
              </a:rPr>
              <a:t>Analyst response: separate groups before joint discussion.</a:t>
            </a:r>
            <a:endParaRPr lang="en-US" sz="1800" dirty="0">
              <a:solidFill>
                <a:srgbClr val="000000"/>
              </a:solidFill>
            </a:endParaRPr>
          </a:p>
        </p:txBody>
      </p:sp>
      <p:sp>
        <p:nvSpPr>
          <p:cNvPr id="19" name="Shape 17"/>
          <p:cNvSpPr/>
          <p:nvPr/>
        </p:nvSpPr>
        <p:spPr>
          <a:xfrm>
            <a:off x="6208776" y="1450848"/>
            <a:ext cx="2670048" cy="4748784"/>
          </a:xfrm>
          <a:prstGeom prst="rect">
            <a:avLst/>
          </a:prstGeom>
          <a:solidFill>
            <a:srgbClr val="FFFFFF"/>
          </a:solidFill>
          <a:ln w="12700">
            <a:solidFill>
              <a:srgbClr val="E6DCDC">
                <a:alpha val="95000"/>
              </a:srgbClr>
            </a:solidFill>
            <a:prstDash val="solid"/>
          </a:ln>
        </p:spPr>
        <p:txBody>
          <a:bodyPr/>
          <a:lstStyle/>
          <a:p>
            <a:endParaRPr/>
          </a:p>
        </p:txBody>
      </p:sp>
      <p:sp>
        <p:nvSpPr>
          <p:cNvPr id="20" name="Shape 18"/>
          <p:cNvSpPr/>
          <p:nvPr/>
        </p:nvSpPr>
        <p:spPr>
          <a:xfrm>
            <a:off x="6391656" y="1606296"/>
            <a:ext cx="292608" cy="292608"/>
          </a:xfrm>
          <a:prstGeom prst="ellipse">
            <a:avLst/>
          </a:prstGeom>
          <a:solidFill>
            <a:srgbClr val="B4001B"/>
          </a:solidFill>
          <a:ln w="12700">
            <a:solidFill>
              <a:srgbClr val="B4001B"/>
            </a:solidFill>
            <a:prstDash val="solid"/>
          </a:ln>
        </p:spPr>
        <p:txBody>
          <a:bodyPr/>
          <a:lstStyle/>
          <a:p>
            <a:endParaRPr/>
          </a:p>
        </p:txBody>
      </p:sp>
      <p:sp>
        <p:nvSpPr>
          <p:cNvPr id="21" name="Text 19"/>
          <p:cNvSpPr/>
          <p:nvPr/>
        </p:nvSpPr>
        <p:spPr>
          <a:xfrm>
            <a:off x="6391656" y="1606296"/>
            <a:ext cx="292608" cy="292608"/>
          </a:xfrm>
          <a:prstGeom prst="rect">
            <a:avLst/>
          </a:prstGeom>
          <a:noFill/>
          <a:ln/>
        </p:spPr>
        <p:txBody>
          <a:bodyPr wrap="non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3</a:t>
            </a:r>
            <a:endParaRPr lang="en-US" sz="1100" b="1" dirty="0"/>
          </a:p>
        </p:txBody>
      </p:sp>
      <p:sp>
        <p:nvSpPr>
          <p:cNvPr id="22" name="Text 20"/>
          <p:cNvSpPr/>
          <p:nvPr/>
        </p:nvSpPr>
        <p:spPr>
          <a:xfrm>
            <a:off x="6793992" y="1597152"/>
            <a:ext cx="1956816" cy="627888"/>
          </a:xfrm>
          <a:prstGeom prst="rect">
            <a:avLst/>
          </a:prstGeom>
          <a:noFill/>
          <a:ln/>
        </p:spPr>
        <p:txBody>
          <a:bodyPr wrap="square" lIns="0" tIns="0" rIns="0" bIns="0" rtlCol="0" anchor="t">
            <a:noAutofit/>
          </a:bodyPr>
          <a:lstStyle/>
          <a:p>
            <a:pPr marL="0" indent="0" algn="l">
              <a:lnSpc>
                <a:spcPct val="100000"/>
              </a:lnSpc>
              <a:buNone/>
            </a:pPr>
            <a:r>
              <a:rPr lang="en-US" sz="2000" b="1" i="1" dirty="0">
                <a:solidFill>
                  <a:srgbClr val="111111"/>
                </a:solidFill>
                <a:latin typeface="Georgia"/>
                <a:ea typeface="Georgia"/>
                <a:cs typeface="Georgia"/>
              </a:rPr>
              <a:t>False Consensus</a:t>
            </a:r>
          </a:p>
        </p:txBody>
      </p:sp>
      <p:sp>
        <p:nvSpPr>
          <p:cNvPr id="23" name="Text 21"/>
          <p:cNvSpPr/>
          <p:nvPr/>
        </p:nvSpPr>
        <p:spPr>
          <a:xfrm>
            <a:off x="6391656" y="2353056"/>
            <a:ext cx="2304288" cy="3718560"/>
          </a:xfrm>
          <a:prstGeom prst="rect">
            <a:avLst/>
          </a:prstGeom>
          <a:noFill/>
          <a:ln/>
        </p:spPr>
        <p:txBody>
          <a:bodyPr wrap="square" lIns="0" tIns="0" rIns="0" bIns="0" rtlCol="0" anchor="t">
            <a:noAutofit/>
          </a:bodyPr>
          <a:lstStyle/>
          <a:p>
            <a:pPr marL="0" indent="0">
              <a:lnSpc>
                <a:spcPct val="100000"/>
              </a:lnSpc>
              <a:spcBef>
                <a:spcPts val="0"/>
              </a:spcBef>
              <a:spcAft>
                <a:spcPts val="0"/>
              </a:spcAft>
              <a:buNone/>
            </a:pPr>
            <a:r>
              <a:rPr lang="en-US" sz="1800" dirty="0">
                <a:solidFill>
                  <a:srgbClr val="000000"/>
                </a:solidFill>
                <a:latin typeface="Aptos" pitchFamily="34" charset="0"/>
                <a:ea typeface="Aptos" pitchFamily="34" charset="-122"/>
                <a:cs typeface="Aptos" pitchFamily="34" charset="-120"/>
              </a:rPr>
              <a:t>No disagreement does not prove everyone agrees. It may indicate discomfort or social pressure.</a:t>
            </a:r>
            <a:endParaRPr lang="en-US" sz="1800" dirty="0">
              <a:solidFill>
                <a:srgbClr val="000000"/>
              </a:solidFill>
            </a:endParaRPr>
          </a:p>
          <a:p>
            <a:pPr marL="0" indent="0">
              <a:lnSpc>
                <a:spcPct val="100000"/>
              </a:lnSpc>
              <a:spcBef>
                <a:spcPts val="1400"/>
              </a:spcBef>
              <a:spcAft>
                <a:spcPts val="0"/>
              </a:spcAft>
              <a:buNone/>
            </a:pPr>
            <a:r>
              <a:rPr lang="en-US" sz="1800" dirty="0">
                <a:solidFill>
                  <a:srgbClr val="000000"/>
                </a:solidFill>
                <a:latin typeface="Aptos" pitchFamily="34" charset="0"/>
                <a:ea typeface="Aptos" pitchFamily="34" charset="-122"/>
                <a:cs typeface="Aptos" pitchFamily="34" charset="-120"/>
              </a:rPr>
              <a:t>Analyst response: validate using interviews, CI or surveys.</a:t>
            </a:r>
            <a:endParaRPr lang="en-US" sz="1800" dirty="0">
              <a:solidFill>
                <a:srgbClr val="000000"/>
              </a:solidFill>
            </a:endParaRPr>
          </a:p>
        </p:txBody>
      </p:sp>
      <p:sp>
        <p:nvSpPr>
          <p:cNvPr id="24" name="Shape 22"/>
          <p:cNvSpPr/>
          <p:nvPr/>
        </p:nvSpPr>
        <p:spPr>
          <a:xfrm>
            <a:off x="9107424" y="1450848"/>
            <a:ext cx="2670048" cy="4748784"/>
          </a:xfrm>
          <a:prstGeom prst="rect">
            <a:avLst/>
          </a:prstGeom>
          <a:solidFill>
            <a:srgbClr val="FFF9F9"/>
          </a:solidFill>
          <a:ln w="12700">
            <a:solidFill>
              <a:srgbClr val="E6DCDC">
                <a:alpha val="95000"/>
              </a:srgbClr>
            </a:solidFill>
            <a:prstDash val="solid"/>
          </a:ln>
        </p:spPr>
        <p:txBody>
          <a:bodyPr/>
          <a:lstStyle/>
          <a:p>
            <a:endParaRPr/>
          </a:p>
        </p:txBody>
      </p:sp>
      <p:sp>
        <p:nvSpPr>
          <p:cNvPr id="25" name="Shape 23"/>
          <p:cNvSpPr/>
          <p:nvPr/>
        </p:nvSpPr>
        <p:spPr>
          <a:xfrm>
            <a:off x="9290304" y="1606296"/>
            <a:ext cx="292608" cy="292608"/>
          </a:xfrm>
          <a:prstGeom prst="ellipse">
            <a:avLst/>
          </a:prstGeom>
          <a:solidFill>
            <a:srgbClr val="B4001B"/>
          </a:solidFill>
          <a:ln w="12700">
            <a:solidFill>
              <a:srgbClr val="B4001B"/>
            </a:solidFill>
            <a:prstDash val="solid"/>
          </a:ln>
        </p:spPr>
        <p:txBody>
          <a:bodyPr/>
          <a:lstStyle/>
          <a:p>
            <a:endParaRPr/>
          </a:p>
        </p:txBody>
      </p:sp>
      <p:sp>
        <p:nvSpPr>
          <p:cNvPr id="26" name="Text 24"/>
          <p:cNvSpPr/>
          <p:nvPr/>
        </p:nvSpPr>
        <p:spPr>
          <a:xfrm>
            <a:off x="9290304" y="1606296"/>
            <a:ext cx="292608" cy="292608"/>
          </a:xfrm>
          <a:prstGeom prst="rect">
            <a:avLst/>
          </a:prstGeom>
          <a:noFill/>
          <a:ln/>
        </p:spPr>
        <p:txBody>
          <a:bodyPr wrap="non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4</a:t>
            </a:r>
            <a:endParaRPr lang="en-US" sz="1100" b="1" dirty="0"/>
          </a:p>
        </p:txBody>
      </p:sp>
      <p:sp>
        <p:nvSpPr>
          <p:cNvPr id="27" name="Text 25"/>
          <p:cNvSpPr/>
          <p:nvPr/>
        </p:nvSpPr>
        <p:spPr>
          <a:xfrm>
            <a:off x="9692640" y="1597152"/>
            <a:ext cx="1956816" cy="627888"/>
          </a:xfrm>
          <a:prstGeom prst="rect">
            <a:avLst/>
          </a:prstGeom>
          <a:noFill/>
          <a:ln/>
        </p:spPr>
        <p:txBody>
          <a:bodyPr wrap="square" lIns="0" tIns="0" rIns="0" bIns="0" rtlCol="0" anchor="t">
            <a:noAutofit/>
          </a:bodyPr>
          <a:lstStyle/>
          <a:p>
            <a:pPr marL="0" indent="0" algn="l">
              <a:lnSpc>
                <a:spcPct val="100000"/>
              </a:lnSpc>
              <a:buNone/>
            </a:pPr>
            <a:r>
              <a:rPr lang="en-US" sz="2000" b="1" i="1" dirty="0">
                <a:solidFill>
                  <a:srgbClr val="111111"/>
                </a:solidFill>
                <a:latin typeface="Georgia"/>
                <a:ea typeface="Georgia"/>
                <a:cs typeface="Georgia"/>
              </a:rPr>
              <a:t>Rule</a:t>
            </a:r>
          </a:p>
        </p:txBody>
      </p:sp>
      <p:sp>
        <p:nvSpPr>
          <p:cNvPr id="28" name="Text 26"/>
          <p:cNvSpPr/>
          <p:nvPr/>
        </p:nvSpPr>
        <p:spPr>
          <a:xfrm>
            <a:off x="9290304" y="2353056"/>
            <a:ext cx="2304288" cy="3718560"/>
          </a:xfrm>
          <a:prstGeom prst="rect">
            <a:avLst/>
          </a:prstGeom>
          <a:noFill/>
          <a:ln/>
        </p:spPr>
        <p:txBody>
          <a:bodyPr wrap="square" lIns="0" tIns="0" rIns="0" bIns="0" rtlCol="0" anchor="t">
            <a:noAutofit/>
          </a:bodyPr>
          <a:lstStyle/>
          <a:p>
            <a:pPr marL="0" indent="0">
              <a:lnSpc>
                <a:spcPct val="100000"/>
              </a:lnSpc>
              <a:spcBef>
                <a:spcPts val="0"/>
              </a:spcBef>
              <a:spcAft>
                <a:spcPts val="0"/>
              </a:spcAft>
              <a:buNone/>
            </a:pPr>
            <a:r>
              <a:rPr lang="en-US" sz="1800" dirty="0">
                <a:solidFill>
                  <a:srgbClr val="000000"/>
                </a:solidFill>
                <a:latin typeface="Aptos" pitchFamily="34" charset="0"/>
                <a:ea typeface="Aptos" pitchFamily="34" charset="-122"/>
                <a:cs typeface="Aptos" pitchFamily="34" charset="-120"/>
              </a:rPr>
              <a:t>Do not turn one focus group directly into final requirements.</a:t>
            </a:r>
            <a:endParaRPr lang="en-US" sz="1800" dirty="0">
              <a:solidFill>
                <a:srgbClr val="00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55448"/>
            <a:ext cx="5486400" cy="201168"/>
          </a:xfrm>
          <a:prstGeom prst="rect">
            <a:avLst/>
          </a:prstGeom>
          <a:noFill/>
          <a:ln/>
        </p:spPr>
        <p:txBody>
          <a:bodyPr wrap="square" lIns="0" tIns="0" rIns="0" bIns="0" rtlCol="0" anchor="ctr">
            <a:noAutofit/>
          </a:bodyPr>
          <a:lstStyle/>
          <a:p>
            <a:pPr marL="0" indent="0">
              <a:buNone/>
            </a:pPr>
            <a:r>
              <a:rPr lang="en-US" sz="1100" b="1" dirty="0">
                <a:solidFill>
                  <a:srgbClr val="B4001B"/>
                </a:solidFill>
                <a:latin typeface="Aptos" pitchFamily="34" charset="0"/>
                <a:ea typeface="Aptos" pitchFamily="34" charset="-122"/>
                <a:cs typeface="Aptos" pitchFamily="34" charset="-120"/>
              </a:rPr>
              <a:t>CONTEXTUAL INQUIRY</a:t>
            </a:r>
            <a:endParaRPr lang="en-US" sz="1100" b="1" dirty="0"/>
          </a:p>
        </p:txBody>
      </p:sp>
      <p:sp>
        <p:nvSpPr>
          <p:cNvPr id="3" name="Text 1"/>
          <p:cNvSpPr/>
          <p:nvPr/>
        </p:nvSpPr>
        <p:spPr>
          <a:xfrm>
            <a:off x="411480" y="365760"/>
            <a:ext cx="11365992" cy="512064"/>
          </a:xfrm>
          <a:prstGeom prst="rect">
            <a:avLst/>
          </a:prstGeom>
          <a:noFill/>
          <a:ln/>
        </p:spPr>
        <p:txBody>
          <a:bodyPr wrap="square" lIns="0" tIns="0" rIns="0" bIns="0" rtlCol="0" anchor="ctr">
            <a:noAutofit/>
          </a:bodyPr>
          <a:lstStyle/>
          <a:p>
            <a:pPr marL="0" indent="0" algn="l">
              <a:buNone/>
            </a:pPr>
            <a:r>
              <a:rPr lang="en-US" sz="3200" b="1" i="1" dirty="0">
                <a:solidFill>
                  <a:srgbClr val="111111"/>
                </a:solidFill>
                <a:latin typeface="Georgia"/>
                <a:ea typeface="Georgia"/>
                <a:cs typeface="Georgia"/>
              </a:rPr>
              <a:t>Contextual Inquiry: Observe Real Work</a:t>
            </a:r>
          </a:p>
        </p:txBody>
      </p:sp>
      <p:sp>
        <p:nvSpPr>
          <p:cNvPr id="4" name="Text 2"/>
          <p:cNvSpPr/>
          <p:nvPr/>
        </p:nvSpPr>
        <p:spPr>
          <a:xfrm>
            <a:off x="411480" y="932688"/>
            <a:ext cx="11365992" cy="280416"/>
          </a:xfrm>
          <a:prstGeom prst="rect">
            <a:avLst/>
          </a:prstGeom>
          <a:noFill/>
          <a:ln/>
        </p:spPr>
        <p:txBody>
          <a:bodyPr wrap="square" lIns="0" tIns="0" rIns="0" bIns="0" rtlCol="0" anchor="t">
            <a:noAutofit/>
          </a:bodyPr>
          <a:lstStyle/>
          <a:p>
            <a:pPr marL="0" indent="0" algn="l">
              <a:lnSpc>
                <a:spcPct val="100000"/>
              </a:lnSpc>
              <a:buNone/>
            </a:pPr>
            <a:r>
              <a:rPr lang="en-US" sz="1600" b="0" i="1" dirty="0">
                <a:solidFill>
                  <a:srgbClr val="000000"/>
                </a:solidFill>
                <a:latin typeface="Aptos"/>
                <a:ea typeface="Aptos"/>
                <a:cs typeface="Aptos"/>
              </a:rPr>
              <a:t>CI combines observation and interview: go where the activity happens, watch real work, and ask grounded questions.</a:t>
            </a:r>
          </a:p>
        </p:txBody>
      </p:sp>
      <p:sp>
        <p:nvSpPr>
          <p:cNvPr id="5" name="Text 3"/>
          <p:cNvSpPr/>
          <p:nvPr/>
        </p:nvSpPr>
        <p:spPr>
          <a:xfrm>
            <a:off x="502920" y="6565392"/>
            <a:ext cx="1280160" cy="109728"/>
          </a:xfrm>
          <a:prstGeom prst="rect">
            <a:avLst/>
          </a:prstGeom>
          <a:noFill/>
          <a:ln/>
        </p:spPr>
        <p:txBody>
          <a:bodyPr wrap="square" rtlCol="0" anchor="ctr"/>
          <a:lstStyle/>
          <a:p>
            <a:pPr marL="0" indent="0">
              <a:buNone/>
            </a:pPr>
            <a:r>
              <a:rPr lang="en-US" sz="790" dirty="0">
                <a:solidFill>
                  <a:srgbClr val="777777"/>
                </a:solidFill>
                <a:latin typeface="Aptos" pitchFamily="34" charset="0"/>
                <a:ea typeface="Aptos" pitchFamily="34" charset="-122"/>
                <a:cs typeface="Aptos" pitchFamily="34" charset="-120"/>
              </a:rPr>
              <a:t>1/28/2026</a:t>
            </a:r>
            <a:endParaRPr lang="en-US" sz="790" dirty="0"/>
          </a:p>
        </p:txBody>
      </p:sp>
      <p:sp>
        <p:nvSpPr>
          <p:cNvPr id="6" name="Text 4"/>
          <p:cNvSpPr/>
          <p:nvPr/>
        </p:nvSpPr>
        <p:spPr>
          <a:xfrm>
            <a:off x="5257800" y="6565392"/>
            <a:ext cx="1645920" cy="109728"/>
          </a:xfrm>
          <a:prstGeom prst="rect">
            <a:avLst/>
          </a:prstGeom>
          <a:noFill/>
          <a:ln/>
        </p:spPr>
        <p:txBody>
          <a:bodyPr wrap="square" rtlCol="0" anchor="ctr"/>
          <a:lstStyle/>
          <a:p>
            <a:pPr marL="0" indent="0" algn="ctr">
              <a:buNone/>
            </a:pPr>
            <a:r>
              <a:rPr lang="en-US" sz="790" dirty="0">
                <a:solidFill>
                  <a:srgbClr val="777777"/>
                </a:solidFill>
                <a:latin typeface="Aptos" pitchFamily="34" charset="0"/>
                <a:ea typeface="Aptos" pitchFamily="34" charset="-122"/>
                <a:cs typeface="Aptos" pitchFamily="34" charset="-120"/>
              </a:rPr>
              <a:t>Md. Manirujjaman</a:t>
            </a:r>
            <a:endParaRPr lang="en-US" sz="790" dirty="0"/>
          </a:p>
        </p:txBody>
      </p:sp>
      <p:sp>
        <p:nvSpPr>
          <p:cNvPr id="7" name="Shape 5"/>
          <p:cNvSpPr/>
          <p:nvPr/>
        </p:nvSpPr>
        <p:spPr>
          <a:xfrm>
            <a:off x="11430000" y="6327648"/>
            <a:ext cx="274320" cy="274320"/>
          </a:xfrm>
          <a:prstGeom prst="ellipse">
            <a:avLst/>
          </a:prstGeom>
          <a:solidFill>
            <a:srgbClr val="B4001B"/>
          </a:solidFill>
          <a:ln w="12700">
            <a:solidFill>
              <a:srgbClr val="B4001B"/>
            </a:solidFill>
            <a:prstDash val="solid"/>
          </a:ln>
        </p:spPr>
        <p:txBody>
          <a:bodyPr wrap="none" lIns="0" tIns="0" rIns="0" bIns="0" anchor="ctr"/>
          <a:lstStyle/>
          <a:p>
            <a:pPr algn="ctr"/>
            <a:fld id="{8A2B6C1E-3F4D-4E5A-9B7C-1D2E3F4A5B6C}" type="slidenum">
              <a:rPr lang="en-US" sz="900" b="1">
                <a:solidFill>
                  <a:srgbClr val="FFFFFF"/>
                </a:solidFill>
                <a:latin typeface="Aptos"/>
              </a:rPr>
              <a:t>10</a:t>
            </a:fld>
            <a:endParaRPr lang="en-US" sz="900" b="1">
              <a:solidFill>
                <a:srgbClr val="FFFFFF"/>
              </a:solidFill>
              <a:latin typeface="Aptos"/>
            </a:endParaRPr>
          </a:p>
        </p:txBody>
      </p:sp>
      <p:sp>
        <p:nvSpPr>
          <p:cNvPr id="9" name="Shape 7"/>
          <p:cNvSpPr/>
          <p:nvPr/>
        </p:nvSpPr>
        <p:spPr>
          <a:xfrm>
            <a:off x="411480" y="1450848"/>
            <a:ext cx="3605784" cy="3730752"/>
          </a:xfrm>
          <a:prstGeom prst="rect">
            <a:avLst/>
          </a:prstGeom>
          <a:solidFill>
            <a:srgbClr val="FFFFFF"/>
          </a:solidFill>
          <a:ln w="12700">
            <a:solidFill>
              <a:srgbClr val="E6DCDC">
                <a:alpha val="95000"/>
              </a:srgbClr>
            </a:solidFill>
            <a:prstDash val="solid"/>
          </a:ln>
        </p:spPr>
        <p:txBody>
          <a:bodyPr/>
          <a:lstStyle/>
          <a:p>
            <a:endParaRPr/>
          </a:p>
        </p:txBody>
      </p:sp>
      <p:sp>
        <p:nvSpPr>
          <p:cNvPr id="10" name="Shape 8"/>
          <p:cNvSpPr/>
          <p:nvPr/>
        </p:nvSpPr>
        <p:spPr>
          <a:xfrm>
            <a:off x="594360" y="1606296"/>
            <a:ext cx="292608" cy="292608"/>
          </a:xfrm>
          <a:prstGeom prst="ellipse">
            <a:avLst/>
          </a:prstGeom>
          <a:solidFill>
            <a:srgbClr val="B4001B"/>
          </a:solidFill>
          <a:ln w="12700">
            <a:solidFill>
              <a:srgbClr val="B4001B"/>
            </a:solidFill>
            <a:prstDash val="solid"/>
          </a:ln>
        </p:spPr>
        <p:txBody>
          <a:bodyPr/>
          <a:lstStyle/>
          <a:p>
            <a:endParaRPr/>
          </a:p>
        </p:txBody>
      </p:sp>
      <p:sp>
        <p:nvSpPr>
          <p:cNvPr id="11" name="Text 9"/>
          <p:cNvSpPr/>
          <p:nvPr/>
        </p:nvSpPr>
        <p:spPr>
          <a:xfrm>
            <a:off x="594360" y="1606296"/>
            <a:ext cx="292608" cy="292608"/>
          </a:xfrm>
          <a:prstGeom prst="rect">
            <a:avLst/>
          </a:prstGeom>
          <a:noFill/>
          <a:ln/>
        </p:spPr>
        <p:txBody>
          <a:bodyPr wrap="non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1</a:t>
            </a:r>
            <a:endParaRPr lang="en-US" sz="1100" b="1" dirty="0"/>
          </a:p>
        </p:txBody>
      </p:sp>
      <p:sp>
        <p:nvSpPr>
          <p:cNvPr id="12" name="Text 10"/>
          <p:cNvSpPr/>
          <p:nvPr/>
        </p:nvSpPr>
        <p:spPr>
          <a:xfrm>
            <a:off x="996695" y="1597152"/>
            <a:ext cx="2892552" cy="323088"/>
          </a:xfrm>
          <a:prstGeom prst="rect">
            <a:avLst/>
          </a:prstGeom>
          <a:noFill/>
          <a:ln/>
        </p:spPr>
        <p:txBody>
          <a:bodyPr wrap="square" lIns="0" tIns="0" rIns="0" bIns="0" rtlCol="0" anchor="t">
            <a:noAutofit/>
          </a:bodyPr>
          <a:lstStyle/>
          <a:p>
            <a:pPr marL="0" indent="0" algn="l">
              <a:lnSpc>
                <a:spcPct val="100000"/>
              </a:lnSpc>
              <a:buNone/>
            </a:pPr>
            <a:r>
              <a:rPr lang="en-US" sz="2000" b="1" i="1" dirty="0">
                <a:solidFill>
                  <a:srgbClr val="111111"/>
                </a:solidFill>
                <a:latin typeface="Georgia"/>
                <a:ea typeface="Georgia"/>
                <a:cs typeface="Georgia"/>
              </a:rPr>
              <a:t>Context</a:t>
            </a:r>
          </a:p>
        </p:txBody>
      </p:sp>
      <p:sp>
        <p:nvSpPr>
          <p:cNvPr id="13" name="Text 11"/>
          <p:cNvSpPr/>
          <p:nvPr/>
        </p:nvSpPr>
        <p:spPr>
          <a:xfrm>
            <a:off x="594360" y="2048256"/>
            <a:ext cx="3240024" cy="3005328"/>
          </a:xfrm>
          <a:prstGeom prst="rect">
            <a:avLst/>
          </a:prstGeom>
          <a:noFill/>
          <a:ln/>
        </p:spPr>
        <p:txBody>
          <a:bodyPr wrap="square" lIns="0" tIns="0" rIns="0" bIns="0" rtlCol="0" anchor="t">
            <a:noAutofit/>
          </a:bodyPr>
          <a:lstStyle/>
          <a:p>
            <a:pPr marL="0" indent="0">
              <a:lnSpc>
                <a:spcPct val="100000"/>
              </a:lnSpc>
              <a:spcBef>
                <a:spcPts val="0"/>
              </a:spcBef>
              <a:spcAft>
                <a:spcPts val="0"/>
              </a:spcAft>
              <a:buNone/>
            </a:pPr>
            <a:r>
              <a:rPr lang="en-US" sz="1800" dirty="0">
                <a:solidFill>
                  <a:srgbClr val="000000"/>
                </a:solidFill>
                <a:latin typeface="Aptos" pitchFamily="34" charset="0"/>
                <a:ea typeface="Aptos" pitchFamily="34" charset="-122"/>
                <a:cs typeface="Aptos" pitchFamily="34" charset="-120"/>
              </a:rPr>
              <a:t>Study work in the real environment: office, ward, classroom, shop floor or kitchen. This reveals artifacts, interruptions, sequence and constraints.</a:t>
            </a:r>
            <a:endParaRPr lang="en-US" sz="1800" dirty="0">
              <a:solidFill>
                <a:srgbClr val="000000"/>
              </a:solidFill>
            </a:endParaRPr>
          </a:p>
        </p:txBody>
      </p:sp>
      <p:sp>
        <p:nvSpPr>
          <p:cNvPr id="14" name="Shape 12"/>
          <p:cNvSpPr/>
          <p:nvPr/>
        </p:nvSpPr>
        <p:spPr>
          <a:xfrm>
            <a:off x="4291584" y="1450848"/>
            <a:ext cx="3605784" cy="3730752"/>
          </a:xfrm>
          <a:prstGeom prst="rect">
            <a:avLst/>
          </a:prstGeom>
          <a:solidFill>
            <a:srgbClr val="FFF5F6"/>
          </a:solidFill>
          <a:ln w="12700">
            <a:solidFill>
              <a:srgbClr val="E6DCDC">
                <a:alpha val="95000"/>
              </a:srgbClr>
            </a:solidFill>
            <a:prstDash val="solid"/>
          </a:ln>
        </p:spPr>
        <p:txBody>
          <a:bodyPr/>
          <a:lstStyle/>
          <a:p>
            <a:endParaRPr/>
          </a:p>
        </p:txBody>
      </p:sp>
      <p:sp>
        <p:nvSpPr>
          <p:cNvPr id="15" name="Shape 13"/>
          <p:cNvSpPr/>
          <p:nvPr/>
        </p:nvSpPr>
        <p:spPr>
          <a:xfrm>
            <a:off x="4474464" y="1606296"/>
            <a:ext cx="292608" cy="292608"/>
          </a:xfrm>
          <a:prstGeom prst="ellipse">
            <a:avLst/>
          </a:prstGeom>
          <a:solidFill>
            <a:srgbClr val="B4001B"/>
          </a:solidFill>
          <a:ln w="12700">
            <a:solidFill>
              <a:srgbClr val="B4001B"/>
            </a:solidFill>
            <a:prstDash val="solid"/>
          </a:ln>
        </p:spPr>
        <p:txBody>
          <a:bodyPr/>
          <a:lstStyle/>
          <a:p>
            <a:endParaRPr/>
          </a:p>
        </p:txBody>
      </p:sp>
      <p:sp>
        <p:nvSpPr>
          <p:cNvPr id="16" name="Text 14"/>
          <p:cNvSpPr/>
          <p:nvPr/>
        </p:nvSpPr>
        <p:spPr>
          <a:xfrm>
            <a:off x="4474464" y="1606296"/>
            <a:ext cx="292608" cy="292608"/>
          </a:xfrm>
          <a:prstGeom prst="rect">
            <a:avLst/>
          </a:prstGeom>
          <a:noFill/>
          <a:ln/>
        </p:spPr>
        <p:txBody>
          <a:bodyPr wrap="non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2</a:t>
            </a:r>
            <a:endParaRPr lang="en-US" sz="1100" b="1" dirty="0"/>
          </a:p>
        </p:txBody>
      </p:sp>
      <p:sp>
        <p:nvSpPr>
          <p:cNvPr id="17" name="Text 15"/>
          <p:cNvSpPr/>
          <p:nvPr/>
        </p:nvSpPr>
        <p:spPr>
          <a:xfrm>
            <a:off x="4876800" y="1597152"/>
            <a:ext cx="2892552" cy="323088"/>
          </a:xfrm>
          <a:prstGeom prst="rect">
            <a:avLst/>
          </a:prstGeom>
          <a:noFill/>
          <a:ln/>
        </p:spPr>
        <p:txBody>
          <a:bodyPr wrap="square" lIns="0" tIns="0" rIns="0" bIns="0" rtlCol="0" anchor="t">
            <a:noAutofit/>
          </a:bodyPr>
          <a:lstStyle/>
          <a:p>
            <a:pPr marL="0" indent="0" algn="l">
              <a:lnSpc>
                <a:spcPct val="100000"/>
              </a:lnSpc>
              <a:buNone/>
            </a:pPr>
            <a:r>
              <a:rPr lang="en-US" sz="2000" b="1" i="1" dirty="0">
                <a:solidFill>
                  <a:srgbClr val="111111"/>
                </a:solidFill>
                <a:latin typeface="Georgia"/>
                <a:ea typeface="Georgia"/>
                <a:cs typeface="Georgia"/>
              </a:rPr>
              <a:t>Partnership</a:t>
            </a:r>
          </a:p>
        </p:txBody>
      </p:sp>
      <p:sp>
        <p:nvSpPr>
          <p:cNvPr id="18" name="Text 16"/>
          <p:cNvSpPr/>
          <p:nvPr/>
        </p:nvSpPr>
        <p:spPr>
          <a:xfrm>
            <a:off x="4474464" y="2048256"/>
            <a:ext cx="3240024" cy="3005328"/>
          </a:xfrm>
          <a:prstGeom prst="rect">
            <a:avLst/>
          </a:prstGeom>
          <a:noFill/>
          <a:ln/>
        </p:spPr>
        <p:txBody>
          <a:bodyPr wrap="square" lIns="0" tIns="0" rIns="0" bIns="0" rtlCol="0" anchor="t">
            <a:noAutofit/>
          </a:bodyPr>
          <a:lstStyle/>
          <a:p>
            <a:pPr marL="0" indent="0">
              <a:lnSpc>
                <a:spcPct val="100000"/>
              </a:lnSpc>
              <a:spcBef>
                <a:spcPts val="0"/>
              </a:spcBef>
              <a:spcAft>
                <a:spcPts val="0"/>
              </a:spcAft>
              <a:buNone/>
            </a:pPr>
            <a:r>
              <a:rPr lang="en-US" sz="1800" dirty="0">
                <a:solidFill>
                  <a:srgbClr val="000000"/>
                </a:solidFill>
                <a:latin typeface="Aptos" pitchFamily="34" charset="0"/>
                <a:ea typeface="Aptos" pitchFamily="34" charset="-122"/>
                <a:cs typeface="Aptos" pitchFamily="34" charset="-120"/>
              </a:rPr>
              <a:t>The user is expert in their own work. The analyst learns like an apprentice but also notices patterns and system implications.</a:t>
            </a:r>
            <a:endParaRPr lang="en-US" sz="1800" dirty="0">
              <a:solidFill>
                <a:srgbClr val="000000"/>
              </a:solidFill>
            </a:endParaRPr>
          </a:p>
        </p:txBody>
      </p:sp>
      <p:sp>
        <p:nvSpPr>
          <p:cNvPr id="19" name="Shape 17"/>
          <p:cNvSpPr/>
          <p:nvPr/>
        </p:nvSpPr>
        <p:spPr>
          <a:xfrm>
            <a:off x="8171688" y="1450848"/>
            <a:ext cx="3605784" cy="3730752"/>
          </a:xfrm>
          <a:prstGeom prst="rect">
            <a:avLst/>
          </a:prstGeom>
          <a:solidFill>
            <a:srgbClr val="FFFFFF"/>
          </a:solidFill>
          <a:ln w="12700">
            <a:solidFill>
              <a:srgbClr val="E6DCDC">
                <a:alpha val="95000"/>
              </a:srgbClr>
            </a:solidFill>
            <a:prstDash val="solid"/>
          </a:ln>
        </p:spPr>
        <p:txBody>
          <a:bodyPr/>
          <a:lstStyle/>
          <a:p>
            <a:endParaRPr/>
          </a:p>
        </p:txBody>
      </p:sp>
      <p:sp>
        <p:nvSpPr>
          <p:cNvPr id="20" name="Shape 18"/>
          <p:cNvSpPr/>
          <p:nvPr/>
        </p:nvSpPr>
        <p:spPr>
          <a:xfrm>
            <a:off x="8354568" y="1606296"/>
            <a:ext cx="292608" cy="292608"/>
          </a:xfrm>
          <a:prstGeom prst="ellipse">
            <a:avLst/>
          </a:prstGeom>
          <a:solidFill>
            <a:srgbClr val="B4001B"/>
          </a:solidFill>
          <a:ln w="12700">
            <a:solidFill>
              <a:srgbClr val="B4001B"/>
            </a:solidFill>
            <a:prstDash val="solid"/>
          </a:ln>
        </p:spPr>
        <p:txBody>
          <a:bodyPr/>
          <a:lstStyle/>
          <a:p>
            <a:endParaRPr/>
          </a:p>
        </p:txBody>
      </p:sp>
      <p:sp>
        <p:nvSpPr>
          <p:cNvPr id="21" name="Text 19"/>
          <p:cNvSpPr/>
          <p:nvPr/>
        </p:nvSpPr>
        <p:spPr>
          <a:xfrm>
            <a:off x="8354568" y="1606296"/>
            <a:ext cx="292608" cy="292608"/>
          </a:xfrm>
          <a:prstGeom prst="rect">
            <a:avLst/>
          </a:prstGeom>
          <a:noFill/>
          <a:ln/>
        </p:spPr>
        <p:txBody>
          <a:bodyPr wrap="non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3</a:t>
            </a:r>
            <a:endParaRPr lang="en-US" sz="1100" b="1" dirty="0"/>
          </a:p>
        </p:txBody>
      </p:sp>
      <p:sp>
        <p:nvSpPr>
          <p:cNvPr id="22" name="Text 20"/>
          <p:cNvSpPr/>
          <p:nvPr/>
        </p:nvSpPr>
        <p:spPr>
          <a:xfrm>
            <a:off x="8756904" y="1597152"/>
            <a:ext cx="2892552" cy="323088"/>
          </a:xfrm>
          <a:prstGeom prst="rect">
            <a:avLst/>
          </a:prstGeom>
          <a:noFill/>
          <a:ln/>
        </p:spPr>
        <p:txBody>
          <a:bodyPr wrap="square" lIns="0" tIns="0" rIns="0" bIns="0" rtlCol="0" anchor="t">
            <a:noAutofit/>
          </a:bodyPr>
          <a:lstStyle/>
          <a:p>
            <a:pPr marL="0" indent="0" algn="l">
              <a:lnSpc>
                <a:spcPct val="100000"/>
              </a:lnSpc>
              <a:buNone/>
            </a:pPr>
            <a:r>
              <a:rPr lang="en-US" sz="2000" b="1" i="1" dirty="0">
                <a:solidFill>
                  <a:srgbClr val="111111"/>
                </a:solidFill>
                <a:latin typeface="Georgia"/>
                <a:ea typeface="Georgia"/>
                <a:cs typeface="Georgia"/>
              </a:rPr>
              <a:t>Interpretation</a:t>
            </a:r>
          </a:p>
        </p:txBody>
      </p:sp>
      <p:sp>
        <p:nvSpPr>
          <p:cNvPr id="23" name="Text 21"/>
          <p:cNvSpPr/>
          <p:nvPr/>
        </p:nvSpPr>
        <p:spPr>
          <a:xfrm>
            <a:off x="8354568" y="2048256"/>
            <a:ext cx="3240024" cy="3005328"/>
          </a:xfrm>
          <a:prstGeom prst="rect">
            <a:avLst/>
          </a:prstGeom>
          <a:noFill/>
          <a:ln/>
        </p:spPr>
        <p:txBody>
          <a:bodyPr wrap="square" lIns="0" tIns="0" rIns="0" bIns="0" rtlCol="0" anchor="t">
            <a:noAutofit/>
          </a:bodyPr>
          <a:lstStyle/>
          <a:p>
            <a:pPr marL="0" indent="0">
              <a:lnSpc>
                <a:spcPct val="100000"/>
              </a:lnSpc>
              <a:spcBef>
                <a:spcPts val="0"/>
              </a:spcBef>
              <a:spcAft>
                <a:spcPts val="0"/>
              </a:spcAft>
              <a:buNone/>
            </a:pPr>
            <a:r>
              <a:rPr lang="en-US" sz="1800" dirty="0">
                <a:solidFill>
                  <a:srgbClr val="000000"/>
                </a:solidFill>
                <a:latin typeface="Aptos" pitchFamily="34" charset="0"/>
                <a:ea typeface="Aptos" pitchFamily="34" charset="-122"/>
                <a:cs typeface="Aptos" pitchFamily="34" charset="-120"/>
              </a:rPr>
              <a:t>Observation is not enough. The analyst checks what the action means before writing requirements.</a:t>
            </a:r>
            <a:endParaRPr lang="en-US" sz="1800" dirty="0">
              <a:solidFill>
                <a:srgbClr val="000000"/>
              </a:solidFill>
            </a:endParaRPr>
          </a:p>
        </p:txBody>
      </p:sp>
      <p:sp>
        <p:nvSpPr>
          <p:cNvPr id="24" name="Shape 22"/>
          <p:cNvSpPr/>
          <p:nvPr/>
        </p:nvSpPr>
        <p:spPr>
          <a:xfrm>
            <a:off x="411480" y="5474208"/>
            <a:ext cx="11365992" cy="725424"/>
          </a:xfrm>
          <a:prstGeom prst="rect">
            <a:avLst/>
          </a:prstGeom>
          <a:solidFill>
            <a:srgbClr val="B4001B"/>
          </a:solidFill>
          <a:ln w="12700">
            <a:solidFill>
              <a:srgbClr val="B4001B"/>
            </a:solidFill>
            <a:prstDash val="solid"/>
          </a:ln>
        </p:spPr>
        <p:txBody>
          <a:bodyPr/>
          <a:lstStyle/>
          <a:p>
            <a:endParaRPr/>
          </a:p>
        </p:txBody>
      </p:sp>
      <p:sp>
        <p:nvSpPr>
          <p:cNvPr id="25" name="Text 23"/>
          <p:cNvSpPr/>
          <p:nvPr/>
        </p:nvSpPr>
        <p:spPr>
          <a:xfrm>
            <a:off x="594360" y="5474208"/>
            <a:ext cx="11000232" cy="725424"/>
          </a:xfrm>
          <a:prstGeom prst="rect">
            <a:avLst/>
          </a:prstGeom>
          <a:noFill/>
          <a:ln/>
        </p:spPr>
        <p:txBody>
          <a:bodyPr wrap="square" lIns="0" tIns="0" rIns="0" bIns="0" rtlCol="0" anchor="ctr">
            <a:noAutofit/>
          </a:bodyPr>
          <a:lstStyle/>
          <a:p>
            <a:pPr marL="0" indent="0">
              <a:lnSpc>
                <a:spcPct val="100000"/>
              </a:lnSpc>
              <a:buNone/>
            </a:pPr>
            <a:r>
              <a:rPr lang="en-US" sz="1600" b="1" i="1" dirty="0">
                <a:solidFill>
                  <a:srgbClr val="FFFFFF"/>
                </a:solidFill>
                <a:latin typeface="Georgia"/>
                <a:ea typeface="Georgia"/>
                <a:cs typeface="Georgia"/>
              </a:rPr>
              <a:t>CI is especially useful when requirements depend on tacit knowledge, work-arounds, interruptions or physical/social context.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55448"/>
            <a:ext cx="5486400" cy="201168"/>
          </a:xfrm>
          <a:prstGeom prst="rect">
            <a:avLst/>
          </a:prstGeom>
          <a:noFill/>
          <a:ln/>
        </p:spPr>
        <p:txBody>
          <a:bodyPr wrap="square" lIns="0" tIns="0" rIns="0" bIns="0" rtlCol="0" anchor="ctr">
            <a:noAutofit/>
          </a:bodyPr>
          <a:lstStyle/>
          <a:p>
            <a:pPr marL="0" indent="0">
              <a:buNone/>
            </a:pPr>
            <a:r>
              <a:rPr lang="en-US" sz="1100" b="1" dirty="0">
                <a:solidFill>
                  <a:srgbClr val="B4001B"/>
                </a:solidFill>
                <a:latin typeface="Aptos" pitchFamily="34" charset="0"/>
                <a:ea typeface="Aptos" pitchFamily="34" charset="-122"/>
                <a:cs typeface="Aptos" pitchFamily="34" charset="-120"/>
              </a:rPr>
              <a:t>CONTEXTUAL INQUIRY</a:t>
            </a:r>
            <a:endParaRPr lang="en-US" sz="1100" b="1" dirty="0"/>
          </a:p>
        </p:txBody>
      </p:sp>
      <p:sp>
        <p:nvSpPr>
          <p:cNvPr id="3" name="Text 1"/>
          <p:cNvSpPr/>
          <p:nvPr/>
        </p:nvSpPr>
        <p:spPr>
          <a:xfrm>
            <a:off x="411480" y="365760"/>
            <a:ext cx="11365992" cy="512064"/>
          </a:xfrm>
          <a:prstGeom prst="rect">
            <a:avLst/>
          </a:prstGeom>
          <a:noFill/>
          <a:ln/>
        </p:spPr>
        <p:txBody>
          <a:bodyPr wrap="square" lIns="0" tIns="0" rIns="0" bIns="0" rtlCol="0" anchor="ctr">
            <a:noAutofit/>
          </a:bodyPr>
          <a:lstStyle/>
          <a:p>
            <a:pPr marL="0" indent="0" algn="l">
              <a:buNone/>
            </a:pPr>
            <a:r>
              <a:rPr lang="en-US" sz="3200" b="1" i="1" dirty="0">
                <a:solidFill>
                  <a:srgbClr val="111111"/>
                </a:solidFill>
                <a:latin typeface="Georgia"/>
                <a:ea typeface="Georgia"/>
                <a:cs typeface="Georgia"/>
              </a:rPr>
              <a:t>CI Rhythm and Relationship Traps</a:t>
            </a:r>
          </a:p>
        </p:txBody>
      </p:sp>
      <p:sp>
        <p:nvSpPr>
          <p:cNvPr id="4" name="Text 2"/>
          <p:cNvSpPr/>
          <p:nvPr/>
        </p:nvSpPr>
        <p:spPr>
          <a:xfrm>
            <a:off x="411480" y="932688"/>
            <a:ext cx="11365992" cy="280416"/>
          </a:xfrm>
          <a:prstGeom prst="rect">
            <a:avLst/>
          </a:prstGeom>
          <a:noFill/>
          <a:ln/>
        </p:spPr>
        <p:txBody>
          <a:bodyPr wrap="square" lIns="0" tIns="0" rIns="0" bIns="0" rtlCol="0" anchor="t">
            <a:noAutofit/>
          </a:bodyPr>
          <a:lstStyle/>
          <a:p>
            <a:pPr marL="0" indent="0" algn="l">
              <a:lnSpc>
                <a:spcPct val="100000"/>
              </a:lnSpc>
              <a:buNone/>
            </a:pPr>
            <a:r>
              <a:rPr lang="en-US" sz="1600" b="0" i="1" dirty="0">
                <a:solidFill>
                  <a:srgbClr val="000000"/>
                </a:solidFill>
                <a:latin typeface="Aptos"/>
                <a:ea typeface="Aptos"/>
                <a:cs typeface="Aptos"/>
              </a:rPr>
              <a:t>The analyst alternates between watching, noticing, probing and returning to real work.</a:t>
            </a:r>
          </a:p>
        </p:txBody>
      </p:sp>
      <p:sp>
        <p:nvSpPr>
          <p:cNvPr id="5" name="Text 3"/>
          <p:cNvSpPr/>
          <p:nvPr/>
        </p:nvSpPr>
        <p:spPr>
          <a:xfrm>
            <a:off x="502920" y="6565392"/>
            <a:ext cx="1280160" cy="109728"/>
          </a:xfrm>
          <a:prstGeom prst="rect">
            <a:avLst/>
          </a:prstGeom>
          <a:noFill/>
          <a:ln/>
        </p:spPr>
        <p:txBody>
          <a:bodyPr wrap="square" rtlCol="0" anchor="ctr"/>
          <a:lstStyle/>
          <a:p>
            <a:pPr marL="0" indent="0">
              <a:buNone/>
            </a:pPr>
            <a:r>
              <a:rPr lang="en-US" sz="790" dirty="0">
                <a:solidFill>
                  <a:srgbClr val="777777"/>
                </a:solidFill>
                <a:latin typeface="Aptos" pitchFamily="34" charset="0"/>
                <a:ea typeface="Aptos" pitchFamily="34" charset="-122"/>
                <a:cs typeface="Aptos" pitchFamily="34" charset="-120"/>
              </a:rPr>
              <a:t>1/28/2026</a:t>
            </a:r>
            <a:endParaRPr lang="en-US" sz="790" dirty="0"/>
          </a:p>
        </p:txBody>
      </p:sp>
      <p:sp>
        <p:nvSpPr>
          <p:cNvPr id="6" name="Text 4"/>
          <p:cNvSpPr/>
          <p:nvPr/>
        </p:nvSpPr>
        <p:spPr>
          <a:xfrm>
            <a:off x="5257800" y="6565392"/>
            <a:ext cx="1645920" cy="109728"/>
          </a:xfrm>
          <a:prstGeom prst="rect">
            <a:avLst/>
          </a:prstGeom>
          <a:noFill/>
          <a:ln/>
        </p:spPr>
        <p:txBody>
          <a:bodyPr wrap="square" rtlCol="0" anchor="ctr"/>
          <a:lstStyle/>
          <a:p>
            <a:pPr marL="0" indent="0" algn="ctr">
              <a:buNone/>
            </a:pPr>
            <a:r>
              <a:rPr lang="en-US" sz="790" dirty="0">
                <a:solidFill>
                  <a:srgbClr val="777777"/>
                </a:solidFill>
                <a:latin typeface="Aptos" pitchFamily="34" charset="0"/>
                <a:ea typeface="Aptos" pitchFamily="34" charset="-122"/>
                <a:cs typeface="Aptos" pitchFamily="34" charset="-120"/>
              </a:rPr>
              <a:t>Md. Manirujjaman</a:t>
            </a:r>
            <a:endParaRPr lang="en-US" sz="790" dirty="0"/>
          </a:p>
        </p:txBody>
      </p:sp>
      <p:sp>
        <p:nvSpPr>
          <p:cNvPr id="7" name="Shape 5"/>
          <p:cNvSpPr/>
          <p:nvPr/>
        </p:nvSpPr>
        <p:spPr>
          <a:xfrm>
            <a:off x="11430000" y="6327648"/>
            <a:ext cx="274320" cy="274320"/>
          </a:xfrm>
          <a:prstGeom prst="ellipse">
            <a:avLst/>
          </a:prstGeom>
          <a:solidFill>
            <a:srgbClr val="B4001B"/>
          </a:solidFill>
          <a:ln w="12700">
            <a:solidFill>
              <a:srgbClr val="B4001B"/>
            </a:solidFill>
            <a:prstDash val="solid"/>
          </a:ln>
        </p:spPr>
        <p:txBody>
          <a:bodyPr wrap="none" lIns="0" tIns="0" rIns="0" bIns="0" anchor="ctr"/>
          <a:lstStyle/>
          <a:p>
            <a:pPr algn="ctr"/>
            <a:fld id="{8A2B6C1E-3F4D-4E5A-9B7C-1D2E3F4A5B6C}" type="slidenum">
              <a:rPr lang="en-US" sz="900" b="1">
                <a:solidFill>
                  <a:srgbClr val="FFFFFF"/>
                </a:solidFill>
                <a:latin typeface="Aptos"/>
              </a:rPr>
              <a:t>11</a:t>
            </a:fld>
            <a:endParaRPr lang="en-US" sz="900" b="1">
              <a:solidFill>
                <a:srgbClr val="FFFFFF"/>
              </a:solidFill>
              <a:latin typeface="Aptos"/>
            </a:endParaRPr>
          </a:p>
        </p:txBody>
      </p:sp>
      <p:sp>
        <p:nvSpPr>
          <p:cNvPr id="9" name="Shape 7"/>
          <p:cNvSpPr/>
          <p:nvPr/>
        </p:nvSpPr>
        <p:spPr>
          <a:xfrm>
            <a:off x="411480" y="1450848"/>
            <a:ext cx="1980590" cy="960120"/>
          </a:xfrm>
          <a:prstGeom prst="rect">
            <a:avLst/>
          </a:prstGeom>
          <a:solidFill>
            <a:srgbClr val="FFFFFF"/>
          </a:solidFill>
          <a:ln w="12700">
            <a:solidFill>
              <a:srgbClr val="E6DCDC">
                <a:alpha val="95000"/>
              </a:srgbClr>
            </a:solidFill>
            <a:prstDash val="solid"/>
          </a:ln>
        </p:spPr>
        <p:txBody>
          <a:bodyPr/>
          <a:lstStyle/>
          <a:p>
            <a:endParaRPr/>
          </a:p>
        </p:txBody>
      </p:sp>
      <p:sp>
        <p:nvSpPr>
          <p:cNvPr id="10" name="Text 8"/>
          <p:cNvSpPr/>
          <p:nvPr/>
        </p:nvSpPr>
        <p:spPr>
          <a:xfrm>
            <a:off x="594360" y="1560576"/>
            <a:ext cx="1614830" cy="329184"/>
          </a:xfrm>
          <a:prstGeom prst="rect">
            <a:avLst/>
          </a:prstGeom>
          <a:noFill/>
          <a:ln/>
        </p:spPr>
        <p:txBody>
          <a:bodyPr wrap="square" lIns="0" tIns="0" rIns="0" bIns="0" rtlCol="0" anchor="t">
            <a:noAutofit/>
          </a:bodyPr>
          <a:lstStyle/>
          <a:p>
            <a:pPr marL="0" indent="0">
              <a:buNone/>
            </a:pPr>
            <a:r>
              <a:rPr lang="en-US" sz="2000" b="1" i="1" dirty="0">
                <a:solidFill>
                  <a:srgbClr val="111111"/>
                </a:solidFill>
                <a:latin typeface="Georgia"/>
                <a:ea typeface="Georgia"/>
                <a:cs typeface="Georgia"/>
              </a:rPr>
              <a:t>Watch</a:t>
            </a:r>
          </a:p>
        </p:txBody>
      </p:sp>
      <p:sp>
        <p:nvSpPr>
          <p:cNvPr id="11" name="Text 9"/>
          <p:cNvSpPr/>
          <p:nvPr/>
        </p:nvSpPr>
        <p:spPr>
          <a:xfrm>
            <a:off x="594360" y="1962911"/>
            <a:ext cx="1614830" cy="393192"/>
          </a:xfrm>
          <a:prstGeom prst="rect">
            <a:avLst/>
          </a:prstGeom>
          <a:noFill/>
          <a:ln/>
        </p:spPr>
        <p:txBody>
          <a:bodyPr wrap="square" lIns="0" tIns="0" rIns="0" bIns="0" rtlCol="0" anchor="t">
            <a:noAutofit/>
          </a:bodyPr>
          <a:lstStyle/>
          <a:p>
            <a:pPr marL="0" indent="0">
              <a:buNone/>
            </a:pPr>
            <a:r>
              <a:rPr lang="en-US" sz="1500" dirty="0">
                <a:solidFill>
                  <a:srgbClr val="000000"/>
                </a:solidFill>
                <a:latin typeface="Aptos" pitchFamily="34" charset="0"/>
                <a:ea typeface="Aptos" pitchFamily="34" charset="-122"/>
                <a:cs typeface="Aptos" pitchFamily="34" charset="-120"/>
              </a:rPr>
              <a:t>Real work</a:t>
            </a:r>
            <a:endParaRPr lang="en-US" sz="1500" dirty="0">
              <a:solidFill>
                <a:srgbClr val="000000"/>
              </a:solidFill>
            </a:endParaRPr>
          </a:p>
        </p:txBody>
      </p:sp>
      <p:sp>
        <p:nvSpPr>
          <p:cNvPr id="12" name="Shape 10"/>
          <p:cNvSpPr/>
          <p:nvPr/>
        </p:nvSpPr>
        <p:spPr>
          <a:xfrm>
            <a:off x="2446934" y="1930908"/>
            <a:ext cx="256031" cy="0"/>
          </a:xfrm>
          <a:prstGeom prst="line">
            <a:avLst/>
          </a:prstGeom>
          <a:noFill/>
          <a:ln w="13970">
            <a:solidFill>
              <a:srgbClr val="B4001B"/>
            </a:solidFill>
            <a:prstDash val="solid"/>
            <a:headEnd type="none"/>
            <a:tailEnd type="triangle"/>
          </a:ln>
        </p:spPr>
        <p:txBody>
          <a:bodyPr/>
          <a:lstStyle/>
          <a:p>
            <a:endParaRPr/>
          </a:p>
        </p:txBody>
      </p:sp>
      <p:sp>
        <p:nvSpPr>
          <p:cNvPr id="13" name="Shape 11"/>
          <p:cNvSpPr/>
          <p:nvPr/>
        </p:nvSpPr>
        <p:spPr>
          <a:xfrm>
            <a:off x="2757830" y="1450848"/>
            <a:ext cx="1980590" cy="960120"/>
          </a:xfrm>
          <a:prstGeom prst="rect">
            <a:avLst/>
          </a:prstGeom>
          <a:solidFill>
            <a:srgbClr val="FFFFFF"/>
          </a:solidFill>
          <a:ln w="12700">
            <a:solidFill>
              <a:srgbClr val="E6DCDC">
                <a:alpha val="95000"/>
              </a:srgbClr>
            </a:solidFill>
            <a:prstDash val="solid"/>
          </a:ln>
        </p:spPr>
        <p:txBody>
          <a:bodyPr/>
          <a:lstStyle/>
          <a:p>
            <a:endParaRPr/>
          </a:p>
        </p:txBody>
      </p:sp>
      <p:sp>
        <p:nvSpPr>
          <p:cNvPr id="14" name="Text 12"/>
          <p:cNvSpPr/>
          <p:nvPr/>
        </p:nvSpPr>
        <p:spPr>
          <a:xfrm>
            <a:off x="2940710" y="1560576"/>
            <a:ext cx="1614830" cy="329184"/>
          </a:xfrm>
          <a:prstGeom prst="rect">
            <a:avLst/>
          </a:prstGeom>
          <a:noFill/>
          <a:ln/>
        </p:spPr>
        <p:txBody>
          <a:bodyPr wrap="square" lIns="0" tIns="0" rIns="0" bIns="0" rtlCol="0" anchor="t">
            <a:noAutofit/>
          </a:bodyPr>
          <a:lstStyle/>
          <a:p>
            <a:pPr marL="0" indent="0">
              <a:buNone/>
            </a:pPr>
            <a:r>
              <a:rPr lang="en-US" sz="2000" b="1" i="1" dirty="0">
                <a:solidFill>
                  <a:srgbClr val="111111"/>
                </a:solidFill>
                <a:latin typeface="Georgia"/>
                <a:ea typeface="Georgia"/>
                <a:cs typeface="Georgia"/>
              </a:rPr>
              <a:t>Notice</a:t>
            </a:r>
          </a:p>
        </p:txBody>
      </p:sp>
      <p:sp>
        <p:nvSpPr>
          <p:cNvPr id="15" name="Text 13"/>
          <p:cNvSpPr/>
          <p:nvPr/>
        </p:nvSpPr>
        <p:spPr>
          <a:xfrm>
            <a:off x="2940710" y="1962911"/>
            <a:ext cx="1614830" cy="393192"/>
          </a:xfrm>
          <a:prstGeom prst="rect">
            <a:avLst/>
          </a:prstGeom>
          <a:noFill/>
          <a:ln/>
        </p:spPr>
        <p:txBody>
          <a:bodyPr wrap="square" lIns="0" tIns="0" rIns="0" bIns="0" rtlCol="0" anchor="t">
            <a:noAutofit/>
          </a:bodyPr>
          <a:lstStyle/>
          <a:p>
            <a:pPr marL="0" indent="0">
              <a:buNone/>
            </a:pPr>
            <a:r>
              <a:rPr lang="en-US" sz="1500" dirty="0">
                <a:solidFill>
                  <a:srgbClr val="000000"/>
                </a:solidFill>
                <a:latin typeface="Aptos" pitchFamily="34" charset="0"/>
                <a:ea typeface="Aptos" pitchFamily="34" charset="-122"/>
                <a:cs typeface="Aptos" pitchFamily="34" charset="-120"/>
              </a:rPr>
              <a:t>Surprise/detail</a:t>
            </a:r>
            <a:endParaRPr lang="en-US" sz="1500" dirty="0">
              <a:solidFill>
                <a:srgbClr val="000000"/>
              </a:solidFill>
            </a:endParaRPr>
          </a:p>
        </p:txBody>
      </p:sp>
      <p:sp>
        <p:nvSpPr>
          <p:cNvPr id="16" name="Shape 14"/>
          <p:cNvSpPr/>
          <p:nvPr/>
        </p:nvSpPr>
        <p:spPr>
          <a:xfrm>
            <a:off x="4793284" y="1930908"/>
            <a:ext cx="256032" cy="0"/>
          </a:xfrm>
          <a:prstGeom prst="line">
            <a:avLst/>
          </a:prstGeom>
          <a:noFill/>
          <a:ln w="13970">
            <a:solidFill>
              <a:srgbClr val="B4001B"/>
            </a:solidFill>
            <a:prstDash val="solid"/>
            <a:headEnd type="none"/>
            <a:tailEnd type="triangle"/>
          </a:ln>
        </p:spPr>
        <p:txBody>
          <a:bodyPr/>
          <a:lstStyle/>
          <a:p>
            <a:endParaRPr/>
          </a:p>
        </p:txBody>
      </p:sp>
      <p:sp>
        <p:nvSpPr>
          <p:cNvPr id="17" name="Shape 15"/>
          <p:cNvSpPr/>
          <p:nvPr/>
        </p:nvSpPr>
        <p:spPr>
          <a:xfrm>
            <a:off x="5104180" y="1450848"/>
            <a:ext cx="1980590" cy="960120"/>
          </a:xfrm>
          <a:prstGeom prst="rect">
            <a:avLst/>
          </a:prstGeom>
          <a:solidFill>
            <a:srgbClr val="FFF5F6"/>
          </a:solidFill>
          <a:ln w="12700">
            <a:solidFill>
              <a:srgbClr val="E6DCDC">
                <a:alpha val="95000"/>
              </a:srgbClr>
            </a:solidFill>
            <a:prstDash val="solid"/>
          </a:ln>
        </p:spPr>
        <p:txBody>
          <a:bodyPr/>
          <a:lstStyle/>
          <a:p>
            <a:endParaRPr/>
          </a:p>
        </p:txBody>
      </p:sp>
      <p:sp>
        <p:nvSpPr>
          <p:cNvPr id="18" name="Text 16"/>
          <p:cNvSpPr/>
          <p:nvPr/>
        </p:nvSpPr>
        <p:spPr>
          <a:xfrm>
            <a:off x="5287060" y="1560576"/>
            <a:ext cx="1614830" cy="329184"/>
          </a:xfrm>
          <a:prstGeom prst="rect">
            <a:avLst/>
          </a:prstGeom>
          <a:noFill/>
          <a:ln/>
        </p:spPr>
        <p:txBody>
          <a:bodyPr wrap="square" lIns="0" tIns="0" rIns="0" bIns="0" rtlCol="0" anchor="t">
            <a:noAutofit/>
          </a:bodyPr>
          <a:lstStyle/>
          <a:p>
            <a:pPr marL="0" indent="0">
              <a:buNone/>
            </a:pPr>
            <a:r>
              <a:rPr lang="en-US" sz="2000" b="1" i="1" dirty="0">
                <a:solidFill>
                  <a:srgbClr val="111111"/>
                </a:solidFill>
                <a:latin typeface="Georgia"/>
                <a:ea typeface="Georgia"/>
                <a:cs typeface="Georgia"/>
              </a:rPr>
              <a:t>Probe</a:t>
            </a:r>
          </a:p>
        </p:txBody>
      </p:sp>
      <p:sp>
        <p:nvSpPr>
          <p:cNvPr id="19" name="Text 17"/>
          <p:cNvSpPr/>
          <p:nvPr/>
        </p:nvSpPr>
        <p:spPr>
          <a:xfrm>
            <a:off x="5287060" y="1962911"/>
            <a:ext cx="1614830" cy="393192"/>
          </a:xfrm>
          <a:prstGeom prst="rect">
            <a:avLst/>
          </a:prstGeom>
          <a:noFill/>
          <a:ln/>
        </p:spPr>
        <p:txBody>
          <a:bodyPr wrap="square" lIns="0" tIns="0" rIns="0" bIns="0" rtlCol="0" anchor="t">
            <a:noAutofit/>
          </a:bodyPr>
          <a:lstStyle/>
          <a:p>
            <a:pPr marL="0" indent="0">
              <a:buNone/>
            </a:pPr>
            <a:r>
              <a:rPr lang="en-US" sz="1500" dirty="0">
                <a:solidFill>
                  <a:srgbClr val="000000"/>
                </a:solidFill>
                <a:latin typeface="Aptos" pitchFamily="34" charset="0"/>
                <a:ea typeface="Aptos" pitchFamily="34" charset="-122"/>
                <a:cs typeface="Aptos" pitchFamily="34" charset="-120"/>
              </a:rPr>
              <a:t>Ask why/how</a:t>
            </a:r>
            <a:endParaRPr lang="en-US" sz="1500" dirty="0">
              <a:solidFill>
                <a:srgbClr val="000000"/>
              </a:solidFill>
            </a:endParaRPr>
          </a:p>
        </p:txBody>
      </p:sp>
      <p:sp>
        <p:nvSpPr>
          <p:cNvPr id="20" name="Shape 18"/>
          <p:cNvSpPr/>
          <p:nvPr/>
        </p:nvSpPr>
        <p:spPr>
          <a:xfrm>
            <a:off x="7139635" y="1930908"/>
            <a:ext cx="256032" cy="0"/>
          </a:xfrm>
          <a:prstGeom prst="line">
            <a:avLst/>
          </a:prstGeom>
          <a:noFill/>
          <a:ln w="13970">
            <a:solidFill>
              <a:srgbClr val="B4001B"/>
            </a:solidFill>
            <a:prstDash val="solid"/>
            <a:headEnd type="none"/>
            <a:tailEnd type="triangle"/>
          </a:ln>
        </p:spPr>
        <p:txBody>
          <a:bodyPr/>
          <a:lstStyle/>
          <a:p>
            <a:endParaRPr/>
          </a:p>
        </p:txBody>
      </p:sp>
      <p:sp>
        <p:nvSpPr>
          <p:cNvPr id="21" name="Shape 19"/>
          <p:cNvSpPr/>
          <p:nvPr/>
        </p:nvSpPr>
        <p:spPr>
          <a:xfrm>
            <a:off x="7450531" y="1450848"/>
            <a:ext cx="1980590" cy="960120"/>
          </a:xfrm>
          <a:prstGeom prst="rect">
            <a:avLst/>
          </a:prstGeom>
          <a:solidFill>
            <a:srgbClr val="FFFFFF"/>
          </a:solidFill>
          <a:ln w="12700">
            <a:solidFill>
              <a:srgbClr val="E6DCDC">
                <a:alpha val="95000"/>
              </a:srgbClr>
            </a:solidFill>
            <a:prstDash val="solid"/>
          </a:ln>
        </p:spPr>
        <p:txBody>
          <a:bodyPr/>
          <a:lstStyle/>
          <a:p>
            <a:endParaRPr/>
          </a:p>
        </p:txBody>
      </p:sp>
      <p:sp>
        <p:nvSpPr>
          <p:cNvPr id="22" name="Text 20"/>
          <p:cNvSpPr/>
          <p:nvPr/>
        </p:nvSpPr>
        <p:spPr>
          <a:xfrm>
            <a:off x="7633411" y="1560576"/>
            <a:ext cx="1614830" cy="329184"/>
          </a:xfrm>
          <a:prstGeom prst="rect">
            <a:avLst/>
          </a:prstGeom>
          <a:noFill/>
          <a:ln/>
        </p:spPr>
        <p:txBody>
          <a:bodyPr wrap="square" lIns="0" tIns="0" rIns="0" bIns="0" rtlCol="0" anchor="t">
            <a:noAutofit/>
          </a:bodyPr>
          <a:lstStyle/>
          <a:p>
            <a:pPr marL="0" indent="0">
              <a:buNone/>
            </a:pPr>
            <a:r>
              <a:rPr lang="en-US" sz="2000" b="1" i="1" dirty="0">
                <a:solidFill>
                  <a:srgbClr val="111111"/>
                </a:solidFill>
                <a:latin typeface="Georgia"/>
                <a:ea typeface="Georgia"/>
                <a:cs typeface="Georgia"/>
              </a:rPr>
              <a:t>Interpret</a:t>
            </a:r>
          </a:p>
        </p:txBody>
      </p:sp>
      <p:sp>
        <p:nvSpPr>
          <p:cNvPr id="23" name="Text 21"/>
          <p:cNvSpPr/>
          <p:nvPr/>
        </p:nvSpPr>
        <p:spPr>
          <a:xfrm>
            <a:off x="7633411" y="1962911"/>
            <a:ext cx="1614830" cy="393192"/>
          </a:xfrm>
          <a:prstGeom prst="rect">
            <a:avLst/>
          </a:prstGeom>
          <a:noFill/>
          <a:ln/>
        </p:spPr>
        <p:txBody>
          <a:bodyPr wrap="square" lIns="0" tIns="0" rIns="0" bIns="0" rtlCol="0" anchor="t">
            <a:noAutofit/>
          </a:bodyPr>
          <a:lstStyle/>
          <a:p>
            <a:pPr marL="0" indent="0">
              <a:buNone/>
            </a:pPr>
            <a:r>
              <a:rPr lang="en-US" sz="1500" dirty="0">
                <a:solidFill>
                  <a:srgbClr val="000000"/>
                </a:solidFill>
                <a:latin typeface="Aptos" pitchFamily="34" charset="0"/>
                <a:ea typeface="Aptos" pitchFamily="34" charset="-122"/>
                <a:cs typeface="Aptos" pitchFamily="34" charset="-120"/>
              </a:rPr>
              <a:t>Meaning</a:t>
            </a:r>
            <a:endParaRPr lang="en-US" sz="1500" dirty="0">
              <a:solidFill>
                <a:srgbClr val="000000"/>
              </a:solidFill>
            </a:endParaRPr>
          </a:p>
        </p:txBody>
      </p:sp>
      <p:sp>
        <p:nvSpPr>
          <p:cNvPr id="24" name="Shape 22"/>
          <p:cNvSpPr/>
          <p:nvPr/>
        </p:nvSpPr>
        <p:spPr>
          <a:xfrm>
            <a:off x="9485985" y="1930908"/>
            <a:ext cx="256031" cy="0"/>
          </a:xfrm>
          <a:prstGeom prst="line">
            <a:avLst/>
          </a:prstGeom>
          <a:noFill/>
          <a:ln w="13970">
            <a:solidFill>
              <a:srgbClr val="B4001B"/>
            </a:solidFill>
            <a:prstDash val="solid"/>
            <a:headEnd type="none"/>
            <a:tailEnd type="triangle"/>
          </a:ln>
        </p:spPr>
        <p:txBody>
          <a:bodyPr/>
          <a:lstStyle/>
          <a:p>
            <a:endParaRPr/>
          </a:p>
        </p:txBody>
      </p:sp>
      <p:sp>
        <p:nvSpPr>
          <p:cNvPr id="25" name="Shape 23"/>
          <p:cNvSpPr/>
          <p:nvPr/>
        </p:nvSpPr>
        <p:spPr>
          <a:xfrm>
            <a:off x="9796881" y="1450848"/>
            <a:ext cx="1980590" cy="960120"/>
          </a:xfrm>
          <a:prstGeom prst="rect">
            <a:avLst/>
          </a:prstGeom>
          <a:solidFill>
            <a:srgbClr val="FFFFFF"/>
          </a:solidFill>
          <a:ln w="12700">
            <a:solidFill>
              <a:srgbClr val="E6DCDC">
                <a:alpha val="95000"/>
              </a:srgbClr>
            </a:solidFill>
            <a:prstDash val="solid"/>
          </a:ln>
        </p:spPr>
        <p:txBody>
          <a:bodyPr/>
          <a:lstStyle/>
          <a:p>
            <a:endParaRPr/>
          </a:p>
        </p:txBody>
      </p:sp>
      <p:sp>
        <p:nvSpPr>
          <p:cNvPr id="26" name="Text 24"/>
          <p:cNvSpPr/>
          <p:nvPr/>
        </p:nvSpPr>
        <p:spPr>
          <a:xfrm>
            <a:off x="9979761" y="1560576"/>
            <a:ext cx="1614830" cy="329184"/>
          </a:xfrm>
          <a:prstGeom prst="rect">
            <a:avLst/>
          </a:prstGeom>
          <a:noFill/>
          <a:ln/>
        </p:spPr>
        <p:txBody>
          <a:bodyPr wrap="square" lIns="0" tIns="0" rIns="0" bIns="0" rtlCol="0" anchor="t">
            <a:noAutofit/>
          </a:bodyPr>
          <a:lstStyle/>
          <a:p>
            <a:pPr marL="0" indent="0">
              <a:buNone/>
            </a:pPr>
            <a:r>
              <a:rPr lang="en-US" sz="2000" b="1" i="1" dirty="0">
                <a:solidFill>
                  <a:srgbClr val="111111"/>
                </a:solidFill>
                <a:latin typeface="Georgia"/>
                <a:ea typeface="Georgia"/>
                <a:cs typeface="Georgia"/>
              </a:rPr>
              <a:t>Confirm</a:t>
            </a:r>
          </a:p>
        </p:txBody>
      </p:sp>
      <p:sp>
        <p:nvSpPr>
          <p:cNvPr id="27" name="Text 25"/>
          <p:cNvSpPr/>
          <p:nvPr/>
        </p:nvSpPr>
        <p:spPr>
          <a:xfrm>
            <a:off x="9979761" y="1962911"/>
            <a:ext cx="1614830" cy="393192"/>
          </a:xfrm>
          <a:prstGeom prst="rect">
            <a:avLst/>
          </a:prstGeom>
          <a:noFill/>
          <a:ln/>
        </p:spPr>
        <p:txBody>
          <a:bodyPr wrap="square" lIns="0" tIns="0" rIns="0" bIns="0" rtlCol="0" anchor="t">
            <a:noAutofit/>
          </a:bodyPr>
          <a:lstStyle/>
          <a:p>
            <a:pPr marL="0" indent="0">
              <a:buNone/>
            </a:pPr>
            <a:r>
              <a:rPr lang="en-US" sz="1500" dirty="0">
                <a:solidFill>
                  <a:srgbClr val="000000"/>
                </a:solidFill>
                <a:latin typeface="Aptos" pitchFamily="34" charset="0"/>
                <a:ea typeface="Aptos" pitchFamily="34" charset="-122"/>
                <a:cs typeface="Aptos" pitchFamily="34" charset="-120"/>
              </a:rPr>
              <a:t>User checks</a:t>
            </a:r>
            <a:endParaRPr lang="en-US" sz="1500" dirty="0">
              <a:solidFill>
                <a:srgbClr val="000000"/>
              </a:solidFill>
            </a:endParaRPr>
          </a:p>
        </p:txBody>
      </p:sp>
      <p:sp>
        <p:nvSpPr>
          <p:cNvPr id="28" name="Shape 26"/>
          <p:cNvSpPr/>
          <p:nvPr/>
        </p:nvSpPr>
        <p:spPr>
          <a:xfrm>
            <a:off x="411480" y="2740152"/>
            <a:ext cx="3605784" cy="2673096"/>
          </a:xfrm>
          <a:prstGeom prst="rect">
            <a:avLst/>
          </a:prstGeom>
          <a:solidFill>
            <a:srgbClr val="FFFFFF"/>
          </a:solidFill>
          <a:ln w="12700">
            <a:solidFill>
              <a:srgbClr val="E6DCDC">
                <a:alpha val="95000"/>
              </a:srgbClr>
            </a:solidFill>
            <a:prstDash val="solid"/>
          </a:ln>
        </p:spPr>
        <p:txBody>
          <a:bodyPr/>
          <a:lstStyle/>
          <a:p>
            <a:endParaRPr/>
          </a:p>
        </p:txBody>
      </p:sp>
      <p:sp>
        <p:nvSpPr>
          <p:cNvPr id="29" name="Shape 27"/>
          <p:cNvSpPr/>
          <p:nvPr/>
        </p:nvSpPr>
        <p:spPr>
          <a:xfrm>
            <a:off x="594360" y="2895600"/>
            <a:ext cx="292608" cy="292608"/>
          </a:xfrm>
          <a:prstGeom prst="ellipse">
            <a:avLst/>
          </a:prstGeom>
          <a:solidFill>
            <a:srgbClr val="B4001B"/>
          </a:solidFill>
          <a:ln w="12700">
            <a:solidFill>
              <a:srgbClr val="B4001B"/>
            </a:solidFill>
            <a:prstDash val="solid"/>
          </a:ln>
        </p:spPr>
        <p:txBody>
          <a:bodyPr/>
          <a:lstStyle/>
          <a:p>
            <a:endParaRPr/>
          </a:p>
        </p:txBody>
      </p:sp>
      <p:sp>
        <p:nvSpPr>
          <p:cNvPr id="30" name="Text 28"/>
          <p:cNvSpPr/>
          <p:nvPr/>
        </p:nvSpPr>
        <p:spPr>
          <a:xfrm>
            <a:off x="594360" y="2895600"/>
            <a:ext cx="292608" cy="292608"/>
          </a:xfrm>
          <a:prstGeom prst="rect">
            <a:avLst/>
          </a:prstGeom>
          <a:noFill/>
          <a:ln/>
        </p:spPr>
        <p:txBody>
          <a:bodyPr wrap="non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1</a:t>
            </a:r>
            <a:endParaRPr lang="en-US" sz="1100" b="1" dirty="0"/>
          </a:p>
        </p:txBody>
      </p:sp>
      <p:sp>
        <p:nvSpPr>
          <p:cNvPr id="31" name="Text 29"/>
          <p:cNvSpPr/>
          <p:nvPr/>
        </p:nvSpPr>
        <p:spPr>
          <a:xfrm>
            <a:off x="996695" y="2886456"/>
            <a:ext cx="2892552" cy="323088"/>
          </a:xfrm>
          <a:prstGeom prst="rect">
            <a:avLst/>
          </a:prstGeom>
          <a:noFill/>
          <a:ln/>
        </p:spPr>
        <p:txBody>
          <a:bodyPr wrap="square" lIns="0" tIns="0" rIns="0" bIns="0" rtlCol="0" anchor="t">
            <a:noAutofit/>
          </a:bodyPr>
          <a:lstStyle/>
          <a:p>
            <a:pPr marL="0" indent="0" algn="l">
              <a:lnSpc>
                <a:spcPct val="100000"/>
              </a:lnSpc>
              <a:buNone/>
            </a:pPr>
            <a:r>
              <a:rPr lang="en-US" sz="2000" b="1" i="1" dirty="0">
                <a:solidFill>
                  <a:srgbClr val="111111"/>
                </a:solidFill>
                <a:latin typeface="Georgia"/>
                <a:ea typeface="Georgia"/>
                <a:cs typeface="Georgia"/>
              </a:rPr>
              <a:t>Interviewer Trap</a:t>
            </a:r>
          </a:p>
        </p:txBody>
      </p:sp>
      <p:sp>
        <p:nvSpPr>
          <p:cNvPr id="32" name="Text 30"/>
          <p:cNvSpPr/>
          <p:nvPr/>
        </p:nvSpPr>
        <p:spPr>
          <a:xfrm>
            <a:off x="594360" y="3337560"/>
            <a:ext cx="3240024" cy="1947672"/>
          </a:xfrm>
          <a:prstGeom prst="rect">
            <a:avLst/>
          </a:prstGeom>
          <a:noFill/>
          <a:ln/>
        </p:spPr>
        <p:txBody>
          <a:bodyPr wrap="square" lIns="0" tIns="0" rIns="0" bIns="0" rtlCol="0" anchor="t">
            <a:noAutofit/>
          </a:bodyPr>
          <a:lstStyle/>
          <a:p>
            <a:pPr marL="0" indent="0">
              <a:lnSpc>
                <a:spcPct val="100000"/>
              </a:lnSpc>
              <a:spcBef>
                <a:spcPts val="0"/>
              </a:spcBef>
              <a:spcAft>
                <a:spcPts val="0"/>
              </a:spcAft>
              <a:buNone/>
            </a:pPr>
            <a:r>
              <a:rPr lang="en-US" sz="1800" dirty="0">
                <a:solidFill>
                  <a:srgbClr val="000000"/>
                </a:solidFill>
                <a:latin typeface="Aptos" pitchFamily="34" charset="0"/>
                <a:ea typeface="Aptos" pitchFamily="34" charset="-122"/>
                <a:cs typeface="Aptos" pitchFamily="34" charset="-120"/>
              </a:rPr>
              <a:t>User stops work and waits for questions; analyst loses the real workflow.</a:t>
            </a:r>
            <a:endParaRPr lang="en-US" sz="1800" dirty="0">
              <a:solidFill>
                <a:srgbClr val="000000"/>
              </a:solidFill>
            </a:endParaRPr>
          </a:p>
        </p:txBody>
      </p:sp>
      <p:sp>
        <p:nvSpPr>
          <p:cNvPr id="33" name="Shape 31"/>
          <p:cNvSpPr/>
          <p:nvPr/>
        </p:nvSpPr>
        <p:spPr>
          <a:xfrm>
            <a:off x="4291584" y="2740152"/>
            <a:ext cx="3605784" cy="2673096"/>
          </a:xfrm>
          <a:prstGeom prst="rect">
            <a:avLst/>
          </a:prstGeom>
          <a:solidFill>
            <a:srgbClr val="FFF9F9"/>
          </a:solidFill>
          <a:ln w="12700">
            <a:solidFill>
              <a:srgbClr val="E6DCDC">
                <a:alpha val="95000"/>
              </a:srgbClr>
            </a:solidFill>
            <a:prstDash val="solid"/>
          </a:ln>
        </p:spPr>
        <p:txBody>
          <a:bodyPr/>
          <a:lstStyle/>
          <a:p>
            <a:endParaRPr/>
          </a:p>
        </p:txBody>
      </p:sp>
      <p:sp>
        <p:nvSpPr>
          <p:cNvPr id="34" name="Shape 32"/>
          <p:cNvSpPr/>
          <p:nvPr/>
        </p:nvSpPr>
        <p:spPr>
          <a:xfrm>
            <a:off x="4474464" y="2895600"/>
            <a:ext cx="292608" cy="292608"/>
          </a:xfrm>
          <a:prstGeom prst="ellipse">
            <a:avLst/>
          </a:prstGeom>
          <a:solidFill>
            <a:srgbClr val="B4001B"/>
          </a:solidFill>
          <a:ln w="12700">
            <a:solidFill>
              <a:srgbClr val="B4001B"/>
            </a:solidFill>
            <a:prstDash val="solid"/>
          </a:ln>
        </p:spPr>
        <p:txBody>
          <a:bodyPr/>
          <a:lstStyle/>
          <a:p>
            <a:endParaRPr/>
          </a:p>
        </p:txBody>
      </p:sp>
      <p:sp>
        <p:nvSpPr>
          <p:cNvPr id="35" name="Text 33"/>
          <p:cNvSpPr/>
          <p:nvPr/>
        </p:nvSpPr>
        <p:spPr>
          <a:xfrm>
            <a:off x="4474464" y="2895600"/>
            <a:ext cx="292608" cy="292608"/>
          </a:xfrm>
          <a:prstGeom prst="rect">
            <a:avLst/>
          </a:prstGeom>
          <a:noFill/>
          <a:ln/>
        </p:spPr>
        <p:txBody>
          <a:bodyPr wrap="non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2</a:t>
            </a:r>
            <a:endParaRPr lang="en-US" sz="1100" b="1" dirty="0"/>
          </a:p>
        </p:txBody>
      </p:sp>
      <p:sp>
        <p:nvSpPr>
          <p:cNvPr id="36" name="Text 34"/>
          <p:cNvSpPr/>
          <p:nvPr/>
        </p:nvSpPr>
        <p:spPr>
          <a:xfrm>
            <a:off x="4876800" y="2886456"/>
            <a:ext cx="2892552" cy="323088"/>
          </a:xfrm>
          <a:prstGeom prst="rect">
            <a:avLst/>
          </a:prstGeom>
          <a:noFill/>
          <a:ln/>
        </p:spPr>
        <p:txBody>
          <a:bodyPr wrap="square" lIns="0" tIns="0" rIns="0" bIns="0" rtlCol="0" anchor="t">
            <a:noAutofit/>
          </a:bodyPr>
          <a:lstStyle/>
          <a:p>
            <a:pPr marL="0" indent="0" algn="l">
              <a:lnSpc>
                <a:spcPct val="100000"/>
              </a:lnSpc>
              <a:buNone/>
            </a:pPr>
            <a:r>
              <a:rPr lang="en-US" sz="2000" b="1" i="1" dirty="0">
                <a:solidFill>
                  <a:srgbClr val="111111"/>
                </a:solidFill>
                <a:latin typeface="Georgia"/>
                <a:ea typeface="Georgia"/>
                <a:cs typeface="Georgia"/>
              </a:rPr>
              <a:t>Expert Trap</a:t>
            </a:r>
          </a:p>
        </p:txBody>
      </p:sp>
      <p:sp>
        <p:nvSpPr>
          <p:cNvPr id="37" name="Text 35"/>
          <p:cNvSpPr/>
          <p:nvPr/>
        </p:nvSpPr>
        <p:spPr>
          <a:xfrm>
            <a:off x="4474464" y="3337560"/>
            <a:ext cx="3240024" cy="1947672"/>
          </a:xfrm>
          <a:prstGeom prst="rect">
            <a:avLst/>
          </a:prstGeom>
          <a:noFill/>
          <a:ln/>
        </p:spPr>
        <p:txBody>
          <a:bodyPr wrap="square" lIns="0" tIns="0" rIns="0" bIns="0" rtlCol="0" anchor="t">
            <a:noAutofit/>
          </a:bodyPr>
          <a:lstStyle/>
          <a:p>
            <a:pPr marL="0" indent="0">
              <a:lnSpc>
                <a:spcPct val="100000"/>
              </a:lnSpc>
              <a:spcBef>
                <a:spcPts val="0"/>
              </a:spcBef>
              <a:spcAft>
                <a:spcPts val="0"/>
              </a:spcAft>
              <a:buNone/>
            </a:pPr>
            <a:r>
              <a:rPr lang="en-US" sz="1800" dirty="0">
                <a:solidFill>
                  <a:srgbClr val="000000"/>
                </a:solidFill>
                <a:latin typeface="Aptos" pitchFamily="34" charset="0"/>
                <a:ea typeface="Aptos" pitchFamily="34" charset="-122"/>
                <a:cs typeface="Aptos" pitchFamily="34" charset="-120"/>
              </a:rPr>
              <a:t>Analyst starts fixing the problem instead of learning how work happens.</a:t>
            </a:r>
            <a:endParaRPr lang="en-US" sz="1800" dirty="0">
              <a:solidFill>
                <a:srgbClr val="000000"/>
              </a:solidFill>
            </a:endParaRPr>
          </a:p>
        </p:txBody>
      </p:sp>
      <p:sp>
        <p:nvSpPr>
          <p:cNvPr id="38" name="Shape 36"/>
          <p:cNvSpPr/>
          <p:nvPr/>
        </p:nvSpPr>
        <p:spPr>
          <a:xfrm>
            <a:off x="8171688" y="2740152"/>
            <a:ext cx="3605784" cy="2673096"/>
          </a:xfrm>
          <a:prstGeom prst="rect">
            <a:avLst/>
          </a:prstGeom>
          <a:solidFill>
            <a:srgbClr val="FFFFFF"/>
          </a:solidFill>
          <a:ln w="12700">
            <a:solidFill>
              <a:srgbClr val="E6DCDC">
                <a:alpha val="95000"/>
              </a:srgbClr>
            </a:solidFill>
            <a:prstDash val="solid"/>
          </a:ln>
        </p:spPr>
        <p:txBody>
          <a:bodyPr/>
          <a:lstStyle/>
          <a:p>
            <a:endParaRPr/>
          </a:p>
        </p:txBody>
      </p:sp>
      <p:sp>
        <p:nvSpPr>
          <p:cNvPr id="39" name="Shape 37"/>
          <p:cNvSpPr/>
          <p:nvPr/>
        </p:nvSpPr>
        <p:spPr>
          <a:xfrm>
            <a:off x="8354568" y="2895600"/>
            <a:ext cx="292608" cy="292608"/>
          </a:xfrm>
          <a:prstGeom prst="ellipse">
            <a:avLst/>
          </a:prstGeom>
          <a:solidFill>
            <a:srgbClr val="B4001B"/>
          </a:solidFill>
          <a:ln w="12700">
            <a:solidFill>
              <a:srgbClr val="B4001B"/>
            </a:solidFill>
            <a:prstDash val="solid"/>
          </a:ln>
        </p:spPr>
        <p:txBody>
          <a:bodyPr/>
          <a:lstStyle/>
          <a:p>
            <a:endParaRPr/>
          </a:p>
        </p:txBody>
      </p:sp>
      <p:sp>
        <p:nvSpPr>
          <p:cNvPr id="40" name="Text 38"/>
          <p:cNvSpPr/>
          <p:nvPr/>
        </p:nvSpPr>
        <p:spPr>
          <a:xfrm>
            <a:off x="8354568" y="2895600"/>
            <a:ext cx="292608" cy="292608"/>
          </a:xfrm>
          <a:prstGeom prst="rect">
            <a:avLst/>
          </a:prstGeom>
          <a:noFill/>
          <a:ln/>
        </p:spPr>
        <p:txBody>
          <a:bodyPr wrap="non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3</a:t>
            </a:r>
            <a:endParaRPr lang="en-US" sz="1100" b="1" dirty="0"/>
          </a:p>
        </p:txBody>
      </p:sp>
      <p:sp>
        <p:nvSpPr>
          <p:cNvPr id="41" name="Text 39"/>
          <p:cNvSpPr/>
          <p:nvPr/>
        </p:nvSpPr>
        <p:spPr>
          <a:xfrm>
            <a:off x="8756904" y="2886456"/>
            <a:ext cx="2892552" cy="323088"/>
          </a:xfrm>
          <a:prstGeom prst="rect">
            <a:avLst/>
          </a:prstGeom>
          <a:noFill/>
          <a:ln/>
        </p:spPr>
        <p:txBody>
          <a:bodyPr wrap="square" lIns="0" tIns="0" rIns="0" bIns="0" rtlCol="0" anchor="t">
            <a:noAutofit/>
          </a:bodyPr>
          <a:lstStyle/>
          <a:p>
            <a:pPr marL="0" indent="0" algn="l">
              <a:lnSpc>
                <a:spcPct val="100000"/>
              </a:lnSpc>
              <a:buNone/>
            </a:pPr>
            <a:r>
              <a:rPr lang="en-US" sz="2000" b="1" i="1" dirty="0">
                <a:solidFill>
                  <a:srgbClr val="111111"/>
                </a:solidFill>
                <a:latin typeface="Georgia"/>
                <a:ea typeface="Georgia"/>
                <a:cs typeface="Georgia"/>
              </a:rPr>
              <a:t>Guest Trap</a:t>
            </a:r>
          </a:p>
        </p:txBody>
      </p:sp>
      <p:sp>
        <p:nvSpPr>
          <p:cNvPr id="42" name="Text 40"/>
          <p:cNvSpPr/>
          <p:nvPr/>
        </p:nvSpPr>
        <p:spPr>
          <a:xfrm>
            <a:off x="8354568" y="3337560"/>
            <a:ext cx="3240024" cy="1947672"/>
          </a:xfrm>
          <a:prstGeom prst="rect">
            <a:avLst/>
          </a:prstGeom>
          <a:noFill/>
          <a:ln/>
        </p:spPr>
        <p:txBody>
          <a:bodyPr wrap="square" lIns="0" tIns="0" rIns="0" bIns="0" rtlCol="0" anchor="t">
            <a:noAutofit/>
          </a:bodyPr>
          <a:lstStyle/>
          <a:p>
            <a:pPr marL="0" indent="0">
              <a:lnSpc>
                <a:spcPct val="100000"/>
              </a:lnSpc>
              <a:spcBef>
                <a:spcPts val="0"/>
              </a:spcBef>
              <a:spcAft>
                <a:spcPts val="0"/>
              </a:spcAft>
              <a:buNone/>
            </a:pPr>
            <a:r>
              <a:rPr lang="en-US" sz="1800" dirty="0">
                <a:solidFill>
                  <a:srgbClr val="000000"/>
                </a:solidFill>
                <a:latin typeface="Aptos" pitchFamily="34" charset="0"/>
                <a:ea typeface="Aptos" pitchFamily="34" charset="-122"/>
                <a:cs typeface="Aptos" pitchFamily="34" charset="-120"/>
              </a:rPr>
              <a:t>Analyst becomes too polite to ask about important artifacts or details.</a:t>
            </a:r>
            <a:endParaRPr lang="en-US" sz="1800" dirty="0">
              <a:solidFill>
                <a:srgbClr val="000000"/>
              </a:solidFill>
            </a:endParaRPr>
          </a:p>
        </p:txBody>
      </p:sp>
      <p:sp>
        <p:nvSpPr>
          <p:cNvPr id="43" name="Shape 41"/>
          <p:cNvSpPr/>
          <p:nvPr/>
        </p:nvSpPr>
        <p:spPr>
          <a:xfrm>
            <a:off x="411480" y="5687568"/>
            <a:ext cx="11365992" cy="512064"/>
          </a:xfrm>
          <a:prstGeom prst="rect">
            <a:avLst/>
          </a:prstGeom>
          <a:solidFill>
            <a:srgbClr val="B4001B"/>
          </a:solidFill>
          <a:ln w="12700">
            <a:solidFill>
              <a:srgbClr val="B4001B"/>
            </a:solidFill>
            <a:prstDash val="solid"/>
          </a:ln>
        </p:spPr>
        <p:txBody>
          <a:bodyPr/>
          <a:lstStyle/>
          <a:p>
            <a:endParaRPr/>
          </a:p>
        </p:txBody>
      </p:sp>
      <p:sp>
        <p:nvSpPr>
          <p:cNvPr id="44" name="Text 42"/>
          <p:cNvSpPr/>
          <p:nvPr/>
        </p:nvSpPr>
        <p:spPr>
          <a:xfrm>
            <a:off x="594360" y="5687568"/>
            <a:ext cx="11000232" cy="512064"/>
          </a:xfrm>
          <a:prstGeom prst="rect">
            <a:avLst/>
          </a:prstGeom>
          <a:noFill/>
          <a:ln/>
        </p:spPr>
        <p:txBody>
          <a:bodyPr wrap="square" lIns="0" tIns="0" rIns="0" bIns="0" rtlCol="0" anchor="ctr">
            <a:noAutofit/>
          </a:bodyPr>
          <a:lstStyle/>
          <a:p>
            <a:pPr marL="0" indent="0">
              <a:lnSpc>
                <a:spcPct val="100000"/>
              </a:lnSpc>
              <a:buNone/>
            </a:pPr>
            <a:r>
              <a:rPr lang="en-US" sz="1600" b="1" i="1" dirty="0">
                <a:solidFill>
                  <a:srgbClr val="FFFFFF"/>
                </a:solidFill>
                <a:latin typeface="Georgia"/>
                <a:ea typeface="Georgia"/>
                <a:cs typeface="Georgia"/>
              </a:rPr>
              <a:t>Respectful “nosiness” helps the analyst discover hidden work details without imposing a solution.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55448"/>
            <a:ext cx="5486400" cy="201168"/>
          </a:xfrm>
          <a:prstGeom prst="rect">
            <a:avLst/>
          </a:prstGeom>
          <a:noFill/>
          <a:ln/>
        </p:spPr>
        <p:txBody>
          <a:bodyPr wrap="square" lIns="0" tIns="0" rIns="0" bIns="0" rtlCol="0" anchor="ctr">
            <a:noAutofit/>
          </a:bodyPr>
          <a:lstStyle/>
          <a:p>
            <a:pPr marL="0" indent="0">
              <a:buNone/>
            </a:pPr>
            <a:r>
              <a:rPr lang="en-US" sz="1100" b="1" dirty="0">
                <a:solidFill>
                  <a:srgbClr val="B4001B"/>
                </a:solidFill>
                <a:latin typeface="Aptos" pitchFamily="34" charset="0"/>
                <a:ea typeface="Aptos" pitchFamily="34" charset="-122"/>
                <a:cs typeface="Aptos" pitchFamily="34" charset="-120"/>
              </a:rPr>
              <a:t>CONTEXTUAL INQUIRY</a:t>
            </a:r>
            <a:endParaRPr lang="en-US" sz="1100" b="1" dirty="0"/>
          </a:p>
        </p:txBody>
      </p:sp>
      <p:sp>
        <p:nvSpPr>
          <p:cNvPr id="3" name="Text 1"/>
          <p:cNvSpPr/>
          <p:nvPr/>
        </p:nvSpPr>
        <p:spPr>
          <a:xfrm>
            <a:off x="411480" y="365760"/>
            <a:ext cx="11365992" cy="512064"/>
          </a:xfrm>
          <a:prstGeom prst="rect">
            <a:avLst/>
          </a:prstGeom>
          <a:noFill/>
          <a:ln/>
        </p:spPr>
        <p:txBody>
          <a:bodyPr wrap="square" lIns="0" tIns="0" rIns="0" bIns="0" rtlCol="0" anchor="ctr">
            <a:noAutofit/>
          </a:bodyPr>
          <a:lstStyle/>
          <a:p>
            <a:pPr marL="0" indent="0" algn="l">
              <a:buNone/>
            </a:pPr>
            <a:r>
              <a:rPr lang="en-US" sz="3200" b="1" i="1" dirty="0">
                <a:solidFill>
                  <a:srgbClr val="111111"/>
                </a:solidFill>
                <a:latin typeface="Georgia"/>
                <a:ea typeface="Georgia"/>
                <a:cs typeface="Georgia"/>
              </a:rPr>
              <a:t>Example: Hospital Medication System</a:t>
            </a:r>
          </a:p>
        </p:txBody>
      </p:sp>
      <p:sp>
        <p:nvSpPr>
          <p:cNvPr id="4" name="Text 2"/>
          <p:cNvSpPr/>
          <p:nvPr/>
        </p:nvSpPr>
        <p:spPr>
          <a:xfrm>
            <a:off x="411480" y="932688"/>
            <a:ext cx="11365992" cy="280416"/>
          </a:xfrm>
          <a:prstGeom prst="rect">
            <a:avLst/>
          </a:prstGeom>
          <a:noFill/>
          <a:ln/>
        </p:spPr>
        <p:txBody>
          <a:bodyPr wrap="square" lIns="0" tIns="0" rIns="0" bIns="0" rtlCol="0" anchor="t">
            <a:noAutofit/>
          </a:bodyPr>
          <a:lstStyle/>
          <a:p>
            <a:pPr marL="0" indent="0" algn="l">
              <a:lnSpc>
                <a:spcPct val="100000"/>
              </a:lnSpc>
              <a:buNone/>
            </a:pPr>
            <a:r>
              <a:rPr lang="en-US" sz="1600" b="0" i="1" dirty="0">
                <a:solidFill>
                  <a:srgbClr val="000000"/>
                </a:solidFill>
                <a:latin typeface="Aptos"/>
                <a:ea typeface="Aptos"/>
                <a:cs typeface="Aptos"/>
              </a:rPr>
              <a:t>A conference-room interview may miss interruptions, artifacts and work-arounds that directly affect requirements.</a:t>
            </a:r>
          </a:p>
        </p:txBody>
      </p:sp>
      <p:sp>
        <p:nvSpPr>
          <p:cNvPr id="5" name="Text 3"/>
          <p:cNvSpPr/>
          <p:nvPr/>
        </p:nvSpPr>
        <p:spPr>
          <a:xfrm>
            <a:off x="502920" y="6565392"/>
            <a:ext cx="1280160" cy="109728"/>
          </a:xfrm>
          <a:prstGeom prst="rect">
            <a:avLst/>
          </a:prstGeom>
          <a:noFill/>
          <a:ln/>
        </p:spPr>
        <p:txBody>
          <a:bodyPr wrap="square" rtlCol="0" anchor="ctr"/>
          <a:lstStyle/>
          <a:p>
            <a:pPr marL="0" indent="0">
              <a:buNone/>
            </a:pPr>
            <a:r>
              <a:rPr lang="en-US" sz="790" dirty="0">
                <a:solidFill>
                  <a:srgbClr val="777777"/>
                </a:solidFill>
                <a:latin typeface="Aptos" pitchFamily="34" charset="0"/>
                <a:ea typeface="Aptos" pitchFamily="34" charset="-122"/>
                <a:cs typeface="Aptos" pitchFamily="34" charset="-120"/>
              </a:rPr>
              <a:t>1/28/2026</a:t>
            </a:r>
            <a:endParaRPr lang="en-US" sz="790" dirty="0"/>
          </a:p>
        </p:txBody>
      </p:sp>
      <p:sp>
        <p:nvSpPr>
          <p:cNvPr id="6" name="Text 4"/>
          <p:cNvSpPr/>
          <p:nvPr/>
        </p:nvSpPr>
        <p:spPr>
          <a:xfrm>
            <a:off x="5257800" y="6565392"/>
            <a:ext cx="1645920" cy="109728"/>
          </a:xfrm>
          <a:prstGeom prst="rect">
            <a:avLst/>
          </a:prstGeom>
          <a:noFill/>
          <a:ln/>
        </p:spPr>
        <p:txBody>
          <a:bodyPr wrap="square" rtlCol="0" anchor="ctr"/>
          <a:lstStyle/>
          <a:p>
            <a:pPr marL="0" indent="0" algn="ctr">
              <a:buNone/>
            </a:pPr>
            <a:r>
              <a:rPr lang="en-US" sz="790" dirty="0">
                <a:solidFill>
                  <a:srgbClr val="777777"/>
                </a:solidFill>
                <a:latin typeface="Aptos" pitchFamily="34" charset="0"/>
                <a:ea typeface="Aptos" pitchFamily="34" charset="-122"/>
                <a:cs typeface="Aptos" pitchFamily="34" charset="-120"/>
              </a:rPr>
              <a:t>Md. Manirujjaman</a:t>
            </a:r>
            <a:endParaRPr lang="en-US" sz="790" dirty="0"/>
          </a:p>
        </p:txBody>
      </p:sp>
      <p:sp>
        <p:nvSpPr>
          <p:cNvPr id="7" name="Shape 5"/>
          <p:cNvSpPr/>
          <p:nvPr/>
        </p:nvSpPr>
        <p:spPr>
          <a:xfrm>
            <a:off x="11430000" y="6327648"/>
            <a:ext cx="274320" cy="274320"/>
          </a:xfrm>
          <a:prstGeom prst="ellipse">
            <a:avLst/>
          </a:prstGeom>
          <a:solidFill>
            <a:srgbClr val="B4001B"/>
          </a:solidFill>
          <a:ln w="12700">
            <a:solidFill>
              <a:srgbClr val="B4001B"/>
            </a:solidFill>
            <a:prstDash val="solid"/>
          </a:ln>
        </p:spPr>
        <p:txBody>
          <a:bodyPr wrap="none" lIns="0" tIns="0" rIns="0" bIns="0" anchor="ctr"/>
          <a:lstStyle/>
          <a:p>
            <a:pPr algn="ctr"/>
            <a:fld id="{8A2B6C1E-3F4D-4E5A-9B7C-1D2E3F4A5B6C}" type="slidenum">
              <a:rPr lang="en-US" sz="900" b="1">
                <a:solidFill>
                  <a:srgbClr val="FFFFFF"/>
                </a:solidFill>
                <a:latin typeface="Aptos"/>
              </a:rPr>
              <a:t>12</a:t>
            </a:fld>
            <a:endParaRPr lang="en-US" sz="900" b="1">
              <a:solidFill>
                <a:srgbClr val="FFFFFF"/>
              </a:solidFill>
              <a:latin typeface="Aptos"/>
            </a:endParaRPr>
          </a:p>
        </p:txBody>
      </p:sp>
      <p:sp>
        <p:nvSpPr>
          <p:cNvPr id="9" name="Shape 7"/>
          <p:cNvSpPr/>
          <p:nvPr/>
        </p:nvSpPr>
        <p:spPr>
          <a:xfrm>
            <a:off x="411480" y="1450848"/>
            <a:ext cx="3605784" cy="4748784"/>
          </a:xfrm>
          <a:prstGeom prst="rect">
            <a:avLst/>
          </a:prstGeom>
          <a:solidFill>
            <a:srgbClr val="FFFFFF"/>
          </a:solidFill>
          <a:ln w="12700">
            <a:solidFill>
              <a:srgbClr val="E6DCDC">
                <a:alpha val="95000"/>
              </a:srgbClr>
            </a:solidFill>
            <a:prstDash val="solid"/>
          </a:ln>
        </p:spPr>
        <p:txBody>
          <a:bodyPr/>
          <a:lstStyle/>
          <a:p>
            <a:endParaRPr/>
          </a:p>
        </p:txBody>
      </p:sp>
      <p:sp>
        <p:nvSpPr>
          <p:cNvPr id="10" name="Shape 8"/>
          <p:cNvSpPr/>
          <p:nvPr/>
        </p:nvSpPr>
        <p:spPr>
          <a:xfrm>
            <a:off x="594360" y="1606296"/>
            <a:ext cx="292608" cy="292608"/>
          </a:xfrm>
          <a:prstGeom prst="ellipse">
            <a:avLst/>
          </a:prstGeom>
          <a:solidFill>
            <a:srgbClr val="B4001B"/>
          </a:solidFill>
          <a:ln w="12700">
            <a:solidFill>
              <a:srgbClr val="B4001B"/>
            </a:solidFill>
            <a:prstDash val="solid"/>
          </a:ln>
        </p:spPr>
        <p:txBody>
          <a:bodyPr/>
          <a:lstStyle/>
          <a:p>
            <a:endParaRPr/>
          </a:p>
        </p:txBody>
      </p:sp>
      <p:sp>
        <p:nvSpPr>
          <p:cNvPr id="11" name="Text 9"/>
          <p:cNvSpPr/>
          <p:nvPr/>
        </p:nvSpPr>
        <p:spPr>
          <a:xfrm>
            <a:off x="594360" y="1606296"/>
            <a:ext cx="292608" cy="292608"/>
          </a:xfrm>
          <a:prstGeom prst="rect">
            <a:avLst/>
          </a:prstGeom>
          <a:noFill/>
          <a:ln/>
        </p:spPr>
        <p:txBody>
          <a:bodyPr wrap="non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1</a:t>
            </a:r>
            <a:endParaRPr lang="en-US" sz="1100" b="1" dirty="0"/>
          </a:p>
        </p:txBody>
      </p:sp>
      <p:sp>
        <p:nvSpPr>
          <p:cNvPr id="12" name="Text 10"/>
          <p:cNvSpPr/>
          <p:nvPr/>
        </p:nvSpPr>
        <p:spPr>
          <a:xfrm>
            <a:off x="996695" y="1597152"/>
            <a:ext cx="2892552" cy="292608"/>
          </a:xfrm>
          <a:prstGeom prst="rect">
            <a:avLst/>
          </a:prstGeom>
          <a:noFill/>
          <a:ln/>
        </p:spPr>
        <p:txBody>
          <a:bodyPr wrap="square" lIns="0" tIns="0" rIns="0" bIns="0" rtlCol="0" anchor="t">
            <a:noAutofit/>
          </a:bodyPr>
          <a:lstStyle/>
          <a:p>
            <a:pPr marL="0" indent="0" algn="l">
              <a:lnSpc>
                <a:spcPct val="100000"/>
              </a:lnSpc>
              <a:buNone/>
            </a:pPr>
            <a:r>
              <a:rPr lang="en-US" sz="1800" b="1" i="1" dirty="0">
                <a:solidFill>
                  <a:srgbClr val="111111"/>
                </a:solidFill>
                <a:latin typeface="Georgia"/>
                <a:ea typeface="Georgia"/>
                <a:cs typeface="Georgia"/>
              </a:rPr>
              <a:t>Observed Evidence</a:t>
            </a:r>
          </a:p>
        </p:txBody>
      </p:sp>
      <p:sp>
        <p:nvSpPr>
          <p:cNvPr id="13" name="Text 11"/>
          <p:cNvSpPr/>
          <p:nvPr/>
        </p:nvSpPr>
        <p:spPr>
          <a:xfrm>
            <a:off x="594360" y="2017776"/>
            <a:ext cx="3240024" cy="4053840"/>
          </a:xfrm>
          <a:prstGeom prst="rect">
            <a:avLst/>
          </a:prstGeom>
          <a:noFill/>
          <a:ln/>
        </p:spPr>
        <p:txBody>
          <a:bodyPr wrap="square" lIns="0" tIns="0" rIns="0" bIns="0" rtlCol="0" anchor="t">
            <a:noAutofit/>
          </a:bodyPr>
          <a:lstStyle/>
          <a:p>
            <a:pPr marL="0" indent="0">
              <a:lnSpc>
                <a:spcPct val="100000"/>
              </a:lnSpc>
              <a:spcBef>
                <a:spcPts val="0"/>
              </a:spcBef>
              <a:spcAft>
                <a:spcPts val="0"/>
              </a:spcAft>
              <a:buNone/>
            </a:pPr>
            <a:r>
              <a:rPr lang="en-US" sz="1800" dirty="0">
                <a:solidFill>
                  <a:srgbClr val="000000"/>
                </a:solidFill>
                <a:latin typeface="Aptos" pitchFamily="34" charset="0"/>
                <a:ea typeface="Aptos" pitchFamily="34" charset="-122"/>
                <a:cs typeface="Aptos" pitchFamily="34" charset="-120"/>
              </a:rPr>
              <a:t>• Nurse scans barcode, then gets interrupted</a:t>
            </a:r>
            <a:endParaRPr lang="en-US" sz="1800" dirty="0">
              <a:solidFill>
                <a:srgbClr val="000000"/>
              </a:solidFill>
            </a:endParaRPr>
          </a:p>
          <a:p>
            <a:pPr marL="0" indent="0">
              <a:lnSpc>
                <a:spcPct val="100000"/>
              </a:lnSpc>
              <a:spcBef>
                <a:spcPts val="800"/>
              </a:spcBef>
              <a:spcAft>
                <a:spcPts val="0"/>
              </a:spcAft>
              <a:buNone/>
            </a:pPr>
            <a:r>
              <a:rPr lang="en-US" sz="1800" dirty="0">
                <a:solidFill>
                  <a:srgbClr val="000000"/>
                </a:solidFill>
                <a:latin typeface="Aptos" pitchFamily="34" charset="0"/>
                <a:ea typeface="Aptos" pitchFamily="34" charset="-122"/>
                <a:cs typeface="Aptos" pitchFamily="34" charset="-120"/>
              </a:rPr>
              <a:t>• Uses paper note beside workstation</a:t>
            </a:r>
            <a:endParaRPr lang="en-US" sz="1800" dirty="0">
              <a:solidFill>
                <a:srgbClr val="000000"/>
              </a:solidFill>
            </a:endParaRPr>
          </a:p>
          <a:p>
            <a:pPr marL="0" indent="0">
              <a:lnSpc>
                <a:spcPct val="100000"/>
              </a:lnSpc>
              <a:spcBef>
                <a:spcPts val="800"/>
              </a:spcBef>
              <a:spcAft>
                <a:spcPts val="0"/>
              </a:spcAft>
              <a:buNone/>
            </a:pPr>
            <a:r>
              <a:rPr lang="en-US" sz="1800" dirty="0">
                <a:solidFill>
                  <a:srgbClr val="000000"/>
                </a:solidFill>
                <a:latin typeface="Aptos" pitchFamily="34" charset="0"/>
                <a:ea typeface="Aptos" pitchFamily="34" charset="-122"/>
                <a:cs typeface="Aptos" pitchFamily="34" charset="-120"/>
              </a:rPr>
              <a:t>• Checks allergy warning twice</a:t>
            </a:r>
            <a:endParaRPr lang="en-US" sz="1800" dirty="0">
              <a:solidFill>
                <a:srgbClr val="000000"/>
              </a:solidFill>
            </a:endParaRPr>
          </a:p>
          <a:p>
            <a:pPr marL="0" indent="0">
              <a:lnSpc>
                <a:spcPct val="100000"/>
              </a:lnSpc>
              <a:spcBef>
                <a:spcPts val="800"/>
              </a:spcBef>
              <a:spcAft>
                <a:spcPts val="0"/>
              </a:spcAft>
              <a:buNone/>
            </a:pPr>
            <a:r>
              <a:rPr lang="en-US" sz="1800" dirty="0">
                <a:solidFill>
                  <a:srgbClr val="000000"/>
                </a:solidFill>
                <a:latin typeface="Aptos" pitchFamily="34" charset="0"/>
                <a:ea typeface="Aptos" pitchFamily="34" charset="-122"/>
                <a:cs typeface="Aptos" pitchFamily="34" charset="-120"/>
              </a:rPr>
              <a:t>• Medication cart blocks screen view</a:t>
            </a:r>
            <a:endParaRPr lang="en-US" sz="1800" dirty="0">
              <a:solidFill>
                <a:srgbClr val="000000"/>
              </a:solidFill>
            </a:endParaRPr>
          </a:p>
        </p:txBody>
      </p:sp>
      <p:sp>
        <p:nvSpPr>
          <p:cNvPr id="14" name="Shape 12"/>
          <p:cNvSpPr/>
          <p:nvPr/>
        </p:nvSpPr>
        <p:spPr>
          <a:xfrm>
            <a:off x="4291584" y="1450848"/>
            <a:ext cx="3605784" cy="4748784"/>
          </a:xfrm>
          <a:prstGeom prst="rect">
            <a:avLst/>
          </a:prstGeom>
          <a:solidFill>
            <a:srgbClr val="FFF9F9"/>
          </a:solidFill>
          <a:ln w="12700">
            <a:solidFill>
              <a:srgbClr val="E6DCDC">
                <a:alpha val="95000"/>
              </a:srgbClr>
            </a:solidFill>
            <a:prstDash val="solid"/>
          </a:ln>
        </p:spPr>
        <p:txBody>
          <a:bodyPr/>
          <a:lstStyle/>
          <a:p>
            <a:endParaRPr/>
          </a:p>
        </p:txBody>
      </p:sp>
      <p:sp>
        <p:nvSpPr>
          <p:cNvPr id="15" name="Shape 13"/>
          <p:cNvSpPr/>
          <p:nvPr/>
        </p:nvSpPr>
        <p:spPr>
          <a:xfrm>
            <a:off x="4474464" y="1606296"/>
            <a:ext cx="292608" cy="292608"/>
          </a:xfrm>
          <a:prstGeom prst="ellipse">
            <a:avLst/>
          </a:prstGeom>
          <a:solidFill>
            <a:srgbClr val="B4001B"/>
          </a:solidFill>
          <a:ln w="12700">
            <a:solidFill>
              <a:srgbClr val="B4001B"/>
            </a:solidFill>
            <a:prstDash val="solid"/>
          </a:ln>
        </p:spPr>
        <p:txBody>
          <a:bodyPr/>
          <a:lstStyle/>
          <a:p>
            <a:endParaRPr/>
          </a:p>
        </p:txBody>
      </p:sp>
      <p:sp>
        <p:nvSpPr>
          <p:cNvPr id="16" name="Text 14"/>
          <p:cNvSpPr/>
          <p:nvPr/>
        </p:nvSpPr>
        <p:spPr>
          <a:xfrm>
            <a:off x="4474464" y="1606296"/>
            <a:ext cx="292608" cy="292608"/>
          </a:xfrm>
          <a:prstGeom prst="rect">
            <a:avLst/>
          </a:prstGeom>
          <a:noFill/>
          <a:ln/>
        </p:spPr>
        <p:txBody>
          <a:bodyPr wrap="non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2</a:t>
            </a:r>
            <a:endParaRPr lang="en-US" sz="1100" b="1" dirty="0"/>
          </a:p>
        </p:txBody>
      </p:sp>
      <p:sp>
        <p:nvSpPr>
          <p:cNvPr id="17" name="Text 15"/>
          <p:cNvSpPr/>
          <p:nvPr/>
        </p:nvSpPr>
        <p:spPr>
          <a:xfrm>
            <a:off x="4876800" y="1597152"/>
            <a:ext cx="2892552" cy="292608"/>
          </a:xfrm>
          <a:prstGeom prst="rect">
            <a:avLst/>
          </a:prstGeom>
          <a:noFill/>
          <a:ln/>
        </p:spPr>
        <p:txBody>
          <a:bodyPr wrap="square" lIns="0" tIns="0" rIns="0" bIns="0" rtlCol="0" anchor="t">
            <a:noAutofit/>
          </a:bodyPr>
          <a:lstStyle/>
          <a:p>
            <a:pPr marL="0" indent="0" algn="l">
              <a:lnSpc>
                <a:spcPct val="100000"/>
              </a:lnSpc>
              <a:buNone/>
            </a:pPr>
            <a:r>
              <a:rPr lang="en-US" sz="1800" b="1" i="1" dirty="0">
                <a:solidFill>
                  <a:srgbClr val="111111"/>
                </a:solidFill>
                <a:latin typeface="Georgia"/>
                <a:ea typeface="Georgia"/>
                <a:cs typeface="Georgia"/>
              </a:rPr>
              <a:t>Interpretation to Check</a:t>
            </a:r>
          </a:p>
        </p:txBody>
      </p:sp>
      <p:sp>
        <p:nvSpPr>
          <p:cNvPr id="18" name="Text 16"/>
          <p:cNvSpPr/>
          <p:nvPr/>
        </p:nvSpPr>
        <p:spPr>
          <a:xfrm>
            <a:off x="4474464" y="2017776"/>
            <a:ext cx="3240024" cy="4053840"/>
          </a:xfrm>
          <a:prstGeom prst="rect">
            <a:avLst/>
          </a:prstGeom>
          <a:noFill/>
          <a:ln/>
        </p:spPr>
        <p:txBody>
          <a:bodyPr wrap="square" lIns="0" tIns="0" rIns="0" bIns="0" rtlCol="0" anchor="t">
            <a:noAutofit/>
          </a:bodyPr>
          <a:lstStyle/>
          <a:p>
            <a:pPr marL="0" indent="0">
              <a:lnSpc>
                <a:spcPct val="100000"/>
              </a:lnSpc>
              <a:spcBef>
                <a:spcPts val="0"/>
              </a:spcBef>
              <a:spcAft>
                <a:spcPts val="0"/>
              </a:spcAft>
              <a:buNone/>
            </a:pPr>
            <a:r>
              <a:rPr lang="en-US" sz="1800" dirty="0">
                <a:solidFill>
                  <a:srgbClr val="000000"/>
                </a:solidFill>
                <a:latin typeface="Aptos" pitchFamily="34" charset="0"/>
                <a:ea typeface="Aptos" pitchFamily="34" charset="-122"/>
                <a:cs typeface="Aptos" pitchFamily="34" charset="-120"/>
              </a:rPr>
              <a:t>• Paper note may mean data is hard to find</a:t>
            </a:r>
            <a:endParaRPr lang="en-US" sz="1800" dirty="0">
              <a:solidFill>
                <a:srgbClr val="000000"/>
              </a:solidFill>
            </a:endParaRPr>
          </a:p>
          <a:p>
            <a:pPr marL="0" indent="0">
              <a:lnSpc>
                <a:spcPct val="100000"/>
              </a:lnSpc>
              <a:spcBef>
                <a:spcPts val="800"/>
              </a:spcBef>
              <a:spcAft>
                <a:spcPts val="0"/>
              </a:spcAft>
              <a:buNone/>
            </a:pPr>
            <a:r>
              <a:rPr lang="en-US" sz="1800" dirty="0">
                <a:solidFill>
                  <a:srgbClr val="000000"/>
                </a:solidFill>
                <a:latin typeface="Aptos" pitchFamily="34" charset="0"/>
                <a:ea typeface="Aptos" pitchFamily="34" charset="-122"/>
                <a:cs typeface="Aptos" pitchFamily="34" charset="-120"/>
              </a:rPr>
              <a:t>• Repeated warning may mean trust problem</a:t>
            </a:r>
            <a:endParaRPr lang="en-US" sz="1800" dirty="0">
              <a:solidFill>
                <a:srgbClr val="000000"/>
              </a:solidFill>
            </a:endParaRPr>
          </a:p>
          <a:p>
            <a:pPr marL="0" indent="0">
              <a:lnSpc>
                <a:spcPct val="100000"/>
              </a:lnSpc>
              <a:spcBef>
                <a:spcPts val="800"/>
              </a:spcBef>
              <a:spcAft>
                <a:spcPts val="0"/>
              </a:spcAft>
              <a:buNone/>
            </a:pPr>
            <a:r>
              <a:rPr lang="en-US" sz="1800" dirty="0">
                <a:solidFill>
                  <a:srgbClr val="000000"/>
                </a:solidFill>
                <a:latin typeface="Aptos" pitchFamily="34" charset="0"/>
                <a:ea typeface="Aptos" pitchFamily="34" charset="-122"/>
                <a:cs typeface="Aptos" pitchFamily="34" charset="-120"/>
              </a:rPr>
              <a:t>• Interrupted workflow needs safe recovery</a:t>
            </a:r>
            <a:endParaRPr lang="en-US" sz="1800" dirty="0">
              <a:solidFill>
                <a:srgbClr val="000000"/>
              </a:solidFill>
            </a:endParaRPr>
          </a:p>
          <a:p>
            <a:pPr marL="0" indent="0">
              <a:lnSpc>
                <a:spcPct val="100000"/>
              </a:lnSpc>
              <a:spcBef>
                <a:spcPts val="800"/>
              </a:spcBef>
              <a:spcAft>
                <a:spcPts val="0"/>
              </a:spcAft>
              <a:buNone/>
            </a:pPr>
            <a:r>
              <a:rPr lang="en-US" sz="1800" dirty="0">
                <a:solidFill>
                  <a:srgbClr val="000000"/>
                </a:solidFill>
                <a:latin typeface="Aptos" pitchFamily="34" charset="0"/>
                <a:ea typeface="Aptos" pitchFamily="34" charset="-122"/>
                <a:cs typeface="Aptos" pitchFamily="34" charset="-120"/>
              </a:rPr>
              <a:t>• Physical layout affects usability</a:t>
            </a:r>
            <a:endParaRPr lang="en-US" sz="1800" dirty="0">
              <a:solidFill>
                <a:srgbClr val="000000"/>
              </a:solidFill>
            </a:endParaRPr>
          </a:p>
        </p:txBody>
      </p:sp>
      <p:sp>
        <p:nvSpPr>
          <p:cNvPr id="19" name="Shape 17"/>
          <p:cNvSpPr/>
          <p:nvPr/>
        </p:nvSpPr>
        <p:spPr>
          <a:xfrm>
            <a:off x="8171688" y="1450848"/>
            <a:ext cx="3605784" cy="4748784"/>
          </a:xfrm>
          <a:prstGeom prst="rect">
            <a:avLst/>
          </a:prstGeom>
          <a:solidFill>
            <a:srgbClr val="FFF5F6"/>
          </a:solidFill>
          <a:ln w="12700">
            <a:solidFill>
              <a:srgbClr val="E6DCDC">
                <a:alpha val="95000"/>
              </a:srgbClr>
            </a:solidFill>
            <a:prstDash val="solid"/>
          </a:ln>
        </p:spPr>
        <p:txBody>
          <a:bodyPr/>
          <a:lstStyle/>
          <a:p>
            <a:endParaRPr/>
          </a:p>
        </p:txBody>
      </p:sp>
      <p:sp>
        <p:nvSpPr>
          <p:cNvPr id="20" name="Shape 18"/>
          <p:cNvSpPr/>
          <p:nvPr/>
        </p:nvSpPr>
        <p:spPr>
          <a:xfrm>
            <a:off x="8354568" y="1606296"/>
            <a:ext cx="292608" cy="292608"/>
          </a:xfrm>
          <a:prstGeom prst="ellipse">
            <a:avLst/>
          </a:prstGeom>
          <a:solidFill>
            <a:srgbClr val="B4001B"/>
          </a:solidFill>
          <a:ln w="12700">
            <a:solidFill>
              <a:srgbClr val="B4001B"/>
            </a:solidFill>
            <a:prstDash val="solid"/>
          </a:ln>
        </p:spPr>
        <p:txBody>
          <a:bodyPr/>
          <a:lstStyle/>
          <a:p>
            <a:endParaRPr/>
          </a:p>
        </p:txBody>
      </p:sp>
      <p:sp>
        <p:nvSpPr>
          <p:cNvPr id="21" name="Text 19"/>
          <p:cNvSpPr/>
          <p:nvPr/>
        </p:nvSpPr>
        <p:spPr>
          <a:xfrm>
            <a:off x="8354568" y="1606296"/>
            <a:ext cx="292608" cy="292608"/>
          </a:xfrm>
          <a:prstGeom prst="rect">
            <a:avLst/>
          </a:prstGeom>
          <a:noFill/>
          <a:ln/>
        </p:spPr>
        <p:txBody>
          <a:bodyPr wrap="non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3</a:t>
            </a:r>
            <a:endParaRPr lang="en-US" sz="1100" b="1" dirty="0"/>
          </a:p>
        </p:txBody>
      </p:sp>
      <p:sp>
        <p:nvSpPr>
          <p:cNvPr id="22" name="Text 20"/>
          <p:cNvSpPr/>
          <p:nvPr/>
        </p:nvSpPr>
        <p:spPr>
          <a:xfrm>
            <a:off x="8756904" y="1597152"/>
            <a:ext cx="2892552" cy="292608"/>
          </a:xfrm>
          <a:prstGeom prst="rect">
            <a:avLst/>
          </a:prstGeom>
          <a:noFill/>
          <a:ln/>
        </p:spPr>
        <p:txBody>
          <a:bodyPr wrap="square" lIns="0" tIns="0" rIns="0" bIns="0" rtlCol="0" anchor="t">
            <a:noAutofit/>
          </a:bodyPr>
          <a:lstStyle/>
          <a:p>
            <a:pPr marL="0" indent="0" algn="l">
              <a:lnSpc>
                <a:spcPct val="100000"/>
              </a:lnSpc>
              <a:buNone/>
            </a:pPr>
            <a:r>
              <a:rPr lang="en-US" sz="1800" b="1" i="1" dirty="0">
                <a:solidFill>
                  <a:srgbClr val="111111"/>
                </a:solidFill>
                <a:latin typeface="Georgia"/>
                <a:ea typeface="Georgia"/>
                <a:cs typeface="Georgia"/>
              </a:rPr>
              <a:t>Possible Requirements</a:t>
            </a:r>
          </a:p>
        </p:txBody>
      </p:sp>
      <p:sp>
        <p:nvSpPr>
          <p:cNvPr id="23" name="Text 21"/>
          <p:cNvSpPr/>
          <p:nvPr/>
        </p:nvSpPr>
        <p:spPr>
          <a:xfrm>
            <a:off x="8354568" y="2017776"/>
            <a:ext cx="3240024" cy="4053840"/>
          </a:xfrm>
          <a:prstGeom prst="rect">
            <a:avLst/>
          </a:prstGeom>
          <a:noFill/>
          <a:ln/>
        </p:spPr>
        <p:txBody>
          <a:bodyPr wrap="square" lIns="0" tIns="0" rIns="0" bIns="0" rtlCol="0" anchor="t">
            <a:noAutofit/>
          </a:bodyPr>
          <a:lstStyle/>
          <a:p>
            <a:pPr marL="0" indent="0">
              <a:lnSpc>
                <a:spcPct val="100000"/>
              </a:lnSpc>
              <a:spcBef>
                <a:spcPts val="0"/>
              </a:spcBef>
              <a:spcAft>
                <a:spcPts val="0"/>
              </a:spcAft>
              <a:buNone/>
            </a:pPr>
            <a:r>
              <a:rPr lang="en-US" sz="1800" dirty="0">
                <a:solidFill>
                  <a:srgbClr val="000000"/>
                </a:solidFill>
                <a:latin typeface="Aptos" pitchFamily="34" charset="0"/>
                <a:ea typeface="Aptos" pitchFamily="34" charset="-122"/>
                <a:cs typeface="Aptos" pitchFamily="34" charset="-120"/>
              </a:rPr>
              <a:t>• System shall preserve task state after interruption</a:t>
            </a:r>
            <a:endParaRPr lang="en-US" sz="1800" dirty="0">
              <a:solidFill>
                <a:srgbClr val="000000"/>
              </a:solidFill>
            </a:endParaRPr>
          </a:p>
          <a:p>
            <a:pPr marL="0" indent="0">
              <a:lnSpc>
                <a:spcPct val="100000"/>
              </a:lnSpc>
              <a:spcBef>
                <a:spcPts val="800"/>
              </a:spcBef>
              <a:spcAft>
                <a:spcPts val="0"/>
              </a:spcAft>
              <a:buNone/>
            </a:pPr>
            <a:r>
              <a:rPr lang="en-US" sz="1800" dirty="0">
                <a:solidFill>
                  <a:srgbClr val="000000"/>
                </a:solidFill>
                <a:latin typeface="Aptos" pitchFamily="34" charset="0"/>
                <a:ea typeface="Aptos" pitchFamily="34" charset="-122"/>
                <a:cs typeface="Aptos" pitchFamily="34" charset="-120"/>
              </a:rPr>
              <a:t>• Critical allergy warnings shall be visible at medication confirmation</a:t>
            </a:r>
            <a:endParaRPr lang="en-US" sz="1800" dirty="0">
              <a:solidFill>
                <a:srgbClr val="000000"/>
              </a:solidFill>
            </a:endParaRPr>
          </a:p>
          <a:p>
            <a:pPr marL="0" indent="0">
              <a:lnSpc>
                <a:spcPct val="100000"/>
              </a:lnSpc>
              <a:spcBef>
                <a:spcPts val="800"/>
              </a:spcBef>
              <a:spcAft>
                <a:spcPts val="0"/>
              </a:spcAft>
              <a:buNone/>
            </a:pPr>
            <a:r>
              <a:rPr lang="en-US" sz="1800" dirty="0">
                <a:solidFill>
                  <a:srgbClr val="000000"/>
                </a:solidFill>
                <a:latin typeface="Aptos" pitchFamily="34" charset="0"/>
                <a:ea typeface="Aptos" pitchFamily="34" charset="-122"/>
                <a:cs typeface="Aptos" pitchFamily="34" charset="-120"/>
              </a:rPr>
              <a:t>• Nurse shall access recent medication notes within two actions</a:t>
            </a:r>
            <a:endParaRPr lang="en-US" sz="1800" dirty="0">
              <a:solidFill>
                <a:srgbClr val="000000"/>
              </a:solidFill>
            </a:endParaRPr>
          </a:p>
          <a:p>
            <a:pPr marL="0" indent="0">
              <a:lnSpc>
                <a:spcPct val="100000"/>
              </a:lnSpc>
              <a:spcBef>
                <a:spcPts val="800"/>
              </a:spcBef>
              <a:spcAft>
                <a:spcPts val="0"/>
              </a:spcAft>
              <a:buNone/>
            </a:pPr>
            <a:r>
              <a:rPr lang="en-US" sz="1800" dirty="0">
                <a:solidFill>
                  <a:srgbClr val="000000"/>
                </a:solidFill>
                <a:latin typeface="Aptos" pitchFamily="34" charset="0"/>
                <a:ea typeface="Aptos" pitchFamily="34" charset="-122"/>
                <a:cs typeface="Aptos" pitchFamily="34" charset="-120"/>
              </a:rPr>
              <a:t>• UI shall support cart-based use</a:t>
            </a:r>
            <a:endParaRPr lang="en-US" sz="1800" dirty="0">
              <a:solidFill>
                <a:srgbClr val="00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55448"/>
            <a:ext cx="5486400" cy="201168"/>
          </a:xfrm>
          <a:prstGeom prst="rect">
            <a:avLst/>
          </a:prstGeom>
          <a:noFill/>
          <a:ln/>
        </p:spPr>
        <p:txBody>
          <a:bodyPr wrap="square" lIns="0" tIns="0" rIns="0" bIns="0" rtlCol="0" anchor="ctr">
            <a:noAutofit/>
          </a:bodyPr>
          <a:lstStyle/>
          <a:p>
            <a:pPr marL="0" indent="0">
              <a:buNone/>
            </a:pPr>
            <a:r>
              <a:rPr lang="en-US" sz="1100" b="1" dirty="0">
                <a:solidFill>
                  <a:srgbClr val="B4001B"/>
                </a:solidFill>
                <a:latin typeface="Aptos" pitchFamily="34" charset="0"/>
                <a:ea typeface="Aptos" pitchFamily="34" charset="-122"/>
                <a:cs typeface="Aptos" pitchFamily="34" charset="-120"/>
              </a:rPr>
              <a:t>SURVEYS</a:t>
            </a:r>
            <a:endParaRPr lang="en-US" sz="1100" b="1" dirty="0"/>
          </a:p>
        </p:txBody>
      </p:sp>
      <p:sp>
        <p:nvSpPr>
          <p:cNvPr id="3" name="Text 1"/>
          <p:cNvSpPr/>
          <p:nvPr/>
        </p:nvSpPr>
        <p:spPr>
          <a:xfrm>
            <a:off x="411480" y="365760"/>
            <a:ext cx="11365992" cy="512064"/>
          </a:xfrm>
          <a:prstGeom prst="rect">
            <a:avLst/>
          </a:prstGeom>
          <a:noFill/>
          <a:ln/>
        </p:spPr>
        <p:txBody>
          <a:bodyPr wrap="square" lIns="0" tIns="0" rIns="0" bIns="0" rtlCol="0" anchor="ctr">
            <a:noAutofit/>
          </a:bodyPr>
          <a:lstStyle/>
          <a:p>
            <a:pPr marL="0" indent="0" algn="l">
              <a:buNone/>
            </a:pPr>
            <a:r>
              <a:rPr lang="en-US" sz="3200" b="1" i="1" dirty="0">
                <a:solidFill>
                  <a:srgbClr val="111111"/>
                </a:solidFill>
                <a:latin typeface="Georgia"/>
                <a:ea typeface="Georgia"/>
                <a:cs typeface="Georgia"/>
              </a:rPr>
              <a:t>Surveys: Breadth, Question Design, Burden</a:t>
            </a:r>
          </a:p>
        </p:txBody>
      </p:sp>
      <p:sp>
        <p:nvSpPr>
          <p:cNvPr id="4" name="Text 2"/>
          <p:cNvSpPr/>
          <p:nvPr/>
        </p:nvSpPr>
        <p:spPr>
          <a:xfrm>
            <a:off x="411480" y="932688"/>
            <a:ext cx="11365992" cy="524256"/>
          </a:xfrm>
          <a:prstGeom prst="rect">
            <a:avLst/>
          </a:prstGeom>
          <a:noFill/>
          <a:ln/>
        </p:spPr>
        <p:txBody>
          <a:bodyPr wrap="square" lIns="0" tIns="0" rIns="0" bIns="0" rtlCol="0" anchor="t">
            <a:noAutofit/>
          </a:bodyPr>
          <a:lstStyle/>
          <a:p>
            <a:pPr algn="l">
              <a:lnSpc>
                <a:spcPct val="100000"/>
              </a:lnSpc>
            </a:pPr>
            <a:r>
              <a:rPr lang="en-US" sz="1600" b="0" i="1" dirty="0">
                <a:solidFill>
                  <a:srgbClr val="000000"/>
                </a:solidFill>
                <a:latin typeface="Aptos"/>
                <a:ea typeface="Aptos"/>
                <a:cs typeface="Aptos"/>
              </a:rPr>
              <a:t>A survey is a structured self-report method used to collect responses from many people. Its strongest role is breadth: measuring patterns, preferences, frequency, attitudes, or testing a hypothesis across a larger group relatively quickly .</a:t>
            </a:r>
          </a:p>
        </p:txBody>
      </p:sp>
      <p:sp>
        <p:nvSpPr>
          <p:cNvPr id="5" name="Text 3"/>
          <p:cNvSpPr/>
          <p:nvPr/>
        </p:nvSpPr>
        <p:spPr>
          <a:xfrm>
            <a:off x="502920" y="6565392"/>
            <a:ext cx="1280160" cy="109728"/>
          </a:xfrm>
          <a:prstGeom prst="rect">
            <a:avLst/>
          </a:prstGeom>
          <a:noFill/>
          <a:ln/>
        </p:spPr>
        <p:txBody>
          <a:bodyPr wrap="square" rtlCol="0" anchor="ctr"/>
          <a:lstStyle/>
          <a:p>
            <a:pPr marL="0" indent="0">
              <a:buNone/>
            </a:pPr>
            <a:r>
              <a:rPr lang="en-US" sz="790" dirty="0">
                <a:solidFill>
                  <a:srgbClr val="777777"/>
                </a:solidFill>
                <a:latin typeface="Aptos" pitchFamily="34" charset="0"/>
                <a:ea typeface="Aptos" pitchFamily="34" charset="-122"/>
                <a:cs typeface="Aptos" pitchFamily="34" charset="-120"/>
              </a:rPr>
              <a:t>1/28/2026</a:t>
            </a:r>
            <a:endParaRPr lang="en-US" sz="790" dirty="0"/>
          </a:p>
        </p:txBody>
      </p:sp>
      <p:sp>
        <p:nvSpPr>
          <p:cNvPr id="6" name="Text 4"/>
          <p:cNvSpPr/>
          <p:nvPr/>
        </p:nvSpPr>
        <p:spPr>
          <a:xfrm>
            <a:off x="5257800" y="6565392"/>
            <a:ext cx="1645920" cy="109728"/>
          </a:xfrm>
          <a:prstGeom prst="rect">
            <a:avLst/>
          </a:prstGeom>
          <a:noFill/>
          <a:ln/>
        </p:spPr>
        <p:txBody>
          <a:bodyPr wrap="square" rtlCol="0" anchor="ctr"/>
          <a:lstStyle/>
          <a:p>
            <a:pPr marL="0" indent="0" algn="ctr">
              <a:buNone/>
            </a:pPr>
            <a:r>
              <a:rPr lang="en-US" sz="790" dirty="0">
                <a:solidFill>
                  <a:srgbClr val="777777"/>
                </a:solidFill>
                <a:latin typeface="Aptos" pitchFamily="34" charset="0"/>
                <a:ea typeface="Aptos" pitchFamily="34" charset="-122"/>
                <a:cs typeface="Aptos" pitchFamily="34" charset="-120"/>
              </a:rPr>
              <a:t>Md. Manirujjaman</a:t>
            </a:r>
            <a:endParaRPr lang="en-US" sz="790" dirty="0"/>
          </a:p>
        </p:txBody>
      </p:sp>
      <p:sp>
        <p:nvSpPr>
          <p:cNvPr id="7" name="Shape 5"/>
          <p:cNvSpPr/>
          <p:nvPr/>
        </p:nvSpPr>
        <p:spPr>
          <a:xfrm>
            <a:off x="11430000" y="6327648"/>
            <a:ext cx="274320" cy="274320"/>
          </a:xfrm>
          <a:prstGeom prst="ellipse">
            <a:avLst/>
          </a:prstGeom>
          <a:solidFill>
            <a:srgbClr val="B4001B"/>
          </a:solidFill>
          <a:ln w="12700">
            <a:solidFill>
              <a:srgbClr val="B4001B"/>
            </a:solidFill>
            <a:prstDash val="solid"/>
          </a:ln>
        </p:spPr>
        <p:txBody>
          <a:bodyPr wrap="none" lIns="0" tIns="0" rIns="0" bIns="0" anchor="ctr"/>
          <a:lstStyle/>
          <a:p>
            <a:pPr algn="ctr"/>
            <a:fld id="{8A2B6C1E-3F4D-4E5A-9B7C-1D2E3F4A5B6C}" type="slidenum">
              <a:rPr lang="en-US" sz="900" b="1">
                <a:solidFill>
                  <a:srgbClr val="FFFFFF"/>
                </a:solidFill>
                <a:latin typeface="Aptos"/>
              </a:rPr>
              <a:t>13</a:t>
            </a:fld>
            <a:endParaRPr lang="en-US" sz="900" b="1">
              <a:solidFill>
                <a:srgbClr val="FFFFFF"/>
              </a:solidFill>
              <a:latin typeface="Aptos"/>
            </a:endParaRPr>
          </a:p>
        </p:txBody>
      </p:sp>
      <p:sp>
        <p:nvSpPr>
          <p:cNvPr id="25" name="Rectangle 24">
            <a:extLst>
              <a:ext uri="{FF2B5EF4-FFF2-40B4-BE49-F238E27FC236}">
                <a16:creationId xmlns:a16="http://schemas.microsoft.com/office/drawing/2014/main" id="{808CB956-1017-59CE-5A4E-569342B74723}"/>
              </a:ext>
            </a:extLst>
          </p:cNvPr>
          <p:cNvSpPr/>
          <p:nvPr/>
        </p:nvSpPr>
        <p:spPr>
          <a:xfrm>
            <a:off x="411480" y="1676400"/>
            <a:ext cx="5545836" cy="4523232"/>
          </a:xfrm>
          <a:prstGeom prst="rect">
            <a:avLst/>
          </a:prstGeom>
          <a:solidFill>
            <a:srgbClr val="FCF5F6"/>
          </a:solidFill>
          <a:ln w="10160">
            <a:solidFill>
              <a:srgbClr val="E2D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a:extLst>
              <a:ext uri="{FF2B5EF4-FFF2-40B4-BE49-F238E27FC236}">
                <a16:creationId xmlns:a16="http://schemas.microsoft.com/office/drawing/2014/main" id="{BE9E79A3-F97D-D37C-E480-6B61875DAED0}"/>
              </a:ext>
            </a:extLst>
          </p:cNvPr>
          <p:cNvSpPr txBox="1"/>
          <p:nvPr/>
        </p:nvSpPr>
        <p:spPr>
          <a:xfrm>
            <a:off x="594360" y="1822703"/>
            <a:ext cx="5234940" cy="323088"/>
          </a:xfrm>
          <a:prstGeom prst="rect">
            <a:avLst/>
          </a:prstGeom>
          <a:noFill/>
        </p:spPr>
        <p:txBody>
          <a:bodyPr wrap="square" lIns="0" tIns="0" rIns="0" bIns="0" anchor="t">
            <a:noAutofit/>
          </a:bodyPr>
          <a:lstStyle/>
          <a:p>
            <a:pPr algn="l">
              <a:lnSpc>
                <a:spcPct val="100000"/>
              </a:lnSpc>
              <a:defRPr sz="2000" b="1" i="1">
                <a:solidFill>
                  <a:srgbClr val="161415"/>
                </a:solidFill>
                <a:latin typeface="Georgia"/>
              </a:defRPr>
            </a:pPr>
            <a:r>
              <a:rPr lang="en-US" sz="2000" b="1" i="1">
                <a:solidFill>
                  <a:srgbClr val="111111"/>
                </a:solidFill>
                <a:latin typeface="Georgia"/>
                <a:ea typeface="Georgia"/>
                <a:cs typeface="Georgia"/>
              </a:rPr>
              <a:t>What a Requirements Survey Can Do</a:t>
            </a:r>
          </a:p>
        </p:txBody>
      </p:sp>
      <p:sp>
        <p:nvSpPr>
          <p:cNvPr id="29" name="TextBox 28">
            <a:extLst>
              <a:ext uri="{FF2B5EF4-FFF2-40B4-BE49-F238E27FC236}">
                <a16:creationId xmlns:a16="http://schemas.microsoft.com/office/drawing/2014/main" id="{C1CFA053-AF8A-EF24-F938-BE2C9D8F7EB5}"/>
              </a:ext>
            </a:extLst>
          </p:cNvPr>
          <p:cNvSpPr txBox="1"/>
          <p:nvPr/>
        </p:nvSpPr>
        <p:spPr>
          <a:xfrm>
            <a:off x="594360" y="2273808"/>
            <a:ext cx="5180076" cy="3797808"/>
          </a:xfrm>
          <a:prstGeom prst="rect">
            <a:avLst/>
          </a:prstGeom>
          <a:noFill/>
        </p:spPr>
        <p:txBody>
          <a:bodyPr wrap="square" lIns="0" tIns="0" rIns="0" bIns="0" anchor="t">
            <a:noAutofit/>
          </a:bodyPr>
          <a:lstStyle/>
          <a:p>
            <a:pPr>
              <a:lnSpc>
                <a:spcPct val="100000"/>
              </a:lnSpc>
              <a:spcBef>
                <a:spcPts val="0"/>
              </a:spcBef>
              <a:spcAft>
                <a:spcPts val="0"/>
              </a:spcAft>
              <a:defRPr sz="1560" b="0" i="0">
                <a:solidFill>
                  <a:srgbClr val="161415"/>
                </a:solidFill>
                <a:latin typeface="Aptos"/>
              </a:defRPr>
            </a:pPr>
            <a:r>
              <a:rPr sz="1600" dirty="0">
                <a:solidFill>
                  <a:srgbClr val="000000"/>
                </a:solidFill>
              </a:rPr>
              <a:t>• Estimate how many users experience a known system problem.</a:t>
            </a:r>
            <a:endParaRPr lang="en-US" sz="1600">
              <a:solidFill>
                <a:srgbClr val="000000"/>
              </a:solidFill>
            </a:endParaRPr>
          </a:p>
          <a:p>
            <a:pPr>
              <a:lnSpc>
                <a:spcPct val="100000"/>
              </a:lnSpc>
              <a:spcBef>
                <a:spcPts val="1200"/>
              </a:spcBef>
              <a:spcAft>
                <a:spcPts val="0"/>
              </a:spcAft>
              <a:defRPr sz="1560" b="0" i="0">
                <a:solidFill>
                  <a:srgbClr val="161415"/>
                </a:solidFill>
                <a:latin typeface="Aptos"/>
              </a:defRPr>
            </a:pPr>
            <a:r>
              <a:rPr sz="1600" dirty="0">
                <a:solidFill>
                  <a:srgbClr val="000000"/>
                </a:solidFill>
              </a:rPr>
              <a:t>• Compare user roles, departments, devices and experience levels.</a:t>
            </a:r>
            <a:endParaRPr lang="en-US" sz="1600">
              <a:solidFill>
                <a:srgbClr val="000000"/>
              </a:solidFill>
            </a:endParaRPr>
          </a:p>
          <a:p>
            <a:pPr>
              <a:lnSpc>
                <a:spcPct val="100000"/>
              </a:lnSpc>
              <a:spcBef>
                <a:spcPts val="1200"/>
              </a:spcBef>
              <a:spcAft>
                <a:spcPts val="0"/>
              </a:spcAft>
              <a:defRPr sz="1560" b="0" i="0">
                <a:solidFill>
                  <a:srgbClr val="161415"/>
                </a:solidFill>
                <a:latin typeface="Aptos"/>
              </a:defRPr>
            </a:pPr>
            <a:r>
              <a:rPr sz="1600" dirty="0">
                <a:solidFill>
                  <a:srgbClr val="000000"/>
                </a:solidFill>
              </a:rPr>
              <a:t>• Measure frequency, satisfaction, preferences</a:t>
            </a:r>
            <a:r>
              <a:rPr lang="en-US" sz="1600" dirty="0">
                <a:solidFill>
                  <a:srgbClr val="000000"/>
                </a:solidFill>
              </a:rPr>
              <a:t>.</a:t>
            </a:r>
            <a:endParaRPr lang="en-US" sz="1600">
              <a:solidFill>
                <a:srgbClr val="000000"/>
              </a:solidFill>
            </a:endParaRPr>
          </a:p>
          <a:p>
            <a:pPr>
              <a:lnSpc>
                <a:spcPct val="100000"/>
              </a:lnSpc>
              <a:spcBef>
                <a:spcPts val="1200"/>
              </a:spcBef>
              <a:spcAft>
                <a:spcPts val="0"/>
              </a:spcAft>
              <a:defRPr sz="1560" b="0" i="0">
                <a:solidFill>
                  <a:srgbClr val="161415"/>
                </a:solidFill>
                <a:latin typeface="Aptos"/>
              </a:defRPr>
            </a:pPr>
            <a:r>
              <a:rPr sz="1600" dirty="0">
                <a:solidFill>
                  <a:srgbClr val="000000"/>
                </a:solidFill>
              </a:rPr>
              <a:t>• Check whether themes discovered through interviews also appear across a larger group.</a:t>
            </a:r>
            <a:endParaRPr lang="en-US" sz="1600">
              <a:solidFill>
                <a:srgbClr val="000000"/>
              </a:solidFill>
            </a:endParaRPr>
          </a:p>
          <a:p>
            <a:pPr>
              <a:lnSpc>
                <a:spcPct val="100000"/>
              </a:lnSpc>
              <a:spcBef>
                <a:spcPts val="1200"/>
              </a:spcBef>
              <a:spcAft>
                <a:spcPts val="0"/>
              </a:spcAft>
              <a:defRPr sz="1560" b="0" i="0">
                <a:solidFill>
                  <a:srgbClr val="161415"/>
                </a:solidFill>
                <a:latin typeface="Aptos"/>
              </a:defRPr>
            </a:pPr>
            <a:r>
              <a:rPr sz="1600" dirty="0">
                <a:solidFill>
                  <a:srgbClr val="000000"/>
                </a:solidFill>
              </a:rPr>
              <a:t>• Example: After interviews reveal registration difficulties, survey 500 students to find which problems are most common.</a:t>
            </a:r>
            <a:endParaRPr lang="en-US" sz="1600">
              <a:solidFill>
                <a:srgbClr val="000000"/>
              </a:solidFill>
            </a:endParaRPr>
          </a:p>
        </p:txBody>
      </p:sp>
      <p:sp>
        <p:nvSpPr>
          <p:cNvPr id="31" name="Rectangle 30">
            <a:extLst>
              <a:ext uri="{FF2B5EF4-FFF2-40B4-BE49-F238E27FC236}">
                <a16:creationId xmlns:a16="http://schemas.microsoft.com/office/drawing/2014/main" id="{589CAA20-4376-A59C-8E68-7E60B68AD108}"/>
              </a:ext>
            </a:extLst>
          </p:cNvPr>
          <p:cNvSpPr/>
          <p:nvPr/>
        </p:nvSpPr>
        <p:spPr>
          <a:xfrm>
            <a:off x="6231636" y="1676400"/>
            <a:ext cx="5545836" cy="4523232"/>
          </a:xfrm>
          <a:prstGeom prst="rect">
            <a:avLst/>
          </a:prstGeom>
          <a:solidFill>
            <a:srgbClr val="FFFFFF"/>
          </a:solidFill>
          <a:ln w="10160">
            <a:solidFill>
              <a:srgbClr val="E2D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a:extLst>
              <a:ext uri="{FF2B5EF4-FFF2-40B4-BE49-F238E27FC236}">
                <a16:creationId xmlns:a16="http://schemas.microsoft.com/office/drawing/2014/main" id="{CA48E8A6-F53C-9684-4198-D4CEF1BCAFC6}"/>
              </a:ext>
            </a:extLst>
          </p:cNvPr>
          <p:cNvSpPr txBox="1"/>
          <p:nvPr/>
        </p:nvSpPr>
        <p:spPr>
          <a:xfrm>
            <a:off x="6414516" y="1822703"/>
            <a:ext cx="5234940" cy="323088"/>
          </a:xfrm>
          <a:prstGeom prst="rect">
            <a:avLst/>
          </a:prstGeom>
          <a:noFill/>
        </p:spPr>
        <p:txBody>
          <a:bodyPr wrap="square" lIns="0" tIns="0" rIns="0" bIns="0" anchor="t">
            <a:noAutofit/>
          </a:bodyPr>
          <a:lstStyle/>
          <a:p>
            <a:pPr algn="l">
              <a:lnSpc>
                <a:spcPct val="100000"/>
              </a:lnSpc>
              <a:defRPr sz="2000" b="1" i="1">
                <a:solidFill>
                  <a:srgbClr val="161415"/>
                </a:solidFill>
                <a:latin typeface="Georgia"/>
              </a:defRPr>
            </a:pPr>
            <a:r>
              <a:rPr lang="en-US" sz="2000" b="1" i="1">
                <a:solidFill>
                  <a:srgbClr val="111111"/>
                </a:solidFill>
                <a:latin typeface="Georgia"/>
                <a:ea typeface="Georgia"/>
                <a:cs typeface="Georgia"/>
              </a:rPr>
              <a:t>When It Is Not the Best First Method</a:t>
            </a:r>
          </a:p>
        </p:txBody>
      </p:sp>
      <p:sp>
        <p:nvSpPr>
          <p:cNvPr id="35" name="TextBox 34">
            <a:extLst>
              <a:ext uri="{FF2B5EF4-FFF2-40B4-BE49-F238E27FC236}">
                <a16:creationId xmlns:a16="http://schemas.microsoft.com/office/drawing/2014/main" id="{87C715F0-33FB-6AF3-1050-C4CDADA3AB83}"/>
              </a:ext>
            </a:extLst>
          </p:cNvPr>
          <p:cNvSpPr txBox="1"/>
          <p:nvPr/>
        </p:nvSpPr>
        <p:spPr>
          <a:xfrm>
            <a:off x="6414516" y="2273808"/>
            <a:ext cx="5180076" cy="3797808"/>
          </a:xfrm>
          <a:prstGeom prst="rect">
            <a:avLst/>
          </a:prstGeom>
          <a:noFill/>
        </p:spPr>
        <p:txBody>
          <a:bodyPr wrap="square" lIns="0" tIns="0" rIns="0" bIns="0" anchor="t">
            <a:noAutofit/>
          </a:bodyPr>
          <a:lstStyle/>
          <a:p>
            <a:pPr>
              <a:lnSpc>
                <a:spcPct val="100000"/>
              </a:lnSpc>
              <a:spcBef>
                <a:spcPts val="0"/>
              </a:spcBef>
              <a:spcAft>
                <a:spcPts val="0"/>
              </a:spcAft>
              <a:defRPr sz="1520" b="0" i="0">
                <a:solidFill>
                  <a:srgbClr val="161415"/>
                </a:solidFill>
                <a:latin typeface="Aptos"/>
              </a:defRPr>
            </a:pPr>
            <a:r>
              <a:rPr sz="1600" dirty="0">
                <a:solidFill>
                  <a:srgbClr val="000000"/>
                </a:solidFill>
              </a:rPr>
              <a:t>• Unknown cause: if users say a system is “bad,” first interview them to learn why.</a:t>
            </a:r>
            <a:endParaRPr lang="en-US" sz="1600">
              <a:solidFill>
                <a:srgbClr val="000000"/>
              </a:solidFill>
            </a:endParaRPr>
          </a:p>
          <a:p>
            <a:pPr>
              <a:lnSpc>
                <a:spcPct val="100000"/>
              </a:lnSpc>
              <a:spcBef>
                <a:spcPts val="1200"/>
              </a:spcBef>
              <a:spcAft>
                <a:spcPts val="0"/>
              </a:spcAft>
              <a:defRPr sz="1520" b="0" i="0">
                <a:solidFill>
                  <a:srgbClr val="161415"/>
                </a:solidFill>
                <a:latin typeface="Aptos"/>
              </a:defRPr>
            </a:pPr>
            <a:r>
              <a:rPr sz="1600" dirty="0">
                <a:solidFill>
                  <a:srgbClr val="000000"/>
                </a:solidFill>
              </a:rPr>
              <a:t>• Real-work context: use observation or contextual inquiry to see manual steps, interruptions and work-arounds.</a:t>
            </a:r>
            <a:endParaRPr lang="en-US" sz="1600">
              <a:solidFill>
                <a:srgbClr val="000000"/>
              </a:solidFill>
            </a:endParaRPr>
          </a:p>
          <a:p>
            <a:pPr>
              <a:lnSpc>
                <a:spcPct val="100000"/>
              </a:lnSpc>
              <a:spcBef>
                <a:spcPts val="1200"/>
              </a:spcBef>
              <a:spcAft>
                <a:spcPts val="0"/>
              </a:spcAft>
              <a:defRPr sz="1520" b="0" i="0">
                <a:solidFill>
                  <a:srgbClr val="161415"/>
                </a:solidFill>
                <a:latin typeface="Aptos"/>
              </a:defRPr>
            </a:pPr>
            <a:r>
              <a:rPr sz="1600" dirty="0">
                <a:solidFill>
                  <a:srgbClr val="000000"/>
                </a:solidFill>
              </a:rPr>
              <a:t>• Sensitive or complex issues: use a private, deeper method when appropriate.</a:t>
            </a:r>
            <a:endParaRPr lang="en-US" sz="1600">
              <a:solidFill>
                <a:srgbClr val="000000"/>
              </a:solidFill>
            </a:endParaRPr>
          </a:p>
          <a:p>
            <a:pPr>
              <a:lnSpc>
                <a:spcPct val="100000"/>
              </a:lnSpc>
              <a:spcBef>
                <a:spcPts val="1200"/>
              </a:spcBef>
              <a:spcAft>
                <a:spcPts val="0"/>
              </a:spcAft>
              <a:defRPr sz="1520" b="0" i="0">
                <a:solidFill>
                  <a:srgbClr val="161415"/>
                </a:solidFill>
                <a:latin typeface="Aptos"/>
              </a:defRPr>
            </a:pPr>
            <a:r>
              <a:rPr sz="1600" dirty="0">
                <a:solidFill>
                  <a:srgbClr val="000000"/>
                </a:solidFill>
              </a:rPr>
              <a:t>• A survey measures “what/how many”; it rarely explains the full “why.”</a:t>
            </a:r>
            <a:endParaRPr lang="en-US" sz="1600">
              <a:solidFill>
                <a:srgbClr val="00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6E65302-4EA5-A648-2384-C677AB708A2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D8BB9DD-7621-20A2-5B1F-91D5F6791A4F}"/>
              </a:ext>
            </a:extLst>
          </p:cNvPr>
          <p:cNvSpPr/>
          <p:nvPr/>
        </p:nvSpPr>
        <p:spPr>
          <a:xfrm>
            <a:off x="411480" y="155448"/>
            <a:ext cx="5486400" cy="201168"/>
          </a:xfrm>
          <a:prstGeom prst="rect">
            <a:avLst/>
          </a:prstGeom>
          <a:noFill/>
          <a:ln/>
        </p:spPr>
        <p:txBody>
          <a:bodyPr wrap="square" lIns="0" tIns="0" rIns="0" bIns="0" rtlCol="0" anchor="ctr">
            <a:noAutofit/>
          </a:bodyPr>
          <a:lstStyle/>
          <a:p>
            <a:pPr marL="0" indent="0">
              <a:buNone/>
            </a:pPr>
            <a:r>
              <a:rPr lang="en-US" sz="1100" b="1" dirty="0">
                <a:solidFill>
                  <a:srgbClr val="B4001B"/>
                </a:solidFill>
                <a:latin typeface="Aptos" pitchFamily="34" charset="0"/>
                <a:ea typeface="Aptos" pitchFamily="34" charset="-122"/>
                <a:cs typeface="Aptos" pitchFamily="34" charset="-120"/>
              </a:rPr>
              <a:t>SURVEYS</a:t>
            </a:r>
            <a:endParaRPr lang="en-US" sz="1100" b="1" dirty="0"/>
          </a:p>
        </p:txBody>
      </p:sp>
      <p:sp>
        <p:nvSpPr>
          <p:cNvPr id="5" name="Text 3">
            <a:extLst>
              <a:ext uri="{FF2B5EF4-FFF2-40B4-BE49-F238E27FC236}">
                <a16:creationId xmlns:a16="http://schemas.microsoft.com/office/drawing/2014/main" id="{FEA2B715-8468-B3C0-1133-E27845AF4DA7}"/>
              </a:ext>
            </a:extLst>
          </p:cNvPr>
          <p:cNvSpPr/>
          <p:nvPr/>
        </p:nvSpPr>
        <p:spPr>
          <a:xfrm>
            <a:off x="502920" y="6565392"/>
            <a:ext cx="1280160" cy="109728"/>
          </a:xfrm>
          <a:prstGeom prst="rect">
            <a:avLst/>
          </a:prstGeom>
          <a:noFill/>
          <a:ln/>
        </p:spPr>
        <p:txBody>
          <a:bodyPr wrap="square" rtlCol="0" anchor="ctr"/>
          <a:lstStyle/>
          <a:p>
            <a:pPr marL="0" indent="0">
              <a:buNone/>
            </a:pPr>
            <a:r>
              <a:rPr lang="en-US" sz="790" dirty="0">
                <a:solidFill>
                  <a:srgbClr val="777777"/>
                </a:solidFill>
                <a:latin typeface="Aptos" pitchFamily="34" charset="0"/>
                <a:ea typeface="Aptos" pitchFamily="34" charset="-122"/>
                <a:cs typeface="Aptos" pitchFamily="34" charset="-120"/>
              </a:rPr>
              <a:t>1/28/2026</a:t>
            </a:r>
            <a:endParaRPr lang="en-US" sz="790" dirty="0"/>
          </a:p>
        </p:txBody>
      </p:sp>
      <p:sp>
        <p:nvSpPr>
          <p:cNvPr id="6" name="Text 4">
            <a:extLst>
              <a:ext uri="{FF2B5EF4-FFF2-40B4-BE49-F238E27FC236}">
                <a16:creationId xmlns:a16="http://schemas.microsoft.com/office/drawing/2014/main" id="{9FE1269E-5D0E-1183-A40F-BA18DDAE92FA}"/>
              </a:ext>
            </a:extLst>
          </p:cNvPr>
          <p:cNvSpPr/>
          <p:nvPr/>
        </p:nvSpPr>
        <p:spPr>
          <a:xfrm>
            <a:off x="5257800" y="6565392"/>
            <a:ext cx="1645920" cy="109728"/>
          </a:xfrm>
          <a:prstGeom prst="rect">
            <a:avLst/>
          </a:prstGeom>
          <a:noFill/>
          <a:ln/>
        </p:spPr>
        <p:txBody>
          <a:bodyPr wrap="square" rtlCol="0" anchor="ctr"/>
          <a:lstStyle/>
          <a:p>
            <a:pPr marL="0" indent="0" algn="ctr">
              <a:buNone/>
            </a:pPr>
            <a:r>
              <a:rPr lang="en-US" sz="790" dirty="0">
                <a:solidFill>
                  <a:srgbClr val="777777"/>
                </a:solidFill>
                <a:latin typeface="Aptos" pitchFamily="34" charset="0"/>
                <a:ea typeface="Aptos" pitchFamily="34" charset="-122"/>
                <a:cs typeface="Aptos" pitchFamily="34" charset="-120"/>
              </a:rPr>
              <a:t>Md. Manirujjaman</a:t>
            </a:r>
            <a:endParaRPr lang="en-US" sz="790" dirty="0"/>
          </a:p>
        </p:txBody>
      </p:sp>
      <p:sp>
        <p:nvSpPr>
          <p:cNvPr id="7" name="Shape 5">
            <a:extLst>
              <a:ext uri="{FF2B5EF4-FFF2-40B4-BE49-F238E27FC236}">
                <a16:creationId xmlns:a16="http://schemas.microsoft.com/office/drawing/2014/main" id="{094AD256-2125-7E84-A8E0-1BD8BF5E09AF}"/>
              </a:ext>
            </a:extLst>
          </p:cNvPr>
          <p:cNvSpPr/>
          <p:nvPr/>
        </p:nvSpPr>
        <p:spPr>
          <a:xfrm>
            <a:off x="11430000" y="6327648"/>
            <a:ext cx="274320" cy="274320"/>
          </a:xfrm>
          <a:prstGeom prst="ellipse">
            <a:avLst/>
          </a:prstGeom>
          <a:solidFill>
            <a:srgbClr val="B4001B"/>
          </a:solidFill>
          <a:ln w="12700">
            <a:solidFill>
              <a:srgbClr val="B4001B"/>
            </a:solidFill>
            <a:prstDash val="solid"/>
          </a:ln>
        </p:spPr>
        <p:txBody>
          <a:bodyPr wrap="none" lIns="0" tIns="0" rIns="0" bIns="0" anchor="ctr"/>
          <a:lstStyle/>
          <a:p>
            <a:pPr algn="ctr"/>
            <a:fld id="{8A2B6C1E-3F4D-4E5A-9B7C-1D2E3F4A5B6C}" type="slidenum">
              <a:rPr lang="en-US" sz="900" b="1">
                <a:solidFill>
                  <a:srgbClr val="FFFFFF"/>
                </a:solidFill>
                <a:latin typeface="Aptos"/>
              </a:rPr>
              <a:t>14</a:t>
            </a:fld>
            <a:endParaRPr lang="en-US" sz="900" b="1">
              <a:solidFill>
                <a:srgbClr val="FFFFFF"/>
              </a:solidFill>
              <a:latin typeface="Aptos"/>
            </a:endParaRPr>
          </a:p>
        </p:txBody>
      </p:sp>
      <p:sp>
        <p:nvSpPr>
          <p:cNvPr id="10" name="TextBox 9">
            <a:extLst>
              <a:ext uri="{FF2B5EF4-FFF2-40B4-BE49-F238E27FC236}">
                <a16:creationId xmlns:a16="http://schemas.microsoft.com/office/drawing/2014/main" id="{101C74CD-FB13-D127-F91A-14F53EBA9733}"/>
              </a:ext>
            </a:extLst>
          </p:cNvPr>
          <p:cNvSpPr txBox="1"/>
          <p:nvPr/>
        </p:nvSpPr>
        <p:spPr>
          <a:xfrm>
            <a:off x="411480" y="932688"/>
            <a:ext cx="11365992" cy="280416"/>
          </a:xfrm>
          <a:prstGeom prst="rect">
            <a:avLst/>
          </a:prstGeom>
          <a:noFill/>
        </p:spPr>
        <p:txBody>
          <a:bodyPr wrap="square" lIns="0" tIns="0" rIns="0" bIns="0" anchor="t">
            <a:noAutofit/>
          </a:bodyPr>
          <a:lstStyle/>
          <a:p>
            <a:pPr algn="l">
              <a:lnSpc>
                <a:spcPct val="100000"/>
              </a:lnSpc>
            </a:pPr>
            <a:r>
              <a:rPr lang="en-US" sz="1600" b="0" i="1">
                <a:solidFill>
                  <a:srgbClr val="000000"/>
                </a:solidFill>
                <a:latin typeface="Aptos"/>
                <a:ea typeface="Aptos"/>
                <a:cs typeface="Aptos"/>
              </a:rPr>
              <a:t>Every question should connect to a requirement decision or a hypothesis that the analyst can test.</a:t>
            </a:r>
          </a:p>
        </p:txBody>
      </p:sp>
      <p:sp>
        <p:nvSpPr>
          <p:cNvPr id="12" name="Rectangle 11">
            <a:extLst>
              <a:ext uri="{FF2B5EF4-FFF2-40B4-BE49-F238E27FC236}">
                <a16:creationId xmlns:a16="http://schemas.microsoft.com/office/drawing/2014/main" id="{8EAB177B-88F0-A2B1-940A-33787542F200}"/>
              </a:ext>
            </a:extLst>
          </p:cNvPr>
          <p:cNvSpPr/>
          <p:nvPr/>
        </p:nvSpPr>
        <p:spPr>
          <a:xfrm>
            <a:off x="411480" y="1432560"/>
            <a:ext cx="5545836" cy="4767072"/>
          </a:xfrm>
          <a:prstGeom prst="rect">
            <a:avLst/>
          </a:prstGeom>
          <a:solidFill>
            <a:srgbClr val="FCF5F6"/>
          </a:solidFill>
          <a:ln w="10160">
            <a:solidFill>
              <a:srgbClr val="E2D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30B31DDF-E58E-A9D0-51BD-3BB3066FDED9}"/>
              </a:ext>
            </a:extLst>
          </p:cNvPr>
          <p:cNvSpPr txBox="1"/>
          <p:nvPr/>
        </p:nvSpPr>
        <p:spPr>
          <a:xfrm>
            <a:off x="594360" y="1578864"/>
            <a:ext cx="5234940" cy="323088"/>
          </a:xfrm>
          <a:prstGeom prst="rect">
            <a:avLst/>
          </a:prstGeom>
          <a:noFill/>
        </p:spPr>
        <p:txBody>
          <a:bodyPr wrap="square" lIns="0" tIns="0" rIns="0" bIns="0" anchor="t">
            <a:noAutofit/>
          </a:bodyPr>
          <a:lstStyle/>
          <a:p>
            <a:pPr algn="l">
              <a:lnSpc>
                <a:spcPct val="100000"/>
              </a:lnSpc>
              <a:defRPr sz="2000" b="1" i="1">
                <a:solidFill>
                  <a:srgbClr val="161415"/>
                </a:solidFill>
                <a:latin typeface="Georgia"/>
              </a:defRPr>
            </a:pPr>
            <a:r>
              <a:rPr sz="2000" b="1" i="1" dirty="0">
                <a:solidFill>
                  <a:srgbClr val="111111"/>
                </a:solidFill>
                <a:latin typeface="Georgia"/>
                <a:ea typeface="Georgia"/>
                <a:cs typeface="Georgia"/>
              </a:rPr>
              <a:t>Poor Question → Better Question</a:t>
            </a:r>
            <a:endParaRPr lang="en-US" sz="2000" b="1" i="1">
              <a:solidFill>
                <a:srgbClr val="111111"/>
              </a:solidFill>
              <a:latin typeface="Georgia"/>
              <a:ea typeface="Georgia"/>
              <a:cs typeface="Georgia"/>
            </a:endParaRPr>
          </a:p>
        </p:txBody>
      </p:sp>
      <p:sp>
        <p:nvSpPr>
          <p:cNvPr id="16" name="TextBox 15">
            <a:extLst>
              <a:ext uri="{FF2B5EF4-FFF2-40B4-BE49-F238E27FC236}">
                <a16:creationId xmlns:a16="http://schemas.microsoft.com/office/drawing/2014/main" id="{D2E3D345-10E2-ECFC-EA25-893C2158CB16}"/>
              </a:ext>
            </a:extLst>
          </p:cNvPr>
          <p:cNvSpPr txBox="1"/>
          <p:nvPr/>
        </p:nvSpPr>
        <p:spPr>
          <a:xfrm>
            <a:off x="594360" y="2029968"/>
            <a:ext cx="5180076" cy="4041648"/>
          </a:xfrm>
          <a:prstGeom prst="rect">
            <a:avLst/>
          </a:prstGeom>
          <a:noFill/>
        </p:spPr>
        <p:txBody>
          <a:bodyPr wrap="square" lIns="0" tIns="0" rIns="0" bIns="0" anchor="t">
            <a:noAutofit/>
          </a:bodyPr>
          <a:lstStyle/>
          <a:p>
            <a:pPr>
              <a:lnSpc>
                <a:spcPct val="100000"/>
              </a:lnSpc>
              <a:spcBef>
                <a:spcPts val="0"/>
              </a:spcBef>
              <a:spcAft>
                <a:spcPts val="0"/>
              </a:spcAft>
              <a:defRPr sz="1460" b="0" i="0">
                <a:solidFill>
                  <a:srgbClr val="161415"/>
                </a:solidFill>
                <a:latin typeface="Aptos"/>
              </a:defRPr>
            </a:pPr>
            <a:r>
              <a:rPr sz="1600" dirty="0">
                <a:solidFill>
                  <a:srgbClr val="000000"/>
                </a:solidFill>
              </a:rPr>
              <a:t>1. Leading: “How excellent is our new portal?”</a:t>
            </a:r>
            <a:br>
              <a:rPr sz="1600" dirty="0">
                <a:solidFill>
                  <a:srgbClr val="000000"/>
                </a:solidFill>
              </a:rPr>
            </a:br>
            <a:r>
              <a:rPr sz="1600" dirty="0">
                <a:solidFill>
                  <a:srgbClr val="000000"/>
                </a:solidFill>
              </a:rPr>
              <a:t>   Better: “How would you rate your experience with the portal?”</a:t>
            </a:r>
            <a:endParaRPr lang="en-US" sz="1600">
              <a:solidFill>
                <a:srgbClr val="000000"/>
              </a:solidFill>
            </a:endParaRPr>
          </a:p>
          <a:p>
            <a:pPr>
              <a:lnSpc>
                <a:spcPct val="100000"/>
              </a:lnSpc>
              <a:spcBef>
                <a:spcPts val="1200"/>
              </a:spcBef>
              <a:spcAft>
                <a:spcPts val="0"/>
              </a:spcAft>
              <a:defRPr sz="1460" b="0" i="0">
                <a:solidFill>
                  <a:srgbClr val="161415"/>
                </a:solidFill>
                <a:latin typeface="Aptos"/>
              </a:defRPr>
            </a:pPr>
            <a:r>
              <a:rPr sz="1600" dirty="0">
                <a:solidFill>
                  <a:srgbClr val="000000"/>
                </a:solidFill>
              </a:rPr>
              <a:t>2. Forced assumption: “Why do you use mobile registration daily?”</a:t>
            </a:r>
            <a:br>
              <a:rPr sz="1600" dirty="0">
                <a:solidFill>
                  <a:srgbClr val="000000"/>
                </a:solidFill>
              </a:rPr>
            </a:br>
            <a:r>
              <a:rPr sz="1600" dirty="0">
                <a:solidFill>
                  <a:srgbClr val="000000"/>
                </a:solidFill>
              </a:rPr>
              <a:t>   Better: “Which device do you use for registration, and how often?”</a:t>
            </a:r>
            <a:endParaRPr lang="en-US" sz="1600">
              <a:solidFill>
                <a:srgbClr val="000000"/>
              </a:solidFill>
            </a:endParaRPr>
          </a:p>
          <a:p>
            <a:pPr>
              <a:lnSpc>
                <a:spcPct val="100000"/>
              </a:lnSpc>
              <a:spcBef>
                <a:spcPts val="1200"/>
              </a:spcBef>
              <a:spcAft>
                <a:spcPts val="0"/>
              </a:spcAft>
              <a:defRPr sz="1460" b="0" i="0">
                <a:solidFill>
                  <a:srgbClr val="161415"/>
                </a:solidFill>
                <a:latin typeface="Aptos"/>
              </a:defRPr>
            </a:pPr>
            <a:r>
              <a:rPr sz="1600" dirty="0">
                <a:solidFill>
                  <a:srgbClr val="000000"/>
                </a:solidFill>
              </a:rPr>
              <a:t>3. Two questions in one: “Is the portal easy and reliable?”</a:t>
            </a:r>
            <a:br>
              <a:rPr sz="1600" dirty="0">
                <a:solidFill>
                  <a:srgbClr val="000000"/>
                </a:solidFill>
              </a:rPr>
            </a:br>
            <a:r>
              <a:rPr sz="1600" dirty="0">
                <a:solidFill>
                  <a:srgbClr val="000000"/>
                </a:solidFill>
              </a:rPr>
              <a:t>   Better: Ask ease of use and reliability separately.</a:t>
            </a:r>
            <a:endParaRPr lang="en-US" sz="1600">
              <a:solidFill>
                <a:srgbClr val="000000"/>
              </a:solidFill>
            </a:endParaRPr>
          </a:p>
          <a:p>
            <a:pPr>
              <a:lnSpc>
                <a:spcPct val="100000"/>
              </a:lnSpc>
              <a:spcBef>
                <a:spcPts val="1200"/>
              </a:spcBef>
              <a:spcAft>
                <a:spcPts val="0"/>
              </a:spcAft>
              <a:defRPr sz="1460" b="0" i="0">
                <a:solidFill>
                  <a:srgbClr val="161415"/>
                </a:solidFill>
                <a:latin typeface="Aptos"/>
              </a:defRPr>
            </a:pPr>
            <a:r>
              <a:rPr sz="1600" dirty="0">
                <a:solidFill>
                  <a:srgbClr val="000000"/>
                </a:solidFill>
              </a:rPr>
              <a:t>4. Too broad: “Is the university system good?”</a:t>
            </a:r>
            <a:br>
              <a:rPr sz="1600" dirty="0">
                <a:solidFill>
                  <a:srgbClr val="000000"/>
                </a:solidFill>
              </a:rPr>
            </a:br>
            <a:r>
              <a:rPr sz="1600" dirty="0">
                <a:solidFill>
                  <a:srgbClr val="000000"/>
                </a:solidFill>
              </a:rPr>
              <a:t>   Better: “How easy was it to find your exam schedule?”</a:t>
            </a:r>
            <a:endParaRPr lang="en-US" sz="1600">
              <a:solidFill>
                <a:srgbClr val="000000"/>
              </a:solidFill>
            </a:endParaRPr>
          </a:p>
        </p:txBody>
      </p:sp>
      <p:sp>
        <p:nvSpPr>
          <p:cNvPr id="18" name="Rectangle 17">
            <a:extLst>
              <a:ext uri="{FF2B5EF4-FFF2-40B4-BE49-F238E27FC236}">
                <a16:creationId xmlns:a16="http://schemas.microsoft.com/office/drawing/2014/main" id="{71BACBCA-9CEB-C548-FD13-395D426A4C1B}"/>
              </a:ext>
            </a:extLst>
          </p:cNvPr>
          <p:cNvSpPr/>
          <p:nvPr/>
        </p:nvSpPr>
        <p:spPr>
          <a:xfrm>
            <a:off x="6231636" y="1432560"/>
            <a:ext cx="5545836" cy="4767072"/>
          </a:xfrm>
          <a:prstGeom prst="rect">
            <a:avLst/>
          </a:prstGeom>
          <a:solidFill>
            <a:srgbClr val="FFFFFF"/>
          </a:solidFill>
          <a:ln w="10160">
            <a:solidFill>
              <a:srgbClr val="E2D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23448317-84B3-618D-080B-30AD7FEF8741}"/>
              </a:ext>
            </a:extLst>
          </p:cNvPr>
          <p:cNvSpPr txBox="1"/>
          <p:nvPr/>
        </p:nvSpPr>
        <p:spPr>
          <a:xfrm>
            <a:off x="6414516" y="1578864"/>
            <a:ext cx="5234940" cy="323088"/>
          </a:xfrm>
          <a:prstGeom prst="rect">
            <a:avLst/>
          </a:prstGeom>
          <a:noFill/>
        </p:spPr>
        <p:txBody>
          <a:bodyPr wrap="square" lIns="0" tIns="0" rIns="0" bIns="0" anchor="t">
            <a:noAutofit/>
          </a:bodyPr>
          <a:lstStyle/>
          <a:p>
            <a:pPr algn="l">
              <a:lnSpc>
                <a:spcPct val="100000"/>
              </a:lnSpc>
              <a:defRPr sz="2000" b="1" i="1">
                <a:solidFill>
                  <a:srgbClr val="161415"/>
                </a:solidFill>
                <a:latin typeface="Georgia"/>
              </a:defRPr>
            </a:pPr>
            <a:r>
              <a:rPr sz="2000" b="1" i="1" dirty="0">
                <a:solidFill>
                  <a:srgbClr val="111111"/>
                </a:solidFill>
                <a:latin typeface="Georgia"/>
                <a:ea typeface="Georgia"/>
                <a:cs typeface="Georgia"/>
              </a:rPr>
              <a:t>Rules for Useful Requirement Evidence</a:t>
            </a:r>
            <a:endParaRPr lang="en-US" sz="2000" b="1" i="1">
              <a:solidFill>
                <a:srgbClr val="111111"/>
              </a:solidFill>
              <a:latin typeface="Georgia"/>
              <a:ea typeface="Georgia"/>
              <a:cs typeface="Georgia"/>
            </a:endParaRPr>
          </a:p>
        </p:txBody>
      </p:sp>
      <p:sp>
        <p:nvSpPr>
          <p:cNvPr id="22" name="TextBox 21">
            <a:extLst>
              <a:ext uri="{FF2B5EF4-FFF2-40B4-BE49-F238E27FC236}">
                <a16:creationId xmlns:a16="http://schemas.microsoft.com/office/drawing/2014/main" id="{1CD64AF3-0A3D-9F5A-A936-A4E2DD6CC96A}"/>
              </a:ext>
            </a:extLst>
          </p:cNvPr>
          <p:cNvSpPr txBox="1"/>
          <p:nvPr/>
        </p:nvSpPr>
        <p:spPr>
          <a:xfrm>
            <a:off x="6414516" y="2029968"/>
            <a:ext cx="5180076" cy="4041648"/>
          </a:xfrm>
          <a:prstGeom prst="rect">
            <a:avLst/>
          </a:prstGeom>
          <a:noFill/>
        </p:spPr>
        <p:txBody>
          <a:bodyPr wrap="square" lIns="0" tIns="0" rIns="0" bIns="0" anchor="t">
            <a:noAutofit/>
          </a:bodyPr>
          <a:lstStyle/>
          <a:p>
            <a:pPr>
              <a:lnSpc>
                <a:spcPct val="100000"/>
              </a:lnSpc>
              <a:spcBef>
                <a:spcPts val="0"/>
              </a:spcBef>
              <a:spcAft>
                <a:spcPts val="0"/>
              </a:spcAft>
              <a:defRPr sz="1500" b="0" i="0">
                <a:solidFill>
                  <a:srgbClr val="161415"/>
                </a:solidFill>
                <a:latin typeface="Aptos"/>
              </a:defRPr>
            </a:pPr>
            <a:r>
              <a:rPr sz="1600" dirty="0">
                <a:solidFill>
                  <a:srgbClr val="000000"/>
                </a:solidFill>
              </a:rPr>
              <a:t>• Use clear, neutral language without suggesting a positive or negative answer.</a:t>
            </a:r>
            <a:endParaRPr lang="en-US" sz="1600">
              <a:solidFill>
                <a:srgbClr val="000000"/>
              </a:solidFill>
            </a:endParaRPr>
          </a:p>
          <a:p>
            <a:pPr>
              <a:lnSpc>
                <a:spcPct val="100000"/>
              </a:lnSpc>
              <a:spcBef>
                <a:spcPts val="1200"/>
              </a:spcBef>
              <a:spcAft>
                <a:spcPts val="0"/>
              </a:spcAft>
              <a:defRPr sz="1500" b="0" i="0">
                <a:solidFill>
                  <a:srgbClr val="161415"/>
                </a:solidFill>
                <a:latin typeface="Aptos"/>
              </a:defRPr>
            </a:pPr>
            <a:r>
              <a:rPr sz="1600" dirty="0">
                <a:solidFill>
                  <a:srgbClr val="000000"/>
                </a:solidFill>
              </a:rPr>
              <a:t>• Ask about specific tasks, steps, incidents and frequencies.</a:t>
            </a:r>
            <a:endParaRPr lang="en-US" sz="1600">
              <a:solidFill>
                <a:srgbClr val="000000"/>
              </a:solidFill>
            </a:endParaRPr>
          </a:p>
          <a:p>
            <a:pPr>
              <a:lnSpc>
                <a:spcPct val="100000"/>
              </a:lnSpc>
              <a:spcBef>
                <a:spcPts val="1200"/>
              </a:spcBef>
              <a:spcAft>
                <a:spcPts val="0"/>
              </a:spcAft>
              <a:defRPr sz="1500" b="0" i="0">
                <a:solidFill>
                  <a:srgbClr val="161415"/>
                </a:solidFill>
                <a:latin typeface="Aptos"/>
              </a:defRPr>
            </a:pPr>
            <a:r>
              <a:rPr sz="1600" dirty="0">
                <a:solidFill>
                  <a:srgbClr val="000000"/>
                </a:solidFill>
              </a:rPr>
              <a:t>• Provide complete response options; include “Other” or “Not applicable” where relevant.</a:t>
            </a:r>
            <a:endParaRPr lang="en-US" sz="1600">
              <a:solidFill>
                <a:srgbClr val="000000"/>
              </a:solidFill>
            </a:endParaRPr>
          </a:p>
          <a:p>
            <a:pPr>
              <a:lnSpc>
                <a:spcPct val="100000"/>
              </a:lnSpc>
              <a:spcBef>
                <a:spcPts val="1200"/>
              </a:spcBef>
              <a:spcAft>
                <a:spcPts val="0"/>
              </a:spcAft>
              <a:defRPr sz="1500" b="0" i="0">
                <a:solidFill>
                  <a:srgbClr val="161415"/>
                </a:solidFill>
                <a:latin typeface="Aptos"/>
              </a:defRPr>
            </a:pPr>
            <a:r>
              <a:rPr sz="1600" dirty="0">
                <a:solidFill>
                  <a:srgbClr val="000000"/>
                </a:solidFill>
              </a:rPr>
              <a:t>• Avoid questions that combine two different issues.</a:t>
            </a:r>
            <a:endParaRPr lang="en-US" sz="1600">
              <a:solidFill>
                <a:srgbClr val="000000"/>
              </a:solidFill>
            </a:endParaRPr>
          </a:p>
          <a:p>
            <a:pPr>
              <a:lnSpc>
                <a:spcPct val="100000"/>
              </a:lnSpc>
              <a:spcBef>
                <a:spcPts val="1200"/>
              </a:spcBef>
              <a:spcAft>
                <a:spcPts val="0"/>
              </a:spcAft>
              <a:defRPr sz="1500" b="0" i="0">
                <a:solidFill>
                  <a:srgbClr val="161415"/>
                </a:solidFill>
                <a:latin typeface="Aptos"/>
              </a:defRPr>
            </a:pPr>
            <a:r>
              <a:rPr sz="1600" dirty="0">
                <a:solidFill>
                  <a:srgbClr val="000000"/>
                </a:solidFill>
              </a:rPr>
              <a:t>• Remove interesting questions whose answers will not change any requirement decision.</a:t>
            </a:r>
            <a:endParaRPr lang="en-US" sz="1600">
              <a:solidFill>
                <a:srgbClr val="000000"/>
              </a:solidFill>
            </a:endParaRPr>
          </a:p>
        </p:txBody>
      </p:sp>
      <p:sp>
        <p:nvSpPr>
          <p:cNvPr id="24" name="TextBox 23">
            <a:extLst>
              <a:ext uri="{FF2B5EF4-FFF2-40B4-BE49-F238E27FC236}">
                <a16:creationId xmlns:a16="http://schemas.microsoft.com/office/drawing/2014/main" id="{26E5CFFD-3DE9-14D3-3E9E-278794B05C82}"/>
              </a:ext>
            </a:extLst>
          </p:cNvPr>
          <p:cNvSpPr txBox="1"/>
          <p:nvPr/>
        </p:nvSpPr>
        <p:spPr>
          <a:xfrm>
            <a:off x="411480" y="365760"/>
            <a:ext cx="11365992" cy="512064"/>
          </a:xfrm>
          <a:prstGeom prst="rect">
            <a:avLst/>
          </a:prstGeom>
          <a:noFill/>
        </p:spPr>
        <p:txBody>
          <a:bodyPr wrap="square" lIns="0" tIns="0" rIns="0" bIns="0" anchor="ctr">
            <a:noAutofit/>
          </a:bodyPr>
          <a:lstStyle/>
          <a:p>
            <a:pPr algn="l"/>
            <a:r>
              <a:rPr sz="3200" b="1" i="1" dirty="0">
                <a:solidFill>
                  <a:srgbClr val="111111"/>
                </a:solidFill>
                <a:latin typeface="Georgia"/>
                <a:ea typeface="Georgia"/>
                <a:cs typeface="Georgia"/>
              </a:rPr>
              <a:t>Question Design</a:t>
            </a:r>
            <a:r>
              <a:rPr lang="en-US" sz="3200" b="1" i="1" dirty="0">
                <a:solidFill>
                  <a:srgbClr val="111111"/>
                </a:solidFill>
                <a:latin typeface="Georgia"/>
                <a:ea typeface="Georgia"/>
                <a:cs typeface="Georgia"/>
              </a:rPr>
              <a:t>ing for Survey</a:t>
            </a:r>
            <a:endParaRPr sz="3200" b="1" i="1" dirty="0">
              <a:solidFill>
                <a:srgbClr val="111111"/>
              </a:solidFill>
              <a:latin typeface="Georgia"/>
              <a:ea typeface="Georgia"/>
              <a:cs typeface="Georgia"/>
            </a:endParaRPr>
          </a:p>
        </p:txBody>
      </p:sp>
    </p:spTree>
    <p:extLst>
      <p:ext uri="{BB962C8B-B14F-4D97-AF65-F5344CB8AC3E}">
        <p14:creationId xmlns:p14="http://schemas.microsoft.com/office/powerpoint/2010/main" val="24187431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307F09A-FE65-AD7C-9577-9089FE56451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4022C23-3EEF-105D-B12E-B5206BBEC339}"/>
              </a:ext>
            </a:extLst>
          </p:cNvPr>
          <p:cNvSpPr/>
          <p:nvPr/>
        </p:nvSpPr>
        <p:spPr>
          <a:xfrm>
            <a:off x="411480" y="155448"/>
            <a:ext cx="5486400" cy="201168"/>
          </a:xfrm>
          <a:prstGeom prst="rect">
            <a:avLst/>
          </a:prstGeom>
          <a:noFill/>
          <a:ln/>
        </p:spPr>
        <p:txBody>
          <a:bodyPr wrap="square" lIns="0" tIns="0" rIns="0" bIns="0" rtlCol="0" anchor="ctr">
            <a:noAutofit/>
          </a:bodyPr>
          <a:lstStyle/>
          <a:p>
            <a:pPr marL="0" indent="0">
              <a:buNone/>
            </a:pPr>
            <a:r>
              <a:rPr lang="en-US" sz="1100" b="1" dirty="0">
                <a:solidFill>
                  <a:srgbClr val="B4001B"/>
                </a:solidFill>
                <a:latin typeface="Aptos" pitchFamily="34" charset="0"/>
                <a:ea typeface="Aptos" pitchFamily="34" charset="-122"/>
                <a:cs typeface="Aptos" pitchFamily="34" charset="-120"/>
              </a:rPr>
              <a:t>SURVEYS</a:t>
            </a:r>
            <a:endParaRPr lang="en-US" sz="1100" b="1" dirty="0"/>
          </a:p>
        </p:txBody>
      </p:sp>
      <p:sp>
        <p:nvSpPr>
          <p:cNvPr id="5" name="Text 3">
            <a:extLst>
              <a:ext uri="{FF2B5EF4-FFF2-40B4-BE49-F238E27FC236}">
                <a16:creationId xmlns:a16="http://schemas.microsoft.com/office/drawing/2014/main" id="{5184BE93-129C-1D54-37A5-278429C291BE}"/>
              </a:ext>
            </a:extLst>
          </p:cNvPr>
          <p:cNvSpPr/>
          <p:nvPr/>
        </p:nvSpPr>
        <p:spPr>
          <a:xfrm>
            <a:off x="502920" y="6565392"/>
            <a:ext cx="1280160" cy="109728"/>
          </a:xfrm>
          <a:prstGeom prst="rect">
            <a:avLst/>
          </a:prstGeom>
          <a:noFill/>
          <a:ln/>
        </p:spPr>
        <p:txBody>
          <a:bodyPr wrap="square" rtlCol="0" anchor="ctr"/>
          <a:lstStyle/>
          <a:p>
            <a:pPr marL="0" indent="0">
              <a:buNone/>
            </a:pPr>
            <a:r>
              <a:rPr lang="en-US" sz="790" dirty="0">
                <a:solidFill>
                  <a:srgbClr val="777777"/>
                </a:solidFill>
                <a:latin typeface="Aptos" pitchFamily="34" charset="0"/>
                <a:ea typeface="Aptos" pitchFamily="34" charset="-122"/>
                <a:cs typeface="Aptos" pitchFamily="34" charset="-120"/>
              </a:rPr>
              <a:t>1/28/2026</a:t>
            </a:r>
            <a:endParaRPr lang="en-US" sz="790" dirty="0"/>
          </a:p>
        </p:txBody>
      </p:sp>
      <p:sp>
        <p:nvSpPr>
          <p:cNvPr id="6" name="Text 4">
            <a:extLst>
              <a:ext uri="{FF2B5EF4-FFF2-40B4-BE49-F238E27FC236}">
                <a16:creationId xmlns:a16="http://schemas.microsoft.com/office/drawing/2014/main" id="{2130CA06-5DE2-0018-5CC0-480AA2F7FD2C}"/>
              </a:ext>
            </a:extLst>
          </p:cNvPr>
          <p:cNvSpPr/>
          <p:nvPr/>
        </p:nvSpPr>
        <p:spPr>
          <a:xfrm>
            <a:off x="5257800" y="6565392"/>
            <a:ext cx="1645920" cy="109728"/>
          </a:xfrm>
          <a:prstGeom prst="rect">
            <a:avLst/>
          </a:prstGeom>
          <a:noFill/>
          <a:ln/>
        </p:spPr>
        <p:txBody>
          <a:bodyPr wrap="square" rtlCol="0" anchor="ctr"/>
          <a:lstStyle/>
          <a:p>
            <a:pPr marL="0" indent="0" algn="ctr">
              <a:buNone/>
            </a:pPr>
            <a:r>
              <a:rPr lang="en-US" sz="790" dirty="0">
                <a:solidFill>
                  <a:srgbClr val="777777"/>
                </a:solidFill>
                <a:latin typeface="Aptos" pitchFamily="34" charset="0"/>
                <a:ea typeface="Aptos" pitchFamily="34" charset="-122"/>
                <a:cs typeface="Aptos" pitchFamily="34" charset="-120"/>
              </a:rPr>
              <a:t>Md. Manirujjaman</a:t>
            </a:r>
            <a:endParaRPr lang="en-US" sz="790" dirty="0"/>
          </a:p>
        </p:txBody>
      </p:sp>
      <p:sp>
        <p:nvSpPr>
          <p:cNvPr id="7" name="Shape 5">
            <a:extLst>
              <a:ext uri="{FF2B5EF4-FFF2-40B4-BE49-F238E27FC236}">
                <a16:creationId xmlns:a16="http://schemas.microsoft.com/office/drawing/2014/main" id="{09B4214B-7245-ECCD-4698-9DB1057CC01B}"/>
              </a:ext>
            </a:extLst>
          </p:cNvPr>
          <p:cNvSpPr/>
          <p:nvPr/>
        </p:nvSpPr>
        <p:spPr>
          <a:xfrm>
            <a:off x="11430000" y="6327648"/>
            <a:ext cx="274320" cy="274320"/>
          </a:xfrm>
          <a:prstGeom prst="ellipse">
            <a:avLst/>
          </a:prstGeom>
          <a:solidFill>
            <a:srgbClr val="B4001B"/>
          </a:solidFill>
          <a:ln w="12700">
            <a:solidFill>
              <a:srgbClr val="B4001B"/>
            </a:solidFill>
            <a:prstDash val="solid"/>
          </a:ln>
        </p:spPr>
        <p:txBody>
          <a:bodyPr wrap="none" lIns="0" tIns="0" rIns="0" bIns="0" anchor="ctr"/>
          <a:lstStyle/>
          <a:p>
            <a:pPr algn="ctr"/>
            <a:fld id="{8A2B6C1E-3F4D-4E5A-9B7C-1D2E3F4A5B6C}" type="slidenum">
              <a:rPr lang="en-US" sz="900" b="1">
                <a:solidFill>
                  <a:srgbClr val="FFFFFF"/>
                </a:solidFill>
                <a:latin typeface="Aptos"/>
              </a:rPr>
              <a:t>15</a:t>
            </a:fld>
            <a:endParaRPr lang="en-US" sz="900" b="1">
              <a:solidFill>
                <a:srgbClr val="FFFFFF"/>
              </a:solidFill>
              <a:latin typeface="Aptos"/>
            </a:endParaRPr>
          </a:p>
        </p:txBody>
      </p:sp>
      <p:sp>
        <p:nvSpPr>
          <p:cNvPr id="4" name="TextBox 3">
            <a:extLst>
              <a:ext uri="{FF2B5EF4-FFF2-40B4-BE49-F238E27FC236}">
                <a16:creationId xmlns:a16="http://schemas.microsoft.com/office/drawing/2014/main" id="{56C5EAE8-C366-7A4F-0170-8B47AF5DAF2A}"/>
              </a:ext>
            </a:extLst>
          </p:cNvPr>
          <p:cNvSpPr txBox="1"/>
          <p:nvPr/>
        </p:nvSpPr>
        <p:spPr>
          <a:xfrm>
            <a:off x="411480" y="365760"/>
            <a:ext cx="11365992" cy="512064"/>
          </a:xfrm>
          <a:prstGeom prst="rect">
            <a:avLst/>
          </a:prstGeom>
          <a:noFill/>
        </p:spPr>
        <p:txBody>
          <a:bodyPr wrap="square" lIns="0" tIns="0" rIns="0" bIns="0" anchor="ctr">
            <a:noAutofit/>
          </a:bodyPr>
          <a:lstStyle/>
          <a:p>
            <a:pPr algn="l"/>
            <a:r>
              <a:rPr sz="3200" b="1" i="1" dirty="0">
                <a:solidFill>
                  <a:srgbClr val="111111"/>
                </a:solidFill>
                <a:latin typeface="Georgia"/>
                <a:ea typeface="Georgia"/>
                <a:cs typeface="Georgia"/>
              </a:rPr>
              <a:t>Survey Length, Delivery and Participation</a:t>
            </a:r>
            <a:endParaRPr lang="en-US" sz="3200" b="1" i="1">
              <a:solidFill>
                <a:srgbClr val="111111"/>
              </a:solidFill>
              <a:latin typeface="Georgia"/>
              <a:ea typeface="Georgia"/>
              <a:cs typeface="Georgia"/>
            </a:endParaRPr>
          </a:p>
        </p:txBody>
      </p:sp>
      <p:sp>
        <p:nvSpPr>
          <p:cNvPr id="9" name="TextBox 8">
            <a:extLst>
              <a:ext uri="{FF2B5EF4-FFF2-40B4-BE49-F238E27FC236}">
                <a16:creationId xmlns:a16="http://schemas.microsoft.com/office/drawing/2014/main" id="{9CACD8F4-D80C-210D-78E4-98F3EC0285C5}"/>
              </a:ext>
            </a:extLst>
          </p:cNvPr>
          <p:cNvSpPr txBox="1"/>
          <p:nvPr/>
        </p:nvSpPr>
        <p:spPr>
          <a:xfrm>
            <a:off x="411480" y="932688"/>
            <a:ext cx="11365992" cy="280416"/>
          </a:xfrm>
          <a:prstGeom prst="rect">
            <a:avLst/>
          </a:prstGeom>
          <a:noFill/>
        </p:spPr>
        <p:txBody>
          <a:bodyPr wrap="square" lIns="0" tIns="0" rIns="0" bIns="0" anchor="t">
            <a:noAutofit/>
          </a:bodyPr>
          <a:lstStyle/>
          <a:p>
            <a:pPr algn="l">
              <a:lnSpc>
                <a:spcPct val="100000"/>
              </a:lnSpc>
            </a:pPr>
            <a:r>
              <a:rPr sz="1600" b="0" i="1" dirty="0">
                <a:solidFill>
                  <a:srgbClr val="000000"/>
                </a:solidFill>
                <a:latin typeface="Aptos"/>
                <a:ea typeface="Aptos"/>
                <a:cs typeface="Aptos"/>
              </a:rPr>
              <a:t>A shorter, well-structured survey often produces more useful responses than a long questionnaire.</a:t>
            </a:r>
            <a:endParaRPr lang="en-US" sz="1600" b="0" i="1">
              <a:solidFill>
                <a:srgbClr val="000000"/>
              </a:solidFill>
              <a:latin typeface="Aptos"/>
              <a:ea typeface="Aptos"/>
              <a:cs typeface="Aptos"/>
            </a:endParaRPr>
          </a:p>
        </p:txBody>
      </p:sp>
      <p:sp>
        <p:nvSpPr>
          <p:cNvPr id="11" name="Rectangle 10">
            <a:extLst>
              <a:ext uri="{FF2B5EF4-FFF2-40B4-BE49-F238E27FC236}">
                <a16:creationId xmlns:a16="http://schemas.microsoft.com/office/drawing/2014/main" id="{441B8F05-3F3D-A85D-DD5F-37E6695D147D}"/>
              </a:ext>
            </a:extLst>
          </p:cNvPr>
          <p:cNvSpPr/>
          <p:nvPr/>
        </p:nvSpPr>
        <p:spPr>
          <a:xfrm>
            <a:off x="411480" y="1359408"/>
            <a:ext cx="3605784" cy="4840224"/>
          </a:xfrm>
          <a:prstGeom prst="rect">
            <a:avLst/>
          </a:prstGeom>
          <a:solidFill>
            <a:srgbClr val="FCF5F6"/>
          </a:solidFill>
          <a:ln w="10160">
            <a:solidFill>
              <a:srgbClr val="E2D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EACAF740-2CA8-69FD-A41A-BC1EBDC6E0E5}"/>
              </a:ext>
            </a:extLst>
          </p:cNvPr>
          <p:cNvSpPr txBox="1"/>
          <p:nvPr/>
        </p:nvSpPr>
        <p:spPr>
          <a:xfrm>
            <a:off x="594360" y="1505711"/>
            <a:ext cx="3294887" cy="627888"/>
          </a:xfrm>
          <a:prstGeom prst="rect">
            <a:avLst/>
          </a:prstGeom>
          <a:noFill/>
        </p:spPr>
        <p:txBody>
          <a:bodyPr wrap="square" lIns="0" tIns="0" rIns="0" bIns="0" anchor="t">
            <a:noAutofit/>
          </a:bodyPr>
          <a:lstStyle/>
          <a:p>
            <a:pPr algn="l">
              <a:lnSpc>
                <a:spcPct val="100000"/>
              </a:lnSpc>
              <a:defRPr sz="2000" b="1" i="1">
                <a:solidFill>
                  <a:srgbClr val="161415"/>
                </a:solidFill>
                <a:latin typeface="Georgia"/>
              </a:defRPr>
            </a:pPr>
            <a:r>
              <a:rPr sz="2000" b="1" i="1" dirty="0">
                <a:solidFill>
                  <a:srgbClr val="111111"/>
                </a:solidFill>
                <a:latin typeface="Georgia"/>
                <a:ea typeface="Georgia"/>
                <a:cs typeface="Georgia"/>
              </a:rPr>
              <a:t>Reduce Response Burden</a:t>
            </a:r>
            <a:endParaRPr lang="en-US" sz="2000" b="1" i="1">
              <a:solidFill>
                <a:srgbClr val="111111"/>
              </a:solidFill>
              <a:latin typeface="Georgia"/>
              <a:ea typeface="Georgia"/>
              <a:cs typeface="Georgia"/>
            </a:endParaRPr>
          </a:p>
        </p:txBody>
      </p:sp>
      <p:sp>
        <p:nvSpPr>
          <p:cNvPr id="15" name="TextBox 14">
            <a:extLst>
              <a:ext uri="{FF2B5EF4-FFF2-40B4-BE49-F238E27FC236}">
                <a16:creationId xmlns:a16="http://schemas.microsoft.com/office/drawing/2014/main" id="{B3A7D532-623A-6EC7-D842-623104C8AEBD}"/>
              </a:ext>
            </a:extLst>
          </p:cNvPr>
          <p:cNvSpPr txBox="1"/>
          <p:nvPr/>
        </p:nvSpPr>
        <p:spPr>
          <a:xfrm>
            <a:off x="594360" y="2261616"/>
            <a:ext cx="3240024" cy="3810000"/>
          </a:xfrm>
          <a:prstGeom prst="rect">
            <a:avLst/>
          </a:prstGeom>
          <a:noFill/>
        </p:spPr>
        <p:txBody>
          <a:bodyPr wrap="square" lIns="0" tIns="0" rIns="0" bIns="0" anchor="t">
            <a:noAutofit/>
          </a:bodyPr>
          <a:lstStyle/>
          <a:p>
            <a:pPr>
              <a:lnSpc>
                <a:spcPct val="100000"/>
              </a:lnSpc>
              <a:spcBef>
                <a:spcPts val="0"/>
              </a:spcBef>
              <a:spcAft>
                <a:spcPts val="0"/>
              </a:spcAft>
              <a:defRPr sz="1400" b="0" i="0">
                <a:solidFill>
                  <a:srgbClr val="161415"/>
                </a:solidFill>
                <a:latin typeface="Aptos"/>
              </a:defRPr>
            </a:pPr>
            <a:r>
              <a:rPr sz="1600" dirty="0">
                <a:solidFill>
                  <a:srgbClr val="000000"/>
                </a:solidFill>
              </a:rPr>
              <a:t>• Keep only necessary questions. A focused 6–8 core items may be enough; about 10–12 total is a practical target, not a fixed rule.</a:t>
            </a:r>
            <a:endParaRPr lang="en-US" sz="1600" dirty="0">
              <a:solidFill>
                <a:srgbClr val="000000"/>
              </a:solidFill>
            </a:endParaRPr>
          </a:p>
          <a:p>
            <a:pPr>
              <a:lnSpc>
                <a:spcPct val="100000"/>
              </a:lnSpc>
              <a:spcBef>
                <a:spcPts val="600"/>
              </a:spcBef>
              <a:spcAft>
                <a:spcPts val="0"/>
              </a:spcAft>
              <a:defRPr sz="1400" b="0" i="0">
                <a:solidFill>
                  <a:srgbClr val="161415"/>
                </a:solidFill>
                <a:latin typeface="Aptos"/>
              </a:defRPr>
            </a:pPr>
            <a:r>
              <a:rPr sz="1600" dirty="0">
                <a:solidFill>
                  <a:srgbClr val="000000"/>
                </a:solidFill>
              </a:rPr>
              <a:t>• Use open-ended questions selectively: they take more effort to answer and analyze.</a:t>
            </a:r>
            <a:endParaRPr lang="en-US" sz="1600" dirty="0">
              <a:solidFill>
                <a:srgbClr val="000000"/>
              </a:solidFill>
            </a:endParaRPr>
          </a:p>
          <a:p>
            <a:pPr>
              <a:lnSpc>
                <a:spcPct val="100000"/>
              </a:lnSpc>
              <a:spcBef>
                <a:spcPts val="600"/>
              </a:spcBef>
              <a:spcAft>
                <a:spcPts val="0"/>
              </a:spcAft>
              <a:defRPr sz="1400" b="0" i="0">
                <a:solidFill>
                  <a:srgbClr val="161415"/>
                </a:solidFill>
                <a:latin typeface="Aptos"/>
              </a:defRPr>
            </a:pPr>
            <a:r>
              <a:rPr sz="1600" dirty="0">
                <a:solidFill>
                  <a:srgbClr val="000000"/>
                </a:solidFill>
              </a:rPr>
              <a:t>• Avoid large rating matrices that are difficult to use on phones.</a:t>
            </a:r>
            <a:endParaRPr lang="en-US" sz="1600" dirty="0">
              <a:solidFill>
                <a:srgbClr val="000000"/>
              </a:solidFill>
            </a:endParaRPr>
          </a:p>
          <a:p>
            <a:pPr>
              <a:lnSpc>
                <a:spcPct val="100000"/>
              </a:lnSpc>
              <a:spcBef>
                <a:spcPts val="600"/>
              </a:spcBef>
              <a:spcAft>
                <a:spcPts val="0"/>
              </a:spcAft>
              <a:defRPr sz="1400" b="0" i="0">
                <a:solidFill>
                  <a:srgbClr val="161415"/>
                </a:solidFill>
                <a:latin typeface="Aptos"/>
              </a:defRPr>
            </a:pPr>
            <a:r>
              <a:rPr sz="1600" dirty="0">
                <a:solidFill>
                  <a:srgbClr val="000000"/>
                </a:solidFill>
              </a:rPr>
              <a:t>• Test the survey on both desktop and mobile before distribution.</a:t>
            </a:r>
            <a:endParaRPr lang="en-US" sz="1600" dirty="0">
              <a:solidFill>
                <a:srgbClr val="000000"/>
              </a:solidFill>
            </a:endParaRPr>
          </a:p>
          <a:p>
            <a:pPr>
              <a:lnSpc>
                <a:spcPct val="100000"/>
              </a:lnSpc>
              <a:spcBef>
                <a:spcPts val="600"/>
              </a:spcBef>
              <a:spcAft>
                <a:spcPts val="0"/>
              </a:spcAft>
              <a:defRPr sz="1400" b="0" i="0">
                <a:solidFill>
                  <a:srgbClr val="161415"/>
                </a:solidFill>
                <a:latin typeface="Aptos"/>
              </a:defRPr>
            </a:pPr>
            <a:r>
              <a:rPr sz="1600" dirty="0">
                <a:solidFill>
                  <a:srgbClr val="000000"/>
                </a:solidFill>
              </a:rPr>
              <a:t>• Long surveys may cause fatigue, skipped answers and dropouts.</a:t>
            </a:r>
            <a:endParaRPr lang="en-US" sz="1600" dirty="0">
              <a:solidFill>
                <a:srgbClr val="000000"/>
              </a:solidFill>
            </a:endParaRPr>
          </a:p>
        </p:txBody>
      </p:sp>
      <p:sp>
        <p:nvSpPr>
          <p:cNvPr id="17" name="Rectangle 16">
            <a:extLst>
              <a:ext uri="{FF2B5EF4-FFF2-40B4-BE49-F238E27FC236}">
                <a16:creationId xmlns:a16="http://schemas.microsoft.com/office/drawing/2014/main" id="{920F7C8A-264B-3E42-28EC-7C94B7381299}"/>
              </a:ext>
            </a:extLst>
          </p:cNvPr>
          <p:cNvSpPr/>
          <p:nvPr/>
        </p:nvSpPr>
        <p:spPr>
          <a:xfrm>
            <a:off x="4291584" y="1359408"/>
            <a:ext cx="3605784" cy="4840224"/>
          </a:xfrm>
          <a:prstGeom prst="rect">
            <a:avLst/>
          </a:prstGeom>
          <a:solidFill>
            <a:srgbClr val="FFFFFF"/>
          </a:solidFill>
          <a:ln w="10160">
            <a:solidFill>
              <a:srgbClr val="E2D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0F57B96B-4334-82D6-B353-8BCA58E55C79}"/>
              </a:ext>
            </a:extLst>
          </p:cNvPr>
          <p:cNvSpPr txBox="1"/>
          <p:nvPr/>
        </p:nvSpPr>
        <p:spPr>
          <a:xfrm>
            <a:off x="4474464" y="1505711"/>
            <a:ext cx="3294888" cy="627888"/>
          </a:xfrm>
          <a:prstGeom prst="rect">
            <a:avLst/>
          </a:prstGeom>
          <a:noFill/>
        </p:spPr>
        <p:txBody>
          <a:bodyPr wrap="square" lIns="0" tIns="0" rIns="0" bIns="0" anchor="t">
            <a:noAutofit/>
          </a:bodyPr>
          <a:lstStyle/>
          <a:p>
            <a:pPr algn="l">
              <a:lnSpc>
                <a:spcPct val="100000"/>
              </a:lnSpc>
              <a:defRPr sz="2000" b="1" i="1">
                <a:solidFill>
                  <a:srgbClr val="161415"/>
                </a:solidFill>
                <a:latin typeface="Georgia"/>
              </a:defRPr>
            </a:pPr>
            <a:r>
              <a:rPr sz="2000" b="1" i="1" dirty="0">
                <a:solidFill>
                  <a:srgbClr val="111111"/>
                </a:solidFill>
                <a:latin typeface="Georgia"/>
                <a:ea typeface="Georgia"/>
                <a:cs typeface="Georgia"/>
              </a:rPr>
              <a:t>Choose the Right Tool</a:t>
            </a:r>
            <a:endParaRPr lang="en-US" sz="2000" b="1" i="1">
              <a:solidFill>
                <a:srgbClr val="111111"/>
              </a:solidFill>
              <a:latin typeface="Georgia"/>
              <a:ea typeface="Georgia"/>
              <a:cs typeface="Georgia"/>
            </a:endParaRPr>
          </a:p>
        </p:txBody>
      </p:sp>
      <p:sp>
        <p:nvSpPr>
          <p:cNvPr id="21" name="TextBox 20">
            <a:extLst>
              <a:ext uri="{FF2B5EF4-FFF2-40B4-BE49-F238E27FC236}">
                <a16:creationId xmlns:a16="http://schemas.microsoft.com/office/drawing/2014/main" id="{C6BFF07B-D4BF-DEDE-BB1E-511A43B6F97E}"/>
              </a:ext>
            </a:extLst>
          </p:cNvPr>
          <p:cNvSpPr txBox="1"/>
          <p:nvPr/>
        </p:nvSpPr>
        <p:spPr>
          <a:xfrm>
            <a:off x="4474464" y="2261616"/>
            <a:ext cx="3240024" cy="3810000"/>
          </a:xfrm>
          <a:prstGeom prst="rect">
            <a:avLst/>
          </a:prstGeom>
          <a:noFill/>
        </p:spPr>
        <p:txBody>
          <a:bodyPr wrap="square" lIns="0" tIns="0" rIns="0" bIns="0" anchor="t">
            <a:noAutofit/>
          </a:bodyPr>
          <a:lstStyle/>
          <a:p>
            <a:pPr>
              <a:lnSpc>
                <a:spcPct val="100000"/>
              </a:lnSpc>
              <a:spcBef>
                <a:spcPts val="0"/>
              </a:spcBef>
              <a:spcAft>
                <a:spcPts val="0"/>
              </a:spcAft>
              <a:defRPr sz="1440" b="0" i="0">
                <a:solidFill>
                  <a:srgbClr val="161415"/>
                </a:solidFill>
                <a:latin typeface="Aptos"/>
              </a:defRPr>
            </a:pPr>
            <a:r>
              <a:rPr sz="1600" dirty="0">
                <a:solidFill>
                  <a:srgbClr val="000000"/>
                </a:solidFill>
              </a:rPr>
              <a:t>• Google Forms, </a:t>
            </a:r>
            <a:r>
              <a:rPr sz="1600" dirty="0" err="1">
                <a:solidFill>
                  <a:srgbClr val="000000"/>
                </a:solidFill>
              </a:rPr>
              <a:t>Typeform</a:t>
            </a:r>
            <a:r>
              <a:rPr sz="1600" dirty="0">
                <a:solidFill>
                  <a:srgbClr val="000000"/>
                </a:solidFill>
              </a:rPr>
              <a:t> or another platform should be selected for participant needs.</a:t>
            </a:r>
            <a:endParaRPr lang="en-US" sz="1600" dirty="0">
              <a:solidFill>
                <a:srgbClr val="000000"/>
              </a:solidFill>
            </a:endParaRPr>
          </a:p>
          <a:p>
            <a:pPr>
              <a:lnSpc>
                <a:spcPct val="100000"/>
              </a:lnSpc>
              <a:spcBef>
                <a:spcPts val="600"/>
              </a:spcBef>
              <a:spcAft>
                <a:spcPts val="0"/>
              </a:spcAft>
              <a:defRPr sz="1440" b="0" i="0">
                <a:solidFill>
                  <a:srgbClr val="161415"/>
                </a:solidFill>
                <a:latin typeface="Aptos"/>
              </a:defRPr>
            </a:pPr>
            <a:r>
              <a:rPr sz="1600" dirty="0">
                <a:solidFill>
                  <a:srgbClr val="000000"/>
                </a:solidFill>
              </a:rPr>
              <a:t>• Check device compatibility, readable layout, required question types and branching logic.</a:t>
            </a:r>
            <a:endParaRPr lang="en-US" sz="1600" dirty="0">
              <a:solidFill>
                <a:srgbClr val="000000"/>
              </a:solidFill>
            </a:endParaRPr>
          </a:p>
          <a:p>
            <a:pPr>
              <a:lnSpc>
                <a:spcPct val="100000"/>
              </a:lnSpc>
              <a:spcBef>
                <a:spcPts val="600"/>
              </a:spcBef>
              <a:spcAft>
                <a:spcPts val="0"/>
              </a:spcAft>
              <a:defRPr sz="1440" b="0" i="0">
                <a:solidFill>
                  <a:srgbClr val="161415"/>
                </a:solidFill>
                <a:latin typeface="Aptos"/>
              </a:defRPr>
            </a:pPr>
            <a:r>
              <a:rPr sz="1600" dirty="0">
                <a:solidFill>
                  <a:srgbClr val="000000"/>
                </a:solidFill>
              </a:rPr>
              <a:t>• Consider access needs, privacy, export format and the analysis process.</a:t>
            </a:r>
            <a:endParaRPr lang="en-US" sz="1600" dirty="0">
              <a:solidFill>
                <a:srgbClr val="000000"/>
              </a:solidFill>
            </a:endParaRPr>
          </a:p>
          <a:p>
            <a:pPr>
              <a:lnSpc>
                <a:spcPct val="100000"/>
              </a:lnSpc>
              <a:spcBef>
                <a:spcPts val="600"/>
              </a:spcBef>
              <a:spcAft>
                <a:spcPts val="0"/>
              </a:spcAft>
              <a:defRPr sz="1440" b="0" i="0">
                <a:solidFill>
                  <a:srgbClr val="161415"/>
                </a:solidFill>
                <a:latin typeface="Aptos"/>
              </a:defRPr>
            </a:pPr>
            <a:r>
              <a:rPr sz="1600" dirty="0">
                <a:solidFill>
                  <a:srgbClr val="000000"/>
                </a:solidFill>
              </a:rPr>
              <a:t>• Choose the tool that gives trustworthy, usable evidence</a:t>
            </a:r>
            <a:r>
              <a:rPr lang="en-US" sz="1600" dirty="0">
                <a:solidFill>
                  <a:srgbClr val="000000"/>
                </a:solidFill>
              </a:rPr>
              <a:t> </a:t>
            </a:r>
            <a:r>
              <a:rPr sz="1600" dirty="0">
                <a:solidFill>
                  <a:srgbClr val="000000"/>
                </a:solidFill>
              </a:rPr>
              <a:t>not simply the one with an attractive appearance.</a:t>
            </a:r>
            <a:endParaRPr lang="en-US" sz="1600" dirty="0">
              <a:solidFill>
                <a:srgbClr val="000000"/>
              </a:solidFill>
            </a:endParaRPr>
          </a:p>
        </p:txBody>
      </p:sp>
      <p:sp>
        <p:nvSpPr>
          <p:cNvPr id="23" name="Rectangle 22">
            <a:extLst>
              <a:ext uri="{FF2B5EF4-FFF2-40B4-BE49-F238E27FC236}">
                <a16:creationId xmlns:a16="http://schemas.microsoft.com/office/drawing/2014/main" id="{6F976C61-5D75-3E96-C0B3-D5D4792D67F8}"/>
              </a:ext>
            </a:extLst>
          </p:cNvPr>
          <p:cNvSpPr/>
          <p:nvPr/>
        </p:nvSpPr>
        <p:spPr>
          <a:xfrm>
            <a:off x="8171688" y="1359408"/>
            <a:ext cx="3605784" cy="4840224"/>
          </a:xfrm>
          <a:prstGeom prst="rect">
            <a:avLst/>
          </a:prstGeom>
          <a:solidFill>
            <a:srgbClr val="FCF5F6"/>
          </a:solidFill>
          <a:ln w="10160">
            <a:solidFill>
              <a:srgbClr val="E2D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a:extLst>
              <a:ext uri="{FF2B5EF4-FFF2-40B4-BE49-F238E27FC236}">
                <a16:creationId xmlns:a16="http://schemas.microsoft.com/office/drawing/2014/main" id="{E97ABD29-903F-B103-230C-182F05A5231A}"/>
              </a:ext>
            </a:extLst>
          </p:cNvPr>
          <p:cNvSpPr txBox="1"/>
          <p:nvPr/>
        </p:nvSpPr>
        <p:spPr>
          <a:xfrm>
            <a:off x="8354568" y="1505711"/>
            <a:ext cx="3294888" cy="627888"/>
          </a:xfrm>
          <a:prstGeom prst="rect">
            <a:avLst/>
          </a:prstGeom>
          <a:noFill/>
        </p:spPr>
        <p:txBody>
          <a:bodyPr wrap="square" lIns="0" tIns="0" rIns="0" bIns="0" anchor="t">
            <a:noAutofit/>
          </a:bodyPr>
          <a:lstStyle/>
          <a:p>
            <a:pPr algn="l">
              <a:lnSpc>
                <a:spcPct val="100000"/>
              </a:lnSpc>
              <a:defRPr sz="2000" b="1" i="1">
                <a:solidFill>
                  <a:srgbClr val="161415"/>
                </a:solidFill>
                <a:latin typeface="Georgia"/>
              </a:defRPr>
            </a:pPr>
            <a:r>
              <a:rPr sz="2000" b="1" i="1" dirty="0">
                <a:solidFill>
                  <a:srgbClr val="111111"/>
                </a:solidFill>
                <a:latin typeface="Georgia"/>
                <a:ea typeface="Georgia"/>
                <a:cs typeface="Georgia"/>
              </a:rPr>
              <a:t>Invitation and Question Order</a:t>
            </a:r>
            <a:endParaRPr lang="en-US" sz="2000" b="1" i="1">
              <a:solidFill>
                <a:srgbClr val="111111"/>
              </a:solidFill>
              <a:latin typeface="Georgia"/>
              <a:ea typeface="Georgia"/>
              <a:cs typeface="Georgia"/>
            </a:endParaRPr>
          </a:p>
        </p:txBody>
      </p:sp>
      <p:sp>
        <p:nvSpPr>
          <p:cNvPr id="27" name="TextBox 26">
            <a:extLst>
              <a:ext uri="{FF2B5EF4-FFF2-40B4-BE49-F238E27FC236}">
                <a16:creationId xmlns:a16="http://schemas.microsoft.com/office/drawing/2014/main" id="{34A15D67-6996-8315-A58A-7B53517D38FB}"/>
              </a:ext>
            </a:extLst>
          </p:cNvPr>
          <p:cNvSpPr txBox="1"/>
          <p:nvPr/>
        </p:nvSpPr>
        <p:spPr>
          <a:xfrm>
            <a:off x="8354568" y="2261616"/>
            <a:ext cx="3240024" cy="3810000"/>
          </a:xfrm>
          <a:prstGeom prst="rect">
            <a:avLst/>
          </a:prstGeom>
          <a:noFill/>
        </p:spPr>
        <p:txBody>
          <a:bodyPr wrap="square" lIns="0" tIns="0" rIns="0" bIns="0" anchor="t">
            <a:noAutofit/>
          </a:bodyPr>
          <a:lstStyle/>
          <a:p>
            <a:pPr>
              <a:lnSpc>
                <a:spcPct val="100000"/>
              </a:lnSpc>
              <a:spcBef>
                <a:spcPts val="0"/>
              </a:spcBef>
              <a:spcAft>
                <a:spcPts val="0"/>
              </a:spcAft>
              <a:defRPr sz="1440" b="0" i="0">
                <a:solidFill>
                  <a:srgbClr val="161415"/>
                </a:solidFill>
                <a:latin typeface="Aptos"/>
              </a:defRPr>
            </a:pPr>
            <a:r>
              <a:rPr sz="1600" dirty="0">
                <a:solidFill>
                  <a:srgbClr val="000000"/>
                </a:solidFill>
              </a:rPr>
              <a:t>• Explain the survey topic, purpose and how responses will be used.</a:t>
            </a:r>
            <a:endParaRPr lang="en-US" sz="1600">
              <a:solidFill>
                <a:srgbClr val="000000"/>
              </a:solidFill>
            </a:endParaRPr>
          </a:p>
          <a:p>
            <a:pPr>
              <a:lnSpc>
                <a:spcPct val="100000"/>
              </a:lnSpc>
              <a:spcBef>
                <a:spcPts val="600"/>
              </a:spcBef>
              <a:spcAft>
                <a:spcPts val="0"/>
              </a:spcAft>
              <a:defRPr sz="1440" b="0" i="0">
                <a:solidFill>
                  <a:srgbClr val="161415"/>
                </a:solidFill>
                <a:latin typeface="Aptos"/>
              </a:defRPr>
            </a:pPr>
            <a:r>
              <a:rPr sz="1600" dirty="0">
                <a:solidFill>
                  <a:srgbClr val="000000"/>
                </a:solidFill>
              </a:rPr>
              <a:t>• Give an honest estimate of completion time.</a:t>
            </a:r>
            <a:endParaRPr lang="en-US" sz="1600">
              <a:solidFill>
                <a:srgbClr val="000000"/>
              </a:solidFill>
            </a:endParaRPr>
          </a:p>
          <a:p>
            <a:pPr>
              <a:lnSpc>
                <a:spcPct val="100000"/>
              </a:lnSpc>
              <a:spcBef>
                <a:spcPts val="600"/>
              </a:spcBef>
              <a:spcAft>
                <a:spcPts val="0"/>
              </a:spcAft>
              <a:defRPr sz="1440" b="0" i="0">
                <a:solidFill>
                  <a:srgbClr val="161415"/>
                </a:solidFill>
                <a:latin typeface="Aptos"/>
              </a:defRPr>
            </a:pPr>
            <a:r>
              <a:rPr sz="1600" dirty="0">
                <a:solidFill>
                  <a:srgbClr val="000000"/>
                </a:solidFill>
              </a:rPr>
              <a:t>• Start with simple task or context questions; place demanding items later.</a:t>
            </a:r>
            <a:endParaRPr lang="en-US" sz="1600">
              <a:solidFill>
                <a:srgbClr val="000000"/>
              </a:solidFill>
            </a:endParaRPr>
          </a:p>
          <a:p>
            <a:pPr>
              <a:lnSpc>
                <a:spcPct val="100000"/>
              </a:lnSpc>
              <a:spcBef>
                <a:spcPts val="600"/>
              </a:spcBef>
              <a:spcAft>
                <a:spcPts val="0"/>
              </a:spcAft>
              <a:defRPr sz="1440" b="0" i="0">
                <a:solidFill>
                  <a:srgbClr val="161415"/>
                </a:solidFill>
                <a:latin typeface="Aptos"/>
              </a:defRPr>
            </a:pPr>
            <a:r>
              <a:rPr sz="1600" dirty="0">
                <a:solidFill>
                  <a:srgbClr val="000000"/>
                </a:solidFill>
              </a:rPr>
              <a:t>• Collect role/device details only if they help compare system needs.</a:t>
            </a:r>
            <a:endParaRPr lang="en-US" sz="1600">
              <a:solidFill>
                <a:srgbClr val="000000"/>
              </a:solidFill>
            </a:endParaRPr>
          </a:p>
          <a:p>
            <a:pPr>
              <a:lnSpc>
                <a:spcPct val="100000"/>
              </a:lnSpc>
              <a:spcBef>
                <a:spcPts val="600"/>
              </a:spcBef>
              <a:spcAft>
                <a:spcPts val="0"/>
              </a:spcAft>
              <a:defRPr sz="1440" b="0" i="0">
                <a:solidFill>
                  <a:srgbClr val="161415"/>
                </a:solidFill>
                <a:latin typeface="Aptos"/>
              </a:defRPr>
            </a:pPr>
            <a:r>
              <a:rPr sz="1600" dirty="0">
                <a:solidFill>
                  <a:srgbClr val="000000"/>
                </a:solidFill>
              </a:rPr>
              <a:t>• Add optional feedback and permission for a follow-up interview when deeper explanation is needed.</a:t>
            </a:r>
            <a:endParaRPr lang="en-US" sz="1600">
              <a:solidFill>
                <a:srgbClr val="000000"/>
              </a:solidFill>
            </a:endParaRPr>
          </a:p>
        </p:txBody>
      </p:sp>
    </p:spTree>
    <p:extLst>
      <p:ext uri="{BB962C8B-B14F-4D97-AF65-F5344CB8AC3E}">
        <p14:creationId xmlns:p14="http://schemas.microsoft.com/office/powerpoint/2010/main" val="19903537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a:extLst>
            <a:ext uri="{FF2B5EF4-FFF2-40B4-BE49-F238E27FC236}">
              <a16:creationId xmlns:a16="http://schemas.microsoft.com/office/drawing/2014/main" id="{02234779-1A34-0849-8224-873DB517315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472A76A-9473-DF87-3876-CFBAB907E140}"/>
              </a:ext>
            </a:extLst>
          </p:cNvPr>
          <p:cNvSpPr/>
          <p:nvPr/>
        </p:nvSpPr>
        <p:spPr>
          <a:xfrm>
            <a:off x="411480" y="155448"/>
            <a:ext cx="5486400" cy="201168"/>
          </a:xfrm>
          <a:prstGeom prst="rect">
            <a:avLst/>
          </a:prstGeom>
          <a:noFill/>
          <a:ln/>
        </p:spPr>
        <p:txBody>
          <a:bodyPr wrap="square" lIns="0" tIns="0" rIns="0" bIns="0" rtlCol="0" anchor="ctr">
            <a:noAutofit/>
          </a:bodyPr>
          <a:lstStyle/>
          <a:p>
            <a:pPr marL="0" indent="0">
              <a:buNone/>
            </a:pPr>
            <a:r>
              <a:rPr lang="en-US" sz="1100" b="1" dirty="0">
                <a:solidFill>
                  <a:srgbClr val="B4001B"/>
                </a:solidFill>
                <a:latin typeface="Aptos" pitchFamily="34" charset="0"/>
                <a:ea typeface="Aptos" pitchFamily="34" charset="-122"/>
                <a:cs typeface="Aptos" pitchFamily="34" charset="-120"/>
              </a:rPr>
              <a:t>SURVEYS</a:t>
            </a:r>
            <a:endParaRPr lang="en-US" sz="1100" b="1" dirty="0"/>
          </a:p>
        </p:txBody>
      </p:sp>
      <p:sp>
        <p:nvSpPr>
          <p:cNvPr id="5" name="Text 3">
            <a:extLst>
              <a:ext uri="{FF2B5EF4-FFF2-40B4-BE49-F238E27FC236}">
                <a16:creationId xmlns:a16="http://schemas.microsoft.com/office/drawing/2014/main" id="{B882F5B5-99A6-DED5-B3FB-667BD9E39893}"/>
              </a:ext>
            </a:extLst>
          </p:cNvPr>
          <p:cNvSpPr/>
          <p:nvPr/>
        </p:nvSpPr>
        <p:spPr>
          <a:xfrm>
            <a:off x="502920" y="6565392"/>
            <a:ext cx="1280160" cy="109728"/>
          </a:xfrm>
          <a:prstGeom prst="rect">
            <a:avLst/>
          </a:prstGeom>
          <a:noFill/>
          <a:ln/>
        </p:spPr>
        <p:txBody>
          <a:bodyPr wrap="square" rtlCol="0" anchor="ctr"/>
          <a:lstStyle/>
          <a:p>
            <a:pPr marL="0" indent="0">
              <a:buNone/>
            </a:pPr>
            <a:r>
              <a:rPr lang="en-US" sz="790" dirty="0">
                <a:solidFill>
                  <a:srgbClr val="777777"/>
                </a:solidFill>
                <a:latin typeface="Aptos" pitchFamily="34" charset="0"/>
                <a:ea typeface="Aptos" pitchFamily="34" charset="-122"/>
                <a:cs typeface="Aptos" pitchFamily="34" charset="-120"/>
              </a:rPr>
              <a:t>1/28/2026</a:t>
            </a:r>
            <a:endParaRPr lang="en-US" sz="790" dirty="0"/>
          </a:p>
        </p:txBody>
      </p:sp>
      <p:sp>
        <p:nvSpPr>
          <p:cNvPr id="6" name="Text 4">
            <a:extLst>
              <a:ext uri="{FF2B5EF4-FFF2-40B4-BE49-F238E27FC236}">
                <a16:creationId xmlns:a16="http://schemas.microsoft.com/office/drawing/2014/main" id="{724CE22D-F0A3-3B7C-4938-CFA89EFB27BE}"/>
              </a:ext>
            </a:extLst>
          </p:cNvPr>
          <p:cNvSpPr/>
          <p:nvPr/>
        </p:nvSpPr>
        <p:spPr>
          <a:xfrm>
            <a:off x="5257800" y="6565392"/>
            <a:ext cx="1645920" cy="109728"/>
          </a:xfrm>
          <a:prstGeom prst="rect">
            <a:avLst/>
          </a:prstGeom>
          <a:noFill/>
          <a:ln/>
        </p:spPr>
        <p:txBody>
          <a:bodyPr wrap="square" rtlCol="0" anchor="ctr"/>
          <a:lstStyle/>
          <a:p>
            <a:pPr marL="0" indent="0" algn="ctr">
              <a:buNone/>
            </a:pPr>
            <a:r>
              <a:rPr lang="en-US" sz="790" dirty="0">
                <a:solidFill>
                  <a:srgbClr val="777777"/>
                </a:solidFill>
                <a:latin typeface="Aptos" pitchFamily="34" charset="0"/>
                <a:ea typeface="Aptos" pitchFamily="34" charset="-122"/>
                <a:cs typeface="Aptos" pitchFamily="34" charset="-120"/>
              </a:rPr>
              <a:t>Md. Manirujjaman</a:t>
            </a:r>
            <a:endParaRPr lang="en-US" sz="790" dirty="0"/>
          </a:p>
        </p:txBody>
      </p:sp>
      <p:sp>
        <p:nvSpPr>
          <p:cNvPr id="7" name="Shape 5">
            <a:extLst>
              <a:ext uri="{FF2B5EF4-FFF2-40B4-BE49-F238E27FC236}">
                <a16:creationId xmlns:a16="http://schemas.microsoft.com/office/drawing/2014/main" id="{A58BDCB8-F9AF-DE3A-8762-4F285D023678}"/>
              </a:ext>
            </a:extLst>
          </p:cNvPr>
          <p:cNvSpPr/>
          <p:nvPr/>
        </p:nvSpPr>
        <p:spPr>
          <a:xfrm>
            <a:off x="11430000" y="6327648"/>
            <a:ext cx="274320" cy="274320"/>
          </a:xfrm>
          <a:prstGeom prst="ellipse">
            <a:avLst/>
          </a:prstGeom>
          <a:solidFill>
            <a:srgbClr val="B4001B"/>
          </a:solidFill>
          <a:ln w="12700">
            <a:solidFill>
              <a:srgbClr val="B4001B"/>
            </a:solidFill>
            <a:prstDash val="solid"/>
          </a:ln>
        </p:spPr>
        <p:txBody>
          <a:bodyPr wrap="none" lIns="0" tIns="0" rIns="0" bIns="0" anchor="ctr"/>
          <a:lstStyle/>
          <a:p>
            <a:pPr algn="ctr"/>
            <a:fld id="{8A2B6C1E-3F4D-4E5A-9B7C-1D2E3F4A5B6C}" type="slidenum">
              <a:rPr lang="en-US" sz="900" b="1">
                <a:solidFill>
                  <a:srgbClr val="FFFFFF"/>
                </a:solidFill>
                <a:latin typeface="Aptos"/>
              </a:rPr>
              <a:t>16</a:t>
            </a:fld>
            <a:endParaRPr lang="en-US" sz="900" b="1">
              <a:solidFill>
                <a:srgbClr val="FFFFFF"/>
              </a:solidFill>
              <a:latin typeface="Aptos"/>
            </a:endParaRPr>
          </a:p>
        </p:txBody>
      </p:sp>
      <p:sp>
        <p:nvSpPr>
          <p:cNvPr id="4" name="Rectangle 3">
            <a:extLst>
              <a:ext uri="{FF2B5EF4-FFF2-40B4-BE49-F238E27FC236}">
                <a16:creationId xmlns:a16="http://schemas.microsoft.com/office/drawing/2014/main" id="{C98969BD-485E-0FE1-0678-EC6CF59D66B1}"/>
              </a:ext>
            </a:extLst>
          </p:cNvPr>
          <p:cNvSpPr/>
          <p:nvPr/>
        </p:nvSpPr>
        <p:spPr>
          <a:xfrm>
            <a:off x="411480" y="1280160"/>
            <a:ext cx="11365992" cy="3835400"/>
          </a:xfrm>
          <a:prstGeom prst="rect">
            <a:avLst/>
          </a:prstGeom>
          <a:solidFill>
            <a:srgbClr val="FFFFFF"/>
          </a:solidFill>
          <a:ln w="10160">
            <a:solidFill>
              <a:srgbClr val="E2D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AD4F614C-4BA1-C2D1-C27E-FEACF753D00C}"/>
              </a:ext>
            </a:extLst>
          </p:cNvPr>
          <p:cNvSpPr txBox="1"/>
          <p:nvPr/>
        </p:nvSpPr>
        <p:spPr>
          <a:xfrm>
            <a:off x="411480" y="365760"/>
            <a:ext cx="11365992" cy="512064"/>
          </a:xfrm>
          <a:prstGeom prst="rect">
            <a:avLst/>
          </a:prstGeom>
          <a:noFill/>
        </p:spPr>
        <p:txBody>
          <a:bodyPr wrap="square" lIns="0" tIns="0" rIns="0" bIns="0" anchor="ctr">
            <a:noAutofit/>
          </a:bodyPr>
          <a:lstStyle/>
          <a:p>
            <a:pPr algn="l"/>
            <a:r>
              <a:rPr lang="en-US" sz="3200" b="1" i="1" dirty="0">
                <a:solidFill>
                  <a:srgbClr val="111111"/>
                </a:solidFill>
                <a:latin typeface="Georgia"/>
                <a:ea typeface="Georgia"/>
                <a:cs typeface="Georgia"/>
              </a:rPr>
              <a:t>Survey: </a:t>
            </a:r>
            <a:r>
              <a:rPr sz="3200" b="1" i="1" dirty="0">
                <a:solidFill>
                  <a:srgbClr val="111111"/>
                </a:solidFill>
                <a:latin typeface="Georgia"/>
                <a:ea typeface="Georgia"/>
                <a:cs typeface="Georgia"/>
              </a:rPr>
              <a:t>Risks and Limitations</a:t>
            </a:r>
            <a:endParaRPr lang="en-US" sz="3200" b="1" i="1">
              <a:solidFill>
                <a:srgbClr val="111111"/>
              </a:solidFill>
              <a:latin typeface="Georgia"/>
              <a:ea typeface="Georgia"/>
              <a:cs typeface="Georgia"/>
            </a:endParaRPr>
          </a:p>
        </p:txBody>
      </p:sp>
      <p:sp>
        <p:nvSpPr>
          <p:cNvPr id="11" name="TextBox 10">
            <a:extLst>
              <a:ext uri="{FF2B5EF4-FFF2-40B4-BE49-F238E27FC236}">
                <a16:creationId xmlns:a16="http://schemas.microsoft.com/office/drawing/2014/main" id="{7A99A3E6-367D-75FB-1852-D5F7BED9CEBC}"/>
              </a:ext>
            </a:extLst>
          </p:cNvPr>
          <p:cNvSpPr txBox="1"/>
          <p:nvPr/>
        </p:nvSpPr>
        <p:spPr>
          <a:xfrm>
            <a:off x="731520" y="1572768"/>
            <a:ext cx="10725912" cy="3378200"/>
          </a:xfrm>
          <a:prstGeom prst="rect">
            <a:avLst/>
          </a:prstGeom>
          <a:noFill/>
        </p:spPr>
        <p:txBody>
          <a:bodyPr wrap="square" lIns="0" tIns="0" rIns="0" bIns="0" anchor="t">
            <a:noAutofit/>
          </a:bodyPr>
          <a:lstStyle/>
          <a:p>
            <a:pPr>
              <a:lnSpc>
                <a:spcPct val="100000"/>
              </a:lnSpc>
              <a:spcBef>
                <a:spcPts val="0"/>
              </a:spcBef>
              <a:spcAft>
                <a:spcPts val="0"/>
              </a:spcAft>
              <a:defRPr sz="1480" b="0" i="0">
                <a:solidFill>
                  <a:srgbClr val="161415"/>
                </a:solidFill>
                <a:latin typeface="Aptos"/>
              </a:defRPr>
            </a:pPr>
            <a:r>
              <a:rPr sz="2000" dirty="0">
                <a:solidFill>
                  <a:srgbClr val="000000"/>
                </a:solidFill>
              </a:rPr>
              <a:t>• Self-report: users may not remember exact events or correctly estimate frequency.</a:t>
            </a:r>
            <a:endParaRPr lang="en-US" sz="2000">
              <a:solidFill>
                <a:srgbClr val="000000"/>
              </a:solidFill>
            </a:endParaRPr>
          </a:p>
          <a:p>
            <a:pPr>
              <a:lnSpc>
                <a:spcPct val="100000"/>
              </a:lnSpc>
              <a:spcBef>
                <a:spcPts val="2600"/>
              </a:spcBef>
              <a:spcAft>
                <a:spcPts val="0"/>
              </a:spcAft>
              <a:defRPr sz="1480" b="0" i="0">
                <a:solidFill>
                  <a:srgbClr val="161415"/>
                </a:solidFill>
                <a:latin typeface="Aptos"/>
              </a:defRPr>
            </a:pPr>
            <a:r>
              <a:rPr sz="2000" dirty="0">
                <a:solidFill>
                  <a:srgbClr val="000000"/>
                </a:solidFill>
              </a:rPr>
              <a:t>• Selection bias: people who answer may differ from those who ignore the survey.</a:t>
            </a:r>
            <a:endParaRPr lang="en-US" sz="2000">
              <a:solidFill>
                <a:srgbClr val="000000"/>
              </a:solidFill>
            </a:endParaRPr>
          </a:p>
          <a:p>
            <a:pPr>
              <a:lnSpc>
                <a:spcPct val="100000"/>
              </a:lnSpc>
              <a:spcBef>
                <a:spcPts val="2600"/>
              </a:spcBef>
              <a:spcAft>
                <a:spcPts val="0"/>
              </a:spcAft>
              <a:defRPr sz="1480" b="0" i="0">
                <a:solidFill>
                  <a:srgbClr val="161415"/>
                </a:solidFill>
                <a:latin typeface="Aptos"/>
              </a:defRPr>
            </a:pPr>
            <a:r>
              <a:rPr sz="2000" dirty="0">
                <a:solidFill>
                  <a:srgbClr val="000000"/>
                </a:solidFill>
              </a:rPr>
              <a:t>• Leading wording or missing options can distort the results.</a:t>
            </a:r>
            <a:endParaRPr lang="en-US" sz="2000">
              <a:solidFill>
                <a:srgbClr val="000000"/>
              </a:solidFill>
            </a:endParaRPr>
          </a:p>
          <a:p>
            <a:pPr>
              <a:lnSpc>
                <a:spcPct val="100000"/>
              </a:lnSpc>
              <a:spcBef>
                <a:spcPts val="2600"/>
              </a:spcBef>
              <a:spcAft>
                <a:spcPts val="0"/>
              </a:spcAft>
              <a:defRPr sz="1480" b="0" i="0">
                <a:solidFill>
                  <a:srgbClr val="161415"/>
                </a:solidFill>
                <a:latin typeface="Aptos"/>
              </a:defRPr>
            </a:pPr>
            <a:r>
              <a:rPr sz="2000" dirty="0">
                <a:solidFill>
                  <a:srgbClr val="000000"/>
                </a:solidFill>
              </a:rPr>
              <a:t>• A large number of answers does not automatically make the sample representative.</a:t>
            </a:r>
            <a:endParaRPr lang="en-US" sz="2000">
              <a:solidFill>
                <a:srgbClr val="000000"/>
              </a:solidFill>
            </a:endParaRPr>
          </a:p>
          <a:p>
            <a:pPr>
              <a:lnSpc>
                <a:spcPct val="100000"/>
              </a:lnSpc>
              <a:spcBef>
                <a:spcPts val="2600"/>
              </a:spcBef>
              <a:spcAft>
                <a:spcPts val="0"/>
              </a:spcAft>
              <a:defRPr sz="1480" b="0" i="0">
                <a:solidFill>
                  <a:srgbClr val="161415"/>
                </a:solidFill>
                <a:latin typeface="Aptos"/>
              </a:defRPr>
            </a:pPr>
            <a:r>
              <a:rPr sz="2000" dirty="0">
                <a:solidFill>
                  <a:srgbClr val="000000"/>
                </a:solidFill>
              </a:rPr>
              <a:t>• Percentages show scale, not root cause. Validate important findings with interviews, observation or system logs before writing SRS.</a:t>
            </a:r>
            <a:endParaRPr lang="en-US" sz="2000">
              <a:solidFill>
                <a:srgbClr val="000000"/>
              </a:solidFill>
            </a:endParaRPr>
          </a:p>
        </p:txBody>
      </p:sp>
    </p:spTree>
    <p:extLst>
      <p:ext uri="{BB962C8B-B14F-4D97-AF65-F5344CB8AC3E}">
        <p14:creationId xmlns:p14="http://schemas.microsoft.com/office/powerpoint/2010/main" val="19024081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55448"/>
            <a:ext cx="5486400" cy="201168"/>
          </a:xfrm>
          <a:prstGeom prst="rect">
            <a:avLst/>
          </a:prstGeom>
          <a:noFill/>
          <a:ln/>
        </p:spPr>
        <p:txBody>
          <a:bodyPr wrap="square" lIns="0" tIns="0" rIns="0" bIns="0" rtlCol="0" anchor="ctr">
            <a:noAutofit/>
          </a:bodyPr>
          <a:lstStyle/>
          <a:p>
            <a:pPr marL="0" indent="0">
              <a:buNone/>
            </a:pPr>
            <a:r>
              <a:rPr lang="en-US" sz="1100" b="1" dirty="0">
                <a:solidFill>
                  <a:srgbClr val="B4001B"/>
                </a:solidFill>
                <a:latin typeface="Aptos" pitchFamily="34" charset="0"/>
                <a:ea typeface="Aptos" pitchFamily="34" charset="-122"/>
                <a:cs typeface="Aptos" pitchFamily="34" charset="-120"/>
              </a:rPr>
              <a:t>DIARY STUDIES</a:t>
            </a:r>
            <a:endParaRPr lang="en-US" sz="1100" b="1" dirty="0"/>
          </a:p>
        </p:txBody>
      </p:sp>
      <p:sp>
        <p:nvSpPr>
          <p:cNvPr id="3" name="Text 1"/>
          <p:cNvSpPr/>
          <p:nvPr/>
        </p:nvSpPr>
        <p:spPr>
          <a:xfrm>
            <a:off x="411480" y="365760"/>
            <a:ext cx="11365992" cy="512064"/>
          </a:xfrm>
          <a:prstGeom prst="rect">
            <a:avLst/>
          </a:prstGeom>
          <a:noFill/>
          <a:ln/>
        </p:spPr>
        <p:txBody>
          <a:bodyPr wrap="square" lIns="0" tIns="0" rIns="0" bIns="0" rtlCol="0" anchor="ctr">
            <a:noAutofit/>
          </a:bodyPr>
          <a:lstStyle/>
          <a:p>
            <a:pPr marL="0" indent="0" algn="l">
              <a:buNone/>
            </a:pPr>
            <a:r>
              <a:rPr lang="en-US" sz="3200" b="1" i="1" dirty="0">
                <a:solidFill>
                  <a:srgbClr val="111111"/>
                </a:solidFill>
                <a:latin typeface="Georgia"/>
                <a:ea typeface="Georgia"/>
                <a:cs typeface="Georgia"/>
              </a:rPr>
              <a:t>Diary Studies: Requirements Across Time</a:t>
            </a:r>
          </a:p>
        </p:txBody>
      </p:sp>
      <p:sp>
        <p:nvSpPr>
          <p:cNvPr id="4" name="Text 2"/>
          <p:cNvSpPr/>
          <p:nvPr/>
        </p:nvSpPr>
        <p:spPr>
          <a:xfrm>
            <a:off x="411480" y="932688"/>
            <a:ext cx="11365992" cy="280416"/>
          </a:xfrm>
          <a:prstGeom prst="rect">
            <a:avLst/>
          </a:prstGeom>
          <a:noFill/>
          <a:ln/>
        </p:spPr>
        <p:txBody>
          <a:bodyPr wrap="square" lIns="0" tIns="0" rIns="0" bIns="0" rtlCol="0" anchor="t">
            <a:noAutofit/>
          </a:bodyPr>
          <a:lstStyle/>
          <a:p>
            <a:pPr marL="0" indent="0" algn="l">
              <a:lnSpc>
                <a:spcPct val="100000"/>
              </a:lnSpc>
              <a:buNone/>
            </a:pPr>
            <a:r>
              <a:rPr lang="en-US" sz="1600" b="0" i="1" dirty="0">
                <a:solidFill>
                  <a:srgbClr val="000000"/>
                </a:solidFill>
                <a:latin typeface="Aptos"/>
                <a:ea typeface="Aptos"/>
                <a:cs typeface="Aptos"/>
              </a:rPr>
              <a:t>A diary study asks participants to record experiences across days or weeks to reveal change, repetition and triggers.</a:t>
            </a:r>
          </a:p>
        </p:txBody>
      </p:sp>
      <p:sp>
        <p:nvSpPr>
          <p:cNvPr id="5" name="Text 3"/>
          <p:cNvSpPr/>
          <p:nvPr/>
        </p:nvSpPr>
        <p:spPr>
          <a:xfrm>
            <a:off x="502920" y="6565392"/>
            <a:ext cx="1280160" cy="109728"/>
          </a:xfrm>
          <a:prstGeom prst="rect">
            <a:avLst/>
          </a:prstGeom>
          <a:noFill/>
          <a:ln/>
        </p:spPr>
        <p:txBody>
          <a:bodyPr wrap="square" rtlCol="0" anchor="ctr"/>
          <a:lstStyle/>
          <a:p>
            <a:pPr marL="0" indent="0">
              <a:buNone/>
            </a:pPr>
            <a:r>
              <a:rPr lang="en-US" sz="790" dirty="0">
                <a:solidFill>
                  <a:srgbClr val="777777"/>
                </a:solidFill>
                <a:latin typeface="Aptos" pitchFamily="34" charset="0"/>
                <a:ea typeface="Aptos" pitchFamily="34" charset="-122"/>
                <a:cs typeface="Aptos" pitchFamily="34" charset="-120"/>
              </a:rPr>
              <a:t>1/28/2026</a:t>
            </a:r>
            <a:endParaRPr lang="en-US" sz="790" dirty="0"/>
          </a:p>
        </p:txBody>
      </p:sp>
      <p:sp>
        <p:nvSpPr>
          <p:cNvPr id="6" name="Text 4"/>
          <p:cNvSpPr/>
          <p:nvPr/>
        </p:nvSpPr>
        <p:spPr>
          <a:xfrm>
            <a:off x="5257800" y="6565392"/>
            <a:ext cx="1645920" cy="109728"/>
          </a:xfrm>
          <a:prstGeom prst="rect">
            <a:avLst/>
          </a:prstGeom>
          <a:noFill/>
          <a:ln/>
        </p:spPr>
        <p:txBody>
          <a:bodyPr wrap="square" rtlCol="0" anchor="ctr"/>
          <a:lstStyle/>
          <a:p>
            <a:pPr marL="0" indent="0" algn="ctr">
              <a:buNone/>
            </a:pPr>
            <a:r>
              <a:rPr lang="en-US" sz="790" dirty="0">
                <a:solidFill>
                  <a:srgbClr val="777777"/>
                </a:solidFill>
                <a:latin typeface="Aptos" pitchFamily="34" charset="0"/>
                <a:ea typeface="Aptos" pitchFamily="34" charset="-122"/>
                <a:cs typeface="Aptos" pitchFamily="34" charset="-120"/>
              </a:rPr>
              <a:t>Md. Manirujjaman</a:t>
            </a:r>
            <a:endParaRPr lang="en-US" sz="790" dirty="0"/>
          </a:p>
        </p:txBody>
      </p:sp>
      <p:sp>
        <p:nvSpPr>
          <p:cNvPr id="7" name="Shape 5"/>
          <p:cNvSpPr/>
          <p:nvPr/>
        </p:nvSpPr>
        <p:spPr>
          <a:xfrm>
            <a:off x="11430000" y="6327648"/>
            <a:ext cx="274320" cy="274320"/>
          </a:xfrm>
          <a:prstGeom prst="ellipse">
            <a:avLst/>
          </a:prstGeom>
          <a:solidFill>
            <a:srgbClr val="B4001B"/>
          </a:solidFill>
          <a:ln w="12700">
            <a:solidFill>
              <a:srgbClr val="B4001B"/>
            </a:solidFill>
            <a:prstDash val="solid"/>
          </a:ln>
        </p:spPr>
        <p:txBody>
          <a:bodyPr wrap="none" lIns="0" tIns="0" rIns="0" bIns="0" anchor="ctr"/>
          <a:lstStyle/>
          <a:p>
            <a:pPr algn="ctr"/>
            <a:fld id="{8A2B6C1E-3F4D-4E5A-9B7C-1D2E3F4A5B6C}" type="slidenum">
              <a:rPr lang="en-US" sz="900" b="1">
                <a:solidFill>
                  <a:srgbClr val="FFFFFF"/>
                </a:solidFill>
                <a:latin typeface="Aptos"/>
              </a:rPr>
              <a:t>17</a:t>
            </a:fld>
            <a:endParaRPr lang="en-US" sz="900" b="1">
              <a:solidFill>
                <a:srgbClr val="FFFFFF"/>
              </a:solidFill>
              <a:latin typeface="Aptos"/>
            </a:endParaRPr>
          </a:p>
        </p:txBody>
      </p:sp>
      <p:sp>
        <p:nvSpPr>
          <p:cNvPr id="9" name="Shape 7"/>
          <p:cNvSpPr/>
          <p:nvPr/>
        </p:nvSpPr>
        <p:spPr>
          <a:xfrm>
            <a:off x="411480" y="1450848"/>
            <a:ext cx="3605784" cy="4748784"/>
          </a:xfrm>
          <a:prstGeom prst="rect">
            <a:avLst/>
          </a:prstGeom>
          <a:solidFill>
            <a:srgbClr val="FFFFFF"/>
          </a:solidFill>
          <a:ln w="12700">
            <a:solidFill>
              <a:srgbClr val="E6DCDC">
                <a:alpha val="95000"/>
              </a:srgbClr>
            </a:solidFill>
            <a:prstDash val="solid"/>
          </a:ln>
        </p:spPr>
        <p:txBody>
          <a:bodyPr/>
          <a:lstStyle/>
          <a:p>
            <a:endParaRPr/>
          </a:p>
        </p:txBody>
      </p:sp>
      <p:sp>
        <p:nvSpPr>
          <p:cNvPr id="10" name="Shape 8"/>
          <p:cNvSpPr/>
          <p:nvPr/>
        </p:nvSpPr>
        <p:spPr>
          <a:xfrm>
            <a:off x="594360" y="1606296"/>
            <a:ext cx="292608" cy="292608"/>
          </a:xfrm>
          <a:prstGeom prst="ellipse">
            <a:avLst/>
          </a:prstGeom>
          <a:solidFill>
            <a:srgbClr val="B4001B"/>
          </a:solidFill>
          <a:ln w="12700">
            <a:solidFill>
              <a:srgbClr val="B4001B"/>
            </a:solidFill>
            <a:prstDash val="solid"/>
          </a:ln>
        </p:spPr>
        <p:txBody>
          <a:bodyPr/>
          <a:lstStyle/>
          <a:p>
            <a:endParaRPr/>
          </a:p>
        </p:txBody>
      </p:sp>
      <p:sp>
        <p:nvSpPr>
          <p:cNvPr id="11" name="Text 9"/>
          <p:cNvSpPr/>
          <p:nvPr/>
        </p:nvSpPr>
        <p:spPr>
          <a:xfrm>
            <a:off x="594360" y="1606296"/>
            <a:ext cx="292608" cy="292608"/>
          </a:xfrm>
          <a:prstGeom prst="rect">
            <a:avLst/>
          </a:prstGeom>
          <a:noFill/>
          <a:ln/>
        </p:spPr>
        <p:txBody>
          <a:bodyPr wrap="non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1</a:t>
            </a:r>
            <a:endParaRPr lang="en-US" sz="1100" b="1" dirty="0"/>
          </a:p>
        </p:txBody>
      </p:sp>
      <p:sp>
        <p:nvSpPr>
          <p:cNvPr id="12" name="Text 10"/>
          <p:cNvSpPr/>
          <p:nvPr/>
        </p:nvSpPr>
        <p:spPr>
          <a:xfrm>
            <a:off x="996695" y="1597152"/>
            <a:ext cx="2892552" cy="323088"/>
          </a:xfrm>
          <a:prstGeom prst="rect">
            <a:avLst/>
          </a:prstGeom>
          <a:noFill/>
          <a:ln/>
        </p:spPr>
        <p:txBody>
          <a:bodyPr wrap="square" lIns="0" tIns="0" rIns="0" bIns="0" rtlCol="0" anchor="t">
            <a:noAutofit/>
          </a:bodyPr>
          <a:lstStyle/>
          <a:p>
            <a:pPr marL="0" indent="0" algn="l">
              <a:lnSpc>
                <a:spcPct val="100000"/>
              </a:lnSpc>
              <a:buNone/>
            </a:pPr>
            <a:r>
              <a:rPr lang="en-US" sz="2000" b="1" i="1" dirty="0">
                <a:solidFill>
                  <a:srgbClr val="111111"/>
                </a:solidFill>
                <a:latin typeface="Georgia"/>
                <a:ea typeface="Georgia"/>
                <a:cs typeface="Georgia"/>
              </a:rPr>
              <a:t>Why Time Matters</a:t>
            </a:r>
          </a:p>
        </p:txBody>
      </p:sp>
      <p:sp>
        <p:nvSpPr>
          <p:cNvPr id="13" name="Text 11"/>
          <p:cNvSpPr/>
          <p:nvPr/>
        </p:nvSpPr>
        <p:spPr>
          <a:xfrm>
            <a:off x="594360" y="2048256"/>
            <a:ext cx="3240024" cy="4023360"/>
          </a:xfrm>
          <a:prstGeom prst="rect">
            <a:avLst/>
          </a:prstGeom>
          <a:noFill/>
          <a:ln/>
        </p:spPr>
        <p:txBody>
          <a:bodyPr wrap="square" lIns="0" tIns="0" rIns="0" bIns="0" rtlCol="0" anchor="t">
            <a:noAutofit/>
          </a:bodyPr>
          <a:lstStyle/>
          <a:p>
            <a:pPr marL="0" indent="0">
              <a:lnSpc>
                <a:spcPct val="100000"/>
              </a:lnSpc>
              <a:spcBef>
                <a:spcPts val="0"/>
              </a:spcBef>
              <a:spcAft>
                <a:spcPts val="0"/>
              </a:spcAft>
              <a:buNone/>
            </a:pPr>
            <a:r>
              <a:rPr lang="en-US" sz="1800" dirty="0">
                <a:solidFill>
                  <a:srgbClr val="000000"/>
                </a:solidFill>
                <a:latin typeface="Aptos" pitchFamily="34" charset="0"/>
                <a:ea typeface="Aptos" pitchFamily="34" charset="-122"/>
                <a:cs typeface="Aptos" pitchFamily="34" charset="-120"/>
              </a:rPr>
              <a:t>Some problems appear only during exams, peak hours, poor connectivity, deadline pressure, fatigue or repeated use. One interview may miss these patterns.</a:t>
            </a:r>
            <a:endParaRPr lang="en-US" sz="1800" dirty="0">
              <a:solidFill>
                <a:srgbClr val="000000"/>
              </a:solidFill>
            </a:endParaRPr>
          </a:p>
        </p:txBody>
      </p:sp>
      <p:sp>
        <p:nvSpPr>
          <p:cNvPr id="14" name="Shape 12"/>
          <p:cNvSpPr/>
          <p:nvPr/>
        </p:nvSpPr>
        <p:spPr>
          <a:xfrm>
            <a:off x="4291584" y="1450848"/>
            <a:ext cx="3605784" cy="4748784"/>
          </a:xfrm>
          <a:prstGeom prst="rect">
            <a:avLst/>
          </a:prstGeom>
          <a:solidFill>
            <a:srgbClr val="FFF9F9"/>
          </a:solidFill>
          <a:ln w="12700">
            <a:solidFill>
              <a:srgbClr val="E6DCDC">
                <a:alpha val="95000"/>
              </a:srgbClr>
            </a:solidFill>
            <a:prstDash val="solid"/>
          </a:ln>
        </p:spPr>
        <p:txBody>
          <a:bodyPr/>
          <a:lstStyle/>
          <a:p>
            <a:endParaRPr/>
          </a:p>
        </p:txBody>
      </p:sp>
      <p:sp>
        <p:nvSpPr>
          <p:cNvPr id="15" name="Shape 13"/>
          <p:cNvSpPr/>
          <p:nvPr/>
        </p:nvSpPr>
        <p:spPr>
          <a:xfrm>
            <a:off x="4474464" y="1606296"/>
            <a:ext cx="292608" cy="292608"/>
          </a:xfrm>
          <a:prstGeom prst="ellipse">
            <a:avLst/>
          </a:prstGeom>
          <a:solidFill>
            <a:srgbClr val="B4001B"/>
          </a:solidFill>
          <a:ln w="12700">
            <a:solidFill>
              <a:srgbClr val="B4001B"/>
            </a:solidFill>
            <a:prstDash val="solid"/>
          </a:ln>
        </p:spPr>
        <p:txBody>
          <a:bodyPr/>
          <a:lstStyle/>
          <a:p>
            <a:endParaRPr/>
          </a:p>
        </p:txBody>
      </p:sp>
      <p:sp>
        <p:nvSpPr>
          <p:cNvPr id="16" name="Text 14"/>
          <p:cNvSpPr/>
          <p:nvPr/>
        </p:nvSpPr>
        <p:spPr>
          <a:xfrm>
            <a:off x="4474464" y="1606296"/>
            <a:ext cx="292608" cy="292608"/>
          </a:xfrm>
          <a:prstGeom prst="rect">
            <a:avLst/>
          </a:prstGeom>
          <a:noFill/>
          <a:ln/>
        </p:spPr>
        <p:txBody>
          <a:bodyPr wrap="non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2</a:t>
            </a:r>
            <a:endParaRPr lang="en-US" sz="1100" b="1" dirty="0"/>
          </a:p>
        </p:txBody>
      </p:sp>
      <p:sp>
        <p:nvSpPr>
          <p:cNvPr id="17" name="Text 15"/>
          <p:cNvSpPr/>
          <p:nvPr/>
        </p:nvSpPr>
        <p:spPr>
          <a:xfrm>
            <a:off x="4876800" y="1597152"/>
            <a:ext cx="2892552" cy="323088"/>
          </a:xfrm>
          <a:prstGeom prst="rect">
            <a:avLst/>
          </a:prstGeom>
          <a:noFill/>
          <a:ln/>
        </p:spPr>
        <p:txBody>
          <a:bodyPr wrap="square" lIns="0" tIns="0" rIns="0" bIns="0" rtlCol="0" anchor="t">
            <a:noAutofit/>
          </a:bodyPr>
          <a:lstStyle/>
          <a:p>
            <a:pPr marL="0" indent="0" algn="l">
              <a:lnSpc>
                <a:spcPct val="100000"/>
              </a:lnSpc>
              <a:buNone/>
            </a:pPr>
            <a:r>
              <a:rPr lang="en-US" sz="2000" b="1" i="1" dirty="0">
                <a:solidFill>
                  <a:srgbClr val="111111"/>
                </a:solidFill>
                <a:latin typeface="Georgia"/>
                <a:ea typeface="Georgia"/>
                <a:cs typeface="Georgia"/>
              </a:rPr>
              <a:t>Entry Strategies</a:t>
            </a:r>
          </a:p>
        </p:txBody>
      </p:sp>
      <p:sp>
        <p:nvSpPr>
          <p:cNvPr id="18" name="Text 16"/>
          <p:cNvSpPr/>
          <p:nvPr/>
        </p:nvSpPr>
        <p:spPr>
          <a:xfrm>
            <a:off x="4474464" y="2048256"/>
            <a:ext cx="3240024" cy="4023360"/>
          </a:xfrm>
          <a:prstGeom prst="rect">
            <a:avLst/>
          </a:prstGeom>
          <a:noFill/>
          <a:ln/>
        </p:spPr>
        <p:txBody>
          <a:bodyPr wrap="square" lIns="0" tIns="0" rIns="0" bIns="0" rtlCol="0" anchor="t">
            <a:noAutofit/>
          </a:bodyPr>
          <a:lstStyle/>
          <a:p>
            <a:pPr marL="0" indent="0">
              <a:lnSpc>
                <a:spcPct val="100000"/>
              </a:lnSpc>
              <a:spcBef>
                <a:spcPts val="0"/>
              </a:spcBef>
              <a:spcAft>
                <a:spcPts val="0"/>
              </a:spcAft>
              <a:buNone/>
            </a:pPr>
            <a:r>
              <a:rPr lang="en-US" sz="1800" dirty="0">
                <a:solidFill>
                  <a:srgbClr val="000000"/>
                </a:solidFill>
                <a:latin typeface="Aptos" pitchFamily="34" charset="0"/>
                <a:ea typeface="Aptos" pitchFamily="34" charset="-122"/>
                <a:cs typeface="Aptos" pitchFamily="34" charset="-120"/>
              </a:rPr>
              <a:t>• Event-triggered: whenever a problem happens</a:t>
            </a:r>
            <a:endParaRPr lang="en-US" sz="1800" dirty="0">
              <a:solidFill>
                <a:srgbClr val="000000"/>
              </a:solidFill>
            </a:endParaRPr>
          </a:p>
          <a:p>
            <a:pPr marL="0" indent="0">
              <a:lnSpc>
                <a:spcPct val="100000"/>
              </a:lnSpc>
              <a:spcBef>
                <a:spcPts val="800"/>
              </a:spcBef>
              <a:spcAft>
                <a:spcPts val="0"/>
              </a:spcAft>
              <a:buNone/>
            </a:pPr>
            <a:r>
              <a:rPr lang="en-US" sz="1800" dirty="0">
                <a:solidFill>
                  <a:srgbClr val="000000"/>
                </a:solidFill>
                <a:latin typeface="Aptos" pitchFamily="34" charset="0"/>
                <a:ea typeface="Aptos" pitchFamily="34" charset="-122"/>
                <a:cs typeface="Aptos" pitchFamily="34" charset="-120"/>
              </a:rPr>
              <a:t>• Time-based: daily/weekly summary</a:t>
            </a:r>
            <a:endParaRPr lang="en-US" sz="1800" dirty="0">
              <a:solidFill>
                <a:srgbClr val="000000"/>
              </a:solidFill>
            </a:endParaRPr>
          </a:p>
          <a:p>
            <a:pPr marL="0" indent="0">
              <a:lnSpc>
                <a:spcPct val="100000"/>
              </a:lnSpc>
              <a:spcBef>
                <a:spcPts val="800"/>
              </a:spcBef>
              <a:spcAft>
                <a:spcPts val="0"/>
              </a:spcAft>
              <a:buNone/>
            </a:pPr>
            <a:r>
              <a:rPr lang="en-US" sz="1800" dirty="0">
                <a:solidFill>
                  <a:srgbClr val="000000"/>
                </a:solidFill>
                <a:latin typeface="Aptos" pitchFamily="34" charset="0"/>
                <a:ea typeface="Aptos" pitchFamily="34" charset="-122"/>
                <a:cs typeface="Aptos" pitchFamily="34" charset="-120"/>
              </a:rPr>
              <a:t>• Experience sampling: prompted snapshots</a:t>
            </a:r>
            <a:endParaRPr lang="en-US" sz="1800" dirty="0">
              <a:solidFill>
                <a:srgbClr val="000000"/>
              </a:solidFill>
            </a:endParaRPr>
          </a:p>
          <a:p>
            <a:pPr marL="0" indent="0">
              <a:lnSpc>
                <a:spcPct val="100000"/>
              </a:lnSpc>
              <a:spcBef>
                <a:spcPts val="800"/>
              </a:spcBef>
              <a:spcAft>
                <a:spcPts val="0"/>
              </a:spcAft>
              <a:buNone/>
            </a:pPr>
            <a:r>
              <a:rPr lang="en-US" sz="1800" dirty="0">
                <a:solidFill>
                  <a:srgbClr val="000000"/>
                </a:solidFill>
                <a:latin typeface="Aptos" pitchFamily="34" charset="0"/>
                <a:ea typeface="Aptos" pitchFamily="34" charset="-122"/>
                <a:cs typeface="Aptos" pitchFamily="34" charset="-120"/>
              </a:rPr>
              <a:t>• End-of-period reflection: lower burden overview</a:t>
            </a:r>
            <a:endParaRPr lang="en-US" sz="1800" dirty="0">
              <a:solidFill>
                <a:srgbClr val="000000"/>
              </a:solidFill>
            </a:endParaRPr>
          </a:p>
        </p:txBody>
      </p:sp>
      <p:sp>
        <p:nvSpPr>
          <p:cNvPr id="19" name="Shape 17"/>
          <p:cNvSpPr/>
          <p:nvPr/>
        </p:nvSpPr>
        <p:spPr>
          <a:xfrm>
            <a:off x="8171688" y="1450848"/>
            <a:ext cx="3605784" cy="4748784"/>
          </a:xfrm>
          <a:prstGeom prst="rect">
            <a:avLst/>
          </a:prstGeom>
          <a:solidFill>
            <a:srgbClr val="FFF5F6"/>
          </a:solidFill>
          <a:ln w="12700">
            <a:solidFill>
              <a:srgbClr val="E6DCDC">
                <a:alpha val="95000"/>
              </a:srgbClr>
            </a:solidFill>
            <a:prstDash val="solid"/>
          </a:ln>
        </p:spPr>
        <p:txBody>
          <a:bodyPr/>
          <a:lstStyle/>
          <a:p>
            <a:endParaRPr/>
          </a:p>
        </p:txBody>
      </p:sp>
      <p:sp>
        <p:nvSpPr>
          <p:cNvPr id="20" name="Shape 18"/>
          <p:cNvSpPr/>
          <p:nvPr/>
        </p:nvSpPr>
        <p:spPr>
          <a:xfrm>
            <a:off x="8354568" y="1606296"/>
            <a:ext cx="292608" cy="292608"/>
          </a:xfrm>
          <a:prstGeom prst="ellipse">
            <a:avLst/>
          </a:prstGeom>
          <a:solidFill>
            <a:srgbClr val="B4001B"/>
          </a:solidFill>
          <a:ln w="12700">
            <a:solidFill>
              <a:srgbClr val="B4001B"/>
            </a:solidFill>
            <a:prstDash val="solid"/>
          </a:ln>
        </p:spPr>
        <p:txBody>
          <a:bodyPr/>
          <a:lstStyle/>
          <a:p>
            <a:endParaRPr/>
          </a:p>
        </p:txBody>
      </p:sp>
      <p:sp>
        <p:nvSpPr>
          <p:cNvPr id="21" name="Text 19"/>
          <p:cNvSpPr/>
          <p:nvPr/>
        </p:nvSpPr>
        <p:spPr>
          <a:xfrm>
            <a:off x="8354568" y="1606296"/>
            <a:ext cx="292608" cy="292608"/>
          </a:xfrm>
          <a:prstGeom prst="rect">
            <a:avLst/>
          </a:prstGeom>
          <a:noFill/>
          <a:ln/>
        </p:spPr>
        <p:txBody>
          <a:bodyPr wrap="non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3</a:t>
            </a:r>
            <a:endParaRPr lang="en-US" sz="1100" b="1" dirty="0"/>
          </a:p>
        </p:txBody>
      </p:sp>
      <p:sp>
        <p:nvSpPr>
          <p:cNvPr id="22" name="Text 20"/>
          <p:cNvSpPr/>
          <p:nvPr/>
        </p:nvSpPr>
        <p:spPr>
          <a:xfrm>
            <a:off x="8756904" y="1597152"/>
            <a:ext cx="2892552" cy="323088"/>
          </a:xfrm>
          <a:prstGeom prst="rect">
            <a:avLst/>
          </a:prstGeom>
          <a:noFill/>
          <a:ln/>
        </p:spPr>
        <p:txBody>
          <a:bodyPr wrap="square" lIns="0" tIns="0" rIns="0" bIns="0" rtlCol="0" anchor="t">
            <a:noAutofit/>
          </a:bodyPr>
          <a:lstStyle/>
          <a:p>
            <a:pPr marL="0" indent="0" algn="l">
              <a:lnSpc>
                <a:spcPct val="100000"/>
              </a:lnSpc>
              <a:buNone/>
            </a:pPr>
            <a:r>
              <a:rPr lang="en-US" sz="2000" b="1" i="1" dirty="0">
                <a:solidFill>
                  <a:srgbClr val="111111"/>
                </a:solidFill>
                <a:latin typeface="Georgia"/>
                <a:ea typeface="Georgia"/>
                <a:cs typeface="Georgia"/>
              </a:rPr>
              <a:t>Requirement Value</a:t>
            </a:r>
          </a:p>
        </p:txBody>
      </p:sp>
      <p:sp>
        <p:nvSpPr>
          <p:cNvPr id="23" name="Text 21"/>
          <p:cNvSpPr/>
          <p:nvPr/>
        </p:nvSpPr>
        <p:spPr>
          <a:xfrm>
            <a:off x="8354568" y="2048256"/>
            <a:ext cx="3240024" cy="4023360"/>
          </a:xfrm>
          <a:prstGeom prst="rect">
            <a:avLst/>
          </a:prstGeom>
          <a:noFill/>
          <a:ln/>
        </p:spPr>
        <p:txBody>
          <a:bodyPr wrap="square" lIns="0" tIns="0" rIns="0" bIns="0" rtlCol="0" anchor="t">
            <a:noAutofit/>
          </a:bodyPr>
          <a:lstStyle/>
          <a:p>
            <a:pPr marL="0" indent="0">
              <a:lnSpc>
                <a:spcPct val="100000"/>
              </a:lnSpc>
              <a:spcBef>
                <a:spcPts val="0"/>
              </a:spcBef>
              <a:spcAft>
                <a:spcPts val="0"/>
              </a:spcAft>
              <a:buNone/>
            </a:pPr>
            <a:r>
              <a:rPr lang="en-US" sz="1800" dirty="0">
                <a:solidFill>
                  <a:srgbClr val="000000"/>
                </a:solidFill>
                <a:latin typeface="Aptos" pitchFamily="34" charset="0"/>
                <a:ea typeface="Aptos" pitchFamily="34" charset="-122"/>
                <a:cs typeface="Aptos" pitchFamily="34" charset="-120"/>
              </a:rPr>
              <a:t>• Shows repeated pain points</a:t>
            </a:r>
            <a:endParaRPr lang="en-US" sz="1800" dirty="0">
              <a:solidFill>
                <a:srgbClr val="000000"/>
              </a:solidFill>
            </a:endParaRPr>
          </a:p>
          <a:p>
            <a:pPr marL="0" indent="0">
              <a:lnSpc>
                <a:spcPct val="100000"/>
              </a:lnSpc>
              <a:spcBef>
                <a:spcPts val="800"/>
              </a:spcBef>
              <a:spcAft>
                <a:spcPts val="0"/>
              </a:spcAft>
              <a:buNone/>
            </a:pPr>
            <a:r>
              <a:rPr lang="en-US" sz="1800" dirty="0">
                <a:solidFill>
                  <a:srgbClr val="000000"/>
                </a:solidFill>
                <a:latin typeface="Aptos" pitchFamily="34" charset="0"/>
                <a:ea typeface="Aptos" pitchFamily="34" charset="-122"/>
                <a:cs typeface="Aptos" pitchFamily="34" charset="-120"/>
              </a:rPr>
              <a:t>• Reveals coping strategies</a:t>
            </a:r>
            <a:endParaRPr lang="en-US" sz="1800" dirty="0">
              <a:solidFill>
                <a:srgbClr val="000000"/>
              </a:solidFill>
            </a:endParaRPr>
          </a:p>
          <a:p>
            <a:pPr marL="0" indent="0">
              <a:lnSpc>
                <a:spcPct val="100000"/>
              </a:lnSpc>
              <a:spcBef>
                <a:spcPts val="800"/>
              </a:spcBef>
              <a:spcAft>
                <a:spcPts val="0"/>
              </a:spcAft>
              <a:buNone/>
            </a:pPr>
            <a:r>
              <a:rPr lang="en-US" sz="1800" dirty="0">
                <a:solidFill>
                  <a:srgbClr val="000000"/>
                </a:solidFill>
                <a:latin typeface="Aptos" pitchFamily="34" charset="0"/>
                <a:ea typeface="Aptos" pitchFamily="34" charset="-122"/>
                <a:cs typeface="Aptos" pitchFamily="34" charset="-120"/>
              </a:rPr>
              <a:t>• Captures context near the event</a:t>
            </a:r>
            <a:endParaRPr lang="en-US" sz="1800" dirty="0">
              <a:solidFill>
                <a:srgbClr val="000000"/>
              </a:solidFill>
            </a:endParaRPr>
          </a:p>
          <a:p>
            <a:pPr marL="0" indent="0">
              <a:lnSpc>
                <a:spcPct val="100000"/>
              </a:lnSpc>
              <a:spcBef>
                <a:spcPts val="800"/>
              </a:spcBef>
              <a:spcAft>
                <a:spcPts val="0"/>
              </a:spcAft>
              <a:buNone/>
            </a:pPr>
            <a:r>
              <a:rPr lang="en-US" sz="1800" dirty="0">
                <a:solidFill>
                  <a:srgbClr val="000000"/>
                </a:solidFill>
                <a:latin typeface="Aptos" pitchFamily="34" charset="0"/>
                <a:ea typeface="Aptos" pitchFamily="34" charset="-122"/>
                <a:cs typeface="Aptos" pitchFamily="34" charset="-120"/>
              </a:rPr>
              <a:t>• Prepares concrete examples for interviews or participatory analysis</a:t>
            </a:r>
            <a:endParaRPr lang="en-US" sz="1800" dirty="0">
              <a:solidFill>
                <a:srgbClr val="00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55448"/>
            <a:ext cx="5486400" cy="201168"/>
          </a:xfrm>
          <a:prstGeom prst="rect">
            <a:avLst/>
          </a:prstGeom>
          <a:noFill/>
          <a:ln/>
        </p:spPr>
        <p:txBody>
          <a:bodyPr wrap="square" lIns="0" tIns="0" rIns="0" bIns="0" rtlCol="0" anchor="ctr">
            <a:noAutofit/>
          </a:bodyPr>
          <a:lstStyle/>
          <a:p>
            <a:pPr marL="0" indent="0">
              <a:buNone/>
            </a:pPr>
            <a:r>
              <a:rPr lang="en-US" sz="1100" b="1" dirty="0">
                <a:solidFill>
                  <a:srgbClr val="B4001B"/>
                </a:solidFill>
                <a:latin typeface="Aptos" pitchFamily="34" charset="0"/>
                <a:ea typeface="Aptos" pitchFamily="34" charset="-122"/>
                <a:cs typeface="Aptos" pitchFamily="34" charset="-120"/>
              </a:rPr>
              <a:t>DIARY STUDIES</a:t>
            </a:r>
            <a:endParaRPr lang="en-US" sz="1100" b="1" dirty="0"/>
          </a:p>
        </p:txBody>
      </p:sp>
      <p:sp>
        <p:nvSpPr>
          <p:cNvPr id="3" name="Text 1"/>
          <p:cNvSpPr/>
          <p:nvPr/>
        </p:nvSpPr>
        <p:spPr>
          <a:xfrm>
            <a:off x="411480" y="365760"/>
            <a:ext cx="11365992" cy="512064"/>
          </a:xfrm>
          <a:prstGeom prst="rect">
            <a:avLst/>
          </a:prstGeom>
          <a:noFill/>
          <a:ln/>
        </p:spPr>
        <p:txBody>
          <a:bodyPr wrap="square" lIns="0" tIns="0" rIns="0" bIns="0" rtlCol="0" anchor="ctr">
            <a:noAutofit/>
          </a:bodyPr>
          <a:lstStyle/>
          <a:p>
            <a:pPr marL="0" indent="0" algn="l">
              <a:buNone/>
            </a:pPr>
            <a:r>
              <a:rPr lang="en-US" sz="3200" b="1" i="1" dirty="0">
                <a:solidFill>
                  <a:srgbClr val="111111"/>
                </a:solidFill>
                <a:latin typeface="Georgia"/>
                <a:ea typeface="Georgia"/>
                <a:cs typeface="Georgia"/>
              </a:rPr>
              <a:t>Example: Hospital Patient Management System</a:t>
            </a:r>
          </a:p>
        </p:txBody>
      </p:sp>
      <p:sp>
        <p:nvSpPr>
          <p:cNvPr id="4" name="Text 2"/>
          <p:cNvSpPr/>
          <p:nvPr/>
        </p:nvSpPr>
        <p:spPr>
          <a:xfrm>
            <a:off x="411480" y="932688"/>
            <a:ext cx="11365992" cy="280416"/>
          </a:xfrm>
          <a:prstGeom prst="rect">
            <a:avLst/>
          </a:prstGeom>
          <a:noFill/>
          <a:ln/>
        </p:spPr>
        <p:txBody>
          <a:bodyPr wrap="square" lIns="0" tIns="0" rIns="0" bIns="0" rtlCol="0" anchor="t">
            <a:noAutofit/>
          </a:bodyPr>
          <a:lstStyle/>
          <a:p>
            <a:pPr algn="l">
              <a:lnSpc>
                <a:spcPct val="100000"/>
              </a:lnSpc>
            </a:pPr>
            <a:r>
              <a:rPr lang="en-US" sz="1600" b="0" i="1" dirty="0">
                <a:solidFill>
                  <a:srgbClr val="000000"/>
                </a:solidFill>
                <a:latin typeface="Aptos"/>
                <a:ea typeface="Aptos"/>
                <a:cs typeface="Aptos"/>
              </a:rPr>
              <a:t>Diary studies help analysts identify problems that occur repeatedly during daily hospital activities.</a:t>
            </a:r>
          </a:p>
        </p:txBody>
      </p:sp>
      <p:sp>
        <p:nvSpPr>
          <p:cNvPr id="5" name="Text 3"/>
          <p:cNvSpPr/>
          <p:nvPr/>
        </p:nvSpPr>
        <p:spPr>
          <a:xfrm>
            <a:off x="502920" y="6565392"/>
            <a:ext cx="1280160" cy="109728"/>
          </a:xfrm>
          <a:prstGeom prst="rect">
            <a:avLst/>
          </a:prstGeom>
          <a:noFill/>
          <a:ln/>
        </p:spPr>
        <p:txBody>
          <a:bodyPr wrap="square" rtlCol="0" anchor="ctr"/>
          <a:lstStyle/>
          <a:p>
            <a:pPr marL="0" indent="0">
              <a:buNone/>
            </a:pPr>
            <a:r>
              <a:rPr lang="en-US" sz="790" dirty="0">
                <a:solidFill>
                  <a:srgbClr val="777777"/>
                </a:solidFill>
                <a:latin typeface="Aptos" pitchFamily="34" charset="0"/>
                <a:ea typeface="Aptos" pitchFamily="34" charset="-122"/>
                <a:cs typeface="Aptos" pitchFamily="34" charset="-120"/>
              </a:rPr>
              <a:t>1/28/2026</a:t>
            </a:r>
            <a:endParaRPr lang="en-US" sz="790" dirty="0"/>
          </a:p>
        </p:txBody>
      </p:sp>
      <p:sp>
        <p:nvSpPr>
          <p:cNvPr id="6" name="Text 4"/>
          <p:cNvSpPr/>
          <p:nvPr/>
        </p:nvSpPr>
        <p:spPr>
          <a:xfrm>
            <a:off x="5257800" y="6565392"/>
            <a:ext cx="1645920" cy="109728"/>
          </a:xfrm>
          <a:prstGeom prst="rect">
            <a:avLst/>
          </a:prstGeom>
          <a:noFill/>
          <a:ln/>
        </p:spPr>
        <p:txBody>
          <a:bodyPr wrap="square" rtlCol="0" anchor="ctr"/>
          <a:lstStyle/>
          <a:p>
            <a:pPr marL="0" indent="0" algn="ctr">
              <a:buNone/>
            </a:pPr>
            <a:r>
              <a:rPr lang="en-US" sz="790" dirty="0">
                <a:solidFill>
                  <a:srgbClr val="777777"/>
                </a:solidFill>
                <a:latin typeface="Aptos" pitchFamily="34" charset="0"/>
                <a:ea typeface="Aptos" pitchFamily="34" charset="-122"/>
                <a:cs typeface="Aptos" pitchFamily="34" charset="-120"/>
              </a:rPr>
              <a:t>Md. Manirujjaman</a:t>
            </a:r>
            <a:endParaRPr lang="en-US" sz="790" dirty="0"/>
          </a:p>
        </p:txBody>
      </p:sp>
      <p:sp>
        <p:nvSpPr>
          <p:cNvPr id="7" name="Shape 5"/>
          <p:cNvSpPr/>
          <p:nvPr/>
        </p:nvSpPr>
        <p:spPr>
          <a:xfrm>
            <a:off x="11430000" y="6327648"/>
            <a:ext cx="274320" cy="274320"/>
          </a:xfrm>
          <a:prstGeom prst="ellipse">
            <a:avLst/>
          </a:prstGeom>
          <a:solidFill>
            <a:srgbClr val="B4001B"/>
          </a:solidFill>
          <a:ln w="12700">
            <a:solidFill>
              <a:srgbClr val="B4001B"/>
            </a:solidFill>
            <a:prstDash val="solid"/>
          </a:ln>
        </p:spPr>
        <p:txBody>
          <a:bodyPr wrap="none" lIns="0" tIns="0" rIns="0" bIns="0" anchor="ctr"/>
          <a:lstStyle/>
          <a:p>
            <a:pPr algn="ctr"/>
            <a:fld id="{8A2B6C1E-3F4D-4E5A-9B7C-1D2E3F4A5B6C}" type="slidenum">
              <a:rPr lang="en-US" sz="900" b="1">
                <a:solidFill>
                  <a:srgbClr val="FFFFFF"/>
                </a:solidFill>
                <a:latin typeface="Aptos"/>
              </a:rPr>
              <a:t>18</a:t>
            </a:fld>
            <a:endParaRPr lang="en-US" sz="900" b="1">
              <a:solidFill>
                <a:srgbClr val="FFFFFF"/>
              </a:solidFill>
              <a:latin typeface="Aptos"/>
            </a:endParaRPr>
          </a:p>
        </p:txBody>
      </p:sp>
      <p:sp>
        <p:nvSpPr>
          <p:cNvPr id="9" name="Shape 7"/>
          <p:cNvSpPr/>
          <p:nvPr/>
        </p:nvSpPr>
        <p:spPr>
          <a:xfrm>
            <a:off x="411480" y="1450848"/>
            <a:ext cx="5545836" cy="4748784"/>
          </a:xfrm>
          <a:prstGeom prst="rect">
            <a:avLst/>
          </a:prstGeom>
          <a:solidFill>
            <a:srgbClr val="FFFFFF"/>
          </a:solidFill>
          <a:ln w="12700">
            <a:solidFill>
              <a:srgbClr val="E6DCDC">
                <a:alpha val="95000"/>
              </a:srgbClr>
            </a:solidFill>
            <a:prstDash val="solid"/>
          </a:ln>
        </p:spPr>
        <p:txBody>
          <a:bodyPr/>
          <a:lstStyle/>
          <a:p>
            <a:endParaRPr/>
          </a:p>
        </p:txBody>
      </p:sp>
      <p:sp>
        <p:nvSpPr>
          <p:cNvPr id="10" name="Shape 8"/>
          <p:cNvSpPr/>
          <p:nvPr/>
        </p:nvSpPr>
        <p:spPr>
          <a:xfrm>
            <a:off x="594360" y="1606296"/>
            <a:ext cx="292608" cy="292608"/>
          </a:xfrm>
          <a:prstGeom prst="ellipse">
            <a:avLst/>
          </a:prstGeom>
          <a:solidFill>
            <a:srgbClr val="B4001B"/>
          </a:solidFill>
          <a:ln w="12700">
            <a:solidFill>
              <a:srgbClr val="B4001B"/>
            </a:solidFill>
            <a:prstDash val="solid"/>
          </a:ln>
        </p:spPr>
        <p:txBody>
          <a:bodyPr/>
          <a:lstStyle/>
          <a:p>
            <a:endParaRPr/>
          </a:p>
        </p:txBody>
      </p:sp>
      <p:sp>
        <p:nvSpPr>
          <p:cNvPr id="11" name="Text 9"/>
          <p:cNvSpPr/>
          <p:nvPr/>
        </p:nvSpPr>
        <p:spPr>
          <a:xfrm>
            <a:off x="594360" y="1606296"/>
            <a:ext cx="292608" cy="292608"/>
          </a:xfrm>
          <a:prstGeom prst="rect">
            <a:avLst/>
          </a:prstGeom>
          <a:noFill/>
          <a:ln/>
        </p:spPr>
        <p:txBody>
          <a:bodyPr wrap="non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1</a:t>
            </a:r>
            <a:endParaRPr lang="en-US" sz="1100" b="1" dirty="0"/>
          </a:p>
        </p:txBody>
      </p:sp>
      <p:sp>
        <p:nvSpPr>
          <p:cNvPr id="12" name="Text 10"/>
          <p:cNvSpPr/>
          <p:nvPr/>
        </p:nvSpPr>
        <p:spPr>
          <a:xfrm>
            <a:off x="996695" y="1597152"/>
            <a:ext cx="4832604" cy="323088"/>
          </a:xfrm>
          <a:prstGeom prst="rect">
            <a:avLst/>
          </a:prstGeom>
          <a:noFill/>
          <a:ln/>
        </p:spPr>
        <p:txBody>
          <a:bodyPr wrap="square" lIns="0" tIns="0" rIns="0" bIns="0" rtlCol="0" anchor="t">
            <a:noAutofit/>
          </a:bodyPr>
          <a:lstStyle/>
          <a:p>
            <a:pPr marL="0" indent="0" algn="l">
              <a:lnSpc>
                <a:spcPct val="100000"/>
              </a:lnSpc>
              <a:buNone/>
            </a:pPr>
            <a:r>
              <a:rPr lang="en-US" sz="2000" b="1" i="1" dirty="0">
                <a:solidFill>
                  <a:srgbClr val="111111"/>
                </a:solidFill>
                <a:latin typeface="Georgia"/>
                <a:ea typeface="Georgia"/>
                <a:cs typeface="Georgia"/>
              </a:rPr>
              <a:t>Study Design</a:t>
            </a:r>
          </a:p>
        </p:txBody>
      </p:sp>
      <p:sp>
        <p:nvSpPr>
          <p:cNvPr id="13" name="Text 11"/>
          <p:cNvSpPr/>
          <p:nvPr/>
        </p:nvSpPr>
        <p:spPr>
          <a:xfrm>
            <a:off x="594360" y="2048256"/>
            <a:ext cx="5180076" cy="4023360"/>
          </a:xfrm>
          <a:prstGeom prst="rect">
            <a:avLst/>
          </a:prstGeom>
          <a:noFill/>
          <a:ln/>
        </p:spPr>
        <p:txBody>
          <a:bodyPr wrap="square" lIns="0" tIns="0" rIns="0" bIns="0" rtlCol="0" anchor="t">
            <a:noAutofit/>
          </a:bodyPr>
          <a:lstStyle/>
          <a:p>
            <a:pPr>
              <a:lnSpc>
                <a:spcPct val="100000"/>
              </a:lnSpc>
              <a:spcBef>
                <a:spcPts val="0"/>
              </a:spcBef>
              <a:spcAft>
                <a:spcPts val="0"/>
              </a:spcAft>
            </a:pPr>
            <a:r>
              <a:rPr lang="en-US" sz="1800" dirty="0">
                <a:solidFill>
                  <a:srgbClr val="000000"/>
                </a:solidFill>
              </a:rPr>
              <a:t>• Nurses and doctors record system-related problems for two weeks. </a:t>
            </a:r>
            <a:endParaRPr lang="en-US" sz="1800">
              <a:solidFill>
                <a:srgbClr val="000000"/>
              </a:solidFill>
            </a:endParaRPr>
          </a:p>
          <a:p>
            <a:pPr>
              <a:lnSpc>
                <a:spcPct val="100000"/>
              </a:lnSpc>
              <a:spcBef>
                <a:spcPts val="1200"/>
              </a:spcBef>
              <a:spcAft>
                <a:spcPts val="0"/>
              </a:spcAft>
            </a:pPr>
            <a:r>
              <a:rPr lang="en-US" sz="1800" dirty="0">
                <a:solidFill>
                  <a:srgbClr val="000000"/>
                </a:solidFill>
              </a:rPr>
              <a:t>• Record an entry whenever a problem occurs during patient care. </a:t>
            </a:r>
            <a:endParaRPr lang="en-US" sz="1800">
              <a:solidFill>
                <a:srgbClr val="000000"/>
              </a:solidFill>
            </a:endParaRPr>
          </a:p>
          <a:p>
            <a:pPr>
              <a:lnSpc>
                <a:spcPct val="100000"/>
              </a:lnSpc>
              <a:spcBef>
                <a:spcPts val="1200"/>
              </a:spcBef>
              <a:spcAft>
                <a:spcPts val="0"/>
              </a:spcAft>
            </a:pPr>
            <a:r>
              <a:rPr lang="en-US" sz="1800" dirty="0">
                <a:solidFill>
                  <a:srgbClr val="000000"/>
                </a:solidFill>
              </a:rPr>
              <a:t>• Describe the task, problem, temporary solution, and result. </a:t>
            </a:r>
            <a:endParaRPr lang="en-US" sz="1800">
              <a:solidFill>
                <a:srgbClr val="000000"/>
              </a:solidFill>
            </a:endParaRPr>
          </a:p>
          <a:p>
            <a:pPr>
              <a:lnSpc>
                <a:spcPct val="100000"/>
              </a:lnSpc>
              <a:spcBef>
                <a:spcPts val="1200"/>
              </a:spcBef>
              <a:spcAft>
                <a:spcPts val="0"/>
              </a:spcAft>
            </a:pPr>
            <a:r>
              <a:rPr lang="en-US" sz="1800" dirty="0">
                <a:solidFill>
                  <a:srgbClr val="000000"/>
                </a:solidFill>
              </a:rPr>
              <a:t>• Allow short text, screenshots, or voice notes.</a:t>
            </a:r>
            <a:endParaRPr lang="en-US" sz="1800">
              <a:solidFill>
                <a:srgbClr val="000000"/>
              </a:solidFill>
            </a:endParaRPr>
          </a:p>
        </p:txBody>
      </p:sp>
      <p:sp>
        <p:nvSpPr>
          <p:cNvPr id="14" name="Shape 12"/>
          <p:cNvSpPr/>
          <p:nvPr/>
        </p:nvSpPr>
        <p:spPr>
          <a:xfrm>
            <a:off x="6231636" y="1450848"/>
            <a:ext cx="5545836" cy="4748784"/>
          </a:xfrm>
          <a:prstGeom prst="rect">
            <a:avLst/>
          </a:prstGeom>
          <a:solidFill>
            <a:srgbClr val="FFF9F9"/>
          </a:solidFill>
          <a:ln w="12700">
            <a:solidFill>
              <a:srgbClr val="E6DCDC">
                <a:alpha val="95000"/>
              </a:srgbClr>
            </a:solidFill>
            <a:prstDash val="solid"/>
          </a:ln>
        </p:spPr>
        <p:txBody>
          <a:bodyPr/>
          <a:lstStyle/>
          <a:p>
            <a:endParaRPr/>
          </a:p>
        </p:txBody>
      </p:sp>
      <p:sp>
        <p:nvSpPr>
          <p:cNvPr id="15" name="Shape 13"/>
          <p:cNvSpPr/>
          <p:nvPr/>
        </p:nvSpPr>
        <p:spPr>
          <a:xfrm>
            <a:off x="6414516" y="1606296"/>
            <a:ext cx="292608" cy="292608"/>
          </a:xfrm>
          <a:prstGeom prst="ellipse">
            <a:avLst/>
          </a:prstGeom>
          <a:solidFill>
            <a:srgbClr val="B4001B"/>
          </a:solidFill>
          <a:ln w="12700">
            <a:solidFill>
              <a:srgbClr val="B4001B"/>
            </a:solidFill>
            <a:prstDash val="solid"/>
          </a:ln>
        </p:spPr>
        <p:txBody>
          <a:bodyPr/>
          <a:lstStyle/>
          <a:p>
            <a:endParaRPr/>
          </a:p>
        </p:txBody>
      </p:sp>
      <p:sp>
        <p:nvSpPr>
          <p:cNvPr id="16" name="Text 14"/>
          <p:cNvSpPr/>
          <p:nvPr/>
        </p:nvSpPr>
        <p:spPr>
          <a:xfrm>
            <a:off x="6414516" y="1606296"/>
            <a:ext cx="292608" cy="292608"/>
          </a:xfrm>
          <a:prstGeom prst="rect">
            <a:avLst/>
          </a:prstGeom>
          <a:noFill/>
          <a:ln/>
        </p:spPr>
        <p:txBody>
          <a:bodyPr wrap="non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2</a:t>
            </a:r>
            <a:endParaRPr lang="en-US" sz="1100" b="1" dirty="0"/>
          </a:p>
        </p:txBody>
      </p:sp>
      <p:sp>
        <p:nvSpPr>
          <p:cNvPr id="17" name="Text 15"/>
          <p:cNvSpPr/>
          <p:nvPr/>
        </p:nvSpPr>
        <p:spPr>
          <a:xfrm>
            <a:off x="6816852" y="1597152"/>
            <a:ext cx="4832604" cy="323088"/>
          </a:xfrm>
          <a:prstGeom prst="rect">
            <a:avLst/>
          </a:prstGeom>
          <a:noFill/>
          <a:ln/>
        </p:spPr>
        <p:txBody>
          <a:bodyPr wrap="square" lIns="0" tIns="0" rIns="0" bIns="0" rtlCol="0" anchor="t">
            <a:noAutofit/>
          </a:bodyPr>
          <a:lstStyle/>
          <a:p>
            <a:pPr marL="0" indent="0" algn="l">
              <a:lnSpc>
                <a:spcPct val="100000"/>
              </a:lnSpc>
              <a:buNone/>
            </a:pPr>
            <a:r>
              <a:rPr lang="en-US" sz="2000" b="1" i="1" dirty="0">
                <a:solidFill>
                  <a:srgbClr val="111111"/>
                </a:solidFill>
                <a:latin typeface="Georgia"/>
                <a:ea typeface="Georgia"/>
                <a:cs typeface="Georgia"/>
              </a:rPr>
              <a:t>Possible Diary Evidence</a:t>
            </a:r>
          </a:p>
        </p:txBody>
      </p:sp>
      <p:sp>
        <p:nvSpPr>
          <p:cNvPr id="18" name="Text 16"/>
          <p:cNvSpPr/>
          <p:nvPr/>
        </p:nvSpPr>
        <p:spPr>
          <a:xfrm>
            <a:off x="6414516" y="2048256"/>
            <a:ext cx="5180076" cy="4023360"/>
          </a:xfrm>
          <a:prstGeom prst="rect">
            <a:avLst/>
          </a:prstGeom>
          <a:noFill/>
          <a:ln/>
        </p:spPr>
        <p:txBody>
          <a:bodyPr wrap="square" lIns="0" tIns="0" rIns="0" bIns="0" rtlCol="0" anchor="t">
            <a:noAutofit/>
          </a:bodyPr>
          <a:lstStyle/>
          <a:p>
            <a:pPr>
              <a:lnSpc>
                <a:spcPct val="100000"/>
              </a:lnSpc>
              <a:spcBef>
                <a:spcPts val="0"/>
              </a:spcBef>
              <a:spcAft>
                <a:spcPts val="0"/>
              </a:spcAft>
            </a:pPr>
            <a:r>
              <a:rPr lang="en-US" sz="1800" dirty="0">
                <a:solidFill>
                  <a:srgbClr val="000000"/>
                </a:solidFill>
              </a:rPr>
              <a:t>• Nurses repeatedly face delays while updating patient records.</a:t>
            </a:r>
            <a:endParaRPr lang="en-US" sz="1800">
              <a:solidFill>
                <a:srgbClr val="000000"/>
              </a:solidFill>
            </a:endParaRPr>
          </a:p>
          <a:p>
            <a:pPr>
              <a:lnSpc>
                <a:spcPct val="100000"/>
              </a:lnSpc>
              <a:spcBef>
                <a:spcPts val="1200"/>
              </a:spcBef>
              <a:spcAft>
                <a:spcPts val="0"/>
              </a:spcAft>
            </a:pPr>
            <a:r>
              <a:rPr lang="en-US" sz="1800" dirty="0">
                <a:solidFill>
                  <a:srgbClr val="000000"/>
                </a:solidFill>
              </a:rPr>
              <a:t>• Doctors cannot access previous reports during emergency treatment. </a:t>
            </a:r>
            <a:endParaRPr lang="en-US" sz="1800">
              <a:solidFill>
                <a:srgbClr val="000000"/>
              </a:solidFill>
            </a:endParaRPr>
          </a:p>
          <a:p>
            <a:pPr>
              <a:lnSpc>
                <a:spcPct val="100000"/>
              </a:lnSpc>
              <a:spcBef>
                <a:spcPts val="1200"/>
              </a:spcBef>
              <a:spcAft>
                <a:spcPts val="0"/>
              </a:spcAft>
            </a:pPr>
            <a:r>
              <a:rPr lang="en-US" sz="1800" dirty="0">
                <a:solidFill>
                  <a:srgbClr val="000000"/>
                </a:solidFill>
              </a:rPr>
              <a:t>• The system sometimes loses entered information after a network failure. </a:t>
            </a:r>
            <a:endParaRPr lang="en-US" sz="1800">
              <a:solidFill>
                <a:srgbClr val="000000"/>
              </a:solidFill>
            </a:endParaRPr>
          </a:p>
          <a:p>
            <a:pPr>
              <a:lnSpc>
                <a:spcPct val="100000"/>
              </a:lnSpc>
              <a:spcBef>
                <a:spcPts val="1200"/>
              </a:spcBef>
              <a:spcAft>
                <a:spcPts val="0"/>
              </a:spcAft>
            </a:pPr>
            <a:r>
              <a:rPr lang="en-US" sz="1800" dirty="0">
                <a:solidFill>
                  <a:srgbClr val="000000"/>
                </a:solidFill>
              </a:rPr>
              <a:t>• Staff use paper notes when the system is unavailable.</a:t>
            </a:r>
            <a:endParaRPr lang="en-US" sz="1800">
              <a:solidFill>
                <a:srgbClr val="00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55448"/>
            <a:ext cx="5486400" cy="201168"/>
          </a:xfrm>
          <a:prstGeom prst="rect">
            <a:avLst/>
          </a:prstGeom>
          <a:noFill/>
          <a:ln/>
        </p:spPr>
        <p:txBody>
          <a:bodyPr wrap="square" lIns="0" tIns="0" rIns="0" bIns="0" rtlCol="0" anchor="ctr">
            <a:noAutofit/>
          </a:bodyPr>
          <a:lstStyle/>
          <a:p>
            <a:pPr marL="0" indent="0">
              <a:buNone/>
            </a:pPr>
            <a:r>
              <a:rPr lang="en-US" sz="1100" b="1" dirty="0">
                <a:solidFill>
                  <a:srgbClr val="B4001B"/>
                </a:solidFill>
                <a:latin typeface="Aptos" pitchFamily="34" charset="0"/>
                <a:ea typeface="Aptos" pitchFamily="34" charset="-122"/>
                <a:cs typeface="Aptos" pitchFamily="34" charset="-120"/>
              </a:rPr>
              <a:t>PARTICIPATORY ANALYSIS</a:t>
            </a:r>
            <a:endParaRPr lang="en-US" sz="1100" b="1" dirty="0"/>
          </a:p>
        </p:txBody>
      </p:sp>
      <p:sp>
        <p:nvSpPr>
          <p:cNvPr id="3" name="Text 1"/>
          <p:cNvSpPr/>
          <p:nvPr/>
        </p:nvSpPr>
        <p:spPr>
          <a:xfrm>
            <a:off x="411480" y="365760"/>
            <a:ext cx="11365992" cy="512064"/>
          </a:xfrm>
          <a:prstGeom prst="rect">
            <a:avLst/>
          </a:prstGeom>
          <a:noFill/>
          <a:ln/>
        </p:spPr>
        <p:txBody>
          <a:bodyPr wrap="square" lIns="0" tIns="0" rIns="0" bIns="0" rtlCol="0" anchor="ctr">
            <a:noAutofit/>
          </a:bodyPr>
          <a:lstStyle/>
          <a:p>
            <a:pPr marL="0" indent="0" algn="l">
              <a:buNone/>
            </a:pPr>
            <a:r>
              <a:rPr lang="en-US" sz="3200" b="1" i="1" dirty="0">
                <a:solidFill>
                  <a:srgbClr val="111111"/>
                </a:solidFill>
                <a:latin typeface="Georgia"/>
                <a:ea typeface="Georgia"/>
                <a:cs typeface="Georgia"/>
              </a:rPr>
              <a:t>Participatory Design for Information Systems</a:t>
            </a:r>
          </a:p>
        </p:txBody>
      </p:sp>
      <p:sp>
        <p:nvSpPr>
          <p:cNvPr id="4" name="Text 2"/>
          <p:cNvSpPr/>
          <p:nvPr/>
        </p:nvSpPr>
        <p:spPr>
          <a:xfrm>
            <a:off x="411480" y="932688"/>
            <a:ext cx="11365992" cy="524256"/>
          </a:xfrm>
          <a:prstGeom prst="rect">
            <a:avLst/>
          </a:prstGeom>
          <a:noFill/>
          <a:ln/>
        </p:spPr>
        <p:txBody>
          <a:bodyPr wrap="square" lIns="0" tIns="0" rIns="0" bIns="0" rtlCol="0" anchor="t">
            <a:noAutofit/>
          </a:bodyPr>
          <a:lstStyle/>
          <a:p>
            <a:pPr marL="0" indent="0" algn="l">
              <a:lnSpc>
                <a:spcPct val="100000"/>
              </a:lnSpc>
              <a:buNone/>
            </a:pPr>
            <a:r>
              <a:rPr lang="en-US" sz="1600" b="0" i="1" dirty="0">
                <a:solidFill>
                  <a:srgbClr val="000000"/>
                </a:solidFill>
                <a:latin typeface="Aptos"/>
                <a:ea typeface="Aptos"/>
                <a:cs typeface="Aptos"/>
              </a:rPr>
              <a:t>Affected users and stakeholders actively help shape the problem and possible solution, rather than only reacting to finished features.</a:t>
            </a:r>
          </a:p>
        </p:txBody>
      </p:sp>
      <p:sp>
        <p:nvSpPr>
          <p:cNvPr id="5" name="Text 3"/>
          <p:cNvSpPr/>
          <p:nvPr/>
        </p:nvSpPr>
        <p:spPr>
          <a:xfrm>
            <a:off x="502920" y="6565392"/>
            <a:ext cx="1280160" cy="109728"/>
          </a:xfrm>
          <a:prstGeom prst="rect">
            <a:avLst/>
          </a:prstGeom>
          <a:noFill/>
          <a:ln/>
        </p:spPr>
        <p:txBody>
          <a:bodyPr wrap="square" rtlCol="0" anchor="ctr"/>
          <a:lstStyle/>
          <a:p>
            <a:pPr marL="0" indent="0">
              <a:buNone/>
            </a:pPr>
            <a:r>
              <a:rPr lang="en-US" sz="790" dirty="0">
                <a:solidFill>
                  <a:srgbClr val="777777"/>
                </a:solidFill>
                <a:latin typeface="Aptos" pitchFamily="34" charset="0"/>
                <a:ea typeface="Aptos" pitchFamily="34" charset="-122"/>
                <a:cs typeface="Aptos" pitchFamily="34" charset="-120"/>
              </a:rPr>
              <a:t>1/28/2026</a:t>
            </a:r>
            <a:endParaRPr lang="en-US" sz="790" dirty="0"/>
          </a:p>
        </p:txBody>
      </p:sp>
      <p:sp>
        <p:nvSpPr>
          <p:cNvPr id="6" name="Text 4"/>
          <p:cNvSpPr/>
          <p:nvPr/>
        </p:nvSpPr>
        <p:spPr>
          <a:xfrm>
            <a:off x="5257800" y="6565392"/>
            <a:ext cx="1645920" cy="109728"/>
          </a:xfrm>
          <a:prstGeom prst="rect">
            <a:avLst/>
          </a:prstGeom>
          <a:noFill/>
          <a:ln/>
        </p:spPr>
        <p:txBody>
          <a:bodyPr wrap="square" rtlCol="0" anchor="ctr"/>
          <a:lstStyle/>
          <a:p>
            <a:pPr marL="0" indent="0" algn="ctr">
              <a:buNone/>
            </a:pPr>
            <a:r>
              <a:rPr lang="en-US" sz="790" dirty="0">
                <a:solidFill>
                  <a:srgbClr val="777777"/>
                </a:solidFill>
                <a:latin typeface="Aptos" pitchFamily="34" charset="0"/>
                <a:ea typeface="Aptos" pitchFamily="34" charset="-122"/>
                <a:cs typeface="Aptos" pitchFamily="34" charset="-120"/>
              </a:rPr>
              <a:t>Md. Manirujjaman</a:t>
            </a:r>
            <a:endParaRPr lang="en-US" sz="790" dirty="0"/>
          </a:p>
        </p:txBody>
      </p:sp>
      <p:sp>
        <p:nvSpPr>
          <p:cNvPr id="7" name="Shape 5"/>
          <p:cNvSpPr/>
          <p:nvPr/>
        </p:nvSpPr>
        <p:spPr>
          <a:xfrm>
            <a:off x="11430000" y="6327648"/>
            <a:ext cx="274320" cy="274320"/>
          </a:xfrm>
          <a:prstGeom prst="ellipse">
            <a:avLst/>
          </a:prstGeom>
          <a:solidFill>
            <a:srgbClr val="B4001B"/>
          </a:solidFill>
          <a:ln w="12700">
            <a:solidFill>
              <a:srgbClr val="B4001B"/>
            </a:solidFill>
            <a:prstDash val="solid"/>
          </a:ln>
        </p:spPr>
        <p:txBody>
          <a:bodyPr wrap="none" lIns="0" tIns="0" rIns="0" bIns="0" anchor="ctr"/>
          <a:lstStyle/>
          <a:p>
            <a:pPr algn="ctr"/>
            <a:fld id="{8A2B6C1E-3F4D-4E5A-9B7C-1D2E3F4A5B6C}" type="slidenum">
              <a:rPr lang="en-US" sz="900" b="1">
                <a:solidFill>
                  <a:srgbClr val="FFFFFF"/>
                </a:solidFill>
                <a:latin typeface="Aptos"/>
              </a:rPr>
              <a:t>19</a:t>
            </a:fld>
            <a:endParaRPr lang="en-US" sz="900" b="1">
              <a:solidFill>
                <a:srgbClr val="FFFFFF"/>
              </a:solidFill>
              <a:latin typeface="Aptos"/>
            </a:endParaRPr>
          </a:p>
        </p:txBody>
      </p:sp>
      <p:sp>
        <p:nvSpPr>
          <p:cNvPr id="9" name="Shape 7"/>
          <p:cNvSpPr/>
          <p:nvPr/>
        </p:nvSpPr>
        <p:spPr>
          <a:xfrm>
            <a:off x="411480" y="1694688"/>
            <a:ext cx="3605784" cy="4504944"/>
          </a:xfrm>
          <a:prstGeom prst="rect">
            <a:avLst/>
          </a:prstGeom>
          <a:solidFill>
            <a:srgbClr val="FFFFFF"/>
          </a:solidFill>
          <a:ln w="12700">
            <a:solidFill>
              <a:srgbClr val="E6DCDC">
                <a:alpha val="95000"/>
              </a:srgbClr>
            </a:solidFill>
            <a:prstDash val="solid"/>
          </a:ln>
        </p:spPr>
        <p:txBody>
          <a:bodyPr/>
          <a:lstStyle/>
          <a:p>
            <a:endParaRPr/>
          </a:p>
        </p:txBody>
      </p:sp>
      <p:sp>
        <p:nvSpPr>
          <p:cNvPr id="10" name="Shape 8"/>
          <p:cNvSpPr/>
          <p:nvPr/>
        </p:nvSpPr>
        <p:spPr>
          <a:xfrm>
            <a:off x="594360" y="1850135"/>
            <a:ext cx="292608" cy="292608"/>
          </a:xfrm>
          <a:prstGeom prst="ellipse">
            <a:avLst/>
          </a:prstGeom>
          <a:solidFill>
            <a:srgbClr val="B4001B"/>
          </a:solidFill>
          <a:ln w="12700">
            <a:solidFill>
              <a:srgbClr val="B4001B"/>
            </a:solidFill>
            <a:prstDash val="solid"/>
          </a:ln>
        </p:spPr>
        <p:txBody>
          <a:bodyPr/>
          <a:lstStyle/>
          <a:p>
            <a:endParaRPr/>
          </a:p>
        </p:txBody>
      </p:sp>
      <p:sp>
        <p:nvSpPr>
          <p:cNvPr id="11" name="Text 9"/>
          <p:cNvSpPr/>
          <p:nvPr/>
        </p:nvSpPr>
        <p:spPr>
          <a:xfrm>
            <a:off x="594360" y="1850135"/>
            <a:ext cx="292608" cy="292608"/>
          </a:xfrm>
          <a:prstGeom prst="rect">
            <a:avLst/>
          </a:prstGeom>
          <a:noFill/>
          <a:ln/>
        </p:spPr>
        <p:txBody>
          <a:bodyPr wrap="non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1</a:t>
            </a:r>
            <a:endParaRPr lang="en-US" sz="1100" b="1" dirty="0"/>
          </a:p>
        </p:txBody>
      </p:sp>
      <p:sp>
        <p:nvSpPr>
          <p:cNvPr id="12" name="Text 10"/>
          <p:cNvSpPr/>
          <p:nvPr/>
        </p:nvSpPr>
        <p:spPr>
          <a:xfrm>
            <a:off x="996695" y="1840991"/>
            <a:ext cx="2892552" cy="292608"/>
          </a:xfrm>
          <a:prstGeom prst="rect">
            <a:avLst/>
          </a:prstGeom>
          <a:noFill/>
          <a:ln/>
        </p:spPr>
        <p:txBody>
          <a:bodyPr wrap="square" lIns="0" tIns="0" rIns="0" bIns="0" rtlCol="0" anchor="t">
            <a:noAutofit/>
          </a:bodyPr>
          <a:lstStyle/>
          <a:p>
            <a:pPr marL="0" indent="0" algn="l">
              <a:lnSpc>
                <a:spcPct val="100000"/>
              </a:lnSpc>
              <a:buNone/>
            </a:pPr>
            <a:r>
              <a:rPr lang="en-US" sz="1800" b="1" i="1" dirty="0">
                <a:solidFill>
                  <a:srgbClr val="111111"/>
                </a:solidFill>
                <a:latin typeface="Georgia"/>
                <a:ea typeface="Georgia"/>
                <a:cs typeface="Georgia"/>
              </a:rPr>
              <a:t>Consultation</a:t>
            </a:r>
          </a:p>
        </p:txBody>
      </p:sp>
      <p:sp>
        <p:nvSpPr>
          <p:cNvPr id="13" name="Text 11"/>
          <p:cNvSpPr/>
          <p:nvPr/>
        </p:nvSpPr>
        <p:spPr>
          <a:xfrm>
            <a:off x="594360" y="2261616"/>
            <a:ext cx="3240024" cy="3810000"/>
          </a:xfrm>
          <a:prstGeom prst="rect">
            <a:avLst/>
          </a:prstGeom>
          <a:noFill/>
          <a:ln/>
        </p:spPr>
        <p:txBody>
          <a:bodyPr wrap="square" lIns="0" tIns="0" rIns="0" bIns="0" rtlCol="0" anchor="t">
            <a:noAutofit/>
          </a:bodyPr>
          <a:lstStyle/>
          <a:p>
            <a:pPr marL="0" indent="0">
              <a:lnSpc>
                <a:spcPct val="100000"/>
              </a:lnSpc>
              <a:spcBef>
                <a:spcPts val="0"/>
              </a:spcBef>
              <a:spcAft>
                <a:spcPts val="0"/>
              </a:spcAft>
              <a:buNone/>
            </a:pPr>
            <a:r>
              <a:rPr lang="en-US" sz="1800" dirty="0">
                <a:solidFill>
                  <a:srgbClr val="000000"/>
                </a:solidFill>
                <a:latin typeface="Aptos" pitchFamily="34" charset="0"/>
                <a:ea typeface="Aptos" pitchFamily="34" charset="-122"/>
                <a:cs typeface="Aptos" pitchFamily="34" charset="-120"/>
              </a:rPr>
              <a:t>Users answer questions or give feedback, but the design team controls the problem and final options.</a:t>
            </a:r>
            <a:endParaRPr lang="en-US" sz="1800" dirty="0">
              <a:solidFill>
                <a:srgbClr val="000000"/>
              </a:solidFill>
            </a:endParaRPr>
          </a:p>
        </p:txBody>
      </p:sp>
      <p:sp>
        <p:nvSpPr>
          <p:cNvPr id="14" name="Shape 12"/>
          <p:cNvSpPr/>
          <p:nvPr/>
        </p:nvSpPr>
        <p:spPr>
          <a:xfrm>
            <a:off x="4291584" y="1694688"/>
            <a:ext cx="3605784" cy="4504944"/>
          </a:xfrm>
          <a:prstGeom prst="rect">
            <a:avLst/>
          </a:prstGeom>
          <a:solidFill>
            <a:srgbClr val="FFF5F6"/>
          </a:solidFill>
          <a:ln w="12700">
            <a:solidFill>
              <a:srgbClr val="E6DCDC">
                <a:alpha val="95000"/>
              </a:srgbClr>
            </a:solidFill>
            <a:prstDash val="solid"/>
          </a:ln>
        </p:spPr>
        <p:txBody>
          <a:bodyPr/>
          <a:lstStyle/>
          <a:p>
            <a:endParaRPr/>
          </a:p>
        </p:txBody>
      </p:sp>
      <p:sp>
        <p:nvSpPr>
          <p:cNvPr id="15" name="Shape 13"/>
          <p:cNvSpPr/>
          <p:nvPr/>
        </p:nvSpPr>
        <p:spPr>
          <a:xfrm>
            <a:off x="4474464" y="1850135"/>
            <a:ext cx="292608" cy="292608"/>
          </a:xfrm>
          <a:prstGeom prst="ellipse">
            <a:avLst/>
          </a:prstGeom>
          <a:solidFill>
            <a:srgbClr val="B4001B"/>
          </a:solidFill>
          <a:ln w="12700">
            <a:solidFill>
              <a:srgbClr val="B4001B"/>
            </a:solidFill>
            <a:prstDash val="solid"/>
          </a:ln>
        </p:spPr>
        <p:txBody>
          <a:bodyPr/>
          <a:lstStyle/>
          <a:p>
            <a:endParaRPr/>
          </a:p>
        </p:txBody>
      </p:sp>
      <p:sp>
        <p:nvSpPr>
          <p:cNvPr id="16" name="Text 14"/>
          <p:cNvSpPr/>
          <p:nvPr/>
        </p:nvSpPr>
        <p:spPr>
          <a:xfrm>
            <a:off x="4474464" y="1850135"/>
            <a:ext cx="292608" cy="292608"/>
          </a:xfrm>
          <a:prstGeom prst="rect">
            <a:avLst/>
          </a:prstGeom>
          <a:noFill/>
          <a:ln/>
        </p:spPr>
        <p:txBody>
          <a:bodyPr wrap="non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2</a:t>
            </a:r>
            <a:endParaRPr lang="en-US" sz="1100" b="1" dirty="0"/>
          </a:p>
        </p:txBody>
      </p:sp>
      <p:sp>
        <p:nvSpPr>
          <p:cNvPr id="17" name="Text 15"/>
          <p:cNvSpPr/>
          <p:nvPr/>
        </p:nvSpPr>
        <p:spPr>
          <a:xfrm>
            <a:off x="4876800" y="1840991"/>
            <a:ext cx="2892552" cy="292608"/>
          </a:xfrm>
          <a:prstGeom prst="rect">
            <a:avLst/>
          </a:prstGeom>
          <a:noFill/>
          <a:ln/>
        </p:spPr>
        <p:txBody>
          <a:bodyPr wrap="square" lIns="0" tIns="0" rIns="0" bIns="0" rtlCol="0" anchor="t">
            <a:noAutofit/>
          </a:bodyPr>
          <a:lstStyle/>
          <a:p>
            <a:pPr marL="0" indent="0" algn="l">
              <a:lnSpc>
                <a:spcPct val="100000"/>
              </a:lnSpc>
              <a:buNone/>
            </a:pPr>
            <a:r>
              <a:rPr lang="en-US" sz="1800" b="1" i="1" dirty="0">
                <a:solidFill>
                  <a:srgbClr val="111111"/>
                </a:solidFill>
                <a:latin typeface="Georgia"/>
                <a:ea typeface="Georgia"/>
                <a:cs typeface="Georgia"/>
              </a:rPr>
              <a:t>Collaborative Analysis</a:t>
            </a:r>
          </a:p>
        </p:txBody>
      </p:sp>
      <p:sp>
        <p:nvSpPr>
          <p:cNvPr id="18" name="Text 16"/>
          <p:cNvSpPr/>
          <p:nvPr/>
        </p:nvSpPr>
        <p:spPr>
          <a:xfrm>
            <a:off x="4474464" y="2261616"/>
            <a:ext cx="3240024" cy="3810000"/>
          </a:xfrm>
          <a:prstGeom prst="rect">
            <a:avLst/>
          </a:prstGeom>
          <a:noFill/>
          <a:ln/>
        </p:spPr>
        <p:txBody>
          <a:bodyPr wrap="square" lIns="0" tIns="0" rIns="0" bIns="0" rtlCol="0" anchor="t">
            <a:noAutofit/>
          </a:bodyPr>
          <a:lstStyle/>
          <a:p>
            <a:pPr marL="0" indent="0">
              <a:lnSpc>
                <a:spcPct val="100000"/>
              </a:lnSpc>
              <a:spcBef>
                <a:spcPts val="0"/>
              </a:spcBef>
              <a:spcAft>
                <a:spcPts val="0"/>
              </a:spcAft>
              <a:buNone/>
            </a:pPr>
            <a:r>
              <a:rPr lang="en-US" sz="1800" dirty="0">
                <a:solidFill>
                  <a:srgbClr val="000000"/>
                </a:solidFill>
                <a:latin typeface="Aptos" pitchFamily="34" charset="0"/>
                <a:ea typeface="Aptos" pitchFamily="34" charset="-122"/>
                <a:cs typeface="Aptos" pitchFamily="34" charset="-120"/>
              </a:rPr>
              <a:t>Users and stakeholders help explore needs, compare alternatives, prioritize concerns and shape system workflows.</a:t>
            </a:r>
            <a:endParaRPr lang="en-US" sz="1800" dirty="0">
              <a:solidFill>
                <a:srgbClr val="000000"/>
              </a:solidFill>
            </a:endParaRPr>
          </a:p>
        </p:txBody>
      </p:sp>
      <p:sp>
        <p:nvSpPr>
          <p:cNvPr id="19" name="Shape 17"/>
          <p:cNvSpPr/>
          <p:nvPr/>
        </p:nvSpPr>
        <p:spPr>
          <a:xfrm>
            <a:off x="8171688" y="1694688"/>
            <a:ext cx="3605784" cy="4504944"/>
          </a:xfrm>
          <a:prstGeom prst="rect">
            <a:avLst/>
          </a:prstGeom>
          <a:solidFill>
            <a:srgbClr val="FFFFFF"/>
          </a:solidFill>
          <a:ln w="12700">
            <a:solidFill>
              <a:srgbClr val="E6DCDC">
                <a:alpha val="95000"/>
              </a:srgbClr>
            </a:solidFill>
            <a:prstDash val="solid"/>
          </a:ln>
        </p:spPr>
        <p:txBody>
          <a:bodyPr/>
          <a:lstStyle/>
          <a:p>
            <a:endParaRPr/>
          </a:p>
        </p:txBody>
      </p:sp>
      <p:sp>
        <p:nvSpPr>
          <p:cNvPr id="20" name="Shape 18"/>
          <p:cNvSpPr/>
          <p:nvPr/>
        </p:nvSpPr>
        <p:spPr>
          <a:xfrm>
            <a:off x="8354568" y="1850135"/>
            <a:ext cx="292608" cy="292608"/>
          </a:xfrm>
          <a:prstGeom prst="ellipse">
            <a:avLst/>
          </a:prstGeom>
          <a:solidFill>
            <a:srgbClr val="B4001B"/>
          </a:solidFill>
          <a:ln w="12700">
            <a:solidFill>
              <a:srgbClr val="B4001B"/>
            </a:solidFill>
            <a:prstDash val="solid"/>
          </a:ln>
        </p:spPr>
        <p:txBody>
          <a:bodyPr/>
          <a:lstStyle/>
          <a:p>
            <a:endParaRPr/>
          </a:p>
        </p:txBody>
      </p:sp>
      <p:sp>
        <p:nvSpPr>
          <p:cNvPr id="21" name="Text 19"/>
          <p:cNvSpPr/>
          <p:nvPr/>
        </p:nvSpPr>
        <p:spPr>
          <a:xfrm>
            <a:off x="8354568" y="1850135"/>
            <a:ext cx="292608" cy="292608"/>
          </a:xfrm>
          <a:prstGeom prst="rect">
            <a:avLst/>
          </a:prstGeom>
          <a:noFill/>
          <a:ln/>
        </p:spPr>
        <p:txBody>
          <a:bodyPr wrap="non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3</a:t>
            </a:r>
            <a:endParaRPr lang="en-US" sz="1100" b="1" dirty="0"/>
          </a:p>
        </p:txBody>
      </p:sp>
      <p:sp>
        <p:nvSpPr>
          <p:cNvPr id="22" name="Text 20"/>
          <p:cNvSpPr/>
          <p:nvPr/>
        </p:nvSpPr>
        <p:spPr>
          <a:xfrm>
            <a:off x="8756904" y="1840991"/>
            <a:ext cx="2892552" cy="292608"/>
          </a:xfrm>
          <a:prstGeom prst="rect">
            <a:avLst/>
          </a:prstGeom>
          <a:noFill/>
          <a:ln/>
        </p:spPr>
        <p:txBody>
          <a:bodyPr wrap="square" lIns="0" tIns="0" rIns="0" bIns="0" rtlCol="0" anchor="t">
            <a:noAutofit/>
          </a:bodyPr>
          <a:lstStyle/>
          <a:p>
            <a:pPr marL="0" indent="0" algn="l">
              <a:lnSpc>
                <a:spcPct val="100000"/>
              </a:lnSpc>
              <a:buNone/>
            </a:pPr>
            <a:r>
              <a:rPr lang="en-US" sz="1800" b="1" i="1" dirty="0">
                <a:solidFill>
                  <a:srgbClr val="111111"/>
                </a:solidFill>
                <a:latin typeface="Georgia"/>
                <a:ea typeface="Georgia"/>
                <a:cs typeface="Georgia"/>
              </a:rPr>
              <a:t>System Analysis Value</a:t>
            </a:r>
          </a:p>
        </p:txBody>
      </p:sp>
      <p:sp>
        <p:nvSpPr>
          <p:cNvPr id="23" name="Text 21"/>
          <p:cNvSpPr/>
          <p:nvPr/>
        </p:nvSpPr>
        <p:spPr>
          <a:xfrm>
            <a:off x="8354568" y="2261616"/>
            <a:ext cx="3240024" cy="3810000"/>
          </a:xfrm>
          <a:prstGeom prst="rect">
            <a:avLst/>
          </a:prstGeom>
          <a:noFill/>
          <a:ln/>
        </p:spPr>
        <p:txBody>
          <a:bodyPr wrap="square" lIns="0" tIns="0" rIns="0" bIns="0" rtlCol="0" anchor="t">
            <a:noAutofit/>
          </a:bodyPr>
          <a:lstStyle/>
          <a:p>
            <a:pPr marL="0" indent="0">
              <a:lnSpc>
                <a:spcPct val="100000"/>
              </a:lnSpc>
              <a:spcBef>
                <a:spcPts val="0"/>
              </a:spcBef>
              <a:spcAft>
                <a:spcPts val="0"/>
              </a:spcAft>
              <a:buNone/>
            </a:pPr>
            <a:r>
              <a:rPr lang="en-US" sz="1800" dirty="0">
                <a:solidFill>
                  <a:srgbClr val="000000"/>
                </a:solidFill>
                <a:latin typeface="Aptos" pitchFamily="34" charset="0"/>
                <a:ea typeface="Aptos" pitchFamily="34" charset="-122"/>
                <a:cs typeface="Aptos" pitchFamily="34" charset="-120"/>
              </a:rPr>
              <a:t>Reveals hidden priorities, ownership issues, social constraints and acceptance risks before SRS decisions become fixed.</a:t>
            </a:r>
            <a:endParaRPr lang="en-US" sz="1800" dirty="0">
              <a:solidFill>
                <a:srgbClr val="00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55448"/>
            <a:ext cx="5486400" cy="201168"/>
          </a:xfrm>
          <a:prstGeom prst="rect">
            <a:avLst/>
          </a:prstGeom>
          <a:noFill/>
          <a:ln/>
        </p:spPr>
        <p:txBody>
          <a:bodyPr wrap="square" lIns="0" tIns="0" rIns="0" bIns="0" rtlCol="0" anchor="ctr">
            <a:noAutofit/>
          </a:bodyPr>
          <a:lstStyle/>
          <a:p>
            <a:pPr marL="0" indent="0">
              <a:buNone/>
            </a:pPr>
            <a:r>
              <a:rPr lang="en-US" sz="1100" b="1" dirty="0">
                <a:solidFill>
                  <a:srgbClr val="B4001B"/>
                </a:solidFill>
                <a:latin typeface="Aptos" pitchFamily="34" charset="0"/>
                <a:ea typeface="Aptos" pitchFamily="34" charset="-122"/>
                <a:cs typeface="Aptos" pitchFamily="34" charset="-120"/>
              </a:rPr>
              <a:t>PARTICIPATORY ANALYSIS</a:t>
            </a:r>
            <a:endParaRPr lang="en-US" sz="1100" b="1" dirty="0"/>
          </a:p>
        </p:txBody>
      </p:sp>
      <p:sp>
        <p:nvSpPr>
          <p:cNvPr id="3" name="Text 1"/>
          <p:cNvSpPr/>
          <p:nvPr/>
        </p:nvSpPr>
        <p:spPr>
          <a:xfrm>
            <a:off x="411480" y="365760"/>
            <a:ext cx="11365992" cy="512064"/>
          </a:xfrm>
          <a:prstGeom prst="rect">
            <a:avLst/>
          </a:prstGeom>
          <a:noFill/>
          <a:ln/>
        </p:spPr>
        <p:txBody>
          <a:bodyPr wrap="square" lIns="0" tIns="0" rIns="0" bIns="0" rtlCol="0" anchor="ctr">
            <a:noAutofit/>
          </a:bodyPr>
          <a:lstStyle/>
          <a:p>
            <a:pPr marL="0" indent="0" algn="l">
              <a:buNone/>
            </a:pPr>
            <a:r>
              <a:rPr lang="en-US" sz="3200" b="1" i="1" dirty="0">
                <a:solidFill>
                  <a:srgbClr val="111111"/>
                </a:solidFill>
                <a:latin typeface="Georgia"/>
                <a:ea typeface="Georgia"/>
                <a:cs typeface="Georgia"/>
              </a:rPr>
              <a:t>Power and Genuine Stakeholder Participation</a:t>
            </a:r>
          </a:p>
        </p:txBody>
      </p:sp>
      <p:sp>
        <p:nvSpPr>
          <p:cNvPr id="4" name="Text 2"/>
          <p:cNvSpPr/>
          <p:nvPr/>
        </p:nvSpPr>
        <p:spPr>
          <a:xfrm>
            <a:off x="411480" y="932688"/>
            <a:ext cx="11365992" cy="280416"/>
          </a:xfrm>
          <a:prstGeom prst="rect">
            <a:avLst/>
          </a:prstGeom>
          <a:noFill/>
          <a:ln/>
        </p:spPr>
        <p:txBody>
          <a:bodyPr wrap="square" lIns="0" tIns="0" rIns="0" bIns="0" rtlCol="0" anchor="t">
            <a:noAutofit/>
          </a:bodyPr>
          <a:lstStyle/>
          <a:p>
            <a:pPr marL="0" indent="0" algn="l">
              <a:lnSpc>
                <a:spcPct val="100000"/>
              </a:lnSpc>
              <a:buNone/>
            </a:pPr>
            <a:r>
              <a:rPr lang="en-US" sz="1600" b="0" i="1" dirty="0">
                <a:solidFill>
                  <a:srgbClr val="000000"/>
                </a:solidFill>
                <a:latin typeface="Aptos"/>
                <a:ea typeface="Aptos"/>
                <a:cs typeface="Aptos"/>
              </a:rPr>
              <a:t>Participation is weak when decisions are already fixed and users only decorate the final choice.</a:t>
            </a:r>
          </a:p>
        </p:txBody>
      </p:sp>
      <p:sp>
        <p:nvSpPr>
          <p:cNvPr id="5" name="Text 3"/>
          <p:cNvSpPr/>
          <p:nvPr/>
        </p:nvSpPr>
        <p:spPr>
          <a:xfrm>
            <a:off x="502920" y="6565392"/>
            <a:ext cx="1280160" cy="109728"/>
          </a:xfrm>
          <a:prstGeom prst="rect">
            <a:avLst/>
          </a:prstGeom>
          <a:noFill/>
          <a:ln/>
        </p:spPr>
        <p:txBody>
          <a:bodyPr wrap="square" rtlCol="0" anchor="ctr"/>
          <a:lstStyle/>
          <a:p>
            <a:pPr marL="0" indent="0">
              <a:buNone/>
            </a:pPr>
            <a:r>
              <a:rPr lang="en-US" sz="790" dirty="0">
                <a:solidFill>
                  <a:srgbClr val="777777"/>
                </a:solidFill>
                <a:latin typeface="Aptos" pitchFamily="34" charset="0"/>
                <a:ea typeface="Aptos" pitchFamily="34" charset="-122"/>
                <a:cs typeface="Aptos" pitchFamily="34" charset="-120"/>
              </a:rPr>
              <a:t>1/28/2026</a:t>
            </a:r>
            <a:endParaRPr lang="en-US" sz="790" dirty="0"/>
          </a:p>
        </p:txBody>
      </p:sp>
      <p:sp>
        <p:nvSpPr>
          <p:cNvPr id="6" name="Text 4"/>
          <p:cNvSpPr/>
          <p:nvPr/>
        </p:nvSpPr>
        <p:spPr>
          <a:xfrm>
            <a:off x="5257800" y="6565392"/>
            <a:ext cx="1645920" cy="109728"/>
          </a:xfrm>
          <a:prstGeom prst="rect">
            <a:avLst/>
          </a:prstGeom>
          <a:noFill/>
          <a:ln/>
        </p:spPr>
        <p:txBody>
          <a:bodyPr wrap="square" rtlCol="0" anchor="ctr"/>
          <a:lstStyle/>
          <a:p>
            <a:pPr marL="0" indent="0" algn="ctr">
              <a:buNone/>
            </a:pPr>
            <a:r>
              <a:rPr lang="en-US" sz="790" dirty="0">
                <a:solidFill>
                  <a:srgbClr val="777777"/>
                </a:solidFill>
                <a:latin typeface="Aptos" pitchFamily="34" charset="0"/>
                <a:ea typeface="Aptos" pitchFamily="34" charset="-122"/>
                <a:cs typeface="Aptos" pitchFamily="34" charset="-120"/>
              </a:rPr>
              <a:t>Md. Manirujjaman</a:t>
            </a:r>
            <a:endParaRPr lang="en-US" sz="790" dirty="0"/>
          </a:p>
        </p:txBody>
      </p:sp>
      <p:sp>
        <p:nvSpPr>
          <p:cNvPr id="7" name="Shape 5"/>
          <p:cNvSpPr/>
          <p:nvPr/>
        </p:nvSpPr>
        <p:spPr>
          <a:xfrm>
            <a:off x="11430000" y="6327648"/>
            <a:ext cx="274320" cy="274320"/>
          </a:xfrm>
          <a:prstGeom prst="ellipse">
            <a:avLst/>
          </a:prstGeom>
          <a:solidFill>
            <a:srgbClr val="B4001B"/>
          </a:solidFill>
          <a:ln w="12700">
            <a:solidFill>
              <a:srgbClr val="B4001B"/>
            </a:solidFill>
            <a:prstDash val="solid"/>
          </a:ln>
        </p:spPr>
        <p:txBody>
          <a:bodyPr wrap="none" lIns="0" tIns="0" rIns="0" bIns="0" anchor="ctr"/>
          <a:lstStyle/>
          <a:p>
            <a:pPr algn="ctr"/>
            <a:fld id="{8A2B6C1E-3F4D-4E5A-9B7C-1D2E3F4A5B6C}" type="slidenum">
              <a:rPr lang="en-US" sz="900" b="1">
                <a:solidFill>
                  <a:srgbClr val="FFFFFF"/>
                </a:solidFill>
                <a:latin typeface="Aptos"/>
              </a:rPr>
              <a:t>20</a:t>
            </a:fld>
            <a:endParaRPr lang="en-US" sz="900" b="1">
              <a:solidFill>
                <a:srgbClr val="FFFFFF"/>
              </a:solidFill>
              <a:latin typeface="Aptos"/>
            </a:endParaRPr>
          </a:p>
        </p:txBody>
      </p:sp>
      <p:sp>
        <p:nvSpPr>
          <p:cNvPr id="9" name="Shape 7"/>
          <p:cNvSpPr/>
          <p:nvPr/>
        </p:nvSpPr>
        <p:spPr>
          <a:xfrm>
            <a:off x="411480" y="1450848"/>
            <a:ext cx="5545836" cy="4748784"/>
          </a:xfrm>
          <a:prstGeom prst="rect">
            <a:avLst/>
          </a:prstGeom>
          <a:solidFill>
            <a:srgbClr val="FFFFFF"/>
          </a:solidFill>
          <a:ln w="12700">
            <a:solidFill>
              <a:srgbClr val="E6DCDC">
                <a:alpha val="95000"/>
              </a:srgbClr>
            </a:solidFill>
            <a:prstDash val="solid"/>
          </a:ln>
        </p:spPr>
        <p:txBody>
          <a:bodyPr/>
          <a:lstStyle/>
          <a:p>
            <a:endParaRPr/>
          </a:p>
        </p:txBody>
      </p:sp>
      <p:sp>
        <p:nvSpPr>
          <p:cNvPr id="10" name="Shape 8"/>
          <p:cNvSpPr/>
          <p:nvPr/>
        </p:nvSpPr>
        <p:spPr>
          <a:xfrm>
            <a:off x="594360" y="1606296"/>
            <a:ext cx="292608" cy="292608"/>
          </a:xfrm>
          <a:prstGeom prst="ellipse">
            <a:avLst/>
          </a:prstGeom>
          <a:solidFill>
            <a:srgbClr val="B4001B"/>
          </a:solidFill>
          <a:ln w="12700">
            <a:solidFill>
              <a:srgbClr val="B4001B"/>
            </a:solidFill>
            <a:prstDash val="solid"/>
          </a:ln>
        </p:spPr>
        <p:txBody>
          <a:bodyPr/>
          <a:lstStyle/>
          <a:p>
            <a:endParaRPr/>
          </a:p>
        </p:txBody>
      </p:sp>
      <p:sp>
        <p:nvSpPr>
          <p:cNvPr id="11" name="Text 9"/>
          <p:cNvSpPr/>
          <p:nvPr/>
        </p:nvSpPr>
        <p:spPr>
          <a:xfrm>
            <a:off x="594360" y="1606296"/>
            <a:ext cx="292608" cy="292608"/>
          </a:xfrm>
          <a:prstGeom prst="rect">
            <a:avLst/>
          </a:prstGeom>
          <a:noFill/>
          <a:ln/>
        </p:spPr>
        <p:txBody>
          <a:bodyPr wrap="non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1</a:t>
            </a:r>
            <a:endParaRPr lang="en-US" sz="1100" b="1" dirty="0"/>
          </a:p>
        </p:txBody>
      </p:sp>
      <p:sp>
        <p:nvSpPr>
          <p:cNvPr id="12" name="Text 10"/>
          <p:cNvSpPr/>
          <p:nvPr/>
        </p:nvSpPr>
        <p:spPr>
          <a:xfrm>
            <a:off x="996695" y="1597152"/>
            <a:ext cx="4832604" cy="323088"/>
          </a:xfrm>
          <a:prstGeom prst="rect">
            <a:avLst/>
          </a:prstGeom>
          <a:noFill/>
          <a:ln/>
        </p:spPr>
        <p:txBody>
          <a:bodyPr wrap="square" lIns="0" tIns="0" rIns="0" bIns="0" rtlCol="0" anchor="t">
            <a:noAutofit/>
          </a:bodyPr>
          <a:lstStyle/>
          <a:p>
            <a:pPr marL="0" indent="0" algn="l">
              <a:lnSpc>
                <a:spcPct val="100000"/>
              </a:lnSpc>
              <a:buNone/>
            </a:pPr>
            <a:r>
              <a:rPr lang="en-US" sz="2000" b="1" i="1" dirty="0">
                <a:solidFill>
                  <a:srgbClr val="111111"/>
                </a:solidFill>
                <a:latin typeface="Georgia"/>
                <a:ea typeface="Georgia"/>
                <a:cs typeface="Georgia"/>
              </a:rPr>
              <a:t>Tokenistic</a:t>
            </a:r>
          </a:p>
        </p:txBody>
      </p:sp>
      <p:sp>
        <p:nvSpPr>
          <p:cNvPr id="13" name="Text 11"/>
          <p:cNvSpPr/>
          <p:nvPr/>
        </p:nvSpPr>
        <p:spPr>
          <a:xfrm>
            <a:off x="594360" y="2048256"/>
            <a:ext cx="5180076" cy="4023360"/>
          </a:xfrm>
          <a:prstGeom prst="rect">
            <a:avLst/>
          </a:prstGeom>
          <a:noFill/>
          <a:ln/>
        </p:spPr>
        <p:txBody>
          <a:bodyPr wrap="square" lIns="0" tIns="0" rIns="0" bIns="0" rtlCol="0" anchor="t">
            <a:noAutofit/>
          </a:bodyPr>
          <a:lstStyle/>
          <a:p>
            <a:pPr marL="0" indent="0">
              <a:lnSpc>
                <a:spcPct val="100000"/>
              </a:lnSpc>
              <a:spcBef>
                <a:spcPts val="0"/>
              </a:spcBef>
              <a:spcAft>
                <a:spcPts val="0"/>
              </a:spcAft>
              <a:buNone/>
            </a:pPr>
            <a:r>
              <a:rPr lang="en-US" sz="1800" dirty="0">
                <a:solidFill>
                  <a:srgbClr val="000000"/>
                </a:solidFill>
                <a:latin typeface="Aptos" pitchFamily="34" charset="0"/>
                <a:ea typeface="Aptos" pitchFamily="34" charset="-122"/>
                <a:cs typeface="Aptos" pitchFamily="34" charset="-120"/>
              </a:rPr>
              <a:t>• Problem already fixed</a:t>
            </a:r>
            <a:endParaRPr lang="en-US" sz="1800" dirty="0">
              <a:solidFill>
                <a:srgbClr val="000000"/>
              </a:solidFill>
            </a:endParaRPr>
          </a:p>
          <a:p>
            <a:pPr marL="0" indent="0">
              <a:lnSpc>
                <a:spcPct val="100000"/>
              </a:lnSpc>
              <a:spcBef>
                <a:spcPts val="1000"/>
              </a:spcBef>
              <a:spcAft>
                <a:spcPts val="0"/>
              </a:spcAft>
              <a:buNone/>
            </a:pPr>
            <a:r>
              <a:rPr lang="en-US" sz="1800" dirty="0">
                <a:solidFill>
                  <a:srgbClr val="000000"/>
                </a:solidFill>
                <a:latin typeface="Aptos" pitchFamily="34" charset="0"/>
                <a:ea typeface="Aptos" pitchFamily="34" charset="-122"/>
                <a:cs typeface="Aptos" pitchFamily="34" charset="-120"/>
              </a:rPr>
              <a:t>• Features already approved</a:t>
            </a:r>
            <a:endParaRPr lang="en-US" sz="1800" dirty="0">
              <a:solidFill>
                <a:srgbClr val="000000"/>
              </a:solidFill>
            </a:endParaRPr>
          </a:p>
          <a:p>
            <a:pPr marL="0" indent="0">
              <a:lnSpc>
                <a:spcPct val="100000"/>
              </a:lnSpc>
              <a:spcBef>
                <a:spcPts val="1000"/>
              </a:spcBef>
              <a:spcAft>
                <a:spcPts val="0"/>
              </a:spcAft>
              <a:buNone/>
            </a:pPr>
            <a:r>
              <a:rPr lang="en-US" sz="1800" dirty="0">
                <a:solidFill>
                  <a:srgbClr val="000000"/>
                </a:solidFill>
                <a:latin typeface="Aptos" pitchFamily="34" charset="0"/>
                <a:ea typeface="Aptos" pitchFamily="34" charset="-122"/>
                <a:cs typeface="Aptos" pitchFamily="34" charset="-120"/>
              </a:rPr>
              <a:t>• Users only choose colors or labels</a:t>
            </a:r>
            <a:endParaRPr lang="en-US" sz="1800" dirty="0">
              <a:solidFill>
                <a:srgbClr val="000000"/>
              </a:solidFill>
            </a:endParaRPr>
          </a:p>
          <a:p>
            <a:pPr marL="0" indent="0">
              <a:lnSpc>
                <a:spcPct val="100000"/>
              </a:lnSpc>
              <a:spcBef>
                <a:spcPts val="1000"/>
              </a:spcBef>
              <a:spcAft>
                <a:spcPts val="0"/>
              </a:spcAft>
              <a:buNone/>
            </a:pPr>
            <a:r>
              <a:rPr lang="en-US" sz="1800" dirty="0">
                <a:solidFill>
                  <a:srgbClr val="000000"/>
                </a:solidFill>
                <a:latin typeface="Aptos" pitchFamily="34" charset="0"/>
                <a:ea typeface="Aptos" pitchFamily="34" charset="-122"/>
                <a:cs typeface="Aptos" pitchFamily="34" charset="-120"/>
              </a:rPr>
              <a:t>• Constraints hidden from participants</a:t>
            </a:r>
            <a:endParaRPr lang="en-US" sz="1800" dirty="0">
              <a:solidFill>
                <a:srgbClr val="000000"/>
              </a:solidFill>
            </a:endParaRPr>
          </a:p>
          <a:p>
            <a:pPr marL="0" indent="0">
              <a:lnSpc>
                <a:spcPct val="100000"/>
              </a:lnSpc>
              <a:spcBef>
                <a:spcPts val="1000"/>
              </a:spcBef>
              <a:spcAft>
                <a:spcPts val="0"/>
              </a:spcAft>
              <a:buNone/>
            </a:pPr>
            <a:r>
              <a:rPr lang="en-US" sz="1800" dirty="0">
                <a:solidFill>
                  <a:srgbClr val="000000"/>
                </a:solidFill>
                <a:latin typeface="Aptos" pitchFamily="34" charset="0"/>
                <a:ea typeface="Aptos" pitchFamily="34" charset="-122"/>
                <a:cs typeface="Aptos" pitchFamily="34" charset="-120"/>
              </a:rPr>
              <a:t>• No explanation of how input is used</a:t>
            </a:r>
            <a:endParaRPr lang="en-US" sz="1800" dirty="0">
              <a:solidFill>
                <a:srgbClr val="000000"/>
              </a:solidFill>
            </a:endParaRPr>
          </a:p>
        </p:txBody>
      </p:sp>
      <p:sp>
        <p:nvSpPr>
          <p:cNvPr id="14" name="Shape 12"/>
          <p:cNvSpPr/>
          <p:nvPr/>
        </p:nvSpPr>
        <p:spPr>
          <a:xfrm>
            <a:off x="6231636" y="1450848"/>
            <a:ext cx="5545836" cy="4748784"/>
          </a:xfrm>
          <a:prstGeom prst="rect">
            <a:avLst/>
          </a:prstGeom>
          <a:solidFill>
            <a:srgbClr val="FFF5F6"/>
          </a:solidFill>
          <a:ln w="12700">
            <a:solidFill>
              <a:srgbClr val="E6DCDC">
                <a:alpha val="95000"/>
              </a:srgbClr>
            </a:solidFill>
            <a:prstDash val="solid"/>
          </a:ln>
        </p:spPr>
        <p:txBody>
          <a:bodyPr/>
          <a:lstStyle/>
          <a:p>
            <a:endParaRPr/>
          </a:p>
        </p:txBody>
      </p:sp>
      <p:sp>
        <p:nvSpPr>
          <p:cNvPr id="15" name="Shape 13"/>
          <p:cNvSpPr/>
          <p:nvPr/>
        </p:nvSpPr>
        <p:spPr>
          <a:xfrm>
            <a:off x="6414516" y="1606296"/>
            <a:ext cx="292608" cy="292608"/>
          </a:xfrm>
          <a:prstGeom prst="ellipse">
            <a:avLst/>
          </a:prstGeom>
          <a:solidFill>
            <a:srgbClr val="B4001B"/>
          </a:solidFill>
          <a:ln w="12700">
            <a:solidFill>
              <a:srgbClr val="B4001B"/>
            </a:solidFill>
            <a:prstDash val="solid"/>
          </a:ln>
        </p:spPr>
        <p:txBody>
          <a:bodyPr/>
          <a:lstStyle/>
          <a:p>
            <a:endParaRPr/>
          </a:p>
        </p:txBody>
      </p:sp>
      <p:sp>
        <p:nvSpPr>
          <p:cNvPr id="16" name="Text 14"/>
          <p:cNvSpPr/>
          <p:nvPr/>
        </p:nvSpPr>
        <p:spPr>
          <a:xfrm>
            <a:off x="6414516" y="1606296"/>
            <a:ext cx="292608" cy="292608"/>
          </a:xfrm>
          <a:prstGeom prst="rect">
            <a:avLst/>
          </a:prstGeom>
          <a:noFill/>
          <a:ln/>
        </p:spPr>
        <p:txBody>
          <a:bodyPr wrap="non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2</a:t>
            </a:r>
            <a:endParaRPr lang="en-US" sz="1100" b="1" dirty="0"/>
          </a:p>
        </p:txBody>
      </p:sp>
      <p:sp>
        <p:nvSpPr>
          <p:cNvPr id="17" name="Text 15"/>
          <p:cNvSpPr/>
          <p:nvPr/>
        </p:nvSpPr>
        <p:spPr>
          <a:xfrm>
            <a:off x="6816852" y="1597152"/>
            <a:ext cx="4832604" cy="323088"/>
          </a:xfrm>
          <a:prstGeom prst="rect">
            <a:avLst/>
          </a:prstGeom>
          <a:noFill/>
          <a:ln/>
        </p:spPr>
        <p:txBody>
          <a:bodyPr wrap="square" lIns="0" tIns="0" rIns="0" bIns="0" rtlCol="0" anchor="t">
            <a:noAutofit/>
          </a:bodyPr>
          <a:lstStyle/>
          <a:p>
            <a:pPr marL="0" indent="0" algn="l">
              <a:lnSpc>
                <a:spcPct val="100000"/>
              </a:lnSpc>
              <a:buNone/>
            </a:pPr>
            <a:r>
              <a:rPr lang="en-US" sz="2000" b="1" i="1" dirty="0">
                <a:solidFill>
                  <a:srgbClr val="111111"/>
                </a:solidFill>
                <a:latin typeface="Georgia"/>
                <a:ea typeface="Georgia"/>
                <a:cs typeface="Georgia"/>
              </a:rPr>
              <a:t>Genuine</a:t>
            </a:r>
          </a:p>
        </p:txBody>
      </p:sp>
      <p:sp>
        <p:nvSpPr>
          <p:cNvPr id="18" name="Text 16"/>
          <p:cNvSpPr/>
          <p:nvPr/>
        </p:nvSpPr>
        <p:spPr>
          <a:xfrm>
            <a:off x="6414516" y="2048256"/>
            <a:ext cx="5180076" cy="4023360"/>
          </a:xfrm>
          <a:prstGeom prst="rect">
            <a:avLst/>
          </a:prstGeom>
          <a:noFill/>
          <a:ln/>
        </p:spPr>
        <p:txBody>
          <a:bodyPr wrap="square" lIns="0" tIns="0" rIns="0" bIns="0" rtlCol="0" anchor="t">
            <a:noAutofit/>
          </a:bodyPr>
          <a:lstStyle/>
          <a:p>
            <a:pPr marL="0" indent="0">
              <a:lnSpc>
                <a:spcPct val="100000"/>
              </a:lnSpc>
              <a:spcBef>
                <a:spcPts val="0"/>
              </a:spcBef>
              <a:spcAft>
                <a:spcPts val="0"/>
              </a:spcAft>
              <a:buNone/>
            </a:pPr>
            <a:r>
              <a:rPr lang="en-US" sz="1800" dirty="0">
                <a:solidFill>
                  <a:srgbClr val="000000"/>
                </a:solidFill>
                <a:latin typeface="Aptos" pitchFamily="34" charset="0"/>
                <a:ea typeface="Aptos" pitchFamily="34" charset="-122"/>
                <a:cs typeface="Aptos" pitchFamily="34" charset="-120"/>
              </a:rPr>
              <a:t>• Problem framing still open</a:t>
            </a:r>
            <a:endParaRPr lang="en-US" sz="1800" dirty="0">
              <a:solidFill>
                <a:srgbClr val="000000"/>
              </a:solidFill>
            </a:endParaRPr>
          </a:p>
          <a:p>
            <a:pPr marL="0" indent="0">
              <a:lnSpc>
                <a:spcPct val="100000"/>
              </a:lnSpc>
              <a:spcBef>
                <a:spcPts val="1000"/>
              </a:spcBef>
              <a:spcAft>
                <a:spcPts val="0"/>
              </a:spcAft>
              <a:buNone/>
            </a:pPr>
            <a:r>
              <a:rPr lang="en-US" sz="1800" dirty="0">
                <a:solidFill>
                  <a:srgbClr val="000000"/>
                </a:solidFill>
                <a:latin typeface="Aptos" pitchFamily="34" charset="0"/>
                <a:ea typeface="Aptos" pitchFamily="34" charset="-122"/>
                <a:cs typeface="Aptos" pitchFamily="34" charset="-120"/>
              </a:rPr>
              <a:t>• Affected groups are represented</a:t>
            </a:r>
            <a:endParaRPr lang="en-US" sz="1800" dirty="0">
              <a:solidFill>
                <a:srgbClr val="000000"/>
              </a:solidFill>
            </a:endParaRPr>
          </a:p>
          <a:p>
            <a:pPr marL="0" indent="0">
              <a:lnSpc>
                <a:spcPct val="100000"/>
              </a:lnSpc>
              <a:spcBef>
                <a:spcPts val="1000"/>
              </a:spcBef>
              <a:spcAft>
                <a:spcPts val="0"/>
              </a:spcAft>
              <a:buNone/>
            </a:pPr>
            <a:r>
              <a:rPr lang="en-US" sz="1800" dirty="0">
                <a:solidFill>
                  <a:srgbClr val="000000"/>
                </a:solidFill>
                <a:latin typeface="Aptos" pitchFamily="34" charset="0"/>
                <a:ea typeface="Aptos" pitchFamily="34" charset="-122"/>
                <a:cs typeface="Aptos" pitchFamily="34" charset="-120"/>
              </a:rPr>
              <a:t>• Activities let non-designers express ideas</a:t>
            </a:r>
            <a:endParaRPr lang="en-US" sz="1800" dirty="0">
              <a:solidFill>
                <a:srgbClr val="000000"/>
              </a:solidFill>
            </a:endParaRPr>
          </a:p>
          <a:p>
            <a:pPr marL="0" indent="0">
              <a:lnSpc>
                <a:spcPct val="100000"/>
              </a:lnSpc>
              <a:spcBef>
                <a:spcPts val="1000"/>
              </a:spcBef>
              <a:spcAft>
                <a:spcPts val="0"/>
              </a:spcAft>
              <a:buNone/>
            </a:pPr>
            <a:r>
              <a:rPr lang="en-US" sz="1800" dirty="0">
                <a:solidFill>
                  <a:srgbClr val="000000"/>
                </a:solidFill>
                <a:latin typeface="Aptos" pitchFamily="34" charset="0"/>
                <a:ea typeface="Aptos" pitchFamily="34" charset="-122"/>
                <a:cs typeface="Aptos" pitchFamily="34" charset="-120"/>
              </a:rPr>
              <a:t>• Constraints are made transparent</a:t>
            </a:r>
            <a:endParaRPr lang="en-US" sz="1800" dirty="0">
              <a:solidFill>
                <a:srgbClr val="000000"/>
              </a:solidFill>
            </a:endParaRPr>
          </a:p>
          <a:p>
            <a:pPr marL="0" indent="0">
              <a:lnSpc>
                <a:spcPct val="100000"/>
              </a:lnSpc>
              <a:spcBef>
                <a:spcPts val="1000"/>
              </a:spcBef>
              <a:spcAft>
                <a:spcPts val="0"/>
              </a:spcAft>
              <a:buNone/>
            </a:pPr>
            <a:r>
              <a:rPr lang="en-US" sz="1800" dirty="0">
                <a:solidFill>
                  <a:srgbClr val="000000"/>
                </a:solidFill>
                <a:latin typeface="Aptos" pitchFamily="34" charset="0"/>
                <a:ea typeface="Aptos" pitchFamily="34" charset="-122"/>
                <a:cs typeface="Aptos" pitchFamily="34" charset="-120"/>
              </a:rPr>
              <a:t>• Input can change priorities and requirements</a:t>
            </a:r>
            <a:endParaRPr lang="en-US" sz="1800" dirty="0">
              <a:solidFill>
                <a:srgbClr val="00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55448"/>
            <a:ext cx="5486400" cy="201168"/>
          </a:xfrm>
          <a:prstGeom prst="rect">
            <a:avLst/>
          </a:prstGeom>
          <a:noFill/>
          <a:ln/>
        </p:spPr>
        <p:txBody>
          <a:bodyPr wrap="square" lIns="0" tIns="0" rIns="0" bIns="0" rtlCol="0" anchor="ctr">
            <a:noAutofit/>
          </a:bodyPr>
          <a:lstStyle/>
          <a:p>
            <a:pPr marL="0" indent="0">
              <a:buNone/>
            </a:pPr>
            <a:r>
              <a:rPr lang="en-US" sz="1100" b="1" dirty="0">
                <a:solidFill>
                  <a:srgbClr val="B4001B"/>
                </a:solidFill>
                <a:latin typeface="Aptos" pitchFamily="34" charset="0"/>
                <a:ea typeface="Aptos" pitchFamily="34" charset="-122"/>
                <a:cs typeface="Aptos" pitchFamily="34" charset="-120"/>
              </a:rPr>
              <a:t>METHOD SELECTION</a:t>
            </a:r>
            <a:endParaRPr lang="en-US" sz="1100" b="1" dirty="0"/>
          </a:p>
        </p:txBody>
      </p:sp>
      <p:sp>
        <p:nvSpPr>
          <p:cNvPr id="3" name="Text 1"/>
          <p:cNvSpPr/>
          <p:nvPr/>
        </p:nvSpPr>
        <p:spPr>
          <a:xfrm>
            <a:off x="411480" y="365760"/>
            <a:ext cx="11365992" cy="512064"/>
          </a:xfrm>
          <a:prstGeom prst="rect">
            <a:avLst/>
          </a:prstGeom>
          <a:noFill/>
          <a:ln/>
        </p:spPr>
        <p:txBody>
          <a:bodyPr wrap="square" lIns="0" tIns="0" rIns="0" bIns="0" rtlCol="0" anchor="ctr">
            <a:noAutofit/>
          </a:bodyPr>
          <a:lstStyle/>
          <a:p>
            <a:pPr marL="0" indent="0" algn="l">
              <a:buNone/>
            </a:pPr>
            <a:r>
              <a:rPr lang="en-US" sz="3200" b="1" i="1" dirty="0">
                <a:solidFill>
                  <a:srgbClr val="111111"/>
                </a:solidFill>
                <a:latin typeface="Georgia"/>
                <a:ea typeface="Georgia"/>
                <a:cs typeface="Georgia"/>
              </a:rPr>
              <a:t>Match Method to Requirement Uncertainty</a:t>
            </a:r>
          </a:p>
        </p:txBody>
      </p:sp>
      <p:sp>
        <p:nvSpPr>
          <p:cNvPr id="4" name="Text 2"/>
          <p:cNvSpPr/>
          <p:nvPr/>
        </p:nvSpPr>
        <p:spPr>
          <a:xfrm>
            <a:off x="411480" y="932688"/>
            <a:ext cx="11365992" cy="280416"/>
          </a:xfrm>
          <a:prstGeom prst="rect">
            <a:avLst/>
          </a:prstGeom>
          <a:noFill/>
          <a:ln/>
        </p:spPr>
        <p:txBody>
          <a:bodyPr wrap="square" lIns="0" tIns="0" rIns="0" bIns="0" rtlCol="0" anchor="t">
            <a:noAutofit/>
          </a:bodyPr>
          <a:lstStyle/>
          <a:p>
            <a:pPr marL="0" indent="0" algn="l">
              <a:lnSpc>
                <a:spcPct val="100000"/>
              </a:lnSpc>
              <a:buNone/>
            </a:pPr>
            <a:r>
              <a:rPr lang="en-US" sz="1600" b="0" i="1" dirty="0">
                <a:solidFill>
                  <a:srgbClr val="000000"/>
                </a:solidFill>
                <a:latin typeface="Aptos"/>
                <a:ea typeface="Aptos"/>
                <a:cs typeface="Aptos"/>
              </a:rPr>
              <a:t>Choose tools based on what the analyst does not yet know.</a:t>
            </a:r>
          </a:p>
        </p:txBody>
      </p:sp>
      <p:sp>
        <p:nvSpPr>
          <p:cNvPr id="5" name="Text 3"/>
          <p:cNvSpPr/>
          <p:nvPr/>
        </p:nvSpPr>
        <p:spPr>
          <a:xfrm>
            <a:off x="502920" y="6565392"/>
            <a:ext cx="1280160" cy="109728"/>
          </a:xfrm>
          <a:prstGeom prst="rect">
            <a:avLst/>
          </a:prstGeom>
          <a:noFill/>
          <a:ln/>
        </p:spPr>
        <p:txBody>
          <a:bodyPr wrap="square" rtlCol="0" anchor="ctr"/>
          <a:lstStyle/>
          <a:p>
            <a:pPr marL="0" indent="0">
              <a:buNone/>
            </a:pPr>
            <a:r>
              <a:rPr lang="en-US" sz="790" dirty="0">
                <a:solidFill>
                  <a:srgbClr val="777777"/>
                </a:solidFill>
                <a:latin typeface="Aptos" pitchFamily="34" charset="0"/>
                <a:ea typeface="Aptos" pitchFamily="34" charset="-122"/>
                <a:cs typeface="Aptos" pitchFamily="34" charset="-120"/>
              </a:rPr>
              <a:t>1/28/2026</a:t>
            </a:r>
            <a:endParaRPr lang="en-US" sz="790" dirty="0"/>
          </a:p>
        </p:txBody>
      </p:sp>
      <p:sp>
        <p:nvSpPr>
          <p:cNvPr id="6" name="Text 4"/>
          <p:cNvSpPr/>
          <p:nvPr/>
        </p:nvSpPr>
        <p:spPr>
          <a:xfrm>
            <a:off x="5257800" y="6565392"/>
            <a:ext cx="1645920" cy="109728"/>
          </a:xfrm>
          <a:prstGeom prst="rect">
            <a:avLst/>
          </a:prstGeom>
          <a:noFill/>
          <a:ln/>
        </p:spPr>
        <p:txBody>
          <a:bodyPr wrap="square" rtlCol="0" anchor="ctr"/>
          <a:lstStyle/>
          <a:p>
            <a:pPr marL="0" indent="0" algn="ctr">
              <a:buNone/>
            </a:pPr>
            <a:r>
              <a:rPr lang="en-US" sz="790" dirty="0">
                <a:solidFill>
                  <a:srgbClr val="777777"/>
                </a:solidFill>
                <a:latin typeface="Aptos" pitchFamily="34" charset="0"/>
                <a:ea typeface="Aptos" pitchFamily="34" charset="-122"/>
                <a:cs typeface="Aptos" pitchFamily="34" charset="-120"/>
              </a:rPr>
              <a:t>Md. Manirujjaman</a:t>
            </a:r>
            <a:endParaRPr lang="en-US" sz="790" dirty="0"/>
          </a:p>
        </p:txBody>
      </p:sp>
      <p:sp>
        <p:nvSpPr>
          <p:cNvPr id="7" name="Shape 5"/>
          <p:cNvSpPr/>
          <p:nvPr/>
        </p:nvSpPr>
        <p:spPr>
          <a:xfrm>
            <a:off x="11430000" y="6327648"/>
            <a:ext cx="274320" cy="274320"/>
          </a:xfrm>
          <a:prstGeom prst="ellipse">
            <a:avLst/>
          </a:prstGeom>
          <a:solidFill>
            <a:srgbClr val="B4001B"/>
          </a:solidFill>
          <a:ln w="12700">
            <a:solidFill>
              <a:srgbClr val="B4001B"/>
            </a:solidFill>
            <a:prstDash val="solid"/>
          </a:ln>
        </p:spPr>
        <p:txBody>
          <a:bodyPr wrap="none" lIns="0" tIns="0" rIns="0" bIns="0" anchor="ctr"/>
          <a:lstStyle/>
          <a:p>
            <a:pPr algn="ctr"/>
            <a:fld id="{8A2B6C1E-3F4D-4E5A-9B7C-1D2E3F4A5B6C}" type="slidenum">
              <a:rPr lang="en-US" sz="900" b="1">
                <a:solidFill>
                  <a:srgbClr val="FFFFFF"/>
                </a:solidFill>
                <a:latin typeface="Aptos"/>
              </a:rPr>
              <a:t>21</a:t>
            </a:fld>
            <a:endParaRPr lang="en-US" sz="900" b="1">
              <a:solidFill>
                <a:srgbClr val="FFFFFF"/>
              </a:solidFill>
              <a:latin typeface="Aptos"/>
            </a:endParaRPr>
          </a:p>
        </p:txBody>
      </p:sp>
      <p:sp>
        <p:nvSpPr>
          <p:cNvPr id="9" name="Shape 7"/>
          <p:cNvSpPr/>
          <p:nvPr/>
        </p:nvSpPr>
        <p:spPr>
          <a:xfrm>
            <a:off x="411480" y="1450848"/>
            <a:ext cx="3605784" cy="2237232"/>
          </a:xfrm>
          <a:prstGeom prst="rect">
            <a:avLst/>
          </a:prstGeom>
          <a:solidFill>
            <a:srgbClr val="FFFFFF"/>
          </a:solidFill>
          <a:ln w="12700">
            <a:solidFill>
              <a:srgbClr val="E6DCDC">
                <a:alpha val="95000"/>
              </a:srgbClr>
            </a:solidFill>
            <a:prstDash val="solid"/>
          </a:ln>
        </p:spPr>
        <p:txBody>
          <a:bodyPr/>
          <a:lstStyle/>
          <a:p>
            <a:endParaRPr/>
          </a:p>
        </p:txBody>
      </p:sp>
      <p:sp>
        <p:nvSpPr>
          <p:cNvPr id="10" name="Text 8"/>
          <p:cNvSpPr/>
          <p:nvPr/>
        </p:nvSpPr>
        <p:spPr>
          <a:xfrm>
            <a:off x="594360" y="1597152"/>
            <a:ext cx="3294887" cy="292608"/>
          </a:xfrm>
          <a:prstGeom prst="rect">
            <a:avLst/>
          </a:prstGeom>
          <a:noFill/>
          <a:ln/>
        </p:spPr>
        <p:txBody>
          <a:bodyPr wrap="square" lIns="0" tIns="0" rIns="0" bIns="0" rtlCol="0" anchor="t">
            <a:noAutofit/>
          </a:bodyPr>
          <a:lstStyle/>
          <a:p>
            <a:pPr marL="0" indent="0" algn="l">
              <a:lnSpc>
                <a:spcPct val="100000"/>
              </a:lnSpc>
              <a:buNone/>
            </a:pPr>
            <a:r>
              <a:rPr lang="en-US" sz="1800" b="1" i="1" dirty="0">
                <a:solidFill>
                  <a:srgbClr val="111111"/>
                </a:solidFill>
                <a:latin typeface="Georgia"/>
                <a:ea typeface="Georgia"/>
                <a:cs typeface="Georgia"/>
              </a:rPr>
              <a:t>Low Uncertainty</a:t>
            </a:r>
          </a:p>
        </p:txBody>
      </p:sp>
      <p:sp>
        <p:nvSpPr>
          <p:cNvPr id="11" name="Text 9"/>
          <p:cNvSpPr/>
          <p:nvPr/>
        </p:nvSpPr>
        <p:spPr>
          <a:xfrm>
            <a:off x="594360" y="2017776"/>
            <a:ext cx="3240024" cy="1542287"/>
          </a:xfrm>
          <a:prstGeom prst="rect">
            <a:avLst/>
          </a:prstGeom>
          <a:noFill/>
          <a:ln/>
        </p:spPr>
        <p:txBody>
          <a:bodyPr wrap="square" lIns="0" tIns="0" rIns="0" bIns="0" rtlCol="0" anchor="t">
            <a:noAutofit/>
          </a:bodyPr>
          <a:lstStyle/>
          <a:p>
            <a:pPr marL="0" indent="0">
              <a:lnSpc>
                <a:spcPct val="100000"/>
              </a:lnSpc>
              <a:spcBef>
                <a:spcPts val="0"/>
              </a:spcBef>
              <a:spcAft>
                <a:spcPts val="0"/>
              </a:spcAft>
              <a:buNone/>
            </a:pPr>
            <a:r>
              <a:rPr lang="en-US" sz="1600" dirty="0">
                <a:solidFill>
                  <a:srgbClr val="000000"/>
                </a:solidFill>
                <a:latin typeface="Aptos" pitchFamily="34" charset="0"/>
                <a:ea typeface="Aptos" pitchFamily="34" charset="-122"/>
                <a:cs typeface="Aptos" pitchFamily="34" charset="-120"/>
              </a:rPr>
              <a:t>Structured interviews, document analysis, existing reports</a:t>
            </a:r>
            <a:endParaRPr lang="en-US" sz="1600" dirty="0">
              <a:solidFill>
                <a:srgbClr val="000000"/>
              </a:solidFill>
            </a:endParaRPr>
          </a:p>
          <a:p>
            <a:pPr marL="0" indent="0">
              <a:lnSpc>
                <a:spcPct val="100000"/>
              </a:lnSpc>
              <a:spcBef>
                <a:spcPts val="1400"/>
              </a:spcBef>
              <a:spcAft>
                <a:spcPts val="0"/>
              </a:spcAft>
              <a:buNone/>
            </a:pPr>
            <a:r>
              <a:rPr lang="en-US" sz="1600" dirty="0">
                <a:solidFill>
                  <a:srgbClr val="000000"/>
                </a:solidFill>
                <a:latin typeface="Aptos" pitchFamily="34" charset="0"/>
                <a:ea typeface="Aptos" pitchFamily="34" charset="-122"/>
                <a:cs typeface="Aptos" pitchFamily="34" charset="-120"/>
              </a:rPr>
              <a:t>Example: Rules are stable: payroll, fees, formal approval flows</a:t>
            </a:r>
            <a:endParaRPr lang="en-US" sz="1600" dirty="0">
              <a:solidFill>
                <a:srgbClr val="000000"/>
              </a:solidFill>
            </a:endParaRPr>
          </a:p>
        </p:txBody>
      </p:sp>
      <p:sp>
        <p:nvSpPr>
          <p:cNvPr id="12" name="Shape 10"/>
          <p:cNvSpPr/>
          <p:nvPr/>
        </p:nvSpPr>
        <p:spPr>
          <a:xfrm>
            <a:off x="4291584" y="1450848"/>
            <a:ext cx="3605784" cy="2237232"/>
          </a:xfrm>
          <a:prstGeom prst="rect">
            <a:avLst/>
          </a:prstGeom>
          <a:solidFill>
            <a:srgbClr val="FFF9F9"/>
          </a:solidFill>
          <a:ln w="12700">
            <a:solidFill>
              <a:srgbClr val="E6DCDC">
                <a:alpha val="95000"/>
              </a:srgbClr>
            </a:solidFill>
            <a:prstDash val="solid"/>
          </a:ln>
        </p:spPr>
        <p:txBody>
          <a:bodyPr/>
          <a:lstStyle/>
          <a:p>
            <a:endParaRPr/>
          </a:p>
        </p:txBody>
      </p:sp>
      <p:sp>
        <p:nvSpPr>
          <p:cNvPr id="13" name="Text 11"/>
          <p:cNvSpPr/>
          <p:nvPr/>
        </p:nvSpPr>
        <p:spPr>
          <a:xfrm>
            <a:off x="4474464" y="1597152"/>
            <a:ext cx="3294888" cy="292608"/>
          </a:xfrm>
          <a:prstGeom prst="rect">
            <a:avLst/>
          </a:prstGeom>
          <a:noFill/>
          <a:ln/>
        </p:spPr>
        <p:txBody>
          <a:bodyPr wrap="square" lIns="0" tIns="0" rIns="0" bIns="0" rtlCol="0" anchor="t">
            <a:noAutofit/>
          </a:bodyPr>
          <a:lstStyle/>
          <a:p>
            <a:pPr marL="0" indent="0" algn="l">
              <a:lnSpc>
                <a:spcPct val="100000"/>
              </a:lnSpc>
              <a:buNone/>
            </a:pPr>
            <a:r>
              <a:rPr lang="en-US" sz="1800" b="1" i="1" dirty="0">
                <a:solidFill>
                  <a:srgbClr val="111111"/>
                </a:solidFill>
                <a:latin typeface="Georgia"/>
                <a:ea typeface="Georgia"/>
                <a:cs typeface="Georgia"/>
              </a:rPr>
              <a:t>Unknown Reason</a:t>
            </a:r>
          </a:p>
        </p:txBody>
      </p:sp>
      <p:sp>
        <p:nvSpPr>
          <p:cNvPr id="14" name="Text 12"/>
          <p:cNvSpPr/>
          <p:nvPr/>
        </p:nvSpPr>
        <p:spPr>
          <a:xfrm>
            <a:off x="4474464" y="2017776"/>
            <a:ext cx="3240024" cy="1542287"/>
          </a:xfrm>
          <a:prstGeom prst="rect">
            <a:avLst/>
          </a:prstGeom>
          <a:noFill/>
          <a:ln/>
        </p:spPr>
        <p:txBody>
          <a:bodyPr wrap="square" lIns="0" tIns="0" rIns="0" bIns="0" rtlCol="0" anchor="t">
            <a:noAutofit/>
          </a:bodyPr>
          <a:lstStyle/>
          <a:p>
            <a:pPr marL="0" indent="0">
              <a:lnSpc>
                <a:spcPct val="100000"/>
              </a:lnSpc>
              <a:spcBef>
                <a:spcPts val="0"/>
              </a:spcBef>
              <a:spcAft>
                <a:spcPts val="0"/>
              </a:spcAft>
              <a:buNone/>
            </a:pPr>
            <a:r>
              <a:rPr lang="en-US" sz="1600" dirty="0">
                <a:solidFill>
                  <a:srgbClr val="000000"/>
                </a:solidFill>
                <a:latin typeface="Aptos" pitchFamily="34" charset="0"/>
                <a:ea typeface="Aptos" pitchFamily="34" charset="-122"/>
                <a:cs typeface="Aptos" pitchFamily="34" charset="-120"/>
              </a:rPr>
              <a:t>Semi-structured interviews + CI</a:t>
            </a:r>
            <a:endParaRPr lang="en-US" sz="1600" dirty="0">
              <a:solidFill>
                <a:srgbClr val="000000"/>
              </a:solidFill>
            </a:endParaRPr>
          </a:p>
          <a:p>
            <a:pPr marL="0" indent="0">
              <a:lnSpc>
                <a:spcPct val="100000"/>
              </a:lnSpc>
              <a:spcBef>
                <a:spcPts val="1400"/>
              </a:spcBef>
              <a:spcAft>
                <a:spcPts val="0"/>
              </a:spcAft>
              <a:buNone/>
            </a:pPr>
            <a:r>
              <a:rPr lang="en-US" sz="1600" dirty="0">
                <a:solidFill>
                  <a:srgbClr val="000000"/>
                </a:solidFill>
                <a:latin typeface="Aptos" pitchFamily="34" charset="0"/>
                <a:ea typeface="Aptos" pitchFamily="34" charset="-122"/>
                <a:cs typeface="Aptos" pitchFamily="34" charset="-120"/>
              </a:rPr>
              <a:t>Example: You know users fail, but not why</a:t>
            </a:r>
            <a:endParaRPr lang="en-US" sz="1600" dirty="0">
              <a:solidFill>
                <a:srgbClr val="000000"/>
              </a:solidFill>
            </a:endParaRPr>
          </a:p>
        </p:txBody>
      </p:sp>
      <p:sp>
        <p:nvSpPr>
          <p:cNvPr id="15" name="Shape 13"/>
          <p:cNvSpPr/>
          <p:nvPr/>
        </p:nvSpPr>
        <p:spPr>
          <a:xfrm>
            <a:off x="8171688" y="1450848"/>
            <a:ext cx="3605784" cy="2237232"/>
          </a:xfrm>
          <a:prstGeom prst="rect">
            <a:avLst/>
          </a:prstGeom>
          <a:solidFill>
            <a:srgbClr val="FFFFFF"/>
          </a:solidFill>
          <a:ln w="12700">
            <a:solidFill>
              <a:srgbClr val="E6DCDC">
                <a:alpha val="95000"/>
              </a:srgbClr>
            </a:solidFill>
            <a:prstDash val="solid"/>
          </a:ln>
        </p:spPr>
        <p:txBody>
          <a:bodyPr/>
          <a:lstStyle/>
          <a:p>
            <a:endParaRPr/>
          </a:p>
        </p:txBody>
      </p:sp>
      <p:sp>
        <p:nvSpPr>
          <p:cNvPr id="16" name="Text 14"/>
          <p:cNvSpPr/>
          <p:nvPr/>
        </p:nvSpPr>
        <p:spPr>
          <a:xfrm>
            <a:off x="8354568" y="1597152"/>
            <a:ext cx="3294888" cy="292608"/>
          </a:xfrm>
          <a:prstGeom prst="rect">
            <a:avLst/>
          </a:prstGeom>
          <a:noFill/>
          <a:ln/>
        </p:spPr>
        <p:txBody>
          <a:bodyPr wrap="square" lIns="0" tIns="0" rIns="0" bIns="0" rtlCol="0" anchor="t">
            <a:noAutofit/>
          </a:bodyPr>
          <a:lstStyle/>
          <a:p>
            <a:pPr marL="0" indent="0" algn="l">
              <a:lnSpc>
                <a:spcPct val="100000"/>
              </a:lnSpc>
              <a:buNone/>
            </a:pPr>
            <a:r>
              <a:rPr lang="en-US" sz="1800" b="1" i="1" dirty="0">
                <a:solidFill>
                  <a:srgbClr val="111111"/>
                </a:solidFill>
                <a:latin typeface="Georgia"/>
                <a:ea typeface="Georgia"/>
                <a:cs typeface="Georgia"/>
              </a:rPr>
              <a:t>Shared Practices</a:t>
            </a:r>
          </a:p>
        </p:txBody>
      </p:sp>
      <p:sp>
        <p:nvSpPr>
          <p:cNvPr id="17" name="Text 15"/>
          <p:cNvSpPr/>
          <p:nvPr/>
        </p:nvSpPr>
        <p:spPr>
          <a:xfrm>
            <a:off x="8354568" y="2017776"/>
            <a:ext cx="3240024" cy="1542287"/>
          </a:xfrm>
          <a:prstGeom prst="rect">
            <a:avLst/>
          </a:prstGeom>
          <a:noFill/>
          <a:ln/>
        </p:spPr>
        <p:txBody>
          <a:bodyPr wrap="square" lIns="0" tIns="0" rIns="0" bIns="0" rtlCol="0" anchor="t">
            <a:noAutofit/>
          </a:bodyPr>
          <a:lstStyle/>
          <a:p>
            <a:pPr marL="0" indent="0">
              <a:lnSpc>
                <a:spcPct val="100000"/>
              </a:lnSpc>
              <a:spcBef>
                <a:spcPts val="0"/>
              </a:spcBef>
              <a:spcAft>
                <a:spcPts val="0"/>
              </a:spcAft>
              <a:buNone/>
            </a:pPr>
            <a:r>
              <a:rPr lang="en-US" sz="1600" dirty="0">
                <a:solidFill>
                  <a:srgbClr val="000000"/>
                </a:solidFill>
                <a:latin typeface="Aptos" pitchFamily="34" charset="0"/>
                <a:ea typeface="Aptos" pitchFamily="34" charset="-122"/>
                <a:cs typeface="Aptos" pitchFamily="34" charset="-120"/>
              </a:rPr>
              <a:t>Focus groups + workshops/JAD</a:t>
            </a:r>
            <a:endParaRPr lang="en-US" sz="1600" dirty="0">
              <a:solidFill>
                <a:srgbClr val="000000"/>
              </a:solidFill>
            </a:endParaRPr>
          </a:p>
          <a:p>
            <a:pPr marL="0" indent="0">
              <a:lnSpc>
                <a:spcPct val="100000"/>
              </a:lnSpc>
              <a:spcBef>
                <a:spcPts val="1400"/>
              </a:spcBef>
              <a:spcAft>
                <a:spcPts val="0"/>
              </a:spcAft>
              <a:buNone/>
            </a:pPr>
            <a:r>
              <a:rPr lang="en-US" sz="1600" dirty="0">
                <a:solidFill>
                  <a:srgbClr val="000000"/>
                </a:solidFill>
                <a:latin typeface="Aptos" pitchFamily="34" charset="0"/>
                <a:ea typeface="Aptos" pitchFamily="34" charset="-122"/>
                <a:cs typeface="Aptos" pitchFamily="34" charset="-120"/>
              </a:rPr>
              <a:t>Example: Need group vocabulary, norms or cross-role conflicts</a:t>
            </a:r>
            <a:endParaRPr lang="en-US" sz="1600" dirty="0">
              <a:solidFill>
                <a:srgbClr val="000000"/>
              </a:solidFill>
            </a:endParaRPr>
          </a:p>
        </p:txBody>
      </p:sp>
      <p:sp>
        <p:nvSpPr>
          <p:cNvPr id="18" name="Shape 16"/>
          <p:cNvSpPr/>
          <p:nvPr/>
        </p:nvSpPr>
        <p:spPr>
          <a:xfrm>
            <a:off x="411480" y="3962399"/>
            <a:ext cx="3605784" cy="2237232"/>
          </a:xfrm>
          <a:prstGeom prst="rect">
            <a:avLst/>
          </a:prstGeom>
          <a:solidFill>
            <a:srgbClr val="FFF9F9"/>
          </a:solidFill>
          <a:ln w="12700">
            <a:solidFill>
              <a:srgbClr val="E6DCDC">
                <a:alpha val="95000"/>
              </a:srgbClr>
            </a:solidFill>
            <a:prstDash val="solid"/>
          </a:ln>
        </p:spPr>
        <p:txBody>
          <a:bodyPr/>
          <a:lstStyle/>
          <a:p>
            <a:endParaRPr/>
          </a:p>
        </p:txBody>
      </p:sp>
      <p:sp>
        <p:nvSpPr>
          <p:cNvPr id="19" name="Text 17"/>
          <p:cNvSpPr/>
          <p:nvPr/>
        </p:nvSpPr>
        <p:spPr>
          <a:xfrm>
            <a:off x="594360" y="4108704"/>
            <a:ext cx="3294887" cy="292608"/>
          </a:xfrm>
          <a:prstGeom prst="rect">
            <a:avLst/>
          </a:prstGeom>
          <a:noFill/>
          <a:ln/>
        </p:spPr>
        <p:txBody>
          <a:bodyPr wrap="square" lIns="0" tIns="0" rIns="0" bIns="0" rtlCol="0" anchor="t">
            <a:noAutofit/>
          </a:bodyPr>
          <a:lstStyle/>
          <a:p>
            <a:pPr marL="0" indent="0" algn="l">
              <a:lnSpc>
                <a:spcPct val="100000"/>
              </a:lnSpc>
              <a:buNone/>
            </a:pPr>
            <a:r>
              <a:rPr lang="en-US" sz="1800" b="1" i="1" dirty="0">
                <a:solidFill>
                  <a:srgbClr val="111111"/>
                </a:solidFill>
                <a:latin typeface="Georgia"/>
                <a:ea typeface="Georgia"/>
                <a:cs typeface="Georgia"/>
              </a:rPr>
              <a:t>Breadth Needed</a:t>
            </a:r>
          </a:p>
        </p:txBody>
      </p:sp>
      <p:sp>
        <p:nvSpPr>
          <p:cNvPr id="20" name="Text 18"/>
          <p:cNvSpPr/>
          <p:nvPr/>
        </p:nvSpPr>
        <p:spPr>
          <a:xfrm>
            <a:off x="594360" y="4529328"/>
            <a:ext cx="3240024" cy="1542287"/>
          </a:xfrm>
          <a:prstGeom prst="rect">
            <a:avLst/>
          </a:prstGeom>
          <a:noFill/>
          <a:ln/>
        </p:spPr>
        <p:txBody>
          <a:bodyPr wrap="square" lIns="0" tIns="0" rIns="0" bIns="0" rtlCol="0" anchor="t">
            <a:noAutofit/>
          </a:bodyPr>
          <a:lstStyle/>
          <a:p>
            <a:pPr marL="0" indent="0">
              <a:lnSpc>
                <a:spcPct val="100000"/>
              </a:lnSpc>
              <a:spcBef>
                <a:spcPts val="0"/>
              </a:spcBef>
              <a:spcAft>
                <a:spcPts val="0"/>
              </a:spcAft>
              <a:buNone/>
            </a:pPr>
            <a:r>
              <a:rPr lang="en-US" sz="1600" dirty="0">
                <a:solidFill>
                  <a:srgbClr val="000000"/>
                </a:solidFill>
                <a:latin typeface="Aptos" pitchFamily="34" charset="0"/>
                <a:ea typeface="Aptos" pitchFamily="34" charset="-122"/>
                <a:cs typeface="Aptos" pitchFamily="34" charset="-120"/>
              </a:rPr>
              <a:t>Survey</a:t>
            </a:r>
            <a:endParaRPr lang="en-US" sz="1600" dirty="0">
              <a:solidFill>
                <a:srgbClr val="000000"/>
              </a:solidFill>
            </a:endParaRPr>
          </a:p>
          <a:p>
            <a:pPr marL="0" indent="0">
              <a:lnSpc>
                <a:spcPct val="100000"/>
              </a:lnSpc>
              <a:spcBef>
                <a:spcPts val="1400"/>
              </a:spcBef>
              <a:spcAft>
                <a:spcPts val="0"/>
              </a:spcAft>
              <a:buNone/>
            </a:pPr>
            <a:r>
              <a:rPr lang="en-US" sz="1600" dirty="0">
                <a:solidFill>
                  <a:srgbClr val="000000"/>
                </a:solidFill>
                <a:latin typeface="Aptos" pitchFamily="34" charset="0"/>
                <a:ea typeface="Aptos" pitchFamily="34" charset="-122"/>
                <a:cs typeface="Aptos" pitchFamily="34" charset="-120"/>
              </a:rPr>
              <a:t>Example: Need how many users, roles or devices report issue</a:t>
            </a:r>
            <a:endParaRPr lang="en-US" sz="1600" dirty="0">
              <a:solidFill>
                <a:srgbClr val="000000"/>
              </a:solidFill>
            </a:endParaRPr>
          </a:p>
        </p:txBody>
      </p:sp>
      <p:sp>
        <p:nvSpPr>
          <p:cNvPr id="21" name="Shape 19"/>
          <p:cNvSpPr/>
          <p:nvPr/>
        </p:nvSpPr>
        <p:spPr>
          <a:xfrm>
            <a:off x="4291584" y="3962399"/>
            <a:ext cx="3605784" cy="2237232"/>
          </a:xfrm>
          <a:prstGeom prst="rect">
            <a:avLst/>
          </a:prstGeom>
          <a:solidFill>
            <a:srgbClr val="FFFFFF"/>
          </a:solidFill>
          <a:ln w="12700">
            <a:solidFill>
              <a:srgbClr val="E6DCDC">
                <a:alpha val="95000"/>
              </a:srgbClr>
            </a:solidFill>
            <a:prstDash val="solid"/>
          </a:ln>
        </p:spPr>
        <p:txBody>
          <a:bodyPr/>
          <a:lstStyle/>
          <a:p>
            <a:endParaRPr/>
          </a:p>
        </p:txBody>
      </p:sp>
      <p:sp>
        <p:nvSpPr>
          <p:cNvPr id="22" name="Text 20"/>
          <p:cNvSpPr/>
          <p:nvPr/>
        </p:nvSpPr>
        <p:spPr>
          <a:xfrm>
            <a:off x="4474464" y="4108704"/>
            <a:ext cx="3294888" cy="292608"/>
          </a:xfrm>
          <a:prstGeom prst="rect">
            <a:avLst/>
          </a:prstGeom>
          <a:noFill/>
          <a:ln/>
        </p:spPr>
        <p:txBody>
          <a:bodyPr wrap="square" lIns="0" tIns="0" rIns="0" bIns="0" rtlCol="0" anchor="t">
            <a:noAutofit/>
          </a:bodyPr>
          <a:lstStyle/>
          <a:p>
            <a:pPr marL="0" indent="0" algn="l">
              <a:lnSpc>
                <a:spcPct val="100000"/>
              </a:lnSpc>
              <a:buNone/>
            </a:pPr>
            <a:r>
              <a:rPr lang="en-US" sz="1800" b="1" i="1" dirty="0">
                <a:solidFill>
                  <a:srgbClr val="111111"/>
                </a:solidFill>
                <a:latin typeface="Georgia"/>
                <a:ea typeface="Georgia"/>
                <a:cs typeface="Georgia"/>
              </a:rPr>
              <a:t>Change Over Time</a:t>
            </a:r>
          </a:p>
        </p:txBody>
      </p:sp>
      <p:sp>
        <p:nvSpPr>
          <p:cNvPr id="23" name="Text 21"/>
          <p:cNvSpPr/>
          <p:nvPr/>
        </p:nvSpPr>
        <p:spPr>
          <a:xfrm>
            <a:off x="4474464" y="4529328"/>
            <a:ext cx="3240024" cy="1542287"/>
          </a:xfrm>
          <a:prstGeom prst="rect">
            <a:avLst/>
          </a:prstGeom>
          <a:noFill/>
          <a:ln/>
        </p:spPr>
        <p:txBody>
          <a:bodyPr wrap="square" lIns="0" tIns="0" rIns="0" bIns="0" rtlCol="0" anchor="t">
            <a:noAutofit/>
          </a:bodyPr>
          <a:lstStyle/>
          <a:p>
            <a:pPr marL="0" indent="0">
              <a:lnSpc>
                <a:spcPct val="100000"/>
              </a:lnSpc>
              <a:spcBef>
                <a:spcPts val="0"/>
              </a:spcBef>
              <a:spcAft>
                <a:spcPts val="0"/>
              </a:spcAft>
              <a:buNone/>
            </a:pPr>
            <a:r>
              <a:rPr lang="en-US" sz="1600" dirty="0">
                <a:solidFill>
                  <a:srgbClr val="000000"/>
                </a:solidFill>
                <a:latin typeface="Aptos" pitchFamily="34" charset="0"/>
                <a:ea typeface="Aptos" pitchFamily="34" charset="-122"/>
                <a:cs typeface="Aptos" pitchFamily="34" charset="-120"/>
              </a:rPr>
              <a:t>Diary study</a:t>
            </a:r>
            <a:endParaRPr lang="en-US" sz="1600" dirty="0">
              <a:solidFill>
                <a:srgbClr val="000000"/>
              </a:solidFill>
            </a:endParaRPr>
          </a:p>
          <a:p>
            <a:pPr marL="0" indent="0">
              <a:lnSpc>
                <a:spcPct val="100000"/>
              </a:lnSpc>
              <a:spcBef>
                <a:spcPts val="1400"/>
              </a:spcBef>
              <a:spcAft>
                <a:spcPts val="0"/>
              </a:spcAft>
              <a:buNone/>
            </a:pPr>
            <a:r>
              <a:rPr lang="en-US" sz="1600" dirty="0">
                <a:solidFill>
                  <a:srgbClr val="000000"/>
                </a:solidFill>
                <a:latin typeface="Aptos" pitchFamily="34" charset="0"/>
                <a:ea typeface="Aptos" pitchFamily="34" charset="-122"/>
                <a:cs typeface="Aptos" pitchFamily="34" charset="-120"/>
              </a:rPr>
              <a:t>Example: Need repeated events, triggers or semester-long experience</a:t>
            </a:r>
            <a:endParaRPr lang="en-US" sz="1600" dirty="0">
              <a:solidFill>
                <a:srgbClr val="000000"/>
              </a:solidFill>
            </a:endParaRPr>
          </a:p>
        </p:txBody>
      </p:sp>
      <p:sp>
        <p:nvSpPr>
          <p:cNvPr id="24" name="Shape 22"/>
          <p:cNvSpPr/>
          <p:nvPr/>
        </p:nvSpPr>
        <p:spPr>
          <a:xfrm>
            <a:off x="8171688" y="3962399"/>
            <a:ext cx="3605784" cy="2237232"/>
          </a:xfrm>
          <a:prstGeom prst="rect">
            <a:avLst/>
          </a:prstGeom>
          <a:solidFill>
            <a:srgbClr val="FFF9F9"/>
          </a:solidFill>
          <a:ln w="12700">
            <a:solidFill>
              <a:srgbClr val="E6DCDC">
                <a:alpha val="95000"/>
              </a:srgbClr>
            </a:solidFill>
            <a:prstDash val="solid"/>
          </a:ln>
        </p:spPr>
        <p:txBody>
          <a:bodyPr/>
          <a:lstStyle/>
          <a:p>
            <a:endParaRPr/>
          </a:p>
        </p:txBody>
      </p:sp>
      <p:sp>
        <p:nvSpPr>
          <p:cNvPr id="25" name="Text 23"/>
          <p:cNvSpPr/>
          <p:nvPr/>
        </p:nvSpPr>
        <p:spPr>
          <a:xfrm>
            <a:off x="8354568" y="4108704"/>
            <a:ext cx="3294888" cy="292608"/>
          </a:xfrm>
          <a:prstGeom prst="rect">
            <a:avLst/>
          </a:prstGeom>
          <a:noFill/>
          <a:ln/>
        </p:spPr>
        <p:txBody>
          <a:bodyPr wrap="square" lIns="0" tIns="0" rIns="0" bIns="0" rtlCol="0" anchor="t">
            <a:noAutofit/>
          </a:bodyPr>
          <a:lstStyle/>
          <a:p>
            <a:pPr marL="0" indent="0" algn="l">
              <a:lnSpc>
                <a:spcPct val="100000"/>
              </a:lnSpc>
              <a:buNone/>
            </a:pPr>
            <a:r>
              <a:rPr lang="en-US" sz="1800" b="1" i="1" dirty="0">
                <a:solidFill>
                  <a:srgbClr val="111111"/>
                </a:solidFill>
                <a:latin typeface="Georgia"/>
                <a:ea typeface="Georgia"/>
                <a:cs typeface="Georgia"/>
              </a:rPr>
              <a:t>High Solution Ambiguity</a:t>
            </a:r>
          </a:p>
        </p:txBody>
      </p:sp>
      <p:sp>
        <p:nvSpPr>
          <p:cNvPr id="26" name="Text 24"/>
          <p:cNvSpPr/>
          <p:nvPr/>
        </p:nvSpPr>
        <p:spPr>
          <a:xfrm>
            <a:off x="8354568" y="4529328"/>
            <a:ext cx="3240024" cy="1542287"/>
          </a:xfrm>
          <a:prstGeom prst="rect">
            <a:avLst/>
          </a:prstGeom>
          <a:noFill/>
          <a:ln/>
        </p:spPr>
        <p:txBody>
          <a:bodyPr wrap="square" lIns="0" tIns="0" rIns="0" bIns="0" rtlCol="0" anchor="t">
            <a:noAutofit/>
          </a:bodyPr>
          <a:lstStyle/>
          <a:p>
            <a:pPr marL="0" indent="0">
              <a:lnSpc>
                <a:spcPct val="100000"/>
              </a:lnSpc>
              <a:spcBef>
                <a:spcPts val="0"/>
              </a:spcBef>
              <a:spcAft>
                <a:spcPts val="0"/>
              </a:spcAft>
              <a:buNone/>
            </a:pPr>
            <a:r>
              <a:rPr lang="en-US" sz="1600" dirty="0">
                <a:solidFill>
                  <a:srgbClr val="000000"/>
                </a:solidFill>
                <a:latin typeface="Aptos" pitchFamily="34" charset="0"/>
                <a:ea typeface="Aptos" pitchFamily="34" charset="-122"/>
                <a:cs typeface="Aptos" pitchFamily="34" charset="-120"/>
              </a:rPr>
              <a:t>Participatory analysis + prototyping</a:t>
            </a:r>
            <a:endParaRPr lang="en-US" sz="1600" dirty="0">
              <a:solidFill>
                <a:srgbClr val="000000"/>
              </a:solidFill>
            </a:endParaRPr>
          </a:p>
          <a:p>
            <a:pPr marL="0" indent="0">
              <a:lnSpc>
                <a:spcPct val="100000"/>
              </a:lnSpc>
              <a:spcBef>
                <a:spcPts val="1400"/>
              </a:spcBef>
              <a:spcAft>
                <a:spcPts val="0"/>
              </a:spcAft>
              <a:buNone/>
            </a:pPr>
            <a:r>
              <a:rPr lang="en-US" sz="1600" dirty="0">
                <a:solidFill>
                  <a:srgbClr val="000000"/>
                </a:solidFill>
                <a:latin typeface="Aptos" pitchFamily="34" charset="0"/>
                <a:ea typeface="Aptos" pitchFamily="34" charset="-122"/>
                <a:cs typeface="Aptos" pitchFamily="34" charset="-120"/>
              </a:rPr>
              <a:t>Example: Problem framing or system alternatives are still open</a:t>
            </a:r>
            <a:endParaRPr lang="en-US" sz="1600" dirty="0">
              <a:solidFill>
                <a:srgbClr val="0000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55448"/>
            <a:ext cx="5486400" cy="201168"/>
          </a:xfrm>
          <a:prstGeom prst="rect">
            <a:avLst/>
          </a:prstGeom>
          <a:noFill/>
          <a:ln/>
        </p:spPr>
        <p:txBody>
          <a:bodyPr wrap="square" lIns="0" tIns="0" rIns="0" bIns="0" rtlCol="0" anchor="ctr">
            <a:noAutofit/>
          </a:bodyPr>
          <a:lstStyle/>
          <a:p>
            <a:pPr marL="0" indent="0">
              <a:buNone/>
            </a:pPr>
            <a:r>
              <a:rPr lang="en-US" sz="1100" b="1" dirty="0">
                <a:solidFill>
                  <a:srgbClr val="B4001B"/>
                </a:solidFill>
                <a:latin typeface="Aptos" pitchFamily="34" charset="0"/>
                <a:ea typeface="Aptos" pitchFamily="34" charset="-122"/>
                <a:cs typeface="Aptos" pitchFamily="34" charset="-120"/>
              </a:rPr>
              <a:t>METHOD INTEGRATION</a:t>
            </a:r>
            <a:endParaRPr lang="en-US" sz="1100" b="1" dirty="0"/>
          </a:p>
        </p:txBody>
      </p:sp>
      <p:sp>
        <p:nvSpPr>
          <p:cNvPr id="3" name="Text 1"/>
          <p:cNvSpPr/>
          <p:nvPr/>
        </p:nvSpPr>
        <p:spPr>
          <a:xfrm>
            <a:off x="411480" y="365760"/>
            <a:ext cx="11365992" cy="512064"/>
          </a:xfrm>
          <a:prstGeom prst="rect">
            <a:avLst/>
          </a:prstGeom>
          <a:noFill/>
          <a:ln/>
        </p:spPr>
        <p:txBody>
          <a:bodyPr wrap="square" lIns="0" tIns="0" rIns="0" bIns="0" rtlCol="0" anchor="ctr">
            <a:noAutofit/>
          </a:bodyPr>
          <a:lstStyle/>
          <a:p>
            <a:pPr marL="0" indent="0" algn="l">
              <a:buNone/>
            </a:pPr>
            <a:r>
              <a:rPr lang="en-US" sz="3200" b="1" i="1" dirty="0">
                <a:solidFill>
                  <a:srgbClr val="111111"/>
                </a:solidFill>
                <a:latin typeface="Georgia"/>
                <a:ea typeface="Georgia"/>
                <a:cs typeface="Georgia"/>
              </a:rPr>
              <a:t>Requirement-Gathering Sequence</a:t>
            </a:r>
          </a:p>
        </p:txBody>
      </p:sp>
      <p:sp>
        <p:nvSpPr>
          <p:cNvPr id="5" name="Text 3"/>
          <p:cNvSpPr/>
          <p:nvPr/>
        </p:nvSpPr>
        <p:spPr>
          <a:xfrm>
            <a:off x="502920" y="6565392"/>
            <a:ext cx="1280160" cy="109728"/>
          </a:xfrm>
          <a:prstGeom prst="rect">
            <a:avLst/>
          </a:prstGeom>
          <a:noFill/>
          <a:ln/>
        </p:spPr>
        <p:txBody>
          <a:bodyPr wrap="square" rtlCol="0" anchor="ctr"/>
          <a:lstStyle/>
          <a:p>
            <a:pPr marL="0" indent="0">
              <a:buNone/>
            </a:pPr>
            <a:r>
              <a:rPr lang="en-US" sz="790" dirty="0">
                <a:solidFill>
                  <a:srgbClr val="777777"/>
                </a:solidFill>
                <a:latin typeface="Aptos" pitchFamily="34" charset="0"/>
                <a:ea typeface="Aptos" pitchFamily="34" charset="-122"/>
                <a:cs typeface="Aptos" pitchFamily="34" charset="-120"/>
              </a:rPr>
              <a:t>1/28/2026</a:t>
            </a:r>
            <a:endParaRPr lang="en-US" sz="790" dirty="0"/>
          </a:p>
        </p:txBody>
      </p:sp>
      <p:sp>
        <p:nvSpPr>
          <p:cNvPr id="6" name="Text 4"/>
          <p:cNvSpPr/>
          <p:nvPr/>
        </p:nvSpPr>
        <p:spPr>
          <a:xfrm>
            <a:off x="5257800" y="6565392"/>
            <a:ext cx="1645920" cy="109728"/>
          </a:xfrm>
          <a:prstGeom prst="rect">
            <a:avLst/>
          </a:prstGeom>
          <a:noFill/>
          <a:ln/>
        </p:spPr>
        <p:txBody>
          <a:bodyPr wrap="square" rtlCol="0" anchor="ctr"/>
          <a:lstStyle/>
          <a:p>
            <a:pPr marL="0" indent="0" algn="ctr">
              <a:buNone/>
            </a:pPr>
            <a:r>
              <a:rPr lang="en-US" sz="790" dirty="0">
                <a:solidFill>
                  <a:srgbClr val="777777"/>
                </a:solidFill>
                <a:latin typeface="Aptos" pitchFamily="34" charset="0"/>
                <a:ea typeface="Aptos" pitchFamily="34" charset="-122"/>
                <a:cs typeface="Aptos" pitchFamily="34" charset="-120"/>
              </a:rPr>
              <a:t>Md. Manirujjaman</a:t>
            </a:r>
            <a:endParaRPr lang="en-US" sz="790" dirty="0"/>
          </a:p>
        </p:txBody>
      </p:sp>
      <p:sp>
        <p:nvSpPr>
          <p:cNvPr id="7" name="Shape 5"/>
          <p:cNvSpPr/>
          <p:nvPr/>
        </p:nvSpPr>
        <p:spPr>
          <a:xfrm>
            <a:off x="11430000" y="6327648"/>
            <a:ext cx="274320" cy="274320"/>
          </a:xfrm>
          <a:prstGeom prst="ellipse">
            <a:avLst/>
          </a:prstGeom>
          <a:solidFill>
            <a:srgbClr val="B4001B"/>
          </a:solidFill>
          <a:ln w="12700">
            <a:solidFill>
              <a:srgbClr val="B4001B"/>
            </a:solidFill>
            <a:prstDash val="solid"/>
          </a:ln>
        </p:spPr>
        <p:txBody>
          <a:bodyPr wrap="none" lIns="0" tIns="0" rIns="0" bIns="0" anchor="ctr"/>
          <a:lstStyle/>
          <a:p>
            <a:pPr algn="ctr"/>
            <a:fld id="{8A2B6C1E-3F4D-4E5A-9B7C-1D2E3F4A5B6C}" type="slidenum">
              <a:rPr lang="en-US" sz="900" b="1">
                <a:solidFill>
                  <a:srgbClr val="FFFFFF"/>
                </a:solidFill>
                <a:latin typeface="Aptos"/>
              </a:rPr>
              <a:t>22</a:t>
            </a:fld>
            <a:endParaRPr lang="en-US" sz="900" b="1">
              <a:solidFill>
                <a:srgbClr val="FFFFFF"/>
              </a:solidFill>
              <a:latin typeface="Aptos"/>
            </a:endParaRPr>
          </a:p>
        </p:txBody>
      </p:sp>
      <p:sp>
        <p:nvSpPr>
          <p:cNvPr id="9" name="Shape 7"/>
          <p:cNvSpPr/>
          <p:nvPr/>
        </p:nvSpPr>
        <p:spPr>
          <a:xfrm>
            <a:off x="374904" y="1714500"/>
            <a:ext cx="1665732" cy="2164080"/>
          </a:xfrm>
          <a:prstGeom prst="rect">
            <a:avLst/>
          </a:prstGeom>
          <a:solidFill>
            <a:srgbClr val="FFFFFF"/>
          </a:solidFill>
          <a:ln w="12700">
            <a:solidFill>
              <a:srgbClr val="E6DCDC">
                <a:alpha val="95000"/>
              </a:srgbClr>
            </a:solidFill>
            <a:prstDash val="solid"/>
          </a:ln>
        </p:spPr>
        <p:txBody>
          <a:bodyPr/>
          <a:lstStyle/>
          <a:p>
            <a:endParaRPr/>
          </a:p>
        </p:txBody>
      </p:sp>
      <p:sp>
        <p:nvSpPr>
          <p:cNvPr id="10" name="Text 8"/>
          <p:cNvSpPr/>
          <p:nvPr/>
        </p:nvSpPr>
        <p:spPr>
          <a:xfrm>
            <a:off x="512064" y="1860804"/>
            <a:ext cx="1446276" cy="749808"/>
          </a:xfrm>
          <a:prstGeom prst="rect">
            <a:avLst/>
          </a:prstGeom>
          <a:noFill/>
          <a:ln/>
        </p:spPr>
        <p:txBody>
          <a:bodyPr wrap="square" lIns="0" tIns="0" rIns="0" bIns="0" rtlCol="0" anchor="t">
            <a:noAutofit/>
          </a:bodyPr>
          <a:lstStyle/>
          <a:p>
            <a:pPr marL="0" indent="0">
              <a:buNone/>
            </a:pPr>
            <a:r>
              <a:rPr lang="en-US" sz="1600" b="1" i="1" dirty="0">
                <a:solidFill>
                  <a:srgbClr val="111111"/>
                </a:solidFill>
                <a:latin typeface="Georgia"/>
                <a:ea typeface="Georgia"/>
                <a:cs typeface="Georgia"/>
              </a:rPr>
              <a:t>Document Analysis</a:t>
            </a:r>
          </a:p>
        </p:txBody>
      </p:sp>
      <p:sp>
        <p:nvSpPr>
          <p:cNvPr id="11" name="Text 9"/>
          <p:cNvSpPr/>
          <p:nvPr/>
        </p:nvSpPr>
        <p:spPr>
          <a:xfrm>
            <a:off x="512064" y="2702052"/>
            <a:ext cx="1418844" cy="1048512"/>
          </a:xfrm>
          <a:prstGeom prst="rect">
            <a:avLst/>
          </a:prstGeom>
          <a:noFill/>
          <a:ln/>
        </p:spPr>
        <p:txBody>
          <a:bodyPr wrap="square" lIns="0" tIns="0" rIns="0" bIns="0" rtlCol="0" anchor="t">
            <a:noAutofit/>
          </a:bodyPr>
          <a:lstStyle/>
          <a:p>
            <a:pPr marL="0" indent="0">
              <a:buNone/>
            </a:pPr>
            <a:r>
              <a:rPr lang="en-US" sz="1600" dirty="0">
                <a:solidFill>
                  <a:srgbClr val="000000"/>
                </a:solidFill>
                <a:latin typeface="Aptos" pitchFamily="34" charset="0"/>
                <a:ea typeface="Aptos" pitchFamily="34" charset="-122"/>
                <a:cs typeface="Aptos" pitchFamily="34" charset="-120"/>
              </a:rPr>
              <a:t>Existing rules, forms, reports</a:t>
            </a:r>
            <a:endParaRPr lang="en-US" sz="1600" dirty="0">
              <a:solidFill>
                <a:srgbClr val="000000"/>
              </a:solidFill>
            </a:endParaRPr>
          </a:p>
        </p:txBody>
      </p:sp>
      <p:sp>
        <p:nvSpPr>
          <p:cNvPr id="12" name="Shape 10"/>
          <p:cNvSpPr/>
          <p:nvPr/>
        </p:nvSpPr>
        <p:spPr>
          <a:xfrm>
            <a:off x="2077212" y="2796540"/>
            <a:ext cx="201168" cy="0"/>
          </a:xfrm>
          <a:prstGeom prst="line">
            <a:avLst/>
          </a:prstGeom>
          <a:noFill/>
          <a:ln w="13970">
            <a:solidFill>
              <a:srgbClr val="B4001B"/>
            </a:solidFill>
            <a:prstDash val="solid"/>
            <a:headEnd type="none"/>
            <a:tailEnd type="triangle"/>
          </a:ln>
        </p:spPr>
        <p:txBody>
          <a:bodyPr/>
          <a:lstStyle/>
          <a:p>
            <a:endParaRPr/>
          </a:p>
        </p:txBody>
      </p:sp>
      <p:sp>
        <p:nvSpPr>
          <p:cNvPr id="13" name="Shape 11"/>
          <p:cNvSpPr/>
          <p:nvPr/>
        </p:nvSpPr>
        <p:spPr>
          <a:xfrm>
            <a:off x="2314956" y="1714500"/>
            <a:ext cx="1665732" cy="2164080"/>
          </a:xfrm>
          <a:prstGeom prst="rect">
            <a:avLst/>
          </a:prstGeom>
          <a:solidFill>
            <a:srgbClr val="FFFFFF"/>
          </a:solidFill>
          <a:ln w="12700">
            <a:solidFill>
              <a:srgbClr val="E6DCDC">
                <a:alpha val="95000"/>
              </a:srgbClr>
            </a:solidFill>
            <a:prstDash val="solid"/>
          </a:ln>
        </p:spPr>
        <p:txBody>
          <a:bodyPr/>
          <a:lstStyle/>
          <a:p>
            <a:endParaRPr/>
          </a:p>
        </p:txBody>
      </p:sp>
      <p:sp>
        <p:nvSpPr>
          <p:cNvPr id="14" name="Text 12"/>
          <p:cNvSpPr/>
          <p:nvPr/>
        </p:nvSpPr>
        <p:spPr>
          <a:xfrm>
            <a:off x="2452116" y="1860804"/>
            <a:ext cx="1446276" cy="749808"/>
          </a:xfrm>
          <a:prstGeom prst="rect">
            <a:avLst/>
          </a:prstGeom>
          <a:noFill/>
          <a:ln/>
        </p:spPr>
        <p:txBody>
          <a:bodyPr wrap="square" lIns="0" tIns="0" rIns="0" bIns="0" rtlCol="0" anchor="t">
            <a:noAutofit/>
          </a:bodyPr>
          <a:lstStyle/>
          <a:p>
            <a:pPr marL="0" indent="0">
              <a:buNone/>
            </a:pPr>
            <a:r>
              <a:rPr lang="en-US" sz="1600" b="1" i="1" dirty="0">
                <a:solidFill>
                  <a:srgbClr val="111111"/>
                </a:solidFill>
                <a:latin typeface="Georgia"/>
                <a:ea typeface="Georgia"/>
                <a:cs typeface="Georgia"/>
              </a:rPr>
              <a:t>Interviews</a:t>
            </a:r>
          </a:p>
        </p:txBody>
      </p:sp>
      <p:sp>
        <p:nvSpPr>
          <p:cNvPr id="15" name="Text 13"/>
          <p:cNvSpPr/>
          <p:nvPr/>
        </p:nvSpPr>
        <p:spPr>
          <a:xfrm>
            <a:off x="2452116" y="2702052"/>
            <a:ext cx="1418844" cy="1048512"/>
          </a:xfrm>
          <a:prstGeom prst="rect">
            <a:avLst/>
          </a:prstGeom>
          <a:noFill/>
          <a:ln/>
        </p:spPr>
        <p:txBody>
          <a:bodyPr wrap="square" lIns="0" tIns="0" rIns="0" bIns="0" rtlCol="0" anchor="t">
            <a:noAutofit/>
          </a:bodyPr>
          <a:lstStyle/>
          <a:p>
            <a:pPr marL="0" indent="0">
              <a:buNone/>
            </a:pPr>
            <a:r>
              <a:rPr lang="en-US" sz="1600" dirty="0">
                <a:solidFill>
                  <a:srgbClr val="000000"/>
                </a:solidFill>
                <a:latin typeface="Aptos" pitchFamily="34" charset="0"/>
                <a:ea typeface="Aptos" pitchFamily="34" charset="-122"/>
                <a:cs typeface="Aptos" pitchFamily="34" charset="-120"/>
              </a:rPr>
              <a:t>Needs, pain points, exceptions</a:t>
            </a:r>
            <a:endParaRPr lang="en-US" sz="1600" dirty="0">
              <a:solidFill>
                <a:srgbClr val="000000"/>
              </a:solidFill>
            </a:endParaRPr>
          </a:p>
        </p:txBody>
      </p:sp>
      <p:sp>
        <p:nvSpPr>
          <p:cNvPr id="16" name="Shape 14"/>
          <p:cNvSpPr/>
          <p:nvPr/>
        </p:nvSpPr>
        <p:spPr>
          <a:xfrm>
            <a:off x="4017264" y="2796540"/>
            <a:ext cx="201167" cy="0"/>
          </a:xfrm>
          <a:prstGeom prst="line">
            <a:avLst/>
          </a:prstGeom>
          <a:noFill/>
          <a:ln w="13970">
            <a:solidFill>
              <a:srgbClr val="B4001B"/>
            </a:solidFill>
            <a:prstDash val="solid"/>
            <a:headEnd type="none"/>
            <a:tailEnd type="triangle"/>
          </a:ln>
        </p:spPr>
        <p:txBody>
          <a:bodyPr/>
          <a:lstStyle/>
          <a:p>
            <a:endParaRPr/>
          </a:p>
        </p:txBody>
      </p:sp>
      <p:sp>
        <p:nvSpPr>
          <p:cNvPr id="17" name="Shape 15"/>
          <p:cNvSpPr/>
          <p:nvPr/>
        </p:nvSpPr>
        <p:spPr>
          <a:xfrm>
            <a:off x="4255008" y="1714500"/>
            <a:ext cx="1665732" cy="2164080"/>
          </a:xfrm>
          <a:prstGeom prst="rect">
            <a:avLst/>
          </a:prstGeom>
          <a:solidFill>
            <a:srgbClr val="FFFFFF"/>
          </a:solidFill>
          <a:ln w="12700">
            <a:solidFill>
              <a:srgbClr val="E6DCDC">
                <a:alpha val="95000"/>
              </a:srgbClr>
            </a:solidFill>
            <a:prstDash val="solid"/>
          </a:ln>
        </p:spPr>
        <p:txBody>
          <a:bodyPr/>
          <a:lstStyle/>
          <a:p>
            <a:endParaRPr/>
          </a:p>
        </p:txBody>
      </p:sp>
      <p:sp>
        <p:nvSpPr>
          <p:cNvPr id="18" name="Text 16"/>
          <p:cNvSpPr/>
          <p:nvPr/>
        </p:nvSpPr>
        <p:spPr>
          <a:xfrm>
            <a:off x="4392168" y="1860804"/>
            <a:ext cx="1446276" cy="749808"/>
          </a:xfrm>
          <a:prstGeom prst="rect">
            <a:avLst/>
          </a:prstGeom>
          <a:noFill/>
          <a:ln/>
        </p:spPr>
        <p:txBody>
          <a:bodyPr wrap="square" lIns="0" tIns="0" rIns="0" bIns="0" rtlCol="0" anchor="t">
            <a:noAutofit/>
          </a:bodyPr>
          <a:lstStyle/>
          <a:p>
            <a:pPr marL="0" indent="0">
              <a:buNone/>
            </a:pPr>
            <a:r>
              <a:rPr lang="en-US" sz="1600" b="1" i="1" dirty="0">
                <a:solidFill>
                  <a:srgbClr val="111111"/>
                </a:solidFill>
                <a:latin typeface="Georgia"/>
                <a:ea typeface="Georgia"/>
                <a:cs typeface="Georgia"/>
              </a:rPr>
              <a:t>CI / Observation</a:t>
            </a:r>
          </a:p>
        </p:txBody>
      </p:sp>
      <p:sp>
        <p:nvSpPr>
          <p:cNvPr id="19" name="Text 17"/>
          <p:cNvSpPr/>
          <p:nvPr/>
        </p:nvSpPr>
        <p:spPr>
          <a:xfrm>
            <a:off x="4392168" y="2702052"/>
            <a:ext cx="1418844" cy="1048512"/>
          </a:xfrm>
          <a:prstGeom prst="rect">
            <a:avLst/>
          </a:prstGeom>
          <a:noFill/>
          <a:ln/>
        </p:spPr>
        <p:txBody>
          <a:bodyPr wrap="square" lIns="0" tIns="0" rIns="0" bIns="0" rtlCol="0" anchor="t">
            <a:noAutofit/>
          </a:bodyPr>
          <a:lstStyle/>
          <a:p>
            <a:pPr marL="0" indent="0">
              <a:buNone/>
            </a:pPr>
            <a:r>
              <a:rPr lang="en-US" sz="1600" dirty="0">
                <a:solidFill>
                  <a:srgbClr val="000000"/>
                </a:solidFill>
                <a:latin typeface="Aptos" pitchFamily="34" charset="0"/>
                <a:ea typeface="Aptos" pitchFamily="34" charset="-122"/>
                <a:cs typeface="Aptos" pitchFamily="34" charset="-120"/>
              </a:rPr>
              <a:t>Actual workflow and work-arounds</a:t>
            </a:r>
            <a:endParaRPr lang="en-US" sz="1600" dirty="0">
              <a:solidFill>
                <a:srgbClr val="000000"/>
              </a:solidFill>
            </a:endParaRPr>
          </a:p>
        </p:txBody>
      </p:sp>
      <p:sp>
        <p:nvSpPr>
          <p:cNvPr id="20" name="Shape 18"/>
          <p:cNvSpPr/>
          <p:nvPr/>
        </p:nvSpPr>
        <p:spPr>
          <a:xfrm>
            <a:off x="5957316" y="2796540"/>
            <a:ext cx="201167" cy="0"/>
          </a:xfrm>
          <a:prstGeom prst="line">
            <a:avLst/>
          </a:prstGeom>
          <a:noFill/>
          <a:ln w="13970">
            <a:solidFill>
              <a:srgbClr val="B4001B"/>
            </a:solidFill>
            <a:prstDash val="solid"/>
            <a:headEnd type="none"/>
            <a:tailEnd type="triangle"/>
          </a:ln>
        </p:spPr>
        <p:txBody>
          <a:bodyPr/>
          <a:lstStyle/>
          <a:p>
            <a:endParaRPr/>
          </a:p>
        </p:txBody>
      </p:sp>
      <p:sp>
        <p:nvSpPr>
          <p:cNvPr id="21" name="Shape 19"/>
          <p:cNvSpPr/>
          <p:nvPr/>
        </p:nvSpPr>
        <p:spPr>
          <a:xfrm>
            <a:off x="6195060" y="1714500"/>
            <a:ext cx="1665732" cy="2164080"/>
          </a:xfrm>
          <a:prstGeom prst="rect">
            <a:avLst/>
          </a:prstGeom>
          <a:solidFill>
            <a:srgbClr val="FFFFFF"/>
          </a:solidFill>
          <a:ln w="12700">
            <a:solidFill>
              <a:srgbClr val="E6DCDC">
                <a:alpha val="95000"/>
              </a:srgbClr>
            </a:solidFill>
            <a:prstDash val="solid"/>
          </a:ln>
        </p:spPr>
        <p:txBody>
          <a:bodyPr/>
          <a:lstStyle/>
          <a:p>
            <a:endParaRPr/>
          </a:p>
        </p:txBody>
      </p:sp>
      <p:sp>
        <p:nvSpPr>
          <p:cNvPr id="22" name="Text 20"/>
          <p:cNvSpPr/>
          <p:nvPr/>
        </p:nvSpPr>
        <p:spPr>
          <a:xfrm>
            <a:off x="6332220" y="1860804"/>
            <a:ext cx="1446276" cy="749808"/>
          </a:xfrm>
          <a:prstGeom prst="rect">
            <a:avLst/>
          </a:prstGeom>
          <a:noFill/>
          <a:ln/>
        </p:spPr>
        <p:txBody>
          <a:bodyPr wrap="square" lIns="0" tIns="0" rIns="0" bIns="0" rtlCol="0" anchor="t">
            <a:noAutofit/>
          </a:bodyPr>
          <a:lstStyle/>
          <a:p>
            <a:pPr marL="0" indent="0">
              <a:buNone/>
            </a:pPr>
            <a:r>
              <a:rPr lang="en-US" sz="1600" b="1" i="1" dirty="0">
                <a:solidFill>
                  <a:srgbClr val="111111"/>
                </a:solidFill>
                <a:latin typeface="Georgia"/>
                <a:ea typeface="Georgia"/>
                <a:cs typeface="Georgia"/>
              </a:rPr>
              <a:t>Survey / Diary</a:t>
            </a:r>
          </a:p>
        </p:txBody>
      </p:sp>
      <p:sp>
        <p:nvSpPr>
          <p:cNvPr id="23" name="Text 21"/>
          <p:cNvSpPr/>
          <p:nvPr/>
        </p:nvSpPr>
        <p:spPr>
          <a:xfrm>
            <a:off x="6332220" y="2702052"/>
            <a:ext cx="1418844" cy="1048512"/>
          </a:xfrm>
          <a:prstGeom prst="rect">
            <a:avLst/>
          </a:prstGeom>
          <a:noFill/>
          <a:ln/>
        </p:spPr>
        <p:txBody>
          <a:bodyPr wrap="square" lIns="0" tIns="0" rIns="0" bIns="0" rtlCol="0" anchor="t">
            <a:noAutofit/>
          </a:bodyPr>
          <a:lstStyle/>
          <a:p>
            <a:pPr marL="0" indent="0">
              <a:buNone/>
            </a:pPr>
            <a:r>
              <a:rPr lang="en-US" sz="1600" dirty="0">
                <a:solidFill>
                  <a:srgbClr val="000000"/>
                </a:solidFill>
                <a:latin typeface="Aptos" pitchFamily="34" charset="0"/>
                <a:ea typeface="Aptos" pitchFamily="34" charset="-122"/>
                <a:cs typeface="Aptos" pitchFamily="34" charset="-120"/>
              </a:rPr>
              <a:t>Breadth or time-based patterns</a:t>
            </a:r>
            <a:endParaRPr lang="en-US" sz="1600" dirty="0">
              <a:solidFill>
                <a:srgbClr val="000000"/>
              </a:solidFill>
            </a:endParaRPr>
          </a:p>
        </p:txBody>
      </p:sp>
      <p:sp>
        <p:nvSpPr>
          <p:cNvPr id="24" name="Shape 22"/>
          <p:cNvSpPr/>
          <p:nvPr/>
        </p:nvSpPr>
        <p:spPr>
          <a:xfrm>
            <a:off x="7897368" y="2796540"/>
            <a:ext cx="201168" cy="0"/>
          </a:xfrm>
          <a:prstGeom prst="line">
            <a:avLst/>
          </a:prstGeom>
          <a:noFill/>
          <a:ln w="13970">
            <a:solidFill>
              <a:srgbClr val="B4001B"/>
            </a:solidFill>
            <a:prstDash val="solid"/>
            <a:headEnd type="none"/>
            <a:tailEnd type="triangle"/>
          </a:ln>
        </p:spPr>
        <p:txBody>
          <a:bodyPr/>
          <a:lstStyle/>
          <a:p>
            <a:endParaRPr/>
          </a:p>
        </p:txBody>
      </p:sp>
      <p:sp>
        <p:nvSpPr>
          <p:cNvPr id="25" name="Shape 23"/>
          <p:cNvSpPr/>
          <p:nvPr/>
        </p:nvSpPr>
        <p:spPr>
          <a:xfrm>
            <a:off x="8135112" y="1714500"/>
            <a:ext cx="1665732" cy="2164080"/>
          </a:xfrm>
          <a:prstGeom prst="rect">
            <a:avLst/>
          </a:prstGeom>
          <a:solidFill>
            <a:srgbClr val="FFFFFF"/>
          </a:solidFill>
          <a:ln w="12700">
            <a:solidFill>
              <a:srgbClr val="E6DCDC">
                <a:alpha val="95000"/>
              </a:srgbClr>
            </a:solidFill>
            <a:prstDash val="solid"/>
          </a:ln>
        </p:spPr>
        <p:txBody>
          <a:bodyPr/>
          <a:lstStyle/>
          <a:p>
            <a:endParaRPr/>
          </a:p>
        </p:txBody>
      </p:sp>
      <p:sp>
        <p:nvSpPr>
          <p:cNvPr id="26" name="Text 24"/>
          <p:cNvSpPr/>
          <p:nvPr/>
        </p:nvSpPr>
        <p:spPr>
          <a:xfrm>
            <a:off x="8272272" y="1860804"/>
            <a:ext cx="1446276" cy="749808"/>
          </a:xfrm>
          <a:prstGeom prst="rect">
            <a:avLst/>
          </a:prstGeom>
          <a:noFill/>
          <a:ln/>
        </p:spPr>
        <p:txBody>
          <a:bodyPr wrap="square" lIns="0" tIns="0" rIns="0" bIns="0" rtlCol="0" anchor="t">
            <a:noAutofit/>
          </a:bodyPr>
          <a:lstStyle/>
          <a:p>
            <a:pPr marL="0" indent="0">
              <a:buNone/>
            </a:pPr>
            <a:r>
              <a:rPr lang="en-US" sz="1600" b="1" i="1" dirty="0">
                <a:solidFill>
                  <a:srgbClr val="111111"/>
                </a:solidFill>
                <a:latin typeface="Georgia"/>
                <a:ea typeface="Georgia"/>
                <a:cs typeface="Georgia"/>
              </a:rPr>
              <a:t>Stakeholder Workshop / Prototype</a:t>
            </a:r>
          </a:p>
        </p:txBody>
      </p:sp>
      <p:sp>
        <p:nvSpPr>
          <p:cNvPr id="27" name="Text 25"/>
          <p:cNvSpPr/>
          <p:nvPr/>
        </p:nvSpPr>
        <p:spPr>
          <a:xfrm>
            <a:off x="8272272" y="2702052"/>
            <a:ext cx="1418844" cy="1048512"/>
          </a:xfrm>
          <a:prstGeom prst="rect">
            <a:avLst/>
          </a:prstGeom>
          <a:noFill/>
          <a:ln/>
        </p:spPr>
        <p:txBody>
          <a:bodyPr wrap="square" lIns="0" tIns="0" rIns="0" bIns="0" rtlCol="0" anchor="t">
            <a:noAutofit/>
          </a:bodyPr>
          <a:lstStyle/>
          <a:p>
            <a:pPr marL="0" indent="0">
              <a:buNone/>
            </a:pPr>
            <a:r>
              <a:rPr lang="en-US" sz="1600" dirty="0">
                <a:solidFill>
                  <a:srgbClr val="000000"/>
                </a:solidFill>
                <a:latin typeface="Aptos" pitchFamily="34" charset="0"/>
                <a:ea typeface="Aptos" pitchFamily="34" charset="-122"/>
                <a:cs typeface="Aptos" pitchFamily="34" charset="-120"/>
              </a:rPr>
              <a:t>Explore alternatives and validate direction</a:t>
            </a:r>
            <a:endParaRPr lang="en-US" sz="1600" dirty="0">
              <a:solidFill>
                <a:srgbClr val="000000"/>
              </a:solidFill>
            </a:endParaRPr>
          </a:p>
        </p:txBody>
      </p:sp>
      <p:sp>
        <p:nvSpPr>
          <p:cNvPr id="28" name="Shape 26"/>
          <p:cNvSpPr/>
          <p:nvPr/>
        </p:nvSpPr>
        <p:spPr>
          <a:xfrm>
            <a:off x="9837420" y="2796540"/>
            <a:ext cx="201168" cy="0"/>
          </a:xfrm>
          <a:prstGeom prst="line">
            <a:avLst/>
          </a:prstGeom>
          <a:noFill/>
          <a:ln w="13970">
            <a:solidFill>
              <a:srgbClr val="B4001B"/>
            </a:solidFill>
            <a:prstDash val="solid"/>
            <a:headEnd type="none"/>
            <a:tailEnd type="triangle"/>
          </a:ln>
        </p:spPr>
        <p:txBody>
          <a:bodyPr/>
          <a:lstStyle/>
          <a:p>
            <a:endParaRPr/>
          </a:p>
        </p:txBody>
      </p:sp>
      <p:sp>
        <p:nvSpPr>
          <p:cNvPr id="29" name="Shape 27"/>
          <p:cNvSpPr/>
          <p:nvPr/>
        </p:nvSpPr>
        <p:spPr>
          <a:xfrm>
            <a:off x="10075164" y="1714500"/>
            <a:ext cx="1665732" cy="2164080"/>
          </a:xfrm>
          <a:prstGeom prst="rect">
            <a:avLst/>
          </a:prstGeom>
          <a:solidFill>
            <a:srgbClr val="FFF5F6"/>
          </a:solidFill>
          <a:ln w="12700">
            <a:solidFill>
              <a:srgbClr val="E6DCDC">
                <a:alpha val="95000"/>
              </a:srgbClr>
            </a:solidFill>
            <a:prstDash val="solid"/>
          </a:ln>
        </p:spPr>
        <p:txBody>
          <a:bodyPr/>
          <a:lstStyle/>
          <a:p>
            <a:endParaRPr/>
          </a:p>
        </p:txBody>
      </p:sp>
      <p:sp>
        <p:nvSpPr>
          <p:cNvPr id="30" name="Text 28"/>
          <p:cNvSpPr/>
          <p:nvPr/>
        </p:nvSpPr>
        <p:spPr>
          <a:xfrm>
            <a:off x="10212324" y="1860804"/>
            <a:ext cx="1446276" cy="749808"/>
          </a:xfrm>
          <a:prstGeom prst="rect">
            <a:avLst/>
          </a:prstGeom>
          <a:noFill/>
          <a:ln/>
        </p:spPr>
        <p:txBody>
          <a:bodyPr wrap="square" lIns="0" tIns="0" rIns="0" bIns="0" rtlCol="0" anchor="t">
            <a:noAutofit/>
          </a:bodyPr>
          <a:lstStyle/>
          <a:p>
            <a:pPr marL="0" indent="0">
              <a:buNone/>
            </a:pPr>
            <a:r>
              <a:rPr lang="en-US" sz="1600" b="1" i="1" dirty="0">
                <a:solidFill>
                  <a:srgbClr val="111111"/>
                </a:solidFill>
                <a:latin typeface="Georgia"/>
                <a:ea typeface="Georgia"/>
                <a:cs typeface="Georgia"/>
              </a:rPr>
              <a:t>SRS</a:t>
            </a:r>
          </a:p>
        </p:txBody>
      </p:sp>
      <p:sp>
        <p:nvSpPr>
          <p:cNvPr id="31" name="Text 29"/>
          <p:cNvSpPr/>
          <p:nvPr/>
        </p:nvSpPr>
        <p:spPr>
          <a:xfrm>
            <a:off x="10212324" y="2702052"/>
            <a:ext cx="1418844" cy="1048512"/>
          </a:xfrm>
          <a:prstGeom prst="rect">
            <a:avLst/>
          </a:prstGeom>
          <a:noFill/>
          <a:ln/>
        </p:spPr>
        <p:txBody>
          <a:bodyPr wrap="square" lIns="0" tIns="0" rIns="0" bIns="0" rtlCol="0" anchor="t">
            <a:noAutofit/>
          </a:bodyPr>
          <a:lstStyle/>
          <a:p>
            <a:pPr marL="0" indent="0">
              <a:buNone/>
            </a:pPr>
            <a:r>
              <a:rPr lang="en-US" sz="1600" dirty="0">
                <a:solidFill>
                  <a:srgbClr val="000000"/>
                </a:solidFill>
                <a:latin typeface="Aptos" pitchFamily="34" charset="0"/>
                <a:ea typeface="Aptos" pitchFamily="34" charset="-122"/>
                <a:cs typeface="Aptos" pitchFamily="34" charset="-120"/>
              </a:rPr>
              <a:t>Write clear, testable requirements</a:t>
            </a:r>
            <a:endParaRPr lang="en-US" sz="1600" dirty="0">
              <a:solidFill>
                <a:srgbClr val="00000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55448"/>
            <a:ext cx="5486400" cy="201168"/>
          </a:xfrm>
          <a:prstGeom prst="rect">
            <a:avLst/>
          </a:prstGeom>
          <a:noFill/>
          <a:ln/>
        </p:spPr>
        <p:txBody>
          <a:bodyPr wrap="square" lIns="0" tIns="0" rIns="0" bIns="0" rtlCol="0" anchor="ctr">
            <a:noAutofit/>
          </a:bodyPr>
          <a:lstStyle/>
          <a:p>
            <a:pPr marL="0" indent="0">
              <a:buNone/>
            </a:pPr>
            <a:r>
              <a:rPr lang="en-US" sz="1100" b="1" dirty="0">
                <a:solidFill>
                  <a:srgbClr val="B4001B"/>
                </a:solidFill>
                <a:latin typeface="Aptos" pitchFamily="34" charset="0"/>
                <a:ea typeface="Aptos" pitchFamily="34" charset="-122"/>
                <a:cs typeface="Aptos" pitchFamily="34" charset="-120"/>
              </a:rPr>
              <a:t>SRS</a:t>
            </a:r>
            <a:endParaRPr lang="en-US" sz="1100" b="1" dirty="0"/>
          </a:p>
        </p:txBody>
      </p:sp>
      <p:sp>
        <p:nvSpPr>
          <p:cNvPr id="3" name="Text 1"/>
          <p:cNvSpPr/>
          <p:nvPr/>
        </p:nvSpPr>
        <p:spPr>
          <a:xfrm>
            <a:off x="411480" y="365760"/>
            <a:ext cx="11365992" cy="512064"/>
          </a:xfrm>
          <a:prstGeom prst="rect">
            <a:avLst/>
          </a:prstGeom>
          <a:noFill/>
          <a:ln/>
        </p:spPr>
        <p:txBody>
          <a:bodyPr wrap="square" lIns="0" tIns="0" rIns="0" bIns="0" rtlCol="0" anchor="ctr">
            <a:noAutofit/>
          </a:bodyPr>
          <a:lstStyle/>
          <a:p>
            <a:pPr marL="0" indent="0" algn="l">
              <a:buNone/>
            </a:pPr>
            <a:r>
              <a:rPr lang="en-US" sz="3200" b="1" i="1" dirty="0">
                <a:solidFill>
                  <a:srgbClr val="111111"/>
                </a:solidFill>
                <a:latin typeface="Georgia"/>
                <a:ea typeface="Georgia"/>
                <a:cs typeface="Georgia"/>
              </a:rPr>
              <a:t>What is SRS ?</a:t>
            </a:r>
            <a:endParaRPr lang="en-US" sz="3200" b="1" i="1">
              <a:solidFill>
                <a:srgbClr val="111111"/>
              </a:solidFill>
              <a:latin typeface="Georgia"/>
              <a:ea typeface="Georgia"/>
              <a:cs typeface="Georgia"/>
            </a:endParaRPr>
          </a:p>
        </p:txBody>
      </p:sp>
      <p:sp>
        <p:nvSpPr>
          <p:cNvPr id="5" name="Text 3"/>
          <p:cNvSpPr/>
          <p:nvPr/>
        </p:nvSpPr>
        <p:spPr>
          <a:xfrm>
            <a:off x="502920" y="6565392"/>
            <a:ext cx="1280160" cy="109728"/>
          </a:xfrm>
          <a:prstGeom prst="rect">
            <a:avLst/>
          </a:prstGeom>
          <a:noFill/>
          <a:ln/>
        </p:spPr>
        <p:txBody>
          <a:bodyPr wrap="square" rtlCol="0" anchor="ctr"/>
          <a:lstStyle/>
          <a:p>
            <a:pPr marL="0" indent="0">
              <a:buNone/>
            </a:pPr>
            <a:r>
              <a:rPr lang="en-US" sz="790" dirty="0">
                <a:solidFill>
                  <a:srgbClr val="777777"/>
                </a:solidFill>
                <a:latin typeface="Aptos" pitchFamily="34" charset="0"/>
                <a:ea typeface="Aptos" pitchFamily="34" charset="-122"/>
                <a:cs typeface="Aptos" pitchFamily="34" charset="-120"/>
              </a:rPr>
              <a:t>1/28/2026</a:t>
            </a:r>
            <a:endParaRPr lang="en-US" sz="790" dirty="0"/>
          </a:p>
        </p:txBody>
      </p:sp>
      <p:sp>
        <p:nvSpPr>
          <p:cNvPr id="6" name="Text 4"/>
          <p:cNvSpPr/>
          <p:nvPr/>
        </p:nvSpPr>
        <p:spPr>
          <a:xfrm>
            <a:off x="5257800" y="6565392"/>
            <a:ext cx="1645920" cy="109728"/>
          </a:xfrm>
          <a:prstGeom prst="rect">
            <a:avLst/>
          </a:prstGeom>
          <a:noFill/>
          <a:ln/>
        </p:spPr>
        <p:txBody>
          <a:bodyPr wrap="square" rtlCol="0" anchor="ctr"/>
          <a:lstStyle/>
          <a:p>
            <a:pPr marL="0" indent="0" algn="ctr">
              <a:buNone/>
            </a:pPr>
            <a:r>
              <a:rPr lang="en-US" sz="790" dirty="0">
                <a:solidFill>
                  <a:srgbClr val="777777"/>
                </a:solidFill>
                <a:latin typeface="Aptos" pitchFamily="34" charset="0"/>
                <a:ea typeface="Aptos" pitchFamily="34" charset="-122"/>
                <a:cs typeface="Aptos" pitchFamily="34" charset="-120"/>
              </a:rPr>
              <a:t>Md. Manirujjaman</a:t>
            </a:r>
            <a:endParaRPr lang="en-US" sz="790" dirty="0"/>
          </a:p>
        </p:txBody>
      </p:sp>
      <p:sp>
        <p:nvSpPr>
          <p:cNvPr id="7" name="Shape 5"/>
          <p:cNvSpPr/>
          <p:nvPr/>
        </p:nvSpPr>
        <p:spPr>
          <a:xfrm>
            <a:off x="11430000" y="6327648"/>
            <a:ext cx="274320" cy="274320"/>
          </a:xfrm>
          <a:prstGeom prst="ellipse">
            <a:avLst/>
          </a:prstGeom>
          <a:solidFill>
            <a:srgbClr val="B4001B"/>
          </a:solidFill>
          <a:ln w="12700">
            <a:solidFill>
              <a:srgbClr val="B4001B"/>
            </a:solidFill>
            <a:prstDash val="solid"/>
          </a:ln>
        </p:spPr>
        <p:txBody>
          <a:bodyPr wrap="none" lIns="0" tIns="0" rIns="0" bIns="0" anchor="ctr"/>
          <a:lstStyle/>
          <a:p>
            <a:pPr algn="ctr"/>
            <a:fld id="{8A2B6C1E-3F4D-4E5A-9B7C-1D2E3F4A5B6C}" type="slidenum">
              <a:rPr lang="en-US" sz="900" b="1">
                <a:solidFill>
                  <a:srgbClr val="FFFFFF"/>
                </a:solidFill>
                <a:latin typeface="Aptos"/>
              </a:rPr>
              <a:t>23</a:t>
            </a:fld>
            <a:endParaRPr lang="en-US" sz="900" b="1">
              <a:solidFill>
                <a:srgbClr val="FFFFFF"/>
              </a:solidFill>
              <a:latin typeface="Aptos"/>
            </a:endParaRPr>
          </a:p>
        </p:txBody>
      </p:sp>
      <p:sp>
        <p:nvSpPr>
          <p:cNvPr id="239" name="Card BG">
            <a:extLst>
              <a:ext uri="{FF2B5EF4-FFF2-40B4-BE49-F238E27FC236}">
                <a16:creationId xmlns:a16="http://schemas.microsoft.com/office/drawing/2014/main" id="{F80705CF-EE6E-FB9D-F449-7C60E7C01E8B}"/>
              </a:ext>
            </a:extLst>
          </p:cNvPr>
          <p:cNvSpPr/>
          <p:nvPr/>
        </p:nvSpPr>
        <p:spPr>
          <a:xfrm>
            <a:off x="411480" y="1325880"/>
            <a:ext cx="11365992" cy="3291840"/>
          </a:xfrm>
          <a:prstGeom prst="rect">
            <a:avLst/>
          </a:prstGeom>
          <a:solidFill>
            <a:srgbClr val="FFF9F9"/>
          </a:solidFill>
          <a:ln w="12700">
            <a:solidFill>
              <a:srgbClr val="E6DCDC">
                <a:alpha val="95000"/>
              </a:srgbClr>
            </a:solidFill>
            <a:prstDash val="solid"/>
          </a:ln>
        </p:spPr>
        <p:txBody>
          <a:bodyPr/>
          <a:lstStyle/>
          <a:p>
            <a:endParaRPr/>
          </a:p>
        </p:txBody>
      </p:sp>
      <p:sp>
        <p:nvSpPr>
          <p:cNvPr id="39" name="TextBox 38">
            <a:extLst>
              <a:ext uri="{FF2B5EF4-FFF2-40B4-BE49-F238E27FC236}">
                <a16:creationId xmlns:a16="http://schemas.microsoft.com/office/drawing/2014/main" id="{F208E12A-6633-D027-8EB6-D50FD1F57F64}"/>
              </a:ext>
            </a:extLst>
          </p:cNvPr>
          <p:cNvSpPr txBox="1"/>
          <p:nvPr/>
        </p:nvSpPr>
        <p:spPr>
          <a:xfrm>
            <a:off x="731520" y="1600200"/>
            <a:ext cx="10725912" cy="2834640"/>
          </a:xfrm>
          <a:prstGeom prst="rect">
            <a:avLst/>
          </a:prstGeom>
          <a:noFill/>
        </p:spPr>
        <p:txBody>
          <a:bodyPr wrap="square" lIns="0" tIns="0" rIns="0" bIns="0" rtlCol="0" anchor="t">
            <a:noAutofit/>
          </a:bodyPr>
          <a:lstStyle/>
          <a:p>
            <a:pPr marL="342900" indent="-342900">
              <a:lnSpc>
                <a:spcPct val="100000"/>
              </a:lnSpc>
              <a:spcBef>
                <a:spcPts val="0"/>
              </a:spcBef>
              <a:buFont typeface="Wingdings" panose="05000000000000000000" pitchFamily="2" charset="2"/>
              <a:buChar char="§"/>
            </a:pPr>
            <a:r>
              <a:rPr lang="en-US" sz="2000" dirty="0">
                <a:solidFill>
                  <a:srgbClr val="000000"/>
                </a:solidFill>
                <a:latin typeface="Aptos"/>
                <a:ea typeface="Aptos"/>
                <a:cs typeface="Aptos"/>
              </a:rPr>
              <a:t>SRS stands for “System Requirement Specifications”.</a:t>
            </a:r>
            <a:endParaRPr lang="en-US" sz="2000">
              <a:solidFill>
                <a:srgbClr val="000000"/>
              </a:solidFill>
              <a:latin typeface="Aptos"/>
              <a:ea typeface="Aptos"/>
              <a:cs typeface="Aptos"/>
            </a:endParaRPr>
          </a:p>
          <a:p>
            <a:pPr marL="342900" indent="-342900">
              <a:lnSpc>
                <a:spcPct val="100000"/>
              </a:lnSpc>
              <a:spcBef>
                <a:spcPts val="1600"/>
              </a:spcBef>
              <a:buFont typeface="Wingdings" panose="05000000000000000000" pitchFamily="2" charset="2"/>
              <a:buChar char="§"/>
            </a:pPr>
            <a:r>
              <a:rPr lang="en-US" sz="2000" dirty="0">
                <a:solidFill>
                  <a:srgbClr val="000000"/>
                </a:solidFill>
                <a:latin typeface="Aptos"/>
                <a:ea typeface="Aptos"/>
                <a:cs typeface="Aptos"/>
              </a:rPr>
              <a:t>A SRS is a detailed description of a system to be developed with its functional and non-functional requirements.</a:t>
            </a:r>
            <a:endParaRPr lang="en-US" sz="2000">
              <a:solidFill>
                <a:srgbClr val="000000"/>
              </a:solidFill>
              <a:latin typeface="Aptos"/>
              <a:ea typeface="Aptos"/>
              <a:cs typeface="Aptos"/>
            </a:endParaRPr>
          </a:p>
          <a:p>
            <a:pPr marL="342900" indent="-342900">
              <a:lnSpc>
                <a:spcPct val="100000"/>
              </a:lnSpc>
              <a:spcBef>
                <a:spcPts val="1600"/>
              </a:spcBef>
              <a:buFont typeface="Wingdings" panose="05000000000000000000" pitchFamily="2" charset="2"/>
              <a:buChar char="§"/>
            </a:pPr>
            <a:r>
              <a:rPr lang="en-US" sz="2000" dirty="0">
                <a:solidFill>
                  <a:srgbClr val="000000"/>
                </a:solidFill>
                <a:latin typeface="Aptos"/>
                <a:ea typeface="Aptos"/>
                <a:cs typeface="Aptos"/>
              </a:rPr>
              <a:t>SRS document contains all logical details like how the software will look like, which language will be used, database design, modular designs etc.</a:t>
            </a:r>
            <a:endParaRPr lang="en-US" sz="2000">
              <a:solidFill>
                <a:srgbClr val="000000"/>
              </a:solidFill>
              <a:latin typeface="Aptos"/>
              <a:ea typeface="Aptos"/>
              <a:cs typeface="Aptos"/>
            </a:endParaRPr>
          </a:p>
          <a:p>
            <a:pPr marL="342900" indent="-342900">
              <a:lnSpc>
                <a:spcPct val="100000"/>
              </a:lnSpc>
              <a:spcBef>
                <a:spcPts val="1600"/>
              </a:spcBef>
              <a:buFont typeface="Wingdings" panose="05000000000000000000" pitchFamily="2" charset="2"/>
              <a:buChar char="§"/>
            </a:pPr>
            <a:r>
              <a:rPr lang="en-US" sz="2000" dirty="0">
                <a:solidFill>
                  <a:srgbClr val="000000"/>
                </a:solidFill>
                <a:latin typeface="Aptos"/>
                <a:ea typeface="Aptos"/>
                <a:cs typeface="Aptos"/>
              </a:rPr>
              <a:t>SRS is a formal report, which acts as a representation of the system’s software. </a:t>
            </a:r>
            <a:endParaRPr lang="en-US" sz="2000">
              <a:solidFill>
                <a:srgbClr val="000000"/>
              </a:solidFill>
              <a:latin typeface="Aptos"/>
              <a:ea typeface="Aptos"/>
              <a:cs typeface="Apto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FE96092-499E-E73C-AAD3-79DE5FF717F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E1D0726-AD14-DC04-364E-0DA82A926999}"/>
              </a:ext>
            </a:extLst>
          </p:cNvPr>
          <p:cNvSpPr/>
          <p:nvPr/>
        </p:nvSpPr>
        <p:spPr>
          <a:xfrm>
            <a:off x="411480" y="155448"/>
            <a:ext cx="5486400" cy="201168"/>
          </a:xfrm>
          <a:prstGeom prst="rect">
            <a:avLst/>
          </a:prstGeom>
          <a:noFill/>
          <a:ln/>
        </p:spPr>
        <p:txBody>
          <a:bodyPr wrap="square" lIns="0" tIns="0" rIns="0" bIns="0" rtlCol="0" anchor="ctr">
            <a:noAutofit/>
          </a:bodyPr>
          <a:lstStyle/>
          <a:p>
            <a:pPr marL="0" indent="0">
              <a:buNone/>
            </a:pPr>
            <a:r>
              <a:rPr lang="en-US" sz="1100" b="1" dirty="0">
                <a:solidFill>
                  <a:srgbClr val="B4001B"/>
                </a:solidFill>
                <a:latin typeface="Aptos" pitchFamily="34" charset="0"/>
                <a:ea typeface="Aptos" pitchFamily="34" charset="-122"/>
                <a:cs typeface="Aptos" pitchFamily="34" charset="-120"/>
              </a:rPr>
              <a:t>SRS</a:t>
            </a:r>
            <a:endParaRPr lang="en-US" sz="1100" b="1" dirty="0"/>
          </a:p>
        </p:txBody>
      </p:sp>
      <p:sp>
        <p:nvSpPr>
          <p:cNvPr id="3" name="Text 1">
            <a:extLst>
              <a:ext uri="{FF2B5EF4-FFF2-40B4-BE49-F238E27FC236}">
                <a16:creationId xmlns:a16="http://schemas.microsoft.com/office/drawing/2014/main" id="{FECACCFA-4F05-1B93-891C-3679985FB240}"/>
              </a:ext>
            </a:extLst>
          </p:cNvPr>
          <p:cNvSpPr/>
          <p:nvPr/>
        </p:nvSpPr>
        <p:spPr>
          <a:xfrm>
            <a:off x="411480" y="365760"/>
            <a:ext cx="11365992" cy="512064"/>
          </a:xfrm>
          <a:prstGeom prst="rect">
            <a:avLst/>
          </a:prstGeom>
          <a:noFill/>
          <a:ln/>
        </p:spPr>
        <p:txBody>
          <a:bodyPr wrap="square" lIns="0" tIns="0" rIns="0" bIns="0" rtlCol="0" anchor="ctr">
            <a:noAutofit/>
          </a:bodyPr>
          <a:lstStyle/>
          <a:p>
            <a:pPr marL="0" indent="0" algn="l">
              <a:buNone/>
            </a:pPr>
            <a:r>
              <a:rPr lang="en-US" sz="3200" b="1" i="1" dirty="0">
                <a:solidFill>
                  <a:srgbClr val="111111"/>
                </a:solidFill>
                <a:latin typeface="Georgia"/>
                <a:ea typeface="Georgia"/>
                <a:cs typeface="Georgia"/>
              </a:rPr>
              <a:t>What is SRS ? (cont’d)</a:t>
            </a:r>
            <a:endParaRPr lang="en-US" sz="3200" b="1" i="1">
              <a:solidFill>
                <a:srgbClr val="111111"/>
              </a:solidFill>
              <a:latin typeface="Georgia"/>
              <a:ea typeface="Georgia"/>
              <a:cs typeface="Georgia"/>
            </a:endParaRPr>
          </a:p>
        </p:txBody>
      </p:sp>
      <p:sp>
        <p:nvSpPr>
          <p:cNvPr id="5" name="Text 3">
            <a:extLst>
              <a:ext uri="{FF2B5EF4-FFF2-40B4-BE49-F238E27FC236}">
                <a16:creationId xmlns:a16="http://schemas.microsoft.com/office/drawing/2014/main" id="{21E4B1FE-94B8-6BB9-B258-0184E1DEF5B0}"/>
              </a:ext>
            </a:extLst>
          </p:cNvPr>
          <p:cNvSpPr/>
          <p:nvPr/>
        </p:nvSpPr>
        <p:spPr>
          <a:xfrm>
            <a:off x="502920" y="6565392"/>
            <a:ext cx="1280160" cy="109728"/>
          </a:xfrm>
          <a:prstGeom prst="rect">
            <a:avLst/>
          </a:prstGeom>
          <a:noFill/>
          <a:ln/>
        </p:spPr>
        <p:txBody>
          <a:bodyPr wrap="square" rtlCol="0" anchor="ctr"/>
          <a:lstStyle/>
          <a:p>
            <a:pPr marL="0" indent="0">
              <a:buNone/>
            </a:pPr>
            <a:r>
              <a:rPr lang="en-US" sz="790" dirty="0">
                <a:solidFill>
                  <a:srgbClr val="777777"/>
                </a:solidFill>
                <a:latin typeface="Aptos" pitchFamily="34" charset="0"/>
                <a:ea typeface="Aptos" pitchFamily="34" charset="-122"/>
                <a:cs typeface="Aptos" pitchFamily="34" charset="-120"/>
              </a:rPr>
              <a:t>1/28/2026</a:t>
            </a:r>
            <a:endParaRPr lang="en-US" sz="790" dirty="0"/>
          </a:p>
        </p:txBody>
      </p:sp>
      <p:sp>
        <p:nvSpPr>
          <p:cNvPr id="6" name="Text 4">
            <a:extLst>
              <a:ext uri="{FF2B5EF4-FFF2-40B4-BE49-F238E27FC236}">
                <a16:creationId xmlns:a16="http://schemas.microsoft.com/office/drawing/2014/main" id="{C3E8114A-A51A-C523-0E35-0E422C4E15EF}"/>
              </a:ext>
            </a:extLst>
          </p:cNvPr>
          <p:cNvSpPr/>
          <p:nvPr/>
        </p:nvSpPr>
        <p:spPr>
          <a:xfrm>
            <a:off x="5257800" y="6565392"/>
            <a:ext cx="1645920" cy="109728"/>
          </a:xfrm>
          <a:prstGeom prst="rect">
            <a:avLst/>
          </a:prstGeom>
          <a:noFill/>
          <a:ln/>
        </p:spPr>
        <p:txBody>
          <a:bodyPr wrap="square" rtlCol="0" anchor="ctr"/>
          <a:lstStyle/>
          <a:p>
            <a:pPr marL="0" indent="0" algn="ctr">
              <a:buNone/>
            </a:pPr>
            <a:r>
              <a:rPr lang="en-US" sz="790" dirty="0">
                <a:solidFill>
                  <a:srgbClr val="777777"/>
                </a:solidFill>
                <a:latin typeface="Aptos" pitchFamily="34" charset="0"/>
                <a:ea typeface="Aptos" pitchFamily="34" charset="-122"/>
                <a:cs typeface="Aptos" pitchFamily="34" charset="-120"/>
              </a:rPr>
              <a:t>Md. Manirujjaman</a:t>
            </a:r>
            <a:endParaRPr lang="en-US" sz="790" dirty="0"/>
          </a:p>
        </p:txBody>
      </p:sp>
      <p:sp>
        <p:nvSpPr>
          <p:cNvPr id="7" name="Shape 5">
            <a:extLst>
              <a:ext uri="{FF2B5EF4-FFF2-40B4-BE49-F238E27FC236}">
                <a16:creationId xmlns:a16="http://schemas.microsoft.com/office/drawing/2014/main" id="{C9EA6041-3D54-CE4C-94A5-06A46AF97992}"/>
              </a:ext>
            </a:extLst>
          </p:cNvPr>
          <p:cNvSpPr/>
          <p:nvPr/>
        </p:nvSpPr>
        <p:spPr>
          <a:xfrm>
            <a:off x="11430000" y="6327648"/>
            <a:ext cx="274320" cy="274320"/>
          </a:xfrm>
          <a:prstGeom prst="ellipse">
            <a:avLst/>
          </a:prstGeom>
          <a:solidFill>
            <a:srgbClr val="B4001B"/>
          </a:solidFill>
          <a:ln w="12700">
            <a:solidFill>
              <a:srgbClr val="B4001B"/>
            </a:solidFill>
            <a:prstDash val="solid"/>
          </a:ln>
        </p:spPr>
        <p:txBody>
          <a:bodyPr wrap="none" lIns="0" tIns="0" rIns="0" bIns="0" anchor="ctr"/>
          <a:lstStyle/>
          <a:p>
            <a:pPr algn="ctr"/>
            <a:fld id="{8A2B6C1E-3F4D-4E5A-9B7C-1D2E3F4A5B6C}" type="slidenum">
              <a:rPr lang="en-US" sz="900" b="1">
                <a:solidFill>
                  <a:srgbClr val="FFFFFF"/>
                </a:solidFill>
                <a:latin typeface="Aptos"/>
              </a:rPr>
              <a:t>24</a:t>
            </a:fld>
            <a:endParaRPr lang="en-US" sz="900" b="1">
              <a:solidFill>
                <a:srgbClr val="FFFFFF"/>
              </a:solidFill>
              <a:latin typeface="Aptos"/>
            </a:endParaRPr>
          </a:p>
        </p:txBody>
      </p:sp>
      <p:sp>
        <p:nvSpPr>
          <p:cNvPr id="32" name="Shape 30">
            <a:extLst>
              <a:ext uri="{FF2B5EF4-FFF2-40B4-BE49-F238E27FC236}">
                <a16:creationId xmlns:a16="http://schemas.microsoft.com/office/drawing/2014/main" id="{F80705CF-EE6E-FB9D-F449-7C60E7C01E8B}"/>
              </a:ext>
            </a:extLst>
          </p:cNvPr>
          <p:cNvSpPr/>
          <p:nvPr/>
        </p:nvSpPr>
        <p:spPr>
          <a:xfrm>
            <a:off x="411480" y="4160520"/>
            <a:ext cx="5545836" cy="1828800"/>
          </a:xfrm>
          <a:prstGeom prst="rect">
            <a:avLst/>
          </a:prstGeom>
          <a:solidFill>
            <a:srgbClr val="FFF9F9"/>
          </a:solidFill>
          <a:ln w="12700">
            <a:solidFill>
              <a:srgbClr val="E6DCDC">
                <a:alpha val="95000"/>
              </a:srgbClr>
            </a:solidFill>
            <a:prstDash val="solid"/>
          </a:ln>
        </p:spPr>
        <p:txBody>
          <a:bodyPr/>
          <a:lstStyle/>
          <a:p>
            <a:endParaRPr/>
          </a:p>
        </p:txBody>
      </p:sp>
      <p:sp>
        <p:nvSpPr>
          <p:cNvPr id="33" name="Text 31">
            <a:extLst>
              <a:ext uri="{FF2B5EF4-FFF2-40B4-BE49-F238E27FC236}">
                <a16:creationId xmlns:a16="http://schemas.microsoft.com/office/drawing/2014/main" id="{89DBF757-36AE-D38C-D27E-23001307E8E6}"/>
              </a:ext>
            </a:extLst>
          </p:cNvPr>
          <p:cNvSpPr/>
          <p:nvPr/>
        </p:nvSpPr>
        <p:spPr>
          <a:xfrm>
            <a:off x="594360" y="4306824"/>
            <a:ext cx="5234940" cy="323088"/>
          </a:xfrm>
          <a:prstGeom prst="rect">
            <a:avLst/>
          </a:prstGeom>
          <a:noFill/>
          <a:ln/>
        </p:spPr>
        <p:txBody>
          <a:bodyPr wrap="square" lIns="0" tIns="0" rIns="0" bIns="0" rtlCol="0" anchor="t">
            <a:noAutofit/>
          </a:bodyPr>
          <a:lstStyle/>
          <a:p>
            <a:pPr marL="0" indent="0" algn="l">
              <a:lnSpc>
                <a:spcPct val="100000"/>
              </a:lnSpc>
              <a:buNone/>
            </a:pPr>
            <a:r>
              <a:rPr lang="en-US" sz="2000" b="1" i="1" dirty="0">
                <a:solidFill>
                  <a:srgbClr val="111111"/>
                </a:solidFill>
                <a:latin typeface="Georgia"/>
                <a:ea typeface="Georgia"/>
                <a:cs typeface="Georgia"/>
              </a:rPr>
              <a:t>Weak SRS statement</a:t>
            </a:r>
          </a:p>
        </p:txBody>
      </p:sp>
      <p:sp>
        <p:nvSpPr>
          <p:cNvPr id="34" name="Text 32">
            <a:extLst>
              <a:ext uri="{FF2B5EF4-FFF2-40B4-BE49-F238E27FC236}">
                <a16:creationId xmlns:a16="http://schemas.microsoft.com/office/drawing/2014/main" id="{3950D81C-8000-5A24-7D15-63CA33435600}"/>
              </a:ext>
            </a:extLst>
          </p:cNvPr>
          <p:cNvSpPr/>
          <p:nvPr/>
        </p:nvSpPr>
        <p:spPr>
          <a:xfrm>
            <a:off x="594360" y="4757928"/>
            <a:ext cx="5180076" cy="1103376"/>
          </a:xfrm>
          <a:prstGeom prst="rect">
            <a:avLst/>
          </a:prstGeom>
          <a:noFill/>
          <a:ln/>
        </p:spPr>
        <p:txBody>
          <a:bodyPr wrap="square" lIns="0" tIns="0" rIns="0" bIns="0" rtlCol="0" anchor="t">
            <a:noAutofit/>
          </a:bodyPr>
          <a:lstStyle/>
          <a:p>
            <a:pPr marL="0" indent="0">
              <a:lnSpc>
                <a:spcPct val="100000"/>
              </a:lnSpc>
              <a:spcBef>
                <a:spcPts val="0"/>
              </a:spcBef>
              <a:spcAft>
                <a:spcPts val="0"/>
              </a:spcAft>
              <a:buNone/>
            </a:pPr>
            <a:r>
              <a:rPr lang="en-US" sz="1800" dirty="0">
                <a:solidFill>
                  <a:srgbClr val="000000"/>
                </a:solidFill>
                <a:latin typeface="Aptos" pitchFamily="34" charset="0"/>
                <a:ea typeface="Aptos" pitchFamily="34" charset="-122"/>
                <a:cs typeface="Aptos" pitchFamily="34" charset="-120"/>
              </a:rPr>
              <a:t>“The system should load fast.”</a:t>
            </a:r>
            <a:endParaRPr lang="en-US" sz="1800" dirty="0">
              <a:solidFill>
                <a:srgbClr val="000000"/>
              </a:solidFill>
            </a:endParaRPr>
          </a:p>
          <a:p>
            <a:pPr marL="0" indent="0">
              <a:lnSpc>
                <a:spcPct val="100000"/>
              </a:lnSpc>
              <a:spcBef>
                <a:spcPts val="400"/>
              </a:spcBef>
              <a:spcAft>
                <a:spcPts val="0"/>
              </a:spcAft>
              <a:buNone/>
            </a:pPr>
            <a:r>
              <a:rPr lang="en-US" sz="1800" dirty="0">
                <a:solidFill>
                  <a:srgbClr val="000000"/>
                </a:solidFill>
                <a:latin typeface="Aptos" pitchFamily="34" charset="0"/>
                <a:ea typeface="Aptos" pitchFamily="34" charset="-122"/>
                <a:cs typeface="Aptos" pitchFamily="34" charset="-120"/>
              </a:rPr>
              <a:t>Problem: ambiguous, not measurable, hard to test.</a:t>
            </a:r>
            <a:endParaRPr lang="en-US" sz="1800" dirty="0">
              <a:solidFill>
                <a:srgbClr val="000000"/>
              </a:solidFill>
            </a:endParaRPr>
          </a:p>
        </p:txBody>
      </p:sp>
      <p:sp>
        <p:nvSpPr>
          <p:cNvPr id="35" name="Shape 33">
            <a:extLst>
              <a:ext uri="{FF2B5EF4-FFF2-40B4-BE49-F238E27FC236}">
                <a16:creationId xmlns:a16="http://schemas.microsoft.com/office/drawing/2014/main" id="{D7D9CC50-05B1-486C-367F-8715DDB7DEAA}"/>
              </a:ext>
            </a:extLst>
          </p:cNvPr>
          <p:cNvSpPr/>
          <p:nvPr/>
        </p:nvSpPr>
        <p:spPr>
          <a:xfrm>
            <a:off x="6231636" y="4160520"/>
            <a:ext cx="5545836" cy="1828800"/>
          </a:xfrm>
          <a:prstGeom prst="rect">
            <a:avLst/>
          </a:prstGeom>
          <a:solidFill>
            <a:srgbClr val="FFF5F6"/>
          </a:solidFill>
          <a:ln w="12700">
            <a:solidFill>
              <a:srgbClr val="E6DCDC">
                <a:alpha val="95000"/>
              </a:srgbClr>
            </a:solidFill>
            <a:prstDash val="solid"/>
          </a:ln>
        </p:spPr>
        <p:txBody>
          <a:bodyPr/>
          <a:lstStyle/>
          <a:p>
            <a:endParaRPr/>
          </a:p>
        </p:txBody>
      </p:sp>
      <p:sp>
        <p:nvSpPr>
          <p:cNvPr id="36" name="Text 34">
            <a:extLst>
              <a:ext uri="{FF2B5EF4-FFF2-40B4-BE49-F238E27FC236}">
                <a16:creationId xmlns:a16="http://schemas.microsoft.com/office/drawing/2014/main" id="{97DAAE07-B3D4-C82C-FA9E-AD91D7EC6FE5}"/>
              </a:ext>
            </a:extLst>
          </p:cNvPr>
          <p:cNvSpPr/>
          <p:nvPr/>
        </p:nvSpPr>
        <p:spPr>
          <a:xfrm>
            <a:off x="6414516" y="4306824"/>
            <a:ext cx="5234940" cy="323088"/>
          </a:xfrm>
          <a:prstGeom prst="rect">
            <a:avLst/>
          </a:prstGeom>
          <a:noFill/>
          <a:ln/>
        </p:spPr>
        <p:txBody>
          <a:bodyPr wrap="square" lIns="0" tIns="0" rIns="0" bIns="0" rtlCol="0" anchor="t">
            <a:noAutofit/>
          </a:bodyPr>
          <a:lstStyle/>
          <a:p>
            <a:pPr marL="0" indent="0" algn="l">
              <a:lnSpc>
                <a:spcPct val="100000"/>
              </a:lnSpc>
              <a:buNone/>
            </a:pPr>
            <a:r>
              <a:rPr lang="en-US" sz="2000" b="1" i="1" dirty="0">
                <a:solidFill>
                  <a:srgbClr val="111111"/>
                </a:solidFill>
                <a:latin typeface="Georgia"/>
                <a:ea typeface="Georgia"/>
                <a:cs typeface="Georgia"/>
              </a:rPr>
              <a:t>Improved SRS statement</a:t>
            </a:r>
          </a:p>
        </p:txBody>
      </p:sp>
      <p:sp>
        <p:nvSpPr>
          <p:cNvPr id="37" name="Text 35">
            <a:extLst>
              <a:ext uri="{FF2B5EF4-FFF2-40B4-BE49-F238E27FC236}">
                <a16:creationId xmlns:a16="http://schemas.microsoft.com/office/drawing/2014/main" id="{77F7F415-7A5D-2000-2097-9A830ADE701D}"/>
              </a:ext>
            </a:extLst>
          </p:cNvPr>
          <p:cNvSpPr/>
          <p:nvPr/>
        </p:nvSpPr>
        <p:spPr>
          <a:xfrm>
            <a:off x="6414516" y="4757928"/>
            <a:ext cx="5180076" cy="1103376"/>
          </a:xfrm>
          <a:prstGeom prst="rect">
            <a:avLst/>
          </a:prstGeom>
          <a:noFill/>
          <a:ln/>
        </p:spPr>
        <p:txBody>
          <a:bodyPr wrap="square" lIns="0" tIns="0" rIns="0" bIns="0" rtlCol="0" anchor="t">
            <a:noAutofit/>
          </a:bodyPr>
          <a:lstStyle/>
          <a:p>
            <a:pPr marL="0" indent="0">
              <a:lnSpc>
                <a:spcPct val="100000"/>
              </a:lnSpc>
              <a:spcBef>
                <a:spcPts val="0"/>
              </a:spcBef>
              <a:spcAft>
                <a:spcPts val="0"/>
              </a:spcAft>
              <a:buNone/>
            </a:pPr>
            <a:r>
              <a:rPr lang="en-US" sz="1800" dirty="0">
                <a:solidFill>
                  <a:srgbClr val="000000"/>
                </a:solidFill>
                <a:latin typeface="Aptos" pitchFamily="34" charset="0"/>
                <a:ea typeface="Aptos" pitchFamily="34" charset="-122"/>
                <a:cs typeface="Aptos" pitchFamily="34" charset="-120"/>
              </a:rPr>
              <a:t>“Search results shall display within 2 seconds for 95% of requests under normal campus network conditions.”</a:t>
            </a:r>
            <a:endParaRPr lang="en-US" sz="1800" dirty="0">
              <a:solidFill>
                <a:srgbClr val="000000"/>
              </a:solidFill>
            </a:endParaRPr>
          </a:p>
        </p:txBody>
      </p:sp>
      <p:sp>
        <p:nvSpPr>
          <p:cNvPr id="239" name="Card BG">
            <a:extLst>
              <a:ext uri="{FF2B5EF4-FFF2-40B4-BE49-F238E27FC236}">
                <a16:creationId xmlns:a16="http://schemas.microsoft.com/office/drawing/2014/main" id="{F80705CF-EE6E-FB9D-F449-7C60E7C01E8B}"/>
              </a:ext>
            </a:extLst>
          </p:cNvPr>
          <p:cNvSpPr/>
          <p:nvPr/>
        </p:nvSpPr>
        <p:spPr>
          <a:xfrm>
            <a:off x="411480" y="1325880"/>
            <a:ext cx="11365992" cy="2514600"/>
          </a:xfrm>
          <a:prstGeom prst="rect">
            <a:avLst/>
          </a:prstGeom>
          <a:solidFill>
            <a:srgbClr val="FFF9F9"/>
          </a:solidFill>
          <a:ln w="12700">
            <a:solidFill>
              <a:srgbClr val="E6DCDC">
                <a:alpha val="95000"/>
              </a:srgbClr>
            </a:solidFill>
            <a:prstDash val="solid"/>
          </a:ln>
        </p:spPr>
        <p:txBody>
          <a:bodyPr/>
          <a:lstStyle/>
          <a:p>
            <a:endParaRPr/>
          </a:p>
        </p:txBody>
      </p:sp>
      <p:sp>
        <p:nvSpPr>
          <p:cNvPr id="39" name="TextBox 38">
            <a:extLst>
              <a:ext uri="{FF2B5EF4-FFF2-40B4-BE49-F238E27FC236}">
                <a16:creationId xmlns:a16="http://schemas.microsoft.com/office/drawing/2014/main" id="{0ACC4DB9-B1B3-BA25-1010-BDC558B493E4}"/>
              </a:ext>
            </a:extLst>
          </p:cNvPr>
          <p:cNvSpPr txBox="1"/>
          <p:nvPr/>
        </p:nvSpPr>
        <p:spPr>
          <a:xfrm>
            <a:off x="731520" y="1600200"/>
            <a:ext cx="10725912" cy="2057400"/>
          </a:xfrm>
          <a:prstGeom prst="rect">
            <a:avLst/>
          </a:prstGeom>
          <a:noFill/>
        </p:spPr>
        <p:txBody>
          <a:bodyPr wrap="square" lIns="0" tIns="0" rIns="0" bIns="0" rtlCol="0" anchor="t">
            <a:noAutofit/>
          </a:bodyPr>
          <a:lstStyle/>
          <a:p>
            <a:pPr marL="285750" indent="-285750">
              <a:lnSpc>
                <a:spcPct val="100000"/>
              </a:lnSpc>
              <a:spcBef>
                <a:spcPts val="0"/>
              </a:spcBef>
              <a:buFont typeface="Wingdings" panose="05000000000000000000" pitchFamily="2" charset="2"/>
              <a:buChar char="§"/>
            </a:pPr>
            <a:r>
              <a:rPr lang="en-US" sz="2000" dirty="0">
                <a:solidFill>
                  <a:srgbClr val="000000"/>
                </a:solidFill>
                <a:latin typeface="Aptos"/>
                <a:ea typeface="Aptos"/>
                <a:cs typeface="Aptos"/>
              </a:rPr>
              <a:t>SRS allows the customers to review whether all their requirements are fulfilled by the software or not.</a:t>
            </a:r>
            <a:endParaRPr lang="en-US" sz="2000">
              <a:solidFill>
                <a:srgbClr val="000000"/>
              </a:solidFill>
              <a:latin typeface="Aptos"/>
              <a:ea typeface="Aptos"/>
              <a:cs typeface="Aptos"/>
            </a:endParaRPr>
          </a:p>
          <a:p>
            <a:pPr marL="285750" indent="-285750">
              <a:lnSpc>
                <a:spcPct val="100000"/>
              </a:lnSpc>
              <a:spcBef>
                <a:spcPts val="1200"/>
              </a:spcBef>
              <a:buFont typeface="Wingdings" panose="05000000000000000000" pitchFamily="2" charset="2"/>
              <a:buChar char="§"/>
            </a:pPr>
            <a:r>
              <a:rPr lang="en-US" sz="2000" dirty="0">
                <a:solidFill>
                  <a:srgbClr val="000000"/>
                </a:solidFill>
                <a:latin typeface="Aptos"/>
                <a:ea typeface="Aptos"/>
                <a:cs typeface="Aptos"/>
              </a:rPr>
              <a:t>SRS serves two main purposes:</a:t>
            </a:r>
            <a:endParaRPr lang="en-US" sz="2000">
              <a:solidFill>
                <a:srgbClr val="000000"/>
              </a:solidFill>
              <a:latin typeface="Aptos"/>
              <a:ea typeface="Aptos"/>
              <a:cs typeface="Aptos"/>
            </a:endParaRPr>
          </a:p>
          <a:p>
            <a:pPr marL="742950" lvl="1" indent="-285750">
              <a:lnSpc>
                <a:spcPct val="100000"/>
              </a:lnSpc>
              <a:spcBef>
                <a:spcPts val="1200"/>
              </a:spcBef>
              <a:buFont typeface="Wingdings" panose="05000000000000000000" pitchFamily="2" charset="2"/>
              <a:buChar char="§"/>
            </a:pPr>
            <a:r>
              <a:rPr lang="en-US" sz="2000" dirty="0">
                <a:solidFill>
                  <a:srgbClr val="000000"/>
                </a:solidFill>
                <a:latin typeface="Aptos"/>
                <a:ea typeface="Aptos"/>
                <a:cs typeface="Aptos"/>
              </a:rPr>
              <a:t>   It is used to defines the need and expectation of the users.</a:t>
            </a:r>
            <a:endParaRPr lang="en-US" sz="2000">
              <a:solidFill>
                <a:srgbClr val="000000"/>
              </a:solidFill>
              <a:latin typeface="Aptos"/>
              <a:ea typeface="Aptos"/>
              <a:cs typeface="Aptos"/>
            </a:endParaRPr>
          </a:p>
          <a:p>
            <a:pPr marL="742950" lvl="1" indent="-285750">
              <a:lnSpc>
                <a:spcPct val="100000"/>
              </a:lnSpc>
              <a:spcBef>
                <a:spcPts val="1200"/>
              </a:spcBef>
              <a:buFont typeface="Wingdings" panose="05000000000000000000" pitchFamily="2" charset="2"/>
              <a:buChar char="§"/>
            </a:pPr>
            <a:r>
              <a:rPr lang="en-US" sz="2000" dirty="0">
                <a:solidFill>
                  <a:srgbClr val="000000"/>
                </a:solidFill>
                <a:latin typeface="Aptos"/>
                <a:ea typeface="Aptos"/>
                <a:cs typeface="Aptos"/>
              </a:rPr>
              <a:t>   It serves as a contract document between customers and company.</a:t>
            </a:r>
            <a:endParaRPr lang="en-US" sz="2000">
              <a:solidFill>
                <a:srgbClr val="000000"/>
              </a:solidFill>
              <a:latin typeface="Aptos"/>
              <a:ea typeface="Aptos"/>
              <a:cs typeface="Aptos"/>
            </a:endParaRPr>
          </a:p>
        </p:txBody>
      </p:sp>
    </p:spTree>
    <p:extLst>
      <p:ext uri="{BB962C8B-B14F-4D97-AF65-F5344CB8AC3E}">
        <p14:creationId xmlns:p14="http://schemas.microsoft.com/office/powerpoint/2010/main" val="28517972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05A28DE-28E5-D768-DF5B-8B26CA5635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ext 0">
            <a:extLst>
              <a:ext uri="{FF2B5EF4-FFF2-40B4-BE49-F238E27FC236}">
                <a16:creationId xmlns:a16="http://schemas.microsoft.com/office/drawing/2014/main" id="{26385D93-587F-7446-8A5E-DAAFF6D6EA6E}"/>
              </a:ext>
            </a:extLst>
          </p:cNvPr>
          <p:cNvSpPr/>
          <p:nvPr/>
        </p:nvSpPr>
        <p:spPr>
          <a:xfrm>
            <a:off x="411480" y="219456"/>
            <a:ext cx="2834640" cy="137160"/>
          </a:xfrm>
          <a:prstGeom prst="rect">
            <a:avLst/>
          </a:prstGeom>
          <a:noFill/>
          <a:ln/>
        </p:spPr>
        <p:txBody>
          <a:bodyPr wrap="square" rtlCol="0" anchor="ctr"/>
          <a:lstStyle/>
          <a:p>
            <a:pPr marL="0" indent="0">
              <a:buNone/>
            </a:pPr>
            <a:r>
              <a:rPr lang="en-US" sz="900" b="1" dirty="0">
                <a:solidFill>
                  <a:srgbClr val="B4001B"/>
                </a:solidFill>
                <a:latin typeface="Aptos" pitchFamily="34" charset="0"/>
                <a:ea typeface="Aptos" pitchFamily="34" charset="-122"/>
                <a:cs typeface="Aptos" pitchFamily="34" charset="-120"/>
              </a:rPr>
              <a:t>SRS</a:t>
            </a:r>
            <a:endParaRPr lang="en-US" sz="900" dirty="0"/>
          </a:p>
        </p:txBody>
      </p:sp>
      <p:sp>
        <p:nvSpPr>
          <p:cNvPr id="7" name="Text 3">
            <a:extLst>
              <a:ext uri="{FF2B5EF4-FFF2-40B4-BE49-F238E27FC236}">
                <a16:creationId xmlns:a16="http://schemas.microsoft.com/office/drawing/2014/main" id="{08F9E2E0-541C-2AE1-E66D-D647D1592781}"/>
              </a:ext>
            </a:extLst>
          </p:cNvPr>
          <p:cNvSpPr/>
          <p:nvPr/>
        </p:nvSpPr>
        <p:spPr>
          <a:xfrm>
            <a:off x="502920" y="6565392"/>
            <a:ext cx="1280160" cy="109728"/>
          </a:xfrm>
          <a:prstGeom prst="rect">
            <a:avLst/>
          </a:prstGeom>
          <a:noFill/>
          <a:ln/>
        </p:spPr>
        <p:txBody>
          <a:bodyPr wrap="square" rtlCol="0" anchor="ctr"/>
          <a:lstStyle/>
          <a:p>
            <a:pPr marL="0" indent="0">
              <a:buNone/>
            </a:pPr>
            <a:r>
              <a:rPr lang="en-US" sz="790" dirty="0">
                <a:solidFill>
                  <a:srgbClr val="777777"/>
                </a:solidFill>
                <a:latin typeface="Aptos" pitchFamily="34" charset="0"/>
                <a:ea typeface="Aptos" pitchFamily="34" charset="-122"/>
                <a:cs typeface="Aptos" pitchFamily="34" charset="-120"/>
              </a:rPr>
              <a:t>1/28/2026</a:t>
            </a:r>
            <a:endParaRPr lang="en-US" sz="790" dirty="0"/>
          </a:p>
        </p:txBody>
      </p:sp>
      <p:sp>
        <p:nvSpPr>
          <p:cNvPr id="11" name="Shape 5">
            <a:extLst>
              <a:ext uri="{FF2B5EF4-FFF2-40B4-BE49-F238E27FC236}">
                <a16:creationId xmlns:a16="http://schemas.microsoft.com/office/drawing/2014/main" id="{DBA17787-4D86-B538-4AD8-C3DDF0EE2DC8}"/>
              </a:ext>
            </a:extLst>
          </p:cNvPr>
          <p:cNvSpPr/>
          <p:nvPr/>
        </p:nvSpPr>
        <p:spPr>
          <a:xfrm>
            <a:off x="11430000" y="6327648"/>
            <a:ext cx="274320" cy="274320"/>
          </a:xfrm>
          <a:prstGeom prst="ellipse">
            <a:avLst/>
          </a:prstGeom>
          <a:solidFill>
            <a:srgbClr val="B4001B"/>
          </a:solidFill>
          <a:ln w="12700">
            <a:solidFill>
              <a:srgbClr val="B4001B"/>
            </a:solidFill>
            <a:prstDash val="solid"/>
          </a:ln>
        </p:spPr>
        <p:txBody>
          <a:bodyPr wrap="none" lIns="0" tIns="0" rIns="0" bIns="0" anchor="ctr"/>
          <a:lstStyle/>
          <a:p>
            <a:pPr algn="ctr"/>
            <a:fld id="{8A2B6C1E-3F4D-4E5A-9B7C-1D2E3F4A5B6C}" type="slidenum">
              <a:rPr lang="en-US" sz="900" b="1">
                <a:solidFill>
                  <a:srgbClr val="FFFFFF"/>
                </a:solidFill>
                <a:latin typeface="Aptos"/>
              </a:rPr>
              <a:t>25</a:t>
            </a:fld>
            <a:endParaRPr lang="en-US" sz="900" b="1">
              <a:solidFill>
                <a:srgbClr val="FFFFFF"/>
              </a:solidFill>
              <a:latin typeface="Aptos"/>
            </a:endParaRPr>
          </a:p>
        </p:txBody>
      </p:sp>
    </p:spTree>
    <p:extLst>
      <p:ext uri="{BB962C8B-B14F-4D97-AF65-F5344CB8AC3E}">
        <p14:creationId xmlns:p14="http://schemas.microsoft.com/office/powerpoint/2010/main" val="9488490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55448"/>
            <a:ext cx="5486400" cy="201168"/>
          </a:xfrm>
          <a:prstGeom prst="rect">
            <a:avLst/>
          </a:prstGeom>
          <a:noFill/>
          <a:ln/>
        </p:spPr>
        <p:txBody>
          <a:bodyPr wrap="square" lIns="0" tIns="0" rIns="0" bIns="0" rtlCol="0" anchor="ctr">
            <a:noAutofit/>
          </a:bodyPr>
          <a:lstStyle/>
          <a:p>
            <a:pPr marL="0" indent="0">
              <a:buNone/>
            </a:pPr>
            <a:r>
              <a:rPr lang="en-US" sz="1100" b="1" dirty="0">
                <a:solidFill>
                  <a:srgbClr val="B4001B"/>
                </a:solidFill>
                <a:latin typeface="Aptos" pitchFamily="34" charset="0"/>
                <a:ea typeface="Aptos" pitchFamily="34" charset="-122"/>
                <a:cs typeface="Aptos" pitchFamily="34" charset="-120"/>
              </a:rPr>
              <a:t>SRS QUALITY</a:t>
            </a:r>
            <a:endParaRPr lang="en-US" sz="1100" b="1" dirty="0"/>
          </a:p>
        </p:txBody>
      </p:sp>
      <p:sp>
        <p:nvSpPr>
          <p:cNvPr id="3" name="Text 1"/>
          <p:cNvSpPr/>
          <p:nvPr/>
        </p:nvSpPr>
        <p:spPr>
          <a:xfrm>
            <a:off x="411480" y="365760"/>
            <a:ext cx="11365992" cy="512064"/>
          </a:xfrm>
          <a:prstGeom prst="rect">
            <a:avLst/>
          </a:prstGeom>
          <a:noFill/>
          <a:ln/>
        </p:spPr>
        <p:txBody>
          <a:bodyPr wrap="square" lIns="0" tIns="0" rIns="0" bIns="0" rtlCol="0" anchor="ctr">
            <a:noAutofit/>
          </a:bodyPr>
          <a:lstStyle/>
          <a:p>
            <a:pPr algn="l"/>
            <a:r>
              <a:rPr lang="en-US" sz="3200" b="1" i="1" dirty="0">
                <a:solidFill>
                  <a:srgbClr val="111111"/>
                </a:solidFill>
                <a:latin typeface="Georgia"/>
                <a:ea typeface="Georgia"/>
                <a:cs typeface="Georgia"/>
              </a:rPr>
              <a:t>Characteristics of a Good SRS </a:t>
            </a:r>
          </a:p>
        </p:txBody>
      </p:sp>
      <p:sp>
        <p:nvSpPr>
          <p:cNvPr id="5" name="Text 3"/>
          <p:cNvSpPr/>
          <p:nvPr/>
        </p:nvSpPr>
        <p:spPr>
          <a:xfrm>
            <a:off x="502920" y="6565392"/>
            <a:ext cx="1280160" cy="109728"/>
          </a:xfrm>
          <a:prstGeom prst="rect">
            <a:avLst/>
          </a:prstGeom>
          <a:noFill/>
          <a:ln/>
        </p:spPr>
        <p:txBody>
          <a:bodyPr wrap="square" rtlCol="0" anchor="ctr"/>
          <a:lstStyle/>
          <a:p>
            <a:pPr marL="0" indent="0">
              <a:buNone/>
            </a:pPr>
            <a:r>
              <a:rPr lang="en-US" sz="790" dirty="0">
                <a:solidFill>
                  <a:srgbClr val="777777"/>
                </a:solidFill>
                <a:latin typeface="Aptos" pitchFamily="34" charset="0"/>
                <a:ea typeface="Aptos" pitchFamily="34" charset="-122"/>
                <a:cs typeface="Aptos" pitchFamily="34" charset="-120"/>
              </a:rPr>
              <a:t>1/28/2026</a:t>
            </a:r>
            <a:endParaRPr lang="en-US" sz="790" dirty="0"/>
          </a:p>
        </p:txBody>
      </p:sp>
      <p:sp>
        <p:nvSpPr>
          <p:cNvPr id="6" name="Text 4"/>
          <p:cNvSpPr/>
          <p:nvPr/>
        </p:nvSpPr>
        <p:spPr>
          <a:xfrm>
            <a:off x="5257800" y="6565392"/>
            <a:ext cx="1645920" cy="109728"/>
          </a:xfrm>
          <a:prstGeom prst="rect">
            <a:avLst/>
          </a:prstGeom>
          <a:noFill/>
          <a:ln/>
        </p:spPr>
        <p:txBody>
          <a:bodyPr wrap="square" rtlCol="0" anchor="ctr"/>
          <a:lstStyle/>
          <a:p>
            <a:pPr marL="0" indent="0" algn="ctr">
              <a:buNone/>
            </a:pPr>
            <a:r>
              <a:rPr lang="en-US" sz="790" dirty="0">
                <a:solidFill>
                  <a:srgbClr val="777777"/>
                </a:solidFill>
                <a:latin typeface="Aptos" pitchFamily="34" charset="0"/>
                <a:ea typeface="Aptos" pitchFamily="34" charset="-122"/>
                <a:cs typeface="Aptos" pitchFamily="34" charset="-120"/>
              </a:rPr>
              <a:t>Md. Manirujjaman</a:t>
            </a:r>
            <a:endParaRPr lang="en-US" sz="790" dirty="0"/>
          </a:p>
        </p:txBody>
      </p:sp>
      <p:sp>
        <p:nvSpPr>
          <p:cNvPr id="7" name="Shape 5"/>
          <p:cNvSpPr/>
          <p:nvPr/>
        </p:nvSpPr>
        <p:spPr>
          <a:xfrm>
            <a:off x="11430000" y="6327648"/>
            <a:ext cx="274320" cy="274320"/>
          </a:xfrm>
          <a:prstGeom prst="ellipse">
            <a:avLst/>
          </a:prstGeom>
          <a:solidFill>
            <a:srgbClr val="B4001B"/>
          </a:solidFill>
          <a:ln w="12700">
            <a:solidFill>
              <a:srgbClr val="B4001B"/>
            </a:solidFill>
            <a:prstDash val="solid"/>
          </a:ln>
        </p:spPr>
        <p:txBody>
          <a:bodyPr wrap="none" lIns="0" tIns="0" rIns="0" bIns="0" anchor="ctr"/>
          <a:lstStyle/>
          <a:p>
            <a:pPr algn="ctr"/>
            <a:fld id="{8A2B6C1E-3F4D-4E5A-9B7C-1D2E3F4A5B6C}" type="slidenum">
              <a:rPr lang="en-US" sz="900" b="1">
                <a:solidFill>
                  <a:srgbClr val="FFFFFF"/>
                </a:solidFill>
                <a:latin typeface="Aptos"/>
              </a:rPr>
              <a:t>26</a:t>
            </a:fld>
            <a:endParaRPr lang="en-US" sz="900" b="1">
              <a:solidFill>
                <a:srgbClr val="FFFFFF"/>
              </a:solidFill>
              <a:latin typeface="Aptos"/>
            </a:endParaRPr>
          </a:p>
        </p:txBody>
      </p:sp>
      <p:sp>
        <p:nvSpPr>
          <p:cNvPr id="9" name="Shape 7"/>
          <p:cNvSpPr/>
          <p:nvPr/>
        </p:nvSpPr>
        <p:spPr>
          <a:xfrm>
            <a:off x="411480" y="1325880"/>
            <a:ext cx="2562497" cy="4873752"/>
          </a:xfrm>
          <a:prstGeom prst="rect">
            <a:avLst/>
          </a:prstGeom>
          <a:solidFill>
            <a:srgbClr val="FFFFFF"/>
          </a:solidFill>
          <a:ln w="12700">
            <a:solidFill>
              <a:srgbClr val="E6DCDC">
                <a:alpha val="95000"/>
              </a:srgbClr>
            </a:solidFill>
            <a:prstDash val="solid"/>
          </a:ln>
        </p:spPr>
        <p:txBody>
          <a:bodyPr/>
          <a:lstStyle/>
          <a:p>
            <a:endParaRPr/>
          </a:p>
        </p:txBody>
      </p:sp>
      <p:sp>
        <p:nvSpPr>
          <p:cNvPr id="10" name="Shape 8"/>
          <p:cNvSpPr/>
          <p:nvPr/>
        </p:nvSpPr>
        <p:spPr>
          <a:xfrm>
            <a:off x="594360" y="1481328"/>
            <a:ext cx="292608" cy="292608"/>
          </a:xfrm>
          <a:prstGeom prst="ellipse">
            <a:avLst/>
          </a:prstGeom>
          <a:solidFill>
            <a:srgbClr val="B4001B"/>
          </a:solidFill>
          <a:ln w="12700">
            <a:solidFill>
              <a:srgbClr val="B4001B"/>
            </a:solidFill>
            <a:prstDash val="solid"/>
          </a:ln>
        </p:spPr>
        <p:txBody>
          <a:bodyPr/>
          <a:lstStyle/>
          <a:p>
            <a:endParaRPr/>
          </a:p>
        </p:txBody>
      </p:sp>
      <p:sp>
        <p:nvSpPr>
          <p:cNvPr id="11" name="Text 9"/>
          <p:cNvSpPr/>
          <p:nvPr/>
        </p:nvSpPr>
        <p:spPr>
          <a:xfrm>
            <a:off x="594360" y="1481328"/>
            <a:ext cx="292608" cy="292608"/>
          </a:xfrm>
          <a:prstGeom prst="rect">
            <a:avLst/>
          </a:prstGeom>
          <a:noFill/>
          <a:ln/>
        </p:spPr>
        <p:txBody>
          <a:bodyPr wrap="non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1</a:t>
            </a:r>
            <a:endParaRPr lang="en-US" sz="1100" b="1" dirty="0"/>
          </a:p>
        </p:txBody>
      </p:sp>
      <p:sp>
        <p:nvSpPr>
          <p:cNvPr id="12" name="Text 10"/>
          <p:cNvSpPr/>
          <p:nvPr/>
        </p:nvSpPr>
        <p:spPr>
          <a:xfrm>
            <a:off x="996695" y="1472184"/>
            <a:ext cx="1849265" cy="292608"/>
          </a:xfrm>
          <a:prstGeom prst="rect">
            <a:avLst/>
          </a:prstGeom>
          <a:noFill/>
          <a:ln/>
        </p:spPr>
        <p:txBody>
          <a:bodyPr wrap="square" lIns="0" tIns="0" rIns="0" bIns="0" rtlCol="0" anchor="t">
            <a:noAutofit/>
          </a:bodyPr>
          <a:lstStyle/>
          <a:p>
            <a:pPr marL="0" indent="0" algn="l">
              <a:lnSpc>
                <a:spcPct val="100000"/>
              </a:lnSpc>
              <a:buNone/>
            </a:pPr>
            <a:r>
              <a:rPr lang="en-US" sz="1800" b="1" i="1" dirty="0">
                <a:solidFill>
                  <a:srgbClr val="111111"/>
                </a:solidFill>
                <a:latin typeface="Georgia"/>
                <a:ea typeface="Georgia"/>
                <a:cs typeface="Georgia"/>
              </a:rPr>
              <a:t>Correctness</a:t>
            </a:r>
          </a:p>
        </p:txBody>
      </p:sp>
      <p:sp>
        <p:nvSpPr>
          <p:cNvPr id="13" name="Text 11"/>
          <p:cNvSpPr/>
          <p:nvPr/>
        </p:nvSpPr>
        <p:spPr>
          <a:xfrm>
            <a:off x="594360" y="1892807"/>
            <a:ext cx="2196737" cy="4178808"/>
          </a:xfrm>
          <a:prstGeom prst="rect">
            <a:avLst/>
          </a:prstGeom>
          <a:noFill/>
          <a:ln/>
        </p:spPr>
        <p:txBody>
          <a:bodyPr wrap="square" lIns="0" tIns="0" rIns="0" bIns="0" rtlCol="0" anchor="t">
            <a:noAutofit/>
          </a:bodyPr>
          <a:lstStyle/>
          <a:p>
            <a:pPr marL="228600" indent="-228600">
              <a:lnSpc>
                <a:spcPct val="100000"/>
              </a:lnSpc>
              <a:spcBef>
                <a:spcPts val="0"/>
              </a:spcBef>
              <a:spcAft>
                <a:spcPts val="0"/>
              </a:spcAft>
              <a:buFont typeface="Wingdings" panose="05000000000000000000" pitchFamily="2" charset="2"/>
              <a:buChar char="§"/>
            </a:pPr>
            <a:r>
              <a:rPr lang="en-US" sz="1600" dirty="0">
                <a:solidFill>
                  <a:srgbClr val="000000"/>
                </a:solidFill>
                <a:cs typeface="Arial" panose="020B0604020202020204" pitchFamily="34" charset="0"/>
              </a:rPr>
              <a:t>SRS is said to be correct if it covers all the requirements that are actually expected from the system.</a:t>
            </a:r>
            <a:endParaRPr lang="en-US" sz="1600">
              <a:solidFill>
                <a:srgbClr val="000000"/>
              </a:solidFill>
            </a:endParaRPr>
          </a:p>
          <a:p>
            <a:pPr marL="228600" indent="-228600">
              <a:lnSpc>
                <a:spcPct val="100000"/>
              </a:lnSpc>
              <a:spcBef>
                <a:spcPts val="1200"/>
              </a:spcBef>
              <a:spcAft>
                <a:spcPts val="0"/>
              </a:spcAft>
              <a:buFont typeface="Wingdings" panose="05000000000000000000" pitchFamily="2" charset="2"/>
              <a:buChar char="§"/>
            </a:pPr>
            <a:r>
              <a:rPr lang="en-US" sz="1600" dirty="0">
                <a:solidFill>
                  <a:srgbClr val="000000"/>
                </a:solidFill>
                <a:latin typeface="Aptos" pitchFamily="34" charset="0"/>
                <a:ea typeface="Aptos" pitchFamily="34" charset="-122"/>
                <a:cs typeface="Aptos" pitchFamily="34" charset="-120"/>
              </a:rPr>
              <a:t>CI and interviews check whether requirements match real work, not imagined work.</a:t>
            </a:r>
            <a:endParaRPr lang="en-US" sz="1600" dirty="0">
              <a:solidFill>
                <a:srgbClr val="000000"/>
              </a:solidFill>
            </a:endParaRPr>
          </a:p>
        </p:txBody>
      </p:sp>
      <p:sp>
        <p:nvSpPr>
          <p:cNvPr id="14" name="Shape 12"/>
          <p:cNvSpPr/>
          <p:nvPr/>
        </p:nvSpPr>
        <p:spPr>
          <a:xfrm>
            <a:off x="3175145" y="1325880"/>
            <a:ext cx="2562497" cy="4873752"/>
          </a:xfrm>
          <a:prstGeom prst="rect">
            <a:avLst/>
          </a:prstGeom>
          <a:solidFill>
            <a:srgbClr val="FFF9F9"/>
          </a:solidFill>
          <a:ln w="12700">
            <a:solidFill>
              <a:srgbClr val="E6DCDC">
                <a:alpha val="95000"/>
              </a:srgbClr>
            </a:solidFill>
            <a:prstDash val="solid"/>
          </a:ln>
        </p:spPr>
        <p:txBody>
          <a:bodyPr/>
          <a:lstStyle/>
          <a:p>
            <a:endParaRPr/>
          </a:p>
        </p:txBody>
      </p:sp>
      <p:sp>
        <p:nvSpPr>
          <p:cNvPr id="15" name="Shape 13"/>
          <p:cNvSpPr/>
          <p:nvPr/>
        </p:nvSpPr>
        <p:spPr>
          <a:xfrm>
            <a:off x="3358025" y="1481328"/>
            <a:ext cx="292608" cy="292608"/>
          </a:xfrm>
          <a:prstGeom prst="ellipse">
            <a:avLst/>
          </a:prstGeom>
          <a:solidFill>
            <a:srgbClr val="B4001B"/>
          </a:solidFill>
          <a:ln w="12700">
            <a:solidFill>
              <a:srgbClr val="B4001B"/>
            </a:solidFill>
            <a:prstDash val="solid"/>
          </a:ln>
        </p:spPr>
        <p:txBody>
          <a:bodyPr/>
          <a:lstStyle/>
          <a:p>
            <a:endParaRPr/>
          </a:p>
        </p:txBody>
      </p:sp>
      <p:sp>
        <p:nvSpPr>
          <p:cNvPr id="16" name="Text 14"/>
          <p:cNvSpPr/>
          <p:nvPr/>
        </p:nvSpPr>
        <p:spPr>
          <a:xfrm>
            <a:off x="3358025" y="1481328"/>
            <a:ext cx="292608" cy="292608"/>
          </a:xfrm>
          <a:prstGeom prst="rect">
            <a:avLst/>
          </a:prstGeom>
          <a:noFill/>
          <a:ln/>
        </p:spPr>
        <p:txBody>
          <a:bodyPr wrap="non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2</a:t>
            </a:r>
            <a:endParaRPr lang="en-US" sz="1100" b="1" dirty="0"/>
          </a:p>
        </p:txBody>
      </p:sp>
      <p:sp>
        <p:nvSpPr>
          <p:cNvPr id="17" name="Text 15"/>
          <p:cNvSpPr/>
          <p:nvPr/>
        </p:nvSpPr>
        <p:spPr>
          <a:xfrm>
            <a:off x="3760361" y="1472184"/>
            <a:ext cx="1849265" cy="292608"/>
          </a:xfrm>
          <a:prstGeom prst="rect">
            <a:avLst/>
          </a:prstGeom>
          <a:noFill/>
          <a:ln/>
        </p:spPr>
        <p:txBody>
          <a:bodyPr wrap="square" lIns="0" tIns="0" rIns="0" bIns="0" rtlCol="0" anchor="t">
            <a:noAutofit/>
          </a:bodyPr>
          <a:lstStyle/>
          <a:p>
            <a:pPr marL="0" indent="0" algn="l">
              <a:lnSpc>
                <a:spcPct val="100000"/>
              </a:lnSpc>
              <a:buNone/>
            </a:pPr>
            <a:r>
              <a:rPr lang="en-US" sz="1800" b="1" i="1" dirty="0">
                <a:solidFill>
                  <a:srgbClr val="111111"/>
                </a:solidFill>
                <a:latin typeface="Georgia"/>
                <a:ea typeface="Georgia"/>
                <a:cs typeface="Georgia"/>
              </a:rPr>
              <a:t>Completeness</a:t>
            </a:r>
          </a:p>
        </p:txBody>
      </p:sp>
      <p:sp>
        <p:nvSpPr>
          <p:cNvPr id="18" name="Text 16"/>
          <p:cNvSpPr/>
          <p:nvPr/>
        </p:nvSpPr>
        <p:spPr>
          <a:xfrm>
            <a:off x="3358025" y="1892807"/>
            <a:ext cx="2196737" cy="4178808"/>
          </a:xfrm>
          <a:prstGeom prst="rect">
            <a:avLst/>
          </a:prstGeom>
          <a:noFill/>
          <a:ln/>
        </p:spPr>
        <p:txBody>
          <a:bodyPr wrap="square" lIns="0" tIns="0" rIns="0" bIns="0" rtlCol="0" anchor="t">
            <a:noAutofit/>
          </a:bodyPr>
          <a:lstStyle/>
          <a:p>
            <a:pPr marL="228600" indent="-228600">
              <a:lnSpc>
                <a:spcPct val="100000"/>
              </a:lnSpc>
              <a:spcBef>
                <a:spcPts val="0"/>
              </a:spcBef>
              <a:spcAft>
                <a:spcPts val="0"/>
              </a:spcAft>
              <a:buFont typeface="Wingdings" panose="05000000000000000000" pitchFamily="2" charset="2"/>
              <a:buChar char="§"/>
            </a:pPr>
            <a:r>
              <a:rPr lang="en-US" sz="1600" dirty="0">
                <a:solidFill>
                  <a:srgbClr val="000000"/>
                </a:solidFill>
                <a:cs typeface="Arial" panose="020B0604020202020204" pitchFamily="34" charset="0"/>
              </a:rPr>
              <a:t>SRS is complete if it includes all essential requirements of the user and a detailed representation of every module to be developed by the user.</a:t>
            </a:r>
            <a:endParaRPr lang="en-US" sz="1600">
              <a:solidFill>
                <a:srgbClr val="000000"/>
              </a:solidFill>
            </a:endParaRPr>
          </a:p>
          <a:p>
            <a:pPr marL="228600" indent="-228600">
              <a:lnSpc>
                <a:spcPct val="100000"/>
              </a:lnSpc>
              <a:spcBef>
                <a:spcPts val="1200"/>
              </a:spcBef>
              <a:spcAft>
                <a:spcPts val="0"/>
              </a:spcAft>
              <a:buFont typeface="Wingdings" panose="05000000000000000000" pitchFamily="2" charset="2"/>
              <a:buChar char="§"/>
            </a:pPr>
            <a:r>
              <a:rPr lang="en-US" sz="1600" dirty="0">
                <a:solidFill>
                  <a:srgbClr val="000000"/>
                </a:solidFill>
                <a:ea typeface="Aptos" pitchFamily="34" charset="-122"/>
                <a:cs typeface="Aptos" pitchFamily="34" charset="-120"/>
              </a:rPr>
              <a:t>Focus groups, diaries and surveys reveal exceptions, roles and repeated events that may be missed.</a:t>
            </a:r>
            <a:endParaRPr lang="en-US" sz="1600" dirty="0">
              <a:solidFill>
                <a:srgbClr val="000000"/>
              </a:solidFill>
            </a:endParaRPr>
          </a:p>
        </p:txBody>
      </p:sp>
      <p:sp>
        <p:nvSpPr>
          <p:cNvPr id="19" name="Shape 17"/>
          <p:cNvSpPr/>
          <p:nvPr/>
        </p:nvSpPr>
        <p:spPr>
          <a:xfrm>
            <a:off x="5938810" y="1325880"/>
            <a:ext cx="2562497" cy="4873752"/>
          </a:xfrm>
          <a:prstGeom prst="rect">
            <a:avLst/>
          </a:prstGeom>
          <a:solidFill>
            <a:srgbClr val="FFFFFF"/>
          </a:solidFill>
          <a:ln w="12700">
            <a:solidFill>
              <a:srgbClr val="E6DCDC">
                <a:alpha val="95000"/>
              </a:srgbClr>
            </a:solidFill>
            <a:prstDash val="solid"/>
          </a:ln>
        </p:spPr>
        <p:txBody>
          <a:bodyPr/>
          <a:lstStyle/>
          <a:p>
            <a:endParaRPr/>
          </a:p>
        </p:txBody>
      </p:sp>
      <p:sp>
        <p:nvSpPr>
          <p:cNvPr id="20" name="Shape 18"/>
          <p:cNvSpPr/>
          <p:nvPr/>
        </p:nvSpPr>
        <p:spPr>
          <a:xfrm>
            <a:off x="6121690" y="1481328"/>
            <a:ext cx="292608" cy="292608"/>
          </a:xfrm>
          <a:prstGeom prst="ellipse">
            <a:avLst/>
          </a:prstGeom>
          <a:solidFill>
            <a:srgbClr val="B4001B"/>
          </a:solidFill>
          <a:ln w="12700">
            <a:solidFill>
              <a:srgbClr val="B4001B"/>
            </a:solidFill>
            <a:prstDash val="solid"/>
          </a:ln>
        </p:spPr>
        <p:txBody>
          <a:bodyPr/>
          <a:lstStyle/>
          <a:p>
            <a:endParaRPr/>
          </a:p>
        </p:txBody>
      </p:sp>
      <p:sp>
        <p:nvSpPr>
          <p:cNvPr id="21" name="Text 19"/>
          <p:cNvSpPr/>
          <p:nvPr/>
        </p:nvSpPr>
        <p:spPr>
          <a:xfrm>
            <a:off x="6121690" y="1481328"/>
            <a:ext cx="292608" cy="292608"/>
          </a:xfrm>
          <a:prstGeom prst="rect">
            <a:avLst/>
          </a:prstGeom>
          <a:noFill/>
          <a:ln/>
        </p:spPr>
        <p:txBody>
          <a:bodyPr wrap="non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3</a:t>
            </a:r>
            <a:endParaRPr lang="en-US" sz="1100" b="1" dirty="0"/>
          </a:p>
        </p:txBody>
      </p:sp>
      <p:sp>
        <p:nvSpPr>
          <p:cNvPr id="22" name="Text 20"/>
          <p:cNvSpPr/>
          <p:nvPr/>
        </p:nvSpPr>
        <p:spPr>
          <a:xfrm>
            <a:off x="6524026" y="1472184"/>
            <a:ext cx="1849265" cy="292608"/>
          </a:xfrm>
          <a:prstGeom prst="rect">
            <a:avLst/>
          </a:prstGeom>
          <a:noFill/>
          <a:ln/>
        </p:spPr>
        <p:txBody>
          <a:bodyPr wrap="square" lIns="0" tIns="0" rIns="0" bIns="0" rtlCol="0" anchor="t">
            <a:noAutofit/>
          </a:bodyPr>
          <a:lstStyle/>
          <a:p>
            <a:pPr marL="0" indent="0" algn="l">
              <a:lnSpc>
                <a:spcPct val="100000"/>
              </a:lnSpc>
              <a:buNone/>
            </a:pPr>
            <a:r>
              <a:rPr lang="en-US" sz="1800" b="1" i="1" dirty="0">
                <a:solidFill>
                  <a:srgbClr val="111111"/>
                </a:solidFill>
                <a:latin typeface="Georgia"/>
                <a:ea typeface="Georgia"/>
                <a:cs typeface="Georgia"/>
              </a:rPr>
              <a:t>Consistency</a:t>
            </a:r>
          </a:p>
        </p:txBody>
      </p:sp>
      <p:sp>
        <p:nvSpPr>
          <p:cNvPr id="23" name="Text 21"/>
          <p:cNvSpPr/>
          <p:nvPr/>
        </p:nvSpPr>
        <p:spPr>
          <a:xfrm>
            <a:off x="6121690" y="1892807"/>
            <a:ext cx="2196737" cy="4178808"/>
          </a:xfrm>
          <a:prstGeom prst="rect">
            <a:avLst/>
          </a:prstGeom>
          <a:noFill/>
          <a:ln/>
        </p:spPr>
        <p:txBody>
          <a:bodyPr wrap="square" lIns="0" tIns="0" rIns="0" bIns="0" rtlCol="0" anchor="t">
            <a:noAutofit/>
          </a:bodyPr>
          <a:lstStyle/>
          <a:p>
            <a:pPr marL="228600" indent="-228600">
              <a:lnSpc>
                <a:spcPct val="100000"/>
              </a:lnSpc>
              <a:spcBef>
                <a:spcPts val="0"/>
              </a:spcBef>
              <a:spcAft>
                <a:spcPts val="0"/>
              </a:spcAft>
              <a:buFont typeface="Wingdings" panose="05000000000000000000" pitchFamily="2" charset="2"/>
              <a:buChar char="§"/>
            </a:pPr>
            <a:r>
              <a:rPr lang="en-US" sz="1600" dirty="0">
                <a:solidFill>
                  <a:srgbClr val="000000"/>
                </a:solidFill>
                <a:latin typeface="Arial" panose="020B0604020202020204" pitchFamily="34" charset="0"/>
                <a:cs typeface="Arial" panose="020B0604020202020204" pitchFamily="34" charset="0"/>
              </a:rPr>
              <a:t>SRS is consistent if it has no conflicts between any sets of requirements.</a:t>
            </a:r>
            <a:endParaRPr lang="en-US" sz="1600">
              <a:solidFill>
                <a:srgbClr val="000000"/>
              </a:solidFill>
            </a:endParaRPr>
          </a:p>
          <a:p>
            <a:pPr marL="228600" indent="-228600">
              <a:lnSpc>
                <a:spcPct val="100000"/>
              </a:lnSpc>
              <a:spcBef>
                <a:spcPts val="1200"/>
              </a:spcBef>
              <a:spcAft>
                <a:spcPts val="0"/>
              </a:spcAft>
              <a:buFont typeface="Wingdings" panose="05000000000000000000" pitchFamily="2" charset="2"/>
              <a:buChar char="§"/>
            </a:pPr>
            <a:r>
              <a:rPr lang="en-US" sz="1600" dirty="0">
                <a:solidFill>
                  <a:srgbClr val="000000"/>
                </a:solidFill>
                <a:latin typeface="Aptos" pitchFamily="34" charset="0"/>
                <a:ea typeface="Aptos" pitchFamily="34" charset="-122"/>
                <a:cs typeface="Aptos" pitchFamily="34" charset="-120"/>
              </a:rPr>
              <a:t>Cross-role workshops surface conflicting expectations before developers implement contradictions.</a:t>
            </a:r>
            <a:endParaRPr lang="en-US" sz="1600" dirty="0">
              <a:solidFill>
                <a:srgbClr val="000000"/>
              </a:solidFill>
            </a:endParaRPr>
          </a:p>
        </p:txBody>
      </p:sp>
      <p:sp>
        <p:nvSpPr>
          <p:cNvPr id="24" name="Shape 22"/>
          <p:cNvSpPr/>
          <p:nvPr/>
        </p:nvSpPr>
        <p:spPr>
          <a:xfrm>
            <a:off x="8702475" y="1325880"/>
            <a:ext cx="3074996" cy="4873752"/>
          </a:xfrm>
          <a:prstGeom prst="rect">
            <a:avLst/>
          </a:prstGeom>
          <a:solidFill>
            <a:srgbClr val="FFF5F6"/>
          </a:solidFill>
          <a:ln w="12700">
            <a:solidFill>
              <a:srgbClr val="E6DCDC">
                <a:alpha val="95000"/>
              </a:srgbClr>
            </a:solidFill>
            <a:prstDash val="solid"/>
          </a:ln>
        </p:spPr>
        <p:txBody>
          <a:bodyPr/>
          <a:lstStyle/>
          <a:p>
            <a:endParaRPr/>
          </a:p>
        </p:txBody>
      </p:sp>
      <p:sp>
        <p:nvSpPr>
          <p:cNvPr id="25" name="Shape 23"/>
          <p:cNvSpPr/>
          <p:nvPr/>
        </p:nvSpPr>
        <p:spPr>
          <a:xfrm>
            <a:off x="8885355" y="1481328"/>
            <a:ext cx="292608" cy="292608"/>
          </a:xfrm>
          <a:prstGeom prst="ellipse">
            <a:avLst/>
          </a:prstGeom>
          <a:solidFill>
            <a:srgbClr val="B4001B"/>
          </a:solidFill>
          <a:ln w="12700">
            <a:solidFill>
              <a:srgbClr val="B4001B"/>
            </a:solidFill>
            <a:prstDash val="solid"/>
          </a:ln>
        </p:spPr>
        <p:txBody>
          <a:bodyPr/>
          <a:lstStyle/>
          <a:p>
            <a:endParaRPr/>
          </a:p>
        </p:txBody>
      </p:sp>
      <p:sp>
        <p:nvSpPr>
          <p:cNvPr id="26" name="Text 24"/>
          <p:cNvSpPr/>
          <p:nvPr/>
        </p:nvSpPr>
        <p:spPr>
          <a:xfrm>
            <a:off x="8885355" y="1481328"/>
            <a:ext cx="292608" cy="292608"/>
          </a:xfrm>
          <a:prstGeom prst="rect">
            <a:avLst/>
          </a:prstGeom>
          <a:noFill/>
          <a:ln/>
        </p:spPr>
        <p:txBody>
          <a:bodyPr wrap="non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4</a:t>
            </a:r>
            <a:endParaRPr lang="en-US" sz="1100" b="1" dirty="0"/>
          </a:p>
        </p:txBody>
      </p:sp>
      <p:sp>
        <p:nvSpPr>
          <p:cNvPr id="27" name="Text 25"/>
          <p:cNvSpPr/>
          <p:nvPr/>
        </p:nvSpPr>
        <p:spPr>
          <a:xfrm>
            <a:off x="9287691" y="1472184"/>
            <a:ext cx="2361764" cy="292608"/>
          </a:xfrm>
          <a:prstGeom prst="rect">
            <a:avLst/>
          </a:prstGeom>
          <a:noFill/>
          <a:ln/>
        </p:spPr>
        <p:txBody>
          <a:bodyPr wrap="square" lIns="0" tIns="0" rIns="0" bIns="0" rtlCol="0" anchor="t">
            <a:noAutofit/>
          </a:bodyPr>
          <a:lstStyle/>
          <a:p>
            <a:pPr marL="0" indent="0" algn="l">
              <a:lnSpc>
                <a:spcPct val="100000"/>
              </a:lnSpc>
              <a:buNone/>
            </a:pPr>
            <a:r>
              <a:rPr lang="en-US" sz="1800" b="1" i="1" dirty="0">
                <a:solidFill>
                  <a:srgbClr val="111111"/>
                </a:solidFill>
                <a:latin typeface="Georgia"/>
                <a:ea typeface="Georgia"/>
                <a:cs typeface="Georgia"/>
              </a:rPr>
              <a:t>Unambiguousness</a:t>
            </a:r>
          </a:p>
        </p:txBody>
      </p:sp>
      <p:sp>
        <p:nvSpPr>
          <p:cNvPr id="28" name="Text 26"/>
          <p:cNvSpPr/>
          <p:nvPr/>
        </p:nvSpPr>
        <p:spPr>
          <a:xfrm>
            <a:off x="8885355" y="1892807"/>
            <a:ext cx="2709236" cy="4178808"/>
          </a:xfrm>
          <a:prstGeom prst="rect">
            <a:avLst/>
          </a:prstGeom>
          <a:noFill/>
          <a:ln/>
        </p:spPr>
        <p:txBody>
          <a:bodyPr wrap="square" lIns="0" tIns="0" rIns="0" bIns="0" rtlCol="0" anchor="t">
            <a:noAutofit/>
          </a:bodyPr>
          <a:lstStyle/>
          <a:p>
            <a:pPr marL="228600" indent="-228600">
              <a:lnSpc>
                <a:spcPct val="100000"/>
              </a:lnSpc>
              <a:spcBef>
                <a:spcPts val="0"/>
              </a:spcBef>
              <a:spcAft>
                <a:spcPts val="0"/>
              </a:spcAft>
              <a:buFont typeface="Wingdings" panose="05000000000000000000" pitchFamily="2" charset="2"/>
              <a:buChar char="§"/>
            </a:pPr>
            <a:r>
              <a:rPr lang="en-US" sz="1600" dirty="0">
                <a:solidFill>
                  <a:srgbClr val="000000"/>
                </a:solidFill>
                <a:cs typeface="Arial" panose="020B0604020202020204" pitchFamily="34" charset="0"/>
              </a:rPr>
              <a:t>Sometimes in SRS, some words have more that one meaning and this might confuse developers in getting the exact reference. It is advisable to check for such ambiguous words and make the meaning clear for better understanding.</a:t>
            </a:r>
            <a:endParaRPr lang="en-US" sz="1600">
              <a:solidFill>
                <a:srgbClr val="00000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1">
    <p:bg>
      <p:bgPr>
        <a:solidFill>
          <a:srgbClr val="4B000B"/>
        </a:solidFill>
        <a:effectLst/>
      </p:bgPr>
    </p:bg>
    <p:spTree>
      <p:nvGrpSpPr>
        <p:cNvPr id="1" name=""/>
        <p:cNvGrpSpPr/>
        <p:nvPr/>
      </p:nvGrpSpPr>
      <p:grpSpPr>
        <a:xfrm>
          <a:off x="0" y="0"/>
          <a:ext cx="0" cy="0"/>
          <a:chOff x="0" y="0"/>
          <a:chExt cx="0" cy="0"/>
        </a:xfrm>
      </p:grpSpPr>
      <p:sp>
        <p:nvSpPr>
          <p:cNvPr id="2" name="Text 0"/>
          <p:cNvSpPr/>
          <p:nvPr/>
        </p:nvSpPr>
        <p:spPr>
          <a:xfrm>
            <a:off x="640080" y="2834640"/>
            <a:ext cx="7315200" cy="822960"/>
          </a:xfrm>
          <a:prstGeom prst="rect">
            <a:avLst/>
          </a:prstGeom>
          <a:noFill/>
          <a:ln/>
        </p:spPr>
        <p:txBody>
          <a:bodyPr wrap="square" rtlCol="0" anchor="ctr"/>
          <a:lstStyle/>
          <a:p>
            <a:pPr marL="0" indent="0">
              <a:buNone/>
            </a:pPr>
            <a:r>
              <a:rPr lang="en-US" sz="4400" b="1" i="1" dirty="0">
                <a:solidFill>
                  <a:srgbClr val="FFFFFF"/>
                </a:solidFill>
                <a:latin typeface="Georgia" pitchFamily="34" charset="0"/>
                <a:ea typeface="Georgia" pitchFamily="34" charset="-122"/>
                <a:cs typeface="Georgia" pitchFamily="34" charset="-120"/>
              </a:rPr>
              <a:t>Thank You</a:t>
            </a:r>
            <a:endParaRPr lang="en-US" sz="4400" dirty="0"/>
          </a:p>
        </p:txBody>
      </p:sp>
      <p:sp>
        <p:nvSpPr>
          <p:cNvPr id="3" name="Text 1"/>
          <p:cNvSpPr/>
          <p:nvPr/>
        </p:nvSpPr>
        <p:spPr>
          <a:xfrm>
            <a:off x="502920" y="6565392"/>
            <a:ext cx="1280160" cy="109728"/>
          </a:xfrm>
          <a:prstGeom prst="rect">
            <a:avLst/>
          </a:prstGeom>
          <a:noFill/>
          <a:ln/>
        </p:spPr>
        <p:txBody>
          <a:bodyPr wrap="square" rtlCol="0" anchor="ctr"/>
          <a:lstStyle/>
          <a:p>
            <a:pPr marL="0" indent="0">
              <a:buNone/>
            </a:pPr>
            <a:r>
              <a:rPr lang="en-US" sz="790" dirty="0">
                <a:solidFill>
                  <a:srgbClr val="FFFFFF">
                    <a:alpha val="90000"/>
                  </a:srgbClr>
                </a:solidFill>
                <a:latin typeface="Aptos" pitchFamily="34" charset="0"/>
                <a:ea typeface="Aptos" pitchFamily="34" charset="-122"/>
                <a:cs typeface="Aptos" pitchFamily="34" charset="-120"/>
              </a:rPr>
              <a:t>1/28/2026</a:t>
            </a:r>
            <a:endParaRPr lang="en-US" sz="790" dirty="0"/>
          </a:p>
        </p:txBody>
      </p:sp>
      <p:sp>
        <p:nvSpPr>
          <p:cNvPr id="4" name="Text 2"/>
          <p:cNvSpPr/>
          <p:nvPr/>
        </p:nvSpPr>
        <p:spPr>
          <a:xfrm>
            <a:off x="5257800" y="6565392"/>
            <a:ext cx="1645920" cy="109728"/>
          </a:xfrm>
          <a:prstGeom prst="rect">
            <a:avLst/>
          </a:prstGeom>
          <a:noFill/>
          <a:ln/>
        </p:spPr>
        <p:txBody>
          <a:bodyPr wrap="square" rtlCol="0" anchor="ctr"/>
          <a:lstStyle/>
          <a:p>
            <a:pPr marL="0" indent="0" algn="ctr">
              <a:buNone/>
            </a:pPr>
            <a:r>
              <a:rPr lang="en-US" sz="790" dirty="0">
                <a:solidFill>
                  <a:srgbClr val="FFFFFF">
                    <a:alpha val="90000"/>
                  </a:srgbClr>
                </a:solidFill>
                <a:latin typeface="Aptos" pitchFamily="34" charset="0"/>
                <a:ea typeface="Aptos" pitchFamily="34" charset="-122"/>
                <a:cs typeface="Aptos" pitchFamily="34" charset="-120"/>
              </a:rPr>
              <a:t>Md. Manirujjaman</a:t>
            </a:r>
            <a:endParaRPr lang="en-US" sz="790" dirty="0"/>
          </a:p>
        </p:txBody>
      </p:sp>
      <p:sp>
        <p:nvSpPr>
          <p:cNvPr id="5" name="Shape 3"/>
          <p:cNvSpPr/>
          <p:nvPr/>
        </p:nvSpPr>
        <p:spPr>
          <a:xfrm>
            <a:off x="11430000" y="6327648"/>
            <a:ext cx="274320" cy="274320"/>
          </a:xfrm>
          <a:prstGeom prst="ellipse">
            <a:avLst/>
          </a:prstGeom>
          <a:solidFill>
            <a:srgbClr val="B4001B"/>
          </a:solidFill>
          <a:ln w="12700">
            <a:solidFill>
              <a:srgbClr val="B4001B"/>
            </a:solidFill>
            <a:prstDash val="solid"/>
          </a:ln>
        </p:spPr>
        <p:txBody>
          <a:bodyPr wrap="none" lIns="0" tIns="0" rIns="0" bIns="0" anchor="ctr"/>
          <a:lstStyle/>
          <a:p>
            <a:pPr algn="ctr"/>
            <a:fld id="{8A2B6C1E-3F4D-4E5A-9B7C-1D2E3F4A5B6C}" type="slidenum">
              <a:rPr lang="en-US" sz="900" b="1">
                <a:solidFill>
                  <a:srgbClr val="FFFFFF"/>
                </a:solidFill>
                <a:latin typeface="Aptos"/>
              </a:rPr>
              <a:t>27</a:t>
            </a:fld>
            <a:endParaRPr lang="en-US" sz="900" b="1">
              <a:solidFill>
                <a:srgbClr val="FFFFFF"/>
              </a:solidFill>
              <a:latin typeface="Apto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631</TotalTime>
  <Words>6892</Words>
  <Application>Microsoft Office PowerPoint</Application>
  <PresentationFormat>Widescreen</PresentationFormat>
  <Paragraphs>751</Paragraphs>
  <Slides>27</Slides>
  <Notes>26</Notes>
  <HiddenSlides>4</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Aptos</vt:lpstr>
      <vt:lpstr>Arial</vt:lpstr>
      <vt:lpstr>Georgia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Redesigned 5. System Analysis Lecture</dc:title>
  <dc:subject>Systems Analysis – Tools for Information Requirements and SRS</dc:subject>
  <dc:creator>Md. Manirujjaman</dc:creator>
  <cp:lastModifiedBy>Md Manirujjaman</cp:lastModifiedBy>
  <cp:revision>16</cp:revision>
  <dcterms:created xsi:type="dcterms:W3CDTF">2026-09-30T14:01:07Z</dcterms:created>
  <dcterms:modified xsi:type="dcterms:W3CDTF">2026-10-30T09:22:15Z</dcterms:modified>
</cp:coreProperties>
</file>