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562" autoAdjust="0"/>
  </p:normalViewPr>
  <p:slideViewPr>
    <p:cSldViewPr snapToGrid="0" snapToObjects="1">
      <p:cViewPr varScale="1">
        <p:scale>
          <a:sx n="65" d="100"/>
          <a:sy n="65" d="100"/>
        </p:scale>
        <p:origin x="133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684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Systems Theory &amp; Behavior</a:t>
            </a:r>
            <a:br>
              <a:rPr lang="en-US" b="0" dirty="0"/>
            </a:br>
            <a:r>
              <a:rPr lang="en-US" b="0" dirty="0"/>
              <a:t>An analyst needs to understand how a system works inside an organization and how people interact with that system.</a:t>
            </a:r>
            <a:br>
              <a:rPr lang="en-US" b="0" dirty="0"/>
            </a:br>
            <a:r>
              <a:rPr lang="en-US" b="0" dirty="0"/>
              <a:t>Example: If a university introduces a new attendance system, the analyst should understand how it will affect teachers, students, and administrators.</a:t>
            </a:r>
          </a:p>
          <a:p>
            <a:endParaRPr lang="en-US" b="0" dirty="0"/>
          </a:p>
          <a:p>
            <a:r>
              <a:rPr lang="en-US" b="0" dirty="0"/>
              <a:t>Application-Area Knowledge</a:t>
            </a:r>
            <a:br>
              <a:rPr lang="en-US" b="0" dirty="0"/>
            </a:br>
            <a:r>
              <a:rPr lang="en-US" b="0" dirty="0"/>
              <a:t>The analyst should have basic knowledge about the business area where the system will be used, such as accounting, marketing, HR, or production.</a:t>
            </a:r>
            <a:br>
              <a:rPr lang="en-US" b="0" dirty="0"/>
            </a:br>
            <a:r>
              <a:rPr lang="en-US" b="0" dirty="0"/>
              <a:t>Example: If someone is designing software for a bank, it is difficult to design a good system without understanding basic banking processes.</a:t>
            </a:r>
          </a:p>
          <a:p>
            <a:endParaRPr lang="en-US" b="0" dirty="0"/>
          </a:p>
          <a:p>
            <a:r>
              <a:rPr lang="en-US" b="0" dirty="0"/>
              <a:t>Competence in System Tools</a:t>
            </a:r>
            <a:br>
              <a:rPr lang="en-US" b="0" dirty="0"/>
            </a:br>
            <a:r>
              <a:rPr lang="en-US" b="0" dirty="0"/>
              <a:t>The analyst should have practical knowledge of programming, databases, and system development methodologies.</a:t>
            </a:r>
            <a:br>
              <a:rPr lang="en-US" b="0" dirty="0"/>
            </a:br>
            <a:r>
              <a:rPr lang="en-US" b="0" dirty="0"/>
              <a:t>This means the analyst should not only understand the problem but also understand how a technical solution can be developed</a:t>
            </a:r>
            <a:r>
              <a:rPr lang="en-US" dirty="0"/>
              <a:t>.</a:t>
            </a:r>
          </a:p>
          <a:p>
            <a:endParaRPr lang="en-US" b="0" dirty="0"/>
          </a:p>
          <a:p>
            <a:r>
              <a:rPr lang="en-US" b="0" dirty="0"/>
              <a:t>Hardware &amp; Software Experience</a:t>
            </a:r>
            <a:br>
              <a:rPr lang="en-US" b="0" dirty="0"/>
            </a:br>
            <a:r>
              <a:rPr lang="en-US" b="0" dirty="0"/>
              <a:t>The analyst should understand which hardware and software are suitable for a particular situation.</a:t>
            </a:r>
            <a:br>
              <a:rPr lang="en-US" b="0" dirty="0"/>
            </a:br>
            <a:r>
              <a:rPr lang="en-US" b="0" dirty="0"/>
              <a:t>Example: For a small company, the analyst may need to decide whether an expensive physical server is necessary or whether a cloud-based solution would be better.</a:t>
            </a:r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Change Agent</a:t>
            </a:r>
            <a:br>
              <a:rPr lang="en-US" dirty="0"/>
            </a:br>
            <a:r>
              <a:rPr lang="en-US" dirty="0"/>
              <a:t>A new system often changes the way an organization works. The analyst helps manage that change.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Introducing biometric attendance instead of manual attendance. </a:t>
            </a:r>
          </a:p>
          <a:p>
            <a:pPr lvl="0"/>
            <a:r>
              <a:rPr lang="en-US" b="1" dirty="0"/>
              <a:t>Investigator</a:t>
            </a:r>
            <a:br>
              <a:rPr lang="en-US" dirty="0"/>
            </a:br>
            <a:r>
              <a:rPr lang="en-US" dirty="0"/>
              <a:t>The analyst finds the real cause of a problem.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Investigating why result processing is repeatedly delayed. </a:t>
            </a:r>
          </a:p>
          <a:p>
            <a:pPr lvl="0"/>
            <a:r>
              <a:rPr lang="en-US" b="1" dirty="0"/>
              <a:t>Monitor</a:t>
            </a:r>
            <a:br>
              <a:rPr lang="en-US" dirty="0"/>
            </a:br>
            <a:r>
              <a:rPr lang="en-US" dirty="0"/>
              <a:t>The analyst checks whether the project is progressing according to time, cost, and quality requirements. </a:t>
            </a:r>
          </a:p>
          <a:p>
            <a:pPr lvl="0"/>
            <a:r>
              <a:rPr lang="en-US" b="1" dirty="0"/>
              <a:t>Architect</a:t>
            </a:r>
            <a:br>
              <a:rPr lang="en-US" dirty="0"/>
            </a:br>
            <a:r>
              <a:rPr lang="en-US" dirty="0"/>
              <a:t>The analyst converts user requirements into a technical system design.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If students ask for online registration, the analyst decides what modules, database, and workflow are needed. </a:t>
            </a:r>
          </a:p>
          <a:p>
            <a:pPr lvl="0"/>
            <a:r>
              <a:rPr lang="en-US" b="1" dirty="0"/>
              <a:t>Psychologist</a:t>
            </a:r>
            <a:br>
              <a:rPr lang="en-US" dirty="0"/>
            </a:br>
            <a:r>
              <a:rPr lang="en-US" dirty="0"/>
              <a:t>The analyst needs to understand user behavior, fear, and resistance.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If employees are afraid of using new software, the analyst understands their concerns and supports them. </a:t>
            </a:r>
          </a:p>
          <a:p>
            <a:pPr lvl="0"/>
            <a:r>
              <a:rPr lang="en-US" b="1" dirty="0"/>
              <a:t>Salesperson</a:t>
            </a:r>
            <a:br>
              <a:rPr lang="en-US" dirty="0"/>
            </a:br>
            <a:r>
              <a:rPr lang="en-US" dirty="0"/>
              <a:t>This does not mean selling a product. The analyst must </a:t>
            </a:r>
            <a:r>
              <a:rPr lang="en-US" b="1" dirty="0"/>
              <a:t>present and promote the proposed system idea convincingly</a:t>
            </a:r>
            <a:r>
              <a:rPr lang="en-US" dirty="0"/>
              <a:t> to management and users. </a:t>
            </a:r>
          </a:p>
          <a:p>
            <a:pPr lvl="0"/>
            <a:r>
              <a:rPr lang="en-US" b="1" dirty="0"/>
              <a:t>Motivator</a:t>
            </a:r>
            <a:br>
              <a:rPr lang="en-US" dirty="0"/>
            </a:br>
            <a:r>
              <a:rPr lang="en-US" dirty="0"/>
              <a:t>The analyst encourages users to accept and use the new system. </a:t>
            </a:r>
          </a:p>
          <a:p>
            <a:pPr lvl="0"/>
            <a:r>
              <a:rPr lang="en-US" b="1" dirty="0"/>
              <a:t>Politician</a:t>
            </a:r>
            <a:br>
              <a:rPr lang="en-US" dirty="0"/>
            </a:br>
            <a:r>
              <a:rPr lang="en-US" dirty="0"/>
              <a:t>This does not refer to political parties. The analyst uses </a:t>
            </a:r>
            <a:r>
              <a:rPr lang="en-US" b="1" dirty="0"/>
              <a:t>diplomacy and negotiation</a:t>
            </a:r>
            <a:r>
              <a:rPr lang="en-US" dirty="0"/>
              <a:t> to balance conflicting interests between departments.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1. Administration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This section manages planning, budgeting, staffing, policies, and other administrative activities.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2. Systems Analysis &amp; Design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Here, analysts collect user requirements, analyze problems, and prepare the system design.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This branch can be organized in different ways, such as: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Project-Oriented 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Pool-Oriented 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and the lecture later also introduces the Functional structure. 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3. Programming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After the analyst prepares the design, programmers develop the actual software or code based on that design.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Programming work may include: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Applications 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Software </a:t>
            </a:r>
          </a:p>
          <a:p>
            <a:pPr lvl="0"/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Maintenance 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4. Operations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After the system is developed, this section handles its day-to-day operation, scheduling, data management, and related tasks.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5. User Liaison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This section maintains communication between users and the MIS department. It carries user problems, requests, and feedback to the MIS team.</a:t>
            </a:r>
          </a:p>
          <a:p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Suppose there is a large manufacturing company.</a:t>
            </a:r>
          </a:p>
          <a:p>
            <a:r>
              <a:rPr lang="en-US" dirty="0"/>
              <a:t>They may need:</a:t>
            </a:r>
          </a:p>
          <a:p>
            <a:pPr lvl="0"/>
            <a:r>
              <a:rPr lang="en-US" dirty="0"/>
              <a:t>Attendance, recruitment, and payroll systems for HR </a:t>
            </a:r>
          </a:p>
          <a:p>
            <a:pPr lvl="0"/>
            <a:r>
              <a:rPr lang="en-US" dirty="0"/>
              <a:t>Inventory, machine scheduling, and production tracking systems for Production </a:t>
            </a:r>
          </a:p>
          <a:p>
            <a:pPr lvl="0"/>
            <a:r>
              <a:rPr lang="en-US" dirty="0"/>
              <a:t>Sales tracking, customer databases, and campaign systems for Marketing </a:t>
            </a:r>
          </a:p>
          <a:p>
            <a:r>
              <a:rPr lang="en-US" dirty="0"/>
              <a:t>In this structure, different analyst teams permanently handle different functional areas.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16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2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 Management- Lecture -03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Role of the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Analyst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A7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Manirujjaman  |  Lecturer  |  Dhaka International University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Systems Analyst?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20840" cy="443484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400"/>
              </a:lnSpc>
              <a:buNone/>
            </a:pPr>
            <a:r>
              <a:rPr lang="en-US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 systems analyst studies, designs, and improves information systems so that they meet real business needs — acting as the bridge between the people who use a system and the developers who build it.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5989320" cy="0"/>
          </a:xfrm>
          <a:prstGeom prst="line">
            <a:avLst/>
          </a:prstGeom>
          <a:noFill/>
          <a:ln w="12700">
            <a:solidFill>
              <a:srgbClr val="E4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611880"/>
            <a:ext cx="5989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6B0D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person who conducts a methodical study and evaluation of an activity — such as a business — to identify its desired objectives, in order to determine the procedures by which those objectives can be achieved.”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212080"/>
            <a:ext cx="5989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Random House Dictionary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1691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pic>
        <p:nvPicPr>
          <p:cNvPr id="13" name="Image 0" descr="/home/claude/work/icons/university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2860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5820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wants to modernise how it handles student data.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18120" y="306324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 analyst studies how admissions and results are currently processed, </a:t>
            </a:r>
            <a:r>
              <a:rPr lang="en-US" sz="1400" b="1" dirty="0">
                <a:solidFill>
                  <a:srgbClr val="6B0D14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then designs an automated system</a:t>
            </a:r>
            <a:r>
              <a:rPr lang="en-US" sz="14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that fits how the registrar, faculty, and students actually work.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818120" y="4572000"/>
            <a:ext cx="3520440" cy="0"/>
          </a:xfrm>
          <a:prstGeom prst="line">
            <a:avLst/>
          </a:prstGeom>
          <a:noFill/>
          <a:ln w="12700">
            <a:solidFill>
              <a:srgbClr val="E4D9D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HISTORICAL PERSPECTIVE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Born Out of War and Industry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34340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7" name="Image 0" descr="/home/claude/work/icons/factory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65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9001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PRE–WORLD WAR I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08760" y="21945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The Industrial Landscape</a:t>
            </a:r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Factories relied on labor-intensive, manual work.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Automation began making goods faster, cheaper, and more efficient.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Labor unions and rising wages created new demand for analysts.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Analysts improved working conditions and built incentive systems and training programs.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17920" y="1691640"/>
            <a:ext cx="53492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78040" y="1965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9001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POST–WORLD WAR II · 1950s–60s</a:t>
            </a:r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178040" y="21945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Cost, Control, and Weapons</a:t>
            </a:r>
            <a:endParaRPr lang="en-US" sz="1800" dirty="0">
              <a:latin typeface="Georgia" panose="02040502050405020303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537960" y="283464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Government began stockpiling military weapons at scale.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Analysts ran cost/benefit analyses to evaluate weapon systems.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Inventory-control techniques determined optimal usage and quantities.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17" name="Picture 16" descr="Justice Scale Logo Images – Browse 63,179 Stock Photos ...">
            <a:extLst>
              <a:ext uri="{FF2B5EF4-FFF2-40B4-BE49-F238E27FC236}">
                <a16:creationId xmlns:a16="http://schemas.microsoft.com/office/drawing/2014/main" id="{813FC1DE-F034-030D-08FB-DA0E8757D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256" y="1993392"/>
            <a:ext cx="877487" cy="701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PERSPECTIVE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Innovations Forged by Military Need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systems emerged directly from wartime priorities — each later reshaping civilian technology and, with it, the analyst’s toolkit.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404872"/>
            <a:ext cx="566928" cy="566928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9" name="Image 0" descr="/home/claude/work/icons/radar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532888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350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Radar Systems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4672" y="304495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Detection and tracking that redefined defense and, later, air traffic control.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25112" y="2171607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07992" y="2404872"/>
            <a:ext cx="566928" cy="566928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4" name="Image 1" descr="/home/claude/work/icons/computer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253288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2350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Computers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07992" y="304495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Room-sized machines that proved large-scale calculation could be automated.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955280" y="214884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11312" y="2404872"/>
            <a:ext cx="566928" cy="566928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9" name="Image 2" descr="/home/claude/work/icons/crypto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53288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2350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Cryptographic Machines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11312" y="304495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Code-breaking devices that pioneered structured, logical information processing.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48640" y="429768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4553712"/>
            <a:ext cx="566928" cy="566928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4" name="Image 3" descr="/home/claude/work/icons/inventory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68172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4498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Control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04672" y="519379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Systems for tracking and optimizing vast quantities of military supplies.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4251960" y="429768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07992" y="4553712"/>
            <a:ext cx="566928" cy="566928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9" name="Image 4" descr="/home/claude/work/icons/research_9900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4681728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4498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Research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507992" y="519379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Mathematical methods for optimal decision-making under constraints.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7955280" y="429768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11312" y="4553712"/>
            <a:ext cx="566928" cy="566928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34" name="Image 5" descr="/home/claude/work/icons/medicine_9900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4681728"/>
            <a:ext cx="310896" cy="31089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61120" y="4498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Mass-Produced Penicillin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8211312" y="519379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Industrial-scale production planning applied to save lives.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PERSPECTIVE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Record-Keeping to a Recognized Profession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420624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1950s–60s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Computers used mainly for payroll and record-keeping.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Programmers handled both analysis and programming tasks.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1031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1970s–80s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283464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Growing need to link business needs with technical solutions.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Systems Analyst formally recognized as a role.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Structured analysis and design methods introduced.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14" name="Image 0" descr="/home/claude/work/icons/arrow_5555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56" y="373989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PERSPECTIVE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the Age of Integration and Strategy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420624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031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Databases and personal computers expand rapidly.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Analysts focus on integration and decision-support systems.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10312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2000s–Present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12280" y="283464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Object-oriented, agile, and cloud-based approaches take hold.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Analysts become technology planners and digital-transformation advisors.</a:t>
            </a:r>
            <a:endParaRPr lang="en-US" sz="1600" dirty="0">
              <a:latin typeface="Georgia" panose="02040502050405020303" pitchFamily="18" charset="0"/>
            </a:endParaRPr>
          </a:p>
          <a:p>
            <a:pPr marL="177800" indent="-1778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Greater focus on business strategy and user experience.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14" name="Image 0" descr="/home/claude/work/icons/arrow_5555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56" y="373989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Systems Analysis Demands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analysis rests on two pillars held in balance — neither is sufficient alone.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572691"/>
            <a:ext cx="5120640" cy="233172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3847011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0" name="Image 1" descr="/home/claude/work/icons/communica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84171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819579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Interpersonal Skills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22960" y="4487091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Deal with people, relationships, and communication within the business — understanding user needs and building trust.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355080" y="3572691"/>
            <a:ext cx="5120640" cy="233172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14" name="Shape 10"/>
          <p:cNvSpPr/>
          <p:nvPr/>
        </p:nvSpPr>
        <p:spPr>
          <a:xfrm>
            <a:off x="6675120" y="3847011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5" name="Image 2" descr="/home/claude/work/icons/tool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984171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3819579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Skills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720840" y="4487091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Cover the methods, tools, and techniques of systems and computer analysis — turning needs into working solutions.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two let an analyst understand real needs, solve genuine problems, and deliver solutions people will actually use.</a:t>
            </a:r>
            <a:endParaRPr lang="en-US" sz="1250" dirty="0"/>
          </a:p>
        </p:txBody>
      </p:sp>
      <p:pic>
        <p:nvPicPr>
          <p:cNvPr id="19" name="Picture 18" descr="Justice Scale Logo Images – Browse 63,179 Stock Photos ...">
            <a:extLst>
              <a:ext uri="{FF2B5EF4-FFF2-40B4-BE49-F238E27FC236}">
                <a16:creationId xmlns:a16="http://schemas.microsoft.com/office/drawing/2014/main" id="{FC10966D-7DD3-9775-49F6-AC13E17FF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533" y="1818186"/>
            <a:ext cx="2286409" cy="18291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 SKILLS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Speaking the Language of the Business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side of analysis — four abilities that turn cooperation into results.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67128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9" name="Image 0" descr="/home/claude/work/icons/communication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768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130552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7240" y="2715768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Speaks the user’s language across every managerial level — listening and discussing openly rather than hiding behind documentation.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10148" y="1965960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38748" y="2167128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4" name="Image 1" descr="/home/claude/work/icons/understanding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476" y="227685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33108" y="2130552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38748" y="2715768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Identifies problems, assesses their impact, and aligns solutions with company goals, staying sensitive to how systems affect people.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4133088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334256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9" name="Image 2" descr="/home/claude/work/icons/teaching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44398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29768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77240" y="4882896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Educates users on how a system works and provides continuous support, helping them adapt with confidence.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210148" y="4133088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38748" y="4334256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4" name="Image 3" descr="/home/claude/work/icons/selling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476" y="444398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3108" y="429768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38748" y="4858263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Promotes system ideas and builds enthusiasm, convincing users and management to adopt new technology.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Toolkit Behind Every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craft — six abilities that turn requirements into working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4573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67128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9" name="Image 0" descr="/home/claude/work/icons/creativity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768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130552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Creativity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7240" y="2715768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Transforms user ideas into workable system models and design alternatives.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22978" y="1965960"/>
            <a:ext cx="354573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51578" y="2167128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4" name="Image 1" descr="/home/claude/work/icons/problemsolving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1306" y="227685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45938" y="2130552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Solving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551578" y="2715768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Breaks complex issues into manageable parts to find the best-fit solution.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097317" y="1965960"/>
            <a:ext cx="354573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25917" y="2167128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9" name="Image 2" descr="/home/claude/work/icons/projectmgmt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645" y="227685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20277" y="2130552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Management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325917" y="2715768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Manages time, cost, and resources while coordinating teamwork effectively.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548640" y="3995928"/>
            <a:ext cx="354573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197096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4" name="Image 3" descr="/home/claude/work/icons/interface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30682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16052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Interface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77240" y="4745736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Integrates technical and non-technical concerns within one coherent design.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4322978" y="3995928"/>
            <a:ext cx="354573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51578" y="4197096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9" name="Image 4" descr="/home/claude/work/icons/questioning_9900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1306" y="4306824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145938" y="416052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Questioning Attitude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551578" y="4745736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Continually asks what, why, when, where, who, and how of system operations.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8097317" y="3995928"/>
            <a:ext cx="354573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25917" y="4197096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34" name="Image 5" descr="/home/claude/work/icons/knowledge_9900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645" y="4306824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20277" y="4160520"/>
            <a:ext cx="25398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Base</a:t>
            </a: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8325917" y="4745736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Grounded in computer fundamentals and a sound understanding of business processes.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SKILLS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Each Skill Set Matters Most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between interpersonal and technical skill shifts as a project moves through its lifecycle.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70048" cy="393192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2331720"/>
            <a:ext cx="438912" cy="43891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1664208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Phase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9808" y="3566160"/>
            <a:ext cx="22677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High focus on interpersonal skills — gathering user requirements and translating them into system needs.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0120" y="544068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4406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Interpersonal-led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55848" y="2103120"/>
            <a:ext cx="26700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1416" y="2331720"/>
            <a:ext cx="438912" cy="43891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4471416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93008" y="292608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Phase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7016" y="3566160"/>
            <a:ext cx="22677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Emphasis shifts to technical skill — building system architecture and design detail.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67328" y="544068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3767328" y="54406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3056" y="2103120"/>
            <a:ext cx="2670048" cy="393192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78624" y="2331720"/>
            <a:ext cx="438912" cy="43891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3" name="Text 21"/>
          <p:cNvSpPr/>
          <p:nvPr/>
        </p:nvSpPr>
        <p:spPr>
          <a:xfrm>
            <a:off x="7278624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00216" y="292608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Phase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64224" y="3566160"/>
            <a:ext cx="22677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Both skill sets combine — testing, user training, and system transition.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74536" y="544068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6574536" y="54406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70264" y="2103120"/>
            <a:ext cx="26700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85832" y="2331720"/>
            <a:ext cx="438912" cy="43891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85832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107424" y="292608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Phase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171432" y="3566160"/>
            <a:ext cx="2267712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Limited analyst involvement, unless new or unexpected issues arise.</a:t>
            </a:r>
            <a:endParaRPr lang="en-US" sz="1400" dirty="0">
              <a:latin typeface="Georgia" panose="02040502050405020303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381744" y="5440680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2F3C7E"/>
          </a:solidFill>
          <a:ln/>
        </p:spPr>
      </p:sp>
      <p:sp>
        <p:nvSpPr>
          <p:cNvPr id="34" name="Text 32"/>
          <p:cNvSpPr/>
          <p:nvPr/>
        </p:nvSpPr>
        <p:spPr>
          <a:xfrm>
            <a:off x="9381744" y="544068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SKILLS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Interpersonal vs. Technical Emphasis Over Time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414762" y="5913677"/>
            <a:ext cx="786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Figure 1 — the same four phases, now traced as two skill curves through the project lifecycle.</a:t>
            </a:r>
            <a:endParaRPr lang="en-US" sz="1400" dirty="0">
              <a:latin typeface="Georgia" panose="020405020504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0A98D8-BD00-AD85-2814-464325C44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781506"/>
            <a:ext cx="7632441" cy="37702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PROFESSION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an Analyst Acquire These Skills?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hands-on experience, and personality traits combine — most analysts build this foundation through formal study.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03520" cy="3840480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23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UNDERGRADUATE MAJORS</a:t>
            </a:r>
            <a:endParaRPr lang="en-US" sz="1400" dirty="0"/>
          </a:p>
        </p:txBody>
      </p:sp>
      <p:pic>
        <p:nvPicPr>
          <p:cNvPr id="9" name="Image 0" descr="/home/claude/work/icons/accounting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803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8986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Accounting</a:t>
            </a:r>
            <a:endParaRPr lang="en-US" sz="2000" dirty="0"/>
          </a:p>
        </p:txBody>
      </p:sp>
      <p:pic>
        <p:nvPicPr>
          <p:cNvPr id="11" name="Image 1" descr="/home/claude/work/icons/management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8130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2000" dirty="0"/>
          </a:p>
        </p:txBody>
      </p:sp>
      <p:pic>
        <p:nvPicPr>
          <p:cNvPr id="13" name="Image 2" descr="/home/claude/work/icons/infosys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09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7274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Systems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172200" y="2148840"/>
            <a:ext cx="5486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9224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COURSEWORK TODAY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92240" y="2953512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3"/>
          <p:cNvSpPr/>
          <p:nvPr/>
        </p:nvSpPr>
        <p:spPr>
          <a:xfrm>
            <a:off x="6766560" y="2807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6492240" y="3547872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3401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6492240" y="4142232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17"/>
          <p:cNvSpPr/>
          <p:nvPr/>
        </p:nvSpPr>
        <p:spPr>
          <a:xfrm>
            <a:off x="6766560" y="3995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6492240" y="4892040"/>
            <a:ext cx="4846320" cy="0"/>
          </a:xfrm>
          <a:prstGeom prst="line">
            <a:avLst/>
          </a:prstGeom>
          <a:noFill/>
          <a:ln w="12700">
            <a:solidFill>
              <a:srgbClr val="E4D9D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92240" y="50749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30 universities now offer advanced doctoral programs in Systems Analysis and Design — a mark of how far the field has matured.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PROFESSION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Background and Experience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foundations that formal education and fieldwork together build.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67128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9" name="Image 0" descr="/home/claude/work/icons/theory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7685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130552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Theory &amp; Behavior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7240" y="2715768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Understanding how systems operate within organizations and how people respond to them.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10148" y="1965960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38748" y="2167128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4" name="Image 1" descr="/home/claude/work/icons/application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476" y="227685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33108" y="2130552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Application-Area Knowledge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38748" y="2715768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Familiarity with financial accounting, marketing, personnel, and production control.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48640" y="4133088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4334256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9" name="Image 2" descr="/home/claude/work/icons/tools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44398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429768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Competence in System Tools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77240" y="4882896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Practical experience with programming, database languages, and methodologies.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210148" y="4133088"/>
            <a:ext cx="543290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38748" y="4334256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4" name="Image 3" descr="/home/claude/work/icons/hardware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476" y="444398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3108" y="4297680"/>
            <a:ext cx="44270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&amp; Software Experience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6438748" y="4882896"/>
            <a:ext cx="49757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Understanding specifications well enough to guide system and technology selection.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PROFESSION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Attributes of a System Analyst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B6B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Skill alone is not enough — five character traits shape how effectively that skill is applied.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8" name="Image 0" descr="/home/claude/work/icons/authorit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24942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848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114800" y="208483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Confidence to lead and make decisions under pressure.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11064240" cy="0"/>
          </a:xfrm>
          <a:prstGeom prst="line">
            <a:avLst/>
          </a:prstGeom>
          <a:noFill/>
          <a:ln w="9525">
            <a:solidFill>
              <a:srgbClr val="E4D9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944368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/home/claude/work/icons/communicati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0906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926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Communication Skill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114800" y="292608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Expresses ideas clearly and guides users logically.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48640" y="3675888"/>
            <a:ext cx="11064240" cy="0"/>
          </a:xfrm>
          <a:prstGeom prst="line">
            <a:avLst/>
          </a:prstGeom>
          <a:noFill/>
          <a:ln w="9525">
            <a:solidFill>
              <a:srgbClr val="E4D9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3785616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8" name="Image 2" descr="/home/claude/work/icons/creativit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931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7673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Creativity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114800" y="3767328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Willing to explore new methods and innovative solutions.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48640" y="4517136"/>
            <a:ext cx="11064240" cy="0"/>
          </a:xfrm>
          <a:prstGeom prst="line">
            <a:avLst/>
          </a:prstGeom>
          <a:noFill/>
          <a:ln w="9525">
            <a:solidFill>
              <a:srgbClr val="E4D9D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4626864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3" name="Image 3" descr="/home/claude/work/icons/responsibilit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77316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460857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Responsibility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4114800" y="4608576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Owns decisions and stays accountable for outcomes.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48640" y="5358384"/>
            <a:ext cx="11064240" cy="0"/>
          </a:xfrm>
          <a:prstGeom prst="line">
            <a:avLst/>
          </a:prstGeom>
          <a:noFill/>
          <a:ln w="9525">
            <a:solidFill>
              <a:srgbClr val="E4D9D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48640" y="546811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8" name="Image 4" descr="/home/claude/work/icons/varie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61441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880" y="544982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Varied Skills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4114800" y="5449824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Flexible enough to manage diverse projects and change.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ANALYST’S MANY HATS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Multifaceted Role of the System Analyst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analyst performs multiple roles to ensure successful development and user satisfaction — each demanding its own skills, attitudes, and approach to people, technology, and organizations.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606040" cy="155448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8" name="Image 0" descr="/home/claude/work/icons/changeagent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89864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566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Agent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26974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11" name="Image 1" descr="/home/claude/work/icons/investigator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89864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3566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Investigator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035040" y="2697480"/>
            <a:ext cx="2606040" cy="155448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14" name="Image 2" descr="/home/claude/work/icons/monitor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28" y="2898648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3566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778240" y="26974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17" name="Image 3" descr="/home/claude/work/icons/architect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228" y="289864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69680" y="35661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43891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20" name="Image 4" descr="/home/claude/work/icons/psychologist_9900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5628" y="4590288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" y="5257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Psychologist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3291840" y="4389120"/>
            <a:ext cx="2606040" cy="155448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23" name="Image 5" descr="/home/claude/work/icons/salesperson_9900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828" y="4590288"/>
            <a:ext cx="512064" cy="51206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383280" y="5257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Salesperson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035040" y="43891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26" name="Image 6" descr="/home/claude/work/icons/motivator_9900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2028" y="4590288"/>
            <a:ext cx="512064" cy="51206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126480" y="5257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Motivator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8778240" y="4389120"/>
            <a:ext cx="2606040" cy="1554480"/>
          </a:xfrm>
          <a:prstGeom prst="rect">
            <a:avLst/>
          </a:prstGeom>
          <a:solidFill>
            <a:srgbClr val="FCF6F5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29" name="Image 7" descr="/home/claude/work/icons/politician_9900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5228" y="4590288"/>
            <a:ext cx="512064" cy="51206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8869680" y="5257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Politician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ANALYST’S MANY HATS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Roles I: Driving and Steering Change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8" name="Image 0" descr="/home/claude/work/icons/changeag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208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Change Agent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Introduces and manages organizational change through new systems.</a:t>
            </a:r>
            <a:endParaRPr lang="en-US" sz="1600" dirty="0">
              <a:latin typeface="Georgia" panose="02040502050405020303" pitchFamily="18" charset="0"/>
            </a:endParaRPr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Encourages user participation to gain acceptance.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3" name="Image 1" descr="/home/claude/work/icons/investigato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0208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Investigator &amp; Monitor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572000" y="31089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Investigator: uncovers hidden issues affecting performance.</a:t>
            </a:r>
            <a:endParaRPr lang="en-US" sz="1600" dirty="0">
              <a:latin typeface="Georgia" panose="02040502050405020303" pitchFamily="18" charset="0"/>
            </a:endParaRPr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Monitor: tracks project time, cost, and quality to prevent overruns.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5661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8" name="Image 2" descr="/home/claude/work/icons/architec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20208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Architect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321040" y="3108960"/>
            <a:ext cx="30175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Translates user requirements into technical system design.</a:t>
            </a:r>
            <a:endParaRPr lang="en-US" sz="1600" dirty="0">
              <a:latin typeface="Georgia" panose="02040502050405020303" pitchFamily="18" charset="0"/>
            </a:endParaRPr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Bridges users’ ideas and programmers’ implementation.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ANALYST’S MANY HATS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Roles II: Winning People Over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8" name="Image 0" descr="/home/claude/work/icons/psycholog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208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5146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Psychologist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291840"/>
            <a:ext cx="20574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Understands human behavior and workplace relationships.</a:t>
            </a:r>
            <a:endParaRPr lang="en-US" sz="1600" dirty="0">
              <a:latin typeface="Georgia" panose="02040502050405020303" pitchFamily="18" charset="0"/>
            </a:endParaRPr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Handles emotion and resistance gracefully.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3" name="Image 1" descr="/home/claude/work/icons/salesperso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0208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5146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Salesperson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611880" y="3291840"/>
            <a:ext cx="20574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"Sells" the system idea at every stage.</a:t>
            </a:r>
            <a:endParaRPr lang="en-US" sz="1600" dirty="0">
              <a:latin typeface="Georgia" panose="02040502050405020303" pitchFamily="18" charset="0"/>
            </a:endParaRPr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Uses persuasion and presentation to build confidence.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8" name="Image 2" descr="/home/claude/work/icons/motiva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0208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5146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Motivator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400800" y="3291840"/>
            <a:ext cx="20574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Encourages users to accept and use the new system.</a:t>
            </a:r>
            <a:endParaRPr lang="en-US" sz="1600" dirty="0">
              <a:latin typeface="Georgia" panose="02040502050405020303" pitchFamily="18" charset="0"/>
            </a:endParaRPr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Provides training and support after go-live.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8915400" y="1691640"/>
            <a:ext cx="26060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3" name="Image 3" descr="/home/claude/work/icons/politicia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584" y="202082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0" y="25146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Politician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9189720" y="3291840"/>
            <a:ext cx="20574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Uses diplomacy and negotiation for support.</a:t>
            </a:r>
            <a:endParaRPr lang="en-US" sz="1600" dirty="0">
              <a:latin typeface="Georgia" panose="02040502050405020303" pitchFamily="18" charset="0"/>
            </a:endParaRPr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A2A2A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Balances conflicting interests to maintain harmony.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 ORGANIZATION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Analyst Sits in the MIS 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80460" y="5761773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a general organization chart of an MIS division.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965960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990011"/>
          </a:solidFill>
          <a:ln w="15875">
            <a:solidFill>
              <a:srgbClr val="9900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993392"/>
            <a:ext cx="26517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Director of MIS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80760" y="2468880"/>
            <a:ext cx="0" cy="3657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2834640"/>
            <a:ext cx="914400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834640"/>
            <a:ext cx="0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108960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36392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Administration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0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3108960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136392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Systems Analysis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&amp; Design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37960" y="2834640"/>
            <a:ext cx="0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3108960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3136392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Programming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15400" y="2834640"/>
            <a:ext cx="0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3108960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3136392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Operations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018520" y="2834640"/>
            <a:ext cx="0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04120" y="3108960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0" y="3136392"/>
            <a:ext cx="1737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User Liaison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60520" y="3703320"/>
            <a:ext cx="0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977640"/>
            <a:ext cx="2322576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97764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73452" y="416052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9172" y="4187952"/>
            <a:ext cx="9601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Project-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Oriented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160520" y="397764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34740" y="416052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0460" y="4187952"/>
            <a:ext cx="9601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Pool-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Oriented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321808" y="397764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96028" y="4160520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1748" y="4187952"/>
            <a:ext cx="9601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Functional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 flipH="1">
            <a:off x="6537958" y="3703319"/>
            <a:ext cx="2" cy="446585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6537957" y="3981156"/>
            <a:ext cx="2487544" cy="2644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58087" y="4177337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9527" y="4191874"/>
            <a:ext cx="9601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Applications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864213" y="3981157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38433" y="4164037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4153" y="4191469"/>
            <a:ext cx="9601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Software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025501" y="3981157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99721" y="4164037"/>
            <a:ext cx="1051560" cy="685800"/>
          </a:xfrm>
          <a:prstGeom prst="roundRect">
            <a:avLst>
              <a:gd name="adj" fmla="val 6667"/>
            </a:avLst>
          </a:prstGeom>
          <a:solidFill>
            <a:srgbClr val="FCF6F5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45441" y="4191469"/>
            <a:ext cx="9601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Maintenance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FUNCTIONS OF AN MIS FACILITY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 of the MIS Facility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514600" cy="1051560"/>
          </a:xfrm>
          <a:prstGeom prst="rect">
            <a:avLst/>
          </a:prstGeom>
          <a:solidFill>
            <a:srgbClr val="990011"/>
          </a:solidFill>
          <a:ln/>
        </p:spPr>
      </p:sp>
      <p:pic>
        <p:nvPicPr>
          <p:cNvPr id="8" name="Image 0" descr="/home/claude/work/icons/adm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196" y="21214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0" y="2011680"/>
            <a:ext cx="2514600" cy="1051560"/>
          </a:xfrm>
          <a:prstGeom prst="rect">
            <a:avLst/>
          </a:prstGeom>
          <a:solidFill>
            <a:srgbClr val="FCF6F5"/>
          </a:solidFill>
          <a:ln/>
        </p:spPr>
      </p:sp>
      <p:pic>
        <p:nvPicPr>
          <p:cNvPr id="11" name="Image 1" descr="/home/claude/work/icons/orgchart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956" y="2121408"/>
            <a:ext cx="52120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</a:t>
            </a:r>
            <a:endParaRPr lang="en-US" sz="16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852160" y="2011680"/>
            <a:ext cx="2514600" cy="1051560"/>
          </a:xfrm>
          <a:prstGeom prst="rect">
            <a:avLst/>
          </a:prstGeom>
          <a:solidFill>
            <a:srgbClr val="FCF6F5"/>
          </a:solidFill>
          <a:ln/>
        </p:spPr>
      </p:sp>
      <p:pic>
        <p:nvPicPr>
          <p:cNvPr id="14" name="Image 2" descr="/home/claude/work/icons/programming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716" y="2130552"/>
            <a:ext cx="42003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503920" y="2011680"/>
            <a:ext cx="2514600" cy="1051560"/>
          </a:xfrm>
          <a:prstGeom prst="rect">
            <a:avLst/>
          </a:prstGeom>
          <a:solidFill>
            <a:srgbClr val="FCF6F5"/>
          </a:solidFill>
          <a:ln/>
        </p:spPr>
      </p:sp>
      <p:pic>
        <p:nvPicPr>
          <p:cNvPr id="17" name="Image 3" descr="/home/claude/work/icons/operations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3476" y="212140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95360" y="2514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864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ADMINISTRATION — FOUR ACTIVITIES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21" name="Image 4" descr="/home/claude/work/icons/personnel_9900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93192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724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Liaison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77240" y="49834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changing needs of users and user-systems relationships.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3291840" y="37033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25" name="Image 5" descr="/home/claude/work/icons/planning_9900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393192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52044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Long-Range Planning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3520440" y="49834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selection, recruitment, and planning for hardware/software change.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035040" y="37033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29" name="Image 6" descr="/home/claude/work/icons/budget_9900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3931920"/>
            <a:ext cx="384048" cy="38404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6364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Planning &amp; Control</a:t>
            </a:r>
            <a:endParaRPr lang="en-US" dirty="0"/>
          </a:p>
        </p:txBody>
      </p:sp>
      <p:sp>
        <p:nvSpPr>
          <p:cNvPr id="31" name="Text 22"/>
          <p:cNvSpPr/>
          <p:nvPr/>
        </p:nvSpPr>
        <p:spPr>
          <a:xfrm>
            <a:off x="6263640" y="49834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the budget of the entire MIS division.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8778240" y="370332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33" name="Image 7" descr="/home/claude/work/icons/graduation_9900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6840" y="3931920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06840" y="44805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Personnel Administration</a:t>
            </a: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9006840" y="49834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that upgrades employee skills across the division.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STRUCTURES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Project-Oriented 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design work can be organized as project-oriented, pool-oriented, or functional. Figure 3 shows the project-oriented form.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team of analysts is formed for one project.</a:t>
            </a:r>
            <a:endParaRPr lang="en-US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team’s Project Leader reports directly to the Systems Manager.</a:t>
            </a:r>
            <a:endParaRPr lang="en-US" dirty="0"/>
          </a:p>
          <a:p>
            <a:pPr marL="152400" indent="-1524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of smaller installations with limited, well-defined projects.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595360" y="192024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990011"/>
          </a:solidFill>
          <a:ln w="15875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194767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Manager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0" y="2423160"/>
            <a:ext cx="0" cy="27432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2697480"/>
            <a:ext cx="329184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69748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29260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FCF6F5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95351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342900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36118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36393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0" y="269748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29260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FCF6F5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95351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0" y="342900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36118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36393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247120" y="269748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292608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FCF6F5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2953512"/>
            <a:ext cx="1371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247120" y="342900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81360" y="36118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27080" y="36393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8096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Project-Oriented Structure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solidFill>
            <a:srgbClr val="FCF6F5"/>
          </a:solidFill>
          <a:ln/>
        </p:spPr>
      </p:sp>
      <p:pic>
        <p:nvPicPr>
          <p:cNvPr id="32" name="Image 0" descr="/home/claude/work/icons/building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37760"/>
            <a:ext cx="457200" cy="4572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63040" y="48920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i="1" dirty="0">
                <a:solidFill>
                  <a:srgbClr val="6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company forming a dedicated team for each client project is a typical example of project-oriented structure.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STRUCTURES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Pool-Oriented 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are grouped in a common pool and temporarily assigned to departments as project needs arise.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675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are assigned to a department for a specific project.</a:t>
            </a:r>
            <a:endParaRPr lang="en-US" dirty="0"/>
          </a:p>
          <a:p>
            <a:pPr marL="152400" indent="-1524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report to the department manager during the project.</a:t>
            </a:r>
            <a:endParaRPr lang="en-US" dirty="0"/>
          </a:p>
          <a:p>
            <a:pPr marL="152400" indent="-1524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the task, they return to the analyst pool.</a:t>
            </a:r>
            <a:endParaRPr lang="en-US" dirty="0"/>
          </a:p>
          <a:p>
            <a:pPr marL="152400" indent="-152400">
              <a:lnSpc>
                <a:spcPts val="1700"/>
              </a:lnSpc>
              <a:spcAft>
                <a:spcPts val="8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flexibility, user involvement, and better system support.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89520" y="3520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Pool-Oriented Structure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3977640"/>
            <a:ext cx="3931920" cy="1371600"/>
          </a:xfrm>
          <a:prstGeom prst="rect">
            <a:avLst/>
          </a:prstGeom>
          <a:solidFill>
            <a:srgbClr val="FCF6F5"/>
          </a:solidFill>
          <a:ln/>
        </p:spPr>
      </p:sp>
      <p:pic>
        <p:nvPicPr>
          <p:cNvPr id="23" name="Image 0" descr="/home/claude/work/icons/bank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206240"/>
            <a:ext cx="411480" cy="4114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366760" y="41605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i="1" dirty="0">
                <a:solidFill>
                  <a:srgbClr val="6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keeping one central IT analyst pool that serves HR, Accounts, and Loan departments is a classic example.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C927EB-3394-0977-7675-482DF0C8F8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610"/>
          <a:stretch>
            <a:fillRect/>
          </a:stretch>
        </p:blipFill>
        <p:spPr>
          <a:xfrm>
            <a:off x="7151826" y="305239"/>
            <a:ext cx="4472941" cy="30323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STRUCTURES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Project-Oriented vs. Pool-Oriented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37744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1783080"/>
            <a:ext cx="4343400" cy="5029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0" y="1783080"/>
            <a:ext cx="434340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7830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Project-Oriented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17830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Pool-Oriented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86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28600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teams formed for each project.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06640" y="228600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kept in a central pool, assigned as needed.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solidFill>
            <a:srgbClr val="FCF6F5"/>
          </a:solidFill>
          <a:ln w="9525">
            <a:solidFill>
              <a:srgbClr val="E4D9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6324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Assignment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0632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assigned to one project until it ends.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306324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"on loan" to different departments.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840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Authority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384048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their Project Leader.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384048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the Department Manager, then return to pool.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777240"/>
          </a:xfrm>
          <a:prstGeom prst="rect">
            <a:avLst/>
          </a:prstGeom>
          <a:solidFill>
            <a:srgbClr val="FCF6F5"/>
          </a:solidFill>
          <a:ln w="9525">
            <a:solidFill>
              <a:srgbClr val="E4D9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17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63240" y="461772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flexible — fixed to one project.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461772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— can move between projects.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9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394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63240" y="53949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duplicate effort; underused skills.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539496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utilization — analysts shared across departments.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&amp; DESIGN STRUCTURES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3360" y="4956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1038547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are divided into separate teams, each dedicated to one specific system area of the organization.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063240" y="5118999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— Functional Structure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466471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31" name="Image 0" descr="/home/claude/work/icons/personnel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667639"/>
            <a:ext cx="365760" cy="365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34440" y="5576199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Personnel Systems Team</a:t>
            </a: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31520" y="6124839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employee-related systems.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251960" y="5466471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35" name="Image 1" descr="/home/claude/work/icons/operations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5667639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937760" y="5576199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Systems Team</a:t>
            </a: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434840" y="6124839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production-related systems.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7955280" y="5466471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pic>
        <p:nvPicPr>
          <p:cNvPr id="39" name="Image 2" descr="/home/claude/work/icons/selling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5667639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641080" y="5576199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Systems Team</a:t>
            </a: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8138160" y="6124839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sales and marketing systems.</a:t>
            </a:r>
            <a:endParaRPr lang="en-US" sz="14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0092717-FD2A-939D-B0EB-2CCA58385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6546" y="1404307"/>
            <a:ext cx="6402962" cy="37146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609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FUNCTIONS OF AN MIS FACILITY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Programming: Three Areas, Two Approaches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189210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WORK AREAS</a:t>
            </a:r>
            <a:endParaRPr lang="en-US" sz="1400" dirty="0"/>
          </a:p>
        </p:txBody>
      </p:sp>
      <p:pic>
        <p:nvPicPr>
          <p:cNvPr id="7" name="Image 0" descr="/home/claude/work/icons/application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57865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212145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43000" y="2577905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new systems and applications.</a:t>
            </a:r>
            <a:endParaRPr lang="en-US" sz="1600" dirty="0"/>
          </a:p>
        </p:txBody>
      </p:sp>
      <p:pic>
        <p:nvPicPr>
          <p:cNvPr id="10" name="Image 1" descr="/home/claude/work/icons/tools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09425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263705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143000" y="3629465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compilers or software packages.</a:t>
            </a:r>
            <a:endParaRPr lang="en-US" sz="1600" dirty="0"/>
          </a:p>
        </p:txBody>
      </p:sp>
      <p:pic>
        <p:nvPicPr>
          <p:cNvPr id="13" name="Image 2" descr="/home/claude/work/icons/operations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360985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315265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143000" y="4681025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updates and fixes to keep systems running.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806440" y="1645920"/>
            <a:ext cx="0" cy="4480560"/>
          </a:xfrm>
          <a:prstGeom prst="line">
            <a:avLst/>
          </a:prstGeom>
          <a:noFill/>
          <a:ln w="12700">
            <a:solidFill>
              <a:srgbClr val="E4D9D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7220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CAN WORK IN TWO WAYS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72200" y="2011680"/>
            <a:ext cx="5349240" cy="1874520"/>
          </a:xfrm>
          <a:prstGeom prst="rect">
            <a:avLst/>
          </a:prstGeom>
          <a:solidFill>
            <a:srgbClr val="FCF6F5"/>
          </a:solidFill>
          <a:ln/>
        </p:spPr>
      </p:sp>
      <p:pic>
        <p:nvPicPr>
          <p:cNvPr id="19" name="Image 3" descr="/home/claude/work/icons/pool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2860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2286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Approach</a:t>
            </a: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6492240" y="2880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programmers belong to one pool and report to a supervisor; each works on different programs individually.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172200" y="4114800"/>
            <a:ext cx="5349240" cy="1874520"/>
          </a:xfrm>
          <a:prstGeom prst="rect">
            <a:avLst/>
          </a:prstGeom>
          <a:solidFill>
            <a:srgbClr val="FCF6F5"/>
          </a:solidFill>
          <a:ln/>
        </p:spPr>
      </p:sp>
      <p:pic>
        <p:nvPicPr>
          <p:cNvPr id="23" name="Image 4" descr="/home/claude/work/icons/team_9900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38912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4389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Approach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6492240" y="49834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work together on one specific project, reporting through a team leader.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FUNCTIONS OF AN MIS FACILITY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Approach in Practice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60832" y="136949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report to a Lead Programmer (Team Leader).</a:t>
            </a:r>
            <a:endParaRPr lang="en-US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leader reports to the Project Leader.</a:t>
            </a:r>
            <a:endParaRPr lang="en-US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leader (section head) supervises several teams and reports to the Manager of the Programming Area.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2468880" cy="457200"/>
          </a:xfrm>
          <a:prstGeom prst="roundRect">
            <a:avLst>
              <a:gd name="adj" fmla="val 10000"/>
            </a:avLst>
          </a:prstGeom>
          <a:solidFill>
            <a:srgbClr val="990011"/>
          </a:solidFill>
          <a:ln w="15875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9019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Programming Area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233172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256032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CF6F5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5877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 (Section Head)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301752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3246120"/>
            <a:ext cx="521208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324612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4747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5021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393192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4114800"/>
            <a:ext cx="100584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7667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7959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2531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324612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4747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35021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75320" y="393192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4114800"/>
            <a:ext cx="100584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7979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2551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7532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8271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2843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77824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8563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3135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881360" y="3246120"/>
            <a:ext cx="0" cy="22860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04120" y="34747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9840" y="350215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881360" y="3931920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78440" y="4114800"/>
            <a:ext cx="100584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7844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8583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3155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88136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8875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63447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1384280" y="4114800"/>
            <a:ext cx="0" cy="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91672" y="4251960"/>
            <a:ext cx="5852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6B6B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137392" y="4279392"/>
            <a:ext cx="4937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029200" y="48920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 — Team Approach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6291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1624767" y="6291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FUNCTIONS OF AN MIS FACILITY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Operations: Keeping Everything Running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area manages the day-to-day running of computer systems, coordinated closely with design and programming.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7340" y="2377440"/>
            <a:ext cx="548640" cy="54864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9" name="Image 0" descr="/home/claude/work/icons/scheduling_990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" y="24871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Scheduling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when programs or tasks will run.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91840" y="214884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20540" y="2377440"/>
            <a:ext cx="548640" cy="54864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4" name="Image 1" descr="/home/claude/work/icons/inventory_990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48716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Supplies Inventory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track of necessary materials.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0" y="214884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63740" y="2377440"/>
            <a:ext cx="548640" cy="54864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9" name="Image 2" descr="/home/claude/work/icons/tools_990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68" y="24871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Programming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Backing up day-to-day programming activities.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778240" y="214884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D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06940" y="2377440"/>
            <a:ext cx="548640" cy="54864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4" name="Image 3" descr="/home/claude/work/icons/datalibrary_990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668" y="248716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154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Library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96112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and organizing data files.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434840"/>
            <a:ext cx="11064240" cy="1417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8" name="Text 22"/>
          <p:cNvSpPr/>
          <p:nvPr/>
        </p:nvSpPr>
        <p:spPr>
          <a:xfrm>
            <a:off x="914400" y="443484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Administration, analysis and design, programming, and operations all work together under one master plan — the coordinated effort that keeps an MIS facility running smoothly.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-01</Template>
  <TotalTime>204</TotalTime>
  <Words>2726</Words>
  <Application>Microsoft Office PowerPoint</Application>
  <PresentationFormat>Widescreen</PresentationFormat>
  <Paragraphs>411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Manirujjaman</cp:lastModifiedBy>
  <cp:revision>16</cp:revision>
  <dcterms:created xsi:type="dcterms:W3CDTF">2026-08-12T01:34:52Z</dcterms:created>
  <dcterms:modified xsi:type="dcterms:W3CDTF">2026-09-16T01:06:41Z</dcterms:modified>
</cp:coreProperties>
</file>