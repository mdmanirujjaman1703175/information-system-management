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94" r:id="rId1"/>
  </p:sldMasterIdLst>
  <p:notesMasterIdLst>
    <p:notesMasterId r:id="rId42"/>
  </p:notesMasterIdLst>
  <p:sldIdLst>
    <p:sldId id="256" r:id="rId2"/>
    <p:sldId id="353" r:id="rId3"/>
    <p:sldId id="311" r:id="rId4"/>
    <p:sldId id="312" r:id="rId5"/>
    <p:sldId id="313" r:id="rId6"/>
    <p:sldId id="314" r:id="rId7"/>
    <p:sldId id="315" r:id="rId8"/>
    <p:sldId id="316" r:id="rId9"/>
    <p:sldId id="317" r:id="rId10"/>
    <p:sldId id="318" r:id="rId11"/>
    <p:sldId id="358" r:id="rId12"/>
    <p:sldId id="359" r:id="rId13"/>
    <p:sldId id="360" r:id="rId14"/>
    <p:sldId id="361" r:id="rId15"/>
    <p:sldId id="362" r:id="rId16"/>
    <p:sldId id="363" r:id="rId17"/>
    <p:sldId id="322" r:id="rId18"/>
    <p:sldId id="364" r:id="rId19"/>
    <p:sldId id="323" r:id="rId20"/>
    <p:sldId id="365" r:id="rId21"/>
    <p:sldId id="324" r:id="rId22"/>
    <p:sldId id="325" r:id="rId23"/>
    <p:sldId id="326" r:id="rId24"/>
    <p:sldId id="327" r:id="rId25"/>
    <p:sldId id="355" r:id="rId26"/>
    <p:sldId id="347" r:id="rId27"/>
    <p:sldId id="331" r:id="rId28"/>
    <p:sldId id="333" r:id="rId29"/>
    <p:sldId id="334" r:id="rId30"/>
    <p:sldId id="335" r:id="rId31"/>
    <p:sldId id="332" r:id="rId32"/>
    <p:sldId id="336" r:id="rId33"/>
    <p:sldId id="337" r:id="rId34"/>
    <p:sldId id="338" r:id="rId35"/>
    <p:sldId id="340" r:id="rId36"/>
    <p:sldId id="352" r:id="rId37"/>
    <p:sldId id="341" r:id="rId38"/>
    <p:sldId id="349" r:id="rId39"/>
    <p:sldId id="356" r:id="rId40"/>
    <p:sldId id="287"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73890" autoAdjust="0"/>
  </p:normalViewPr>
  <p:slideViewPr>
    <p:cSldViewPr snapToGrid="0">
      <p:cViewPr varScale="1">
        <p:scale>
          <a:sx n="61" d="100"/>
          <a:sy n="61" d="100"/>
        </p:scale>
        <p:origin x="151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074C62-0420-42F8-AE6C-64904AFF9053}"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48523-85BB-4127-9CC3-9E97B5D4A2F5}" type="slidenum">
              <a:rPr lang="en-US" smtClean="0"/>
              <a:t>‹#›</a:t>
            </a:fld>
            <a:endParaRPr lang="en-US"/>
          </a:p>
        </p:txBody>
      </p:sp>
    </p:spTree>
    <p:extLst>
      <p:ext uri="{BB962C8B-B14F-4D97-AF65-F5344CB8AC3E}">
        <p14:creationId xmlns:p14="http://schemas.microsoft.com/office/powerpoint/2010/main" val="1254504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a:t>
            </a:fld>
            <a:endParaRPr lang="en-US"/>
          </a:p>
        </p:txBody>
      </p:sp>
    </p:spTree>
    <p:extLst>
      <p:ext uri="{BB962C8B-B14F-4D97-AF65-F5344CB8AC3E}">
        <p14:creationId xmlns:p14="http://schemas.microsoft.com/office/powerpoint/2010/main" val="1311144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university is a system because it has several interconnected parts—such as the administration, HR, accounts, IT, and academic departments. Each part performs its own function, but all work together to achieve a common goal: providing quality education to students.</a:t>
            </a:r>
          </a:p>
        </p:txBody>
      </p:sp>
      <p:sp>
        <p:nvSpPr>
          <p:cNvPr id="4" name="Slide Number Placeholder 3"/>
          <p:cNvSpPr>
            <a:spLocks noGrp="1"/>
          </p:cNvSpPr>
          <p:nvPr>
            <p:ph type="sldNum" sz="quarter" idx="5"/>
          </p:nvPr>
        </p:nvSpPr>
        <p:spPr/>
        <p:txBody>
          <a:bodyPr/>
          <a:lstStyle/>
          <a:p>
            <a:fld id="{EEB48523-85BB-4127-9CC3-9E97B5D4A2F5}" type="slidenum">
              <a:rPr lang="en-US" smtClean="0"/>
              <a:t>3</a:t>
            </a:fld>
            <a:endParaRPr lang="en-US"/>
          </a:p>
        </p:txBody>
      </p:sp>
    </p:spTree>
    <p:extLst>
      <p:ext uri="{BB962C8B-B14F-4D97-AF65-F5344CB8AC3E}">
        <p14:creationId xmlns:p14="http://schemas.microsoft.com/office/powerpoint/2010/main" val="6029706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 system is goal-oriented:</a:t>
            </a:r>
            <a:br>
              <a:rPr lang="en-US" dirty="0"/>
            </a:br>
            <a:r>
              <a:rPr lang="en-US" dirty="0"/>
              <a:t>Every system is created to achieve a specific purpose. For example, a university’s system is designed to provide quality education.</a:t>
            </a:r>
          </a:p>
          <a:p>
            <a:r>
              <a:rPr lang="en-US" b="1" dirty="0"/>
              <a:t>All parts are connected and depend on each other:</a:t>
            </a:r>
            <a:br>
              <a:rPr lang="en-US" dirty="0"/>
            </a:br>
            <a:r>
              <a:rPr lang="en-US" dirty="0"/>
              <a:t>Each department or unit in a system must work together. For instance, in a hospital, the doctors, nurses, and billing department depend on each other to serve patients effectively.</a:t>
            </a:r>
          </a:p>
          <a:p>
            <a:r>
              <a:rPr lang="en-US" b="1" dirty="0"/>
              <a:t>The overall goal is more important than individual goals:</a:t>
            </a:r>
          </a:p>
          <a:p>
            <a:r>
              <a:rPr lang="en-US" dirty="0"/>
              <a:t>The main objective of the whole organization comes first. For example, in a university, if the HR department recruits fewer teachers than actually needed to reduce salary costs, it may lower the overall education quality. Therefore, the university’s main goal of providing quality education should come before departmental cost-saving goals.</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4</a:t>
            </a:fld>
            <a:endParaRPr lang="en-US"/>
          </a:p>
        </p:txBody>
      </p:sp>
    </p:spTree>
    <p:extLst>
      <p:ext uri="{BB962C8B-B14F-4D97-AF65-F5344CB8AC3E}">
        <p14:creationId xmlns:p14="http://schemas.microsoft.com/office/powerpoint/2010/main" val="3834079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Organization</a:t>
            </a:r>
          </a:p>
          <a:p>
            <a:r>
              <a:rPr lang="en-US" dirty="0"/>
              <a:t>A system has organized parts or components arranged in a specific order to achieve a goal.</a:t>
            </a:r>
            <a:br>
              <a:rPr lang="en-US" dirty="0"/>
            </a:br>
            <a:r>
              <a:rPr lang="en-US" dirty="0"/>
              <a:t>Each part has a role and works according to a plan.</a:t>
            </a:r>
          </a:p>
          <a:p>
            <a:r>
              <a:rPr lang="en-US" b="1" dirty="0"/>
              <a:t>Example:</a:t>
            </a:r>
            <a:br>
              <a:rPr lang="en-US" dirty="0"/>
            </a:br>
            <a:r>
              <a:rPr lang="en-US" dirty="0"/>
              <a:t>In a university, departments like CSE, EEE, and BBA are organized under different faculties, but all follow the university’s structure to maintain smooth operations.</a:t>
            </a:r>
          </a:p>
          <a:p>
            <a:r>
              <a:rPr lang="en-US" b="1" dirty="0"/>
              <a:t>2. Interaction</a:t>
            </a:r>
          </a:p>
          <a:p>
            <a:r>
              <a:rPr lang="en-US" dirty="0"/>
              <a:t>All components of a system interact with each other to exchange information or resources.</a:t>
            </a:r>
            <a:br>
              <a:rPr lang="en-US" dirty="0"/>
            </a:br>
            <a:r>
              <a:rPr lang="en-US" dirty="0"/>
              <a:t>These interactions help the system work as a whole.</a:t>
            </a:r>
          </a:p>
          <a:p>
            <a:r>
              <a:rPr lang="en-US" b="1" dirty="0"/>
              <a:t>Example:</a:t>
            </a:r>
            <a:br>
              <a:rPr lang="en-US" dirty="0"/>
            </a:br>
            <a:r>
              <a:rPr lang="en-US" dirty="0"/>
              <a:t>When a student pays tuition fees, the </a:t>
            </a:r>
            <a:r>
              <a:rPr lang="en-US" b="1" dirty="0"/>
              <a:t>finance system</a:t>
            </a:r>
            <a:r>
              <a:rPr lang="en-US" dirty="0"/>
              <a:t> updates the record, and the </a:t>
            </a:r>
            <a:r>
              <a:rPr lang="en-US" b="1" dirty="0"/>
              <a:t>academic system</a:t>
            </a:r>
            <a:r>
              <a:rPr lang="en-US" dirty="0"/>
              <a:t> allows the student to register for courses.</a:t>
            </a:r>
          </a:p>
          <a:p>
            <a:r>
              <a:rPr lang="en-US" b="1" dirty="0"/>
              <a:t>Interdependence</a:t>
            </a:r>
          </a:p>
          <a:p>
            <a:r>
              <a:rPr lang="en-US" dirty="0"/>
              <a:t>Each part of a system depends on other parts.</a:t>
            </a:r>
            <a:br>
              <a:rPr lang="en-US" dirty="0"/>
            </a:br>
            <a:r>
              <a:rPr lang="en-US" dirty="0"/>
              <a:t>If one part fails, it can affect the entire system.</a:t>
            </a:r>
          </a:p>
          <a:p>
            <a:r>
              <a:rPr lang="en-US" b="1" dirty="0"/>
              <a:t>Example:</a:t>
            </a:r>
            <a:br>
              <a:rPr lang="en-US" dirty="0"/>
            </a:br>
            <a:r>
              <a:rPr lang="en-US" dirty="0"/>
              <a:t>In a software company, the </a:t>
            </a:r>
            <a:r>
              <a:rPr lang="en-US" b="1" dirty="0"/>
              <a:t>testing team</a:t>
            </a:r>
            <a:r>
              <a:rPr lang="en-US" dirty="0"/>
              <a:t> depends on the </a:t>
            </a:r>
            <a:r>
              <a:rPr lang="en-US" b="1" dirty="0"/>
              <a:t>development team</a:t>
            </a:r>
            <a:r>
              <a:rPr lang="en-US" dirty="0"/>
              <a:t> to deliver the code.</a:t>
            </a:r>
            <a:br>
              <a:rPr lang="en-US" dirty="0"/>
            </a:br>
            <a:r>
              <a:rPr lang="en-US" dirty="0"/>
              <a:t>If developers delay, testers cannot perform their work on time.</a:t>
            </a:r>
          </a:p>
          <a:p>
            <a:r>
              <a:rPr lang="en-US" b="1" dirty="0"/>
              <a:t>Integration</a:t>
            </a:r>
          </a:p>
          <a:p>
            <a:r>
              <a:rPr lang="en-US" dirty="0"/>
              <a:t>Integration means combining all parts so they work together as a single unit.</a:t>
            </a:r>
            <a:br>
              <a:rPr lang="en-US" dirty="0"/>
            </a:br>
            <a:r>
              <a:rPr lang="en-US" dirty="0"/>
              <a:t>It ensures the output of one part becomes useful input for another.</a:t>
            </a:r>
          </a:p>
          <a:p>
            <a:r>
              <a:rPr lang="en-US" b="1" dirty="0"/>
              <a:t>Example:</a:t>
            </a:r>
            <a:br>
              <a:rPr lang="en-US" dirty="0"/>
            </a:br>
            <a:r>
              <a:rPr lang="en-US" dirty="0"/>
              <a:t>In a business, the </a:t>
            </a:r>
            <a:r>
              <a:rPr lang="en-US" b="1" dirty="0"/>
              <a:t>sales system</a:t>
            </a:r>
            <a:r>
              <a:rPr lang="en-US" dirty="0"/>
              <a:t> is integrated with the </a:t>
            </a:r>
            <a:r>
              <a:rPr lang="en-US" b="1" dirty="0"/>
              <a:t>inventory system</a:t>
            </a:r>
            <a:r>
              <a:rPr lang="en-US" dirty="0"/>
              <a:t> — when a product is sold, the stock level is automatically updated.</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5</a:t>
            </a:fld>
            <a:endParaRPr lang="en-US"/>
          </a:p>
        </p:txBody>
      </p:sp>
    </p:spTree>
    <p:extLst>
      <p:ext uri="{BB962C8B-B14F-4D97-AF65-F5344CB8AC3E}">
        <p14:creationId xmlns:p14="http://schemas.microsoft.com/office/powerpoint/2010/main" val="847871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6</a:t>
            </a:fld>
            <a:endParaRPr lang="en-US"/>
          </a:p>
        </p:txBody>
      </p:sp>
    </p:spTree>
    <p:extLst>
      <p:ext uri="{BB962C8B-B14F-4D97-AF65-F5344CB8AC3E}">
        <p14:creationId xmlns:p14="http://schemas.microsoft.com/office/powerpoint/2010/main" val="3482373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7</a:t>
            </a:fld>
            <a:endParaRPr lang="en-US"/>
          </a:p>
        </p:txBody>
      </p:sp>
    </p:spTree>
    <p:extLst>
      <p:ext uri="{BB962C8B-B14F-4D97-AF65-F5344CB8AC3E}">
        <p14:creationId xmlns:p14="http://schemas.microsoft.com/office/powerpoint/2010/main" val="2695635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8</a:t>
            </a:fld>
            <a:endParaRPr lang="en-US"/>
          </a:p>
        </p:txBody>
      </p:sp>
    </p:spTree>
    <p:extLst>
      <p:ext uri="{BB962C8B-B14F-4D97-AF65-F5344CB8AC3E}">
        <p14:creationId xmlns:p14="http://schemas.microsoft.com/office/powerpoint/2010/main" val="2094503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9</a:t>
            </a:fld>
            <a:endParaRPr lang="en-US"/>
          </a:p>
        </p:txBody>
      </p:sp>
    </p:spTree>
    <p:extLst>
      <p:ext uri="{BB962C8B-B14F-4D97-AF65-F5344CB8AC3E}">
        <p14:creationId xmlns:p14="http://schemas.microsoft.com/office/powerpoint/2010/main" val="1007995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10</a:t>
            </a:fld>
            <a:endParaRPr lang="en-US"/>
          </a:p>
        </p:txBody>
      </p:sp>
    </p:spTree>
    <p:extLst>
      <p:ext uri="{BB962C8B-B14F-4D97-AF65-F5344CB8AC3E}">
        <p14:creationId xmlns:p14="http://schemas.microsoft.com/office/powerpoint/2010/main" val="1140181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4EB4D-6FD1-0531-2297-38CE443D4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B3FE91-FE06-696B-991A-FA36A2A734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11A32-73E0-924A-2485-6D4F541D46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D0705F-5970-9DEF-66EF-515010C84104}"/>
              </a:ext>
            </a:extLst>
          </p:cNvPr>
          <p:cNvSpPr>
            <a:spLocks noGrp="1"/>
          </p:cNvSpPr>
          <p:nvPr>
            <p:ph type="sldNum" sz="quarter" idx="5"/>
          </p:nvPr>
        </p:nvSpPr>
        <p:spPr/>
        <p:txBody>
          <a:bodyPr/>
          <a:lstStyle/>
          <a:p>
            <a:fld id="{EEB48523-85BB-4127-9CC3-9E97B5D4A2F5}" type="slidenum">
              <a:rPr lang="en-US" smtClean="0"/>
              <a:t>11</a:t>
            </a:fld>
            <a:endParaRPr lang="en-US"/>
          </a:p>
        </p:txBody>
      </p:sp>
    </p:spTree>
    <p:extLst>
      <p:ext uri="{BB962C8B-B14F-4D97-AF65-F5344CB8AC3E}">
        <p14:creationId xmlns:p14="http://schemas.microsoft.com/office/powerpoint/2010/main" val="2772471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59F77-CB8E-0F95-58D6-3D3DDFAE6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ED3B5-E3E0-821B-C473-07437FBAF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5F3BA5-9E41-89E7-62A3-A112D31BB8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7AC9D8-3F8F-108B-F5F3-6B40DD3463E9}"/>
              </a:ext>
            </a:extLst>
          </p:cNvPr>
          <p:cNvSpPr>
            <a:spLocks noGrp="1"/>
          </p:cNvSpPr>
          <p:nvPr>
            <p:ph type="sldNum" sz="quarter" idx="5"/>
          </p:nvPr>
        </p:nvSpPr>
        <p:spPr/>
        <p:txBody>
          <a:bodyPr/>
          <a:lstStyle/>
          <a:p>
            <a:fld id="{EEB48523-85BB-4127-9CC3-9E97B5D4A2F5}" type="slidenum">
              <a:rPr lang="en-US" smtClean="0"/>
              <a:t>12</a:t>
            </a:fld>
            <a:endParaRPr lang="en-US"/>
          </a:p>
        </p:txBody>
      </p:sp>
    </p:spTree>
    <p:extLst>
      <p:ext uri="{BB962C8B-B14F-4D97-AF65-F5344CB8AC3E}">
        <p14:creationId xmlns:p14="http://schemas.microsoft.com/office/powerpoint/2010/main" val="3271081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3561D-083C-FDB8-478F-55062DDE0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122130-16BE-A435-5690-4AC3F21AC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C4333-A37B-A97A-ED67-8915A71AB2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DDC1E9-A685-6817-67C8-2ADF3D53F918}"/>
              </a:ext>
            </a:extLst>
          </p:cNvPr>
          <p:cNvSpPr>
            <a:spLocks noGrp="1"/>
          </p:cNvSpPr>
          <p:nvPr>
            <p:ph type="sldNum" sz="quarter" idx="5"/>
          </p:nvPr>
        </p:nvSpPr>
        <p:spPr/>
        <p:txBody>
          <a:bodyPr/>
          <a:lstStyle/>
          <a:p>
            <a:fld id="{EEB48523-85BB-4127-9CC3-9E97B5D4A2F5}" type="slidenum">
              <a:rPr lang="en-US" smtClean="0"/>
              <a:t>13</a:t>
            </a:fld>
            <a:endParaRPr lang="en-US"/>
          </a:p>
        </p:txBody>
      </p:sp>
    </p:spTree>
    <p:extLst>
      <p:ext uri="{BB962C8B-B14F-4D97-AF65-F5344CB8AC3E}">
        <p14:creationId xmlns:p14="http://schemas.microsoft.com/office/powerpoint/2010/main" val="3267013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26C9-2802-6911-5179-78D3E3E8E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05BAC-7020-2A00-9353-35A2A157F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98EA38-5EB9-4AAD-EE85-68CA5BD66C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F8B338-606E-892C-20C1-1CE71B6A8537}"/>
              </a:ext>
            </a:extLst>
          </p:cNvPr>
          <p:cNvSpPr>
            <a:spLocks noGrp="1"/>
          </p:cNvSpPr>
          <p:nvPr>
            <p:ph type="sldNum" sz="quarter" idx="5"/>
          </p:nvPr>
        </p:nvSpPr>
        <p:spPr/>
        <p:txBody>
          <a:bodyPr/>
          <a:lstStyle/>
          <a:p>
            <a:fld id="{EEB48523-85BB-4127-9CC3-9E97B5D4A2F5}" type="slidenum">
              <a:rPr lang="en-US" smtClean="0"/>
              <a:t>14</a:t>
            </a:fld>
            <a:endParaRPr lang="en-US"/>
          </a:p>
        </p:txBody>
      </p:sp>
    </p:spTree>
    <p:extLst>
      <p:ext uri="{BB962C8B-B14F-4D97-AF65-F5344CB8AC3E}">
        <p14:creationId xmlns:p14="http://schemas.microsoft.com/office/powerpoint/2010/main" val="20341834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0D55B-B8F8-426D-6D6A-037B03655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D6C1A-9E3E-E248-6FCF-40B7E3B37A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DD2B4-0263-A934-E92F-78F3EE621E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6DD1DB-2186-17B8-6285-13AE9705F418}"/>
              </a:ext>
            </a:extLst>
          </p:cNvPr>
          <p:cNvSpPr>
            <a:spLocks noGrp="1"/>
          </p:cNvSpPr>
          <p:nvPr>
            <p:ph type="sldNum" sz="quarter" idx="5"/>
          </p:nvPr>
        </p:nvSpPr>
        <p:spPr/>
        <p:txBody>
          <a:bodyPr/>
          <a:lstStyle/>
          <a:p>
            <a:fld id="{EEB48523-85BB-4127-9CC3-9E97B5D4A2F5}" type="slidenum">
              <a:rPr lang="en-US" smtClean="0"/>
              <a:t>15</a:t>
            </a:fld>
            <a:endParaRPr lang="en-US"/>
          </a:p>
        </p:txBody>
      </p:sp>
    </p:spTree>
    <p:extLst>
      <p:ext uri="{BB962C8B-B14F-4D97-AF65-F5344CB8AC3E}">
        <p14:creationId xmlns:p14="http://schemas.microsoft.com/office/powerpoint/2010/main" val="38063839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039D8-71B3-6371-9A9D-BE9D35198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80B1B-DFC3-ADD2-C99D-6743393252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09FAEE-FFA9-81A1-F0FE-546879B4C4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0E18EC-0302-5BE0-1F52-176C5BD05E64}"/>
              </a:ext>
            </a:extLst>
          </p:cNvPr>
          <p:cNvSpPr>
            <a:spLocks noGrp="1"/>
          </p:cNvSpPr>
          <p:nvPr>
            <p:ph type="sldNum" sz="quarter" idx="5"/>
          </p:nvPr>
        </p:nvSpPr>
        <p:spPr/>
        <p:txBody>
          <a:bodyPr/>
          <a:lstStyle/>
          <a:p>
            <a:fld id="{EEB48523-85BB-4127-9CC3-9E97B5D4A2F5}" type="slidenum">
              <a:rPr lang="en-US" smtClean="0"/>
              <a:t>16</a:t>
            </a:fld>
            <a:endParaRPr lang="en-US"/>
          </a:p>
        </p:txBody>
      </p:sp>
    </p:spTree>
    <p:extLst>
      <p:ext uri="{BB962C8B-B14F-4D97-AF65-F5344CB8AC3E}">
        <p14:creationId xmlns:p14="http://schemas.microsoft.com/office/powerpoint/2010/main" val="18775349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17</a:t>
            </a:fld>
            <a:endParaRPr lang="en-US"/>
          </a:p>
        </p:txBody>
      </p:sp>
    </p:spTree>
    <p:extLst>
      <p:ext uri="{BB962C8B-B14F-4D97-AF65-F5344CB8AC3E}">
        <p14:creationId xmlns:p14="http://schemas.microsoft.com/office/powerpoint/2010/main" val="25352603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5D4DD-247C-0A30-FF61-71B261D44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A20C9-B3FB-5C37-6D4D-5F2AE82187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04889-7C81-9B82-3C9B-5A3B456088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D80E99-DEDF-D4AA-BC46-04340054DB6A}"/>
              </a:ext>
            </a:extLst>
          </p:cNvPr>
          <p:cNvSpPr>
            <a:spLocks noGrp="1"/>
          </p:cNvSpPr>
          <p:nvPr>
            <p:ph type="sldNum" sz="quarter" idx="5"/>
          </p:nvPr>
        </p:nvSpPr>
        <p:spPr/>
        <p:txBody>
          <a:bodyPr/>
          <a:lstStyle/>
          <a:p>
            <a:fld id="{EEB48523-85BB-4127-9CC3-9E97B5D4A2F5}" type="slidenum">
              <a:rPr lang="en-US" smtClean="0"/>
              <a:t>18</a:t>
            </a:fld>
            <a:endParaRPr lang="en-US"/>
          </a:p>
        </p:txBody>
      </p:sp>
    </p:spTree>
    <p:extLst>
      <p:ext uri="{BB962C8B-B14F-4D97-AF65-F5344CB8AC3E}">
        <p14:creationId xmlns:p14="http://schemas.microsoft.com/office/powerpoint/2010/main" val="4246260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19</a:t>
            </a:fld>
            <a:endParaRPr lang="en-US"/>
          </a:p>
        </p:txBody>
      </p:sp>
    </p:spTree>
    <p:extLst>
      <p:ext uri="{BB962C8B-B14F-4D97-AF65-F5344CB8AC3E}">
        <p14:creationId xmlns:p14="http://schemas.microsoft.com/office/powerpoint/2010/main" val="195529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80CC0-3999-E63D-A766-2DC7D2F94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70B65-4EB0-5129-C3F1-2B4A72B92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7B23FF-2E1A-441E-C65B-658F644A27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37F477-1CF9-FE8F-81D5-59C84DFE1A20}"/>
              </a:ext>
            </a:extLst>
          </p:cNvPr>
          <p:cNvSpPr>
            <a:spLocks noGrp="1"/>
          </p:cNvSpPr>
          <p:nvPr>
            <p:ph type="sldNum" sz="quarter" idx="5"/>
          </p:nvPr>
        </p:nvSpPr>
        <p:spPr/>
        <p:txBody>
          <a:bodyPr/>
          <a:lstStyle/>
          <a:p>
            <a:fld id="{EEB48523-85BB-4127-9CC3-9E97B5D4A2F5}" type="slidenum">
              <a:rPr lang="en-US" smtClean="0"/>
              <a:t>20</a:t>
            </a:fld>
            <a:endParaRPr lang="en-US"/>
          </a:p>
        </p:txBody>
      </p:sp>
    </p:spTree>
    <p:extLst>
      <p:ext uri="{BB962C8B-B14F-4D97-AF65-F5344CB8AC3E}">
        <p14:creationId xmlns:p14="http://schemas.microsoft.com/office/powerpoint/2010/main" val="3294561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21</a:t>
            </a:fld>
            <a:endParaRPr lang="en-US"/>
          </a:p>
        </p:txBody>
      </p:sp>
    </p:spTree>
    <p:extLst>
      <p:ext uri="{BB962C8B-B14F-4D97-AF65-F5344CB8AC3E}">
        <p14:creationId xmlns:p14="http://schemas.microsoft.com/office/powerpoint/2010/main" val="35893708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22</a:t>
            </a:fld>
            <a:endParaRPr lang="en-US"/>
          </a:p>
        </p:txBody>
      </p:sp>
    </p:spTree>
    <p:extLst>
      <p:ext uri="{BB962C8B-B14F-4D97-AF65-F5344CB8AC3E}">
        <p14:creationId xmlns:p14="http://schemas.microsoft.com/office/powerpoint/2010/main" val="18367901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An </a:t>
            </a:r>
            <a:r>
              <a:rPr lang="en-US" b="1" dirty="0">
                <a:latin typeface="Times New Roman" panose="02020603050405020304" pitchFamily="18" charset="0"/>
                <a:cs typeface="Times New Roman" panose="02020603050405020304" pitchFamily="18" charset="0"/>
              </a:rPr>
              <a:t>information system</a:t>
            </a:r>
            <a:r>
              <a:rPr lang="en-US" dirty="0">
                <a:latin typeface="Times New Roman" panose="02020603050405020304" pitchFamily="18" charset="0"/>
                <a:cs typeface="Times New Roman" panose="02020603050405020304" pitchFamily="18" charset="0"/>
              </a:rPr>
              <a:t> works like a cycle — it takes in data, processes it, produces results, and then uses feedback to improve.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has five main parts:</a:t>
            </a:r>
          </a:p>
          <a:p>
            <a:r>
              <a:rPr lang="en-US" b="1" dirty="0">
                <a:latin typeface="Times New Roman" panose="02020603050405020304" pitchFamily="18" charset="0"/>
                <a:cs typeface="Times New Roman" panose="02020603050405020304" pitchFamily="18" charset="0"/>
              </a:rPr>
              <a:t>Environment</a:t>
            </a:r>
            <a:r>
              <a:rPr lang="en-US" dirty="0">
                <a:latin typeface="Times New Roman" panose="02020603050405020304" pitchFamily="18" charset="0"/>
                <a:cs typeface="Times New Roman" panose="02020603050405020304" pitchFamily="18" charset="0"/>
              </a:rPr>
              <a:t> – Things outside the system that affect it.</a:t>
            </a:r>
          </a:p>
          <a:p>
            <a:r>
              <a:rPr lang="en-US" b="1" dirty="0">
                <a:latin typeface="Times New Roman" panose="02020603050405020304" pitchFamily="18" charset="0"/>
                <a:cs typeface="Times New Roman" panose="02020603050405020304" pitchFamily="18" charset="0"/>
              </a:rPr>
              <a:t>Inputs</a:t>
            </a:r>
            <a:r>
              <a:rPr lang="en-US" dirty="0">
                <a:latin typeface="Times New Roman" panose="02020603050405020304" pitchFamily="18" charset="0"/>
                <a:cs typeface="Times New Roman" panose="02020603050405020304" pitchFamily="18" charset="0"/>
              </a:rPr>
              <a:t> – Raw data collected from inside or outside the organization.</a:t>
            </a:r>
          </a:p>
          <a:p>
            <a:r>
              <a:rPr lang="en-US" b="1" dirty="0">
                <a:latin typeface="Times New Roman" panose="02020603050405020304" pitchFamily="18" charset="0"/>
                <a:cs typeface="Times New Roman" panose="02020603050405020304" pitchFamily="18" charset="0"/>
              </a:rPr>
              <a:t>Processing</a:t>
            </a:r>
            <a:r>
              <a:rPr lang="en-US" dirty="0">
                <a:latin typeface="Times New Roman" panose="02020603050405020304" pitchFamily="18" charset="0"/>
                <a:cs typeface="Times New Roman" panose="02020603050405020304" pitchFamily="18" charset="0"/>
              </a:rPr>
              <a:t> – The system changes that raw data into something meaningful.</a:t>
            </a:r>
          </a:p>
          <a:p>
            <a:r>
              <a:rPr lang="en-US" b="1" dirty="0">
                <a:latin typeface="Times New Roman" panose="02020603050405020304" pitchFamily="18" charset="0"/>
                <a:cs typeface="Times New Roman" panose="02020603050405020304" pitchFamily="18" charset="0"/>
              </a:rPr>
              <a:t>Outputs</a:t>
            </a:r>
            <a:r>
              <a:rPr lang="en-US" dirty="0">
                <a:latin typeface="Times New Roman" panose="02020603050405020304" pitchFamily="18" charset="0"/>
                <a:cs typeface="Times New Roman" panose="02020603050405020304" pitchFamily="18" charset="0"/>
              </a:rPr>
              <a:t> – The useful information that comes out and gets shared or used.</a:t>
            </a:r>
          </a:p>
          <a:p>
            <a:r>
              <a:rPr lang="en-US" b="1" dirty="0">
                <a:latin typeface="Times New Roman" panose="02020603050405020304" pitchFamily="18" charset="0"/>
                <a:cs typeface="Times New Roman" panose="02020603050405020304" pitchFamily="18" charset="0"/>
              </a:rPr>
              <a:t>Feedback</a:t>
            </a:r>
            <a:r>
              <a:rPr lang="en-US" dirty="0">
                <a:latin typeface="Times New Roman" panose="02020603050405020304" pitchFamily="18" charset="0"/>
                <a:cs typeface="Times New Roman" panose="02020603050405020304" pitchFamily="18" charset="0"/>
              </a:rPr>
              <a:t> – Information sent back to improve or correct future actions.</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23</a:t>
            </a:fld>
            <a:endParaRPr lang="en-US"/>
          </a:p>
        </p:txBody>
      </p:sp>
    </p:spTree>
    <p:extLst>
      <p:ext uri="{BB962C8B-B14F-4D97-AF65-F5344CB8AC3E}">
        <p14:creationId xmlns:p14="http://schemas.microsoft.com/office/powerpoint/2010/main" val="31691133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24</a:t>
            </a:fld>
            <a:endParaRPr lang="en-US"/>
          </a:p>
        </p:txBody>
      </p:sp>
    </p:spTree>
    <p:extLst>
      <p:ext uri="{BB962C8B-B14F-4D97-AF65-F5344CB8AC3E}">
        <p14:creationId xmlns:p14="http://schemas.microsoft.com/office/powerpoint/2010/main" val="35468189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26</a:t>
            </a:fld>
            <a:endParaRPr lang="en-US"/>
          </a:p>
        </p:txBody>
      </p:sp>
    </p:spTree>
    <p:extLst>
      <p:ext uri="{BB962C8B-B14F-4D97-AF65-F5344CB8AC3E}">
        <p14:creationId xmlns:p14="http://schemas.microsoft.com/office/powerpoint/2010/main" val="35925518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27</a:t>
            </a:fld>
            <a:endParaRPr lang="en-US"/>
          </a:p>
        </p:txBody>
      </p:sp>
    </p:spTree>
    <p:extLst>
      <p:ext uri="{BB962C8B-B14F-4D97-AF65-F5344CB8AC3E}">
        <p14:creationId xmlns:p14="http://schemas.microsoft.com/office/powerpoint/2010/main" val="22851429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28</a:t>
            </a:fld>
            <a:endParaRPr lang="en-US"/>
          </a:p>
        </p:txBody>
      </p:sp>
    </p:spTree>
    <p:extLst>
      <p:ext uri="{BB962C8B-B14F-4D97-AF65-F5344CB8AC3E}">
        <p14:creationId xmlns:p14="http://schemas.microsoft.com/office/powerpoint/2010/main" val="41159434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29</a:t>
            </a:fld>
            <a:endParaRPr lang="en-US"/>
          </a:p>
        </p:txBody>
      </p:sp>
    </p:spTree>
    <p:extLst>
      <p:ext uri="{BB962C8B-B14F-4D97-AF65-F5344CB8AC3E}">
        <p14:creationId xmlns:p14="http://schemas.microsoft.com/office/powerpoint/2010/main" val="15244773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30</a:t>
            </a:fld>
            <a:endParaRPr lang="en-US"/>
          </a:p>
        </p:txBody>
      </p:sp>
    </p:spTree>
    <p:extLst>
      <p:ext uri="{BB962C8B-B14F-4D97-AF65-F5344CB8AC3E}">
        <p14:creationId xmlns:p14="http://schemas.microsoft.com/office/powerpoint/2010/main" val="32175381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Business Functions</a:t>
            </a:r>
          </a:p>
          <a:p>
            <a:r>
              <a:rPr lang="en-US" dirty="0"/>
              <a:t>Every organization has different departments or functions.</a:t>
            </a:r>
          </a:p>
          <a:p>
            <a:r>
              <a:rPr lang="en-US" dirty="0"/>
              <a:t>Examples:</a:t>
            </a:r>
          </a:p>
          <a:p>
            <a:r>
              <a:rPr lang="en-US" b="1" dirty="0"/>
              <a:t>Sales and Marketing:</a:t>
            </a:r>
            <a:r>
              <a:rPr lang="en-US" dirty="0"/>
              <a:t> promote products or services. </a:t>
            </a:r>
          </a:p>
          <a:p>
            <a:r>
              <a:rPr lang="en-US" b="1" dirty="0"/>
              <a:t>Production:</a:t>
            </a:r>
            <a:r>
              <a:rPr lang="en-US" dirty="0"/>
              <a:t> creates the main product or service. </a:t>
            </a:r>
          </a:p>
          <a:p>
            <a:r>
              <a:rPr lang="en-US" b="1" dirty="0"/>
              <a:t>Finance and Accounting:</a:t>
            </a:r>
            <a:r>
              <a:rPr lang="en-US" dirty="0"/>
              <a:t> manages money, salary, budget, and expenses. </a:t>
            </a:r>
          </a:p>
          <a:p>
            <a:r>
              <a:rPr lang="en-US" b="1" dirty="0"/>
              <a:t>HR:</a:t>
            </a:r>
            <a:r>
              <a:rPr lang="en-US" dirty="0"/>
              <a:t> hires employees and manages staff. </a:t>
            </a:r>
          </a:p>
          <a:p>
            <a:r>
              <a:rPr lang="en-US" b="1" dirty="0"/>
              <a:t>Example:</a:t>
            </a:r>
            <a:br>
              <a:rPr lang="en-US" dirty="0"/>
            </a:br>
            <a:r>
              <a:rPr lang="en-US" dirty="0"/>
              <a:t>In a university, admission office, accounts office, exam office, departments, and library all work together.</a:t>
            </a:r>
          </a:p>
          <a:p>
            <a:endParaRPr lang="en-US" b="0" dirty="0">
              <a:latin typeface="Times New Roman" panose="02020603050405020304" pitchFamily="18" charset="0"/>
              <a:cs typeface="Times New Roman" panose="02020603050405020304" pitchFamily="18" charset="0"/>
            </a:endParaRPr>
          </a:p>
          <a:p>
            <a:r>
              <a:rPr lang="en-US" b="1" dirty="0"/>
              <a:t>2. Formal Rules</a:t>
            </a:r>
          </a:p>
          <a:p>
            <a:r>
              <a:rPr lang="en-US" dirty="0"/>
              <a:t>Formal rules are official rules of the organization.</a:t>
            </a:r>
          </a:p>
          <a:p>
            <a:r>
              <a:rPr lang="en-US" dirty="0"/>
              <a:t>Examples:</a:t>
            </a:r>
          </a:p>
          <a:p>
            <a:r>
              <a:rPr lang="en-US" dirty="0"/>
              <a:t>Office time is 9 AM to 5 PM. </a:t>
            </a:r>
          </a:p>
          <a:p>
            <a:r>
              <a:rPr lang="en-US" dirty="0"/>
              <a:t>Students must attend 70% classes. </a:t>
            </a:r>
          </a:p>
          <a:p>
            <a:r>
              <a:rPr lang="en-US" dirty="0"/>
              <a:t>Employees must follow leave policy. </a:t>
            </a:r>
          </a:p>
          <a:p>
            <a:r>
              <a:rPr lang="en-US" dirty="0"/>
              <a:t>Teachers must submit marks before the deadline. </a:t>
            </a:r>
          </a:p>
          <a:p>
            <a:r>
              <a:rPr lang="en-US" dirty="0"/>
              <a:t>These rules help the organization run properly.</a:t>
            </a:r>
          </a:p>
          <a:p>
            <a:endParaRPr lang="en-US" b="0" dirty="0">
              <a:latin typeface="Times New Roman" panose="02020603050405020304" pitchFamily="18" charset="0"/>
              <a:cs typeface="Times New Roman" panose="02020603050405020304" pitchFamily="18" charset="0"/>
            </a:endParaRPr>
          </a:p>
          <a:p>
            <a:r>
              <a:rPr lang="en-US" b="1" dirty="0"/>
              <a:t>3. Informal Work Practices</a:t>
            </a:r>
          </a:p>
          <a:p>
            <a:r>
              <a:rPr lang="en-US" dirty="0"/>
              <a:t>Informal work practices are unofficial ways people do their work.</a:t>
            </a:r>
          </a:p>
          <a:p>
            <a:r>
              <a:rPr lang="en-US" dirty="0"/>
              <a:t>Examples:</a:t>
            </a:r>
          </a:p>
          <a:p>
            <a:r>
              <a:rPr lang="en-US" dirty="0"/>
              <a:t>Teachers share notes with students through WhatsApp.</a:t>
            </a:r>
          </a:p>
          <a:p>
            <a:endParaRPr lang="en-US" b="0" dirty="0">
              <a:latin typeface="Times New Roman" panose="02020603050405020304" pitchFamily="18" charset="0"/>
              <a:cs typeface="Times New Roman" panose="02020603050405020304" pitchFamily="18" charset="0"/>
            </a:endParaRPr>
          </a:p>
          <a:p>
            <a:r>
              <a:rPr lang="en-US" b="1" dirty="0"/>
              <a:t>4. Automation</a:t>
            </a:r>
          </a:p>
          <a:p>
            <a:r>
              <a:rPr lang="en-US" dirty="0"/>
              <a:t>Automation means using technology to do work faster and with less manual effort.</a:t>
            </a:r>
          </a:p>
          <a:p>
            <a:r>
              <a:rPr lang="en-US" dirty="0"/>
              <a:t>Examples:</a:t>
            </a:r>
          </a:p>
          <a:p>
            <a:r>
              <a:rPr lang="en-US" dirty="0"/>
              <a:t>Online admission system </a:t>
            </a:r>
          </a:p>
          <a:p>
            <a:r>
              <a:rPr lang="en-US" dirty="0"/>
              <a:t>Biometric attendance system </a:t>
            </a:r>
          </a:p>
          <a:p>
            <a:r>
              <a:rPr lang="en-US" dirty="0"/>
              <a:t>Online result system </a:t>
            </a:r>
          </a:p>
          <a:p>
            <a:r>
              <a:rPr lang="en-US" dirty="0"/>
              <a:t>Automatic fee payment system </a:t>
            </a:r>
          </a:p>
          <a:p>
            <a:r>
              <a:rPr lang="en-US" dirty="0"/>
              <a:t>Library book management software</a:t>
            </a:r>
          </a:p>
          <a:p>
            <a:endParaRPr lang="en-US" b="0" dirty="0">
              <a:latin typeface="Times New Roman" panose="02020603050405020304" pitchFamily="18" charset="0"/>
              <a:cs typeface="Times New Roman" panose="02020603050405020304" pitchFamily="18" charset="0"/>
            </a:endParaRPr>
          </a:p>
          <a:p>
            <a:endParaRPr lang="en-US" b="0" dirty="0">
              <a:latin typeface="Times New Roman" panose="02020603050405020304" pitchFamily="18" charset="0"/>
              <a:cs typeface="Times New Roman" panose="02020603050405020304" pitchFamily="18" charset="0"/>
            </a:endParaRPr>
          </a:p>
          <a:p>
            <a:r>
              <a:rPr lang="en-US" b="1" dirty="0"/>
              <a:t>5. Different Opinions and Conflicts</a:t>
            </a:r>
          </a:p>
          <a:p>
            <a:r>
              <a:rPr lang="en-US" dirty="0"/>
              <a:t>People in an organization may have different ideas, needs, and goals.</a:t>
            </a:r>
          </a:p>
          <a:p>
            <a:r>
              <a:rPr lang="en-US" dirty="0"/>
              <a:t>Examples:</a:t>
            </a:r>
          </a:p>
          <a:p>
            <a:r>
              <a:rPr lang="en-US" dirty="0"/>
              <a:t>Teachers may want more time to finish syllabus. </a:t>
            </a:r>
          </a:p>
          <a:p>
            <a:r>
              <a:rPr lang="en-US" dirty="0"/>
              <a:t>Administration may want exams on fixed dates.</a:t>
            </a:r>
          </a:p>
          <a:p>
            <a:endParaRPr lang="en-US" b="0" dirty="0">
              <a:latin typeface="Times New Roman" panose="02020603050405020304" pitchFamily="18" charset="0"/>
              <a:cs typeface="Times New Roman" panose="02020603050405020304" pitchFamily="18" charset="0"/>
            </a:endParaRPr>
          </a:p>
          <a:p>
            <a:endParaRPr lang="en-US" b="0" dirty="0">
              <a:latin typeface="Times New Roman" panose="02020603050405020304" pitchFamily="18" charset="0"/>
              <a:cs typeface="Times New Roman" panose="02020603050405020304" pitchFamily="18" charset="0"/>
            </a:endParaRPr>
          </a:p>
          <a:p>
            <a:r>
              <a:rPr lang="en-US" b="1" dirty="0"/>
              <a:t>6. Unique Culture</a:t>
            </a:r>
          </a:p>
          <a:p>
            <a:r>
              <a:rPr lang="en-US" dirty="0"/>
              <a:t>Every organization has its own culture.</a:t>
            </a:r>
          </a:p>
          <a:p>
            <a:r>
              <a:rPr lang="en-US" dirty="0"/>
              <a:t>Culture means the common values, habits, and ways of working accepted by most members.</a:t>
            </a:r>
          </a:p>
          <a:p>
            <a:endParaRPr lang="en-US"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EB48523-85BB-4127-9CC3-9E97B5D4A2F5}" type="slidenum">
              <a:rPr lang="en-US" smtClean="0"/>
              <a:t>31</a:t>
            </a:fld>
            <a:endParaRPr lang="en-US"/>
          </a:p>
        </p:txBody>
      </p:sp>
    </p:spTree>
    <p:extLst>
      <p:ext uri="{BB962C8B-B14F-4D97-AF65-F5344CB8AC3E}">
        <p14:creationId xmlns:p14="http://schemas.microsoft.com/office/powerpoint/2010/main" val="38817542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32</a:t>
            </a:fld>
            <a:endParaRPr lang="en-US"/>
          </a:p>
        </p:txBody>
      </p:sp>
    </p:spTree>
    <p:extLst>
      <p:ext uri="{BB962C8B-B14F-4D97-AF65-F5344CB8AC3E}">
        <p14:creationId xmlns:p14="http://schemas.microsoft.com/office/powerpoint/2010/main" val="9486353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33</a:t>
            </a:fld>
            <a:endParaRPr lang="en-US"/>
          </a:p>
        </p:txBody>
      </p:sp>
    </p:spTree>
    <p:extLst>
      <p:ext uri="{BB962C8B-B14F-4D97-AF65-F5344CB8AC3E}">
        <p14:creationId xmlns:p14="http://schemas.microsoft.com/office/powerpoint/2010/main" val="3075375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Information Value Chain</a:t>
            </a:r>
            <a:r>
              <a:rPr lang="en-US" dirty="0"/>
              <a:t> means the process of converting </a:t>
            </a:r>
            <a:r>
              <a:rPr lang="en-US" b="1" dirty="0"/>
              <a:t>raw data into useful information</a:t>
            </a:r>
            <a:r>
              <a:rPr lang="en-US" dirty="0"/>
              <a:t>, and then using that information to make better decisions and create business value.</a:t>
            </a:r>
          </a:p>
          <a:p>
            <a:endParaRPr lang="en-US" b="0" dirty="0">
              <a:latin typeface="Times New Roman" panose="02020603050405020304" pitchFamily="18" charset="0"/>
              <a:cs typeface="Times New Roman" panose="02020603050405020304" pitchFamily="18" charset="0"/>
            </a:endParaRPr>
          </a:p>
          <a:p>
            <a:r>
              <a:rPr lang="en-US" b="1" dirty="0"/>
              <a:t>1. Data Collection and Storage</a:t>
            </a:r>
            <a:endParaRPr lang="en-US" dirty="0"/>
          </a:p>
          <a:p>
            <a:r>
              <a:rPr lang="en-US" dirty="0"/>
              <a:t>Collect raw data and store it</a:t>
            </a:r>
          </a:p>
          <a:p>
            <a:r>
              <a:rPr lang="en-US" dirty="0"/>
              <a:t>Customer orders, payment data, product views, delivery status, customer reviews</a:t>
            </a:r>
          </a:p>
          <a:p>
            <a:r>
              <a:rPr lang="en-US" b="1" dirty="0"/>
              <a:t>2. Transformation into Business Systems</a:t>
            </a:r>
            <a:endParaRPr lang="en-US" dirty="0"/>
          </a:p>
          <a:p>
            <a:r>
              <a:rPr lang="en-US" dirty="0"/>
              <a:t>Convert raw data into useful business information</a:t>
            </a:r>
          </a:p>
          <a:p>
            <a:r>
              <a:rPr lang="en-US" dirty="0"/>
              <a:t>Sales reports, stock reports, customer behavior analysis</a:t>
            </a:r>
          </a:p>
          <a:p>
            <a:r>
              <a:rPr lang="en-US" b="1" dirty="0"/>
              <a:t>3. Dissemination</a:t>
            </a:r>
            <a:endParaRPr lang="en-US" dirty="0"/>
          </a:p>
          <a:p>
            <a:r>
              <a:rPr lang="en-US" dirty="0"/>
              <a:t>Share information with the right people/departments</a:t>
            </a:r>
          </a:p>
          <a:p>
            <a:r>
              <a:rPr lang="en-US" dirty="0"/>
              <a:t>Inventory team gets stock alerts, marketing team gets customer interest reports</a:t>
            </a:r>
          </a:p>
          <a:p>
            <a:r>
              <a:rPr lang="en-US" b="1" dirty="0"/>
              <a:t>4. Business Processes</a:t>
            </a:r>
            <a:endParaRPr lang="en-US" dirty="0"/>
          </a:p>
          <a:p>
            <a:r>
              <a:rPr lang="en-US" dirty="0"/>
              <a:t>Use information to improve daily operations</a:t>
            </a:r>
          </a:p>
          <a:p>
            <a:r>
              <a:rPr lang="en-US" dirty="0"/>
              <a:t>Supply chain manages stock, customer management handles complaints, knowledge management improves service</a:t>
            </a:r>
          </a:p>
          <a:p>
            <a:r>
              <a:rPr lang="en-US" b="1" dirty="0"/>
              <a:t>5. Management Activities</a:t>
            </a:r>
            <a:endParaRPr lang="en-US" dirty="0"/>
          </a:p>
          <a:p>
            <a:r>
              <a:rPr lang="en-US" dirty="0"/>
              <a:t>Managers use information for decisions</a:t>
            </a:r>
          </a:p>
          <a:p>
            <a:r>
              <a:rPr lang="en-US" dirty="0"/>
              <a:t>Plan discounts, control delivery delays, decide which products to promote</a:t>
            </a:r>
          </a:p>
          <a:p>
            <a:endParaRPr lang="en-US" dirty="0"/>
          </a:p>
          <a:p>
            <a:r>
              <a:rPr lang="en-US" b="1" dirty="0"/>
              <a:t>6. Business Value</a:t>
            </a:r>
            <a:endParaRPr lang="en-US" dirty="0"/>
          </a:p>
          <a:p>
            <a:r>
              <a:rPr lang="en-US" dirty="0"/>
              <a:t>Final benefit for the organization</a:t>
            </a:r>
          </a:p>
          <a:p>
            <a:r>
              <a:rPr lang="en-US" dirty="0"/>
              <a:t>Higher profit, faster delivery, better customer satisfaction, stronger market position</a:t>
            </a:r>
          </a:p>
          <a:p>
            <a:endParaRPr lang="en-US" dirty="0"/>
          </a:p>
          <a:p>
            <a:endParaRPr lang="en-US"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EEB48523-85BB-4127-9CC3-9E97B5D4A2F5}" type="slidenum">
              <a:rPr lang="en-US" smtClean="0"/>
              <a:t>34</a:t>
            </a:fld>
            <a:endParaRPr lang="en-US"/>
          </a:p>
        </p:txBody>
      </p:sp>
    </p:spTree>
    <p:extLst>
      <p:ext uri="{BB962C8B-B14F-4D97-AF65-F5344CB8AC3E}">
        <p14:creationId xmlns:p14="http://schemas.microsoft.com/office/powerpoint/2010/main" val="26593041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Complementary assets are the </a:t>
            </a:r>
            <a:r>
              <a:rPr lang="en-US" b="1" dirty="0"/>
              <a:t>supporting factors</a:t>
            </a:r>
            <a:r>
              <a:rPr lang="en-US" dirty="0"/>
              <a:t> that help an organization get the </a:t>
            </a:r>
            <a:r>
              <a:rPr lang="en-US" b="1" dirty="0"/>
              <a:t>full benefit</a:t>
            </a:r>
            <a:r>
              <a:rPr lang="en-US" dirty="0"/>
              <a:t> from its investment in information technology.</a:t>
            </a:r>
          </a:p>
        </p:txBody>
      </p:sp>
      <p:sp>
        <p:nvSpPr>
          <p:cNvPr id="4" name="Slide Number Placeholder 3"/>
          <p:cNvSpPr>
            <a:spLocks noGrp="1"/>
          </p:cNvSpPr>
          <p:nvPr>
            <p:ph type="sldNum" sz="quarter" idx="5"/>
          </p:nvPr>
        </p:nvSpPr>
        <p:spPr/>
        <p:txBody>
          <a:bodyPr/>
          <a:lstStyle/>
          <a:p>
            <a:fld id="{EEB48523-85BB-4127-9CC3-9E97B5D4A2F5}" type="slidenum">
              <a:rPr lang="en-US" smtClean="0"/>
              <a:t>35</a:t>
            </a:fld>
            <a:endParaRPr lang="en-US"/>
          </a:p>
        </p:txBody>
      </p:sp>
    </p:spTree>
    <p:extLst>
      <p:ext uri="{BB962C8B-B14F-4D97-AF65-F5344CB8AC3E}">
        <p14:creationId xmlns:p14="http://schemas.microsoft.com/office/powerpoint/2010/main" val="18753590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Organizational Assets</a:t>
            </a:r>
            <a:endParaRPr lang="en-US" dirty="0"/>
          </a:p>
          <a:p>
            <a:r>
              <a:rPr lang="en-US" dirty="0"/>
              <a:t>Internal structure and work processes that support the system</a:t>
            </a:r>
          </a:p>
          <a:p>
            <a:r>
              <a:rPr lang="en-US" dirty="0"/>
              <a:t>The university must redesign admission, course registration, attendance, exam, result, and payment processes so they work smoothly online.</a:t>
            </a:r>
          </a:p>
          <a:p>
            <a:r>
              <a:rPr lang="en-US" b="1" dirty="0"/>
              <a:t>2. Managerial Assets</a:t>
            </a:r>
            <a:endParaRPr lang="en-US" dirty="0"/>
          </a:p>
          <a:p>
            <a:r>
              <a:rPr lang="en-US" dirty="0"/>
              <a:t>Support and guidance from management</a:t>
            </a:r>
          </a:p>
          <a:p>
            <a:r>
              <a:rPr lang="en-US" dirty="0"/>
              <a:t>Top management must strongly support the smart university project, manage change, and ensure teachers, students, and staff use the system properly.</a:t>
            </a:r>
          </a:p>
          <a:p>
            <a:r>
              <a:rPr lang="en-US" b="1" dirty="0"/>
              <a:t>3. Social &amp; Legal Assets</a:t>
            </a:r>
            <a:endParaRPr lang="en-US" dirty="0"/>
          </a:p>
          <a:p>
            <a:r>
              <a:rPr lang="en-US" dirty="0"/>
              <a:t>External rules, infrastructure, and social readiness</a:t>
            </a:r>
          </a:p>
          <a:p>
            <a:r>
              <a:rPr lang="en-US" dirty="0"/>
              <a:t>The system needs education board/UGC rules, data privacy policy, reliable internet, and students/teachers who can use digital tools.</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37</a:t>
            </a:fld>
            <a:endParaRPr lang="en-US"/>
          </a:p>
        </p:txBody>
      </p:sp>
    </p:spTree>
    <p:extLst>
      <p:ext uri="{BB962C8B-B14F-4D97-AF65-F5344CB8AC3E}">
        <p14:creationId xmlns:p14="http://schemas.microsoft.com/office/powerpoint/2010/main" val="13810683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What it studies:</a:t>
            </a:r>
            <a:br>
              <a:rPr lang="en-US" dirty="0"/>
            </a:br>
            <a:r>
              <a:rPr lang="en-US" dirty="0"/>
              <a:t>The study of Information Systems (IS) looks at how information is collected, stored, processed, shared, and used in organizations and society.</a:t>
            </a:r>
          </a:p>
          <a:p>
            <a:r>
              <a:rPr lang="en-US" b="1" dirty="0"/>
              <a:t>2. Multi-disciplinary:</a:t>
            </a:r>
            <a:br>
              <a:rPr lang="en-US" dirty="0"/>
            </a:br>
            <a:r>
              <a:rPr lang="en-US" dirty="0"/>
              <a:t>It combines ideas from technology (like computers and software) and social sciences (like management, behavior, and communication).</a:t>
            </a:r>
          </a:p>
          <a:p>
            <a:r>
              <a:rPr lang="en-US" b="1" dirty="0"/>
              <a:t>3. Focus:</a:t>
            </a:r>
            <a:endParaRPr lang="en-US" dirty="0"/>
          </a:p>
          <a:p>
            <a:r>
              <a:rPr lang="en-US" dirty="0"/>
              <a:t>Not just about computers or technology.</a:t>
            </a:r>
          </a:p>
          <a:p>
            <a:r>
              <a:rPr lang="en-US" dirty="0"/>
              <a:t>Not just about people or social systems.</a:t>
            </a:r>
          </a:p>
          <a:p>
            <a:r>
              <a:rPr lang="en-US" dirty="0"/>
              <a:t>Focuses on what happens </a:t>
            </a:r>
            <a:r>
              <a:rPr lang="en-US" b="1" dirty="0"/>
              <a:t>when technology and people work together</a:t>
            </a:r>
            <a:r>
              <a:rPr lang="en-US" dirty="0"/>
              <a:t>.</a:t>
            </a:r>
          </a:p>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38</a:t>
            </a:fld>
            <a:endParaRPr lang="en-US"/>
          </a:p>
        </p:txBody>
      </p:sp>
    </p:spTree>
    <p:extLst>
      <p:ext uri="{BB962C8B-B14F-4D97-AF65-F5344CB8AC3E}">
        <p14:creationId xmlns:p14="http://schemas.microsoft.com/office/powerpoint/2010/main" val="15970156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48523-85BB-4127-9CC3-9E97B5D4A2F5}" type="slidenum">
              <a:rPr lang="en-US" smtClean="0"/>
              <a:t>40</a:t>
            </a:fld>
            <a:endParaRPr lang="en-US"/>
          </a:p>
        </p:txBody>
      </p:sp>
    </p:spTree>
    <p:extLst>
      <p:ext uri="{BB962C8B-B14F-4D97-AF65-F5344CB8AC3E}">
        <p14:creationId xmlns:p14="http://schemas.microsoft.com/office/powerpoint/2010/main" val="263049217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CF4F38-CA15-4B92-9222-95FC4C4AD174}" type="datetime1">
              <a:rPr lang="en-US" smtClean="0"/>
              <a:t>10/14/2026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C4E2C86B-781F-422B-BBCD-AFDAC8D92AAC}" type="slidenum">
              <a:rPr lang="en-US" smtClean="0"/>
              <a:t>‹#›</a:t>
            </a:fld>
            <a:endParaRPr lang="en-US"/>
          </a:p>
        </p:txBody>
      </p:sp>
    </p:spTree>
    <p:extLst>
      <p:ext uri="{BB962C8B-B14F-4D97-AF65-F5344CB8AC3E}">
        <p14:creationId xmlns:p14="http://schemas.microsoft.com/office/powerpoint/2010/main" val="223187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75D322-CD52-44FF-A118-A77F1E5F824B}" type="datetime1">
              <a:rPr lang="en-US" smtClean="0"/>
              <a:t>10/14/2026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3216181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B0AAADBB-8E4F-498B-A38F-B7B381033A57}" type="datetime1">
              <a:rPr lang="en-US" smtClean="0"/>
              <a:t>10/14/2026</a:t>
            </a:fld>
            <a:endParaRPr lang="en-US"/>
          </a:p>
        </p:txBody>
      </p:sp>
      <p:sp>
        <p:nvSpPr>
          <p:cNvPr id="5" name="Footer Placeholder 4"/>
          <p:cNvSpPr>
            <a:spLocks noGrp="1"/>
          </p:cNvSpPr>
          <p:nvPr>
            <p:ph type="ftr" sz="quarter" idx="11"/>
          </p:nvPr>
        </p:nvSpPr>
        <p:spPr>
          <a:xfrm>
            <a:off x="2182708" y="6272784"/>
            <a:ext cx="6327648" cy="365125"/>
          </a:xfrm>
        </p:spPr>
        <p:txBody>
          <a:bodyPr/>
          <a:lstStyle/>
          <a:p>
            <a:r>
              <a:rPr lang="en-US"/>
              <a:t>Md. Manirujjaman</a:t>
            </a: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C4E2C86B-781F-422B-BBCD-AFDAC8D92AAC}" type="slidenum">
              <a:rPr lang="en-US" smtClean="0"/>
              <a:t>‹#›</a:t>
            </a:fld>
            <a:endParaRPr lang="en-US"/>
          </a:p>
        </p:txBody>
      </p:sp>
    </p:spTree>
    <p:extLst>
      <p:ext uri="{BB962C8B-B14F-4D97-AF65-F5344CB8AC3E}">
        <p14:creationId xmlns:p14="http://schemas.microsoft.com/office/powerpoint/2010/main" val="3484099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E1368E-D113-47ED-91AD-489851CB09B7}" type="datetime1">
              <a:rPr lang="en-US" smtClean="0"/>
              <a:t>10/14/2026</a:t>
            </a:fld>
            <a:endParaRPr lang="en-US"/>
          </a:p>
        </p:txBody>
      </p:sp>
      <p:sp>
        <p:nvSpPr>
          <p:cNvPr id="6" name="Footer Placeholder 5"/>
          <p:cNvSpPr>
            <a:spLocks noGrp="1"/>
          </p:cNvSpPr>
          <p:nvPr>
            <p:ph type="ftr" sz="quarter" idx="11"/>
          </p:nvPr>
        </p:nvSpPr>
        <p:spPr/>
        <p:txBody>
          <a:bodyPr/>
          <a:lstStyle/>
          <a:p>
            <a:r>
              <a:rPr lang="en-US"/>
              <a:t>Md. Manirujjaman</a:t>
            </a:r>
          </a:p>
        </p:txBody>
      </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032224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B3F6D08-A9CF-43D6-92E6-97CC4BB565CF}" type="datetime1">
              <a:rPr lang="en-US" smtClean="0"/>
              <a:t>10/14/2026</a:t>
            </a:fld>
            <a:endParaRPr lang="en-US"/>
          </a:p>
        </p:txBody>
      </p:sp>
      <p:sp>
        <p:nvSpPr>
          <p:cNvPr id="8" name="Footer Placeholder 7"/>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22758087"/>
      </p:ext>
    </p:extLst>
  </p:cSld>
  <p:clrMapOvr>
    <a:masterClrMapping/>
  </p:clrMapOvr>
  <p:hf sldNum="0"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5E09E1-3892-4DE8-B407-60DFCDF458B8}" type="datetime1">
              <a:rPr lang="en-US" smtClean="0"/>
              <a:t>10/14/2026</a:t>
            </a:fld>
            <a:endParaRPr lang="en-US"/>
          </a:p>
        </p:txBody>
      </p:sp>
      <p:sp>
        <p:nvSpPr>
          <p:cNvPr id="4" name="Footer Placeholder 3"/>
          <p:cNvSpPr>
            <a:spLocks noGrp="1"/>
          </p:cNvSpPr>
          <p:nvPr>
            <p:ph type="ftr" sz="quarter" idx="11"/>
          </p:nvPr>
        </p:nvSpPr>
        <p:spPr/>
        <p:txBody>
          <a:bodyPr/>
          <a:lstStyle/>
          <a:p>
            <a:r>
              <a:rPr lang="en-US"/>
              <a:t>Md. Manirujjaman</a:t>
            </a:r>
          </a:p>
        </p:txBody>
      </p:sp>
      <p:sp>
        <p:nvSpPr>
          <p:cNvPr id="5" name="Slide Number Placeholder 4"/>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9143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CEFCFD-9EF2-4E99-9E08-73D2A06D5CD0}" type="datetime1">
              <a:rPr lang="en-US" smtClean="0"/>
              <a:t>10/14/2026</a:t>
            </a:fld>
            <a:endParaRPr lang="en-US"/>
          </a:p>
        </p:txBody>
      </p:sp>
      <p:sp>
        <p:nvSpPr>
          <p:cNvPr id="3" name="Footer Placeholder 2"/>
          <p:cNvSpPr>
            <a:spLocks noGrp="1"/>
          </p:cNvSpPr>
          <p:nvPr>
            <p:ph type="ftr" sz="quarter" idx="11"/>
          </p:nvPr>
        </p:nvSpPr>
        <p:spPr/>
        <p:txBody>
          <a:bodyPr/>
          <a:lstStyle/>
          <a:p>
            <a:r>
              <a:rPr lang="en-US"/>
              <a:t>Md. Manirujjaman</a:t>
            </a:r>
          </a:p>
        </p:txBody>
      </p:sp>
      <p:sp>
        <p:nvSpPr>
          <p:cNvPr id="4" name="Slide Number Placeholder 3"/>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753362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4072E6F-575F-486D-8C22-67B84DCE7CA0}" type="datetime1">
              <a:rPr lang="en-US" smtClean="0"/>
              <a:t>10/14/2026</a:t>
            </a:fld>
            <a:endParaRPr lang="en-US"/>
          </a:p>
        </p:txBody>
      </p:sp>
      <p:sp>
        <p:nvSpPr>
          <p:cNvPr id="6" name="Footer Placeholder 5"/>
          <p:cNvSpPr>
            <a:spLocks noGrp="1"/>
          </p:cNvSpPr>
          <p:nvPr>
            <p:ph type="ftr" sz="quarter" idx="11"/>
          </p:nvPr>
        </p:nvSpPr>
        <p:spPr/>
        <p:txBody>
          <a:bodyPr/>
          <a:lstStyle/>
          <a:p>
            <a:r>
              <a:rPr lang="en-US"/>
              <a:t>Md. Manirujjaman</a:t>
            </a: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1165870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32C9E9-CD8E-4C18-8E92-3692BF360F9B}" type="datetime1">
              <a:rPr lang="en-US" smtClean="0"/>
              <a:t>10/14/2026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023713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5F0537-5F28-4230-A8EB-CF1697A9986C}" type="datetime1">
              <a:rPr lang="en-US" smtClean="0"/>
              <a:t>10/14/2026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2408149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B5B130-00F1-4F91-82DE-BD01F1D05E1D}" type="datetime1">
              <a:rPr lang="en-US" smtClean="0"/>
              <a:t>10/14/2026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C4E2C86B-781F-422B-BBCD-AFDAC8D92AAC}" type="slidenum">
              <a:rPr lang="en-US" smtClean="0"/>
              <a:t>‹#›</a:t>
            </a:fld>
            <a:endParaRPr lang="en-US"/>
          </a:p>
        </p:txBody>
      </p:sp>
    </p:spTree>
    <p:extLst>
      <p:ext uri="{BB962C8B-B14F-4D97-AF65-F5344CB8AC3E}">
        <p14:creationId xmlns:p14="http://schemas.microsoft.com/office/powerpoint/2010/main" val="357254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0B3F6D08-A9CF-43D6-92E6-97CC4BB565CF}" type="datetime1">
              <a:rPr lang="en-US" smtClean="0"/>
              <a:t>10/14/2026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r>
              <a:rPr lang="en-US"/>
              <a:t>Md. Manirujjaman</a:t>
            </a: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C4E2C86B-781F-422B-BBCD-AFDAC8D92AAC}" type="slidenum">
              <a:rPr lang="en-US" smtClean="0"/>
              <a:t>‹#›</a:t>
            </a:fld>
            <a:endParaRPr lang="en-US"/>
          </a:p>
        </p:txBody>
      </p:sp>
    </p:spTree>
    <p:extLst>
      <p:ext uri="{BB962C8B-B14F-4D97-AF65-F5344CB8AC3E}">
        <p14:creationId xmlns:p14="http://schemas.microsoft.com/office/powerpoint/2010/main" val="3752004790"/>
      </p:ext>
    </p:extLst>
  </p:cSld>
  <p:clrMap bg1="lt1" tx1="dk1" bg2="lt2" tx2="dk2" accent1="accent1" accent2="accent2" accent3="accent3" accent4="accent4" accent5="accent5" accent6="accent6" hlink="hlink" folHlink="folHlink"/>
  <p:sldLayoutIdLst>
    <p:sldLayoutId id="2147484195" r:id="rId1"/>
    <p:sldLayoutId id="2147484196" r:id="rId2"/>
    <p:sldLayoutId id="2147484197" r:id="rId3"/>
    <p:sldLayoutId id="2147484198" r:id="rId4"/>
    <p:sldLayoutId id="2147484199" r:id="rId5"/>
    <p:sldLayoutId id="2147484200" r:id="rId6"/>
    <p:sldLayoutId id="2147484201" r:id="rId7"/>
    <p:sldLayoutId id="2147484202" r:id="rId8"/>
    <p:sldLayoutId id="2147484203" r:id="rId9"/>
    <p:sldLayoutId id="2147484204" r:id="rId10"/>
    <p:sldLayoutId id="2147484205" r:id="rId11"/>
  </p:sldLayoutIdLst>
  <p:hf sldNum="0" hdr="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E82F5-739E-4F46-83C8-15CDD6F35973}"/>
              </a:ext>
            </a:extLst>
          </p:cNvPr>
          <p:cNvSpPr>
            <a:spLocks noGrp="1"/>
          </p:cNvSpPr>
          <p:nvPr>
            <p:ph type="ctrTitle"/>
          </p:nvPr>
        </p:nvSpPr>
        <p:spPr>
          <a:xfrm>
            <a:off x="0" y="2140281"/>
            <a:ext cx="12191999" cy="905070"/>
          </a:xfrm>
        </p:spPr>
        <p:txBody>
          <a:bodyPr>
            <a:normAutofit fontScale="90000"/>
          </a:bodyPr>
          <a:lstStyle/>
          <a:p>
            <a:r>
              <a:rPr lang="en-US" dirty="0">
                <a:solidFill>
                  <a:srgbClr val="00B050"/>
                </a:solidFill>
                <a:latin typeface="+mn-lt"/>
              </a:rPr>
              <a:t>Introduction to Information Systems</a:t>
            </a:r>
          </a:p>
        </p:txBody>
      </p:sp>
      <p:sp>
        <p:nvSpPr>
          <p:cNvPr id="3" name="Subtitle 2">
            <a:extLst>
              <a:ext uri="{FF2B5EF4-FFF2-40B4-BE49-F238E27FC236}">
                <a16:creationId xmlns:a16="http://schemas.microsoft.com/office/drawing/2014/main" id="{89CDCC1D-DBCC-44C0-9A0C-12F3C227438F}"/>
              </a:ext>
            </a:extLst>
          </p:cNvPr>
          <p:cNvSpPr>
            <a:spLocks noGrp="1"/>
          </p:cNvSpPr>
          <p:nvPr>
            <p:ph type="subTitle" idx="1"/>
          </p:nvPr>
        </p:nvSpPr>
        <p:spPr>
          <a:xfrm>
            <a:off x="0" y="-1"/>
            <a:ext cx="12192000" cy="1042985"/>
          </a:xfrm>
        </p:spPr>
        <p:txBody>
          <a:bodyPr anchor="ctr">
            <a:normAutofit/>
          </a:bodyPr>
          <a:lstStyle/>
          <a:p>
            <a:r>
              <a:rPr lang="en-US" dirty="0"/>
              <a:t>Information System Management</a:t>
            </a:r>
            <a:endParaRPr lang="bn-BD" dirty="0"/>
          </a:p>
          <a:p>
            <a:r>
              <a:rPr lang="bn-BD" dirty="0"/>
              <a:t>Course No:</a:t>
            </a:r>
            <a:r>
              <a:rPr lang="en-US" dirty="0"/>
              <a:t> 0612-301</a:t>
            </a:r>
            <a:endParaRPr lang="bn-BD" dirty="0"/>
          </a:p>
        </p:txBody>
      </p:sp>
      <p:sp>
        <p:nvSpPr>
          <p:cNvPr id="6" name="Date Placeholder 5">
            <a:extLst>
              <a:ext uri="{FF2B5EF4-FFF2-40B4-BE49-F238E27FC236}">
                <a16:creationId xmlns:a16="http://schemas.microsoft.com/office/drawing/2014/main" id="{1F7D78D0-D2BC-D06C-A440-CD18B7CD34C8}"/>
              </a:ext>
            </a:extLst>
          </p:cNvPr>
          <p:cNvSpPr>
            <a:spLocks noGrp="1"/>
          </p:cNvSpPr>
          <p:nvPr>
            <p:ph type="dt" sz="half" idx="10"/>
          </p:nvPr>
        </p:nvSpPr>
        <p:spPr/>
        <p:txBody>
          <a:bodyPr/>
          <a:lstStyle/>
          <a:p>
            <a:fld id="{6259B61B-DAFE-4289-8A14-1743F8FEB500}" type="datetime1">
              <a:rPr lang="en-US" smtClean="0"/>
              <a:t>10/14/2026</a:t>
            </a:fld>
            <a:endParaRPr lang="en-US" dirty="0"/>
          </a:p>
        </p:txBody>
      </p:sp>
      <p:sp>
        <p:nvSpPr>
          <p:cNvPr id="5" name="Footer Placeholder 4">
            <a:extLst>
              <a:ext uri="{FF2B5EF4-FFF2-40B4-BE49-F238E27FC236}">
                <a16:creationId xmlns:a16="http://schemas.microsoft.com/office/drawing/2014/main" id="{EFA17864-CDC6-099B-393F-CE7360312447}"/>
              </a:ext>
            </a:extLst>
          </p:cNvPr>
          <p:cNvSpPr>
            <a:spLocks noGrp="1"/>
          </p:cNvSpPr>
          <p:nvPr>
            <p:ph type="ftr" sz="quarter" idx="11"/>
          </p:nvPr>
        </p:nvSpPr>
        <p:spPr/>
        <p:txBody>
          <a:bodyPr/>
          <a:lstStyle/>
          <a:p>
            <a:r>
              <a:rPr lang="en-US" dirty="0"/>
              <a:t>Md. Manirujjaman</a:t>
            </a:r>
          </a:p>
        </p:txBody>
      </p:sp>
      <p:sp>
        <p:nvSpPr>
          <p:cNvPr id="4" name="Subtitle 2">
            <a:extLst>
              <a:ext uri="{FF2B5EF4-FFF2-40B4-BE49-F238E27FC236}">
                <a16:creationId xmlns:a16="http://schemas.microsoft.com/office/drawing/2014/main" id="{F2199CD2-4B15-4E66-91F0-75EC238116A9}"/>
              </a:ext>
            </a:extLst>
          </p:cNvPr>
          <p:cNvSpPr txBox="1">
            <a:spLocks/>
          </p:cNvSpPr>
          <p:nvPr/>
        </p:nvSpPr>
        <p:spPr>
          <a:xfrm>
            <a:off x="-1" y="4142648"/>
            <a:ext cx="12192000" cy="191744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Md. Manirujjaman</a:t>
            </a:r>
            <a:endParaRPr lang="bn-BD" dirty="0"/>
          </a:p>
          <a:p>
            <a:r>
              <a:rPr lang="bn-BD" dirty="0"/>
              <a:t>Lecturer, CSE</a:t>
            </a:r>
          </a:p>
          <a:p>
            <a:r>
              <a:rPr lang="bn-BD" dirty="0"/>
              <a:t>DIU</a:t>
            </a:r>
            <a:endParaRPr lang="en-US" dirty="0"/>
          </a:p>
        </p:txBody>
      </p:sp>
    </p:spTree>
    <p:extLst>
      <p:ext uri="{BB962C8B-B14F-4D97-AF65-F5344CB8AC3E}">
        <p14:creationId xmlns:p14="http://schemas.microsoft.com/office/powerpoint/2010/main" val="3841990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D73672-964D-3B4E-83F1-763FE038A2E3}"/>
              </a:ext>
            </a:extLst>
          </p:cNvPr>
          <p:cNvSpPr>
            <a:spLocks noGrp="1"/>
          </p:cNvSpPr>
          <p:nvPr>
            <p:ph type="dt" sz="half" idx="10"/>
          </p:nvPr>
        </p:nvSpPr>
        <p:spPr/>
        <p:txBody>
          <a:bodyPr/>
          <a:lstStyle/>
          <a:p>
            <a:fld id="{77CEFCFD-9EF2-4E99-9E08-73D2A06D5CD0}" type="datetime1">
              <a:rPr lang="en-US" smtClean="0"/>
              <a:t>10/14/2026</a:t>
            </a:fld>
            <a:endParaRPr lang="en-US"/>
          </a:p>
        </p:txBody>
      </p:sp>
      <p:sp>
        <p:nvSpPr>
          <p:cNvPr id="3" name="Footer Placeholder 2">
            <a:extLst>
              <a:ext uri="{FF2B5EF4-FFF2-40B4-BE49-F238E27FC236}">
                <a16:creationId xmlns:a16="http://schemas.microsoft.com/office/drawing/2014/main" id="{2938D279-FB5F-F84B-C63C-59017F8D61AE}"/>
              </a:ext>
            </a:extLst>
          </p:cNvPr>
          <p:cNvSpPr>
            <a:spLocks noGrp="1"/>
          </p:cNvSpPr>
          <p:nvPr>
            <p:ph type="ftr" sz="quarter" idx="11"/>
          </p:nvPr>
        </p:nvSpPr>
        <p:spPr/>
        <p:txBody>
          <a:bodyPr/>
          <a:lstStyle/>
          <a:p>
            <a:r>
              <a:rPr lang="en-US"/>
              <a:t>Md. Manirujjaman</a:t>
            </a:r>
          </a:p>
        </p:txBody>
      </p:sp>
      <p:pic>
        <p:nvPicPr>
          <p:cNvPr id="5" name="Picture 2">
            <a:extLst>
              <a:ext uri="{FF2B5EF4-FFF2-40B4-BE49-F238E27FC236}">
                <a16:creationId xmlns:a16="http://schemas.microsoft.com/office/drawing/2014/main" id="{50029C06-B31B-9800-C71F-60FF10D99D03}"/>
              </a:ext>
            </a:extLst>
          </p:cNvPr>
          <p:cNvPicPr>
            <a:picLocks noChangeAspect="1"/>
          </p:cNvPicPr>
          <p:nvPr/>
        </p:nvPicPr>
        <p:blipFill>
          <a:blip r:embed="rId2"/>
          <a:srcRect b="3755"/>
          <a:stretch>
            <a:fillRect/>
          </a:stretch>
        </p:blipFill>
        <p:spPr>
          <a:xfrm>
            <a:off x="0" y="1"/>
            <a:ext cx="12192000" cy="6197600"/>
          </a:xfrm>
          <a:prstGeom prst="rect">
            <a:avLst/>
          </a:prstGeom>
        </p:spPr>
      </p:pic>
    </p:spTree>
    <p:extLst>
      <p:ext uri="{BB962C8B-B14F-4D97-AF65-F5344CB8AC3E}">
        <p14:creationId xmlns:p14="http://schemas.microsoft.com/office/powerpoint/2010/main" val="2121074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579120" y="571149"/>
            <a:ext cx="10515600" cy="1036104"/>
          </a:xfrm>
        </p:spPr>
        <p:txBody>
          <a:bodyPr/>
          <a:lstStyle/>
          <a:p>
            <a:r>
              <a:rPr lang="en-US" dirty="0"/>
              <a:t>System Concept</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448321" y="1730757"/>
            <a:ext cx="10882777" cy="4289043"/>
          </a:xfrm>
        </p:spPr>
        <p:txBody>
          <a:bodyPr>
            <a:normAutofit/>
          </a:bodyPr>
          <a:lstStyle/>
          <a:p>
            <a:pPr algn="just">
              <a:lnSpc>
                <a:spcPct val="110000"/>
              </a:lnSpc>
            </a:pPr>
            <a:r>
              <a:rPr lang="en-US" sz="2800" dirty="0">
                <a:latin typeface="Arial" panose="020B0604020202020204" pitchFamily="34" charset="0"/>
                <a:cs typeface="Arial" panose="020B0604020202020204" pitchFamily="34" charset="0"/>
              </a:rPr>
              <a:t>A system –</a:t>
            </a:r>
            <a:endParaRPr lang="en-US" sz="2400" dirty="0">
              <a:latin typeface="Arial" panose="020B0604020202020204" pitchFamily="34" charset="0"/>
              <a:cs typeface="Arial" panose="020B0604020202020204" pitchFamily="34" charset="0"/>
            </a:endParaRPr>
          </a:p>
          <a:p>
            <a:pPr lvl="1" algn="just">
              <a:lnSpc>
                <a:spcPct val="110000"/>
              </a:lnSpc>
            </a:pPr>
            <a:r>
              <a:rPr lang="en-US" sz="2400" dirty="0">
                <a:latin typeface="Arial" panose="020B0604020202020204" pitchFamily="34" charset="0"/>
                <a:cs typeface="Arial" panose="020B0604020202020204" pitchFamily="34" charset="0"/>
              </a:rPr>
              <a:t>A way of thinking about organizations and their problems. </a:t>
            </a:r>
          </a:p>
          <a:p>
            <a:pPr lvl="1" algn="just">
              <a:lnSpc>
                <a:spcPct val="110000"/>
              </a:lnSpc>
            </a:pPr>
            <a:r>
              <a:rPr lang="en-US" sz="2400" dirty="0">
                <a:latin typeface="Arial" panose="020B0604020202020204" pitchFamily="34" charset="0"/>
                <a:cs typeface="Arial" panose="020B0604020202020204" pitchFamily="34" charset="0"/>
              </a:rPr>
              <a:t>Involves a set of techniques that helps in solving problems.</a:t>
            </a:r>
          </a:p>
          <a:p>
            <a:pPr lvl="1" algn="just">
              <a:lnSpc>
                <a:spcPct val="110000"/>
              </a:lnSpc>
            </a:pPr>
            <a:r>
              <a:rPr lang="en-US" sz="2400" dirty="0">
                <a:latin typeface="Arial" panose="020B0604020202020204" pitchFamily="34" charset="0"/>
                <a:cs typeface="Arial" panose="020B0604020202020204" pitchFamily="34" charset="0"/>
              </a:rPr>
              <a:t>An organized relationship among functioning units.</a:t>
            </a:r>
          </a:p>
          <a:p>
            <a:pPr lvl="1" algn="just">
              <a:lnSpc>
                <a:spcPct val="110000"/>
              </a:lnSpc>
            </a:pPr>
            <a:r>
              <a:rPr lang="en-US" sz="2400" dirty="0">
                <a:latin typeface="Arial" panose="020B0604020202020204" pitchFamily="34" charset="0"/>
                <a:cs typeface="Arial" panose="020B0604020202020204" pitchFamily="34" charset="0"/>
              </a:rPr>
              <a:t>An orderly grouping of individual components linked together to achieve specific objective/s.</a:t>
            </a:r>
          </a:p>
          <a:p>
            <a:pPr lvl="1" algn="just">
              <a:lnSpc>
                <a:spcPct val="110000"/>
              </a:lnSpc>
            </a:pPr>
            <a:r>
              <a:rPr lang="en-US" sz="2400" dirty="0">
                <a:latin typeface="Arial" panose="020B0604020202020204" pitchFamily="34" charset="0"/>
                <a:cs typeface="Arial" panose="020B0604020202020204" pitchFamily="34" charset="0"/>
              </a:rPr>
              <a:t>Each component is part of the total system and has to do its share of work for the system to achieve the intended goal.</a:t>
            </a:r>
          </a:p>
          <a:p>
            <a:pPr lvl="1" algn="just">
              <a:lnSpc>
                <a:spcPct val="110000"/>
              </a:lnSpc>
            </a:pPr>
            <a:r>
              <a:rPr lang="en-US" sz="2400" dirty="0">
                <a:latin typeface="Arial" panose="020B0604020202020204" pitchFamily="34" charset="0"/>
                <a:cs typeface="Arial" panose="020B0604020202020204" pitchFamily="34" charset="0"/>
              </a:rPr>
              <a:t>Components may refer to physical parts, managerial steps, etc.</a:t>
            </a:r>
          </a:p>
        </p:txBody>
      </p:sp>
      <p:sp>
        <p:nvSpPr>
          <p:cNvPr id="3" name="Date Placeholder 2">
            <a:extLst>
              <a:ext uri="{FF2B5EF4-FFF2-40B4-BE49-F238E27FC236}">
                <a16:creationId xmlns:a16="http://schemas.microsoft.com/office/drawing/2014/main" id="{94FC007D-0E21-FA89-6F8D-8AD0C4C510CD}"/>
              </a:ext>
            </a:extLst>
          </p:cNvPr>
          <p:cNvSpPr>
            <a:spLocks noGrp="1"/>
          </p:cNvSpPr>
          <p:nvPr>
            <p:ph type="dt" sz="half" idx="10"/>
          </p:nvPr>
        </p:nvSpPr>
        <p:spPr/>
        <p:txBody>
          <a:bodyPr/>
          <a:lstStyle/>
          <a:p>
            <a:fld id="{6CB16AA5-F5D2-4C09-807C-670F1AEAB21D}"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726371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423530" y="539252"/>
            <a:ext cx="10515600" cy="1036104"/>
          </a:xfrm>
        </p:spPr>
        <p:txBody>
          <a:bodyPr/>
          <a:lstStyle/>
          <a:p>
            <a:r>
              <a:rPr lang="en-US" dirty="0"/>
              <a:t>System Concept</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711459" y="1753469"/>
            <a:ext cx="10769082" cy="3651651"/>
          </a:xfrm>
        </p:spPr>
        <p:txBody>
          <a:bodyPr>
            <a:noAutofit/>
          </a:bodyPr>
          <a:lstStyle/>
          <a:p>
            <a:pPr marL="0" indent="0">
              <a:lnSpc>
                <a:spcPct val="150000"/>
              </a:lnSpc>
              <a:buNone/>
            </a:pPr>
            <a:r>
              <a:rPr lang="en-US" sz="2400" dirty="0">
                <a:latin typeface="Arial" panose="020B0604020202020204" pitchFamily="34" charset="0"/>
                <a:cs typeface="Arial" panose="020B0604020202020204" pitchFamily="34" charset="0"/>
              </a:rPr>
              <a:t>Therefore, The study of systems concepts has three basic implications –</a:t>
            </a:r>
          </a:p>
          <a:p>
            <a:pPr lvl="1">
              <a:lnSpc>
                <a:spcPct val="150000"/>
              </a:lnSpc>
            </a:pPr>
            <a:r>
              <a:rPr lang="en-US" sz="2400" dirty="0">
                <a:latin typeface="Arial" panose="020B0604020202020204" pitchFamily="34" charset="0"/>
                <a:cs typeface="Arial" panose="020B0604020202020204" pitchFamily="34" charset="0"/>
              </a:rPr>
              <a:t>A system must be designed to achieve a predetermined objective</a:t>
            </a:r>
          </a:p>
          <a:p>
            <a:pPr lvl="1">
              <a:lnSpc>
                <a:spcPct val="150000"/>
              </a:lnSpc>
            </a:pPr>
            <a:r>
              <a:rPr lang="en-US" sz="2400" dirty="0">
                <a:latin typeface="Arial" panose="020B0604020202020204" pitchFamily="34" charset="0"/>
                <a:cs typeface="Arial" panose="020B0604020202020204" pitchFamily="34" charset="0"/>
              </a:rPr>
              <a:t>Interrelationships and interdependence must exist among the components.</a:t>
            </a:r>
          </a:p>
          <a:p>
            <a:pPr lvl="1">
              <a:lnSpc>
                <a:spcPct val="150000"/>
              </a:lnSpc>
            </a:pPr>
            <a:r>
              <a:rPr lang="en-US" sz="2400" dirty="0">
                <a:latin typeface="Arial" panose="020B0604020202020204" pitchFamily="34" charset="0"/>
                <a:cs typeface="Arial" panose="020B0604020202020204" pitchFamily="34" charset="0"/>
              </a:rPr>
              <a:t>The objectives of the organization as a whole have a higher priority than the objectives of its subsystems.</a:t>
            </a:r>
          </a:p>
        </p:txBody>
      </p:sp>
      <p:sp>
        <p:nvSpPr>
          <p:cNvPr id="3" name="Date Placeholder 2">
            <a:extLst>
              <a:ext uri="{FF2B5EF4-FFF2-40B4-BE49-F238E27FC236}">
                <a16:creationId xmlns:a16="http://schemas.microsoft.com/office/drawing/2014/main" id="{FC776D8C-62A1-F1C9-4320-E54FFC08B389}"/>
              </a:ext>
            </a:extLst>
          </p:cNvPr>
          <p:cNvSpPr>
            <a:spLocks noGrp="1"/>
          </p:cNvSpPr>
          <p:nvPr>
            <p:ph type="dt" sz="half" idx="10"/>
          </p:nvPr>
        </p:nvSpPr>
        <p:spPr/>
        <p:txBody>
          <a:bodyPr/>
          <a:lstStyle/>
          <a:p>
            <a:fld id="{2961287D-4C42-4378-BE4C-015EE8246EDC}"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1165099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72183" y="-86415"/>
            <a:ext cx="10515600" cy="1036104"/>
          </a:xfrm>
        </p:spPr>
        <p:txBody>
          <a:bodyPr/>
          <a:lstStyle/>
          <a:p>
            <a:r>
              <a:rPr lang="en-US" dirty="0">
                <a:solidFill>
                  <a:srgbClr val="FF0000"/>
                </a:solidFill>
              </a:rPr>
              <a:t>Characteristics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72183" y="863725"/>
            <a:ext cx="11697314" cy="4447093"/>
          </a:xfrm>
        </p:spPr>
        <p:txBody>
          <a:bodyPr>
            <a:normAutofit/>
          </a:bodyPr>
          <a:lstStyle/>
          <a:p>
            <a:pPr marL="0" indent="0">
              <a:buNone/>
            </a:pPr>
            <a:r>
              <a:rPr lang="en-US" sz="2400" dirty="0">
                <a:latin typeface="Arial" panose="020B0604020202020204" pitchFamily="34" charset="0"/>
                <a:cs typeface="Arial" panose="020B0604020202020204" pitchFamily="34" charset="0"/>
              </a:rPr>
              <a:t>For a system to function, its components cannot exist in isolation. They must be aligned.</a:t>
            </a:r>
            <a:endParaRPr lang="en-US" dirty="0">
              <a:latin typeface="Arial" panose="020B0604020202020204" pitchFamily="34" charset="0"/>
              <a:cs typeface="Arial" panose="020B0604020202020204" pitchFamily="34" charset="0"/>
            </a:endParaRPr>
          </a:p>
          <a:p>
            <a:pPr lvl="1"/>
            <a:r>
              <a:rPr lang="en-US" sz="2400" dirty="0">
                <a:latin typeface="Arial" panose="020B0604020202020204" pitchFamily="34" charset="0"/>
                <a:cs typeface="Arial" panose="020B0604020202020204" pitchFamily="34" charset="0"/>
              </a:rPr>
              <a:t>Organization</a:t>
            </a:r>
          </a:p>
          <a:p>
            <a:pPr lvl="1"/>
            <a:r>
              <a:rPr lang="en-US" sz="2400" dirty="0">
                <a:latin typeface="Arial" panose="020B0604020202020204" pitchFamily="34" charset="0"/>
                <a:cs typeface="Arial" panose="020B0604020202020204" pitchFamily="34" charset="0"/>
              </a:rPr>
              <a:t>Interaction</a:t>
            </a:r>
          </a:p>
          <a:p>
            <a:pPr lvl="1"/>
            <a:r>
              <a:rPr lang="en-US" sz="2400" dirty="0">
                <a:latin typeface="Arial" panose="020B0604020202020204" pitchFamily="34" charset="0"/>
                <a:cs typeface="Arial" panose="020B0604020202020204" pitchFamily="34" charset="0"/>
              </a:rPr>
              <a:t>Interdependence</a:t>
            </a:r>
          </a:p>
          <a:p>
            <a:pPr lvl="1"/>
            <a:r>
              <a:rPr lang="en-US" sz="2400" dirty="0">
                <a:latin typeface="Arial" panose="020B0604020202020204" pitchFamily="34" charset="0"/>
                <a:cs typeface="Arial" panose="020B0604020202020204" pitchFamily="34" charset="0"/>
              </a:rPr>
              <a:t>Integrations</a:t>
            </a:r>
          </a:p>
          <a:p>
            <a:pPr lvl="1"/>
            <a:r>
              <a:rPr lang="en-US" sz="2400" dirty="0">
                <a:latin typeface="Arial" panose="020B0604020202020204" pitchFamily="34" charset="0"/>
                <a:cs typeface="Arial" panose="020B0604020202020204" pitchFamily="34" charset="0"/>
              </a:rPr>
              <a:t>Central objective</a:t>
            </a:r>
          </a:p>
        </p:txBody>
      </p:sp>
      <p:sp>
        <p:nvSpPr>
          <p:cNvPr id="3" name="Date Placeholder 2">
            <a:extLst>
              <a:ext uri="{FF2B5EF4-FFF2-40B4-BE49-F238E27FC236}">
                <a16:creationId xmlns:a16="http://schemas.microsoft.com/office/drawing/2014/main" id="{B43336A6-7CBA-5735-EE5B-765D31DFFA8A}"/>
              </a:ext>
            </a:extLst>
          </p:cNvPr>
          <p:cNvSpPr>
            <a:spLocks noGrp="1"/>
          </p:cNvSpPr>
          <p:nvPr>
            <p:ph type="dt" sz="half" idx="10"/>
          </p:nvPr>
        </p:nvSpPr>
        <p:spPr/>
        <p:txBody>
          <a:bodyPr/>
          <a:lstStyle/>
          <a:p>
            <a:fld id="{79B59B5F-2779-4268-BC21-E6D39F0135FE}"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8" name="Picture 7">
            <a:extLst>
              <a:ext uri="{FF2B5EF4-FFF2-40B4-BE49-F238E27FC236}">
                <a16:creationId xmlns:a16="http://schemas.microsoft.com/office/drawing/2014/main" id="{13D03A2A-13F1-6900-2BA0-C72EDBB96585}"/>
              </a:ext>
            </a:extLst>
          </p:cNvPr>
          <p:cNvPicPr>
            <a:picLocks noChangeAspect="1"/>
          </p:cNvPicPr>
          <p:nvPr/>
        </p:nvPicPr>
        <p:blipFill>
          <a:blip r:embed="rId3"/>
          <a:stretch>
            <a:fillRect/>
          </a:stretch>
        </p:blipFill>
        <p:spPr>
          <a:xfrm>
            <a:off x="3112390" y="1281527"/>
            <a:ext cx="8657107" cy="4824311"/>
          </a:xfrm>
          <a:prstGeom prst="rect">
            <a:avLst/>
          </a:prstGeom>
        </p:spPr>
      </p:pic>
    </p:spTree>
    <p:extLst>
      <p:ext uri="{BB962C8B-B14F-4D97-AF65-F5344CB8AC3E}">
        <p14:creationId xmlns:p14="http://schemas.microsoft.com/office/powerpoint/2010/main" val="3925623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316496" y="303881"/>
            <a:ext cx="10515600" cy="1036104"/>
          </a:xfrm>
        </p:spPr>
        <p:txBody>
          <a:bodyPr/>
          <a:lstStyle/>
          <a:p>
            <a:r>
              <a:rPr lang="en-US" dirty="0"/>
              <a:t>Characteristics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106074" y="1894461"/>
            <a:ext cx="4658966" cy="1624916"/>
          </a:xfrm>
        </p:spPr>
        <p:txBody>
          <a:bodyPr>
            <a:noAutofit/>
          </a:bodyPr>
          <a:lstStyle/>
          <a:p>
            <a:pPr>
              <a:buFont typeface="Wingdings" panose="05000000000000000000" pitchFamily="2" charset="2"/>
              <a:buChar char="Ø"/>
            </a:pPr>
            <a:r>
              <a:rPr lang="en-US" sz="2400" b="1" dirty="0">
                <a:latin typeface="Arial" panose="020B0604020202020204" pitchFamily="34" charset="0"/>
                <a:cs typeface="Arial" panose="020B0604020202020204" pitchFamily="34" charset="0"/>
              </a:rPr>
              <a:t>Organization</a:t>
            </a:r>
          </a:p>
          <a:p>
            <a:pPr lvl="1"/>
            <a:r>
              <a:rPr lang="en-US" sz="2400" dirty="0">
                <a:latin typeface="Arial" panose="020B0604020202020204" pitchFamily="34" charset="0"/>
                <a:cs typeface="Arial" panose="020B0604020202020204" pitchFamily="34" charset="0"/>
              </a:rPr>
              <a:t>Implies structure and order.</a:t>
            </a:r>
          </a:p>
          <a:p>
            <a:pPr lvl="1"/>
            <a:r>
              <a:rPr lang="en-US" sz="2400" dirty="0">
                <a:latin typeface="Arial" panose="020B0604020202020204" pitchFamily="34" charset="0"/>
                <a:cs typeface="Arial" panose="020B0604020202020204" pitchFamily="34" charset="0"/>
              </a:rPr>
              <a:t>The arrangement of components that helps to achieve objectives.</a:t>
            </a:r>
          </a:p>
          <a:p>
            <a:pPr lvl="1"/>
            <a:endParaRPr lang="en-US" sz="2400" dirty="0">
              <a:latin typeface="Arial" panose="020B0604020202020204" pitchFamily="34" charset="0"/>
              <a:cs typeface="Arial" panose="020B0604020202020204" pitchFamily="34" charset="0"/>
            </a:endParaRPr>
          </a:p>
          <a:p>
            <a:pPr lvl="1"/>
            <a:endParaRPr lang="en-US" sz="2400"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746DC6CF-1947-65F7-350B-FDF6B88387E1}"/>
              </a:ext>
            </a:extLst>
          </p:cNvPr>
          <p:cNvSpPr>
            <a:spLocks noGrp="1"/>
          </p:cNvSpPr>
          <p:nvPr>
            <p:ph type="dt" sz="half" idx="10"/>
          </p:nvPr>
        </p:nvSpPr>
        <p:spPr/>
        <p:txBody>
          <a:bodyPr/>
          <a:lstStyle/>
          <a:p>
            <a:fld id="{EA1882F3-2C9E-4927-A5E2-B708E9DB41F3}"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8" name="Picture 7">
            <a:extLst>
              <a:ext uri="{FF2B5EF4-FFF2-40B4-BE49-F238E27FC236}">
                <a16:creationId xmlns:a16="http://schemas.microsoft.com/office/drawing/2014/main" id="{FCE5A209-FBA2-2ECA-6F8B-4A1A9B8C8F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2838" y="1543404"/>
            <a:ext cx="7669161" cy="4593236"/>
          </a:xfrm>
          <a:prstGeom prst="rect">
            <a:avLst/>
          </a:prstGeom>
        </p:spPr>
      </p:pic>
    </p:spTree>
    <p:extLst>
      <p:ext uri="{BB962C8B-B14F-4D97-AF65-F5344CB8AC3E}">
        <p14:creationId xmlns:p14="http://schemas.microsoft.com/office/powerpoint/2010/main" val="1390596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Characteristics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054360"/>
            <a:ext cx="10450286" cy="4739950"/>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Interaction</a:t>
            </a:r>
          </a:p>
          <a:p>
            <a:pPr lvl="1"/>
            <a:r>
              <a:rPr lang="en-US" dirty="0">
                <a:latin typeface="Arial" panose="020B0604020202020204" pitchFamily="34" charset="0"/>
                <a:cs typeface="Arial" panose="020B0604020202020204" pitchFamily="34" charset="0"/>
              </a:rPr>
              <a:t>How each component functions with other components.</a:t>
            </a:r>
          </a:p>
          <a:p>
            <a:pPr lvl="1"/>
            <a:r>
              <a:rPr lang="en-US" dirty="0">
                <a:latin typeface="Arial" panose="020B0604020202020204" pitchFamily="34" charset="0"/>
                <a:cs typeface="Arial" panose="020B0604020202020204" pitchFamily="34" charset="0"/>
              </a:rPr>
              <a:t>Communication and exchange of information, energy, or resources between the components of a system.</a:t>
            </a:r>
          </a:p>
          <a:p>
            <a:pPr lvl="1"/>
            <a:r>
              <a:rPr lang="en-US" dirty="0">
                <a:latin typeface="Arial" panose="020B0604020202020204" pitchFamily="34" charset="0"/>
                <a:cs typeface="Arial" panose="020B0604020202020204" pitchFamily="34" charset="0"/>
              </a:rPr>
              <a:t>Essential for coordination and functionality.	</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Interdependence</a:t>
            </a:r>
          </a:p>
          <a:p>
            <a:pPr lvl="1"/>
            <a:r>
              <a:rPr lang="en-US" dirty="0">
                <a:latin typeface="Arial" panose="020B0604020202020204" pitchFamily="34" charset="0"/>
                <a:cs typeface="Arial" panose="020B0604020202020204" pitchFamily="34" charset="0"/>
              </a:rPr>
              <a:t>Dependence of each subsystem or component on others.</a:t>
            </a:r>
          </a:p>
          <a:p>
            <a:pPr lvl="1"/>
            <a:r>
              <a:rPr lang="en-US" dirty="0">
                <a:latin typeface="Arial" panose="020B0604020202020204" pitchFamily="34" charset="0"/>
                <a:cs typeface="Arial" panose="020B0604020202020204" pitchFamily="34" charset="0"/>
              </a:rPr>
              <a:t>Certain subsystem may need the outputs of other subsystem as input.</a:t>
            </a:r>
          </a:p>
          <a:p>
            <a:pPr lvl="1"/>
            <a:r>
              <a:rPr lang="en-US" dirty="0">
                <a:latin typeface="Arial" panose="020B0604020202020204" pitchFamily="34" charset="0"/>
                <a:cs typeface="Arial" panose="020B0604020202020204" pitchFamily="34" charset="0"/>
              </a:rPr>
              <a:t>Ensures the contribution of each subsystem to achieve the system objectives.</a:t>
            </a:r>
          </a:p>
          <a:p>
            <a:pPr lvl="1"/>
            <a:endParaRPr lang="en-US" dirty="0"/>
          </a:p>
        </p:txBody>
      </p:sp>
      <p:sp>
        <p:nvSpPr>
          <p:cNvPr id="3" name="Date Placeholder 2">
            <a:extLst>
              <a:ext uri="{FF2B5EF4-FFF2-40B4-BE49-F238E27FC236}">
                <a16:creationId xmlns:a16="http://schemas.microsoft.com/office/drawing/2014/main" id="{D1F7760E-3971-2BB5-76BD-AFCD966B8A85}"/>
              </a:ext>
            </a:extLst>
          </p:cNvPr>
          <p:cNvSpPr>
            <a:spLocks noGrp="1"/>
          </p:cNvSpPr>
          <p:nvPr>
            <p:ph type="dt" sz="half" idx="10"/>
          </p:nvPr>
        </p:nvSpPr>
        <p:spPr/>
        <p:txBody>
          <a:bodyPr/>
          <a:lstStyle/>
          <a:p>
            <a:fld id="{C52D6938-EEB5-4A3E-83BF-8A089AD5191B}"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659493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Characteristics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054360"/>
            <a:ext cx="10450286" cy="4739950"/>
          </a:xfrm>
        </p:spPr>
        <p:txBody>
          <a:bodyPr>
            <a:normAutofit/>
          </a:bodyPr>
          <a:lstStyle/>
          <a:p>
            <a:r>
              <a:rPr lang="en-US" b="1" dirty="0">
                <a:latin typeface="Arial" panose="020B0604020202020204" pitchFamily="34" charset="0"/>
                <a:cs typeface="Arial" panose="020B0604020202020204" pitchFamily="34" charset="0"/>
              </a:rPr>
              <a:t>Integration</a:t>
            </a:r>
          </a:p>
          <a:p>
            <a:pPr lvl="1"/>
            <a:r>
              <a:rPr lang="en-US" dirty="0">
                <a:latin typeface="Arial" panose="020B0604020202020204" pitchFamily="34" charset="0"/>
                <a:cs typeface="Arial" panose="020B0604020202020204" pitchFamily="34" charset="0"/>
              </a:rPr>
              <a:t>Concerned with how a system is tied together.</a:t>
            </a:r>
          </a:p>
          <a:p>
            <a:pPr lvl="1"/>
            <a:r>
              <a:rPr lang="en-US" dirty="0">
                <a:latin typeface="Arial" panose="020B0604020202020204" pitchFamily="34" charset="0"/>
                <a:cs typeface="Arial" panose="020B0604020202020204" pitchFamily="34" charset="0"/>
              </a:rPr>
              <a:t>The harmonious functioning of all components as a unified whole.</a:t>
            </a:r>
          </a:p>
          <a:p>
            <a:pPr lvl="1"/>
            <a:r>
              <a:rPr lang="en-US" dirty="0">
                <a:latin typeface="Arial" panose="020B0604020202020204" pitchFamily="34" charset="0"/>
                <a:cs typeface="Arial" panose="020B0604020202020204" pitchFamily="34" charset="0"/>
              </a:rPr>
              <a:t>All the parts of the system need to work in sync even if their jobs are unique.</a:t>
            </a:r>
          </a:p>
          <a:p>
            <a:pPr lvl="1"/>
            <a:r>
              <a:rPr lang="en-US" dirty="0">
                <a:latin typeface="Arial" panose="020B0604020202020204" pitchFamily="34" charset="0"/>
                <a:cs typeface="Arial" panose="020B0604020202020204" pitchFamily="34" charset="0"/>
              </a:rPr>
              <a:t>Proper integration maximizes the system's output and effectiveness.</a:t>
            </a:r>
          </a:p>
          <a:p>
            <a:pPr lvl="1"/>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Central Objective</a:t>
            </a:r>
          </a:p>
          <a:p>
            <a:pPr lvl="1"/>
            <a:r>
              <a:rPr lang="en-US" dirty="0">
                <a:latin typeface="Arial" panose="020B0604020202020204" pitchFamily="34" charset="0"/>
                <a:cs typeface="Arial" panose="020B0604020202020204" pitchFamily="34" charset="0"/>
              </a:rPr>
              <a:t>Guides the functioning and alignment of all components.</a:t>
            </a:r>
          </a:p>
          <a:p>
            <a:pPr lvl="1"/>
            <a:r>
              <a:rPr lang="en-US" dirty="0">
                <a:latin typeface="Arial" panose="020B0604020202020204" pitchFamily="34" charset="0"/>
                <a:cs typeface="Arial" panose="020B0604020202020204" pitchFamily="34" charset="0"/>
              </a:rPr>
              <a:t>It can be real or stated.</a:t>
            </a:r>
          </a:p>
          <a:p>
            <a:pPr lvl="2"/>
            <a:r>
              <a:rPr lang="en-US" dirty="0">
                <a:latin typeface="Arial" panose="020B0604020202020204" pitchFamily="34" charset="0"/>
                <a:cs typeface="Arial" panose="020B0604020202020204" pitchFamily="34" charset="0"/>
              </a:rPr>
              <a:t>A company might state that its primary objective is to "serve customers," but in reality, its operations might prioritize maximizing profit.</a:t>
            </a:r>
          </a:p>
        </p:txBody>
      </p:sp>
      <p:sp>
        <p:nvSpPr>
          <p:cNvPr id="3" name="Date Placeholder 2">
            <a:extLst>
              <a:ext uri="{FF2B5EF4-FFF2-40B4-BE49-F238E27FC236}">
                <a16:creationId xmlns:a16="http://schemas.microsoft.com/office/drawing/2014/main" id="{A5DD69F6-FAA0-8E29-22A0-547F3F423C00}"/>
              </a:ext>
            </a:extLst>
          </p:cNvPr>
          <p:cNvSpPr>
            <a:spLocks noGrp="1"/>
          </p:cNvSpPr>
          <p:nvPr>
            <p:ph type="dt" sz="half" idx="10"/>
          </p:nvPr>
        </p:nvSpPr>
        <p:spPr/>
        <p:txBody>
          <a:bodyPr/>
          <a:lstStyle/>
          <a:p>
            <a:fld id="{E87C32E1-9BD6-4E5A-A9A9-4048B1A80D84}"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012462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solidFill>
                  <a:srgbClr val="FF0000"/>
                </a:solidFill>
              </a:rPr>
              <a:t>Elements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054359"/>
            <a:ext cx="10450286" cy="5029199"/>
          </a:xfrm>
        </p:spPr>
        <p:txBody>
          <a:bodyPr>
            <a:normAutofit/>
          </a:bodyPr>
          <a:lstStyle/>
          <a:p>
            <a:pPr marL="0" indent="0">
              <a:buNone/>
            </a:pPr>
            <a:endParaRPr lang="en-US" dirty="0"/>
          </a:p>
          <a:p>
            <a:pPr>
              <a:lnSpc>
                <a:spcPct val="150000"/>
              </a:lnSpc>
            </a:pPr>
            <a:r>
              <a:rPr lang="en-US" dirty="0">
                <a:latin typeface="Arial" panose="020B0604020202020204" pitchFamily="34" charset="0"/>
                <a:cs typeface="Arial" panose="020B0604020202020204" pitchFamily="34" charset="0"/>
              </a:rPr>
              <a:t>Inputs and outputs</a:t>
            </a:r>
          </a:p>
          <a:p>
            <a:pPr>
              <a:lnSpc>
                <a:spcPct val="150000"/>
              </a:lnSpc>
            </a:pPr>
            <a:r>
              <a:rPr lang="en-US" dirty="0">
                <a:latin typeface="Arial" panose="020B0604020202020204" pitchFamily="34" charset="0"/>
                <a:cs typeface="Arial" panose="020B0604020202020204" pitchFamily="34" charset="0"/>
              </a:rPr>
              <a:t>Processors</a:t>
            </a:r>
          </a:p>
          <a:p>
            <a:pPr>
              <a:lnSpc>
                <a:spcPct val="150000"/>
              </a:lnSpc>
            </a:pPr>
            <a:r>
              <a:rPr lang="en-US" dirty="0">
                <a:latin typeface="Arial" panose="020B0604020202020204" pitchFamily="34" charset="0"/>
                <a:cs typeface="Arial" panose="020B0604020202020204" pitchFamily="34" charset="0"/>
              </a:rPr>
              <a:t>Control</a:t>
            </a:r>
          </a:p>
          <a:p>
            <a:pPr>
              <a:lnSpc>
                <a:spcPct val="150000"/>
              </a:lnSpc>
            </a:pPr>
            <a:r>
              <a:rPr lang="en-US" dirty="0">
                <a:latin typeface="Arial" panose="020B0604020202020204" pitchFamily="34" charset="0"/>
                <a:cs typeface="Arial" panose="020B0604020202020204" pitchFamily="34" charset="0"/>
              </a:rPr>
              <a:t>Feedback</a:t>
            </a:r>
          </a:p>
          <a:p>
            <a:pPr>
              <a:lnSpc>
                <a:spcPct val="150000"/>
              </a:lnSpc>
            </a:pPr>
            <a:r>
              <a:rPr lang="en-US" dirty="0">
                <a:latin typeface="Arial" panose="020B0604020202020204" pitchFamily="34" charset="0"/>
                <a:cs typeface="Arial" panose="020B0604020202020204" pitchFamily="34" charset="0"/>
              </a:rPr>
              <a:t>Environment</a:t>
            </a:r>
          </a:p>
          <a:p>
            <a:pPr>
              <a:lnSpc>
                <a:spcPct val="150000"/>
              </a:lnSpc>
            </a:pPr>
            <a:r>
              <a:rPr lang="en-US" dirty="0">
                <a:latin typeface="Arial" panose="020B0604020202020204" pitchFamily="34" charset="0"/>
                <a:cs typeface="Arial" panose="020B0604020202020204" pitchFamily="34" charset="0"/>
              </a:rPr>
              <a:t>Boundaries and interface</a:t>
            </a:r>
          </a:p>
        </p:txBody>
      </p:sp>
      <p:sp>
        <p:nvSpPr>
          <p:cNvPr id="3" name="Date Placeholder 2">
            <a:extLst>
              <a:ext uri="{FF2B5EF4-FFF2-40B4-BE49-F238E27FC236}">
                <a16:creationId xmlns:a16="http://schemas.microsoft.com/office/drawing/2014/main" id="{BD96B5F5-0520-70F7-F351-6DFB7E9336CA}"/>
              </a:ext>
            </a:extLst>
          </p:cNvPr>
          <p:cNvSpPr>
            <a:spLocks noGrp="1"/>
          </p:cNvSpPr>
          <p:nvPr>
            <p:ph type="dt" sz="half" idx="10"/>
          </p:nvPr>
        </p:nvSpPr>
        <p:spPr/>
        <p:txBody>
          <a:bodyPr/>
          <a:lstStyle/>
          <a:p>
            <a:fld id="{354F5E9A-41B4-49F0-AE96-B9B1B4EB25B6}"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6" name="Picture 5">
            <a:extLst>
              <a:ext uri="{FF2B5EF4-FFF2-40B4-BE49-F238E27FC236}">
                <a16:creationId xmlns:a16="http://schemas.microsoft.com/office/drawing/2014/main" id="{D1327885-B478-E9F5-BC98-4D5D14848268}"/>
              </a:ext>
            </a:extLst>
          </p:cNvPr>
          <p:cNvPicPr>
            <a:picLocks noChangeAspect="1"/>
          </p:cNvPicPr>
          <p:nvPr/>
        </p:nvPicPr>
        <p:blipFill>
          <a:blip r:embed="rId3"/>
          <a:stretch>
            <a:fillRect/>
          </a:stretch>
        </p:blipFill>
        <p:spPr>
          <a:xfrm>
            <a:off x="3615242" y="1707664"/>
            <a:ext cx="8329382" cy="2917263"/>
          </a:xfrm>
          <a:prstGeom prst="rect">
            <a:avLst/>
          </a:prstGeom>
        </p:spPr>
      </p:pic>
    </p:spTree>
    <p:extLst>
      <p:ext uri="{BB962C8B-B14F-4D97-AF65-F5344CB8AC3E}">
        <p14:creationId xmlns:p14="http://schemas.microsoft.com/office/powerpoint/2010/main" val="4261152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4" y="1147667"/>
            <a:ext cx="10450286" cy="1658163"/>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Inputs:</a:t>
            </a:r>
          </a:p>
          <a:p>
            <a:r>
              <a:rPr lang="en-US" dirty="0">
                <a:latin typeface="Arial" panose="020B0604020202020204" pitchFamily="34" charset="0"/>
                <a:cs typeface="Arial" panose="020B0604020202020204" pitchFamily="34" charset="0"/>
              </a:rPr>
              <a:t>Input is the data, materials, or resources that enter a system so that the system can work on them.</a:t>
            </a:r>
          </a:p>
          <a:p>
            <a:r>
              <a:rPr lang="en-US" dirty="0">
                <a:latin typeface="Arial" panose="020B0604020202020204" pitchFamily="34" charset="0"/>
                <a:cs typeface="Arial" panose="020B0604020202020204" pitchFamily="34" charset="0"/>
              </a:rPr>
              <a:t>A system cannot produce useful results without receiving proper input.</a:t>
            </a:r>
          </a:p>
          <a:p>
            <a:pPr marL="0" indent="0">
              <a:buNone/>
            </a:pPr>
            <a:endParaRPr lang="en-US" dirty="0">
              <a:latin typeface="Arial" panose="020B0604020202020204" pitchFamily="34" charset="0"/>
              <a:cs typeface="Arial" panose="020B0604020202020204" pitchFamily="34" charset="0"/>
            </a:endParaRPr>
          </a:p>
          <a:p>
            <a:pPr marL="274320" lvl="1" indent="0">
              <a:buNone/>
            </a:pPr>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D1C951A5-2129-0CE8-A089-8BFB56FA0136}"/>
              </a:ext>
            </a:extLst>
          </p:cNvPr>
          <p:cNvSpPr>
            <a:spLocks noGrp="1"/>
          </p:cNvSpPr>
          <p:nvPr>
            <p:ph type="dt" sz="half" idx="10"/>
          </p:nvPr>
        </p:nvSpPr>
        <p:spPr/>
        <p:txBody>
          <a:bodyPr/>
          <a:lstStyle/>
          <a:p>
            <a:fld id="{B95100E1-88EA-4731-BAA0-2E9B08CDDC39}"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
        <p:nvSpPr>
          <p:cNvPr id="6" name="TextBox 5">
            <a:extLst>
              <a:ext uri="{FF2B5EF4-FFF2-40B4-BE49-F238E27FC236}">
                <a16:creationId xmlns:a16="http://schemas.microsoft.com/office/drawing/2014/main" id="{F1029834-D4D4-9481-A4F8-4FE86671DB67}"/>
              </a:ext>
            </a:extLst>
          </p:cNvPr>
          <p:cNvSpPr txBox="1"/>
          <p:nvPr/>
        </p:nvSpPr>
        <p:spPr>
          <a:xfrm>
            <a:off x="903514" y="3331581"/>
            <a:ext cx="3906481"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Student admission information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Course registration data</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Attendance records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Exam marks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Tuition fee information</a:t>
            </a:r>
          </a:p>
        </p:txBody>
      </p:sp>
      <p:sp>
        <p:nvSpPr>
          <p:cNvPr id="8" name="TextBox 7">
            <a:extLst>
              <a:ext uri="{FF2B5EF4-FFF2-40B4-BE49-F238E27FC236}">
                <a16:creationId xmlns:a16="http://schemas.microsoft.com/office/drawing/2014/main" id="{A0660ADC-5887-C09E-6228-68627AF057AF}"/>
              </a:ext>
            </a:extLst>
          </p:cNvPr>
          <p:cNvSpPr txBox="1"/>
          <p:nvPr/>
        </p:nvSpPr>
        <p:spPr>
          <a:xfrm>
            <a:off x="4917469" y="3331581"/>
            <a:ext cx="3046956" cy="2031325"/>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 account information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Deposit amount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Withdrawal request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Loan application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Transaction details</a:t>
            </a:r>
          </a:p>
        </p:txBody>
      </p:sp>
      <p:sp>
        <p:nvSpPr>
          <p:cNvPr id="11" name="TextBox 10">
            <a:extLst>
              <a:ext uri="{FF2B5EF4-FFF2-40B4-BE49-F238E27FC236}">
                <a16:creationId xmlns:a16="http://schemas.microsoft.com/office/drawing/2014/main" id="{4C340695-1B6A-8B1B-8C84-A49C0D8A1909}"/>
              </a:ext>
            </a:extLst>
          </p:cNvPr>
          <p:cNvSpPr txBox="1"/>
          <p:nvPr/>
        </p:nvSpPr>
        <p:spPr>
          <a:xfrm>
            <a:off x="8080248" y="3340976"/>
            <a:ext cx="3273552"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E-commerce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 order</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Product selection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Delivery address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Payment information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 search history</a:t>
            </a:r>
          </a:p>
        </p:txBody>
      </p:sp>
    </p:spTree>
    <p:extLst>
      <p:ext uri="{BB962C8B-B14F-4D97-AF65-F5344CB8AC3E}">
        <p14:creationId xmlns:p14="http://schemas.microsoft.com/office/powerpoint/2010/main" val="27395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E68C2-52F8-3C4E-AE42-3513507E6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FBE237-4D73-62F5-D371-3E4DD8C5BF1C}"/>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D7CF98C0-D026-6484-F761-18A6408A4911}"/>
              </a:ext>
            </a:extLst>
          </p:cNvPr>
          <p:cNvSpPr>
            <a:spLocks noGrp="1"/>
          </p:cNvSpPr>
          <p:nvPr>
            <p:ph idx="1"/>
          </p:nvPr>
        </p:nvSpPr>
        <p:spPr>
          <a:xfrm>
            <a:off x="903514" y="1147667"/>
            <a:ext cx="10450286" cy="1658163"/>
          </a:xfrm>
        </p:spPr>
        <p:txBody>
          <a:bodyPr>
            <a:normAutofit lnSpcReduction="10000"/>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Process / Processor:</a:t>
            </a:r>
          </a:p>
          <a:p>
            <a:r>
              <a:rPr lang="en-US" dirty="0">
                <a:latin typeface="Arial" panose="020B0604020202020204" pitchFamily="34" charset="0"/>
                <a:cs typeface="Arial" panose="020B0604020202020204" pitchFamily="34" charset="0"/>
              </a:rPr>
              <a:t>Processing means working on the input and converting it into useful information or results.</a:t>
            </a:r>
          </a:p>
          <a:p>
            <a:r>
              <a:rPr lang="en-US" dirty="0">
                <a:latin typeface="Arial" panose="020B0604020202020204" pitchFamily="34" charset="0"/>
                <a:cs typeface="Arial" panose="020B0604020202020204" pitchFamily="34" charset="0"/>
              </a:rPr>
              <a:t>The processor is the part of the system that performs this work. Processor provides actual transformation of input into output.</a:t>
            </a:r>
          </a:p>
          <a:p>
            <a:pPr marL="0" indent="0">
              <a:buNone/>
            </a:pPr>
            <a:endParaRPr lang="en-US" dirty="0">
              <a:latin typeface="Arial" panose="020B0604020202020204" pitchFamily="34" charset="0"/>
              <a:cs typeface="Arial" panose="020B0604020202020204" pitchFamily="34" charset="0"/>
            </a:endParaRPr>
          </a:p>
          <a:p>
            <a:pPr marL="274320" lvl="1" indent="0">
              <a:buNone/>
            </a:pPr>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00335C2A-F634-2EE4-A8A8-2306B5A6AC39}"/>
              </a:ext>
            </a:extLst>
          </p:cNvPr>
          <p:cNvSpPr>
            <a:spLocks noGrp="1"/>
          </p:cNvSpPr>
          <p:nvPr>
            <p:ph type="dt" sz="half" idx="10"/>
          </p:nvPr>
        </p:nvSpPr>
        <p:spPr/>
        <p:txBody>
          <a:bodyPr/>
          <a:lstStyle/>
          <a:p>
            <a:fld id="{B95100E1-88EA-4731-BAA0-2E9B08CDDC39}" type="datetime1">
              <a:rPr lang="en-US" smtClean="0"/>
              <a:t>10/14/2026</a:t>
            </a:fld>
            <a:endParaRPr lang="en-US"/>
          </a:p>
        </p:txBody>
      </p:sp>
      <p:sp>
        <p:nvSpPr>
          <p:cNvPr id="5" name="Footer Placeholder 4">
            <a:extLst>
              <a:ext uri="{FF2B5EF4-FFF2-40B4-BE49-F238E27FC236}">
                <a16:creationId xmlns:a16="http://schemas.microsoft.com/office/drawing/2014/main" id="{6B846065-359D-0CD4-03F9-24BACBB9E4E2}"/>
              </a:ext>
            </a:extLst>
          </p:cNvPr>
          <p:cNvSpPr>
            <a:spLocks noGrp="1"/>
          </p:cNvSpPr>
          <p:nvPr>
            <p:ph type="ftr" sz="quarter" idx="11"/>
          </p:nvPr>
        </p:nvSpPr>
        <p:spPr/>
        <p:txBody>
          <a:bodyPr/>
          <a:lstStyle/>
          <a:p>
            <a:r>
              <a:rPr lang="en-US"/>
              <a:t>Md. Manirujjaman</a:t>
            </a:r>
          </a:p>
        </p:txBody>
      </p:sp>
      <p:sp>
        <p:nvSpPr>
          <p:cNvPr id="7" name="TextBox 6">
            <a:extLst>
              <a:ext uri="{FF2B5EF4-FFF2-40B4-BE49-F238E27FC236}">
                <a16:creationId xmlns:a16="http://schemas.microsoft.com/office/drawing/2014/main" id="{06AA20FF-39C5-3F7B-E15C-FF761A05F325}"/>
              </a:ext>
            </a:extLst>
          </p:cNvPr>
          <p:cNvSpPr txBox="1"/>
          <p:nvPr/>
        </p:nvSpPr>
        <p:spPr>
          <a:xfrm>
            <a:off x="628807" y="3429000"/>
            <a:ext cx="4156136"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Calculate attendance percentage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Calculate GPA</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Check tuition fee status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Process course registration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Prepare examination results</a:t>
            </a:r>
          </a:p>
        </p:txBody>
      </p:sp>
      <p:sp>
        <p:nvSpPr>
          <p:cNvPr id="12" name="TextBox 11">
            <a:extLst>
              <a:ext uri="{FF2B5EF4-FFF2-40B4-BE49-F238E27FC236}">
                <a16:creationId xmlns:a16="http://schemas.microsoft.com/office/drawing/2014/main" id="{2082630C-EFAE-D6E1-984E-837FD764CB12}"/>
              </a:ext>
            </a:extLst>
          </p:cNvPr>
          <p:cNvSpPr txBox="1"/>
          <p:nvPr/>
        </p:nvSpPr>
        <p:spPr>
          <a:xfrm>
            <a:off x="4917468" y="3512063"/>
            <a:ext cx="3600231"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Check account balance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Calculate loan interest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Verify transaction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Transfer money between accounts</a:t>
            </a:r>
          </a:p>
        </p:txBody>
      </p:sp>
      <p:sp>
        <p:nvSpPr>
          <p:cNvPr id="14" name="TextBox 13">
            <a:extLst>
              <a:ext uri="{FF2B5EF4-FFF2-40B4-BE49-F238E27FC236}">
                <a16:creationId xmlns:a16="http://schemas.microsoft.com/office/drawing/2014/main" id="{A631AB8A-0E3B-F7C1-FE6D-08AF0C3ADC8B}"/>
              </a:ext>
            </a:extLst>
          </p:cNvPr>
          <p:cNvSpPr txBox="1"/>
          <p:nvPr/>
        </p:nvSpPr>
        <p:spPr>
          <a:xfrm>
            <a:off x="8306844" y="3512063"/>
            <a:ext cx="3492674"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E-commerce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Calculate total order price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Check product availability</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Calculate delivery charge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Process online payment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Recommend products</a:t>
            </a:r>
          </a:p>
        </p:txBody>
      </p:sp>
    </p:spTree>
    <p:extLst>
      <p:ext uri="{BB962C8B-B14F-4D97-AF65-F5344CB8AC3E}">
        <p14:creationId xmlns:p14="http://schemas.microsoft.com/office/powerpoint/2010/main" val="4084896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F59BC-7EBA-B711-12C4-5F326DEBB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75619-4F6C-0377-DD12-E236D0979311}"/>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62AC8EE5-854C-6AB1-330D-F46EB5B926F4}"/>
              </a:ext>
            </a:extLst>
          </p:cNvPr>
          <p:cNvSpPr>
            <a:spLocks noGrp="1"/>
          </p:cNvSpPr>
          <p:nvPr>
            <p:ph idx="1"/>
          </p:nvPr>
        </p:nvSpPr>
        <p:spPr>
          <a:xfrm>
            <a:off x="565311" y="1231673"/>
            <a:ext cx="10450286" cy="1658163"/>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Output:</a:t>
            </a:r>
          </a:p>
          <a:p>
            <a:r>
              <a:rPr lang="en-US" dirty="0">
                <a:latin typeface="Arial" panose="020B0604020202020204" pitchFamily="34" charset="0"/>
                <a:cs typeface="Arial" panose="020B0604020202020204" pitchFamily="34" charset="0"/>
              </a:rPr>
              <a:t>Output is the final information, result, or service produced by the system after processing the input.</a:t>
            </a:r>
          </a:p>
          <a:p>
            <a:pPr marL="274320" lvl="1" indent="0">
              <a:buNone/>
            </a:pPr>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80DA5688-F94C-EC1B-30F5-9F5606883F92}"/>
              </a:ext>
            </a:extLst>
          </p:cNvPr>
          <p:cNvSpPr>
            <a:spLocks noGrp="1"/>
          </p:cNvSpPr>
          <p:nvPr>
            <p:ph type="dt" sz="half" idx="10"/>
          </p:nvPr>
        </p:nvSpPr>
        <p:spPr/>
        <p:txBody>
          <a:bodyPr/>
          <a:lstStyle/>
          <a:p>
            <a:fld id="{B95100E1-88EA-4731-BAA0-2E9B08CDDC39}" type="datetime1">
              <a:rPr lang="en-US" smtClean="0"/>
              <a:t>10/14/2026</a:t>
            </a:fld>
            <a:endParaRPr lang="en-US"/>
          </a:p>
        </p:txBody>
      </p:sp>
      <p:sp>
        <p:nvSpPr>
          <p:cNvPr id="5" name="Footer Placeholder 4">
            <a:extLst>
              <a:ext uri="{FF2B5EF4-FFF2-40B4-BE49-F238E27FC236}">
                <a16:creationId xmlns:a16="http://schemas.microsoft.com/office/drawing/2014/main" id="{B86BDEC4-4C17-D3A5-C8D1-0D00BBE682FC}"/>
              </a:ext>
            </a:extLst>
          </p:cNvPr>
          <p:cNvSpPr>
            <a:spLocks noGrp="1"/>
          </p:cNvSpPr>
          <p:nvPr>
            <p:ph type="ftr" sz="quarter" idx="11"/>
          </p:nvPr>
        </p:nvSpPr>
        <p:spPr/>
        <p:txBody>
          <a:bodyPr/>
          <a:lstStyle/>
          <a:p>
            <a:r>
              <a:rPr lang="en-US"/>
              <a:t>Md. Manirujjaman</a:t>
            </a:r>
          </a:p>
        </p:txBody>
      </p:sp>
      <p:sp>
        <p:nvSpPr>
          <p:cNvPr id="6" name="TextBox 5">
            <a:extLst>
              <a:ext uri="{FF2B5EF4-FFF2-40B4-BE49-F238E27FC236}">
                <a16:creationId xmlns:a16="http://schemas.microsoft.com/office/drawing/2014/main" id="{48778BCD-73A7-71A1-4A5E-5940E64E330C}"/>
              </a:ext>
            </a:extLst>
          </p:cNvPr>
          <p:cNvSpPr txBox="1"/>
          <p:nvPr/>
        </p:nvSpPr>
        <p:spPr>
          <a:xfrm>
            <a:off x="838200" y="3429000"/>
            <a:ext cx="2581405"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Semester result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Transcript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Attendance report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Class routine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Payment receipt</a:t>
            </a:r>
          </a:p>
        </p:txBody>
      </p:sp>
      <p:sp>
        <p:nvSpPr>
          <p:cNvPr id="10" name="TextBox 9">
            <a:extLst>
              <a:ext uri="{FF2B5EF4-FFF2-40B4-BE49-F238E27FC236}">
                <a16:creationId xmlns:a16="http://schemas.microsoft.com/office/drawing/2014/main" id="{2CD03DF3-650D-AD90-9A67-BCE6C988FC07}"/>
              </a:ext>
            </a:extLst>
          </p:cNvPr>
          <p:cNvSpPr txBox="1"/>
          <p:nvPr/>
        </p:nvSpPr>
        <p:spPr>
          <a:xfrm>
            <a:off x="3623153" y="3429000"/>
            <a:ext cx="3403948" cy="1477328"/>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Account balance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Bank statement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Transaction receipt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Loan approval or rejection</a:t>
            </a:r>
          </a:p>
        </p:txBody>
      </p:sp>
      <p:sp>
        <p:nvSpPr>
          <p:cNvPr id="13" name="TextBox 12">
            <a:extLst>
              <a:ext uri="{FF2B5EF4-FFF2-40B4-BE49-F238E27FC236}">
                <a16:creationId xmlns:a16="http://schemas.microsoft.com/office/drawing/2014/main" id="{F599267F-5DF3-C280-44C4-213F891525BD}"/>
              </a:ext>
            </a:extLst>
          </p:cNvPr>
          <p:cNvSpPr txBox="1"/>
          <p:nvPr/>
        </p:nvSpPr>
        <p:spPr>
          <a:xfrm>
            <a:off x="7027101" y="3429000"/>
            <a:ext cx="3988496" cy="1477328"/>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E-commerce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Order confirmation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Invoice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Delivery tracking information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Product recommendation</a:t>
            </a:r>
          </a:p>
        </p:txBody>
      </p:sp>
    </p:spTree>
    <p:extLst>
      <p:ext uri="{BB962C8B-B14F-4D97-AF65-F5344CB8AC3E}">
        <p14:creationId xmlns:p14="http://schemas.microsoft.com/office/powerpoint/2010/main" val="1584550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5D60E-5D0F-1006-D056-395DB84340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E72E5-AD52-3C39-1099-DA5C204A6BF8}"/>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FD2CB017-9BF0-2DFA-8365-F846086CCA59}"/>
              </a:ext>
            </a:extLst>
          </p:cNvPr>
          <p:cNvSpPr>
            <a:spLocks noGrp="1"/>
          </p:cNvSpPr>
          <p:nvPr>
            <p:ph idx="1"/>
          </p:nvPr>
        </p:nvSpPr>
        <p:spPr>
          <a:xfrm>
            <a:off x="565311" y="1054360"/>
            <a:ext cx="10450286" cy="1658163"/>
          </a:xfrm>
        </p:spPr>
        <p:txBody>
          <a:bodyPr>
            <a:normAutofit lnSpcReduction="10000"/>
          </a:bodyPr>
          <a:lstStyle/>
          <a:p>
            <a:pPr>
              <a:buFont typeface="Wingdings" panose="05000000000000000000" pitchFamily="2" charset="2"/>
              <a:buChar char="Ø"/>
            </a:pPr>
            <a:r>
              <a:rPr lang="en-US" sz="2200" b="1" dirty="0">
                <a:latin typeface="Arial" panose="020B0604020202020204" pitchFamily="34" charset="0"/>
                <a:cs typeface="Arial" panose="020B0604020202020204" pitchFamily="34" charset="0"/>
              </a:rPr>
              <a:t>Control:</a:t>
            </a:r>
          </a:p>
          <a:p>
            <a:r>
              <a:rPr lang="en-US" dirty="0">
                <a:latin typeface="Arial" panose="020B0604020202020204" pitchFamily="34" charset="0"/>
                <a:cs typeface="Arial" panose="020B0604020202020204" pitchFamily="34" charset="0"/>
              </a:rPr>
              <a:t>Control refers to the rules, policies, and decisions that guide how the system should operate.</a:t>
            </a:r>
          </a:p>
          <a:p>
            <a:r>
              <a:rPr lang="en-US" dirty="0">
                <a:latin typeface="Arial" panose="020B0604020202020204" pitchFamily="34" charset="0"/>
                <a:cs typeface="Arial" panose="020B0604020202020204" pitchFamily="34" charset="0"/>
              </a:rPr>
              <a:t>It makes sure that the system works correctly and follows organizational rules. control is also defined as a decision-making subsystem that governs input, processing, and output. </a:t>
            </a:r>
          </a:p>
          <a:p>
            <a:pPr marL="274320" lvl="1" indent="0">
              <a:buNone/>
            </a:pPr>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5DA0C25B-78EE-D228-5571-C0C1603E7B9B}"/>
              </a:ext>
            </a:extLst>
          </p:cNvPr>
          <p:cNvSpPr>
            <a:spLocks noGrp="1"/>
          </p:cNvSpPr>
          <p:nvPr>
            <p:ph type="dt" sz="half" idx="10"/>
          </p:nvPr>
        </p:nvSpPr>
        <p:spPr/>
        <p:txBody>
          <a:bodyPr/>
          <a:lstStyle/>
          <a:p>
            <a:fld id="{B95100E1-88EA-4731-BAA0-2E9B08CDDC39}" type="datetime1">
              <a:rPr lang="en-US" smtClean="0"/>
              <a:t>10/14/2026</a:t>
            </a:fld>
            <a:endParaRPr lang="en-US"/>
          </a:p>
        </p:txBody>
      </p:sp>
      <p:sp>
        <p:nvSpPr>
          <p:cNvPr id="5" name="Footer Placeholder 4">
            <a:extLst>
              <a:ext uri="{FF2B5EF4-FFF2-40B4-BE49-F238E27FC236}">
                <a16:creationId xmlns:a16="http://schemas.microsoft.com/office/drawing/2014/main" id="{3E473C36-84D7-35CD-0DE2-DA12B86F1688}"/>
              </a:ext>
            </a:extLst>
          </p:cNvPr>
          <p:cNvSpPr>
            <a:spLocks noGrp="1"/>
          </p:cNvSpPr>
          <p:nvPr>
            <p:ph type="ftr" sz="quarter" idx="11"/>
          </p:nvPr>
        </p:nvSpPr>
        <p:spPr/>
        <p:txBody>
          <a:bodyPr/>
          <a:lstStyle/>
          <a:p>
            <a:r>
              <a:rPr lang="en-US"/>
              <a:t>Md. Manirujjaman</a:t>
            </a:r>
          </a:p>
        </p:txBody>
      </p:sp>
      <p:sp>
        <p:nvSpPr>
          <p:cNvPr id="7" name="TextBox 6">
            <a:extLst>
              <a:ext uri="{FF2B5EF4-FFF2-40B4-BE49-F238E27FC236}">
                <a16:creationId xmlns:a16="http://schemas.microsoft.com/office/drawing/2014/main" id="{F92834B5-FE61-DD6D-DE37-3061396066F4}"/>
              </a:ext>
            </a:extLst>
          </p:cNvPr>
          <p:cNvSpPr txBox="1"/>
          <p:nvPr/>
        </p:nvSpPr>
        <p:spPr>
          <a:xfrm>
            <a:off x="414999" y="3067899"/>
            <a:ext cx="3443018" cy="2585323"/>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 student needs at least 70% attendance to sit for an exam.</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 student cannot register without paying required fees.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Only authorized teachers can enter marks.</a:t>
            </a:r>
          </a:p>
        </p:txBody>
      </p:sp>
      <p:sp>
        <p:nvSpPr>
          <p:cNvPr id="11" name="TextBox 10">
            <a:extLst>
              <a:ext uri="{FF2B5EF4-FFF2-40B4-BE49-F238E27FC236}">
                <a16:creationId xmlns:a16="http://schemas.microsoft.com/office/drawing/2014/main" id="{A1173CCB-ED0F-D367-C07E-E65DCD071648}"/>
              </a:ext>
            </a:extLst>
          </p:cNvPr>
          <p:cNvSpPr txBox="1"/>
          <p:nvPr/>
        </p:nvSpPr>
        <p:spPr>
          <a:xfrm>
            <a:off x="4011460" y="3067899"/>
            <a:ext cx="3842359" cy="1754326"/>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ATM withdrawal has a daily limit.</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Large transactions may require additional verification.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 customer cannot withdraw more than the available balance.</a:t>
            </a:r>
          </a:p>
        </p:txBody>
      </p:sp>
      <p:sp>
        <p:nvSpPr>
          <p:cNvPr id="14" name="TextBox 13">
            <a:extLst>
              <a:ext uri="{FF2B5EF4-FFF2-40B4-BE49-F238E27FC236}">
                <a16:creationId xmlns:a16="http://schemas.microsoft.com/office/drawing/2014/main" id="{CE3CCE04-9AEB-0A0E-DAB4-73F4394C0F7E}"/>
              </a:ext>
            </a:extLst>
          </p:cNvPr>
          <p:cNvSpPr txBox="1"/>
          <p:nvPr/>
        </p:nvSpPr>
        <p:spPr>
          <a:xfrm>
            <a:off x="8007262" y="3148462"/>
            <a:ext cx="3769739" cy="2031325"/>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E-commerce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Orders cannot be placed for out-of-stock products.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Refunds must follow company policy.</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Some payment methods may have transaction limits.</a:t>
            </a:r>
          </a:p>
        </p:txBody>
      </p:sp>
    </p:spTree>
    <p:extLst>
      <p:ext uri="{BB962C8B-B14F-4D97-AF65-F5344CB8AC3E}">
        <p14:creationId xmlns:p14="http://schemas.microsoft.com/office/powerpoint/2010/main" val="299881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65A6D-2AE7-FAA6-B951-C64DD013D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BD6C6-3CE1-E74C-CEEA-D2C02FF9A513}"/>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EC0737E5-7054-B0DF-57DE-DC91EAEAC602}"/>
              </a:ext>
            </a:extLst>
          </p:cNvPr>
          <p:cNvSpPr>
            <a:spLocks noGrp="1"/>
          </p:cNvSpPr>
          <p:nvPr>
            <p:ph idx="1"/>
          </p:nvPr>
        </p:nvSpPr>
        <p:spPr>
          <a:xfrm>
            <a:off x="565311" y="1231673"/>
            <a:ext cx="10450286" cy="1658163"/>
          </a:xfrm>
        </p:spPr>
        <p:txBody>
          <a:bodyPr>
            <a:normAutofit lnSpcReduction="10000"/>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Feedback:</a:t>
            </a:r>
          </a:p>
          <a:p>
            <a:r>
              <a:rPr lang="en-US" dirty="0">
                <a:latin typeface="Arial" panose="020B0604020202020204" pitchFamily="34" charset="0"/>
                <a:cs typeface="Arial" panose="020B0604020202020204" pitchFamily="34" charset="0"/>
              </a:rPr>
              <a:t>Feedback is information about the system's performance or output that is sent back to improve or correct the system.</a:t>
            </a:r>
          </a:p>
          <a:p>
            <a:r>
              <a:rPr lang="en-US" dirty="0">
                <a:latin typeface="Arial" panose="020B0604020202020204" pitchFamily="34" charset="0"/>
                <a:cs typeface="Arial" panose="020B0604020202020204" pitchFamily="34" charset="0"/>
              </a:rPr>
              <a:t>If something is wrong, feedback helps the organization identify the problem and make changes.</a:t>
            </a:r>
          </a:p>
          <a:p>
            <a:pPr marL="274320" lvl="1" indent="0">
              <a:buNone/>
            </a:pPr>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2BE094D0-FF57-BB40-969F-1E4442E1B2F9}"/>
              </a:ext>
            </a:extLst>
          </p:cNvPr>
          <p:cNvSpPr>
            <a:spLocks noGrp="1"/>
          </p:cNvSpPr>
          <p:nvPr>
            <p:ph type="dt" sz="half" idx="10"/>
          </p:nvPr>
        </p:nvSpPr>
        <p:spPr/>
        <p:txBody>
          <a:bodyPr/>
          <a:lstStyle/>
          <a:p>
            <a:fld id="{B95100E1-88EA-4731-BAA0-2E9B08CDDC39}" type="datetime1">
              <a:rPr lang="en-US" smtClean="0"/>
              <a:t>10/14/2026</a:t>
            </a:fld>
            <a:endParaRPr lang="en-US"/>
          </a:p>
        </p:txBody>
      </p:sp>
      <p:sp>
        <p:nvSpPr>
          <p:cNvPr id="5" name="Footer Placeholder 4">
            <a:extLst>
              <a:ext uri="{FF2B5EF4-FFF2-40B4-BE49-F238E27FC236}">
                <a16:creationId xmlns:a16="http://schemas.microsoft.com/office/drawing/2014/main" id="{D34D4AEE-20FB-A38D-40EA-765F16A7348A}"/>
              </a:ext>
            </a:extLst>
          </p:cNvPr>
          <p:cNvSpPr>
            <a:spLocks noGrp="1"/>
          </p:cNvSpPr>
          <p:nvPr>
            <p:ph type="ftr" sz="quarter" idx="11"/>
          </p:nvPr>
        </p:nvSpPr>
        <p:spPr/>
        <p:txBody>
          <a:bodyPr/>
          <a:lstStyle/>
          <a:p>
            <a:r>
              <a:rPr lang="en-US"/>
              <a:t>Md. Manirujjaman</a:t>
            </a:r>
          </a:p>
        </p:txBody>
      </p:sp>
      <p:sp>
        <p:nvSpPr>
          <p:cNvPr id="7" name="TextBox 6">
            <a:extLst>
              <a:ext uri="{FF2B5EF4-FFF2-40B4-BE49-F238E27FC236}">
                <a16:creationId xmlns:a16="http://schemas.microsoft.com/office/drawing/2014/main" id="{18122B7A-C2A5-9C3E-CC94-78793ABA3C39}"/>
              </a:ext>
            </a:extLst>
          </p:cNvPr>
          <p:cNvSpPr txBox="1"/>
          <p:nvPr/>
        </p:nvSpPr>
        <p:spPr>
          <a:xfrm>
            <a:off x="462419" y="3429000"/>
            <a:ext cx="3533384" cy="2031325"/>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Students report incorrect results.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Students give course evaluations.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Teachers report problems with the student portal.</a:t>
            </a:r>
          </a:p>
        </p:txBody>
      </p:sp>
      <p:sp>
        <p:nvSpPr>
          <p:cNvPr id="11" name="TextBox 10">
            <a:extLst>
              <a:ext uri="{FF2B5EF4-FFF2-40B4-BE49-F238E27FC236}">
                <a16:creationId xmlns:a16="http://schemas.microsoft.com/office/drawing/2014/main" id="{91A42386-97AF-CD82-D96B-0EFA123C18DC}"/>
              </a:ext>
            </a:extLst>
          </p:cNvPr>
          <p:cNvSpPr txBox="1"/>
          <p:nvPr/>
        </p:nvSpPr>
        <p:spPr>
          <a:xfrm>
            <a:off x="3995803" y="3429000"/>
            <a:ext cx="3795386" cy="2031325"/>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Customers report failed transactions.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Customers complain about ATM problems.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Fraud reports help improve security.</a:t>
            </a:r>
          </a:p>
        </p:txBody>
      </p:sp>
      <p:sp>
        <p:nvSpPr>
          <p:cNvPr id="14" name="TextBox 13">
            <a:extLst>
              <a:ext uri="{FF2B5EF4-FFF2-40B4-BE49-F238E27FC236}">
                <a16:creationId xmlns:a16="http://schemas.microsoft.com/office/drawing/2014/main" id="{936FBEDC-7FA6-4F37-8A12-1B300347F2DA}"/>
              </a:ext>
            </a:extLst>
          </p:cNvPr>
          <p:cNvSpPr txBox="1"/>
          <p:nvPr/>
        </p:nvSpPr>
        <p:spPr>
          <a:xfrm>
            <a:off x="7415784" y="3429000"/>
            <a:ext cx="3938016" cy="1477328"/>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E-commerce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Customers give product reviews.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Customers report late delivery.</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Customers request refunds for damaged products.</a:t>
            </a:r>
          </a:p>
        </p:txBody>
      </p:sp>
    </p:spTree>
    <p:extLst>
      <p:ext uri="{BB962C8B-B14F-4D97-AF65-F5344CB8AC3E}">
        <p14:creationId xmlns:p14="http://schemas.microsoft.com/office/powerpoint/2010/main" val="493520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98928-23D4-C2FB-418A-97C5B7702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2B5E9-19CD-18CC-A57E-F5938B95DA16}"/>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80773B62-22FA-A3D7-538E-672386FE397F}"/>
              </a:ext>
            </a:extLst>
          </p:cNvPr>
          <p:cNvSpPr>
            <a:spLocks noGrp="1"/>
          </p:cNvSpPr>
          <p:nvPr>
            <p:ph idx="1"/>
          </p:nvPr>
        </p:nvSpPr>
        <p:spPr>
          <a:xfrm>
            <a:off x="565311" y="1231673"/>
            <a:ext cx="10450286" cy="1658163"/>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Boundary:</a:t>
            </a:r>
          </a:p>
          <a:p>
            <a:r>
              <a:rPr lang="en-US" dirty="0">
                <a:latin typeface="Arial" panose="020B0604020202020204" pitchFamily="34" charset="0"/>
                <a:cs typeface="Arial" panose="020B0604020202020204" pitchFamily="34" charset="0"/>
              </a:rPr>
              <a:t>A boundary defines what is inside the system and what is outside the system. It helps us understand the scope of a system. </a:t>
            </a:r>
          </a:p>
        </p:txBody>
      </p:sp>
      <p:sp>
        <p:nvSpPr>
          <p:cNvPr id="3" name="Date Placeholder 2">
            <a:extLst>
              <a:ext uri="{FF2B5EF4-FFF2-40B4-BE49-F238E27FC236}">
                <a16:creationId xmlns:a16="http://schemas.microsoft.com/office/drawing/2014/main" id="{51E73D88-CA1E-F981-26F6-DAFA6800A9FA}"/>
              </a:ext>
            </a:extLst>
          </p:cNvPr>
          <p:cNvSpPr>
            <a:spLocks noGrp="1"/>
          </p:cNvSpPr>
          <p:nvPr>
            <p:ph type="dt" sz="half" idx="10"/>
          </p:nvPr>
        </p:nvSpPr>
        <p:spPr/>
        <p:txBody>
          <a:bodyPr/>
          <a:lstStyle/>
          <a:p>
            <a:fld id="{B95100E1-88EA-4731-BAA0-2E9B08CDDC39}" type="datetime1">
              <a:rPr lang="en-US" smtClean="0"/>
              <a:t>10/14/2026</a:t>
            </a:fld>
            <a:endParaRPr lang="en-US"/>
          </a:p>
        </p:txBody>
      </p:sp>
      <p:sp>
        <p:nvSpPr>
          <p:cNvPr id="5" name="Footer Placeholder 4">
            <a:extLst>
              <a:ext uri="{FF2B5EF4-FFF2-40B4-BE49-F238E27FC236}">
                <a16:creationId xmlns:a16="http://schemas.microsoft.com/office/drawing/2014/main" id="{5876D506-09AC-026B-0C0B-9247658C3DC4}"/>
              </a:ext>
            </a:extLst>
          </p:cNvPr>
          <p:cNvSpPr>
            <a:spLocks noGrp="1"/>
          </p:cNvSpPr>
          <p:nvPr>
            <p:ph type="ftr" sz="quarter" idx="11"/>
          </p:nvPr>
        </p:nvSpPr>
        <p:spPr/>
        <p:txBody>
          <a:bodyPr/>
          <a:lstStyle/>
          <a:p>
            <a:r>
              <a:rPr lang="en-US"/>
              <a:t>Md. Manirujjaman</a:t>
            </a:r>
          </a:p>
        </p:txBody>
      </p:sp>
      <p:sp>
        <p:nvSpPr>
          <p:cNvPr id="18" name="TextBox 17">
            <a:extLst>
              <a:ext uri="{FF2B5EF4-FFF2-40B4-BE49-F238E27FC236}">
                <a16:creationId xmlns:a16="http://schemas.microsoft.com/office/drawing/2014/main" id="{0900BD82-8E65-7780-B973-86B032774FCF}"/>
              </a:ext>
            </a:extLst>
          </p:cNvPr>
          <p:cNvSpPr txBox="1"/>
          <p:nvPr/>
        </p:nvSpPr>
        <p:spPr>
          <a:xfrm>
            <a:off x="4368828" y="2764005"/>
            <a:ext cx="3046956" cy="2862322"/>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a:buNone/>
            </a:pPr>
            <a:r>
              <a:rPr lang="en-US" dirty="0">
                <a:latin typeface="Arial" panose="020B0604020202020204" pitchFamily="34" charset="0"/>
                <a:cs typeface="Arial" panose="020B0604020202020204" pitchFamily="34" charset="0"/>
              </a:rPr>
              <a:t>Inside: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Customer accounts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Employees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ATM services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Loan department</a:t>
            </a:r>
          </a:p>
          <a:p>
            <a:pPr>
              <a:buNone/>
            </a:pPr>
            <a:r>
              <a:rPr lang="en-US" dirty="0">
                <a:latin typeface="Arial" panose="020B0604020202020204" pitchFamily="34" charset="0"/>
                <a:cs typeface="Arial" panose="020B0604020202020204" pitchFamily="34" charset="0"/>
              </a:rPr>
              <a:t>Outside: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Central bank</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Other banks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Government regulators</a:t>
            </a:r>
          </a:p>
        </p:txBody>
      </p:sp>
      <p:sp>
        <p:nvSpPr>
          <p:cNvPr id="20" name="TextBox 19">
            <a:extLst>
              <a:ext uri="{FF2B5EF4-FFF2-40B4-BE49-F238E27FC236}">
                <a16:creationId xmlns:a16="http://schemas.microsoft.com/office/drawing/2014/main" id="{03FB2F5E-6DBE-19FF-2D65-21832979BFF1}"/>
              </a:ext>
            </a:extLst>
          </p:cNvPr>
          <p:cNvSpPr txBox="1"/>
          <p:nvPr/>
        </p:nvSpPr>
        <p:spPr>
          <a:xfrm>
            <a:off x="838200" y="2579465"/>
            <a:ext cx="2831926" cy="3693319"/>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a:buNone/>
            </a:pPr>
            <a:r>
              <a:rPr lang="en-US" dirty="0">
                <a:latin typeface="Arial" panose="020B0604020202020204" pitchFamily="34" charset="0"/>
                <a:cs typeface="Arial" panose="020B0604020202020204" pitchFamily="34" charset="0"/>
              </a:rPr>
              <a:t>Inside: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Students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Teachers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Departments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Accounts office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Exam office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Library</a:t>
            </a:r>
          </a:p>
          <a:p>
            <a:pPr>
              <a:buNone/>
            </a:pPr>
            <a:r>
              <a:rPr lang="en-US" dirty="0">
                <a:latin typeface="Arial" panose="020B0604020202020204" pitchFamily="34" charset="0"/>
                <a:cs typeface="Arial" panose="020B0604020202020204" pitchFamily="34" charset="0"/>
              </a:rPr>
              <a:t>Outside:</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UGC</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Ministry of Education</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Other universities</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Job market</a:t>
            </a:r>
          </a:p>
        </p:txBody>
      </p:sp>
    </p:spTree>
    <p:extLst>
      <p:ext uri="{BB962C8B-B14F-4D97-AF65-F5344CB8AC3E}">
        <p14:creationId xmlns:p14="http://schemas.microsoft.com/office/powerpoint/2010/main" val="77316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5EADC-2DAC-FC76-10BB-C87148A52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1A300-855C-3B61-F6D4-B0AC31BF7272}"/>
              </a:ext>
            </a:extLst>
          </p:cNvPr>
          <p:cNvSpPr>
            <a:spLocks noGrp="1"/>
          </p:cNvSpPr>
          <p:nvPr>
            <p:ph type="title"/>
          </p:nvPr>
        </p:nvSpPr>
        <p:spPr>
          <a:xfrm>
            <a:off x="838200" y="18256"/>
            <a:ext cx="10515600" cy="1036104"/>
          </a:xfrm>
        </p:spPr>
        <p:txBody>
          <a:bodyPr/>
          <a:lstStyle/>
          <a:p>
            <a:r>
              <a:rPr lang="en-US" dirty="0"/>
              <a:t>Elements of a System</a:t>
            </a:r>
          </a:p>
        </p:txBody>
      </p:sp>
      <p:sp>
        <p:nvSpPr>
          <p:cNvPr id="9" name="Content Placeholder 2">
            <a:extLst>
              <a:ext uri="{FF2B5EF4-FFF2-40B4-BE49-F238E27FC236}">
                <a16:creationId xmlns:a16="http://schemas.microsoft.com/office/drawing/2014/main" id="{B5457CE0-134D-E806-3E9F-68B016C2AAFB}"/>
              </a:ext>
            </a:extLst>
          </p:cNvPr>
          <p:cNvSpPr>
            <a:spLocks noGrp="1"/>
          </p:cNvSpPr>
          <p:nvPr>
            <p:ph idx="1"/>
          </p:nvPr>
        </p:nvSpPr>
        <p:spPr>
          <a:xfrm>
            <a:off x="565311" y="1231673"/>
            <a:ext cx="10450286" cy="1658163"/>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Interface:</a:t>
            </a:r>
          </a:p>
          <a:p>
            <a:r>
              <a:rPr lang="en-US" dirty="0">
                <a:latin typeface="Arial" panose="020B0604020202020204" pitchFamily="34" charset="0"/>
                <a:cs typeface="Arial" panose="020B0604020202020204" pitchFamily="34" charset="0"/>
              </a:rPr>
              <a:t>An interface is the point where two parts of a system, or two different systems, communicate with each other.</a:t>
            </a:r>
          </a:p>
        </p:txBody>
      </p:sp>
      <p:sp>
        <p:nvSpPr>
          <p:cNvPr id="3" name="Date Placeholder 2">
            <a:extLst>
              <a:ext uri="{FF2B5EF4-FFF2-40B4-BE49-F238E27FC236}">
                <a16:creationId xmlns:a16="http://schemas.microsoft.com/office/drawing/2014/main" id="{780F4AC1-3B23-B54A-A11A-C44FAAC3CD1D}"/>
              </a:ext>
            </a:extLst>
          </p:cNvPr>
          <p:cNvSpPr>
            <a:spLocks noGrp="1"/>
          </p:cNvSpPr>
          <p:nvPr>
            <p:ph type="dt" sz="half" idx="10"/>
          </p:nvPr>
        </p:nvSpPr>
        <p:spPr/>
        <p:txBody>
          <a:bodyPr/>
          <a:lstStyle/>
          <a:p>
            <a:fld id="{B95100E1-88EA-4731-BAA0-2E9B08CDDC39}" type="datetime1">
              <a:rPr lang="en-US" smtClean="0"/>
              <a:t>10/14/2026</a:t>
            </a:fld>
            <a:endParaRPr lang="en-US"/>
          </a:p>
        </p:txBody>
      </p:sp>
      <p:sp>
        <p:nvSpPr>
          <p:cNvPr id="5" name="Footer Placeholder 4">
            <a:extLst>
              <a:ext uri="{FF2B5EF4-FFF2-40B4-BE49-F238E27FC236}">
                <a16:creationId xmlns:a16="http://schemas.microsoft.com/office/drawing/2014/main" id="{6951D6EE-F49A-DE84-C918-B78389D16D3F}"/>
              </a:ext>
            </a:extLst>
          </p:cNvPr>
          <p:cNvSpPr>
            <a:spLocks noGrp="1"/>
          </p:cNvSpPr>
          <p:nvPr>
            <p:ph type="ftr" sz="quarter" idx="11"/>
          </p:nvPr>
        </p:nvSpPr>
        <p:spPr/>
        <p:txBody>
          <a:bodyPr/>
          <a:lstStyle/>
          <a:p>
            <a:r>
              <a:rPr lang="en-US"/>
              <a:t>Md. Manirujjaman</a:t>
            </a:r>
          </a:p>
        </p:txBody>
      </p:sp>
      <p:sp>
        <p:nvSpPr>
          <p:cNvPr id="6" name="TextBox 5">
            <a:extLst>
              <a:ext uri="{FF2B5EF4-FFF2-40B4-BE49-F238E27FC236}">
                <a16:creationId xmlns:a16="http://schemas.microsoft.com/office/drawing/2014/main" id="{08B38C97-0037-23E5-F017-6815C899DA40}"/>
              </a:ext>
            </a:extLst>
          </p:cNvPr>
          <p:cNvSpPr txBox="1"/>
          <p:nvPr/>
        </p:nvSpPr>
        <p:spPr>
          <a:xfrm>
            <a:off x="838200" y="2690336"/>
            <a:ext cx="6093912" cy="1200329"/>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University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University payment system ↔ Bank/payment gateway</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Student portal ↔ Examination system</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Library system ↔ Student database</a:t>
            </a:r>
          </a:p>
        </p:txBody>
      </p:sp>
      <p:sp>
        <p:nvSpPr>
          <p:cNvPr id="8" name="TextBox 7">
            <a:extLst>
              <a:ext uri="{FF2B5EF4-FFF2-40B4-BE49-F238E27FC236}">
                <a16:creationId xmlns:a16="http://schemas.microsoft.com/office/drawing/2014/main" id="{46948A6C-8AF3-8DAE-0C79-DD7740E76232}"/>
              </a:ext>
            </a:extLst>
          </p:cNvPr>
          <p:cNvSpPr txBox="1"/>
          <p:nvPr/>
        </p:nvSpPr>
        <p:spPr>
          <a:xfrm>
            <a:off x="838200" y="4533291"/>
            <a:ext cx="6093912" cy="923330"/>
          </a:xfrm>
          <a:prstGeom prst="rect">
            <a:avLst/>
          </a:prstGeom>
          <a:noFill/>
        </p:spPr>
        <p:txBody>
          <a:bodyPr wrap="square">
            <a:spAutoFit/>
          </a:bodyPr>
          <a:lstStyle/>
          <a:p>
            <a:pPr>
              <a:buNone/>
            </a:pPr>
            <a:r>
              <a:rPr lang="en-US" b="1" dirty="0">
                <a:latin typeface="Arial" panose="020B0604020202020204" pitchFamily="34" charset="0"/>
                <a:cs typeface="Arial" panose="020B0604020202020204" pitchFamily="34" charset="0"/>
              </a:rPr>
              <a:t>Banking System</a:t>
            </a:r>
            <a:endParaRPr lang="en-US"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ATM ↔ Bank server</a:t>
            </a:r>
          </a:p>
          <a:p>
            <a:pPr marL="342900" lvl="0" indent="-342900">
              <a:buFont typeface="Arial" panose="020B0604020202020204" pitchFamily="34" charset="0"/>
              <a:buChar char="•"/>
            </a:pPr>
            <a:r>
              <a:rPr lang="en-US" dirty="0">
                <a:latin typeface="Arial" panose="020B0604020202020204" pitchFamily="34" charset="0"/>
                <a:cs typeface="Arial" panose="020B0604020202020204" pitchFamily="34" charset="0"/>
              </a:rPr>
              <a:t>Mobile banking app ↔ Bank database</a:t>
            </a:r>
          </a:p>
        </p:txBody>
      </p:sp>
    </p:spTree>
    <p:extLst>
      <p:ext uri="{BB962C8B-B14F-4D97-AF65-F5344CB8AC3E}">
        <p14:creationId xmlns:p14="http://schemas.microsoft.com/office/powerpoint/2010/main" val="4267276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Types of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7"/>
            <a:ext cx="10515600" cy="2985922"/>
          </a:xfrm>
        </p:spPr>
        <p:txBody>
          <a:bodyPr>
            <a:normAutofit/>
          </a:bodyPr>
          <a:lstStyle/>
          <a:p>
            <a:pPr>
              <a:buFont typeface="Wingdings" panose="05000000000000000000" pitchFamily="2" charset="2"/>
              <a:buChar char="Ø"/>
            </a:pPr>
            <a:r>
              <a:rPr lang="en-US" b="1" dirty="0">
                <a:latin typeface="Arial" panose="020B0604020202020204" pitchFamily="34" charset="0"/>
                <a:cs typeface="Arial" panose="020B0604020202020204" pitchFamily="34" charset="0"/>
              </a:rPr>
              <a:t>Physical System</a:t>
            </a:r>
          </a:p>
          <a:p>
            <a:r>
              <a:rPr lang="en-US" dirty="0">
                <a:latin typeface="Arial" panose="020B0604020202020204" pitchFamily="34" charset="0"/>
                <a:cs typeface="Arial" panose="020B0604020202020204" pitchFamily="34" charset="0"/>
              </a:rPr>
              <a:t>A physical system is a real system that we can see and touch. It consists of physical objects or components working together.</a:t>
            </a:r>
          </a:p>
          <a:p>
            <a:r>
              <a:rPr lang="en-US" b="1" dirty="0">
                <a:latin typeface="Arial" panose="020B0604020202020204" pitchFamily="34" charset="0"/>
                <a:cs typeface="Arial" panose="020B0604020202020204" pitchFamily="34" charset="0"/>
              </a:rPr>
              <a:t>Examples:</a:t>
            </a: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Computer lab</a:t>
            </a:r>
          </a:p>
          <a:p>
            <a:pPr lvl="1"/>
            <a:r>
              <a:rPr lang="en-US" dirty="0">
                <a:latin typeface="Arial" panose="020B0604020202020204" pitchFamily="34" charset="0"/>
                <a:cs typeface="Arial" panose="020B0604020202020204" pitchFamily="34" charset="0"/>
              </a:rPr>
              <a:t>University campus</a:t>
            </a:r>
          </a:p>
          <a:p>
            <a:pPr lvl="1"/>
            <a:r>
              <a:rPr lang="en-US" dirty="0">
                <a:latin typeface="Arial" panose="020B0604020202020204" pitchFamily="34" charset="0"/>
                <a:cs typeface="Arial" panose="020B0604020202020204" pitchFamily="34" charset="0"/>
              </a:rPr>
              <a:t>Hospital</a:t>
            </a:r>
          </a:p>
          <a:p>
            <a:r>
              <a:rPr lang="en-US" dirty="0">
                <a:latin typeface="Arial" panose="020B0604020202020204" pitchFamily="34" charset="0"/>
                <a:cs typeface="Arial" panose="020B0604020202020204" pitchFamily="34" charset="0"/>
              </a:rPr>
              <a:t>A physical system can also be </a:t>
            </a:r>
            <a:r>
              <a:rPr lang="en-US" b="1" dirty="0">
                <a:latin typeface="Arial" panose="020B0604020202020204" pitchFamily="34" charset="0"/>
                <a:cs typeface="Arial" panose="020B0604020202020204" pitchFamily="34" charset="0"/>
              </a:rPr>
              <a:t>static or dynamic</a:t>
            </a:r>
            <a:r>
              <a:rPr lang="en-US" dirty="0">
                <a:latin typeface="Arial" panose="020B0604020202020204" pitchFamily="34" charset="0"/>
                <a:cs typeface="Arial" panose="020B0604020202020204" pitchFamily="34" charset="0"/>
              </a:rPr>
              <a:t>.</a:t>
            </a:r>
          </a:p>
          <a:p>
            <a:pPr lvl="1"/>
            <a:endParaRPr lang="en-US"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a:p>
            <a:pPr lvl="1"/>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37784144-7639-F337-0684-B93E4943F7A4}"/>
              </a:ext>
            </a:extLst>
          </p:cNvPr>
          <p:cNvSpPr>
            <a:spLocks noGrp="1"/>
          </p:cNvSpPr>
          <p:nvPr>
            <p:ph type="dt" sz="half" idx="10"/>
          </p:nvPr>
        </p:nvSpPr>
        <p:spPr/>
        <p:txBody>
          <a:bodyPr/>
          <a:lstStyle/>
          <a:p>
            <a:fld id="{498A2F9B-8152-4CE8-868E-0F1FC2C83C4A}"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dirty="0"/>
              <a:t>Md. Manirujjaman</a:t>
            </a:r>
          </a:p>
        </p:txBody>
      </p:sp>
      <p:sp>
        <p:nvSpPr>
          <p:cNvPr id="6" name="Rectangle: Rounded Corners 5">
            <a:extLst>
              <a:ext uri="{FF2B5EF4-FFF2-40B4-BE49-F238E27FC236}">
                <a16:creationId xmlns:a16="http://schemas.microsoft.com/office/drawing/2014/main" id="{2CF03D3D-FFEE-1AF3-7852-6B52876D9095}"/>
              </a:ext>
            </a:extLst>
          </p:cNvPr>
          <p:cNvSpPr/>
          <p:nvPr/>
        </p:nvSpPr>
        <p:spPr>
          <a:xfrm>
            <a:off x="1315233" y="4226895"/>
            <a:ext cx="4336095" cy="17229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rial" panose="020B0604020202020204" pitchFamily="34" charset="0"/>
                <a:cs typeface="Arial" panose="020B0604020202020204" pitchFamily="34" charset="0"/>
              </a:rPr>
              <a:t>Static system:</a:t>
            </a:r>
            <a:r>
              <a:rPr lang="en-US" dirty="0">
                <a:latin typeface="Arial" panose="020B0604020202020204" pitchFamily="34" charset="0"/>
                <a:cs typeface="Arial" panose="020B0604020202020204" pitchFamily="34" charset="0"/>
              </a:rPr>
              <a:t> A system that remains mostly unchanged over time.</a:t>
            </a:r>
          </a:p>
          <a:p>
            <a:pPr algn="ctr"/>
            <a:r>
              <a:rPr lang="en-US" dirty="0">
                <a:latin typeface="Arial" panose="020B0604020202020204" pitchFamily="34" charset="0"/>
                <a:cs typeface="Arial" panose="020B0604020202020204" pitchFamily="34" charset="0"/>
              </a:rPr>
              <a:t>(a university building structure, printed class routine, organization chart.)</a:t>
            </a:r>
          </a:p>
        </p:txBody>
      </p:sp>
      <p:sp>
        <p:nvSpPr>
          <p:cNvPr id="8" name="Rectangle: Rounded Corners 7">
            <a:extLst>
              <a:ext uri="{FF2B5EF4-FFF2-40B4-BE49-F238E27FC236}">
                <a16:creationId xmlns:a16="http://schemas.microsoft.com/office/drawing/2014/main" id="{47C0AED9-8E82-82B9-4E3F-1860C09454EC}"/>
              </a:ext>
            </a:extLst>
          </p:cNvPr>
          <p:cNvSpPr/>
          <p:nvPr/>
        </p:nvSpPr>
        <p:spPr>
          <a:xfrm>
            <a:off x="6540673" y="4226896"/>
            <a:ext cx="4033382" cy="172296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Arial" panose="020B0604020202020204" pitchFamily="34" charset="0"/>
                <a:cs typeface="Arial" panose="020B0604020202020204" pitchFamily="34" charset="0"/>
              </a:rPr>
              <a:t>Dynamic system:</a:t>
            </a:r>
            <a:r>
              <a:rPr lang="en-US" dirty="0">
                <a:latin typeface="Arial" panose="020B0604020202020204" pitchFamily="34" charset="0"/>
                <a:cs typeface="Arial" panose="020B0604020202020204" pitchFamily="34" charset="0"/>
              </a:rPr>
              <a:t> A system that changes continuously with time.</a:t>
            </a:r>
          </a:p>
          <a:p>
            <a:pPr algn="ctr"/>
            <a:r>
              <a:rPr lang="en-US" dirty="0">
                <a:latin typeface="Arial" panose="020B0604020202020204" pitchFamily="34" charset="0"/>
                <a:cs typeface="Arial" panose="020B0604020202020204" pitchFamily="34" charset="0"/>
              </a:rPr>
              <a:t>(traffic control system, online student portal, stock market, hospital patient-management system.)</a:t>
            </a:r>
          </a:p>
        </p:txBody>
      </p:sp>
    </p:spTree>
    <p:extLst>
      <p:ext uri="{BB962C8B-B14F-4D97-AF65-F5344CB8AC3E}">
        <p14:creationId xmlns:p14="http://schemas.microsoft.com/office/powerpoint/2010/main" val="1023420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E18C5-ED32-AF60-7377-25F1490ABD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6AE7A-C683-0FCE-0E22-A17DC796742A}"/>
              </a:ext>
            </a:extLst>
          </p:cNvPr>
          <p:cNvSpPr>
            <a:spLocks noGrp="1"/>
          </p:cNvSpPr>
          <p:nvPr>
            <p:ph type="title"/>
          </p:nvPr>
        </p:nvSpPr>
        <p:spPr>
          <a:xfrm>
            <a:off x="838200" y="18256"/>
            <a:ext cx="10515600" cy="1036104"/>
          </a:xfrm>
        </p:spPr>
        <p:txBody>
          <a:bodyPr/>
          <a:lstStyle/>
          <a:p>
            <a:r>
              <a:rPr lang="en-US" dirty="0"/>
              <a:t>Types of Systems</a:t>
            </a:r>
          </a:p>
        </p:txBody>
      </p:sp>
      <p:sp>
        <p:nvSpPr>
          <p:cNvPr id="9" name="Content Placeholder 2">
            <a:extLst>
              <a:ext uri="{FF2B5EF4-FFF2-40B4-BE49-F238E27FC236}">
                <a16:creationId xmlns:a16="http://schemas.microsoft.com/office/drawing/2014/main" id="{20CDDF91-C38D-9F1B-948B-EA4084498197}"/>
              </a:ext>
            </a:extLst>
          </p:cNvPr>
          <p:cNvSpPr>
            <a:spLocks noGrp="1"/>
          </p:cNvSpPr>
          <p:nvPr>
            <p:ph idx="1"/>
          </p:nvPr>
        </p:nvSpPr>
        <p:spPr>
          <a:xfrm>
            <a:off x="903513" y="1147667"/>
            <a:ext cx="10515600" cy="4739950"/>
          </a:xfrm>
        </p:spPr>
        <p:txBody>
          <a:bodyPr>
            <a:normAutofit fontScale="92500" lnSpcReduction="20000"/>
          </a:bodyPr>
          <a:lstStyle/>
          <a:p>
            <a:pPr>
              <a:buFont typeface="Wingdings" panose="05000000000000000000" pitchFamily="2" charset="2"/>
              <a:buChar char="Ø"/>
            </a:pPr>
            <a:r>
              <a:rPr lang="en-US" sz="2200" b="1" dirty="0">
                <a:latin typeface="Arial" panose="020B0604020202020204" pitchFamily="34" charset="0"/>
                <a:cs typeface="Arial" panose="020B0604020202020204" pitchFamily="34" charset="0"/>
              </a:rPr>
              <a:t>Open System</a:t>
            </a:r>
          </a:p>
          <a:p>
            <a:r>
              <a:rPr lang="en-US" dirty="0">
                <a:latin typeface="Arial" panose="020B0604020202020204" pitchFamily="34" charset="0"/>
                <a:cs typeface="Arial" panose="020B0604020202020204" pitchFamily="34" charset="0"/>
              </a:rPr>
              <a:t>An open system interacts with its external environment.</a:t>
            </a:r>
          </a:p>
          <a:p>
            <a:r>
              <a:rPr lang="en-US" dirty="0">
                <a:latin typeface="Arial" panose="020B0604020202020204" pitchFamily="34" charset="0"/>
                <a:cs typeface="Arial" panose="020B0604020202020204" pitchFamily="34" charset="0"/>
              </a:rPr>
              <a:t>It can receive input from outside and can also produce output to the outside environment.  </a:t>
            </a:r>
          </a:p>
          <a:p>
            <a:r>
              <a:rPr lang="en-US" dirty="0">
                <a:latin typeface="Arial" panose="020B0604020202020204" pitchFamily="34" charset="0"/>
                <a:cs typeface="Arial" panose="020B0604020202020204" pitchFamily="34" charset="0"/>
              </a:rPr>
              <a:t>Example: University, Hospital, Bank, E-commerce company.</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Closed System</a:t>
            </a:r>
          </a:p>
          <a:p>
            <a:r>
              <a:rPr lang="en-US" dirty="0">
                <a:latin typeface="Arial" panose="020B0604020202020204" pitchFamily="34" charset="0"/>
                <a:cs typeface="Arial" panose="020B0604020202020204" pitchFamily="34" charset="0"/>
              </a:rPr>
              <a:t>A closed system has very little or no interaction with its outside environment.</a:t>
            </a:r>
          </a:p>
          <a:p>
            <a:r>
              <a:rPr lang="en-US" dirty="0">
                <a:latin typeface="Arial" panose="020B0604020202020204" pitchFamily="34" charset="0"/>
                <a:cs typeface="Arial" panose="020B0604020202020204" pitchFamily="34" charset="0"/>
              </a:rPr>
              <a:t>In real life, completely closed systems are rare. We usually call a system closed when outside interaction is very limited.</a:t>
            </a:r>
          </a:p>
          <a:p>
            <a:r>
              <a:rPr lang="en-US" dirty="0">
                <a:latin typeface="Arial" panose="020B0604020202020204" pitchFamily="34" charset="0"/>
                <a:cs typeface="Arial" panose="020B0604020202020204" pitchFamily="34" charset="0"/>
              </a:rPr>
              <a:t>Example: A sealed chemical experiment, A closed laboratory experiment.</a:t>
            </a:r>
          </a:p>
          <a:p>
            <a:pPr>
              <a:buFont typeface="Wingdings" panose="05000000000000000000" pitchFamily="2" charset="2"/>
              <a:buChar char="Ø"/>
            </a:pPr>
            <a:r>
              <a:rPr lang="en-US" b="1" dirty="0">
                <a:latin typeface="Arial" panose="020B0604020202020204" pitchFamily="34" charset="0"/>
                <a:cs typeface="Arial" panose="020B0604020202020204" pitchFamily="34" charset="0"/>
              </a:rPr>
              <a:t>Information System</a:t>
            </a:r>
          </a:p>
          <a:p>
            <a:r>
              <a:rPr lang="en-US" dirty="0">
                <a:latin typeface="Arial" panose="020B0604020202020204" pitchFamily="34" charset="0"/>
                <a:cs typeface="Arial" panose="020B0604020202020204" pitchFamily="34" charset="0"/>
              </a:rPr>
              <a:t>An information system is a system that collects data, processes it, stores it, and provides useful information. Usually, it includes people, processes, data, and technology working together.</a:t>
            </a:r>
          </a:p>
          <a:p>
            <a:pPr lvl="0"/>
            <a:r>
              <a:rPr lang="en-US" dirty="0">
                <a:latin typeface="Arial" panose="020B0604020202020204" pitchFamily="34" charset="0"/>
                <a:cs typeface="Arial" panose="020B0604020202020204" pitchFamily="34" charset="0"/>
              </a:rPr>
              <a:t>Example: Student Management System, Library Management System, Banking System</a:t>
            </a:r>
          </a:p>
          <a:p>
            <a:endParaRPr lang="en-US"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AD1E8E33-D3DC-CCE6-0F73-7CA126CBA545}"/>
              </a:ext>
            </a:extLst>
          </p:cNvPr>
          <p:cNvSpPr>
            <a:spLocks noGrp="1"/>
          </p:cNvSpPr>
          <p:nvPr>
            <p:ph type="dt" sz="half" idx="10"/>
          </p:nvPr>
        </p:nvSpPr>
        <p:spPr/>
        <p:txBody>
          <a:bodyPr/>
          <a:lstStyle/>
          <a:p>
            <a:fld id="{498A2F9B-8152-4CE8-868E-0F1FC2C83C4A}" type="datetime1">
              <a:rPr lang="en-US" smtClean="0"/>
              <a:t>10/14/2026</a:t>
            </a:fld>
            <a:endParaRPr lang="en-US"/>
          </a:p>
        </p:txBody>
      </p:sp>
      <p:sp>
        <p:nvSpPr>
          <p:cNvPr id="5" name="Footer Placeholder 4">
            <a:extLst>
              <a:ext uri="{FF2B5EF4-FFF2-40B4-BE49-F238E27FC236}">
                <a16:creationId xmlns:a16="http://schemas.microsoft.com/office/drawing/2014/main" id="{E31063FF-C3B1-314E-AABD-C3812B70B3A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381355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Open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7"/>
            <a:ext cx="10515600" cy="4739950"/>
          </a:xfrm>
        </p:spPr>
        <p:txBody>
          <a:bodyPr>
            <a:normAutofit/>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Has many interfaces with its environment.</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Permits interaction across its boundary to exchange inputs and outputs.</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Five important characteristics –</a:t>
            </a:r>
          </a:p>
          <a:p>
            <a:pPr marL="731520" lvl="1" indent="-457200">
              <a:buFont typeface="+mj-lt"/>
              <a:buAutoNum type="arabicPeriod"/>
            </a:pPr>
            <a:r>
              <a:rPr lang="en-US" b="1" dirty="0">
                <a:latin typeface="Arial" panose="020B0604020202020204" pitchFamily="34" charset="0"/>
                <a:cs typeface="Arial" panose="020B0604020202020204" pitchFamily="34" charset="0"/>
              </a:rPr>
              <a:t>Input from Outside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 open system receives data, resources, or materials from its external environment.</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Example: A university receives new students, UGC rules, fees, and job-market requirements.</a:t>
            </a:r>
          </a:p>
          <a:p>
            <a:pPr marL="731520" lvl="1" indent="-457200">
              <a:buFont typeface="+mj-lt"/>
              <a:buAutoNum type="arabicPeriod"/>
            </a:pPr>
            <a:r>
              <a:rPr lang="en-US" b="1" dirty="0">
                <a:latin typeface="Arial" panose="020B0604020202020204" pitchFamily="34" charset="0"/>
                <a:cs typeface="Arial" panose="020B0604020202020204" pitchFamily="34" charset="0"/>
              </a:rPr>
              <a:t>Self-Adjusting / Self-Regulating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 open system can change or adjust its activities to remain stable and effective.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Example: If many students fail a course, the university may arrange extra classes or change the teaching method.</a:t>
            </a:r>
          </a:p>
          <a:p>
            <a:pPr marL="731520" lvl="1" indent="-457200">
              <a:buFont typeface="+mj-lt"/>
              <a:buAutoNum type="arabicPeriod"/>
            </a:pPr>
            <a:r>
              <a:rPr lang="en-US" b="1" dirty="0">
                <a:latin typeface="Arial" panose="020B0604020202020204" pitchFamily="34" charset="0"/>
                <a:cs typeface="Arial" panose="020B0604020202020204" pitchFamily="34" charset="0"/>
              </a:rPr>
              <a:t>Entropy</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Without proper maintenance and improvement, a system can become weak, disorganized, or less effective over time.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Example: If a university does not update software, labs, or syllabus, its system may become outdated.</a:t>
            </a:r>
          </a:p>
          <a:p>
            <a:pPr lvl="1"/>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63C55B43-C7A1-798B-2220-BA22969B0CC1}"/>
              </a:ext>
            </a:extLst>
          </p:cNvPr>
          <p:cNvSpPr>
            <a:spLocks noGrp="1"/>
          </p:cNvSpPr>
          <p:nvPr>
            <p:ph type="dt" sz="half" idx="10"/>
          </p:nvPr>
        </p:nvSpPr>
        <p:spPr/>
        <p:txBody>
          <a:bodyPr/>
          <a:lstStyle/>
          <a:p>
            <a:fld id="{18D2146E-45AC-4A37-958A-71483D3DF7BE}"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4216947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B9C0D-58BD-9BAC-E666-E5FEE376D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AF56E-03BB-CDA5-87BA-8F7FEE47F9F5}"/>
              </a:ext>
            </a:extLst>
          </p:cNvPr>
          <p:cNvSpPr>
            <a:spLocks noGrp="1"/>
          </p:cNvSpPr>
          <p:nvPr>
            <p:ph type="title"/>
          </p:nvPr>
        </p:nvSpPr>
        <p:spPr>
          <a:xfrm>
            <a:off x="838200" y="18256"/>
            <a:ext cx="10515600" cy="1036104"/>
          </a:xfrm>
        </p:spPr>
        <p:txBody>
          <a:bodyPr/>
          <a:lstStyle/>
          <a:p>
            <a:r>
              <a:rPr lang="en-US" dirty="0"/>
              <a:t>Open Systems</a:t>
            </a:r>
          </a:p>
        </p:txBody>
      </p:sp>
      <p:sp>
        <p:nvSpPr>
          <p:cNvPr id="9" name="Content Placeholder 2">
            <a:extLst>
              <a:ext uri="{FF2B5EF4-FFF2-40B4-BE49-F238E27FC236}">
                <a16:creationId xmlns:a16="http://schemas.microsoft.com/office/drawing/2014/main" id="{5B2A8AD7-71FC-81D1-6A98-59C5CDABE29B}"/>
              </a:ext>
            </a:extLst>
          </p:cNvPr>
          <p:cNvSpPr>
            <a:spLocks noGrp="1"/>
          </p:cNvSpPr>
          <p:nvPr>
            <p:ph idx="1"/>
          </p:nvPr>
        </p:nvSpPr>
        <p:spPr>
          <a:xfrm>
            <a:off x="903513" y="1147667"/>
            <a:ext cx="10515600" cy="4739950"/>
          </a:xfrm>
        </p:spPr>
        <p:txBody>
          <a:bodyPr>
            <a:normAutofit/>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Has many interfaces with its environment.</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Permits interaction across its boundary to exchange inputs and outputs.</a:t>
            </a:r>
          </a:p>
          <a:p>
            <a:pPr>
              <a:buFont typeface="Wingdings" panose="05000000000000000000" pitchFamily="2" charset="2"/>
              <a:buChar char="Ø"/>
            </a:pPr>
            <a:r>
              <a:rPr lang="en-US" dirty="0">
                <a:latin typeface="Arial" panose="020B0604020202020204" pitchFamily="34" charset="0"/>
                <a:cs typeface="Arial" panose="020B0604020202020204" pitchFamily="34" charset="0"/>
              </a:rPr>
              <a:t>Five important characteristics –</a:t>
            </a:r>
          </a:p>
          <a:p>
            <a:pPr marL="617220" lvl="1" indent="-342900">
              <a:buFont typeface="+mj-lt"/>
              <a:buAutoNum type="arabicPeriod" startAt="4"/>
            </a:pPr>
            <a:r>
              <a:rPr lang="en-US" b="1" dirty="0">
                <a:latin typeface="Arial" panose="020B0604020202020204" pitchFamily="34" charset="0"/>
                <a:cs typeface="Arial" panose="020B0604020202020204" pitchFamily="34" charset="0"/>
              </a:rPr>
              <a:t>Process, Output, and Cycles</a:t>
            </a:r>
            <a:br>
              <a:rPr lang="en-US" b="1"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An open system follows a continuous cycle: input → process → output → new input.</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Example: Admission → classes → exams → results → feedback → next semester.</a:t>
            </a:r>
          </a:p>
          <a:p>
            <a:pPr marL="617220" lvl="1" indent="-342900">
              <a:buFont typeface="+mj-lt"/>
              <a:buAutoNum type="arabicPeriod" startAt="4"/>
            </a:pPr>
            <a:r>
              <a:rPr lang="en-US" b="1" dirty="0">
                <a:latin typeface="Arial" panose="020B0604020202020204" pitchFamily="34" charset="0"/>
                <a:cs typeface="Arial" panose="020B0604020202020204" pitchFamily="34" charset="0"/>
              </a:rPr>
              <a:t>Differentiation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Different parts of the system become specialized for different tasks.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Example: Admission handles enrollment, Accounts handles fees, and the Exam Office handles results.</a:t>
            </a:r>
          </a:p>
          <a:p>
            <a:pPr marL="617220" lvl="1" indent="-342900">
              <a:buFont typeface="+mj-lt"/>
              <a:buAutoNum type="arabicPeriod" startAt="4"/>
            </a:pPr>
            <a:r>
              <a:rPr lang="en-US" b="1" dirty="0">
                <a:latin typeface="Arial" panose="020B0604020202020204" pitchFamily="34" charset="0"/>
                <a:cs typeface="Arial" panose="020B0604020202020204" pitchFamily="34" charset="0"/>
              </a:rPr>
              <a:t>Equifinality</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The same goal can be achieved through different methods or paths.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Example: Student learning can happen through classroom lectures, online classes, labs, projects, or internships.</a:t>
            </a:r>
          </a:p>
          <a:p>
            <a:pPr lvl="1"/>
            <a:endParaRPr lang="en-US" dirty="0">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22376383-C3E6-F1D9-2AFF-5BAEFC4D31E6}"/>
              </a:ext>
            </a:extLst>
          </p:cNvPr>
          <p:cNvSpPr>
            <a:spLocks noGrp="1"/>
          </p:cNvSpPr>
          <p:nvPr>
            <p:ph type="dt" sz="half" idx="10"/>
          </p:nvPr>
        </p:nvSpPr>
        <p:spPr/>
        <p:txBody>
          <a:bodyPr/>
          <a:lstStyle/>
          <a:p>
            <a:fld id="{18D2146E-45AC-4A37-958A-71483D3DF7BE}" type="datetime1">
              <a:rPr lang="en-US" smtClean="0"/>
              <a:t>10/14/2026</a:t>
            </a:fld>
            <a:endParaRPr lang="en-US"/>
          </a:p>
        </p:txBody>
      </p:sp>
      <p:sp>
        <p:nvSpPr>
          <p:cNvPr id="5" name="Footer Placeholder 4">
            <a:extLst>
              <a:ext uri="{FF2B5EF4-FFF2-40B4-BE49-F238E27FC236}">
                <a16:creationId xmlns:a16="http://schemas.microsoft.com/office/drawing/2014/main" id="{D13AEACA-48D8-3906-A260-06C75F05CF72}"/>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275850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7"/>
            <a:ext cx="10515600" cy="4739950"/>
          </a:xfrm>
        </p:spPr>
        <p:txBody>
          <a:bodyPr>
            <a:normAutofit/>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Information system –</a:t>
            </a:r>
          </a:p>
          <a:p>
            <a:pPr lvl="1"/>
            <a:r>
              <a:rPr lang="en-US" dirty="0">
                <a:latin typeface="Arial" panose="020B0604020202020204" pitchFamily="34" charset="0"/>
                <a:cs typeface="Arial" panose="020B0604020202020204" pitchFamily="34" charset="0"/>
              </a:rPr>
              <a:t>a set of interrelated components</a:t>
            </a:r>
          </a:p>
          <a:p>
            <a:pPr lvl="1"/>
            <a:r>
              <a:rPr lang="en-US" dirty="0">
                <a:latin typeface="Arial" panose="020B0604020202020204" pitchFamily="34" charset="0"/>
                <a:cs typeface="Arial" panose="020B0604020202020204" pitchFamily="34" charset="0"/>
              </a:rPr>
              <a:t>that collect (or retrieve), process, store, and distribute information</a:t>
            </a:r>
          </a:p>
          <a:p>
            <a:pPr lvl="1"/>
            <a:r>
              <a:rPr lang="en-US" dirty="0">
                <a:latin typeface="Arial" panose="020B0604020202020204" pitchFamily="34" charset="0"/>
                <a:cs typeface="Arial" panose="020B0604020202020204" pitchFamily="34" charset="0"/>
              </a:rPr>
              <a:t>to support decision making and control in an organization</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Data are streams of raw facts representing events in the organizations and the environment.</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Information means data that have been shaped into a form that is meaningful and useful to human beings.</a:t>
            </a:r>
          </a:p>
        </p:txBody>
      </p:sp>
      <p:sp>
        <p:nvSpPr>
          <p:cNvPr id="3" name="Date Placeholder 2">
            <a:extLst>
              <a:ext uri="{FF2B5EF4-FFF2-40B4-BE49-F238E27FC236}">
                <a16:creationId xmlns:a16="http://schemas.microsoft.com/office/drawing/2014/main" id="{E4E79209-334D-ABA4-B7F5-F0ACCA0E1903}"/>
              </a:ext>
            </a:extLst>
          </p:cNvPr>
          <p:cNvSpPr>
            <a:spLocks noGrp="1"/>
          </p:cNvSpPr>
          <p:nvPr>
            <p:ph type="dt" sz="half" idx="10"/>
          </p:nvPr>
        </p:nvSpPr>
        <p:spPr/>
        <p:txBody>
          <a:bodyPr/>
          <a:lstStyle/>
          <a:p>
            <a:fld id="{6E66D0A2-BF42-4018-8C4E-3BC045EB8BA7}"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1637202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pic>
        <p:nvPicPr>
          <p:cNvPr id="7" name="Content Placeholder 6">
            <a:extLst>
              <a:ext uri="{FF2B5EF4-FFF2-40B4-BE49-F238E27FC236}">
                <a16:creationId xmlns:a16="http://schemas.microsoft.com/office/drawing/2014/main" id="{AD7A5CD7-3BD3-4C72-B607-50AF21DDC4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69840" y="1272672"/>
            <a:ext cx="8052319" cy="3681883"/>
          </a:xfrm>
        </p:spPr>
      </p:pic>
      <p:sp>
        <p:nvSpPr>
          <p:cNvPr id="3" name="Date Placeholder 2">
            <a:extLst>
              <a:ext uri="{FF2B5EF4-FFF2-40B4-BE49-F238E27FC236}">
                <a16:creationId xmlns:a16="http://schemas.microsoft.com/office/drawing/2014/main" id="{C2BD564F-52BC-9AEF-7A83-E60D6A5584FC}"/>
              </a:ext>
            </a:extLst>
          </p:cNvPr>
          <p:cNvSpPr>
            <a:spLocks noGrp="1"/>
          </p:cNvSpPr>
          <p:nvPr>
            <p:ph type="dt" sz="half" idx="10"/>
          </p:nvPr>
        </p:nvSpPr>
        <p:spPr/>
        <p:txBody>
          <a:bodyPr/>
          <a:lstStyle/>
          <a:p>
            <a:fld id="{92A1BB07-BD1F-45DB-AFB8-DB941455516B}"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
        <p:nvSpPr>
          <p:cNvPr id="10" name="Content Placeholder 2">
            <a:extLst>
              <a:ext uri="{FF2B5EF4-FFF2-40B4-BE49-F238E27FC236}">
                <a16:creationId xmlns:a16="http://schemas.microsoft.com/office/drawing/2014/main" id="{8F20E8E7-D28B-4CE9-A711-C41C96A7B936}"/>
              </a:ext>
            </a:extLst>
          </p:cNvPr>
          <p:cNvSpPr txBox="1">
            <a:spLocks/>
          </p:cNvSpPr>
          <p:nvPr/>
        </p:nvSpPr>
        <p:spPr>
          <a:xfrm>
            <a:off x="2069840" y="4954553"/>
            <a:ext cx="8052320" cy="103610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Raw data of a supermarket are being processed to extract useful information</a:t>
            </a:r>
          </a:p>
        </p:txBody>
      </p:sp>
    </p:spTree>
    <p:extLst>
      <p:ext uri="{BB962C8B-B14F-4D97-AF65-F5344CB8AC3E}">
        <p14:creationId xmlns:p14="http://schemas.microsoft.com/office/powerpoint/2010/main" val="2466239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rmAutofit/>
          </a:bodyPr>
          <a:lstStyle/>
          <a:p>
            <a:pPr>
              <a:buFont typeface="Wingdings" panose="05000000000000000000" pitchFamily="2" charset="2"/>
              <a:buChar char="q"/>
            </a:pPr>
            <a:r>
              <a:rPr lang="en-US" dirty="0">
                <a:latin typeface="Arial" panose="020B0604020202020204" pitchFamily="34" charset="0"/>
                <a:cs typeface="Arial" panose="020B0604020202020204" pitchFamily="34" charset="0"/>
              </a:rPr>
              <a:t>The activities/functions/elements of information systems –</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Environment</a:t>
            </a:r>
          </a:p>
          <a:p>
            <a:pPr lvl="2"/>
            <a:r>
              <a:rPr lang="en-US" dirty="0">
                <a:latin typeface="Arial" panose="020B0604020202020204" pitchFamily="34" charset="0"/>
                <a:cs typeface="Arial" panose="020B0604020202020204" pitchFamily="34" charset="0"/>
              </a:rPr>
              <a:t>The external factors that impact and shape the system</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Inputs</a:t>
            </a:r>
          </a:p>
          <a:p>
            <a:pPr lvl="2"/>
            <a:r>
              <a:rPr lang="en-US" dirty="0">
                <a:latin typeface="Arial" panose="020B0604020202020204" pitchFamily="34" charset="0"/>
                <a:cs typeface="Arial" panose="020B0604020202020204" pitchFamily="34" charset="0"/>
              </a:rPr>
              <a:t>Captures or collects raw data from within the organization or from its external environment</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Processing</a:t>
            </a:r>
          </a:p>
          <a:p>
            <a:pPr lvl="2"/>
            <a:r>
              <a:rPr lang="en-US" dirty="0">
                <a:latin typeface="Arial" panose="020B0604020202020204" pitchFamily="34" charset="0"/>
                <a:cs typeface="Arial" panose="020B0604020202020204" pitchFamily="34" charset="0"/>
              </a:rPr>
              <a:t>Converts this raw input into a meaningful form</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Outputs</a:t>
            </a:r>
          </a:p>
          <a:p>
            <a:pPr lvl="2"/>
            <a:r>
              <a:rPr lang="en-US" dirty="0">
                <a:latin typeface="Arial" panose="020B0604020202020204" pitchFamily="34" charset="0"/>
                <a:cs typeface="Arial" panose="020B0604020202020204" pitchFamily="34" charset="0"/>
              </a:rPr>
              <a:t>Transfers the processed information to wherever it will be used</a:t>
            </a:r>
          </a:p>
          <a:p>
            <a:pPr lvl="1">
              <a:buFont typeface="Wingdings" panose="05000000000000000000" pitchFamily="2" charset="2"/>
              <a:buChar char="Ø"/>
            </a:pPr>
            <a:r>
              <a:rPr lang="en-US" dirty="0">
                <a:latin typeface="Arial" panose="020B0604020202020204" pitchFamily="34" charset="0"/>
                <a:cs typeface="Arial" panose="020B0604020202020204" pitchFamily="34" charset="0"/>
              </a:rPr>
              <a:t>Feedback</a:t>
            </a:r>
          </a:p>
          <a:p>
            <a:pPr lvl="2"/>
            <a:r>
              <a:rPr lang="en-US" dirty="0">
                <a:latin typeface="Arial" panose="020B0604020202020204" pitchFamily="34" charset="0"/>
                <a:cs typeface="Arial" panose="020B0604020202020204" pitchFamily="34" charset="0"/>
              </a:rPr>
              <a:t>Output that is returned to appropriate members of the organization to help them evaluate or correct the input stage</a:t>
            </a:r>
          </a:p>
        </p:txBody>
      </p:sp>
      <p:sp>
        <p:nvSpPr>
          <p:cNvPr id="3" name="Date Placeholder 2">
            <a:extLst>
              <a:ext uri="{FF2B5EF4-FFF2-40B4-BE49-F238E27FC236}">
                <a16:creationId xmlns:a16="http://schemas.microsoft.com/office/drawing/2014/main" id="{2B2A05C4-31B2-80BF-7815-E16C4F99F69A}"/>
              </a:ext>
            </a:extLst>
          </p:cNvPr>
          <p:cNvSpPr>
            <a:spLocks noGrp="1"/>
          </p:cNvSpPr>
          <p:nvPr>
            <p:ph type="dt" sz="half" idx="10"/>
          </p:nvPr>
        </p:nvSpPr>
        <p:spPr/>
        <p:txBody>
          <a:bodyPr/>
          <a:lstStyle/>
          <a:p>
            <a:fld id="{DC133174-9C93-4E91-A35E-35DB3E915F88}"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4227450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pic>
        <p:nvPicPr>
          <p:cNvPr id="10" name="Content Placeholder 9">
            <a:extLst>
              <a:ext uri="{FF2B5EF4-FFF2-40B4-BE49-F238E27FC236}">
                <a16:creationId xmlns:a16="http://schemas.microsoft.com/office/drawing/2014/main" id="{3EAA88B3-CD01-4743-864D-5C3FDF081FA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27145" y="1166424"/>
            <a:ext cx="6737709" cy="4795837"/>
          </a:xfrm>
        </p:spPr>
      </p:pic>
      <p:sp>
        <p:nvSpPr>
          <p:cNvPr id="3" name="Date Placeholder 2">
            <a:extLst>
              <a:ext uri="{FF2B5EF4-FFF2-40B4-BE49-F238E27FC236}">
                <a16:creationId xmlns:a16="http://schemas.microsoft.com/office/drawing/2014/main" id="{52B93C3C-B662-F8C6-4896-B67935DACA9B}"/>
              </a:ext>
            </a:extLst>
          </p:cNvPr>
          <p:cNvSpPr>
            <a:spLocks noGrp="1"/>
          </p:cNvSpPr>
          <p:nvPr>
            <p:ph type="dt" sz="half" idx="10"/>
          </p:nvPr>
        </p:nvSpPr>
        <p:spPr/>
        <p:txBody>
          <a:bodyPr/>
          <a:lstStyle/>
          <a:p>
            <a:fld id="{C460D74C-B011-403C-912E-960ABF8BCE03}"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401304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38ACB-7D2C-F852-8BE9-B8D814CA9E4D}"/>
              </a:ext>
            </a:extLst>
          </p:cNvPr>
          <p:cNvSpPr>
            <a:spLocks noGrp="1"/>
          </p:cNvSpPr>
          <p:nvPr>
            <p:ph type="dt" sz="half" idx="10"/>
          </p:nvPr>
        </p:nvSpPr>
        <p:spPr/>
        <p:txBody>
          <a:bodyPr/>
          <a:lstStyle/>
          <a:p>
            <a:fld id="{77CEFCFD-9EF2-4E99-9E08-73D2A06D5CD0}" type="datetime1">
              <a:rPr lang="en-US" smtClean="0"/>
              <a:t>10/14/2026</a:t>
            </a:fld>
            <a:endParaRPr lang="en-US"/>
          </a:p>
        </p:txBody>
      </p:sp>
      <p:sp>
        <p:nvSpPr>
          <p:cNvPr id="3" name="Footer Placeholder 2">
            <a:extLst>
              <a:ext uri="{FF2B5EF4-FFF2-40B4-BE49-F238E27FC236}">
                <a16:creationId xmlns:a16="http://schemas.microsoft.com/office/drawing/2014/main" id="{6FF33F32-625A-1F12-01A5-7B64A156AD58}"/>
              </a:ext>
            </a:extLst>
          </p:cNvPr>
          <p:cNvSpPr>
            <a:spLocks noGrp="1"/>
          </p:cNvSpPr>
          <p:nvPr>
            <p:ph type="ftr" sz="quarter" idx="11"/>
          </p:nvPr>
        </p:nvSpPr>
        <p:spPr/>
        <p:txBody>
          <a:bodyPr/>
          <a:lstStyle/>
          <a:p>
            <a:r>
              <a:rPr lang="en-US"/>
              <a:t>Md. Manirujjaman</a:t>
            </a:r>
          </a:p>
        </p:txBody>
      </p:sp>
      <p:pic>
        <p:nvPicPr>
          <p:cNvPr id="5" name="Picture 2">
            <a:extLst>
              <a:ext uri="{FF2B5EF4-FFF2-40B4-BE49-F238E27FC236}">
                <a16:creationId xmlns:a16="http://schemas.microsoft.com/office/drawing/2014/main" id="{6C4CCA48-4BD3-0AFE-7953-27F10454E339}"/>
              </a:ext>
            </a:extLst>
          </p:cNvPr>
          <p:cNvPicPr>
            <a:picLocks noChangeAspect="1"/>
          </p:cNvPicPr>
          <p:nvPr/>
        </p:nvPicPr>
        <p:blipFill>
          <a:blip r:embed="rId2"/>
          <a:srcRect l="127" t="-2407" r="2019" b="3309"/>
          <a:stretch>
            <a:fillRect/>
          </a:stretch>
        </p:blipFill>
        <p:spPr>
          <a:xfrm>
            <a:off x="0" y="-159430"/>
            <a:ext cx="12192000" cy="6362549"/>
          </a:xfrm>
          <a:prstGeom prst="rect">
            <a:avLst/>
          </a:prstGeom>
        </p:spPr>
      </p:pic>
    </p:spTree>
    <p:extLst>
      <p:ext uri="{BB962C8B-B14F-4D97-AF65-F5344CB8AC3E}">
        <p14:creationId xmlns:p14="http://schemas.microsoft.com/office/powerpoint/2010/main" val="1412080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3" name="Date Placeholder 2">
            <a:extLst>
              <a:ext uri="{FF2B5EF4-FFF2-40B4-BE49-F238E27FC236}">
                <a16:creationId xmlns:a16="http://schemas.microsoft.com/office/drawing/2014/main" id="{E052AA1A-C9A3-AFD0-4049-2C9B78F199C2}"/>
              </a:ext>
            </a:extLst>
          </p:cNvPr>
          <p:cNvSpPr>
            <a:spLocks noGrp="1"/>
          </p:cNvSpPr>
          <p:nvPr>
            <p:ph type="dt" sz="half" idx="10"/>
          </p:nvPr>
        </p:nvSpPr>
        <p:spPr/>
        <p:txBody>
          <a:bodyPr/>
          <a:lstStyle/>
          <a:p>
            <a:fld id="{B606D67C-E118-4326-9646-B0640A193026}"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10" name="Picture 9">
            <a:extLst>
              <a:ext uri="{FF2B5EF4-FFF2-40B4-BE49-F238E27FC236}">
                <a16:creationId xmlns:a16="http://schemas.microsoft.com/office/drawing/2014/main" id="{706D7610-A209-47D7-B8B1-C45AE08196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 y="1257948"/>
            <a:ext cx="9525000" cy="4762500"/>
          </a:xfrm>
          <a:prstGeom prst="rect">
            <a:avLst/>
          </a:prstGeom>
        </p:spPr>
      </p:pic>
    </p:spTree>
    <p:extLst>
      <p:ext uri="{BB962C8B-B14F-4D97-AF65-F5344CB8AC3E}">
        <p14:creationId xmlns:p14="http://schemas.microsoft.com/office/powerpoint/2010/main" val="31834061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832356"/>
            <a:ext cx="10515600" cy="4795933"/>
          </a:xfrm>
        </p:spPr>
        <p:txBody>
          <a:bodyPr>
            <a:noAutofit/>
          </a:bodyPr>
          <a:lstStyle/>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Top level management </a:t>
            </a:r>
          </a:p>
          <a:p>
            <a:pPr lvl="2">
              <a:lnSpc>
                <a:spcPct val="150000"/>
              </a:lnSpc>
            </a:pPr>
            <a:r>
              <a:rPr lang="en-US" sz="1800" dirty="0">
                <a:latin typeface="Arial" panose="020B0604020202020204" pitchFamily="34" charset="0"/>
                <a:cs typeface="Arial" panose="020B0604020202020204" pitchFamily="34" charset="0"/>
              </a:rPr>
              <a:t>Formulates objectives, plans, and policies.</a:t>
            </a:r>
          </a:p>
          <a:p>
            <a:pPr lvl="2">
              <a:lnSpc>
                <a:spcPct val="150000"/>
              </a:lnSpc>
            </a:pPr>
            <a:r>
              <a:rPr lang="en-US" sz="1800" dirty="0">
                <a:latin typeface="Arial" panose="020B0604020202020204" pitchFamily="34" charset="0"/>
                <a:cs typeface="Arial" panose="020B0604020202020204" pitchFamily="34" charset="0"/>
              </a:rPr>
              <a:t>Makes long-range strategic decisions.</a:t>
            </a:r>
          </a:p>
          <a:p>
            <a:pPr lvl="2">
              <a:lnSpc>
                <a:spcPct val="150000"/>
              </a:lnSpc>
            </a:pPr>
            <a:r>
              <a:rPr lang="en-US" sz="1800" dirty="0">
                <a:latin typeface="Arial" panose="020B0604020202020204" pitchFamily="34" charset="0"/>
                <a:cs typeface="Arial" panose="020B0604020202020204" pitchFamily="34" charset="0"/>
              </a:rPr>
              <a:t>Coordinates and control of the performance.</a:t>
            </a:r>
          </a:p>
          <a:p>
            <a:pPr lvl="2">
              <a:lnSpc>
                <a:spcPct val="150000"/>
              </a:lnSpc>
            </a:pPr>
            <a:r>
              <a:rPr lang="en-US" sz="1800" dirty="0">
                <a:latin typeface="Arial" panose="020B0604020202020204" pitchFamily="34" charset="0"/>
                <a:cs typeface="Arial" panose="020B0604020202020204" pitchFamily="34" charset="0"/>
              </a:rPr>
              <a:t>Analyses of the business environment.</a:t>
            </a:r>
          </a:p>
          <a:p>
            <a:pPr lvl="2">
              <a:lnSpc>
                <a:spcPct val="150000"/>
              </a:lnSpc>
            </a:pPr>
            <a:r>
              <a:rPr lang="en-US" sz="1800" dirty="0">
                <a:latin typeface="Arial" panose="020B0604020202020204" pitchFamily="34" charset="0"/>
                <a:cs typeface="Arial" panose="020B0604020202020204" pitchFamily="34" charset="0"/>
              </a:rPr>
              <a:t>Sets up an organizational framework.</a:t>
            </a:r>
          </a:p>
          <a:p>
            <a:pPr lvl="2">
              <a:lnSpc>
                <a:spcPct val="150000"/>
              </a:lnSpc>
            </a:pPr>
            <a:r>
              <a:rPr lang="en-US" sz="1800" dirty="0">
                <a:latin typeface="Arial" panose="020B0604020202020204" pitchFamily="34" charset="0"/>
                <a:cs typeface="Arial" panose="020B0604020202020204" pitchFamily="34" charset="0"/>
              </a:rPr>
              <a:t>Assembles of the resources.</a:t>
            </a:r>
          </a:p>
          <a:p>
            <a:pPr lvl="2">
              <a:lnSpc>
                <a:spcPct val="150000"/>
              </a:lnSpc>
            </a:pPr>
            <a:r>
              <a:rPr lang="en-US" sz="1800" dirty="0">
                <a:latin typeface="Arial" panose="020B0604020202020204" pitchFamily="34" charset="0"/>
                <a:cs typeface="Arial" panose="020B0604020202020204" pitchFamily="34" charset="0"/>
              </a:rPr>
              <a:t>Ensures financial performance of the firm.</a:t>
            </a:r>
          </a:p>
          <a:p>
            <a:pPr lvl="2">
              <a:lnSpc>
                <a:spcPct val="150000"/>
              </a:lnSpc>
            </a:pPr>
            <a:r>
              <a:rPr lang="en-US" sz="1800" dirty="0">
                <a:latin typeface="Arial" panose="020B0604020202020204" pitchFamily="34" charset="0"/>
                <a:cs typeface="Arial" panose="020B0604020202020204" pitchFamily="34" charset="0"/>
              </a:rPr>
              <a:t>Requires summarized information from a variety of sources to attain goals.</a:t>
            </a:r>
          </a:p>
          <a:p>
            <a:pPr lvl="2">
              <a:lnSpc>
                <a:spcPct val="150000"/>
              </a:lnSpc>
            </a:pPr>
            <a:r>
              <a:rPr lang="en-US" sz="1800" dirty="0">
                <a:latin typeface="Arial" panose="020B0604020202020204" pitchFamily="34" charset="0"/>
                <a:cs typeface="Arial" panose="020B0604020202020204" pitchFamily="34" charset="0"/>
              </a:rPr>
              <a:t>Relatively open, dynamic, and adaptive.</a:t>
            </a:r>
          </a:p>
          <a:p>
            <a:pPr lvl="2">
              <a:lnSpc>
                <a:spcPct val="150000"/>
              </a:lnSpc>
            </a:pPr>
            <a:r>
              <a:rPr lang="en-US" sz="1800" dirty="0">
                <a:latin typeface="Arial" panose="020B0604020202020204" pitchFamily="34" charset="0"/>
                <a:cs typeface="Arial" panose="020B0604020202020204" pitchFamily="34" charset="0"/>
              </a:rPr>
              <a:t>Decisions are mostly judgmental.</a:t>
            </a:r>
          </a:p>
        </p:txBody>
      </p:sp>
      <p:sp>
        <p:nvSpPr>
          <p:cNvPr id="3" name="Date Placeholder 2">
            <a:extLst>
              <a:ext uri="{FF2B5EF4-FFF2-40B4-BE49-F238E27FC236}">
                <a16:creationId xmlns:a16="http://schemas.microsoft.com/office/drawing/2014/main" id="{7EC7BACB-5A90-7459-D048-85741724BBD9}"/>
              </a:ext>
            </a:extLst>
          </p:cNvPr>
          <p:cNvSpPr>
            <a:spLocks noGrp="1"/>
          </p:cNvSpPr>
          <p:nvPr>
            <p:ph type="dt" sz="half" idx="10"/>
          </p:nvPr>
        </p:nvSpPr>
        <p:spPr/>
        <p:txBody>
          <a:bodyPr/>
          <a:lstStyle/>
          <a:p>
            <a:fld id="{20DFA54D-76A1-44FB-8DDA-D22A9A16F6DE}"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634031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rmAutofit/>
          </a:bodyPr>
          <a:lstStyle/>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Middle management </a:t>
            </a:r>
          </a:p>
          <a:p>
            <a:pPr lvl="1">
              <a:lnSpc>
                <a:spcPct val="150000"/>
              </a:lnSpc>
            </a:pPr>
            <a:r>
              <a:rPr lang="en-US" dirty="0">
                <a:latin typeface="Arial" panose="020B0604020202020204" pitchFamily="34" charset="0"/>
                <a:cs typeface="Arial" panose="020B0604020202020204" pitchFamily="34" charset="0"/>
              </a:rPr>
              <a:t>Carries out the programs and plans of senior management.</a:t>
            </a:r>
          </a:p>
          <a:p>
            <a:pPr lvl="1">
              <a:lnSpc>
                <a:spcPct val="150000"/>
              </a:lnSpc>
            </a:pPr>
            <a:r>
              <a:rPr lang="en-US" dirty="0">
                <a:latin typeface="Arial" panose="020B0604020202020204" pitchFamily="34" charset="0"/>
                <a:cs typeface="Arial" panose="020B0604020202020204" pitchFamily="34" charset="0"/>
              </a:rPr>
              <a:t>Interprets of the policies framed by the Top Level Management.</a:t>
            </a:r>
          </a:p>
          <a:p>
            <a:pPr lvl="1">
              <a:lnSpc>
                <a:spcPct val="150000"/>
              </a:lnSpc>
            </a:pPr>
            <a:r>
              <a:rPr lang="en-US" dirty="0">
                <a:latin typeface="Arial" panose="020B0604020202020204" pitchFamily="34" charset="0"/>
                <a:cs typeface="Arial" panose="020B0604020202020204" pitchFamily="34" charset="0"/>
              </a:rPr>
              <a:t>Selects of suitable operative and supervisory personnel.</a:t>
            </a:r>
          </a:p>
          <a:p>
            <a:pPr lvl="1">
              <a:lnSpc>
                <a:spcPct val="150000"/>
              </a:lnSpc>
            </a:pPr>
            <a:r>
              <a:rPr lang="en-US" dirty="0">
                <a:latin typeface="Arial" panose="020B0604020202020204" pitchFamily="34" charset="0"/>
                <a:cs typeface="Arial" panose="020B0604020202020204" pitchFamily="34" charset="0"/>
              </a:rPr>
              <a:t>Assigns of duties and responsibilities to the Lower Level Management.</a:t>
            </a:r>
          </a:p>
          <a:p>
            <a:pPr lvl="1">
              <a:lnSpc>
                <a:spcPct val="150000"/>
              </a:lnSpc>
            </a:pPr>
            <a:r>
              <a:rPr lang="en-US" dirty="0">
                <a:latin typeface="Arial" panose="020B0604020202020204" pitchFamily="34" charset="0"/>
                <a:cs typeface="Arial" panose="020B0604020202020204" pitchFamily="34" charset="0"/>
              </a:rPr>
              <a:t>Motivates employees to get desired objectives.</a:t>
            </a:r>
          </a:p>
          <a:p>
            <a:pPr lvl="1">
              <a:lnSpc>
                <a:spcPct val="150000"/>
              </a:lnSpc>
            </a:pPr>
            <a:r>
              <a:rPr lang="en-US" dirty="0">
                <a:latin typeface="Arial" panose="020B0604020202020204" pitchFamily="34" charset="0"/>
                <a:cs typeface="Arial" panose="020B0604020202020204" pitchFamily="34" charset="0"/>
              </a:rPr>
              <a:t>Cooperates with the entire organization.</a:t>
            </a:r>
          </a:p>
        </p:txBody>
      </p:sp>
      <p:sp>
        <p:nvSpPr>
          <p:cNvPr id="3" name="Date Placeholder 2">
            <a:extLst>
              <a:ext uri="{FF2B5EF4-FFF2-40B4-BE49-F238E27FC236}">
                <a16:creationId xmlns:a16="http://schemas.microsoft.com/office/drawing/2014/main" id="{1E33A907-2D5E-846A-2176-AB80FB45619F}"/>
              </a:ext>
            </a:extLst>
          </p:cNvPr>
          <p:cNvSpPr>
            <a:spLocks noGrp="1"/>
          </p:cNvSpPr>
          <p:nvPr>
            <p:ph type="dt" sz="half" idx="10"/>
          </p:nvPr>
        </p:nvSpPr>
        <p:spPr/>
        <p:txBody>
          <a:bodyPr/>
          <a:lstStyle/>
          <a:p>
            <a:fld id="{20F097A3-E1C8-4234-AA94-33BEDA48595A}"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4084253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812386"/>
            <a:ext cx="10515600" cy="4795933"/>
          </a:xfrm>
        </p:spPr>
        <p:txBody>
          <a:bodyPr>
            <a:noAutofit/>
          </a:bodyPr>
          <a:lstStyle/>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Lower management </a:t>
            </a:r>
          </a:p>
          <a:p>
            <a:pPr lvl="1">
              <a:lnSpc>
                <a:spcPct val="150000"/>
              </a:lnSpc>
            </a:pPr>
            <a:r>
              <a:rPr lang="en-US" dirty="0">
                <a:latin typeface="Arial" panose="020B0604020202020204" pitchFamily="34" charset="0"/>
                <a:cs typeface="Arial" panose="020B0604020202020204" pitchFamily="34" charset="0"/>
              </a:rPr>
              <a:t>Also known as Supervisory or Operational Level Management.</a:t>
            </a:r>
          </a:p>
          <a:p>
            <a:pPr lvl="1">
              <a:lnSpc>
                <a:spcPct val="150000"/>
              </a:lnSpc>
            </a:pPr>
            <a:r>
              <a:rPr lang="en-US" dirty="0">
                <a:latin typeface="Arial" panose="020B0604020202020204" pitchFamily="34" charset="0"/>
                <a:cs typeface="Arial" panose="020B0604020202020204" pitchFamily="34" charset="0"/>
              </a:rPr>
              <a:t>Issues of orders and instructions.</a:t>
            </a:r>
          </a:p>
          <a:p>
            <a:pPr lvl="1">
              <a:lnSpc>
                <a:spcPct val="150000"/>
              </a:lnSpc>
            </a:pPr>
            <a:r>
              <a:rPr lang="en-US" dirty="0">
                <a:latin typeface="Arial" panose="020B0604020202020204" pitchFamily="34" charset="0"/>
                <a:cs typeface="Arial" panose="020B0604020202020204" pitchFamily="34" charset="0"/>
              </a:rPr>
              <a:t>Makes day-to-day, relatively structured control decisions.</a:t>
            </a:r>
          </a:p>
          <a:p>
            <a:pPr lvl="1">
              <a:lnSpc>
                <a:spcPct val="150000"/>
              </a:lnSpc>
            </a:pPr>
            <a:r>
              <a:rPr lang="en-US" dirty="0">
                <a:latin typeface="Arial" panose="020B0604020202020204" pitchFamily="34" charset="0"/>
                <a:cs typeface="Arial" panose="020B0604020202020204" pitchFamily="34" charset="0"/>
              </a:rPr>
              <a:t>Monitors the daily activities of the business.</a:t>
            </a:r>
          </a:p>
          <a:p>
            <a:pPr lvl="1">
              <a:lnSpc>
                <a:spcPct val="150000"/>
              </a:lnSpc>
            </a:pPr>
            <a:r>
              <a:rPr lang="en-US" dirty="0">
                <a:latin typeface="Arial" panose="020B0604020202020204" pitchFamily="34" charset="0"/>
                <a:cs typeface="Arial" panose="020B0604020202020204" pitchFamily="34" charset="0"/>
              </a:rPr>
              <a:t>Assigns and assists the workers</a:t>
            </a:r>
          </a:p>
          <a:p>
            <a:pPr lvl="1">
              <a:lnSpc>
                <a:spcPct val="150000"/>
              </a:lnSpc>
            </a:pPr>
            <a:r>
              <a:rPr lang="en-US" dirty="0">
                <a:latin typeface="Arial" panose="020B0604020202020204" pitchFamily="34" charset="0"/>
                <a:cs typeface="Arial" panose="020B0604020202020204" pitchFamily="34" charset="0"/>
              </a:rPr>
              <a:t>Represents workers’ grievances.</a:t>
            </a:r>
          </a:p>
          <a:p>
            <a:pPr lvl="1">
              <a:lnSpc>
                <a:spcPct val="150000"/>
              </a:lnSpc>
            </a:pPr>
            <a:r>
              <a:rPr lang="en-US" dirty="0">
                <a:latin typeface="Arial" panose="020B0604020202020204" pitchFamily="34" charset="0"/>
                <a:cs typeface="Arial" panose="020B0604020202020204" pitchFamily="34" charset="0"/>
              </a:rPr>
              <a:t>Ensures a safe and proper work environment.</a:t>
            </a:r>
          </a:p>
          <a:p>
            <a:pPr lvl="1">
              <a:lnSpc>
                <a:spcPct val="150000"/>
              </a:lnSpc>
            </a:pPr>
            <a:r>
              <a:rPr lang="en-US" dirty="0">
                <a:latin typeface="Arial" panose="020B0604020202020204" pitchFamily="34" charset="0"/>
                <a:cs typeface="Arial" panose="020B0604020202020204" pitchFamily="34" charset="0"/>
              </a:rPr>
              <a:t>Helps the middle level management.</a:t>
            </a:r>
          </a:p>
          <a:p>
            <a:pPr lvl="1">
              <a:lnSpc>
                <a:spcPct val="150000"/>
              </a:lnSpc>
            </a:pPr>
            <a:r>
              <a:rPr lang="en-US" dirty="0">
                <a:latin typeface="Arial" panose="020B0604020202020204" pitchFamily="34" charset="0"/>
                <a:cs typeface="Arial" panose="020B0604020202020204" pitchFamily="34" charset="0"/>
              </a:rPr>
              <a:t>Encourages initiative of employees.</a:t>
            </a:r>
          </a:p>
          <a:p>
            <a:pPr lvl="1">
              <a:lnSpc>
                <a:spcPct val="150000"/>
              </a:lnSpc>
            </a:pPr>
            <a:r>
              <a:rPr lang="en-US" dirty="0">
                <a:latin typeface="Arial" panose="020B0604020202020204" pitchFamily="34" charset="0"/>
                <a:cs typeface="Arial" panose="020B0604020202020204" pitchFamily="34" charset="0"/>
              </a:rPr>
              <a:t>Needs detailed internal information.</a:t>
            </a:r>
          </a:p>
        </p:txBody>
      </p:sp>
      <p:sp>
        <p:nvSpPr>
          <p:cNvPr id="3" name="Date Placeholder 2">
            <a:extLst>
              <a:ext uri="{FF2B5EF4-FFF2-40B4-BE49-F238E27FC236}">
                <a16:creationId xmlns:a16="http://schemas.microsoft.com/office/drawing/2014/main" id="{0AF2CC5B-D85E-477D-5980-57DEA50D2647}"/>
              </a:ext>
            </a:extLst>
          </p:cNvPr>
          <p:cNvSpPr>
            <a:spLocks noGrp="1"/>
          </p:cNvSpPr>
          <p:nvPr>
            <p:ph type="dt" sz="half" idx="10"/>
          </p:nvPr>
        </p:nvSpPr>
        <p:spPr/>
        <p:txBody>
          <a:bodyPr/>
          <a:lstStyle/>
          <a:p>
            <a:fld id="{30BDC980-8B84-413F-A42C-4D6DA9470F56}"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1581477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rmAutofit/>
          </a:bodyPr>
          <a:lstStyle/>
          <a:p>
            <a:r>
              <a:rPr lang="en-US" sz="1800" dirty="0">
                <a:latin typeface="Arial" panose="020B0604020202020204" pitchFamily="34" charset="0"/>
                <a:cs typeface="Arial" panose="020B0604020202020204" pitchFamily="34" charset="0"/>
              </a:rPr>
              <a:t>Workforces include –</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Data workers</a:t>
            </a:r>
          </a:p>
          <a:p>
            <a:pPr lvl="2"/>
            <a:r>
              <a:rPr lang="en-US" sz="1800" dirty="0">
                <a:latin typeface="Arial" panose="020B0604020202020204" pitchFamily="34" charset="0"/>
                <a:cs typeface="Arial" panose="020B0604020202020204" pitchFamily="34" charset="0"/>
              </a:rPr>
              <a:t>Clerks, secretariats, etc.</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Knowledge workers</a:t>
            </a:r>
          </a:p>
          <a:p>
            <a:pPr lvl="2"/>
            <a:r>
              <a:rPr lang="en-US" sz="1800" dirty="0">
                <a:latin typeface="Arial" panose="020B0604020202020204" pitchFamily="34" charset="0"/>
                <a:cs typeface="Arial" panose="020B0604020202020204" pitchFamily="34" charset="0"/>
              </a:rPr>
              <a:t>Engineers (😔), scientists, architects, etc.</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Production workers</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Service workers</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And, many others</a:t>
            </a:r>
          </a:p>
        </p:txBody>
      </p:sp>
      <p:sp>
        <p:nvSpPr>
          <p:cNvPr id="3" name="Date Placeholder 2">
            <a:extLst>
              <a:ext uri="{FF2B5EF4-FFF2-40B4-BE49-F238E27FC236}">
                <a16:creationId xmlns:a16="http://schemas.microsoft.com/office/drawing/2014/main" id="{9D90FF4F-091A-821D-4BF3-7CB3C06AF2E5}"/>
              </a:ext>
            </a:extLst>
          </p:cNvPr>
          <p:cNvSpPr>
            <a:spLocks noGrp="1"/>
          </p:cNvSpPr>
          <p:nvPr>
            <p:ph type="dt" sz="half" idx="10"/>
          </p:nvPr>
        </p:nvSpPr>
        <p:spPr/>
        <p:txBody>
          <a:bodyPr/>
          <a:lstStyle/>
          <a:p>
            <a:fld id="{AA4A0CC7-36A5-4EDD-ABF4-1AD351B016BF}"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12" name="Picture 11">
            <a:extLst>
              <a:ext uri="{FF2B5EF4-FFF2-40B4-BE49-F238E27FC236}">
                <a16:creationId xmlns:a16="http://schemas.microsoft.com/office/drawing/2014/main" id="{81CE9C32-3048-4074-B135-E59A4C0650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8791" y="1292290"/>
            <a:ext cx="4990321" cy="4273420"/>
          </a:xfrm>
          <a:prstGeom prst="rect">
            <a:avLst/>
          </a:prstGeom>
        </p:spPr>
      </p:pic>
    </p:spTree>
    <p:extLst>
      <p:ext uri="{BB962C8B-B14F-4D97-AF65-F5344CB8AC3E}">
        <p14:creationId xmlns:p14="http://schemas.microsoft.com/office/powerpoint/2010/main" val="1479594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Organizations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886475"/>
            <a:ext cx="10515600" cy="4795933"/>
          </a:xfrm>
        </p:spPr>
        <p:txBody>
          <a:bodyPr>
            <a:normAutofit lnSpcReduction="10000"/>
          </a:bodyPr>
          <a:lstStyle/>
          <a:p>
            <a:pPr>
              <a:lnSpc>
                <a:spcPct val="150000"/>
              </a:lnSpc>
            </a:pPr>
            <a:r>
              <a:rPr lang="en-US" dirty="0"/>
              <a:t> </a:t>
            </a:r>
            <a:r>
              <a:rPr lang="en-US" dirty="0">
                <a:latin typeface="Arial" panose="020B0604020202020204" pitchFamily="34" charset="0"/>
                <a:cs typeface="Arial" panose="020B0604020202020204" pitchFamily="34" charset="0"/>
              </a:rPr>
              <a:t>Business functions</a:t>
            </a:r>
          </a:p>
          <a:p>
            <a:pPr lvl="1">
              <a:lnSpc>
                <a:spcPct val="150000"/>
              </a:lnSpc>
            </a:pPr>
            <a:r>
              <a:rPr lang="en-US" dirty="0">
                <a:latin typeface="Arial" panose="020B0604020202020204" pitchFamily="34" charset="0"/>
                <a:cs typeface="Arial" panose="020B0604020202020204" pitchFamily="34" charset="0"/>
              </a:rPr>
              <a:t>Sales, marketing, manufacturing, production, finance, accounting, HR, etc.</a:t>
            </a:r>
          </a:p>
          <a:p>
            <a:pPr>
              <a:lnSpc>
                <a:spcPct val="150000"/>
              </a:lnSpc>
            </a:pPr>
            <a:r>
              <a:rPr lang="en-US" dirty="0">
                <a:latin typeface="Arial" panose="020B0604020202020204" pitchFamily="34" charset="0"/>
                <a:cs typeface="Arial" panose="020B0604020202020204" pitchFamily="34" charset="0"/>
              </a:rPr>
              <a:t>Formal rules</a:t>
            </a:r>
          </a:p>
          <a:p>
            <a:pPr>
              <a:lnSpc>
                <a:spcPct val="150000"/>
              </a:lnSpc>
            </a:pPr>
            <a:r>
              <a:rPr lang="en-US" dirty="0">
                <a:latin typeface="Arial" panose="020B0604020202020204" pitchFamily="34" charset="0"/>
                <a:cs typeface="Arial" panose="020B0604020202020204" pitchFamily="34" charset="0"/>
              </a:rPr>
              <a:t>Informal work practices</a:t>
            </a:r>
          </a:p>
          <a:p>
            <a:pPr>
              <a:lnSpc>
                <a:spcPct val="150000"/>
              </a:lnSpc>
            </a:pPr>
            <a:r>
              <a:rPr lang="en-US" dirty="0">
                <a:latin typeface="Arial" panose="020B0604020202020204" pitchFamily="34" charset="0"/>
                <a:cs typeface="Arial" panose="020B0604020202020204" pitchFamily="34" charset="0"/>
              </a:rPr>
              <a:t>Automation</a:t>
            </a:r>
          </a:p>
          <a:p>
            <a:pPr>
              <a:lnSpc>
                <a:spcPct val="150000"/>
              </a:lnSpc>
            </a:pPr>
            <a:r>
              <a:rPr lang="en-US" dirty="0">
                <a:latin typeface="Arial" panose="020B0604020202020204" pitchFamily="34" charset="0"/>
                <a:cs typeface="Arial" panose="020B0604020202020204" pitchFamily="34" charset="0"/>
              </a:rPr>
              <a:t>Differing perspectives, conflicts, compromises, and agreements.</a:t>
            </a:r>
          </a:p>
          <a:p>
            <a:pPr>
              <a:lnSpc>
                <a:spcPct val="150000"/>
              </a:lnSpc>
            </a:pPr>
            <a:r>
              <a:rPr lang="en-US" dirty="0">
                <a:latin typeface="Arial" panose="020B0604020202020204" pitchFamily="34" charset="0"/>
                <a:cs typeface="Arial" panose="020B0604020202020204" pitchFamily="34" charset="0"/>
              </a:rPr>
              <a:t>Unique culture</a:t>
            </a:r>
          </a:p>
          <a:p>
            <a:pPr lvl="1">
              <a:lnSpc>
                <a:spcPct val="150000"/>
              </a:lnSpc>
            </a:pPr>
            <a:r>
              <a:rPr lang="en-US" dirty="0">
                <a:latin typeface="Arial" panose="020B0604020202020204" pitchFamily="34" charset="0"/>
                <a:cs typeface="Arial" panose="020B0604020202020204" pitchFamily="34" charset="0"/>
              </a:rPr>
              <a:t>Fundamental set of assumptions, values, and ways of doing things.</a:t>
            </a:r>
          </a:p>
          <a:p>
            <a:pPr lvl="1">
              <a:lnSpc>
                <a:spcPct val="150000"/>
              </a:lnSpc>
            </a:pPr>
            <a:r>
              <a:rPr lang="en-US" dirty="0">
                <a:latin typeface="Arial" panose="020B0604020202020204" pitchFamily="34" charset="0"/>
                <a:cs typeface="Arial" panose="020B0604020202020204" pitchFamily="34" charset="0"/>
              </a:rPr>
              <a:t>Accepted by most of its members.</a:t>
            </a:r>
          </a:p>
        </p:txBody>
      </p:sp>
      <p:sp>
        <p:nvSpPr>
          <p:cNvPr id="3" name="Date Placeholder 2">
            <a:extLst>
              <a:ext uri="{FF2B5EF4-FFF2-40B4-BE49-F238E27FC236}">
                <a16:creationId xmlns:a16="http://schemas.microsoft.com/office/drawing/2014/main" id="{E9B0D98D-8141-A0E9-E10E-20DE25DE2BA7}"/>
              </a:ext>
            </a:extLst>
          </p:cNvPr>
          <p:cNvSpPr>
            <a:spLocks noGrp="1"/>
          </p:cNvSpPr>
          <p:nvPr>
            <p:ph type="dt" sz="half" idx="10"/>
          </p:nvPr>
        </p:nvSpPr>
        <p:spPr/>
        <p:txBody>
          <a:bodyPr/>
          <a:lstStyle/>
          <a:p>
            <a:fld id="{336A97F5-AE7B-42E2-883C-664027668F44}"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2756360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Dimensions of 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Autofit/>
          </a:bodyPr>
          <a:lstStyle/>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Management</a:t>
            </a:r>
          </a:p>
          <a:p>
            <a:pPr lvl="1">
              <a:lnSpc>
                <a:spcPct val="150000"/>
              </a:lnSpc>
            </a:pPr>
            <a:r>
              <a:rPr lang="en-US" dirty="0">
                <a:latin typeface="Arial" panose="020B0604020202020204" pitchFamily="34" charset="0"/>
                <a:cs typeface="Arial" panose="020B0604020202020204" pitchFamily="34" charset="0"/>
              </a:rPr>
              <a:t>Manage what already exists.</a:t>
            </a:r>
          </a:p>
          <a:p>
            <a:pPr lvl="1">
              <a:lnSpc>
                <a:spcPct val="150000"/>
              </a:lnSpc>
            </a:pPr>
            <a:r>
              <a:rPr lang="en-US" dirty="0">
                <a:latin typeface="Arial" panose="020B0604020202020204" pitchFamily="34" charset="0"/>
                <a:cs typeface="Arial" panose="020B0604020202020204" pitchFamily="34" charset="0"/>
              </a:rPr>
              <a:t>Create new products and services.</a:t>
            </a:r>
          </a:p>
          <a:p>
            <a:pPr lvl="1">
              <a:lnSpc>
                <a:spcPct val="150000"/>
              </a:lnSpc>
            </a:pPr>
            <a:r>
              <a:rPr lang="en-US" dirty="0">
                <a:latin typeface="Arial" panose="020B0604020202020204" pitchFamily="34" charset="0"/>
                <a:cs typeface="Arial" panose="020B0604020202020204" pitchFamily="34" charset="0"/>
              </a:rPr>
              <a:t>If needed, re-create the organization.</a:t>
            </a:r>
          </a:p>
          <a:p>
            <a:pPr>
              <a:lnSpc>
                <a:spcPct val="150000"/>
              </a:lnSpc>
            </a:pPr>
            <a:endParaRPr lang="en-US" sz="1800"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en-US" sz="1800" dirty="0">
                <a:latin typeface="Arial" panose="020B0604020202020204" pitchFamily="34" charset="0"/>
                <a:cs typeface="Arial" panose="020B0604020202020204" pitchFamily="34" charset="0"/>
              </a:rPr>
              <a:t>Information Technology Infrastructures</a:t>
            </a:r>
          </a:p>
          <a:p>
            <a:pPr lvl="1">
              <a:lnSpc>
                <a:spcPct val="150000"/>
              </a:lnSpc>
            </a:pPr>
            <a:r>
              <a:rPr lang="en-US" dirty="0">
                <a:latin typeface="Arial" panose="020B0604020202020204" pitchFamily="34" charset="0"/>
                <a:cs typeface="Arial" panose="020B0604020202020204" pitchFamily="34" charset="0"/>
              </a:rPr>
              <a:t>Provides the foundation, or platform, on which the firm can build its IS.</a:t>
            </a:r>
          </a:p>
          <a:p>
            <a:pPr lvl="1">
              <a:lnSpc>
                <a:spcPct val="150000"/>
              </a:lnSpc>
            </a:pPr>
            <a:r>
              <a:rPr lang="en-US" dirty="0">
                <a:latin typeface="Arial" panose="020B0604020202020204" pitchFamily="34" charset="0"/>
                <a:cs typeface="Arial" panose="020B0604020202020204" pitchFamily="34" charset="0"/>
              </a:rPr>
              <a:t>Hardware and software.</a:t>
            </a:r>
          </a:p>
          <a:p>
            <a:pPr lvl="1">
              <a:lnSpc>
                <a:spcPct val="150000"/>
              </a:lnSpc>
            </a:pPr>
            <a:r>
              <a:rPr lang="en-US" dirty="0">
                <a:latin typeface="Arial" panose="020B0604020202020204" pitchFamily="34" charset="0"/>
                <a:cs typeface="Arial" panose="020B0604020202020204" pitchFamily="34" charset="0"/>
              </a:rPr>
              <a:t>Data management technology.</a:t>
            </a:r>
          </a:p>
          <a:p>
            <a:pPr lvl="1">
              <a:lnSpc>
                <a:spcPct val="150000"/>
              </a:lnSpc>
            </a:pPr>
            <a:r>
              <a:rPr lang="en-US" dirty="0">
                <a:latin typeface="Arial" panose="020B0604020202020204" pitchFamily="34" charset="0"/>
                <a:cs typeface="Arial" panose="020B0604020202020204" pitchFamily="34" charset="0"/>
              </a:rPr>
              <a:t>Networking and telecommunications technology.</a:t>
            </a:r>
          </a:p>
        </p:txBody>
      </p:sp>
      <p:sp>
        <p:nvSpPr>
          <p:cNvPr id="3" name="Date Placeholder 2">
            <a:extLst>
              <a:ext uri="{FF2B5EF4-FFF2-40B4-BE49-F238E27FC236}">
                <a16:creationId xmlns:a16="http://schemas.microsoft.com/office/drawing/2014/main" id="{8E728338-0E6E-F7D6-906B-9C057DDE7DB7}"/>
              </a:ext>
            </a:extLst>
          </p:cNvPr>
          <p:cNvSpPr>
            <a:spLocks noGrp="1"/>
          </p:cNvSpPr>
          <p:nvPr>
            <p:ph type="dt" sz="half" idx="10"/>
          </p:nvPr>
        </p:nvSpPr>
        <p:spPr/>
        <p:txBody>
          <a:bodyPr/>
          <a:lstStyle/>
          <a:p>
            <a:fld id="{4CBC7648-A281-4929-B5A5-68832423089E}"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1901104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903513" y="1147666"/>
            <a:ext cx="10515600" cy="4795933"/>
          </a:xfrm>
        </p:spPr>
        <p:txBody>
          <a:bodyPr>
            <a:normAutofit/>
          </a:bodyPr>
          <a:lstStyle/>
          <a:p>
            <a:pPr>
              <a:buFont typeface="Wingdings" panose="05000000000000000000" pitchFamily="2" charset="2"/>
              <a:buChar char="Ø"/>
            </a:pPr>
            <a:r>
              <a:rPr lang="en-US" dirty="0">
                <a:latin typeface="Arial" panose="020B0604020202020204" pitchFamily="34" charset="0"/>
                <a:cs typeface="Arial" panose="020B0604020202020204" pitchFamily="34" charset="0"/>
              </a:rPr>
              <a:t>Information system enables the firm to –</a:t>
            </a:r>
          </a:p>
          <a:p>
            <a:pPr lvl="1"/>
            <a:r>
              <a:rPr lang="en-US" dirty="0">
                <a:latin typeface="Arial" panose="020B0604020202020204" pitchFamily="34" charset="0"/>
                <a:cs typeface="Arial" panose="020B0604020202020204" pitchFamily="34" charset="0"/>
              </a:rPr>
              <a:t>increase its revenue or decrease its costs by providing information </a:t>
            </a:r>
          </a:p>
          <a:p>
            <a:pPr lvl="1"/>
            <a:r>
              <a:rPr lang="en-US" dirty="0">
                <a:latin typeface="Arial" panose="020B0604020202020204" pitchFamily="34" charset="0"/>
                <a:cs typeface="Arial" panose="020B0604020202020204" pitchFamily="34" charset="0"/>
              </a:rPr>
              <a:t>that helps managers make better decisions </a:t>
            </a:r>
          </a:p>
          <a:p>
            <a:pPr lvl="1"/>
            <a:r>
              <a:rPr lang="en-US" dirty="0">
                <a:latin typeface="Arial" panose="020B0604020202020204" pitchFamily="34" charset="0"/>
                <a:cs typeface="Arial" panose="020B0604020202020204" pitchFamily="34" charset="0"/>
              </a:rPr>
              <a:t>that improves the execution of business processes</a:t>
            </a:r>
          </a:p>
          <a:p>
            <a:endParaRPr lang="en-US"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dirty="0">
                <a:latin typeface="Arial" panose="020B0604020202020204" pitchFamily="34" charset="0"/>
                <a:cs typeface="Arial" panose="020B0604020202020204" pitchFamily="34" charset="0"/>
              </a:rPr>
              <a:t>The decision to invest in any new information system is determined by the extent to which the system will lead to –</a:t>
            </a:r>
          </a:p>
          <a:p>
            <a:pPr lvl="1"/>
            <a:r>
              <a:rPr lang="en-US" dirty="0">
                <a:latin typeface="Arial" panose="020B0604020202020204" pitchFamily="34" charset="0"/>
                <a:cs typeface="Arial" panose="020B0604020202020204" pitchFamily="34" charset="0"/>
              </a:rPr>
              <a:t>better management decisions </a:t>
            </a:r>
          </a:p>
          <a:p>
            <a:pPr lvl="1"/>
            <a:r>
              <a:rPr lang="en-US" dirty="0">
                <a:latin typeface="Arial" panose="020B0604020202020204" pitchFamily="34" charset="0"/>
                <a:cs typeface="Arial" panose="020B0604020202020204" pitchFamily="34" charset="0"/>
              </a:rPr>
              <a:t>more efficient business processes</a:t>
            </a:r>
          </a:p>
          <a:p>
            <a:pPr lvl="1"/>
            <a:r>
              <a:rPr lang="en-US" dirty="0">
                <a:latin typeface="Arial" panose="020B0604020202020204" pitchFamily="34" charset="0"/>
                <a:cs typeface="Arial" panose="020B0604020202020204" pitchFamily="34" charset="0"/>
              </a:rPr>
              <a:t>higher firm profitability</a:t>
            </a:r>
          </a:p>
        </p:txBody>
      </p:sp>
      <p:sp>
        <p:nvSpPr>
          <p:cNvPr id="3" name="Date Placeholder 2">
            <a:extLst>
              <a:ext uri="{FF2B5EF4-FFF2-40B4-BE49-F238E27FC236}">
                <a16:creationId xmlns:a16="http://schemas.microsoft.com/office/drawing/2014/main" id="{13528019-32C7-D18B-0BBF-C8BD0F121B9C}"/>
              </a:ext>
            </a:extLst>
          </p:cNvPr>
          <p:cNvSpPr>
            <a:spLocks noGrp="1"/>
          </p:cNvSpPr>
          <p:nvPr>
            <p:ph type="dt" sz="half" idx="10"/>
          </p:nvPr>
        </p:nvSpPr>
        <p:spPr/>
        <p:txBody>
          <a:bodyPr/>
          <a:lstStyle/>
          <a:p>
            <a:fld id="{BAEC4A0B-B9D6-4018-9BF3-03F0936AEEE5}"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4000757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Information Value Chain</a:t>
            </a:r>
          </a:p>
        </p:txBody>
      </p:sp>
      <p:pic>
        <p:nvPicPr>
          <p:cNvPr id="7" name="Content Placeholder 6">
            <a:extLst>
              <a:ext uri="{FF2B5EF4-FFF2-40B4-BE49-F238E27FC236}">
                <a16:creationId xmlns:a16="http://schemas.microsoft.com/office/drawing/2014/main" id="{827CD1F7-4A38-4310-8889-C0BC037089F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91921" y="1493604"/>
            <a:ext cx="9215119" cy="4687831"/>
          </a:xfrm>
        </p:spPr>
      </p:pic>
      <p:sp>
        <p:nvSpPr>
          <p:cNvPr id="3" name="Date Placeholder 2">
            <a:extLst>
              <a:ext uri="{FF2B5EF4-FFF2-40B4-BE49-F238E27FC236}">
                <a16:creationId xmlns:a16="http://schemas.microsoft.com/office/drawing/2014/main" id="{B3C9BC2E-6704-0868-9FEB-D40DEDD93538}"/>
              </a:ext>
            </a:extLst>
          </p:cNvPr>
          <p:cNvSpPr>
            <a:spLocks noGrp="1"/>
          </p:cNvSpPr>
          <p:nvPr>
            <p:ph type="dt" sz="half" idx="10"/>
          </p:nvPr>
        </p:nvSpPr>
        <p:spPr/>
        <p:txBody>
          <a:bodyPr/>
          <a:lstStyle/>
          <a:p>
            <a:fld id="{27539E1D-6584-4F78-9BB3-D41676186A71}"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
        <p:nvSpPr>
          <p:cNvPr id="4" name="TextBox 3">
            <a:extLst>
              <a:ext uri="{FF2B5EF4-FFF2-40B4-BE49-F238E27FC236}">
                <a16:creationId xmlns:a16="http://schemas.microsoft.com/office/drawing/2014/main" id="{C798006E-B173-3651-A836-08495757626D}"/>
              </a:ext>
            </a:extLst>
          </p:cNvPr>
          <p:cNvSpPr txBox="1"/>
          <p:nvPr/>
        </p:nvSpPr>
        <p:spPr>
          <a:xfrm>
            <a:off x="640080" y="1032924"/>
            <a:ext cx="8387809" cy="369332"/>
          </a:xfrm>
          <a:prstGeom prst="rect">
            <a:avLst/>
          </a:prstGeom>
          <a:noFill/>
        </p:spPr>
        <p:txBody>
          <a:bodyPr wrap="none" rtlCol="0">
            <a:spAutoFit/>
          </a:bodyPr>
          <a:lstStyle/>
          <a:p>
            <a:r>
              <a:rPr lang="en-US" dirty="0"/>
              <a:t>Technology creates value only when information leads to better human action.</a:t>
            </a:r>
          </a:p>
        </p:txBody>
      </p:sp>
    </p:spTree>
    <p:extLst>
      <p:ext uri="{BB962C8B-B14F-4D97-AF65-F5344CB8AC3E}">
        <p14:creationId xmlns:p14="http://schemas.microsoft.com/office/powerpoint/2010/main" val="38372608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223356" y="124756"/>
            <a:ext cx="10515600" cy="1036104"/>
          </a:xfrm>
        </p:spPr>
        <p:txBody>
          <a:bodyPr/>
          <a:lstStyle/>
          <a:p>
            <a:r>
              <a:rPr lang="en-US" dirty="0"/>
              <a:t>Complementary Assets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483349" y="1160860"/>
            <a:ext cx="5612651" cy="4610226"/>
          </a:xfrm>
        </p:spPr>
        <p:txBody>
          <a:bodyPr>
            <a:normAutofit/>
          </a:bodyPr>
          <a:lstStyle/>
          <a:p>
            <a:pPr>
              <a:lnSpc>
                <a:spcPct val="150000"/>
              </a:lnSpc>
            </a:pPr>
            <a:r>
              <a:rPr lang="en-US" dirty="0"/>
              <a:t>Information technology alone does not guarantee good returns. Value is only generated when paired with supporting non-technical assets.</a:t>
            </a:r>
          </a:p>
        </p:txBody>
      </p:sp>
      <p:sp>
        <p:nvSpPr>
          <p:cNvPr id="3" name="Date Placeholder 2">
            <a:extLst>
              <a:ext uri="{FF2B5EF4-FFF2-40B4-BE49-F238E27FC236}">
                <a16:creationId xmlns:a16="http://schemas.microsoft.com/office/drawing/2014/main" id="{C1DA15C2-296F-8CE5-5610-4D91A35E3FB1}"/>
              </a:ext>
            </a:extLst>
          </p:cNvPr>
          <p:cNvSpPr>
            <a:spLocks noGrp="1"/>
          </p:cNvSpPr>
          <p:nvPr>
            <p:ph type="dt" sz="half" idx="10"/>
          </p:nvPr>
        </p:nvSpPr>
        <p:spPr/>
        <p:txBody>
          <a:bodyPr/>
          <a:lstStyle/>
          <a:p>
            <a:fld id="{538DD24F-2E9D-4E00-9409-8AF4FF8993EA}"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6" name="Picture 5">
            <a:extLst>
              <a:ext uri="{FF2B5EF4-FFF2-40B4-BE49-F238E27FC236}">
                <a16:creationId xmlns:a16="http://schemas.microsoft.com/office/drawing/2014/main" id="{6CC60B7B-77A1-BB24-96A2-89407A7D307F}"/>
              </a:ext>
            </a:extLst>
          </p:cNvPr>
          <p:cNvPicPr>
            <a:picLocks noChangeAspect="1"/>
          </p:cNvPicPr>
          <p:nvPr/>
        </p:nvPicPr>
        <p:blipFill>
          <a:blip r:embed="rId3"/>
          <a:stretch>
            <a:fillRect/>
          </a:stretch>
        </p:blipFill>
        <p:spPr>
          <a:xfrm>
            <a:off x="6096000" y="1160860"/>
            <a:ext cx="6096000" cy="4774719"/>
          </a:xfrm>
          <a:prstGeom prst="rect">
            <a:avLst/>
          </a:prstGeom>
        </p:spPr>
      </p:pic>
      <p:pic>
        <p:nvPicPr>
          <p:cNvPr id="8" name="Picture 7">
            <a:extLst>
              <a:ext uri="{FF2B5EF4-FFF2-40B4-BE49-F238E27FC236}">
                <a16:creationId xmlns:a16="http://schemas.microsoft.com/office/drawing/2014/main" id="{5FC937E3-23E2-F663-D181-55AB915FCB8A}"/>
              </a:ext>
            </a:extLst>
          </p:cNvPr>
          <p:cNvPicPr>
            <a:picLocks noChangeAspect="1"/>
          </p:cNvPicPr>
          <p:nvPr/>
        </p:nvPicPr>
        <p:blipFill>
          <a:blip r:embed="rId4"/>
          <a:stretch>
            <a:fillRect/>
          </a:stretch>
        </p:blipFill>
        <p:spPr>
          <a:xfrm>
            <a:off x="691896" y="3694679"/>
            <a:ext cx="3815935" cy="2002461"/>
          </a:xfrm>
          <a:prstGeom prst="rect">
            <a:avLst/>
          </a:prstGeom>
        </p:spPr>
      </p:pic>
    </p:spTree>
    <p:extLst>
      <p:ext uri="{BB962C8B-B14F-4D97-AF65-F5344CB8AC3E}">
        <p14:creationId xmlns:p14="http://schemas.microsoft.com/office/powerpoint/2010/main" val="10659510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08D2AAD-F317-BD1A-ADEF-B695E98786F5}"/>
              </a:ext>
            </a:extLst>
          </p:cNvPr>
          <p:cNvSpPr>
            <a:spLocks noGrp="1"/>
          </p:cNvSpPr>
          <p:nvPr>
            <p:ph type="dt" sz="half" idx="10"/>
          </p:nvPr>
        </p:nvSpPr>
        <p:spPr/>
        <p:txBody>
          <a:bodyPr/>
          <a:lstStyle/>
          <a:p>
            <a:fld id="{4D714ADD-F50B-4824-95F4-DB815EB1F040}" type="datetime1">
              <a:rPr lang="en-US" smtClean="0"/>
              <a:t>10/14/2026</a:t>
            </a:fld>
            <a:endParaRPr lang="en-US"/>
          </a:p>
        </p:txBody>
      </p:sp>
      <p:sp>
        <p:nvSpPr>
          <p:cNvPr id="3" name="Footer Placeholder 2">
            <a:extLst>
              <a:ext uri="{FF2B5EF4-FFF2-40B4-BE49-F238E27FC236}">
                <a16:creationId xmlns:a16="http://schemas.microsoft.com/office/drawing/2014/main" id="{837D74D0-36A3-6801-F32B-580BD9304BBF}"/>
              </a:ext>
            </a:extLst>
          </p:cNvPr>
          <p:cNvSpPr>
            <a:spLocks noGrp="1"/>
          </p:cNvSpPr>
          <p:nvPr>
            <p:ph type="ftr" sz="quarter" idx="11"/>
          </p:nvPr>
        </p:nvSpPr>
        <p:spPr/>
        <p:txBody>
          <a:bodyPr/>
          <a:lstStyle/>
          <a:p>
            <a:r>
              <a:rPr lang="en-US"/>
              <a:t>Md. Manirujjaman</a:t>
            </a:r>
          </a:p>
        </p:txBody>
      </p:sp>
      <p:sp>
        <p:nvSpPr>
          <p:cNvPr id="5" name="TextBox 4">
            <a:extLst>
              <a:ext uri="{FF2B5EF4-FFF2-40B4-BE49-F238E27FC236}">
                <a16:creationId xmlns:a16="http://schemas.microsoft.com/office/drawing/2014/main" id="{370E8FC3-ABEC-7728-6EEA-C9F4FC09B2CE}"/>
              </a:ext>
            </a:extLst>
          </p:cNvPr>
          <p:cNvSpPr txBox="1"/>
          <p:nvPr/>
        </p:nvSpPr>
        <p:spPr>
          <a:xfrm>
            <a:off x="626808" y="1452770"/>
            <a:ext cx="10599174" cy="4401205"/>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Strong management support </a:t>
            </a:r>
            <a:r>
              <a:rPr lang="en-US" altLang="en-US" sz="2800" dirty="0">
                <a:latin typeface="Arial" panose="020B0604020202020204" pitchFamily="34" charset="0"/>
                <a:cs typeface="Arial" panose="020B0604020202020204" pitchFamily="34" charset="0"/>
              </a:rPr>
              <a:t>– leadership that knows how to use IT strategically.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Skilled employees </a:t>
            </a:r>
            <a:r>
              <a:rPr lang="en-US" altLang="en-US" sz="2800" dirty="0">
                <a:latin typeface="Arial" panose="020B0604020202020204" pitchFamily="34" charset="0"/>
                <a:cs typeface="Arial" panose="020B0604020202020204" pitchFamily="34" charset="0"/>
              </a:rPr>
              <a:t>– who can operate new systems and adapt to technological changes.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Efficient business processes </a:t>
            </a:r>
            <a:r>
              <a:rPr lang="en-US" altLang="en-US" sz="2800" dirty="0">
                <a:latin typeface="Arial" panose="020B0604020202020204" pitchFamily="34" charset="0"/>
                <a:cs typeface="Arial" panose="020B0604020202020204" pitchFamily="34" charset="0"/>
              </a:rPr>
              <a:t>– workflows that fit with the new system.</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Organizational culture </a:t>
            </a:r>
            <a:r>
              <a:rPr lang="en-US" altLang="en-US" sz="2800" dirty="0">
                <a:latin typeface="Arial" panose="020B0604020202020204" pitchFamily="34" charset="0"/>
                <a:cs typeface="Arial" panose="020B0604020202020204" pitchFamily="34" charset="0"/>
              </a:rPr>
              <a:t>– encourages innovation, sharing, and continuous improvement.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800" b="1" dirty="0">
                <a:latin typeface="Arial" panose="020B0604020202020204" pitchFamily="34" charset="0"/>
                <a:cs typeface="Arial" panose="020B0604020202020204" pitchFamily="34" charset="0"/>
              </a:rPr>
              <a:t>Proper legal and social environment </a:t>
            </a:r>
            <a:r>
              <a:rPr lang="en-US" altLang="en-US" sz="2800" dirty="0">
                <a:latin typeface="Arial" panose="020B0604020202020204" pitchFamily="34" charset="0"/>
                <a:cs typeface="Arial" panose="020B0604020202020204" pitchFamily="34" charset="0"/>
              </a:rPr>
              <a:t>– laws, policies, and market conditions that favor IT adoption.</a:t>
            </a:r>
          </a:p>
        </p:txBody>
      </p:sp>
      <p:sp>
        <p:nvSpPr>
          <p:cNvPr id="6" name="Title 1">
            <a:extLst>
              <a:ext uri="{FF2B5EF4-FFF2-40B4-BE49-F238E27FC236}">
                <a16:creationId xmlns:a16="http://schemas.microsoft.com/office/drawing/2014/main" id="{08310DB4-688B-7D3E-44F2-EC6ABA4701B2}"/>
              </a:ext>
            </a:extLst>
          </p:cNvPr>
          <p:cNvSpPr txBox="1">
            <a:spLocks/>
          </p:cNvSpPr>
          <p:nvPr/>
        </p:nvSpPr>
        <p:spPr>
          <a:xfrm>
            <a:off x="385916" y="515909"/>
            <a:ext cx="10515600" cy="103610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Complementary Assets</a:t>
            </a:r>
          </a:p>
        </p:txBody>
      </p:sp>
    </p:spTree>
    <p:extLst>
      <p:ext uri="{BB962C8B-B14F-4D97-AF65-F5344CB8AC3E}">
        <p14:creationId xmlns:p14="http://schemas.microsoft.com/office/powerpoint/2010/main" val="1124186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Complementary Assets</a:t>
            </a:r>
          </a:p>
        </p:txBody>
      </p:sp>
      <p:sp>
        <p:nvSpPr>
          <p:cNvPr id="3" name="Date Placeholder 2">
            <a:extLst>
              <a:ext uri="{FF2B5EF4-FFF2-40B4-BE49-F238E27FC236}">
                <a16:creationId xmlns:a16="http://schemas.microsoft.com/office/drawing/2014/main" id="{DB1C14A2-A26D-F5C5-3378-A3B4177481D4}"/>
              </a:ext>
            </a:extLst>
          </p:cNvPr>
          <p:cNvSpPr>
            <a:spLocks noGrp="1"/>
          </p:cNvSpPr>
          <p:nvPr>
            <p:ph type="dt" sz="half" idx="10"/>
          </p:nvPr>
        </p:nvSpPr>
        <p:spPr/>
        <p:txBody>
          <a:bodyPr/>
          <a:lstStyle/>
          <a:p>
            <a:fld id="{14BA7ED9-68B0-4F6D-A659-BC672286F90E}"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
        <p:nvSpPr>
          <p:cNvPr id="6" name="Content Placeholder 5">
            <a:extLst>
              <a:ext uri="{FF2B5EF4-FFF2-40B4-BE49-F238E27FC236}">
                <a16:creationId xmlns:a16="http://schemas.microsoft.com/office/drawing/2014/main" id="{D06A0AF8-58BA-0D13-4451-2C025C0AC54B}"/>
              </a:ext>
            </a:extLst>
          </p:cNvPr>
          <p:cNvSpPr>
            <a:spLocks noGrp="1"/>
          </p:cNvSpPr>
          <p:nvPr>
            <p:ph idx="1"/>
          </p:nvPr>
        </p:nvSpPr>
        <p:spPr>
          <a:xfrm>
            <a:off x="439928" y="963168"/>
            <a:ext cx="11312144" cy="365125"/>
          </a:xfrm>
        </p:spPr>
        <p:txBody>
          <a:bodyPr>
            <a:normAutofit lnSpcReduction="10000"/>
          </a:bodyPr>
          <a:lstStyle/>
          <a:p>
            <a:r>
              <a:rPr lang="en-US" dirty="0"/>
              <a:t>Organizations must intentionally develop three groups of complementary assets:</a:t>
            </a:r>
          </a:p>
        </p:txBody>
      </p:sp>
      <p:pic>
        <p:nvPicPr>
          <p:cNvPr id="9" name="Picture 8">
            <a:extLst>
              <a:ext uri="{FF2B5EF4-FFF2-40B4-BE49-F238E27FC236}">
                <a16:creationId xmlns:a16="http://schemas.microsoft.com/office/drawing/2014/main" id="{D3364629-B103-EE78-27EB-29C1BF9B4928}"/>
              </a:ext>
            </a:extLst>
          </p:cNvPr>
          <p:cNvPicPr>
            <a:picLocks noChangeAspect="1"/>
          </p:cNvPicPr>
          <p:nvPr/>
        </p:nvPicPr>
        <p:blipFill>
          <a:blip r:embed="rId3"/>
          <a:stretch>
            <a:fillRect/>
          </a:stretch>
        </p:blipFill>
        <p:spPr>
          <a:xfrm>
            <a:off x="1098427" y="1532597"/>
            <a:ext cx="10264450" cy="4050792"/>
          </a:xfrm>
          <a:prstGeom prst="rect">
            <a:avLst/>
          </a:prstGeom>
        </p:spPr>
      </p:pic>
    </p:spTree>
    <p:extLst>
      <p:ext uri="{BB962C8B-B14F-4D97-AF65-F5344CB8AC3E}">
        <p14:creationId xmlns:p14="http://schemas.microsoft.com/office/powerpoint/2010/main" val="21810648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838200" y="18256"/>
            <a:ext cx="10515600" cy="1036104"/>
          </a:xfrm>
        </p:spPr>
        <p:txBody>
          <a:bodyPr/>
          <a:lstStyle/>
          <a:p>
            <a:r>
              <a:rPr lang="en-US" dirty="0"/>
              <a:t>Study on Information Systems</a:t>
            </a:r>
          </a:p>
        </p:txBody>
      </p:sp>
      <p:sp>
        <p:nvSpPr>
          <p:cNvPr id="9" name="Content Placeholder 2">
            <a:extLst>
              <a:ext uri="{FF2B5EF4-FFF2-40B4-BE49-F238E27FC236}">
                <a16:creationId xmlns:a16="http://schemas.microsoft.com/office/drawing/2014/main" id="{F3E117AD-6FD4-4F28-B4E0-9C99E6068BB0}"/>
              </a:ext>
            </a:extLst>
          </p:cNvPr>
          <p:cNvSpPr>
            <a:spLocks noGrp="1"/>
          </p:cNvSpPr>
          <p:nvPr>
            <p:ph idx="1"/>
          </p:nvPr>
        </p:nvSpPr>
        <p:spPr>
          <a:xfrm>
            <a:off x="838200" y="1212981"/>
            <a:ext cx="10515600" cy="1977260"/>
          </a:xfrm>
        </p:spPr>
        <p:txBody>
          <a:bodyPr>
            <a:normAutofit lnSpcReduction="10000"/>
          </a:bodyPr>
          <a:lstStyle/>
          <a:p>
            <a:r>
              <a:rPr lang="en-US" dirty="0">
                <a:latin typeface="Arial" panose="020B0604020202020204" pitchFamily="34" charset="0"/>
                <a:cs typeface="Arial" panose="020B0604020202020204" pitchFamily="34" charset="0"/>
              </a:rPr>
              <a:t>The study of information systems and their development is a multi disciplinary subject.</a:t>
            </a:r>
          </a:p>
          <a:p>
            <a:r>
              <a:rPr lang="en-US" dirty="0">
                <a:latin typeface="Arial" panose="020B0604020202020204" pitchFamily="34" charset="0"/>
                <a:cs typeface="Arial" panose="020B0604020202020204" pitchFamily="34" charset="0"/>
              </a:rPr>
              <a:t>It addresses the range of strategic, managerial and operational activities involved in the gathering, processing, storing, distributing and use of information, and its associated technologies, in society and organizations.</a:t>
            </a:r>
          </a:p>
          <a:p>
            <a:r>
              <a:rPr lang="en-US" dirty="0">
                <a:latin typeface="Arial" panose="020B0604020202020204" pitchFamily="34" charset="0"/>
                <a:cs typeface="Arial" panose="020B0604020202020204" pitchFamily="34" charset="0"/>
              </a:rPr>
              <a:t>It examines more than just the technological system, or just the social system. It investigates the phenomena that emerge when the two interact.</a:t>
            </a:r>
          </a:p>
        </p:txBody>
      </p:sp>
      <p:sp>
        <p:nvSpPr>
          <p:cNvPr id="3" name="Date Placeholder 2">
            <a:extLst>
              <a:ext uri="{FF2B5EF4-FFF2-40B4-BE49-F238E27FC236}">
                <a16:creationId xmlns:a16="http://schemas.microsoft.com/office/drawing/2014/main" id="{ED10876D-869F-93B7-2CEA-4A55F7997E67}"/>
              </a:ext>
            </a:extLst>
          </p:cNvPr>
          <p:cNvSpPr>
            <a:spLocks noGrp="1"/>
          </p:cNvSpPr>
          <p:nvPr>
            <p:ph type="dt" sz="half" idx="10"/>
          </p:nvPr>
        </p:nvSpPr>
        <p:spPr/>
        <p:txBody>
          <a:bodyPr/>
          <a:lstStyle/>
          <a:p>
            <a:fld id="{D74E383F-65D2-4DE8-B8B3-3147E29BE1D5}"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pic>
        <p:nvPicPr>
          <p:cNvPr id="6" name="Picture 5">
            <a:extLst>
              <a:ext uri="{FF2B5EF4-FFF2-40B4-BE49-F238E27FC236}">
                <a16:creationId xmlns:a16="http://schemas.microsoft.com/office/drawing/2014/main" id="{B734751E-61E6-A85E-D9E6-769ED7D2851D}"/>
              </a:ext>
            </a:extLst>
          </p:cNvPr>
          <p:cNvPicPr>
            <a:picLocks noChangeAspect="1"/>
          </p:cNvPicPr>
          <p:nvPr/>
        </p:nvPicPr>
        <p:blipFill>
          <a:blip r:embed="rId3"/>
          <a:stretch>
            <a:fillRect/>
          </a:stretch>
        </p:blipFill>
        <p:spPr>
          <a:xfrm>
            <a:off x="3234458" y="3190241"/>
            <a:ext cx="6000982" cy="2910860"/>
          </a:xfrm>
          <a:prstGeom prst="rect">
            <a:avLst/>
          </a:prstGeom>
        </p:spPr>
      </p:pic>
    </p:spTree>
    <p:extLst>
      <p:ext uri="{BB962C8B-B14F-4D97-AF65-F5344CB8AC3E}">
        <p14:creationId xmlns:p14="http://schemas.microsoft.com/office/powerpoint/2010/main" val="36538343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DE560F-E4D5-ECC9-4822-852B909D6B5B}"/>
              </a:ext>
            </a:extLst>
          </p:cNvPr>
          <p:cNvSpPr>
            <a:spLocks noGrp="1"/>
          </p:cNvSpPr>
          <p:nvPr>
            <p:ph type="dt" sz="half" idx="10"/>
          </p:nvPr>
        </p:nvSpPr>
        <p:spPr/>
        <p:txBody>
          <a:bodyPr/>
          <a:lstStyle/>
          <a:p>
            <a:fld id="{77CEFCFD-9EF2-4E99-9E08-73D2A06D5CD0}" type="datetime1">
              <a:rPr lang="en-US" smtClean="0"/>
              <a:t>10/14/2026</a:t>
            </a:fld>
            <a:endParaRPr lang="en-US"/>
          </a:p>
        </p:txBody>
      </p:sp>
      <p:sp>
        <p:nvSpPr>
          <p:cNvPr id="3" name="Footer Placeholder 2">
            <a:extLst>
              <a:ext uri="{FF2B5EF4-FFF2-40B4-BE49-F238E27FC236}">
                <a16:creationId xmlns:a16="http://schemas.microsoft.com/office/drawing/2014/main" id="{0D538CE9-BDDA-7F9B-C3CF-B7C64E8297B9}"/>
              </a:ext>
            </a:extLst>
          </p:cNvPr>
          <p:cNvSpPr>
            <a:spLocks noGrp="1"/>
          </p:cNvSpPr>
          <p:nvPr>
            <p:ph type="ftr" sz="quarter" idx="11"/>
          </p:nvPr>
        </p:nvSpPr>
        <p:spPr/>
        <p:txBody>
          <a:bodyPr/>
          <a:lstStyle/>
          <a:p>
            <a:r>
              <a:rPr lang="en-US"/>
              <a:t>Md. Manirujjaman</a:t>
            </a:r>
          </a:p>
        </p:txBody>
      </p:sp>
      <p:pic>
        <p:nvPicPr>
          <p:cNvPr id="5" name="Picture 2">
            <a:extLst>
              <a:ext uri="{FF2B5EF4-FFF2-40B4-BE49-F238E27FC236}">
                <a16:creationId xmlns:a16="http://schemas.microsoft.com/office/drawing/2014/main" id="{C66E70F6-4799-9675-BD9E-EC80544DBF56}"/>
              </a:ext>
            </a:extLst>
          </p:cNvPr>
          <p:cNvPicPr>
            <a:picLocks noChangeAspect="1"/>
          </p:cNvPicPr>
          <p:nvPr/>
        </p:nvPicPr>
        <p:blipFill>
          <a:blip r:embed="rId2"/>
          <a:srcRect b="3363"/>
          <a:stretch>
            <a:fillRect/>
          </a:stretch>
        </p:blipFill>
        <p:spPr>
          <a:xfrm>
            <a:off x="0" y="0"/>
            <a:ext cx="12192000" cy="6159062"/>
          </a:xfrm>
          <a:prstGeom prst="rect">
            <a:avLst/>
          </a:prstGeom>
        </p:spPr>
      </p:pic>
    </p:spTree>
    <p:extLst>
      <p:ext uri="{BB962C8B-B14F-4D97-AF65-F5344CB8AC3E}">
        <p14:creationId xmlns:p14="http://schemas.microsoft.com/office/powerpoint/2010/main" val="972361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0A920-74D9-4450-874A-3F24499E0AD9}"/>
              </a:ext>
            </a:extLst>
          </p:cNvPr>
          <p:cNvSpPr>
            <a:spLocks noGrp="1"/>
          </p:cNvSpPr>
          <p:nvPr>
            <p:ph type="title"/>
          </p:nvPr>
        </p:nvSpPr>
        <p:spPr>
          <a:xfrm>
            <a:off x="0" y="2910948"/>
            <a:ext cx="12192000" cy="1036104"/>
          </a:xfrm>
        </p:spPr>
        <p:txBody>
          <a:bodyPr/>
          <a:lstStyle/>
          <a:p>
            <a:pPr algn="ctr"/>
            <a:r>
              <a:rPr lang="en-US" dirty="0"/>
              <a:t>The END</a:t>
            </a:r>
          </a:p>
        </p:txBody>
      </p:sp>
      <p:sp>
        <p:nvSpPr>
          <p:cNvPr id="3" name="Date Placeholder 2">
            <a:extLst>
              <a:ext uri="{FF2B5EF4-FFF2-40B4-BE49-F238E27FC236}">
                <a16:creationId xmlns:a16="http://schemas.microsoft.com/office/drawing/2014/main" id="{B53EE952-CC79-64D3-8D36-D8FB05E7848B}"/>
              </a:ext>
            </a:extLst>
          </p:cNvPr>
          <p:cNvSpPr>
            <a:spLocks noGrp="1"/>
          </p:cNvSpPr>
          <p:nvPr>
            <p:ph type="dt" sz="half" idx="10"/>
          </p:nvPr>
        </p:nvSpPr>
        <p:spPr/>
        <p:txBody>
          <a:bodyPr/>
          <a:lstStyle/>
          <a:p>
            <a:fld id="{32B023F8-BDE2-4A48-942E-B9C934141A3F}" type="datetime1">
              <a:rPr lang="en-US" smtClean="0"/>
              <a:t>10/14/2026</a:t>
            </a:fld>
            <a:endParaRPr lang="en-US"/>
          </a:p>
        </p:txBody>
      </p:sp>
      <p:sp>
        <p:nvSpPr>
          <p:cNvPr id="5" name="Footer Placeholder 4">
            <a:extLst>
              <a:ext uri="{FF2B5EF4-FFF2-40B4-BE49-F238E27FC236}">
                <a16:creationId xmlns:a16="http://schemas.microsoft.com/office/drawing/2014/main" id="{80F53798-EA57-42B7-9523-B6C93FDEF16A}"/>
              </a:ext>
            </a:extLst>
          </p:cNvPr>
          <p:cNvSpPr>
            <a:spLocks noGrp="1"/>
          </p:cNvSpPr>
          <p:nvPr>
            <p:ph type="ftr" sz="quarter" idx="11"/>
          </p:nvPr>
        </p:nvSpPr>
        <p:spPr/>
        <p:txBody>
          <a:bodyPr/>
          <a:lstStyle/>
          <a:p>
            <a:r>
              <a:rPr lang="en-US"/>
              <a:t>Md. Manirujjaman</a:t>
            </a:r>
          </a:p>
        </p:txBody>
      </p:sp>
    </p:spTree>
    <p:extLst>
      <p:ext uri="{BB962C8B-B14F-4D97-AF65-F5344CB8AC3E}">
        <p14:creationId xmlns:p14="http://schemas.microsoft.com/office/powerpoint/2010/main" val="32983700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Lecture-03 Updated</Template>
  <TotalTime>13849</TotalTime>
  <Words>3639</Words>
  <Application>Microsoft Office PowerPoint</Application>
  <PresentationFormat>Widescreen</PresentationFormat>
  <Paragraphs>566</Paragraphs>
  <Slides>40</Slides>
  <Notes>36</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Rockwell</vt:lpstr>
      <vt:lpstr>Rockwell Condensed</vt:lpstr>
      <vt:lpstr>Times New Roman</vt:lpstr>
      <vt:lpstr>Wingdings</vt:lpstr>
      <vt:lpstr>Wood Type</vt:lpstr>
      <vt:lpstr>Introduction to Information Systems</vt:lpstr>
      <vt:lpstr>PowerPoint Presentation</vt:lpstr>
      <vt:lpstr>System Concept</vt:lpstr>
      <vt:lpstr>System Concept</vt:lpstr>
      <vt:lpstr>Characteristics of a System</vt:lpstr>
      <vt:lpstr>Characteristics of a System</vt:lpstr>
      <vt:lpstr>Characteristics of a System</vt:lpstr>
      <vt:lpstr>Characteristics of a System</vt:lpstr>
      <vt:lpstr>Elements of a System</vt:lpstr>
      <vt:lpstr>Elements of a System</vt:lpstr>
      <vt:lpstr>Elements of a System</vt:lpstr>
      <vt:lpstr>Elements of a System</vt:lpstr>
      <vt:lpstr>Elements of a System</vt:lpstr>
      <vt:lpstr>Elements of a System</vt:lpstr>
      <vt:lpstr>Elements of a System</vt:lpstr>
      <vt:lpstr>Elements of a System</vt:lpstr>
      <vt:lpstr>Types of Systems</vt:lpstr>
      <vt:lpstr>Types of Systems</vt:lpstr>
      <vt:lpstr>Open Systems</vt:lpstr>
      <vt:lpstr>Open Systems</vt:lpstr>
      <vt:lpstr>Information Systems</vt:lpstr>
      <vt:lpstr>Information Systems</vt:lpstr>
      <vt:lpstr>Information Systems</vt:lpstr>
      <vt:lpstr>Information Systems</vt:lpstr>
      <vt:lpstr>PowerPoint Presentation</vt:lpstr>
      <vt:lpstr>Organizations</vt:lpstr>
      <vt:lpstr>Organizations</vt:lpstr>
      <vt:lpstr>Organizations</vt:lpstr>
      <vt:lpstr>Organizations</vt:lpstr>
      <vt:lpstr>Organizations</vt:lpstr>
      <vt:lpstr>Organizations</vt:lpstr>
      <vt:lpstr>Dimensions of Information Systems</vt:lpstr>
      <vt:lpstr>Information Systems</vt:lpstr>
      <vt:lpstr>Information Value Chain</vt:lpstr>
      <vt:lpstr>Complementary Assets</vt:lpstr>
      <vt:lpstr>PowerPoint Presentation</vt:lpstr>
      <vt:lpstr>Complementary Assets</vt:lpstr>
      <vt:lpstr>Study on Information Systems</vt:lpstr>
      <vt:lpstr>PowerPoint Presentation</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Number System</dc:title>
  <dc:creator>USER</dc:creator>
  <cp:lastModifiedBy>Md Manirujjaman</cp:lastModifiedBy>
  <cp:revision>228</cp:revision>
  <dcterms:created xsi:type="dcterms:W3CDTF">2024-12-25T16:40:24Z</dcterms:created>
  <dcterms:modified xsi:type="dcterms:W3CDTF">2026-10-14T15:53:57Z</dcterms:modified>
</cp:coreProperties>
</file>