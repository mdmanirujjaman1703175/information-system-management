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60" r:id="rId4"/>
    <p:sldId id="261" r:id="rId5"/>
    <p:sldId id="258" r:id="rId6"/>
    <p:sldId id="259"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39C6F7-D636-4773-8A55-0BC07ED5BBB8}" v="14" dt="2025-11-03T15:37:03.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918D2-7294-42BA-BA4A-08224D5F80C3}"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960AD-83FD-4FC4-81C0-1431D3CFC0AD}" type="slidenum">
              <a:rPr lang="en-US" smtClean="0"/>
              <a:t>‹#›</a:t>
            </a:fld>
            <a:endParaRPr lang="en-US"/>
          </a:p>
        </p:txBody>
      </p:sp>
    </p:spTree>
    <p:extLst>
      <p:ext uri="{BB962C8B-B14F-4D97-AF65-F5344CB8AC3E}">
        <p14:creationId xmlns:p14="http://schemas.microsoft.com/office/powerpoint/2010/main" val="1454926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a system analyst may analyze how a university handles student data and suggest an automated software solution to manage admissions and results.</a:t>
            </a:r>
          </a:p>
        </p:txBody>
      </p:sp>
      <p:sp>
        <p:nvSpPr>
          <p:cNvPr id="4" name="Slide Number Placeholder 3"/>
          <p:cNvSpPr>
            <a:spLocks noGrp="1"/>
          </p:cNvSpPr>
          <p:nvPr>
            <p:ph type="sldNum" sz="quarter" idx="5"/>
          </p:nvPr>
        </p:nvSpPr>
        <p:spPr/>
        <p:txBody>
          <a:bodyPr/>
          <a:lstStyle/>
          <a:p>
            <a:fld id="{2D9960AD-83FD-4FC4-81C0-1431D3CFC0AD}" type="slidenum">
              <a:rPr lang="en-US" smtClean="0"/>
              <a:t>2</a:t>
            </a:fld>
            <a:endParaRPr lang="en-US"/>
          </a:p>
        </p:txBody>
      </p:sp>
    </p:spTree>
    <p:extLst>
      <p:ext uri="{BB962C8B-B14F-4D97-AF65-F5344CB8AC3E}">
        <p14:creationId xmlns:p14="http://schemas.microsoft.com/office/powerpoint/2010/main" val="824933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Times New Roman" panose="02020603050405020304" pitchFamily="18" charset="0"/>
                <a:cs typeface="Times New Roman" panose="02020603050405020304" pitchFamily="18" charset="0"/>
              </a:rPr>
              <a:t>Change Agent:</a:t>
            </a:r>
          </a:p>
          <a:p>
            <a:r>
              <a:rPr lang="en-US" b="0" dirty="0">
                <a:latin typeface="Times New Roman" panose="02020603050405020304" pitchFamily="18" charset="0"/>
                <a:cs typeface="Times New Roman" panose="02020603050405020304" pitchFamily="18" charset="0"/>
              </a:rPr>
              <a:t>1. Nokia</a:t>
            </a:r>
          </a:p>
          <a:p>
            <a:r>
              <a:rPr lang="en-US" b="0" dirty="0">
                <a:latin typeface="Times New Roman" panose="02020603050405020304" pitchFamily="18" charset="0"/>
                <a:cs typeface="Times New Roman" panose="02020603050405020304" pitchFamily="18" charset="0"/>
              </a:rPr>
              <a:t>    Reason: Failed to adapt quickly to the smartphone revolution and touchscreen technology.</a:t>
            </a:r>
          </a:p>
          <a:p>
            <a:r>
              <a:rPr lang="en-US" b="0" dirty="0">
                <a:latin typeface="Times New Roman" panose="02020603050405020304" pitchFamily="18" charset="0"/>
                <a:cs typeface="Times New Roman" panose="02020603050405020304" pitchFamily="18" charset="0"/>
              </a:rPr>
              <a:t>2. Yahoo</a:t>
            </a:r>
          </a:p>
          <a:p>
            <a:r>
              <a:rPr lang="en-US" b="0" dirty="0">
                <a:latin typeface="Times New Roman" panose="02020603050405020304" pitchFamily="18" charset="0"/>
                <a:cs typeface="Times New Roman" panose="02020603050405020304" pitchFamily="18" charset="0"/>
              </a:rPr>
              <a:t>    Reason: Failed to evolve its search engine and advertising model.</a:t>
            </a:r>
          </a:p>
          <a:p>
            <a:r>
              <a:rPr lang="en-US" b="0" dirty="0">
                <a:latin typeface="Times New Roman" panose="02020603050405020304" pitchFamily="18" charset="0"/>
                <a:cs typeface="Times New Roman" panose="02020603050405020304" pitchFamily="18" charset="0"/>
              </a:rPr>
              <a:t>3. BlackBerry</a:t>
            </a:r>
          </a:p>
          <a:p>
            <a:r>
              <a:rPr lang="en-US" b="0" dirty="0">
                <a:latin typeface="Times New Roman" panose="02020603050405020304" pitchFamily="18" charset="0"/>
                <a:cs typeface="Times New Roman" panose="02020603050405020304" pitchFamily="18" charset="0"/>
              </a:rPr>
              <a:t>    Reason: Relied too much on physical keyboards and ignored the app-based smartphone ecosystem.</a:t>
            </a:r>
          </a:p>
          <a:p>
            <a:r>
              <a:rPr lang="en-US" b="1" dirty="0">
                <a:latin typeface="Times New Roman" panose="02020603050405020304" pitchFamily="18" charset="0"/>
                <a:cs typeface="Times New Roman" panose="02020603050405020304" pitchFamily="18" charset="0"/>
              </a:rPr>
              <a:t>Investigator task to Investigate:</a:t>
            </a:r>
          </a:p>
          <a:p>
            <a:r>
              <a:rPr lang="en-US" dirty="0"/>
              <a:t>Interview users and stakeholders to understand workflow and pain points.</a:t>
            </a:r>
          </a:p>
          <a:p>
            <a:r>
              <a:rPr lang="en-US" dirty="0"/>
              <a:t>Review complaints, reports, or performance data.</a:t>
            </a:r>
          </a:p>
          <a:p>
            <a:r>
              <a:rPr lang="fr-FR" dirty="0" err="1"/>
              <a:t>Conduct</a:t>
            </a:r>
            <a:r>
              <a:rPr lang="fr-FR" dirty="0"/>
              <a:t> interviews, </a:t>
            </a:r>
            <a:r>
              <a:rPr lang="fr-FR" dirty="0" err="1"/>
              <a:t>surveys</a:t>
            </a:r>
            <a:r>
              <a:rPr lang="fr-FR" dirty="0"/>
              <a:t>, or questionnaires.</a:t>
            </a:r>
            <a:endParaRPr lang="en-US" dirty="0"/>
          </a:p>
          <a:p>
            <a:r>
              <a:rPr lang="en-US" dirty="0"/>
              <a:t>Determine root causes rather than just symptoms.</a:t>
            </a:r>
          </a:p>
          <a:p>
            <a:r>
              <a:rPr lang="en-US" dirty="0"/>
              <a:t>Identify the gap between “what is” and “what should be.”</a:t>
            </a:r>
          </a:p>
          <a:p>
            <a:r>
              <a:rPr lang="en-US" b="1" dirty="0">
                <a:latin typeface="Times New Roman" panose="02020603050405020304" pitchFamily="18" charset="0"/>
                <a:cs typeface="Times New Roman" panose="02020603050405020304" pitchFamily="18" charset="0"/>
              </a:rPr>
              <a:t>Task of Motivator:</a:t>
            </a:r>
          </a:p>
          <a:p>
            <a:r>
              <a:rPr lang="en-US" dirty="0"/>
              <a:t>People feel motivated when they know their task has value or purpose.</a:t>
            </a:r>
          </a:p>
          <a:p>
            <a:r>
              <a:rPr lang="en-US" dirty="0"/>
              <a:t>When employees are trusted to decide </a:t>
            </a:r>
            <a:r>
              <a:rPr lang="en-US" i="1" dirty="0"/>
              <a:t>how</a:t>
            </a:r>
            <a:r>
              <a:rPr lang="en-US" dirty="0"/>
              <a:t> to complete a task, they feel ownership and responsibility.</a:t>
            </a:r>
          </a:p>
          <a:p>
            <a:r>
              <a:rPr lang="en-US" dirty="0"/>
              <a:t>Seeing the results of one’s work increases motivation.</a:t>
            </a:r>
          </a:p>
          <a:p>
            <a:r>
              <a:rPr lang="en-US" dirty="0"/>
              <a:t>When a person’s successful completion of a task is appreciated, it boosts morale and encourages further effort.</a:t>
            </a:r>
            <a:endParaRPr lang="en-US" b="1"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D9960AD-83FD-4FC4-81C0-1431D3CFC0AD}" type="slidenum">
              <a:rPr lang="en-US" smtClean="0"/>
              <a:t>16</a:t>
            </a:fld>
            <a:endParaRPr lang="en-US"/>
          </a:p>
        </p:txBody>
      </p:sp>
    </p:spTree>
    <p:extLst>
      <p:ext uri="{BB962C8B-B14F-4D97-AF65-F5344CB8AC3E}">
        <p14:creationId xmlns:p14="http://schemas.microsoft.com/office/powerpoint/2010/main" val="688298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2CCFA-E69A-E2A8-F17E-F286B46743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DE2A9F-3314-CBCD-E3D5-EDD8B8411E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53B47-AD43-2003-711B-45BD64697FF4}"/>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5" name="Footer Placeholder 4">
            <a:extLst>
              <a:ext uri="{FF2B5EF4-FFF2-40B4-BE49-F238E27FC236}">
                <a16:creationId xmlns:a16="http://schemas.microsoft.com/office/drawing/2014/main" id="{259F6A45-C9C0-F5F5-0B1A-51D9B733E0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CDDC4F-CAEE-6187-091E-8AA800ABD0E4}"/>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4177440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339B-1C70-CE58-E379-53BFA4CD19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8BA357-907B-538E-3A56-A72BB7817F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951150-7C8F-65B2-DBA7-66CC61087C37}"/>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5" name="Footer Placeholder 4">
            <a:extLst>
              <a:ext uri="{FF2B5EF4-FFF2-40B4-BE49-F238E27FC236}">
                <a16:creationId xmlns:a16="http://schemas.microsoft.com/office/drawing/2014/main" id="{54B18C21-F3A4-F56C-16BF-A9B213EB7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AD801-324E-F1FC-0EA9-8E3265610837}"/>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3351448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FF907-356F-86A1-FC06-177481D5F9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EA6B73-DF6A-D757-D2DE-31F4B9F93C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C57EFC-3A34-F796-6700-16282F1823A6}"/>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5" name="Footer Placeholder 4">
            <a:extLst>
              <a:ext uri="{FF2B5EF4-FFF2-40B4-BE49-F238E27FC236}">
                <a16:creationId xmlns:a16="http://schemas.microsoft.com/office/drawing/2014/main" id="{B0F9B896-5C36-5D3D-C3E8-C1B79F08E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E26CF-6E19-E799-8902-68319EC4549B}"/>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2448617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0C3C-839A-7311-EB79-E77F16EEC3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E58547-E226-CFEC-F64C-A737E6EB5F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3B2D79-A0AD-8197-A539-C44001C7B7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F54DC6-BACA-62BF-9E54-4379AFFD4E1D}"/>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6" name="Footer Placeholder 5">
            <a:extLst>
              <a:ext uri="{FF2B5EF4-FFF2-40B4-BE49-F238E27FC236}">
                <a16:creationId xmlns:a16="http://schemas.microsoft.com/office/drawing/2014/main" id="{5ABFEFBB-6E1D-6E04-7C3D-181DEEA8F4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EEA64C-B1E6-3B45-0ABB-6FD1445E1A63}"/>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99952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6BC0D-2F72-D5A6-E0E9-4EDCC2ED5D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1B3562-5EA6-5431-78C8-B2110623C3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8F38F-9E02-FEF8-A5F3-257923833F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AA9C6-554D-1084-F91A-629B69620B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36C48F-7DF4-C343-7762-6A7A34AB91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F2CEA6-D29C-2157-4921-1B4EB8FB1F01}"/>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8" name="Footer Placeholder 7">
            <a:extLst>
              <a:ext uri="{FF2B5EF4-FFF2-40B4-BE49-F238E27FC236}">
                <a16:creationId xmlns:a16="http://schemas.microsoft.com/office/drawing/2014/main" id="{603DAB8D-E027-7BC7-1512-CDEBE8BF5D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2A9B49-A37F-8241-4939-1EB505F91B90}"/>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13233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6A86-8D6D-B9BF-8ECE-8CA9034DD1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BE437B-2515-D319-2BFB-DB66480A2D2F}"/>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4" name="Footer Placeholder 3">
            <a:extLst>
              <a:ext uri="{FF2B5EF4-FFF2-40B4-BE49-F238E27FC236}">
                <a16:creationId xmlns:a16="http://schemas.microsoft.com/office/drawing/2014/main" id="{485F1FC1-CEC8-CE90-364B-16EE1BA732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0871C6-9DBF-6245-6152-5BCB2984BAE0}"/>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492995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F974A3-60C9-4EA0-B166-3BA6EE18F87E}"/>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3" name="Footer Placeholder 2">
            <a:extLst>
              <a:ext uri="{FF2B5EF4-FFF2-40B4-BE49-F238E27FC236}">
                <a16:creationId xmlns:a16="http://schemas.microsoft.com/office/drawing/2014/main" id="{ACA20112-B75F-A791-4B35-C84CA1B706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9D2597-0277-C45A-CC55-FC5BC24C8FD2}"/>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834835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1AF8F-1541-CE8E-9B38-A27D1966E7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436290-4F52-2268-089A-D701E4833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EF36A5-29AD-7DA4-1BB3-5CAD6136C8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CE07EE-1BB2-670A-32D5-0742C7AD2D3B}"/>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6" name="Footer Placeholder 5">
            <a:extLst>
              <a:ext uri="{FF2B5EF4-FFF2-40B4-BE49-F238E27FC236}">
                <a16:creationId xmlns:a16="http://schemas.microsoft.com/office/drawing/2014/main" id="{24EB1A72-CE4B-A5E9-A9D4-AE21C73AED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BFC401-9279-CC46-D855-3E9B4F0AD59B}"/>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1593287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9FC8A-D9F8-A78D-5469-0A0BBE8438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5A5A78-EC1B-8288-8504-AB6D290E2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BDF387-C699-2831-C18C-2AEA32B12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E433EE-6168-D2FE-5D1D-D9922980C21C}"/>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6" name="Footer Placeholder 5">
            <a:extLst>
              <a:ext uri="{FF2B5EF4-FFF2-40B4-BE49-F238E27FC236}">
                <a16:creationId xmlns:a16="http://schemas.microsoft.com/office/drawing/2014/main" id="{FF841ABE-2770-78BB-003A-9D35E0201E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634432-60D8-FFAE-775B-E9B8F2150754}"/>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4007386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3AEE0-EF04-803C-943C-133BDC6BDE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AADE37-2921-2A94-60A9-08CB7D6E0C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6A865D-1B85-3B38-67A3-DB4917BB311C}"/>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5" name="Footer Placeholder 4">
            <a:extLst>
              <a:ext uri="{FF2B5EF4-FFF2-40B4-BE49-F238E27FC236}">
                <a16:creationId xmlns:a16="http://schemas.microsoft.com/office/drawing/2014/main" id="{0AE26C93-1777-E72C-3C2F-F192D71A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342759-3CD4-8D03-1A22-CCB4AD105BE8}"/>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1635201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0EDD02-9661-A90F-BDC2-BA8750C2C2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C4C74F-600D-046F-3925-922A2BEACF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3FCCD4-6F27-6FCB-FA28-5E77A27F40E5}"/>
              </a:ext>
            </a:extLst>
          </p:cNvPr>
          <p:cNvSpPr>
            <a:spLocks noGrp="1"/>
          </p:cNvSpPr>
          <p:nvPr>
            <p:ph type="dt" sz="half" idx="10"/>
          </p:nvPr>
        </p:nvSpPr>
        <p:spPr/>
        <p:txBody>
          <a:bodyPr/>
          <a:lstStyle/>
          <a:p>
            <a:fld id="{2C0AE79E-6E55-4452-A992-F6A71805148D}" type="datetimeFigureOut">
              <a:rPr lang="en-US" smtClean="0"/>
              <a:t>11/27/2025</a:t>
            </a:fld>
            <a:endParaRPr lang="en-US"/>
          </a:p>
        </p:txBody>
      </p:sp>
      <p:sp>
        <p:nvSpPr>
          <p:cNvPr id="5" name="Footer Placeholder 4">
            <a:extLst>
              <a:ext uri="{FF2B5EF4-FFF2-40B4-BE49-F238E27FC236}">
                <a16:creationId xmlns:a16="http://schemas.microsoft.com/office/drawing/2014/main" id="{D3E9737D-0220-BFB9-A731-12D2DD834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7FFFC-3546-6041-C4BE-1CB4F8B55D23}"/>
              </a:ext>
            </a:extLst>
          </p:cNvPr>
          <p:cNvSpPr>
            <a:spLocks noGrp="1"/>
          </p:cNvSpPr>
          <p:nvPr>
            <p:ph type="sldNum" sz="quarter" idx="12"/>
          </p:nvPr>
        </p:nvSpPr>
        <p:spPr/>
        <p:txBody>
          <a:bodyPr/>
          <a:lstStyle/>
          <a:p>
            <a:fld id="{C33191C2-511A-4F1C-8F71-2D5BC8914409}" type="slidenum">
              <a:rPr lang="en-US" smtClean="0"/>
              <a:t>‹#›</a:t>
            </a:fld>
            <a:endParaRPr lang="en-US"/>
          </a:p>
        </p:txBody>
      </p:sp>
    </p:spTree>
    <p:extLst>
      <p:ext uri="{BB962C8B-B14F-4D97-AF65-F5344CB8AC3E}">
        <p14:creationId xmlns:p14="http://schemas.microsoft.com/office/powerpoint/2010/main" val="2455203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3C82AF-797F-45ED-7B78-F8143CB9EC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DC1705-DD71-E3C1-C1B5-E653B35A04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61F9BF-80B3-6C15-91C4-9AF5F4B08F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0AE79E-6E55-4452-A992-F6A71805148D}" type="datetimeFigureOut">
              <a:rPr lang="en-US" smtClean="0"/>
              <a:t>11/27/2025</a:t>
            </a:fld>
            <a:endParaRPr lang="en-US"/>
          </a:p>
        </p:txBody>
      </p:sp>
      <p:sp>
        <p:nvSpPr>
          <p:cNvPr id="5" name="Footer Placeholder 4">
            <a:extLst>
              <a:ext uri="{FF2B5EF4-FFF2-40B4-BE49-F238E27FC236}">
                <a16:creationId xmlns:a16="http://schemas.microsoft.com/office/drawing/2014/main" id="{37CC374A-CEEB-C4D9-C888-6D3A401FE7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0C97E1-9F03-3725-0FF0-EA841CE5F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3191C2-511A-4F1C-8F71-2D5BC8914409}" type="slidenum">
              <a:rPr lang="en-US" smtClean="0"/>
              <a:t>‹#›</a:t>
            </a:fld>
            <a:endParaRPr lang="en-US"/>
          </a:p>
        </p:txBody>
      </p:sp>
    </p:spTree>
    <p:extLst>
      <p:ext uri="{BB962C8B-B14F-4D97-AF65-F5344CB8AC3E}">
        <p14:creationId xmlns:p14="http://schemas.microsoft.com/office/powerpoint/2010/main" val="379464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234CD4-190A-3CDD-3BC2-CA7366BF4825}"/>
              </a:ext>
            </a:extLst>
          </p:cNvPr>
          <p:cNvSpPr txBox="1"/>
          <p:nvPr/>
        </p:nvSpPr>
        <p:spPr>
          <a:xfrm>
            <a:off x="2930013" y="2300748"/>
            <a:ext cx="6700168" cy="923330"/>
          </a:xfrm>
          <a:prstGeom prst="rect">
            <a:avLst/>
          </a:prstGeom>
          <a:noFill/>
        </p:spPr>
        <p:txBody>
          <a:bodyPr wrap="none" rtlCol="0">
            <a:spAutoFit/>
          </a:bodyPr>
          <a:lstStyle/>
          <a:p>
            <a:r>
              <a:rPr lang="en-US" sz="5400" dirty="0"/>
              <a:t>Role of System Analyst.</a:t>
            </a:r>
          </a:p>
        </p:txBody>
      </p:sp>
    </p:spTree>
    <p:extLst>
      <p:ext uri="{BB962C8B-B14F-4D97-AF65-F5344CB8AC3E}">
        <p14:creationId xmlns:p14="http://schemas.microsoft.com/office/powerpoint/2010/main" val="1331626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534A91-FBE1-4998-92E5-F2246B340F93}"/>
              </a:ext>
            </a:extLst>
          </p:cNvPr>
          <p:cNvSpPr txBox="1"/>
          <p:nvPr/>
        </p:nvSpPr>
        <p:spPr>
          <a:xfrm>
            <a:off x="717755" y="737419"/>
            <a:ext cx="2432397" cy="707886"/>
          </a:xfrm>
          <a:prstGeom prst="rect">
            <a:avLst/>
          </a:prstGeom>
          <a:noFill/>
        </p:spPr>
        <p:txBody>
          <a:bodyPr wrap="none" rtlCol="0">
            <a:spAutoFit/>
          </a:bodyPr>
          <a:lstStyle/>
          <a:p>
            <a:r>
              <a:rPr lang="en-US" sz="4000" b="1" i="1" dirty="0"/>
              <a:t>Definition:</a:t>
            </a:r>
          </a:p>
        </p:txBody>
      </p:sp>
      <p:sp>
        <p:nvSpPr>
          <p:cNvPr id="3" name="TextBox 2">
            <a:extLst>
              <a:ext uri="{FF2B5EF4-FFF2-40B4-BE49-F238E27FC236}">
                <a16:creationId xmlns:a16="http://schemas.microsoft.com/office/drawing/2014/main" id="{75B07227-9F3E-EE2B-3E14-004EB8E1FF9A}"/>
              </a:ext>
            </a:extLst>
          </p:cNvPr>
          <p:cNvSpPr txBox="1"/>
          <p:nvPr/>
        </p:nvSpPr>
        <p:spPr>
          <a:xfrm>
            <a:off x="535857" y="1445304"/>
            <a:ext cx="11159612" cy="1569660"/>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sz="2400" dirty="0">
                <a:latin typeface="Arial" panose="020B0604020202020204" pitchFamily="34" charset="0"/>
              </a:rPr>
              <a:t>A </a:t>
            </a:r>
            <a:r>
              <a:rPr lang="en-US" altLang="en-US" sz="2400" b="1" dirty="0">
                <a:latin typeface="Arial" panose="020B0604020202020204" pitchFamily="34" charset="0"/>
              </a:rPr>
              <a:t>System Analyst</a:t>
            </a:r>
            <a:r>
              <a:rPr lang="en-US" altLang="en-US" sz="2400" dirty="0">
                <a:latin typeface="Arial" panose="020B0604020202020204" pitchFamily="34" charset="0"/>
              </a:rPr>
              <a:t> is a professional who studies, designs, and improves information systems to meet business needs.</a:t>
            </a:r>
          </a:p>
          <a:p>
            <a:pPr marL="285750" lvl="0" indent="-285750" eaLnBrk="0" fontAlgn="base" hangingPunct="0">
              <a:spcBef>
                <a:spcPct val="0"/>
              </a:spcBef>
              <a:spcAft>
                <a:spcPct val="0"/>
              </a:spcAft>
              <a:buFont typeface="Wingdings" panose="05000000000000000000" pitchFamily="2" charset="2"/>
              <a:buChar char="Ø"/>
            </a:pPr>
            <a:r>
              <a:rPr lang="en-US" altLang="en-US" sz="2400" dirty="0">
                <a:latin typeface="Arial" panose="020B0604020202020204" pitchFamily="34" charset="0"/>
              </a:rPr>
              <a:t>They act as a bridge between users and developers, ensuring that system solutions fulfill organizational goals.</a:t>
            </a:r>
          </a:p>
        </p:txBody>
      </p:sp>
      <p:sp>
        <p:nvSpPr>
          <p:cNvPr id="5" name="TextBox 4">
            <a:extLst>
              <a:ext uri="{FF2B5EF4-FFF2-40B4-BE49-F238E27FC236}">
                <a16:creationId xmlns:a16="http://schemas.microsoft.com/office/drawing/2014/main" id="{EF032E7F-AB21-9BED-D4C1-AE6A5C2FE51E}"/>
              </a:ext>
            </a:extLst>
          </p:cNvPr>
          <p:cNvSpPr txBox="1"/>
          <p:nvPr/>
        </p:nvSpPr>
        <p:spPr>
          <a:xfrm>
            <a:off x="535857" y="3147958"/>
            <a:ext cx="10795819" cy="1969770"/>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In according to Random House Dictionary –</a:t>
            </a:r>
          </a:p>
          <a:p>
            <a:r>
              <a:rPr lang="en-US" sz="2400" dirty="0"/>
              <a:t>A person who conducts a methodical study and evaluation of an activity such as a business to identify its desired objectives in order to determine procedures by which these objectives can be gained.</a:t>
            </a:r>
          </a:p>
          <a:p>
            <a:endParaRPr lang="en-US" sz="2400" dirty="0"/>
          </a:p>
        </p:txBody>
      </p:sp>
    </p:spTree>
    <p:extLst>
      <p:ext uri="{BB962C8B-B14F-4D97-AF65-F5344CB8AC3E}">
        <p14:creationId xmlns:p14="http://schemas.microsoft.com/office/powerpoint/2010/main" val="1029851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0830B-01F0-9F80-20D1-F26590635E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D7B45D-897A-C76D-75AD-D2F8EFD8B055}"/>
              </a:ext>
            </a:extLst>
          </p:cNvPr>
          <p:cNvSpPr txBox="1"/>
          <p:nvPr/>
        </p:nvSpPr>
        <p:spPr>
          <a:xfrm>
            <a:off x="776749" y="690405"/>
            <a:ext cx="6096000" cy="523220"/>
          </a:xfrm>
          <a:prstGeom prst="rect">
            <a:avLst/>
          </a:prstGeom>
          <a:noFill/>
        </p:spPr>
        <p:txBody>
          <a:bodyPr wrap="square">
            <a:spAutoFit/>
          </a:bodyPr>
          <a:lstStyle/>
          <a:p>
            <a:r>
              <a:rPr lang="en-US" sz="2800" b="1" i="1" dirty="0"/>
              <a:t>Historical Perspective of System Analyst </a:t>
            </a:r>
          </a:p>
        </p:txBody>
      </p:sp>
      <p:sp>
        <p:nvSpPr>
          <p:cNvPr id="6" name="TextBox 5">
            <a:extLst>
              <a:ext uri="{FF2B5EF4-FFF2-40B4-BE49-F238E27FC236}">
                <a16:creationId xmlns:a16="http://schemas.microsoft.com/office/drawing/2014/main" id="{9890DD4B-3402-D690-23E8-3C1ACAA91EE7}"/>
              </a:ext>
            </a:extLst>
          </p:cNvPr>
          <p:cNvSpPr txBox="1"/>
          <p:nvPr/>
        </p:nvSpPr>
        <p:spPr>
          <a:xfrm>
            <a:off x="776749" y="1367757"/>
            <a:ext cx="2123767" cy="461665"/>
          </a:xfrm>
          <a:prstGeom prst="rect">
            <a:avLst/>
          </a:prstGeom>
          <a:noFill/>
        </p:spPr>
        <p:txBody>
          <a:bodyPr wrap="square">
            <a:spAutoFit/>
          </a:bodyPr>
          <a:lstStyle/>
          <a:p>
            <a:pPr lvl="0" eaLnBrk="0" fontAlgn="base" hangingPunct="0">
              <a:spcBef>
                <a:spcPct val="0"/>
              </a:spcBef>
              <a:spcAft>
                <a:spcPct val="0"/>
              </a:spcAft>
            </a:pPr>
            <a:r>
              <a:rPr lang="en-US" altLang="en-US" sz="2400" b="1" dirty="0">
                <a:latin typeface="Arial" panose="020B0604020202020204" pitchFamily="34" charset="0"/>
              </a:rPr>
              <a:t>War Effect:</a:t>
            </a:r>
          </a:p>
        </p:txBody>
      </p:sp>
      <p:sp>
        <p:nvSpPr>
          <p:cNvPr id="2" name="TextBox 1">
            <a:extLst>
              <a:ext uri="{FF2B5EF4-FFF2-40B4-BE49-F238E27FC236}">
                <a16:creationId xmlns:a16="http://schemas.microsoft.com/office/drawing/2014/main" id="{67B61A83-5101-8450-FABA-71DA6FB007C6}"/>
              </a:ext>
            </a:extLst>
          </p:cNvPr>
          <p:cNvSpPr txBox="1"/>
          <p:nvPr/>
        </p:nvSpPr>
        <p:spPr>
          <a:xfrm>
            <a:off x="599769" y="1890977"/>
            <a:ext cx="11366090" cy="2831544"/>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Pre–World War I Industrial Landscape</a:t>
            </a:r>
          </a:p>
          <a:p>
            <a:pPr marL="742950" lvl="1" indent="-285750">
              <a:buFont typeface="Wingdings" panose="05000000000000000000" pitchFamily="2" charset="2"/>
              <a:buChar char="§"/>
            </a:pPr>
            <a:r>
              <a:rPr lang="en-US" sz="2200" dirty="0"/>
              <a:t>Factories were labor-intensive and relied heavily on manual work.</a:t>
            </a:r>
          </a:p>
          <a:p>
            <a:pPr marL="742950" lvl="1" indent="-285750">
              <a:buFont typeface="Wingdings" panose="05000000000000000000" pitchFamily="2" charset="2"/>
              <a:buChar char="§"/>
            </a:pPr>
            <a:r>
              <a:rPr lang="en-US" sz="2200" dirty="0"/>
              <a:t>Automation began to change production methods, making goods faster, cheaper, and more efficient.</a:t>
            </a:r>
          </a:p>
          <a:p>
            <a:pPr marL="742950" lvl="1" indent="-285750">
              <a:buFont typeface="Wingdings" panose="05000000000000000000" pitchFamily="2" charset="2"/>
              <a:buChar char="§"/>
            </a:pPr>
            <a:r>
              <a:rPr lang="en-US" sz="2200" dirty="0"/>
              <a:t>The rise of labor unions and increased wages created demand for analysts.</a:t>
            </a:r>
          </a:p>
          <a:p>
            <a:pPr marL="742950" lvl="1" indent="-285750">
              <a:buFont typeface="Wingdings" panose="05000000000000000000" pitchFamily="2" charset="2"/>
              <a:buChar char="§"/>
            </a:pPr>
            <a:r>
              <a:rPr lang="en-US" sz="2200" dirty="0"/>
              <a:t>Analysts were needed to improve working conditions and establish standards and incentive systems.</a:t>
            </a:r>
          </a:p>
          <a:p>
            <a:pPr marL="742950" lvl="1" indent="-285750">
              <a:buFont typeface="Wingdings" panose="05000000000000000000" pitchFamily="2" charset="2"/>
              <a:buChar char="§"/>
            </a:pPr>
            <a:r>
              <a:rPr lang="en-US" sz="2200" dirty="0"/>
              <a:t>They also developed training programs and methods to enhance workforce development.</a:t>
            </a:r>
          </a:p>
        </p:txBody>
      </p:sp>
      <p:sp>
        <p:nvSpPr>
          <p:cNvPr id="5" name="TextBox 4">
            <a:extLst>
              <a:ext uri="{FF2B5EF4-FFF2-40B4-BE49-F238E27FC236}">
                <a16:creationId xmlns:a16="http://schemas.microsoft.com/office/drawing/2014/main" id="{ECC6937C-9A99-2DCD-DBC2-8F7FD8EE7EA9}"/>
              </a:ext>
            </a:extLst>
          </p:cNvPr>
          <p:cNvSpPr txBox="1"/>
          <p:nvPr/>
        </p:nvSpPr>
        <p:spPr>
          <a:xfrm>
            <a:off x="698092" y="4751579"/>
            <a:ext cx="10894139" cy="1815882"/>
          </a:xfrm>
          <a:prstGeom prst="rect">
            <a:avLst/>
          </a:prstGeom>
          <a:noFill/>
        </p:spPr>
        <p:txBody>
          <a:bodyPr wrap="square">
            <a:spAutoFit/>
          </a:bodyPr>
          <a:lstStyle/>
          <a:p>
            <a:pPr marL="285750" indent="-285750">
              <a:buFont typeface="Wingdings" panose="05000000000000000000" pitchFamily="2" charset="2"/>
              <a:buChar char="v"/>
            </a:pPr>
            <a:r>
              <a:rPr lang="en-US" sz="2400" dirty="0"/>
              <a:t>Post–World War II Developments (1950s–1960s)</a:t>
            </a:r>
          </a:p>
          <a:p>
            <a:pPr marL="742950" lvl="1" indent="-285750">
              <a:buFont typeface="Wingdings" panose="05000000000000000000" pitchFamily="2" charset="2"/>
              <a:buChar char="§"/>
            </a:pPr>
            <a:r>
              <a:rPr lang="en-US" sz="2200" dirty="0"/>
              <a:t>The federal government started stockpiling military weapons.</a:t>
            </a:r>
          </a:p>
          <a:p>
            <a:pPr marL="742950" lvl="1" indent="-285750">
              <a:buFont typeface="Wingdings" panose="05000000000000000000" pitchFamily="2" charset="2"/>
              <a:buChar char="§"/>
            </a:pPr>
            <a:r>
              <a:rPr lang="en-US" sz="2200" dirty="0"/>
              <a:t>Analysts conducted cost/benefit analyses to evaluate weapon systems.</a:t>
            </a:r>
          </a:p>
          <a:p>
            <a:pPr marL="742950" lvl="1" indent="-285750">
              <a:buFont typeface="Wingdings" panose="05000000000000000000" pitchFamily="2" charset="2"/>
              <a:buChar char="§"/>
            </a:pPr>
            <a:r>
              <a:rPr lang="en-US" sz="2200" dirty="0"/>
              <a:t>Inventory-control techniques were used to determine optimal weapon usage and quantities.</a:t>
            </a:r>
          </a:p>
        </p:txBody>
      </p:sp>
    </p:spTree>
    <p:extLst>
      <p:ext uri="{BB962C8B-B14F-4D97-AF65-F5344CB8AC3E}">
        <p14:creationId xmlns:p14="http://schemas.microsoft.com/office/powerpoint/2010/main" val="102276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A529-2AD7-5CBA-86A2-D38ECE2D3D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2D6671-6C11-769B-AD68-71F5B9A6199D}"/>
              </a:ext>
            </a:extLst>
          </p:cNvPr>
          <p:cNvSpPr txBox="1"/>
          <p:nvPr/>
        </p:nvSpPr>
        <p:spPr>
          <a:xfrm>
            <a:off x="776749" y="690405"/>
            <a:ext cx="6096000" cy="523220"/>
          </a:xfrm>
          <a:prstGeom prst="rect">
            <a:avLst/>
          </a:prstGeom>
          <a:noFill/>
        </p:spPr>
        <p:txBody>
          <a:bodyPr wrap="square">
            <a:spAutoFit/>
          </a:bodyPr>
          <a:lstStyle/>
          <a:p>
            <a:r>
              <a:rPr lang="en-US" sz="2800" b="1" i="1" dirty="0"/>
              <a:t>Historical Perspective of System Analyst </a:t>
            </a:r>
          </a:p>
        </p:txBody>
      </p:sp>
      <p:sp>
        <p:nvSpPr>
          <p:cNvPr id="6" name="TextBox 5">
            <a:extLst>
              <a:ext uri="{FF2B5EF4-FFF2-40B4-BE49-F238E27FC236}">
                <a16:creationId xmlns:a16="http://schemas.microsoft.com/office/drawing/2014/main" id="{E2ECFCA4-66AB-F75A-3F2B-4E359A60C236}"/>
              </a:ext>
            </a:extLst>
          </p:cNvPr>
          <p:cNvSpPr txBox="1"/>
          <p:nvPr/>
        </p:nvSpPr>
        <p:spPr>
          <a:xfrm>
            <a:off x="865240" y="1535723"/>
            <a:ext cx="2064774" cy="461665"/>
          </a:xfrm>
          <a:prstGeom prst="rect">
            <a:avLst/>
          </a:prstGeom>
          <a:noFill/>
        </p:spPr>
        <p:txBody>
          <a:bodyPr wrap="square">
            <a:spAutoFit/>
          </a:bodyPr>
          <a:lstStyle/>
          <a:p>
            <a:pPr lvl="0" eaLnBrk="0" fontAlgn="base" hangingPunct="0">
              <a:spcBef>
                <a:spcPct val="0"/>
              </a:spcBef>
              <a:spcAft>
                <a:spcPct val="0"/>
              </a:spcAft>
            </a:pPr>
            <a:r>
              <a:rPr lang="en-US" altLang="en-US" sz="2400" b="1" dirty="0">
                <a:latin typeface="Arial" panose="020B0604020202020204" pitchFamily="34" charset="0"/>
              </a:rPr>
              <a:t>War Effect:</a:t>
            </a:r>
          </a:p>
        </p:txBody>
      </p:sp>
      <p:sp>
        <p:nvSpPr>
          <p:cNvPr id="9" name="TextBox 8">
            <a:extLst>
              <a:ext uri="{FF2B5EF4-FFF2-40B4-BE49-F238E27FC236}">
                <a16:creationId xmlns:a16="http://schemas.microsoft.com/office/drawing/2014/main" id="{219EAC49-9220-7AD1-3E27-C7E1A42E68B5}"/>
              </a:ext>
            </a:extLst>
          </p:cNvPr>
          <p:cNvSpPr txBox="1"/>
          <p:nvPr/>
        </p:nvSpPr>
        <p:spPr>
          <a:xfrm>
            <a:off x="2035276" y="2182956"/>
            <a:ext cx="8760543" cy="3416320"/>
          </a:xfrm>
          <a:prstGeom prst="rect">
            <a:avLst/>
          </a:prstGeom>
          <a:noFill/>
        </p:spPr>
        <p:txBody>
          <a:bodyPr wrap="square">
            <a:spAutoFit/>
          </a:bodyPr>
          <a:lstStyle/>
          <a:p>
            <a:pPr marL="342900" indent="-342900">
              <a:buFont typeface="Wingdings" panose="05000000000000000000" pitchFamily="2" charset="2"/>
              <a:buChar char="v"/>
            </a:pPr>
            <a:r>
              <a:rPr lang="en-US" sz="2400" dirty="0"/>
              <a:t>Systems developed during the war era include </a:t>
            </a:r>
          </a:p>
          <a:p>
            <a:pPr marL="800100" lvl="1" indent="-342900">
              <a:buFont typeface="Wingdings" panose="05000000000000000000" pitchFamily="2" charset="2"/>
              <a:buChar char="§"/>
            </a:pPr>
            <a:r>
              <a:rPr lang="en-US" sz="2400" dirty="0"/>
              <a:t>Radar system.</a:t>
            </a:r>
          </a:p>
          <a:p>
            <a:pPr marL="800100" lvl="1" indent="-342900">
              <a:buFont typeface="Wingdings" panose="05000000000000000000" pitchFamily="2" charset="2"/>
              <a:buChar char="§"/>
            </a:pPr>
            <a:r>
              <a:rPr lang="en-US" sz="2400" dirty="0"/>
              <a:t>Early computers.</a:t>
            </a:r>
          </a:p>
          <a:p>
            <a:pPr marL="800100" lvl="1" indent="-342900">
              <a:buFont typeface="Wingdings" panose="05000000000000000000" pitchFamily="2" charset="2"/>
              <a:buChar char="§"/>
            </a:pPr>
            <a:r>
              <a:rPr lang="en-US" sz="2400" dirty="0"/>
              <a:t>Cryptographic Machines.</a:t>
            </a:r>
          </a:p>
          <a:p>
            <a:pPr marL="800100" lvl="1" indent="-342900">
              <a:buFont typeface="Wingdings" panose="05000000000000000000" pitchFamily="2" charset="2"/>
              <a:buChar char="§"/>
            </a:pPr>
            <a:r>
              <a:rPr lang="en-US" sz="2400" dirty="0"/>
              <a:t>Inventory control systems.</a:t>
            </a:r>
          </a:p>
          <a:p>
            <a:pPr marL="800100" lvl="1" indent="-342900">
              <a:buFont typeface="Wingdings" panose="05000000000000000000" pitchFamily="2" charset="2"/>
              <a:buChar char="§"/>
            </a:pPr>
            <a:r>
              <a:rPr lang="en-US" sz="2400" dirty="0"/>
              <a:t>Operations Research.</a:t>
            </a:r>
          </a:p>
          <a:p>
            <a:pPr marL="800100" lvl="1" indent="-342900">
              <a:buFont typeface="Wingdings" panose="05000000000000000000" pitchFamily="2" charset="2"/>
              <a:buChar char="§"/>
            </a:pPr>
            <a:r>
              <a:rPr lang="en-US" sz="2400" dirty="0"/>
              <a:t>Mass Production of Penicillin. </a:t>
            </a:r>
          </a:p>
          <a:p>
            <a:r>
              <a:rPr lang="en-US" sz="2400" dirty="0"/>
              <a:t>These innovations were driven by military needs and later influenced civilian technologies.</a:t>
            </a:r>
          </a:p>
        </p:txBody>
      </p:sp>
    </p:spTree>
    <p:extLst>
      <p:ext uri="{BB962C8B-B14F-4D97-AF65-F5344CB8AC3E}">
        <p14:creationId xmlns:p14="http://schemas.microsoft.com/office/powerpoint/2010/main" val="1924850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B3B5E5-9A1F-D7D9-6D8F-5D3AA47A1318}"/>
              </a:ext>
            </a:extLst>
          </p:cNvPr>
          <p:cNvSpPr txBox="1"/>
          <p:nvPr/>
        </p:nvSpPr>
        <p:spPr>
          <a:xfrm>
            <a:off x="776749" y="690405"/>
            <a:ext cx="6096000" cy="523220"/>
          </a:xfrm>
          <a:prstGeom prst="rect">
            <a:avLst/>
          </a:prstGeom>
          <a:noFill/>
        </p:spPr>
        <p:txBody>
          <a:bodyPr wrap="square">
            <a:spAutoFit/>
          </a:bodyPr>
          <a:lstStyle/>
          <a:p>
            <a:r>
              <a:rPr lang="en-US" sz="2800" b="1" i="1" dirty="0"/>
              <a:t>Historical Perspective of System Analyst</a:t>
            </a:r>
          </a:p>
        </p:txBody>
      </p:sp>
      <p:sp>
        <p:nvSpPr>
          <p:cNvPr id="6" name="TextBox 5">
            <a:extLst>
              <a:ext uri="{FF2B5EF4-FFF2-40B4-BE49-F238E27FC236}">
                <a16:creationId xmlns:a16="http://schemas.microsoft.com/office/drawing/2014/main" id="{5B9E4E5B-6212-5008-C21A-F4E20C3FD95A}"/>
              </a:ext>
            </a:extLst>
          </p:cNvPr>
          <p:cNvSpPr txBox="1"/>
          <p:nvPr/>
        </p:nvSpPr>
        <p:spPr>
          <a:xfrm>
            <a:off x="688258" y="1425872"/>
            <a:ext cx="11051458" cy="3416320"/>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chemeClr val="tx1"/>
                </a:solidFill>
                <a:effectLst/>
                <a:latin typeface="Arial" panose="020B0604020202020204" pitchFamily="34" charset="0"/>
              </a:rPr>
              <a:t>1950s–1960s: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Computers used mainly for payroll and record keeping.</a:t>
            </a:r>
          </a:p>
          <a:p>
            <a:pPr marL="742950" lvl="1" indent="-285750" eaLnBrk="0" fontAlgn="base" hangingPunct="0">
              <a:spcBef>
                <a:spcPct val="0"/>
              </a:spcBef>
              <a:spcAft>
                <a:spcPct val="0"/>
              </a:spcAft>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Programmers handled both analysis and programming tasks.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chemeClr val="tx1"/>
                </a:solidFill>
                <a:effectLst/>
                <a:latin typeface="Arial" panose="020B0604020202020204" pitchFamily="34" charset="0"/>
              </a:rPr>
              <a:t>1970s–1980s: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Growing need for professionals to link business needs with technical solutions.</a:t>
            </a:r>
          </a:p>
          <a:p>
            <a:pPr marL="742950" lvl="1" indent="-285750" eaLnBrk="0" fontAlgn="base" hangingPunct="0">
              <a:spcBef>
                <a:spcPct val="0"/>
              </a:spcBef>
              <a:spcAft>
                <a:spcPct val="0"/>
              </a:spcAft>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System Analyst role formally recognized.</a:t>
            </a:r>
          </a:p>
          <a:p>
            <a:pPr marL="742950" lvl="1" indent="-285750" eaLnBrk="0" fontAlgn="base" hangingPunct="0">
              <a:spcBef>
                <a:spcPct val="0"/>
              </a:spcBef>
              <a:spcAft>
                <a:spcPct val="0"/>
              </a:spcAft>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Structured analysis and design methods introduced.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144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FFA4-CDAB-BF5C-0AA4-C73EC41DF3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00EF7A-F551-9EB7-DFB2-5CB3614ECB0C}"/>
              </a:ext>
            </a:extLst>
          </p:cNvPr>
          <p:cNvSpPr txBox="1"/>
          <p:nvPr/>
        </p:nvSpPr>
        <p:spPr>
          <a:xfrm>
            <a:off x="776749" y="690405"/>
            <a:ext cx="6096000" cy="523220"/>
          </a:xfrm>
          <a:prstGeom prst="rect">
            <a:avLst/>
          </a:prstGeom>
          <a:noFill/>
        </p:spPr>
        <p:txBody>
          <a:bodyPr wrap="square">
            <a:spAutoFit/>
          </a:bodyPr>
          <a:lstStyle/>
          <a:p>
            <a:r>
              <a:rPr lang="en-US" sz="2800" b="1" i="1" dirty="0"/>
              <a:t>Historical Perspective of System Analyst </a:t>
            </a:r>
          </a:p>
        </p:txBody>
      </p:sp>
      <p:sp>
        <p:nvSpPr>
          <p:cNvPr id="6" name="TextBox 5">
            <a:extLst>
              <a:ext uri="{FF2B5EF4-FFF2-40B4-BE49-F238E27FC236}">
                <a16:creationId xmlns:a16="http://schemas.microsoft.com/office/drawing/2014/main" id="{677953D9-C8F7-63E8-AEF3-87B85BDC4A0F}"/>
              </a:ext>
            </a:extLst>
          </p:cNvPr>
          <p:cNvSpPr txBox="1"/>
          <p:nvPr/>
        </p:nvSpPr>
        <p:spPr>
          <a:xfrm>
            <a:off x="875069" y="1997839"/>
            <a:ext cx="10736828" cy="3416320"/>
          </a:xfrm>
          <a:prstGeom prst="rect">
            <a:avLst/>
          </a:prstGeom>
          <a:noFill/>
        </p:spPr>
        <p:txBody>
          <a:bodyPr wrap="square">
            <a:spAutoFit/>
          </a:bodyPr>
          <a:lstStyle/>
          <a:p>
            <a:pPr marL="285750" lvl="0" indent="-285750" eaLnBrk="0" fontAlgn="base" hangingPunct="0">
              <a:spcBef>
                <a:spcPct val="0"/>
              </a:spcBef>
              <a:spcAft>
                <a:spcPct val="0"/>
              </a:spcAft>
              <a:buFont typeface="Wingdings" panose="05000000000000000000" pitchFamily="2" charset="2"/>
              <a:buChar char="v"/>
            </a:pPr>
            <a:r>
              <a:rPr lang="en-US" altLang="en-US" sz="2400" b="1" dirty="0">
                <a:latin typeface="Arial" panose="020B0604020202020204" pitchFamily="34" charset="0"/>
              </a:rPr>
              <a:t>1990s:</a:t>
            </a:r>
            <a:endParaRPr lang="en-US" altLang="en-US" sz="2400"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US" altLang="en-US" sz="2400" dirty="0">
                <a:latin typeface="Arial" panose="020B0604020202020204" pitchFamily="34" charset="0"/>
              </a:rPr>
              <a:t>Expansion of databases and personal computers.</a:t>
            </a:r>
          </a:p>
          <a:p>
            <a:pPr marL="742950" lvl="1" indent="-285750" eaLnBrk="0" fontAlgn="base" hangingPunct="0">
              <a:spcBef>
                <a:spcPct val="0"/>
              </a:spcBef>
              <a:spcAft>
                <a:spcPct val="0"/>
              </a:spcAft>
              <a:buFont typeface="Wingdings" panose="05000000000000000000" pitchFamily="2" charset="2"/>
              <a:buChar char="§"/>
            </a:pPr>
            <a:r>
              <a:rPr lang="en-US" altLang="en-US" sz="2400" dirty="0">
                <a:latin typeface="Arial" panose="020B0604020202020204" pitchFamily="34" charset="0"/>
              </a:rPr>
              <a:t>Analysts focused on system integration and decision-support systems.</a:t>
            </a:r>
          </a:p>
          <a:p>
            <a:pPr marL="285750" lvl="0" indent="-285750" eaLnBrk="0" fontAlgn="base" hangingPunct="0">
              <a:spcBef>
                <a:spcPct val="0"/>
              </a:spcBef>
              <a:spcAft>
                <a:spcPct val="0"/>
              </a:spcAft>
              <a:buFont typeface="Wingdings" panose="05000000000000000000" pitchFamily="2" charset="2"/>
              <a:buChar char="v"/>
            </a:pPr>
            <a:r>
              <a:rPr lang="en-US" altLang="en-US" sz="2400" b="1" dirty="0">
                <a:latin typeface="Arial" panose="020B0604020202020204" pitchFamily="34" charset="0"/>
              </a:rPr>
              <a:t>2000s–Present:</a:t>
            </a:r>
            <a:endParaRPr lang="en-US" altLang="en-US" sz="2400" dirty="0">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lang="en-US" altLang="en-US" sz="2400" dirty="0">
                <a:latin typeface="Arial" panose="020B0604020202020204" pitchFamily="34" charset="0"/>
              </a:rPr>
              <a:t>Use of object-oriented, agile, and cloud-based approaches.</a:t>
            </a:r>
          </a:p>
          <a:p>
            <a:pPr marL="742950" lvl="1" indent="-285750" eaLnBrk="0" fontAlgn="base" hangingPunct="0">
              <a:spcBef>
                <a:spcPct val="0"/>
              </a:spcBef>
              <a:spcAft>
                <a:spcPct val="0"/>
              </a:spcAft>
              <a:buFont typeface="Wingdings" panose="05000000000000000000" pitchFamily="2" charset="2"/>
              <a:buChar char="§"/>
            </a:pPr>
            <a:r>
              <a:rPr lang="en-US" altLang="en-US" sz="2400" dirty="0">
                <a:latin typeface="Arial" panose="020B0604020202020204" pitchFamily="34" charset="0"/>
              </a:rPr>
              <a:t>Analysts act as technology planners and digital transformation advisors.</a:t>
            </a:r>
          </a:p>
          <a:p>
            <a:pPr marL="742950" lvl="1" indent="-285750" eaLnBrk="0" fontAlgn="base" hangingPunct="0">
              <a:spcBef>
                <a:spcPct val="0"/>
              </a:spcBef>
              <a:spcAft>
                <a:spcPct val="0"/>
              </a:spcAft>
              <a:buFont typeface="Wingdings" panose="05000000000000000000" pitchFamily="2" charset="2"/>
              <a:buChar char="§"/>
            </a:pPr>
            <a:r>
              <a:rPr lang="en-US" altLang="en-US" sz="2400" dirty="0">
                <a:latin typeface="Arial" panose="020B0604020202020204" pitchFamily="34" charset="0"/>
              </a:rPr>
              <a:t>Greater focus on business strategy and user experience.</a:t>
            </a:r>
          </a:p>
          <a:p>
            <a:pPr lvl="0" eaLnBrk="0" fontAlgn="base" hangingPunct="0">
              <a:spcBef>
                <a:spcPct val="0"/>
              </a:spcBef>
              <a:spcAft>
                <a:spcPct val="0"/>
              </a:spcAf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7971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E2FDBC-B42F-163E-D43B-EDD7DCB3BB61}"/>
              </a:ext>
            </a:extLst>
          </p:cNvPr>
          <p:cNvSpPr txBox="1"/>
          <p:nvPr/>
        </p:nvSpPr>
        <p:spPr>
          <a:xfrm>
            <a:off x="884903" y="719902"/>
            <a:ext cx="7472516" cy="523220"/>
          </a:xfrm>
          <a:prstGeom prst="rect">
            <a:avLst/>
          </a:prstGeom>
          <a:noFill/>
        </p:spPr>
        <p:txBody>
          <a:bodyPr wrap="square">
            <a:spAutoFit/>
          </a:bodyPr>
          <a:lstStyle/>
          <a:p>
            <a:r>
              <a:rPr lang="en-US" sz="2800" b="1" i="1" dirty="0"/>
              <a:t>What Does It Take to Do Systems Analysis?</a:t>
            </a:r>
          </a:p>
        </p:txBody>
      </p:sp>
      <p:sp>
        <p:nvSpPr>
          <p:cNvPr id="5" name="TextBox 4">
            <a:extLst>
              <a:ext uri="{FF2B5EF4-FFF2-40B4-BE49-F238E27FC236}">
                <a16:creationId xmlns:a16="http://schemas.microsoft.com/office/drawing/2014/main" id="{A8BD4539-A402-3E6C-C9C2-1533521C1795}"/>
              </a:ext>
            </a:extLst>
          </p:cNvPr>
          <p:cNvSpPr txBox="1"/>
          <p:nvPr/>
        </p:nvSpPr>
        <p:spPr>
          <a:xfrm>
            <a:off x="1366683" y="1253045"/>
            <a:ext cx="9281652" cy="3785652"/>
          </a:xfrm>
          <a:prstGeom prst="rect">
            <a:avLst/>
          </a:prstGeom>
          <a:noFill/>
        </p:spPr>
        <p:txBody>
          <a:bodyPr wrap="square">
            <a:spAutoFit/>
          </a:bodyPr>
          <a:lstStyle/>
          <a:p>
            <a:pPr marL="285750" indent="-285750">
              <a:buFont typeface="Wingdings" panose="05000000000000000000" pitchFamily="2" charset="2"/>
              <a:buChar char="§"/>
            </a:pPr>
            <a:r>
              <a:rPr lang="en-US" sz="2400" dirty="0"/>
              <a:t>A System Analyst must have a balanced combination of interpersonal and technical skills.</a:t>
            </a:r>
          </a:p>
          <a:p>
            <a:pPr marL="285750" indent="-285750">
              <a:buFont typeface="Wingdings" panose="05000000000000000000" pitchFamily="2" charset="2"/>
              <a:buChar char="§"/>
            </a:pPr>
            <a:r>
              <a:rPr lang="en-US" sz="2400" dirty="0"/>
              <a:t>Both are essential for the successful development, design, and implementation of systems.</a:t>
            </a:r>
          </a:p>
          <a:p>
            <a:pPr marL="285750" indent="-285750">
              <a:buFont typeface="Wingdings" panose="05000000000000000000" pitchFamily="2" charset="2"/>
              <a:buChar char="§"/>
            </a:pPr>
            <a:r>
              <a:rPr lang="en-US" sz="2400" dirty="0"/>
              <a:t>Interpersonal skills deal with people, relationships, and communication within the business.</a:t>
            </a:r>
          </a:p>
          <a:p>
            <a:pPr marL="285750" indent="-285750">
              <a:buFont typeface="Wingdings" panose="05000000000000000000" pitchFamily="2" charset="2"/>
              <a:buChar char="§"/>
            </a:pPr>
            <a:r>
              <a:rPr lang="en-US" sz="2400" dirty="0"/>
              <a:t>Technical skills focus on methods, tools, and techniques used in systems and computer analysis.</a:t>
            </a:r>
          </a:p>
          <a:p>
            <a:pPr marL="285750" indent="-285750">
              <a:buFont typeface="Wingdings" panose="05000000000000000000" pitchFamily="2" charset="2"/>
              <a:buChar char="§"/>
            </a:pPr>
            <a:r>
              <a:rPr lang="en-US" sz="2400" dirty="0"/>
              <a:t>Together, they help analysts understand user needs, solve problems, and deliver effective solutions.</a:t>
            </a:r>
          </a:p>
        </p:txBody>
      </p:sp>
    </p:spTree>
    <p:extLst>
      <p:ext uri="{BB962C8B-B14F-4D97-AF65-F5344CB8AC3E}">
        <p14:creationId xmlns:p14="http://schemas.microsoft.com/office/powerpoint/2010/main" val="671157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6A150C-55A5-241A-61C9-C21A83CFE70C}"/>
              </a:ext>
            </a:extLst>
          </p:cNvPr>
          <p:cNvSpPr txBox="1"/>
          <p:nvPr/>
        </p:nvSpPr>
        <p:spPr>
          <a:xfrm>
            <a:off x="816077" y="471887"/>
            <a:ext cx="6096000" cy="523220"/>
          </a:xfrm>
          <a:prstGeom prst="rect">
            <a:avLst/>
          </a:prstGeom>
          <a:noFill/>
        </p:spPr>
        <p:txBody>
          <a:bodyPr wrap="square">
            <a:spAutoFit/>
          </a:bodyPr>
          <a:lstStyle/>
          <a:p>
            <a:r>
              <a:rPr lang="en-US" sz="2800" b="1" i="1" dirty="0"/>
              <a:t>Interpersonal Skills of a System Analyst</a:t>
            </a:r>
          </a:p>
        </p:txBody>
      </p:sp>
      <p:sp>
        <p:nvSpPr>
          <p:cNvPr id="6" name="TextBox 5">
            <a:extLst>
              <a:ext uri="{FF2B5EF4-FFF2-40B4-BE49-F238E27FC236}">
                <a16:creationId xmlns:a16="http://schemas.microsoft.com/office/drawing/2014/main" id="{06A3EE9B-3A31-2B04-66CB-BDD730E45788}"/>
              </a:ext>
            </a:extLst>
          </p:cNvPr>
          <p:cNvSpPr txBox="1"/>
          <p:nvPr/>
        </p:nvSpPr>
        <p:spPr>
          <a:xfrm>
            <a:off x="201560" y="1125733"/>
            <a:ext cx="11892117" cy="483209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Communication:</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Ability to speak the user’s language and build understanding across managerial levels.</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Involves listening, discussing, and creating an open communication climate.</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Avoids defensive or excessive documentation that blocks collaboration.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Understanding: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Ability to identify problems, assess their impact, and align solutions with company goals.</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Shows sensitivity to how systems affect people and workflow.</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Teaching: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Educating users on system operation and providing continuous support.</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Helps users adapt to new systems confidently.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Selling: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Promoting system ideas and convincing users to adopt technological solutions.</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Builds enthusiasm and acceptance for innovation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0446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591DB9-E429-8DE3-143F-EA15BEBD7E5D}"/>
              </a:ext>
            </a:extLst>
          </p:cNvPr>
          <p:cNvSpPr txBox="1"/>
          <p:nvPr/>
        </p:nvSpPr>
        <p:spPr>
          <a:xfrm>
            <a:off x="658762" y="365942"/>
            <a:ext cx="6096000" cy="461665"/>
          </a:xfrm>
          <a:prstGeom prst="rect">
            <a:avLst/>
          </a:prstGeom>
          <a:noFill/>
        </p:spPr>
        <p:txBody>
          <a:bodyPr wrap="square">
            <a:spAutoFit/>
          </a:bodyPr>
          <a:lstStyle/>
          <a:p>
            <a:r>
              <a:rPr lang="en-US" sz="2400" b="1" i="1" dirty="0"/>
              <a:t>Technical Skills of a System Analyst</a:t>
            </a:r>
          </a:p>
        </p:txBody>
      </p:sp>
      <p:sp>
        <p:nvSpPr>
          <p:cNvPr id="6" name="TextBox 5">
            <a:extLst>
              <a:ext uri="{FF2B5EF4-FFF2-40B4-BE49-F238E27FC236}">
                <a16:creationId xmlns:a16="http://schemas.microsoft.com/office/drawing/2014/main" id="{C46ADED9-20F2-ED40-43FC-7080A890E3C2}"/>
              </a:ext>
            </a:extLst>
          </p:cNvPr>
          <p:cNvSpPr txBox="1"/>
          <p:nvPr/>
        </p:nvSpPr>
        <p:spPr>
          <a:xfrm>
            <a:off x="363793" y="921036"/>
            <a:ext cx="11041625" cy="483209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Creativity:</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Transforming user ideas into workable system models and design alternatives.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Problem Solving: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Breaking complex issues into manageable parts and finding best-fit solutions.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Project Management:</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Managing time, cost, and resources; coordinating teamwork effectively.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Dynamic Interface:</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Integrating both technical and non-technical aspects in system design.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Questioning Attitude:</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Continuously exploring “what, why, when, where, who, and how” of system operations.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rPr>
              <a:t>Knowledge Base:</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Sound understanding of computer fundamentals and business processes.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3175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D45992-8C2A-7D58-28CC-8406A2D2F986}"/>
              </a:ext>
            </a:extLst>
          </p:cNvPr>
          <p:cNvSpPr txBox="1"/>
          <p:nvPr/>
        </p:nvSpPr>
        <p:spPr>
          <a:xfrm>
            <a:off x="1150374" y="641244"/>
            <a:ext cx="9144000" cy="523220"/>
          </a:xfrm>
          <a:prstGeom prst="rect">
            <a:avLst/>
          </a:prstGeom>
          <a:noFill/>
        </p:spPr>
        <p:txBody>
          <a:bodyPr wrap="square">
            <a:spAutoFit/>
          </a:bodyPr>
          <a:lstStyle/>
          <a:p>
            <a:r>
              <a:rPr lang="en-US" sz="2800" b="1" i="1" dirty="0"/>
              <a:t>Application of Skills in System Development Phases</a:t>
            </a:r>
          </a:p>
        </p:txBody>
      </p:sp>
      <p:sp>
        <p:nvSpPr>
          <p:cNvPr id="6" name="TextBox 5">
            <a:extLst>
              <a:ext uri="{FF2B5EF4-FFF2-40B4-BE49-F238E27FC236}">
                <a16:creationId xmlns:a16="http://schemas.microsoft.com/office/drawing/2014/main" id="{7FB3B794-B022-A9AF-9990-98AF601172D1}"/>
              </a:ext>
            </a:extLst>
          </p:cNvPr>
          <p:cNvSpPr txBox="1"/>
          <p:nvPr/>
        </p:nvSpPr>
        <p:spPr>
          <a:xfrm>
            <a:off x="1435509" y="1520785"/>
            <a:ext cx="10304207" cy="3816429"/>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Analysis Phase:</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High focus on interpersonal skills — gathering user requirements and translating them into system needs.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Design Phase:</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More emphasis on technical skills — creating system architecture and design details.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Implementation Phase:</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Combination of both skills — testing, user training, and system transition.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Maintenance Phase:</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Limited analyst involvement unless new or unexpected issues arise.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2841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CE9B74-29E1-860F-C013-1B7EAA776DBF}"/>
              </a:ext>
            </a:extLst>
          </p:cNvPr>
          <p:cNvPicPr>
            <a:picLocks noChangeAspect="1"/>
          </p:cNvPicPr>
          <p:nvPr/>
        </p:nvPicPr>
        <p:blipFill>
          <a:blip r:embed="rId2"/>
          <a:stretch>
            <a:fillRect/>
          </a:stretch>
        </p:blipFill>
        <p:spPr>
          <a:xfrm>
            <a:off x="1831454" y="985831"/>
            <a:ext cx="8745402" cy="4402247"/>
          </a:xfrm>
          <a:prstGeom prst="rect">
            <a:avLst/>
          </a:prstGeom>
        </p:spPr>
      </p:pic>
      <p:sp>
        <p:nvSpPr>
          <p:cNvPr id="4" name="TextBox 3">
            <a:extLst>
              <a:ext uri="{FF2B5EF4-FFF2-40B4-BE49-F238E27FC236}">
                <a16:creationId xmlns:a16="http://schemas.microsoft.com/office/drawing/2014/main" id="{25158D3C-508F-4FC4-47D4-5568CE82FA14}"/>
              </a:ext>
            </a:extLst>
          </p:cNvPr>
          <p:cNvSpPr txBox="1"/>
          <p:nvPr/>
        </p:nvSpPr>
        <p:spPr>
          <a:xfrm>
            <a:off x="5053780" y="4920423"/>
            <a:ext cx="869149" cy="369332"/>
          </a:xfrm>
          <a:prstGeom prst="rect">
            <a:avLst/>
          </a:prstGeom>
          <a:noFill/>
        </p:spPr>
        <p:txBody>
          <a:bodyPr wrap="none" rtlCol="0">
            <a:spAutoFit/>
          </a:bodyPr>
          <a:lstStyle/>
          <a:p>
            <a:r>
              <a:rPr lang="en-US" dirty="0"/>
              <a:t>Design </a:t>
            </a:r>
          </a:p>
        </p:txBody>
      </p:sp>
      <p:sp>
        <p:nvSpPr>
          <p:cNvPr id="5" name="TextBox 4">
            <a:extLst>
              <a:ext uri="{FF2B5EF4-FFF2-40B4-BE49-F238E27FC236}">
                <a16:creationId xmlns:a16="http://schemas.microsoft.com/office/drawing/2014/main" id="{B9F7908F-09CE-D89D-DF0E-D372BEE05507}"/>
              </a:ext>
            </a:extLst>
          </p:cNvPr>
          <p:cNvSpPr txBox="1"/>
          <p:nvPr/>
        </p:nvSpPr>
        <p:spPr>
          <a:xfrm>
            <a:off x="3323303" y="4920423"/>
            <a:ext cx="937564" cy="369332"/>
          </a:xfrm>
          <a:prstGeom prst="rect">
            <a:avLst/>
          </a:prstGeom>
          <a:noFill/>
        </p:spPr>
        <p:txBody>
          <a:bodyPr wrap="none" rtlCol="0">
            <a:spAutoFit/>
          </a:bodyPr>
          <a:lstStyle/>
          <a:p>
            <a:r>
              <a:rPr lang="en-US" dirty="0"/>
              <a:t>Analysis</a:t>
            </a:r>
          </a:p>
        </p:txBody>
      </p:sp>
      <p:sp>
        <p:nvSpPr>
          <p:cNvPr id="6" name="TextBox 5">
            <a:extLst>
              <a:ext uri="{FF2B5EF4-FFF2-40B4-BE49-F238E27FC236}">
                <a16:creationId xmlns:a16="http://schemas.microsoft.com/office/drawing/2014/main" id="{1807E919-2944-0CDA-0B98-A4D8B48BC0EC}"/>
              </a:ext>
            </a:extLst>
          </p:cNvPr>
          <p:cNvSpPr txBox="1"/>
          <p:nvPr/>
        </p:nvSpPr>
        <p:spPr>
          <a:xfrm>
            <a:off x="6381135" y="4920423"/>
            <a:ext cx="1692451" cy="369332"/>
          </a:xfrm>
          <a:prstGeom prst="rect">
            <a:avLst/>
          </a:prstGeom>
          <a:noFill/>
        </p:spPr>
        <p:txBody>
          <a:bodyPr wrap="none" rtlCol="0">
            <a:spAutoFit/>
          </a:bodyPr>
          <a:lstStyle/>
          <a:p>
            <a:r>
              <a:rPr lang="en-US" dirty="0"/>
              <a:t>Implementation</a:t>
            </a:r>
          </a:p>
        </p:txBody>
      </p:sp>
      <p:sp>
        <p:nvSpPr>
          <p:cNvPr id="7" name="TextBox 6">
            <a:extLst>
              <a:ext uri="{FF2B5EF4-FFF2-40B4-BE49-F238E27FC236}">
                <a16:creationId xmlns:a16="http://schemas.microsoft.com/office/drawing/2014/main" id="{39E877BC-BF77-844C-01D9-6C1AC31B9D00}"/>
              </a:ext>
            </a:extLst>
          </p:cNvPr>
          <p:cNvSpPr txBox="1"/>
          <p:nvPr/>
        </p:nvSpPr>
        <p:spPr>
          <a:xfrm>
            <a:off x="8391115" y="4920423"/>
            <a:ext cx="1475276" cy="369332"/>
          </a:xfrm>
          <a:prstGeom prst="rect">
            <a:avLst/>
          </a:prstGeom>
          <a:noFill/>
        </p:spPr>
        <p:txBody>
          <a:bodyPr wrap="none" rtlCol="0">
            <a:spAutoFit/>
          </a:bodyPr>
          <a:lstStyle/>
          <a:p>
            <a:r>
              <a:rPr lang="en-US" dirty="0"/>
              <a:t>Maintenance </a:t>
            </a:r>
          </a:p>
        </p:txBody>
      </p:sp>
      <p:sp>
        <p:nvSpPr>
          <p:cNvPr id="8" name="TextBox 7">
            <a:extLst>
              <a:ext uri="{FF2B5EF4-FFF2-40B4-BE49-F238E27FC236}">
                <a16:creationId xmlns:a16="http://schemas.microsoft.com/office/drawing/2014/main" id="{4E30DFA1-18C4-23D6-DAB6-E8831D731440}"/>
              </a:ext>
            </a:extLst>
          </p:cNvPr>
          <p:cNvSpPr txBox="1"/>
          <p:nvPr/>
        </p:nvSpPr>
        <p:spPr>
          <a:xfrm>
            <a:off x="1723299" y="5810865"/>
            <a:ext cx="9166355" cy="430887"/>
          </a:xfrm>
          <a:prstGeom prst="rect">
            <a:avLst/>
          </a:prstGeom>
          <a:noFill/>
        </p:spPr>
        <p:txBody>
          <a:bodyPr wrap="none" rtlCol="0">
            <a:spAutoFit/>
          </a:bodyPr>
          <a:lstStyle/>
          <a:p>
            <a:r>
              <a:rPr lang="en-US" sz="2200" b="1" dirty="0"/>
              <a:t>Figure-01: </a:t>
            </a:r>
            <a:r>
              <a:rPr lang="en-US" sz="2200" dirty="0"/>
              <a:t>Interpersonal and Technical Skills Necessary in System Development</a:t>
            </a:r>
          </a:p>
        </p:txBody>
      </p:sp>
      <p:sp>
        <p:nvSpPr>
          <p:cNvPr id="2" name="TextBox 1">
            <a:extLst>
              <a:ext uri="{FF2B5EF4-FFF2-40B4-BE49-F238E27FC236}">
                <a16:creationId xmlns:a16="http://schemas.microsoft.com/office/drawing/2014/main" id="{ACE7C355-3D62-0B54-D6E1-6679BA26D95F}"/>
              </a:ext>
            </a:extLst>
          </p:cNvPr>
          <p:cNvSpPr txBox="1"/>
          <p:nvPr/>
        </p:nvSpPr>
        <p:spPr>
          <a:xfrm>
            <a:off x="678426" y="247954"/>
            <a:ext cx="9144000" cy="523220"/>
          </a:xfrm>
          <a:prstGeom prst="rect">
            <a:avLst/>
          </a:prstGeom>
          <a:noFill/>
        </p:spPr>
        <p:txBody>
          <a:bodyPr wrap="square">
            <a:spAutoFit/>
          </a:bodyPr>
          <a:lstStyle/>
          <a:p>
            <a:r>
              <a:rPr lang="en-US" sz="2800" b="1" i="1" dirty="0"/>
              <a:t>Application of Skills in System Development Phases</a:t>
            </a:r>
          </a:p>
        </p:txBody>
      </p:sp>
    </p:spTree>
    <p:extLst>
      <p:ext uri="{BB962C8B-B14F-4D97-AF65-F5344CB8AC3E}">
        <p14:creationId xmlns:p14="http://schemas.microsoft.com/office/powerpoint/2010/main" val="1006797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47098D-E418-D17C-F6F7-4064B351FD1E}"/>
              </a:ext>
            </a:extLst>
          </p:cNvPr>
          <p:cNvSpPr txBox="1"/>
          <p:nvPr/>
        </p:nvSpPr>
        <p:spPr>
          <a:xfrm>
            <a:off x="816077" y="552754"/>
            <a:ext cx="6990735" cy="523220"/>
          </a:xfrm>
          <a:prstGeom prst="rect">
            <a:avLst/>
          </a:prstGeom>
          <a:noFill/>
        </p:spPr>
        <p:txBody>
          <a:bodyPr wrap="square">
            <a:spAutoFit/>
          </a:bodyPr>
          <a:lstStyle/>
          <a:p>
            <a:r>
              <a:rPr lang="en-US" sz="2800" b="1" i="1" dirty="0"/>
              <a:t>How Does an Analyst Acquire These Skills?</a:t>
            </a:r>
          </a:p>
        </p:txBody>
      </p:sp>
      <p:sp>
        <p:nvSpPr>
          <p:cNvPr id="6" name="TextBox 5">
            <a:extLst>
              <a:ext uri="{FF2B5EF4-FFF2-40B4-BE49-F238E27FC236}">
                <a16:creationId xmlns:a16="http://schemas.microsoft.com/office/drawing/2014/main" id="{3E2AB6CC-D452-2985-07CA-21040C0DDC48}"/>
              </a:ext>
            </a:extLst>
          </p:cNvPr>
          <p:cNvSpPr txBox="1"/>
          <p:nvPr/>
        </p:nvSpPr>
        <p:spPr>
          <a:xfrm>
            <a:off x="1730476" y="1407819"/>
            <a:ext cx="8426245" cy="4493538"/>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0" i="0" u="none" strike="noStrike" cap="none" normalizeH="0" baseline="0" dirty="0">
                <a:ln>
                  <a:noFill/>
                </a:ln>
                <a:solidFill>
                  <a:schemeClr val="tx1"/>
                </a:solidFill>
                <a:effectLst/>
                <a:latin typeface="Arial" panose="020B0604020202020204" pitchFamily="34" charset="0"/>
              </a:rPr>
              <a:t>A System Analyst develops essential skills through </a:t>
            </a:r>
            <a:r>
              <a:rPr kumimoji="0" lang="en-US" altLang="en-US" sz="2200" i="0" u="none" strike="noStrike" cap="none" normalizeH="0" baseline="0" dirty="0">
                <a:ln>
                  <a:noFill/>
                </a:ln>
                <a:solidFill>
                  <a:schemeClr val="tx1"/>
                </a:solidFill>
                <a:effectLst/>
                <a:latin typeface="Arial" panose="020B0604020202020204" pitchFamily="34" charset="0"/>
              </a:rPr>
              <a:t>education, experience, and personality traits.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0" i="0" u="none" strike="noStrike" cap="none" normalizeH="0" baseline="0" dirty="0">
                <a:ln>
                  <a:noFill/>
                </a:ln>
                <a:solidFill>
                  <a:schemeClr val="tx1"/>
                </a:solidFill>
                <a:effectLst/>
                <a:latin typeface="Arial" panose="020B0604020202020204" pitchFamily="34" charset="0"/>
              </a:rPr>
              <a:t>Most analysts are </a:t>
            </a:r>
            <a:r>
              <a:rPr kumimoji="0" lang="en-US" altLang="en-US" sz="2200" i="0" u="none" strike="noStrike" cap="none" normalizeH="0" baseline="0" dirty="0">
                <a:ln>
                  <a:noFill/>
                </a:ln>
                <a:solidFill>
                  <a:schemeClr val="tx1"/>
                </a:solidFill>
                <a:effectLst/>
                <a:latin typeface="Arial" panose="020B0604020202020204" pitchFamily="34" charset="0"/>
              </a:rPr>
              <a:t>college graduates </a:t>
            </a:r>
            <a:r>
              <a:rPr kumimoji="0" lang="en-US" altLang="en-US" sz="2200" b="0" i="0" u="none" strike="noStrike" cap="none" normalizeH="0" baseline="0" dirty="0">
                <a:ln>
                  <a:noFill/>
                </a:ln>
                <a:solidFill>
                  <a:schemeClr val="tx1"/>
                </a:solidFill>
                <a:effectLst/>
                <a:latin typeface="Arial" panose="020B0604020202020204" pitchFamily="34" charset="0"/>
              </a:rPr>
              <a:t>majoring in:</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Accounting</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Management</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Information Systems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0" i="0" u="none" strike="noStrike" cap="none" normalizeH="0" baseline="0" dirty="0">
                <a:ln>
                  <a:noFill/>
                </a:ln>
                <a:solidFill>
                  <a:schemeClr val="tx1"/>
                </a:solidFill>
                <a:effectLst/>
                <a:latin typeface="Arial" panose="020B0604020202020204" pitchFamily="34" charset="0"/>
              </a:rPr>
              <a:t>The </a:t>
            </a:r>
            <a:r>
              <a:rPr kumimoji="0" lang="en-US" altLang="en-US" sz="2200" i="0" u="none" strike="noStrike" cap="none" normalizeH="0" baseline="0" dirty="0">
                <a:ln>
                  <a:noFill/>
                </a:ln>
                <a:solidFill>
                  <a:schemeClr val="tx1"/>
                </a:solidFill>
                <a:effectLst/>
                <a:latin typeface="Arial" panose="020B0604020202020204" pitchFamily="34" charset="0"/>
              </a:rPr>
              <a:t>Information Systems </a:t>
            </a:r>
            <a:r>
              <a:rPr kumimoji="0" lang="en-US" altLang="en-US" sz="2200" b="0" i="0" u="none" strike="noStrike" cap="none" normalizeH="0" baseline="0" dirty="0">
                <a:ln>
                  <a:noFill/>
                </a:ln>
                <a:solidFill>
                  <a:schemeClr val="tx1"/>
                </a:solidFill>
                <a:effectLst/>
                <a:latin typeface="Arial" panose="020B0604020202020204" pitchFamily="34" charset="0"/>
              </a:rPr>
              <a:t>field now includes specialized courses such as:</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Systems Analysis</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Project Management</a:t>
            </a:r>
          </a:p>
          <a:p>
            <a:pPr marL="742950" lvl="1" indent="-285750" eaLnBrk="0" fontAlgn="base" hangingPunct="0">
              <a:spcBef>
                <a:spcPct val="0"/>
              </a:spcBef>
              <a:spcAft>
                <a:spcPct val="0"/>
              </a:spcAft>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Database Design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200" b="0" i="0" u="none" strike="noStrike" cap="none" normalizeH="0" baseline="0" dirty="0">
                <a:ln>
                  <a:noFill/>
                </a:ln>
                <a:solidFill>
                  <a:schemeClr val="tx1"/>
                </a:solidFill>
                <a:effectLst/>
                <a:latin typeface="Arial" panose="020B0604020202020204" pitchFamily="34" charset="0"/>
              </a:rPr>
              <a:t>Over </a:t>
            </a:r>
            <a:r>
              <a:rPr kumimoji="0" lang="en-US" altLang="en-US" sz="2200" i="0" u="none" strike="noStrike" cap="none" normalizeH="0" baseline="0" dirty="0">
                <a:ln>
                  <a:noFill/>
                </a:ln>
                <a:solidFill>
                  <a:schemeClr val="tx1"/>
                </a:solidFill>
                <a:effectLst/>
                <a:latin typeface="Arial" panose="020B0604020202020204" pitchFamily="34" charset="0"/>
              </a:rPr>
              <a:t>30 universities </a:t>
            </a:r>
            <a:r>
              <a:rPr kumimoji="0" lang="en-US" altLang="en-US" sz="2200" b="0" i="0" u="none" strike="noStrike" cap="none" normalizeH="0" baseline="0" dirty="0">
                <a:ln>
                  <a:noFill/>
                </a:ln>
                <a:solidFill>
                  <a:schemeClr val="tx1"/>
                </a:solidFill>
                <a:effectLst/>
                <a:latin typeface="Arial" panose="020B0604020202020204" pitchFamily="34" charset="0"/>
              </a:rPr>
              <a:t>offer advanced (doctoral) programs in Systems Analysis and Design.</a:t>
            </a:r>
          </a:p>
        </p:txBody>
      </p:sp>
    </p:spTree>
    <p:extLst>
      <p:ext uri="{BB962C8B-B14F-4D97-AF65-F5344CB8AC3E}">
        <p14:creationId xmlns:p14="http://schemas.microsoft.com/office/powerpoint/2010/main" val="3930091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491AB1-D3B5-1C0F-62FA-045302A688A0}"/>
              </a:ext>
            </a:extLst>
          </p:cNvPr>
          <p:cNvSpPr txBox="1"/>
          <p:nvPr/>
        </p:nvSpPr>
        <p:spPr>
          <a:xfrm>
            <a:off x="1238863" y="1534790"/>
            <a:ext cx="10382866" cy="3477875"/>
          </a:xfrm>
          <a:prstGeom prst="rect">
            <a:avLst/>
          </a:prstGeom>
          <a:noFill/>
        </p:spPr>
        <p:txBody>
          <a:bodyPr wrap="square">
            <a:spAutoFit/>
          </a:bodyPr>
          <a:lstStyle/>
          <a:p>
            <a:pPr marL="57150" indent="-342900" eaLnBrk="0" fontAlgn="base" hangingPunct="0">
              <a:spcBef>
                <a:spcPct val="0"/>
              </a:spcBef>
              <a:spcAft>
                <a:spcPct val="0"/>
              </a:spcAft>
              <a:buFont typeface="Wingdings" panose="05000000000000000000" pitchFamily="2" charset="2"/>
              <a:buChar char="v"/>
            </a:pPr>
            <a:r>
              <a:rPr lang="en-US" sz="2200" dirty="0">
                <a:latin typeface="Arial" panose="020B0604020202020204" pitchFamily="34" charset="0"/>
              </a:rPr>
              <a:t>Systems Theory &amp; Organizational Behavior:</a:t>
            </a:r>
          </a:p>
          <a:p>
            <a:pPr marL="800100" lvl="1" indent="-342900" eaLnBrk="0" fontAlgn="base" hangingPunct="0">
              <a:spcBef>
                <a:spcPct val="0"/>
              </a:spcBef>
              <a:spcAft>
                <a:spcPct val="0"/>
              </a:spcAft>
              <a:buFont typeface="Wingdings" panose="05000000000000000000" pitchFamily="2" charset="2"/>
              <a:buChar char="§"/>
            </a:pPr>
            <a:r>
              <a:rPr lang="en-US" sz="2200" dirty="0">
                <a:latin typeface="Arial" panose="020B0604020202020204" pitchFamily="34" charset="0"/>
              </a:rPr>
              <a:t>Helps understand how systems operate within organizations.</a:t>
            </a:r>
          </a:p>
          <a:p>
            <a:pPr marL="57150" indent="-342900" eaLnBrk="0" fontAlgn="base" hangingPunct="0">
              <a:spcBef>
                <a:spcPct val="0"/>
              </a:spcBef>
              <a:spcAft>
                <a:spcPct val="0"/>
              </a:spcAft>
              <a:buFont typeface="Wingdings" panose="05000000000000000000" pitchFamily="2" charset="2"/>
              <a:buChar char="v"/>
            </a:pPr>
            <a:r>
              <a:rPr lang="en-US" sz="2200" dirty="0">
                <a:latin typeface="Arial" panose="020B0604020202020204" pitchFamily="34" charset="0"/>
              </a:rPr>
              <a:t>Knowledge of Application Areas:</a:t>
            </a:r>
          </a:p>
          <a:p>
            <a:pPr marL="800100" lvl="1" indent="-342900" eaLnBrk="0" fontAlgn="base" hangingPunct="0">
              <a:spcBef>
                <a:spcPct val="0"/>
              </a:spcBef>
              <a:spcAft>
                <a:spcPct val="0"/>
              </a:spcAft>
              <a:buFont typeface="Wingdings" panose="05000000000000000000" pitchFamily="2" charset="2"/>
              <a:buChar char="§"/>
            </a:pPr>
            <a:r>
              <a:rPr lang="en-US" sz="2200" dirty="0">
                <a:latin typeface="Arial" panose="020B0604020202020204" pitchFamily="34" charset="0"/>
              </a:rPr>
              <a:t>Financial accounting, marketing, personnel management, production control, etc.</a:t>
            </a:r>
          </a:p>
          <a:p>
            <a:pPr marL="57150" indent="-342900" eaLnBrk="0" fontAlgn="base" hangingPunct="0">
              <a:spcBef>
                <a:spcPct val="0"/>
              </a:spcBef>
              <a:spcAft>
                <a:spcPct val="0"/>
              </a:spcAft>
              <a:buFont typeface="Wingdings" panose="05000000000000000000" pitchFamily="2" charset="2"/>
              <a:buChar char="v"/>
            </a:pPr>
            <a:r>
              <a:rPr lang="en-US" sz="2200" dirty="0">
                <a:latin typeface="Arial" panose="020B0604020202020204" pitchFamily="34" charset="0"/>
              </a:rPr>
              <a:t>Competence in System Tools:</a:t>
            </a:r>
          </a:p>
          <a:p>
            <a:pPr marL="800100" lvl="1" indent="-342900" eaLnBrk="0" fontAlgn="base" hangingPunct="0">
              <a:spcBef>
                <a:spcPct val="0"/>
              </a:spcBef>
              <a:spcAft>
                <a:spcPct val="0"/>
              </a:spcAft>
              <a:buFont typeface="Wingdings" panose="05000000000000000000" pitchFamily="2" charset="2"/>
              <a:buChar char="§"/>
            </a:pPr>
            <a:r>
              <a:rPr lang="en-US" sz="2200" dirty="0">
                <a:latin typeface="Arial" panose="020B0604020202020204" pitchFamily="34" charset="0"/>
              </a:rPr>
              <a:t>Practical experience with programming, database languages, and methodologies.</a:t>
            </a:r>
          </a:p>
          <a:p>
            <a:pPr marL="57150" indent="-342900" eaLnBrk="0" fontAlgn="base" hangingPunct="0">
              <a:spcBef>
                <a:spcPct val="0"/>
              </a:spcBef>
              <a:spcAft>
                <a:spcPct val="0"/>
              </a:spcAft>
              <a:buFont typeface="Wingdings" panose="05000000000000000000" pitchFamily="2" charset="2"/>
              <a:buChar char="v"/>
            </a:pPr>
            <a:r>
              <a:rPr lang="en-US" sz="2200" dirty="0">
                <a:latin typeface="Arial" panose="020B0604020202020204" pitchFamily="34" charset="0"/>
              </a:rPr>
              <a:t>Hardware &amp; Software Experience:</a:t>
            </a:r>
          </a:p>
          <a:p>
            <a:pPr marL="800100" lvl="1" indent="-342900" eaLnBrk="0" fontAlgn="base" hangingPunct="0">
              <a:spcBef>
                <a:spcPct val="0"/>
              </a:spcBef>
              <a:spcAft>
                <a:spcPct val="0"/>
              </a:spcAft>
              <a:buFont typeface="Wingdings" panose="05000000000000000000" pitchFamily="2" charset="2"/>
              <a:buChar char="§"/>
            </a:pPr>
            <a:r>
              <a:rPr lang="en-US" sz="2200" dirty="0">
                <a:latin typeface="Arial" panose="020B0604020202020204" pitchFamily="34" charset="0"/>
              </a:rPr>
              <a:t>Understanding specifications aids in system and technology selection.</a:t>
            </a:r>
          </a:p>
        </p:txBody>
      </p:sp>
      <p:sp>
        <p:nvSpPr>
          <p:cNvPr id="4" name="TextBox 3">
            <a:extLst>
              <a:ext uri="{FF2B5EF4-FFF2-40B4-BE49-F238E27FC236}">
                <a16:creationId xmlns:a16="http://schemas.microsoft.com/office/drawing/2014/main" id="{9587033E-0A3C-2AC4-BA12-E12B05E319C7}"/>
              </a:ext>
            </a:extLst>
          </p:cNvPr>
          <p:cNvSpPr txBox="1"/>
          <p:nvPr/>
        </p:nvSpPr>
        <p:spPr>
          <a:xfrm>
            <a:off x="835742" y="670741"/>
            <a:ext cx="6096000" cy="523220"/>
          </a:xfrm>
          <a:prstGeom prst="rect">
            <a:avLst/>
          </a:prstGeom>
          <a:noFill/>
        </p:spPr>
        <p:txBody>
          <a:bodyPr wrap="square">
            <a:spAutoFit/>
          </a:bodyPr>
          <a:lstStyle/>
          <a:p>
            <a:pPr>
              <a:buNone/>
            </a:pPr>
            <a:r>
              <a:rPr lang="en-US" sz="2800" b="1" i="1" dirty="0"/>
              <a:t>Academic Background and Experience</a:t>
            </a:r>
          </a:p>
        </p:txBody>
      </p:sp>
    </p:spTree>
    <p:extLst>
      <p:ext uri="{BB962C8B-B14F-4D97-AF65-F5344CB8AC3E}">
        <p14:creationId xmlns:p14="http://schemas.microsoft.com/office/powerpoint/2010/main" val="206029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741C2E-50EF-DA89-D868-A78E397B10B1}"/>
              </a:ext>
            </a:extLst>
          </p:cNvPr>
          <p:cNvSpPr txBox="1"/>
          <p:nvPr/>
        </p:nvSpPr>
        <p:spPr>
          <a:xfrm>
            <a:off x="1553495" y="1821620"/>
            <a:ext cx="10441860" cy="2805063"/>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b="1" dirty="0"/>
              <a:t>Authority:</a:t>
            </a:r>
            <a:r>
              <a:rPr lang="en-US" sz="2400" dirty="0"/>
              <a:t> Confidence to lead and make decisions under pressure.</a:t>
            </a:r>
          </a:p>
          <a:p>
            <a:pPr marL="285750" indent="-285750">
              <a:lnSpc>
                <a:spcPct val="150000"/>
              </a:lnSpc>
              <a:buFont typeface="Wingdings" panose="05000000000000000000" pitchFamily="2" charset="2"/>
              <a:buChar char="v"/>
            </a:pPr>
            <a:r>
              <a:rPr lang="en-US" sz="2400" b="1" dirty="0"/>
              <a:t>Communication Skills:</a:t>
            </a:r>
            <a:r>
              <a:rPr lang="en-US" sz="2400" dirty="0"/>
              <a:t> Ability to express ideas clearly and guide users logically.</a:t>
            </a:r>
          </a:p>
          <a:p>
            <a:pPr marL="285750" indent="-285750">
              <a:lnSpc>
                <a:spcPct val="150000"/>
              </a:lnSpc>
              <a:buFont typeface="Wingdings" panose="05000000000000000000" pitchFamily="2" charset="2"/>
              <a:buChar char="v"/>
            </a:pPr>
            <a:r>
              <a:rPr lang="en-US" sz="2400" b="1" dirty="0"/>
              <a:t>Creativity:</a:t>
            </a:r>
            <a:r>
              <a:rPr lang="en-US" sz="2400" dirty="0"/>
              <a:t> Willingness to explore new methods and innovative solutions.</a:t>
            </a:r>
          </a:p>
          <a:p>
            <a:pPr marL="285750" indent="-285750">
              <a:lnSpc>
                <a:spcPct val="150000"/>
              </a:lnSpc>
              <a:buFont typeface="Wingdings" panose="05000000000000000000" pitchFamily="2" charset="2"/>
              <a:buChar char="v"/>
            </a:pPr>
            <a:r>
              <a:rPr lang="en-US" sz="2400" b="1" dirty="0"/>
              <a:t>Responsibility:</a:t>
            </a:r>
            <a:r>
              <a:rPr lang="en-US" sz="2400" dirty="0"/>
              <a:t> Ownership of decisions and accountability for outcomes.</a:t>
            </a:r>
          </a:p>
          <a:p>
            <a:pPr marL="285750" indent="-285750">
              <a:lnSpc>
                <a:spcPct val="150000"/>
              </a:lnSpc>
              <a:buFont typeface="Wingdings" panose="05000000000000000000" pitchFamily="2" charset="2"/>
              <a:buChar char="v"/>
            </a:pPr>
            <a:r>
              <a:rPr lang="en-US" sz="2400" b="1" dirty="0"/>
              <a:t>Varied Skills:</a:t>
            </a:r>
            <a:r>
              <a:rPr lang="en-US" sz="2400" dirty="0"/>
              <a:t> Flexibility to manage diverse projects and adapt to change.</a:t>
            </a:r>
          </a:p>
        </p:txBody>
      </p:sp>
      <p:sp>
        <p:nvSpPr>
          <p:cNvPr id="4" name="TextBox 3">
            <a:extLst>
              <a:ext uri="{FF2B5EF4-FFF2-40B4-BE49-F238E27FC236}">
                <a16:creationId xmlns:a16="http://schemas.microsoft.com/office/drawing/2014/main" id="{25DAA6D9-094A-5B2E-2837-F6350BA658A8}"/>
              </a:ext>
            </a:extLst>
          </p:cNvPr>
          <p:cNvSpPr txBox="1"/>
          <p:nvPr/>
        </p:nvSpPr>
        <p:spPr>
          <a:xfrm>
            <a:off x="1042220" y="818225"/>
            <a:ext cx="6096000" cy="523220"/>
          </a:xfrm>
          <a:prstGeom prst="rect">
            <a:avLst/>
          </a:prstGeom>
          <a:noFill/>
        </p:spPr>
        <p:txBody>
          <a:bodyPr wrap="square">
            <a:spAutoFit/>
          </a:bodyPr>
          <a:lstStyle/>
          <a:p>
            <a:pPr>
              <a:buNone/>
            </a:pPr>
            <a:r>
              <a:rPr lang="en-US" sz="2800" b="1" i="1" dirty="0"/>
              <a:t>Personal Attributes of a System Analyst</a:t>
            </a:r>
          </a:p>
        </p:txBody>
      </p:sp>
    </p:spTree>
    <p:extLst>
      <p:ext uri="{BB962C8B-B14F-4D97-AF65-F5344CB8AC3E}">
        <p14:creationId xmlns:p14="http://schemas.microsoft.com/office/powerpoint/2010/main" val="514269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8A0435-1342-ECDF-B5F9-1144807BA79C}"/>
              </a:ext>
            </a:extLst>
          </p:cNvPr>
          <p:cNvSpPr txBox="1"/>
          <p:nvPr/>
        </p:nvSpPr>
        <p:spPr>
          <a:xfrm>
            <a:off x="786581" y="523256"/>
            <a:ext cx="7256206" cy="523220"/>
          </a:xfrm>
          <a:prstGeom prst="rect">
            <a:avLst/>
          </a:prstGeom>
          <a:noFill/>
        </p:spPr>
        <p:txBody>
          <a:bodyPr wrap="square">
            <a:spAutoFit/>
          </a:bodyPr>
          <a:lstStyle/>
          <a:p>
            <a:r>
              <a:rPr lang="en-US" sz="2800" b="1" i="1" dirty="0"/>
              <a:t>The Multifaceted Role of the System Analyst</a:t>
            </a:r>
          </a:p>
        </p:txBody>
      </p:sp>
      <p:sp>
        <p:nvSpPr>
          <p:cNvPr id="5" name="TextBox 4">
            <a:extLst>
              <a:ext uri="{FF2B5EF4-FFF2-40B4-BE49-F238E27FC236}">
                <a16:creationId xmlns:a16="http://schemas.microsoft.com/office/drawing/2014/main" id="{15DF5394-0FB2-4FB8-55B2-4A379D392EEA}"/>
              </a:ext>
            </a:extLst>
          </p:cNvPr>
          <p:cNvSpPr txBox="1"/>
          <p:nvPr/>
        </p:nvSpPr>
        <p:spPr>
          <a:xfrm>
            <a:off x="786582" y="1707873"/>
            <a:ext cx="10717160" cy="2462213"/>
          </a:xfrm>
          <a:prstGeom prst="rect">
            <a:avLst/>
          </a:prstGeom>
          <a:noFill/>
        </p:spPr>
        <p:txBody>
          <a:bodyPr wrap="square">
            <a:spAutoFit/>
          </a:bodyPr>
          <a:lstStyle/>
          <a:p>
            <a:r>
              <a:rPr lang="en-US" sz="2200" dirty="0"/>
              <a:t>A System Analyst performs </a:t>
            </a:r>
            <a:r>
              <a:rPr lang="en-US" sz="2200" b="1" dirty="0"/>
              <a:t>multiple roles</a:t>
            </a:r>
            <a:r>
              <a:rPr lang="en-US" sz="2200" dirty="0"/>
              <a:t> to ensure successful system development and user satisfaction.</a:t>
            </a:r>
            <a:br>
              <a:rPr lang="en-US" sz="2200" dirty="0"/>
            </a:br>
            <a:r>
              <a:rPr lang="en-US" sz="2200" dirty="0"/>
              <a:t>These include:</a:t>
            </a:r>
            <a:br>
              <a:rPr lang="en-US" sz="2200" dirty="0"/>
            </a:br>
            <a:r>
              <a:rPr lang="en-US" sz="2200" b="1" dirty="0"/>
              <a:t>Change Agent, Investigator, Monitor, Architect, Psychologist, Salesperson, Motivator,</a:t>
            </a:r>
            <a:r>
              <a:rPr lang="en-US" sz="2200" dirty="0"/>
              <a:t> and </a:t>
            </a:r>
            <a:r>
              <a:rPr lang="en-US" sz="2200" b="1" dirty="0"/>
              <a:t>Politician.</a:t>
            </a:r>
            <a:br>
              <a:rPr lang="en-US" sz="2200" dirty="0"/>
            </a:br>
            <a:r>
              <a:rPr lang="en-US" sz="2200" dirty="0"/>
              <a:t>Each role requires different skills, attitudes, and approaches to deal with people, technology, and organizations.</a:t>
            </a:r>
          </a:p>
        </p:txBody>
      </p:sp>
    </p:spTree>
    <p:extLst>
      <p:ext uri="{BB962C8B-B14F-4D97-AF65-F5344CB8AC3E}">
        <p14:creationId xmlns:p14="http://schemas.microsoft.com/office/powerpoint/2010/main" val="1646588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0F97F2-41C1-67CB-12FD-87D16B3ED10D}"/>
              </a:ext>
            </a:extLst>
          </p:cNvPr>
          <p:cNvSpPr txBox="1"/>
          <p:nvPr/>
        </p:nvSpPr>
        <p:spPr>
          <a:xfrm>
            <a:off x="786581" y="523256"/>
            <a:ext cx="9094838" cy="523220"/>
          </a:xfrm>
          <a:prstGeom prst="rect">
            <a:avLst/>
          </a:prstGeom>
          <a:noFill/>
        </p:spPr>
        <p:txBody>
          <a:bodyPr wrap="square">
            <a:spAutoFit/>
          </a:bodyPr>
          <a:lstStyle/>
          <a:p>
            <a:r>
              <a:rPr lang="en-US" sz="2800" b="1" i="1" dirty="0"/>
              <a:t>The Multifaceted Role of the System Analyst-Key roles</a:t>
            </a:r>
          </a:p>
        </p:txBody>
      </p:sp>
      <p:sp>
        <p:nvSpPr>
          <p:cNvPr id="4" name="TextBox 3">
            <a:extLst>
              <a:ext uri="{FF2B5EF4-FFF2-40B4-BE49-F238E27FC236}">
                <a16:creationId xmlns:a16="http://schemas.microsoft.com/office/drawing/2014/main" id="{9EEC5FEF-D1D7-CA60-7BB5-78B694C5A2A3}"/>
              </a:ext>
            </a:extLst>
          </p:cNvPr>
          <p:cNvSpPr txBox="1"/>
          <p:nvPr/>
        </p:nvSpPr>
        <p:spPr>
          <a:xfrm>
            <a:off x="1209368" y="1169642"/>
            <a:ext cx="9094838" cy="1107996"/>
          </a:xfrm>
          <a:prstGeom prst="rect">
            <a:avLst/>
          </a:prstGeom>
          <a:noFill/>
        </p:spPr>
        <p:txBody>
          <a:bodyPr wrap="square">
            <a:spAutoFit/>
          </a:bodyPr>
          <a:lstStyle/>
          <a:p>
            <a:pPr marL="342900" indent="-342900">
              <a:buFont typeface="+mj-lt"/>
              <a:buAutoNum type="arabicPeriod"/>
            </a:pPr>
            <a:r>
              <a:rPr lang="en-US" sz="2200" b="1" dirty="0"/>
              <a:t>Change Agent</a:t>
            </a:r>
            <a:endParaRPr lang="en-US" sz="2200" dirty="0"/>
          </a:p>
          <a:p>
            <a:pPr marL="742950" lvl="1" indent="-285750">
              <a:buFont typeface="Wingdings" panose="05000000000000000000" pitchFamily="2" charset="2"/>
              <a:buChar char="§"/>
            </a:pPr>
            <a:r>
              <a:rPr lang="en-US" sz="2200" dirty="0"/>
              <a:t>Introduces and manages </a:t>
            </a:r>
            <a:r>
              <a:rPr lang="en-US" sz="2200" b="1" dirty="0"/>
              <a:t>organizational change</a:t>
            </a:r>
            <a:r>
              <a:rPr lang="en-US" sz="2200" dirty="0"/>
              <a:t> through new systems.</a:t>
            </a:r>
          </a:p>
          <a:p>
            <a:pPr marL="742950" lvl="1" indent="-285750">
              <a:buFont typeface="Wingdings" panose="05000000000000000000" pitchFamily="2" charset="2"/>
              <a:buChar char="§"/>
            </a:pPr>
            <a:r>
              <a:rPr lang="en-US" sz="2200" dirty="0"/>
              <a:t>Encourages </a:t>
            </a:r>
            <a:r>
              <a:rPr lang="en-US" sz="2200" b="1" dirty="0"/>
              <a:t>user participation</a:t>
            </a:r>
            <a:r>
              <a:rPr lang="en-US" sz="2200" dirty="0"/>
              <a:t> to gain acceptance.</a:t>
            </a:r>
          </a:p>
        </p:txBody>
      </p:sp>
      <p:sp>
        <p:nvSpPr>
          <p:cNvPr id="6" name="TextBox 5">
            <a:extLst>
              <a:ext uri="{FF2B5EF4-FFF2-40B4-BE49-F238E27FC236}">
                <a16:creationId xmlns:a16="http://schemas.microsoft.com/office/drawing/2014/main" id="{9C5E7CE3-DCA1-EABA-9A35-87E305FE9BCA}"/>
              </a:ext>
            </a:extLst>
          </p:cNvPr>
          <p:cNvSpPr txBox="1"/>
          <p:nvPr/>
        </p:nvSpPr>
        <p:spPr>
          <a:xfrm>
            <a:off x="1209367" y="2647025"/>
            <a:ext cx="10589343" cy="1446550"/>
          </a:xfrm>
          <a:prstGeom prst="rect">
            <a:avLst/>
          </a:prstGeom>
          <a:noFill/>
        </p:spPr>
        <p:txBody>
          <a:bodyPr wrap="square">
            <a:spAutoFit/>
          </a:bodyPr>
          <a:lstStyle/>
          <a:p>
            <a:pPr>
              <a:buNone/>
            </a:pPr>
            <a:r>
              <a:rPr lang="en-US" b="1" dirty="0"/>
              <a:t>2. </a:t>
            </a:r>
            <a:r>
              <a:rPr lang="en-US" sz="2200" b="1" dirty="0"/>
              <a:t>Investigator and Monitor</a:t>
            </a:r>
            <a:endParaRPr lang="en-US" sz="2200" dirty="0"/>
          </a:p>
          <a:p>
            <a:pPr marL="742950" lvl="1" indent="-285750">
              <a:buFont typeface="Wingdings" panose="05000000000000000000" pitchFamily="2" charset="2"/>
              <a:buChar char="§"/>
            </a:pPr>
            <a:r>
              <a:rPr lang="en-US" sz="2200" b="1" dirty="0"/>
              <a:t>Investigator:</a:t>
            </a:r>
            <a:r>
              <a:rPr lang="en-US" sz="2200" dirty="0"/>
              <a:t> Identifies system problems and uncovers hidden issues affecting performance.</a:t>
            </a:r>
          </a:p>
          <a:p>
            <a:pPr marL="742950" lvl="1" indent="-285750">
              <a:buFont typeface="Wingdings" panose="05000000000000000000" pitchFamily="2" charset="2"/>
              <a:buChar char="§"/>
            </a:pPr>
            <a:r>
              <a:rPr lang="en-US" sz="2200" b="1" dirty="0"/>
              <a:t>Monitor:</a:t>
            </a:r>
            <a:r>
              <a:rPr lang="en-US" sz="2200" dirty="0"/>
              <a:t> Tracks project </a:t>
            </a:r>
            <a:r>
              <a:rPr lang="en-US" sz="2200" b="1" dirty="0"/>
              <a:t>time, cost, and quality</a:t>
            </a:r>
            <a:r>
              <a:rPr lang="en-US" sz="2200" dirty="0"/>
              <a:t> to prevent delays or overruns.</a:t>
            </a:r>
          </a:p>
        </p:txBody>
      </p:sp>
      <p:sp>
        <p:nvSpPr>
          <p:cNvPr id="8" name="TextBox 7">
            <a:extLst>
              <a:ext uri="{FF2B5EF4-FFF2-40B4-BE49-F238E27FC236}">
                <a16:creationId xmlns:a16="http://schemas.microsoft.com/office/drawing/2014/main" id="{A2AB9BAD-6DA5-2B75-6382-825084A6A545}"/>
              </a:ext>
            </a:extLst>
          </p:cNvPr>
          <p:cNvSpPr txBox="1"/>
          <p:nvPr/>
        </p:nvSpPr>
        <p:spPr>
          <a:xfrm>
            <a:off x="1174955" y="4330714"/>
            <a:ext cx="9842090" cy="1107996"/>
          </a:xfrm>
          <a:prstGeom prst="rect">
            <a:avLst/>
          </a:prstGeom>
          <a:noFill/>
        </p:spPr>
        <p:txBody>
          <a:bodyPr wrap="square">
            <a:spAutoFit/>
          </a:bodyPr>
          <a:lstStyle/>
          <a:p>
            <a:pPr>
              <a:buNone/>
            </a:pPr>
            <a:r>
              <a:rPr lang="en-US" sz="2200" b="1" dirty="0"/>
              <a:t>3. Architect</a:t>
            </a:r>
            <a:endParaRPr lang="en-US" sz="2200" dirty="0"/>
          </a:p>
          <a:p>
            <a:pPr marL="742950" lvl="1" indent="-285750">
              <a:buFont typeface="Wingdings" panose="05000000000000000000" pitchFamily="2" charset="2"/>
              <a:buChar char="§"/>
            </a:pPr>
            <a:r>
              <a:rPr lang="en-US" sz="2200" dirty="0"/>
              <a:t>Translates </a:t>
            </a:r>
            <a:r>
              <a:rPr lang="en-US" sz="2200" b="1" dirty="0"/>
              <a:t>user requirements</a:t>
            </a:r>
            <a:r>
              <a:rPr lang="en-US" sz="2200" dirty="0"/>
              <a:t> into </a:t>
            </a:r>
            <a:r>
              <a:rPr lang="en-US" sz="2200" b="1" dirty="0"/>
              <a:t>technical system design.</a:t>
            </a:r>
            <a:endParaRPr lang="en-US" sz="2200" dirty="0"/>
          </a:p>
          <a:p>
            <a:pPr marL="742950" lvl="1" indent="-285750">
              <a:buFont typeface="Wingdings" panose="05000000000000000000" pitchFamily="2" charset="2"/>
              <a:buChar char="§"/>
            </a:pPr>
            <a:r>
              <a:rPr lang="en-US" sz="2200" dirty="0"/>
              <a:t>Acts as a </a:t>
            </a:r>
            <a:r>
              <a:rPr lang="en-US" sz="2200" b="1" dirty="0"/>
              <a:t>bridge</a:t>
            </a:r>
            <a:r>
              <a:rPr lang="en-US" sz="2200" dirty="0"/>
              <a:t> between users’ ideas and programmers’ implementation.</a:t>
            </a:r>
          </a:p>
        </p:txBody>
      </p:sp>
    </p:spTree>
    <p:extLst>
      <p:ext uri="{BB962C8B-B14F-4D97-AF65-F5344CB8AC3E}">
        <p14:creationId xmlns:p14="http://schemas.microsoft.com/office/powerpoint/2010/main" val="3018753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CA56AA-4858-3AA8-689F-7C6A76C9308E}"/>
              </a:ext>
            </a:extLst>
          </p:cNvPr>
          <p:cNvSpPr txBox="1"/>
          <p:nvPr/>
        </p:nvSpPr>
        <p:spPr>
          <a:xfrm>
            <a:off x="1022554" y="1249148"/>
            <a:ext cx="8190271" cy="1107996"/>
          </a:xfrm>
          <a:prstGeom prst="rect">
            <a:avLst/>
          </a:prstGeom>
          <a:noFill/>
        </p:spPr>
        <p:txBody>
          <a:bodyPr wrap="square">
            <a:spAutoFit/>
          </a:bodyPr>
          <a:lstStyle/>
          <a:p>
            <a:pPr>
              <a:buNone/>
            </a:pPr>
            <a:r>
              <a:rPr lang="en-US" sz="2200" b="1" dirty="0"/>
              <a:t>4. Psychologist</a:t>
            </a:r>
            <a:endParaRPr lang="en-US" sz="2200" dirty="0"/>
          </a:p>
          <a:p>
            <a:pPr marL="742950" lvl="1" indent="-285750">
              <a:buFont typeface="Wingdings" panose="05000000000000000000" pitchFamily="2" charset="2"/>
              <a:buChar char="§"/>
            </a:pPr>
            <a:r>
              <a:rPr lang="en-US" sz="2200" dirty="0"/>
              <a:t>Understands </a:t>
            </a:r>
            <a:r>
              <a:rPr lang="en-US" sz="2200" b="1" dirty="0"/>
              <a:t>human behavior</a:t>
            </a:r>
            <a:r>
              <a:rPr lang="en-US" sz="2200" dirty="0"/>
              <a:t> and workplace relationships.</a:t>
            </a:r>
          </a:p>
          <a:p>
            <a:pPr marL="742950" lvl="1" indent="-285750">
              <a:buFont typeface="Wingdings" panose="05000000000000000000" pitchFamily="2" charset="2"/>
              <a:buChar char="§"/>
            </a:pPr>
            <a:r>
              <a:rPr lang="en-US" sz="2200" dirty="0"/>
              <a:t>Handles emotions and resistance gracefully.</a:t>
            </a:r>
          </a:p>
        </p:txBody>
      </p:sp>
      <p:sp>
        <p:nvSpPr>
          <p:cNvPr id="4" name="TextBox 3">
            <a:extLst>
              <a:ext uri="{FF2B5EF4-FFF2-40B4-BE49-F238E27FC236}">
                <a16:creationId xmlns:a16="http://schemas.microsoft.com/office/drawing/2014/main" id="{408FFC46-0D46-9F2E-09E4-0295310CD1E4}"/>
              </a:ext>
            </a:extLst>
          </p:cNvPr>
          <p:cNvSpPr txBox="1"/>
          <p:nvPr/>
        </p:nvSpPr>
        <p:spPr>
          <a:xfrm>
            <a:off x="786580" y="523256"/>
            <a:ext cx="9566787" cy="523220"/>
          </a:xfrm>
          <a:prstGeom prst="rect">
            <a:avLst/>
          </a:prstGeom>
          <a:noFill/>
        </p:spPr>
        <p:txBody>
          <a:bodyPr wrap="square">
            <a:spAutoFit/>
          </a:bodyPr>
          <a:lstStyle/>
          <a:p>
            <a:r>
              <a:rPr lang="en-US" sz="2800" b="1" i="1" dirty="0"/>
              <a:t>The Multifaceted Role of the System Analyst-Key roles</a:t>
            </a:r>
          </a:p>
        </p:txBody>
      </p:sp>
      <p:sp>
        <p:nvSpPr>
          <p:cNvPr id="6" name="TextBox 5">
            <a:extLst>
              <a:ext uri="{FF2B5EF4-FFF2-40B4-BE49-F238E27FC236}">
                <a16:creationId xmlns:a16="http://schemas.microsoft.com/office/drawing/2014/main" id="{2DD114B6-A3BD-AEC0-DEB1-C755D50F2611}"/>
              </a:ext>
            </a:extLst>
          </p:cNvPr>
          <p:cNvSpPr txBox="1"/>
          <p:nvPr/>
        </p:nvSpPr>
        <p:spPr>
          <a:xfrm>
            <a:off x="1022554" y="2529038"/>
            <a:ext cx="9045677" cy="1107996"/>
          </a:xfrm>
          <a:prstGeom prst="rect">
            <a:avLst/>
          </a:prstGeom>
          <a:noFill/>
        </p:spPr>
        <p:txBody>
          <a:bodyPr wrap="square">
            <a:spAutoFit/>
          </a:bodyPr>
          <a:lstStyle/>
          <a:p>
            <a:pPr>
              <a:buNone/>
            </a:pPr>
            <a:r>
              <a:rPr lang="en-US" sz="2200" b="1" dirty="0"/>
              <a:t>5. Salesperson</a:t>
            </a:r>
            <a:endParaRPr lang="en-US" sz="2200" dirty="0"/>
          </a:p>
          <a:p>
            <a:pPr marL="742950" lvl="1" indent="-285750">
              <a:buFont typeface="Wingdings" panose="05000000000000000000" pitchFamily="2" charset="2"/>
              <a:buChar char="§"/>
            </a:pPr>
            <a:r>
              <a:rPr lang="en-US" sz="2200" dirty="0"/>
              <a:t>“Sells” the system idea to users and management at every stage.</a:t>
            </a:r>
          </a:p>
          <a:p>
            <a:pPr marL="742950" lvl="1" indent="-285750">
              <a:buFont typeface="Wingdings" panose="05000000000000000000" pitchFamily="2" charset="2"/>
              <a:buChar char="§"/>
            </a:pPr>
            <a:r>
              <a:rPr lang="en-US" sz="2200" dirty="0"/>
              <a:t>Uses </a:t>
            </a:r>
            <a:r>
              <a:rPr lang="en-US" sz="2200" b="1" dirty="0"/>
              <a:t>persuasion and presentation skills</a:t>
            </a:r>
            <a:r>
              <a:rPr lang="en-US" sz="2200" dirty="0"/>
              <a:t> to build confidence.</a:t>
            </a:r>
          </a:p>
        </p:txBody>
      </p:sp>
      <p:sp>
        <p:nvSpPr>
          <p:cNvPr id="8" name="TextBox 7">
            <a:extLst>
              <a:ext uri="{FF2B5EF4-FFF2-40B4-BE49-F238E27FC236}">
                <a16:creationId xmlns:a16="http://schemas.microsoft.com/office/drawing/2014/main" id="{05C83373-BD49-55E0-5F96-F2BBED06DF1F}"/>
              </a:ext>
            </a:extLst>
          </p:cNvPr>
          <p:cNvSpPr txBox="1"/>
          <p:nvPr/>
        </p:nvSpPr>
        <p:spPr>
          <a:xfrm>
            <a:off x="1022554" y="3722133"/>
            <a:ext cx="8740877" cy="1046440"/>
          </a:xfrm>
          <a:prstGeom prst="rect">
            <a:avLst/>
          </a:prstGeom>
          <a:noFill/>
        </p:spPr>
        <p:txBody>
          <a:bodyPr wrap="square">
            <a:spAutoFit/>
          </a:bodyPr>
          <a:lstStyle/>
          <a:p>
            <a:pPr>
              <a:buNone/>
            </a:pPr>
            <a:r>
              <a:rPr lang="en-US" b="1" dirty="0"/>
              <a:t>6. Motivator</a:t>
            </a:r>
            <a:endParaRPr lang="en-US" dirty="0"/>
          </a:p>
          <a:p>
            <a:pPr marL="742950" lvl="1" indent="-285750">
              <a:buFont typeface="Wingdings" panose="05000000000000000000" pitchFamily="2" charset="2"/>
              <a:buChar char="§"/>
            </a:pPr>
            <a:r>
              <a:rPr lang="en-US" sz="2200" dirty="0"/>
              <a:t>Encourages users to </a:t>
            </a:r>
            <a:r>
              <a:rPr lang="en-US" sz="2200" b="1" dirty="0"/>
              <a:t>accept and use</a:t>
            </a:r>
            <a:r>
              <a:rPr lang="en-US" sz="2200" dirty="0"/>
              <a:t> the new system effectively.</a:t>
            </a:r>
          </a:p>
          <a:p>
            <a:pPr marL="742950" lvl="1" indent="-285750">
              <a:buFont typeface="Wingdings" panose="05000000000000000000" pitchFamily="2" charset="2"/>
              <a:buChar char="§"/>
            </a:pPr>
            <a:r>
              <a:rPr lang="en-US" sz="2200" dirty="0"/>
              <a:t>Provides </a:t>
            </a:r>
            <a:r>
              <a:rPr lang="en-US" sz="2200" b="1" dirty="0"/>
              <a:t>training</a:t>
            </a:r>
            <a:r>
              <a:rPr lang="en-US" sz="2200" dirty="0"/>
              <a:t> and continuous support after implementation.</a:t>
            </a:r>
          </a:p>
        </p:txBody>
      </p:sp>
      <p:sp>
        <p:nvSpPr>
          <p:cNvPr id="10" name="TextBox 9">
            <a:extLst>
              <a:ext uri="{FF2B5EF4-FFF2-40B4-BE49-F238E27FC236}">
                <a16:creationId xmlns:a16="http://schemas.microsoft.com/office/drawing/2014/main" id="{996C2835-3A47-53E6-8A0B-1E5244C36829}"/>
              </a:ext>
            </a:extLst>
          </p:cNvPr>
          <p:cNvSpPr txBox="1"/>
          <p:nvPr/>
        </p:nvSpPr>
        <p:spPr>
          <a:xfrm>
            <a:off x="1140541" y="5008687"/>
            <a:ext cx="9212826" cy="1046440"/>
          </a:xfrm>
          <a:prstGeom prst="rect">
            <a:avLst/>
          </a:prstGeom>
          <a:noFill/>
        </p:spPr>
        <p:txBody>
          <a:bodyPr wrap="square">
            <a:spAutoFit/>
          </a:bodyPr>
          <a:lstStyle/>
          <a:p>
            <a:pPr>
              <a:buNone/>
            </a:pPr>
            <a:r>
              <a:rPr lang="en-US" b="1" dirty="0"/>
              <a:t>7. Politician</a:t>
            </a:r>
            <a:endParaRPr lang="en-US" dirty="0"/>
          </a:p>
          <a:p>
            <a:pPr marL="742950" lvl="1" indent="-285750">
              <a:buFont typeface="Wingdings" panose="05000000000000000000" pitchFamily="2" charset="2"/>
              <a:buChar char="§"/>
            </a:pPr>
            <a:r>
              <a:rPr lang="en-US" sz="2200" dirty="0"/>
              <a:t>Uses </a:t>
            </a:r>
            <a:r>
              <a:rPr lang="en-US" sz="2200" b="1" dirty="0"/>
              <a:t>diplomacy and negotiation</a:t>
            </a:r>
            <a:r>
              <a:rPr lang="en-US" sz="2200" dirty="0"/>
              <a:t> to gain user and management support.</a:t>
            </a:r>
          </a:p>
          <a:p>
            <a:pPr marL="742950" lvl="1" indent="-285750">
              <a:buFont typeface="Wingdings" panose="05000000000000000000" pitchFamily="2" charset="2"/>
              <a:buChar char="§"/>
            </a:pPr>
            <a:r>
              <a:rPr lang="en-US" sz="2200" dirty="0"/>
              <a:t>Strives to balance conflicting interests and maintain harmony.</a:t>
            </a:r>
          </a:p>
        </p:txBody>
      </p:sp>
    </p:spTree>
    <p:extLst>
      <p:ext uri="{BB962C8B-B14F-4D97-AF65-F5344CB8AC3E}">
        <p14:creationId xmlns:p14="http://schemas.microsoft.com/office/powerpoint/2010/main" val="671854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275F42-DD24-CD69-04C5-42C9A4AC7322}"/>
              </a:ext>
            </a:extLst>
          </p:cNvPr>
          <p:cNvPicPr>
            <a:picLocks noChangeAspect="1"/>
          </p:cNvPicPr>
          <p:nvPr/>
        </p:nvPicPr>
        <p:blipFill>
          <a:blip r:embed="rId2"/>
          <a:stretch>
            <a:fillRect/>
          </a:stretch>
        </p:blipFill>
        <p:spPr>
          <a:xfrm>
            <a:off x="919316" y="1373575"/>
            <a:ext cx="10353368" cy="4621161"/>
          </a:xfrm>
          <a:prstGeom prst="rect">
            <a:avLst/>
          </a:prstGeom>
        </p:spPr>
      </p:pic>
      <p:sp>
        <p:nvSpPr>
          <p:cNvPr id="5" name="TextBox 4">
            <a:extLst>
              <a:ext uri="{FF2B5EF4-FFF2-40B4-BE49-F238E27FC236}">
                <a16:creationId xmlns:a16="http://schemas.microsoft.com/office/drawing/2014/main" id="{2C932806-69CF-4BD4-4D53-9AC0A0B73936}"/>
              </a:ext>
            </a:extLst>
          </p:cNvPr>
          <p:cNvSpPr txBox="1"/>
          <p:nvPr/>
        </p:nvSpPr>
        <p:spPr>
          <a:xfrm>
            <a:off x="235973" y="323842"/>
            <a:ext cx="8426246" cy="523220"/>
          </a:xfrm>
          <a:prstGeom prst="rect">
            <a:avLst/>
          </a:prstGeom>
          <a:noFill/>
        </p:spPr>
        <p:txBody>
          <a:bodyPr wrap="square">
            <a:spAutoFit/>
          </a:bodyPr>
          <a:lstStyle/>
          <a:p>
            <a:r>
              <a:rPr lang="en-US" sz="2800" b="1" i="1" dirty="0"/>
              <a:t>THE PLACE OF THE ANALYST IN THE MIS ORGANIZATION</a:t>
            </a:r>
          </a:p>
        </p:txBody>
      </p:sp>
      <p:sp>
        <p:nvSpPr>
          <p:cNvPr id="7" name="TextBox 6">
            <a:extLst>
              <a:ext uri="{FF2B5EF4-FFF2-40B4-BE49-F238E27FC236}">
                <a16:creationId xmlns:a16="http://schemas.microsoft.com/office/drawing/2014/main" id="{90B9E71F-F67F-9F4D-5FAF-7EEE73903E73}"/>
              </a:ext>
            </a:extLst>
          </p:cNvPr>
          <p:cNvSpPr txBox="1"/>
          <p:nvPr/>
        </p:nvSpPr>
        <p:spPr>
          <a:xfrm>
            <a:off x="648929" y="803701"/>
            <a:ext cx="3392129" cy="461665"/>
          </a:xfrm>
          <a:prstGeom prst="rect">
            <a:avLst/>
          </a:prstGeom>
          <a:noFill/>
        </p:spPr>
        <p:txBody>
          <a:bodyPr wrap="square">
            <a:spAutoFit/>
          </a:bodyPr>
          <a:lstStyle/>
          <a:p>
            <a:r>
              <a:rPr lang="en-US" sz="2400" b="1" i="1" dirty="0"/>
              <a:t>The MIS Organization</a:t>
            </a:r>
          </a:p>
        </p:txBody>
      </p:sp>
      <p:sp>
        <p:nvSpPr>
          <p:cNvPr id="9" name="TextBox 8">
            <a:extLst>
              <a:ext uri="{FF2B5EF4-FFF2-40B4-BE49-F238E27FC236}">
                <a16:creationId xmlns:a16="http://schemas.microsoft.com/office/drawing/2014/main" id="{D4379D5F-8E99-36F7-2F18-E9AC857F9947}"/>
              </a:ext>
            </a:extLst>
          </p:cNvPr>
          <p:cNvSpPr txBox="1"/>
          <p:nvPr/>
        </p:nvSpPr>
        <p:spPr>
          <a:xfrm>
            <a:off x="3303639" y="6243275"/>
            <a:ext cx="6096000" cy="400110"/>
          </a:xfrm>
          <a:prstGeom prst="rect">
            <a:avLst/>
          </a:prstGeom>
          <a:noFill/>
        </p:spPr>
        <p:txBody>
          <a:bodyPr wrap="square">
            <a:spAutoFit/>
          </a:bodyPr>
          <a:lstStyle/>
          <a:p>
            <a:r>
              <a:rPr lang="en-US" sz="2000" b="1" dirty="0"/>
              <a:t>Figure -02: </a:t>
            </a:r>
            <a:r>
              <a:rPr lang="en-US" sz="2000" dirty="0"/>
              <a:t>General Organization Chart of an MIS Division</a:t>
            </a:r>
          </a:p>
        </p:txBody>
      </p:sp>
    </p:spTree>
    <p:extLst>
      <p:ext uri="{BB962C8B-B14F-4D97-AF65-F5344CB8AC3E}">
        <p14:creationId xmlns:p14="http://schemas.microsoft.com/office/powerpoint/2010/main" val="2888242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12E9DC-003B-F30E-4E36-84A17550CFC8}"/>
              </a:ext>
            </a:extLst>
          </p:cNvPr>
          <p:cNvSpPr txBox="1"/>
          <p:nvPr/>
        </p:nvSpPr>
        <p:spPr>
          <a:xfrm>
            <a:off x="727587" y="379781"/>
            <a:ext cx="6096000" cy="523220"/>
          </a:xfrm>
          <a:prstGeom prst="rect">
            <a:avLst/>
          </a:prstGeom>
          <a:noFill/>
        </p:spPr>
        <p:txBody>
          <a:bodyPr wrap="square">
            <a:spAutoFit/>
          </a:bodyPr>
          <a:lstStyle/>
          <a:p>
            <a:r>
              <a:rPr lang="en-US" sz="2800" b="1" i="1" dirty="0"/>
              <a:t>Primary Functions of an MIS Facility</a:t>
            </a:r>
          </a:p>
        </p:txBody>
      </p:sp>
      <p:sp>
        <p:nvSpPr>
          <p:cNvPr id="5" name="TextBox 4">
            <a:extLst>
              <a:ext uri="{FF2B5EF4-FFF2-40B4-BE49-F238E27FC236}">
                <a16:creationId xmlns:a16="http://schemas.microsoft.com/office/drawing/2014/main" id="{70658FF5-3A19-BF9A-5A9F-E58029647638}"/>
              </a:ext>
            </a:extLst>
          </p:cNvPr>
          <p:cNvSpPr txBox="1"/>
          <p:nvPr/>
        </p:nvSpPr>
        <p:spPr>
          <a:xfrm>
            <a:off x="1101213" y="1052503"/>
            <a:ext cx="10323872" cy="769441"/>
          </a:xfrm>
          <a:prstGeom prst="rect">
            <a:avLst/>
          </a:prstGeom>
          <a:noFill/>
        </p:spPr>
        <p:txBody>
          <a:bodyPr wrap="square">
            <a:spAutoFit/>
          </a:bodyPr>
          <a:lstStyle/>
          <a:p>
            <a:pPr marL="342900" indent="-342900">
              <a:buFont typeface="Wingdings" panose="05000000000000000000" pitchFamily="2" charset="2"/>
              <a:buChar char="v"/>
            </a:pPr>
            <a:r>
              <a:rPr lang="en-US" sz="2200" dirty="0"/>
              <a:t>The functional requirements of an MIS facility center around the following areas: administration, systems analysis and design, programming, and operations. </a:t>
            </a:r>
          </a:p>
        </p:txBody>
      </p:sp>
      <p:sp>
        <p:nvSpPr>
          <p:cNvPr id="7" name="TextBox 6">
            <a:extLst>
              <a:ext uri="{FF2B5EF4-FFF2-40B4-BE49-F238E27FC236}">
                <a16:creationId xmlns:a16="http://schemas.microsoft.com/office/drawing/2014/main" id="{7ED5037F-C566-F556-1F22-43351EE6EE22}"/>
              </a:ext>
            </a:extLst>
          </p:cNvPr>
          <p:cNvSpPr txBox="1"/>
          <p:nvPr/>
        </p:nvSpPr>
        <p:spPr>
          <a:xfrm>
            <a:off x="1224116" y="2235509"/>
            <a:ext cx="10831036" cy="3594702"/>
          </a:xfrm>
          <a:prstGeom prst="rect">
            <a:avLst/>
          </a:prstGeom>
          <a:noFill/>
        </p:spPr>
        <p:txBody>
          <a:bodyPr wrap="square">
            <a:spAutoFit/>
          </a:bodyPr>
          <a:lstStyle/>
          <a:p>
            <a:pPr marL="342900" indent="-342900">
              <a:lnSpc>
                <a:spcPct val="150000"/>
              </a:lnSpc>
              <a:buAutoNum type="arabicPeriod"/>
            </a:pPr>
            <a:r>
              <a:rPr lang="en-US" sz="2200" dirty="0"/>
              <a:t>Administration is represented by four activities:</a:t>
            </a:r>
          </a:p>
          <a:p>
            <a:pPr marL="742950" lvl="1" indent="-285750">
              <a:lnSpc>
                <a:spcPct val="150000"/>
              </a:lnSpc>
              <a:buFont typeface="Wingdings" panose="05000000000000000000" pitchFamily="2" charset="2"/>
              <a:buChar char="§"/>
            </a:pPr>
            <a:r>
              <a:rPr lang="en-US" sz="2200" dirty="0"/>
              <a:t> User liaison which handles the changing needs of the user and user-systems relationships.</a:t>
            </a:r>
          </a:p>
          <a:p>
            <a:pPr marL="742950" lvl="1" indent="-285750">
              <a:lnSpc>
                <a:spcPct val="150000"/>
              </a:lnSpc>
              <a:buFont typeface="Wingdings" panose="05000000000000000000" pitchFamily="2" charset="2"/>
              <a:buChar char="§"/>
            </a:pPr>
            <a:r>
              <a:rPr lang="en-US" sz="2200" dirty="0"/>
              <a:t> Long-range planning, which includes personnel selection, recruitment, application development, and planning for anticipated changes in hardware and software.</a:t>
            </a:r>
          </a:p>
          <a:p>
            <a:pPr marL="742950" lvl="1" indent="-285750">
              <a:lnSpc>
                <a:spcPct val="150000"/>
              </a:lnSpc>
              <a:buFont typeface="Wingdings" panose="05000000000000000000" pitchFamily="2" charset="2"/>
              <a:buChar char="§"/>
            </a:pPr>
            <a:r>
              <a:rPr lang="en-US" sz="2200" dirty="0"/>
              <a:t> Budget planning and control of the entire MIS division.</a:t>
            </a:r>
          </a:p>
          <a:p>
            <a:pPr marL="742950" lvl="1" indent="-285750">
              <a:lnSpc>
                <a:spcPct val="150000"/>
              </a:lnSpc>
              <a:buFont typeface="Wingdings" panose="05000000000000000000" pitchFamily="2" charset="2"/>
              <a:buChar char="§"/>
            </a:pPr>
            <a:r>
              <a:rPr lang="en-US" sz="2200" dirty="0"/>
              <a:t> Personnel administration and training for upgrading employee skills. </a:t>
            </a:r>
          </a:p>
        </p:txBody>
      </p:sp>
    </p:spTree>
    <p:extLst>
      <p:ext uri="{BB962C8B-B14F-4D97-AF65-F5344CB8AC3E}">
        <p14:creationId xmlns:p14="http://schemas.microsoft.com/office/powerpoint/2010/main" val="3284758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344EE4-A3A5-1CAE-5732-B34BA3CB1571}"/>
              </a:ext>
            </a:extLst>
          </p:cNvPr>
          <p:cNvSpPr txBox="1"/>
          <p:nvPr/>
        </p:nvSpPr>
        <p:spPr>
          <a:xfrm>
            <a:off x="1061884" y="1116863"/>
            <a:ext cx="10746658" cy="769441"/>
          </a:xfrm>
          <a:prstGeom prst="rect">
            <a:avLst/>
          </a:prstGeom>
          <a:noFill/>
        </p:spPr>
        <p:txBody>
          <a:bodyPr wrap="square">
            <a:spAutoFit/>
          </a:bodyPr>
          <a:lstStyle/>
          <a:p>
            <a:r>
              <a:rPr lang="en-US" dirty="0"/>
              <a:t>2. </a:t>
            </a:r>
            <a:r>
              <a:rPr lang="en-US" sz="2200" dirty="0"/>
              <a:t>Systems analysis and design may be organized as project-oriented, pool-oriented, or functional.</a:t>
            </a:r>
          </a:p>
        </p:txBody>
      </p:sp>
      <p:sp>
        <p:nvSpPr>
          <p:cNvPr id="4" name="TextBox 3">
            <a:extLst>
              <a:ext uri="{FF2B5EF4-FFF2-40B4-BE49-F238E27FC236}">
                <a16:creationId xmlns:a16="http://schemas.microsoft.com/office/drawing/2014/main" id="{2F0844D7-9A68-0A74-6DB7-8781BF49903C}"/>
              </a:ext>
            </a:extLst>
          </p:cNvPr>
          <p:cNvSpPr txBox="1"/>
          <p:nvPr/>
        </p:nvSpPr>
        <p:spPr>
          <a:xfrm>
            <a:off x="1061884" y="464263"/>
            <a:ext cx="6096000" cy="523220"/>
          </a:xfrm>
          <a:prstGeom prst="rect">
            <a:avLst/>
          </a:prstGeom>
          <a:noFill/>
        </p:spPr>
        <p:txBody>
          <a:bodyPr wrap="square">
            <a:spAutoFit/>
          </a:bodyPr>
          <a:lstStyle/>
          <a:p>
            <a:r>
              <a:rPr lang="en-US" sz="2800" b="1" i="1" dirty="0"/>
              <a:t>Primary Functions of an MIS Facility</a:t>
            </a:r>
          </a:p>
        </p:txBody>
      </p:sp>
      <p:sp>
        <p:nvSpPr>
          <p:cNvPr id="6" name="TextBox 5">
            <a:extLst>
              <a:ext uri="{FF2B5EF4-FFF2-40B4-BE49-F238E27FC236}">
                <a16:creationId xmlns:a16="http://schemas.microsoft.com/office/drawing/2014/main" id="{05709159-4E3D-8DEA-E012-F9B8B30132DB}"/>
              </a:ext>
            </a:extLst>
          </p:cNvPr>
          <p:cNvSpPr txBox="1"/>
          <p:nvPr/>
        </p:nvSpPr>
        <p:spPr>
          <a:xfrm>
            <a:off x="953729" y="2290573"/>
            <a:ext cx="6096000" cy="2123658"/>
          </a:xfrm>
          <a:prstGeom prst="rect">
            <a:avLst/>
          </a:prstGeom>
          <a:noFill/>
        </p:spPr>
        <p:txBody>
          <a:bodyPr wrap="square">
            <a:spAutoFit/>
          </a:bodyPr>
          <a:lstStyle/>
          <a:p>
            <a:pPr marL="342900" indent="-342900" algn="just">
              <a:buFont typeface="Wingdings" panose="05000000000000000000" pitchFamily="2" charset="2"/>
              <a:buChar char="v"/>
            </a:pPr>
            <a:r>
              <a:rPr lang="en-US" sz="2200" dirty="0"/>
              <a:t>In a project-oriented arrangement a team of analysts is formed to work on one project. As shown in Figure 3, each team has project leader who reports directly to the systems manager. This arrangement is typical of smaller installations that handle limited projects.</a:t>
            </a:r>
          </a:p>
        </p:txBody>
      </p:sp>
      <p:pic>
        <p:nvPicPr>
          <p:cNvPr id="8" name="Picture 7">
            <a:extLst>
              <a:ext uri="{FF2B5EF4-FFF2-40B4-BE49-F238E27FC236}">
                <a16:creationId xmlns:a16="http://schemas.microsoft.com/office/drawing/2014/main" id="{58611755-0CAE-49EA-64D6-E3E982F7268D}"/>
              </a:ext>
            </a:extLst>
          </p:cNvPr>
          <p:cNvPicPr>
            <a:picLocks noChangeAspect="1"/>
          </p:cNvPicPr>
          <p:nvPr/>
        </p:nvPicPr>
        <p:blipFill>
          <a:blip r:embed="rId2"/>
          <a:stretch>
            <a:fillRect/>
          </a:stretch>
        </p:blipFill>
        <p:spPr>
          <a:xfrm>
            <a:off x="7049729" y="1715886"/>
            <a:ext cx="4935794" cy="3553353"/>
          </a:xfrm>
          <a:prstGeom prst="rect">
            <a:avLst/>
          </a:prstGeom>
        </p:spPr>
      </p:pic>
      <p:sp>
        <p:nvSpPr>
          <p:cNvPr id="9" name="TextBox 8">
            <a:extLst>
              <a:ext uri="{FF2B5EF4-FFF2-40B4-BE49-F238E27FC236}">
                <a16:creationId xmlns:a16="http://schemas.microsoft.com/office/drawing/2014/main" id="{1E833953-20E6-8DDA-CA23-07545DB9C0D2}"/>
              </a:ext>
            </a:extLst>
          </p:cNvPr>
          <p:cNvSpPr txBox="1"/>
          <p:nvPr/>
        </p:nvSpPr>
        <p:spPr>
          <a:xfrm>
            <a:off x="7656532" y="5269239"/>
            <a:ext cx="474745" cy="369332"/>
          </a:xfrm>
          <a:prstGeom prst="rect">
            <a:avLst/>
          </a:prstGeom>
          <a:noFill/>
        </p:spPr>
        <p:txBody>
          <a:bodyPr wrap="none" rtlCol="0">
            <a:spAutoFit/>
          </a:bodyPr>
          <a:lstStyle/>
          <a:p>
            <a:r>
              <a:rPr lang="en-US" dirty="0"/>
              <a:t>SA </a:t>
            </a:r>
          </a:p>
        </p:txBody>
      </p:sp>
      <p:sp>
        <p:nvSpPr>
          <p:cNvPr id="12" name="TextBox 11">
            <a:extLst>
              <a:ext uri="{FF2B5EF4-FFF2-40B4-BE49-F238E27FC236}">
                <a16:creationId xmlns:a16="http://schemas.microsoft.com/office/drawing/2014/main" id="{66729A54-B354-99F8-42EF-39E47723CB8B}"/>
              </a:ext>
            </a:extLst>
          </p:cNvPr>
          <p:cNvSpPr txBox="1"/>
          <p:nvPr/>
        </p:nvSpPr>
        <p:spPr>
          <a:xfrm>
            <a:off x="9306702" y="5269239"/>
            <a:ext cx="421847" cy="369332"/>
          </a:xfrm>
          <a:prstGeom prst="rect">
            <a:avLst/>
          </a:prstGeom>
          <a:noFill/>
        </p:spPr>
        <p:txBody>
          <a:bodyPr wrap="none" rtlCol="0">
            <a:spAutoFit/>
          </a:bodyPr>
          <a:lstStyle/>
          <a:p>
            <a:r>
              <a:rPr lang="en-US" dirty="0"/>
              <a:t>SA</a:t>
            </a:r>
          </a:p>
        </p:txBody>
      </p:sp>
      <p:sp>
        <p:nvSpPr>
          <p:cNvPr id="13" name="TextBox 12">
            <a:extLst>
              <a:ext uri="{FF2B5EF4-FFF2-40B4-BE49-F238E27FC236}">
                <a16:creationId xmlns:a16="http://schemas.microsoft.com/office/drawing/2014/main" id="{06ED6480-078F-B82C-6E91-3191F4E45048}"/>
              </a:ext>
            </a:extLst>
          </p:cNvPr>
          <p:cNvSpPr txBox="1"/>
          <p:nvPr/>
        </p:nvSpPr>
        <p:spPr>
          <a:xfrm>
            <a:off x="10903974" y="5269239"/>
            <a:ext cx="421847" cy="369332"/>
          </a:xfrm>
          <a:prstGeom prst="rect">
            <a:avLst/>
          </a:prstGeom>
          <a:noFill/>
        </p:spPr>
        <p:txBody>
          <a:bodyPr wrap="none" rtlCol="0">
            <a:spAutoFit/>
          </a:bodyPr>
          <a:lstStyle/>
          <a:p>
            <a:r>
              <a:rPr lang="en-US" dirty="0"/>
              <a:t>SA</a:t>
            </a:r>
          </a:p>
        </p:txBody>
      </p:sp>
      <p:sp>
        <p:nvSpPr>
          <p:cNvPr id="2" name="TextBox 1">
            <a:extLst>
              <a:ext uri="{FF2B5EF4-FFF2-40B4-BE49-F238E27FC236}">
                <a16:creationId xmlns:a16="http://schemas.microsoft.com/office/drawing/2014/main" id="{D354704C-E907-FD03-411B-4F605F01EBE1}"/>
              </a:ext>
            </a:extLst>
          </p:cNvPr>
          <p:cNvSpPr txBox="1"/>
          <p:nvPr/>
        </p:nvSpPr>
        <p:spPr>
          <a:xfrm>
            <a:off x="8652387" y="5830529"/>
            <a:ext cx="2598660" cy="369332"/>
          </a:xfrm>
          <a:prstGeom prst="rect">
            <a:avLst/>
          </a:prstGeom>
          <a:noFill/>
        </p:spPr>
        <p:txBody>
          <a:bodyPr wrap="none" rtlCol="0">
            <a:spAutoFit/>
          </a:bodyPr>
          <a:lstStyle/>
          <a:p>
            <a:r>
              <a:rPr lang="en-US" dirty="0"/>
              <a:t>Figure 3: Project Oriented</a:t>
            </a:r>
          </a:p>
        </p:txBody>
      </p:sp>
    </p:spTree>
    <p:extLst>
      <p:ext uri="{BB962C8B-B14F-4D97-AF65-F5344CB8AC3E}">
        <p14:creationId xmlns:p14="http://schemas.microsoft.com/office/powerpoint/2010/main" val="216668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28D5F7-F6EF-AAE4-0004-D3B99D6823CB}"/>
              </a:ext>
            </a:extLst>
          </p:cNvPr>
          <p:cNvPicPr>
            <a:picLocks noChangeAspect="1"/>
          </p:cNvPicPr>
          <p:nvPr/>
        </p:nvPicPr>
        <p:blipFill>
          <a:blip r:embed="rId2"/>
          <a:stretch>
            <a:fillRect/>
          </a:stretch>
        </p:blipFill>
        <p:spPr>
          <a:xfrm>
            <a:off x="7294443" y="1908020"/>
            <a:ext cx="4632086" cy="3262232"/>
          </a:xfrm>
          <a:prstGeom prst="rect">
            <a:avLst/>
          </a:prstGeom>
        </p:spPr>
      </p:pic>
      <p:sp>
        <p:nvSpPr>
          <p:cNvPr id="5" name="TextBox 4">
            <a:extLst>
              <a:ext uri="{FF2B5EF4-FFF2-40B4-BE49-F238E27FC236}">
                <a16:creationId xmlns:a16="http://schemas.microsoft.com/office/drawing/2014/main" id="{CC466B47-62FA-7329-7E03-D3206382732D}"/>
              </a:ext>
            </a:extLst>
          </p:cNvPr>
          <p:cNvSpPr txBox="1"/>
          <p:nvPr/>
        </p:nvSpPr>
        <p:spPr>
          <a:xfrm>
            <a:off x="835742" y="879482"/>
            <a:ext cx="10972800" cy="1107996"/>
          </a:xfrm>
          <a:prstGeom prst="rect">
            <a:avLst/>
          </a:prstGeom>
          <a:noFill/>
        </p:spPr>
        <p:txBody>
          <a:bodyPr wrap="square">
            <a:spAutoFit/>
          </a:bodyPr>
          <a:lstStyle/>
          <a:p>
            <a:pPr marL="285750" indent="-285750">
              <a:buFont typeface="Wingdings" panose="05000000000000000000" pitchFamily="2" charset="2"/>
              <a:buChar char="v"/>
            </a:pPr>
            <a:r>
              <a:rPr lang="en-US" sz="2200" dirty="0"/>
              <a:t>A </a:t>
            </a:r>
            <a:r>
              <a:rPr lang="en-US" sz="2200" b="1" dirty="0"/>
              <a:t>pool-oriented arrangement</a:t>
            </a:r>
            <a:r>
              <a:rPr lang="en-US" sz="2200" dirty="0"/>
              <a:t> is a system development approach where analysts are grouped in a common pool and temporarily assigned to various departments based on project needs.</a:t>
            </a:r>
          </a:p>
        </p:txBody>
      </p:sp>
      <p:sp>
        <p:nvSpPr>
          <p:cNvPr id="8" name="TextBox 7">
            <a:extLst>
              <a:ext uri="{FF2B5EF4-FFF2-40B4-BE49-F238E27FC236}">
                <a16:creationId xmlns:a16="http://schemas.microsoft.com/office/drawing/2014/main" id="{3DC64A66-48E5-21F7-1C3E-00E829ED4C60}"/>
              </a:ext>
            </a:extLst>
          </p:cNvPr>
          <p:cNvSpPr txBox="1"/>
          <p:nvPr/>
        </p:nvSpPr>
        <p:spPr>
          <a:xfrm>
            <a:off x="1017093" y="2071386"/>
            <a:ext cx="6096000" cy="2800767"/>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Analysts are </a:t>
            </a:r>
            <a:r>
              <a:rPr kumimoji="0" lang="en-US" altLang="en-US" sz="2200" b="1" i="0" u="none" strike="noStrike" cap="none" normalizeH="0" baseline="0" dirty="0">
                <a:ln>
                  <a:noFill/>
                </a:ln>
                <a:solidFill>
                  <a:schemeClr val="tx1"/>
                </a:solidFill>
                <a:effectLst/>
                <a:latin typeface="Arial" panose="020B0604020202020204" pitchFamily="34" charset="0"/>
              </a:rPr>
              <a:t>assigned</a:t>
            </a:r>
            <a:r>
              <a:rPr kumimoji="0" lang="en-US" altLang="en-US" sz="2200" b="0" i="0" u="none" strike="noStrike" cap="none" normalizeH="0" baseline="0" dirty="0">
                <a:ln>
                  <a:noFill/>
                </a:ln>
                <a:solidFill>
                  <a:schemeClr val="tx1"/>
                </a:solidFill>
                <a:effectLst/>
                <a:latin typeface="Arial" panose="020B0604020202020204" pitchFamily="34" charset="0"/>
              </a:rPr>
              <a:t> to a department for a specific project.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They </a:t>
            </a:r>
            <a:r>
              <a:rPr kumimoji="0" lang="en-US" altLang="en-US" sz="2200" b="1" i="0" u="none" strike="noStrike" cap="none" normalizeH="0" baseline="0" dirty="0">
                <a:ln>
                  <a:noFill/>
                </a:ln>
                <a:solidFill>
                  <a:schemeClr val="tx1"/>
                </a:solidFill>
                <a:effectLst/>
                <a:latin typeface="Arial" panose="020B0604020202020204" pitchFamily="34" charset="0"/>
              </a:rPr>
              <a:t>report to the department manager</a:t>
            </a:r>
            <a:r>
              <a:rPr kumimoji="0" lang="en-US" altLang="en-US" sz="2200" b="0" i="0" u="none" strike="noStrike" cap="none" normalizeH="0" baseline="0" dirty="0">
                <a:ln>
                  <a:noFill/>
                </a:ln>
                <a:solidFill>
                  <a:schemeClr val="tx1"/>
                </a:solidFill>
                <a:effectLst/>
                <a:latin typeface="Arial" panose="020B0604020202020204" pitchFamily="34" charset="0"/>
              </a:rPr>
              <a:t> during the project.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After completing the task, they </a:t>
            </a:r>
            <a:r>
              <a:rPr kumimoji="0" lang="en-US" altLang="en-US" sz="2200" b="1" i="0" u="none" strike="noStrike" cap="none" normalizeH="0" baseline="0" dirty="0">
                <a:ln>
                  <a:noFill/>
                </a:ln>
                <a:solidFill>
                  <a:schemeClr val="tx1"/>
                </a:solidFill>
                <a:effectLst/>
                <a:latin typeface="Arial" panose="020B0604020202020204" pitchFamily="34" charset="0"/>
              </a:rPr>
              <a:t>return to the analyst pool</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This approach ensures </a:t>
            </a:r>
            <a:r>
              <a:rPr kumimoji="0" lang="en-US" altLang="en-US" sz="2200" b="1" i="0" u="none" strike="noStrike" cap="none" normalizeH="0" baseline="0" dirty="0">
                <a:ln>
                  <a:noFill/>
                </a:ln>
                <a:solidFill>
                  <a:schemeClr val="tx1"/>
                </a:solidFill>
                <a:effectLst/>
                <a:latin typeface="Arial" panose="020B0604020202020204" pitchFamily="34" charset="0"/>
              </a:rPr>
              <a:t>flexibility, user involvement, and better system support</a:t>
            </a:r>
            <a:r>
              <a:rPr kumimoji="0" lang="en-US" altLang="en-US" sz="2200" b="0" i="0" u="none" strike="noStrike" cap="none" normalizeH="0" baseline="0" dirty="0">
                <a:ln>
                  <a:noFill/>
                </a:ln>
                <a:solidFill>
                  <a:schemeClr val="tx1"/>
                </a:solidFill>
                <a:effectLst/>
                <a:latin typeface="Arial" panose="020B0604020202020204" pitchFamily="34" charset="0"/>
              </a:rPr>
              <a:t>.</a:t>
            </a:r>
          </a:p>
        </p:txBody>
      </p:sp>
      <p:sp>
        <p:nvSpPr>
          <p:cNvPr id="9" name="TextBox 8">
            <a:extLst>
              <a:ext uri="{FF2B5EF4-FFF2-40B4-BE49-F238E27FC236}">
                <a16:creationId xmlns:a16="http://schemas.microsoft.com/office/drawing/2014/main" id="{8A658585-CAF3-BB26-A217-E4DA63ACFC24}"/>
              </a:ext>
            </a:extLst>
          </p:cNvPr>
          <p:cNvSpPr txBox="1"/>
          <p:nvPr/>
        </p:nvSpPr>
        <p:spPr>
          <a:xfrm>
            <a:off x="511278" y="356262"/>
            <a:ext cx="6096000" cy="523220"/>
          </a:xfrm>
          <a:prstGeom prst="rect">
            <a:avLst/>
          </a:prstGeom>
          <a:noFill/>
        </p:spPr>
        <p:txBody>
          <a:bodyPr wrap="square">
            <a:spAutoFit/>
          </a:bodyPr>
          <a:lstStyle/>
          <a:p>
            <a:r>
              <a:rPr lang="en-US" sz="2800" b="1" i="1" dirty="0"/>
              <a:t>Primary Functions of an MIS Facility</a:t>
            </a:r>
          </a:p>
        </p:txBody>
      </p:sp>
      <p:sp>
        <p:nvSpPr>
          <p:cNvPr id="2" name="TextBox 1">
            <a:extLst>
              <a:ext uri="{FF2B5EF4-FFF2-40B4-BE49-F238E27FC236}">
                <a16:creationId xmlns:a16="http://schemas.microsoft.com/office/drawing/2014/main" id="{AB7A27E9-A6D8-EBC7-8CF6-74DAC9486C1B}"/>
              </a:ext>
            </a:extLst>
          </p:cNvPr>
          <p:cNvSpPr txBox="1"/>
          <p:nvPr/>
        </p:nvSpPr>
        <p:spPr>
          <a:xfrm>
            <a:off x="8554065" y="5614219"/>
            <a:ext cx="2535246" cy="369332"/>
          </a:xfrm>
          <a:prstGeom prst="rect">
            <a:avLst/>
          </a:prstGeom>
          <a:noFill/>
        </p:spPr>
        <p:txBody>
          <a:bodyPr wrap="none" rtlCol="0">
            <a:spAutoFit/>
          </a:bodyPr>
          <a:lstStyle/>
          <a:p>
            <a:r>
              <a:rPr lang="en-US" dirty="0"/>
              <a:t>Figure -04: Pool Oriented</a:t>
            </a:r>
          </a:p>
        </p:txBody>
      </p:sp>
    </p:spTree>
    <p:extLst>
      <p:ext uri="{BB962C8B-B14F-4D97-AF65-F5344CB8AC3E}">
        <p14:creationId xmlns:p14="http://schemas.microsoft.com/office/powerpoint/2010/main" val="3715104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599B5D-CA1A-8F48-5255-027762EB3A6C}"/>
              </a:ext>
            </a:extLst>
          </p:cNvPr>
          <p:cNvSpPr txBox="1"/>
          <p:nvPr/>
        </p:nvSpPr>
        <p:spPr>
          <a:xfrm>
            <a:off x="802433" y="419878"/>
            <a:ext cx="8095037" cy="400110"/>
          </a:xfrm>
          <a:prstGeom prst="rect">
            <a:avLst/>
          </a:prstGeom>
          <a:noFill/>
        </p:spPr>
        <p:txBody>
          <a:bodyPr wrap="none" rtlCol="0">
            <a:spAutoFit/>
          </a:bodyPr>
          <a:lstStyle/>
          <a:p>
            <a:r>
              <a:rPr lang="en-US" sz="2000" b="1" i="1" dirty="0"/>
              <a:t>Difference between Project Oriented Structure and Pool Oriented Structure</a:t>
            </a:r>
          </a:p>
        </p:txBody>
      </p:sp>
      <p:graphicFrame>
        <p:nvGraphicFramePr>
          <p:cNvPr id="3" name="Table 2">
            <a:extLst>
              <a:ext uri="{FF2B5EF4-FFF2-40B4-BE49-F238E27FC236}">
                <a16:creationId xmlns:a16="http://schemas.microsoft.com/office/drawing/2014/main" id="{8B3FD8E5-4954-12CF-AE6D-B571F00888EC}"/>
              </a:ext>
            </a:extLst>
          </p:cNvPr>
          <p:cNvGraphicFramePr>
            <a:graphicFrameLocks noGrp="1"/>
          </p:cNvGraphicFramePr>
          <p:nvPr>
            <p:extLst>
              <p:ext uri="{D42A27DB-BD31-4B8C-83A1-F6EECF244321}">
                <p14:modId xmlns:p14="http://schemas.microsoft.com/office/powerpoint/2010/main" val="400895353"/>
              </p:ext>
            </p:extLst>
          </p:nvPr>
        </p:nvGraphicFramePr>
        <p:xfrm>
          <a:off x="697995" y="1026367"/>
          <a:ext cx="11028784" cy="4754880"/>
        </p:xfrm>
        <a:graphic>
          <a:graphicData uri="http://schemas.openxmlformats.org/drawingml/2006/table">
            <a:tbl>
              <a:tblPr firstRow="1" bandRow="1">
                <a:tableStyleId>{5940675A-B579-460E-94D1-54222C63F5DA}</a:tableStyleId>
              </a:tblPr>
              <a:tblGrid>
                <a:gridCol w="2109373">
                  <a:extLst>
                    <a:ext uri="{9D8B030D-6E8A-4147-A177-3AD203B41FA5}">
                      <a16:colId xmlns:a16="http://schemas.microsoft.com/office/drawing/2014/main" val="724053301"/>
                    </a:ext>
                  </a:extLst>
                </a:gridCol>
                <a:gridCol w="4461179">
                  <a:extLst>
                    <a:ext uri="{9D8B030D-6E8A-4147-A177-3AD203B41FA5}">
                      <a16:colId xmlns:a16="http://schemas.microsoft.com/office/drawing/2014/main" val="2984505658"/>
                    </a:ext>
                  </a:extLst>
                </a:gridCol>
                <a:gridCol w="4458232">
                  <a:extLst>
                    <a:ext uri="{9D8B030D-6E8A-4147-A177-3AD203B41FA5}">
                      <a16:colId xmlns:a16="http://schemas.microsoft.com/office/drawing/2014/main" val="3982547988"/>
                    </a:ext>
                  </a:extLst>
                </a:gridCol>
              </a:tblGrid>
              <a:tr h="324882">
                <a:tc>
                  <a:txBody>
                    <a:bodyPr/>
                    <a:lstStyle/>
                    <a:p>
                      <a:pPr algn="ctr"/>
                      <a:r>
                        <a:rPr lang="en-US" b="1" dirty="0"/>
                        <a:t>Key Points</a:t>
                      </a:r>
                    </a:p>
                  </a:txBody>
                  <a:tcPr/>
                </a:tc>
                <a:tc>
                  <a:txBody>
                    <a:bodyPr/>
                    <a:lstStyle/>
                    <a:p>
                      <a:pPr algn="ctr"/>
                      <a:r>
                        <a:rPr lang="en-US" b="1" dirty="0"/>
                        <a:t>Project-Oriented Structure</a:t>
                      </a:r>
                    </a:p>
                  </a:txBody>
                  <a:tcPr/>
                </a:tc>
                <a:tc>
                  <a:txBody>
                    <a:bodyPr/>
                    <a:lstStyle/>
                    <a:p>
                      <a:pPr algn="ctr"/>
                      <a:r>
                        <a:rPr lang="en-US" b="1" dirty="0"/>
                        <a:t>Pool-Oriented Structure</a:t>
                      </a:r>
                    </a:p>
                  </a:txBody>
                  <a:tcPr/>
                </a:tc>
                <a:extLst>
                  <a:ext uri="{0D108BD9-81ED-4DB2-BD59-A6C34878D82A}">
                    <a16:rowId xmlns:a16="http://schemas.microsoft.com/office/drawing/2014/main" val="4130680264"/>
                  </a:ext>
                </a:extLst>
              </a:tr>
              <a:tr h="370840">
                <a:tc>
                  <a:txBody>
                    <a:bodyPr/>
                    <a:lstStyle/>
                    <a:p>
                      <a:r>
                        <a:rPr lang="en-US" dirty="0"/>
                        <a:t>Basic Concept</a:t>
                      </a:r>
                    </a:p>
                  </a:txBody>
                  <a:tcPr/>
                </a:tc>
                <a:tc>
                  <a:txBody>
                    <a:bodyPr/>
                    <a:lstStyle/>
                    <a:p>
                      <a:r>
                        <a:rPr lang="en-US" dirty="0"/>
                        <a:t>Separate teams of analysts are formed for each project.</a:t>
                      </a:r>
                    </a:p>
                  </a:txBody>
                  <a:tcPr/>
                </a:tc>
                <a:tc>
                  <a:txBody>
                    <a:bodyPr/>
                    <a:lstStyle/>
                    <a:p>
                      <a:r>
                        <a:rPr lang="en-US" dirty="0"/>
                        <a:t>Analysts are kept in a central pool and temporarily assigned to departments as needed.</a:t>
                      </a:r>
                    </a:p>
                  </a:txBody>
                  <a:tcPr/>
                </a:tc>
                <a:extLst>
                  <a:ext uri="{0D108BD9-81ED-4DB2-BD59-A6C34878D82A}">
                    <a16:rowId xmlns:a16="http://schemas.microsoft.com/office/drawing/2014/main" val="471279504"/>
                  </a:ext>
                </a:extLst>
              </a:tr>
              <a:tr h="370840">
                <a:tc>
                  <a:txBody>
                    <a:bodyPr/>
                    <a:lstStyle/>
                    <a:p>
                      <a:r>
                        <a:rPr lang="en-US" dirty="0"/>
                        <a:t>Analyst Assignment</a:t>
                      </a:r>
                    </a:p>
                  </a:txBody>
                  <a:tcPr/>
                </a:tc>
                <a:tc>
                  <a:txBody>
                    <a:bodyPr/>
                    <a:lstStyle/>
                    <a:p>
                      <a:r>
                        <a:rPr lang="en-US" dirty="0"/>
                        <a:t>Analysts are permanently assigned to one specific project until it ends.</a:t>
                      </a:r>
                    </a:p>
                  </a:txBody>
                  <a:tcPr/>
                </a:tc>
                <a:tc>
                  <a:txBody>
                    <a:bodyPr/>
                    <a:lstStyle/>
                    <a:p>
                      <a:r>
                        <a:rPr lang="en-US" dirty="0"/>
                        <a:t>Analysts are temporarily “on loan” from the pool to different projects or departments.</a:t>
                      </a:r>
                    </a:p>
                  </a:txBody>
                  <a:tcPr/>
                </a:tc>
                <a:extLst>
                  <a:ext uri="{0D108BD9-81ED-4DB2-BD59-A6C34878D82A}">
                    <a16:rowId xmlns:a16="http://schemas.microsoft.com/office/drawing/2014/main" val="390462182"/>
                  </a:ext>
                </a:extLst>
              </a:tr>
              <a:tr h="370840">
                <a:tc>
                  <a:txBody>
                    <a:bodyPr/>
                    <a:lstStyle/>
                    <a:p>
                      <a:r>
                        <a:rPr lang="en-US" dirty="0"/>
                        <a:t>Reporting Authority</a:t>
                      </a:r>
                    </a:p>
                  </a:txBody>
                  <a:tcPr/>
                </a:tc>
                <a:tc>
                  <a:txBody>
                    <a:bodyPr/>
                    <a:lstStyle/>
                    <a:p>
                      <a:r>
                        <a:rPr lang="en-US" dirty="0"/>
                        <a:t>Analysts report to their </a:t>
                      </a:r>
                      <a:r>
                        <a:rPr lang="en-US" b="1" dirty="0"/>
                        <a:t>Project Leader</a:t>
                      </a:r>
                      <a:r>
                        <a:rPr lang="en-US" dirty="0"/>
                        <a:t>.</a:t>
                      </a:r>
                    </a:p>
                  </a:txBody>
                  <a:tcPr/>
                </a:tc>
                <a:tc>
                  <a:txBody>
                    <a:bodyPr/>
                    <a:lstStyle/>
                    <a:p>
                      <a:r>
                        <a:rPr lang="en-US" dirty="0"/>
                        <a:t>Analysts report to the </a:t>
                      </a:r>
                      <a:r>
                        <a:rPr lang="en-US" b="1" dirty="0"/>
                        <a:t>Department Manager</a:t>
                      </a:r>
                      <a:r>
                        <a:rPr lang="en-US" dirty="0"/>
                        <a:t> during the project and then return to the pool.</a:t>
                      </a:r>
                    </a:p>
                  </a:txBody>
                  <a:tcPr/>
                </a:tc>
                <a:extLst>
                  <a:ext uri="{0D108BD9-81ED-4DB2-BD59-A6C34878D82A}">
                    <a16:rowId xmlns:a16="http://schemas.microsoft.com/office/drawing/2014/main" val="1688869472"/>
                  </a:ext>
                </a:extLst>
              </a:tr>
              <a:tr h="370840">
                <a:tc>
                  <a:txBody>
                    <a:bodyPr/>
                    <a:lstStyle/>
                    <a:p>
                      <a:r>
                        <a:rPr lang="en-US" dirty="0"/>
                        <a:t>Flexibility</a:t>
                      </a:r>
                    </a:p>
                  </a:txBody>
                  <a:tcPr/>
                </a:tc>
                <a:tc>
                  <a:txBody>
                    <a:bodyPr/>
                    <a:lstStyle/>
                    <a:p>
                      <a:r>
                        <a:rPr lang="en-US" dirty="0"/>
                        <a:t>Less flexible — analysts stay fixed with one project.</a:t>
                      </a:r>
                    </a:p>
                  </a:txBody>
                  <a:tcPr/>
                </a:tc>
                <a:tc>
                  <a:txBody>
                    <a:bodyPr/>
                    <a:lstStyle/>
                    <a:p>
                      <a:r>
                        <a:rPr lang="en-US" dirty="0"/>
                        <a:t>More flexible — analysts can move between projects as required.</a:t>
                      </a:r>
                    </a:p>
                  </a:txBody>
                  <a:tcPr/>
                </a:tc>
                <a:extLst>
                  <a:ext uri="{0D108BD9-81ED-4DB2-BD59-A6C34878D82A}">
                    <a16:rowId xmlns:a16="http://schemas.microsoft.com/office/drawing/2014/main" val="3087031285"/>
                  </a:ext>
                </a:extLst>
              </a:tr>
              <a:tr h="370840">
                <a:tc>
                  <a:txBody>
                    <a:bodyPr/>
                    <a:lstStyle/>
                    <a:p>
                      <a:r>
                        <a:rPr lang="en-US" dirty="0"/>
                        <a:t>Resource Utilization</a:t>
                      </a:r>
                    </a:p>
                  </a:txBody>
                  <a:tcPr/>
                </a:tc>
                <a:tc>
                  <a:txBody>
                    <a:bodyPr/>
                    <a:lstStyle/>
                    <a:p>
                      <a:r>
                        <a:rPr lang="en-US" dirty="0"/>
                        <a:t>May lead to duplication of effort and underuse of some skills.</a:t>
                      </a:r>
                    </a:p>
                  </a:txBody>
                  <a:tcPr/>
                </a:tc>
                <a:tc>
                  <a:txBody>
                    <a:bodyPr/>
                    <a:lstStyle/>
                    <a:p>
                      <a:r>
                        <a:rPr lang="en-US" dirty="0"/>
                        <a:t>Better utilization — analysts are shared among departments.</a:t>
                      </a:r>
                    </a:p>
                  </a:txBody>
                  <a:tcPr/>
                </a:tc>
                <a:extLst>
                  <a:ext uri="{0D108BD9-81ED-4DB2-BD59-A6C34878D82A}">
                    <a16:rowId xmlns:a16="http://schemas.microsoft.com/office/drawing/2014/main" val="2361352929"/>
                  </a:ext>
                </a:extLst>
              </a:tr>
              <a:tr h="370840">
                <a:tc>
                  <a:txBody>
                    <a:bodyPr/>
                    <a:lstStyle/>
                    <a:p>
                      <a:endParaRPr lang="en-US" dirty="0"/>
                    </a:p>
                  </a:txBody>
                  <a:tcPr/>
                </a:tc>
                <a:tc>
                  <a:txBody>
                    <a:bodyPr/>
                    <a:lstStyle/>
                    <a:p>
                      <a:r>
                        <a:rPr lang="en-US" dirty="0"/>
                        <a:t>A software company forms a dedicated team for each client project.</a:t>
                      </a:r>
                    </a:p>
                  </a:txBody>
                  <a:tcPr/>
                </a:tc>
                <a:tc>
                  <a:txBody>
                    <a:bodyPr/>
                    <a:lstStyle/>
                    <a:p>
                      <a:r>
                        <a:rPr lang="en-US" dirty="0"/>
                        <a:t>A bank has one central IT analyst pool serving HR, Accounts, and Loan departments.</a:t>
                      </a:r>
                    </a:p>
                  </a:txBody>
                  <a:tcPr/>
                </a:tc>
                <a:extLst>
                  <a:ext uri="{0D108BD9-81ED-4DB2-BD59-A6C34878D82A}">
                    <a16:rowId xmlns:a16="http://schemas.microsoft.com/office/drawing/2014/main" val="3881161401"/>
                  </a:ext>
                </a:extLst>
              </a:tr>
            </a:tbl>
          </a:graphicData>
        </a:graphic>
      </p:graphicFrame>
    </p:spTree>
    <p:extLst>
      <p:ext uri="{BB962C8B-B14F-4D97-AF65-F5344CB8AC3E}">
        <p14:creationId xmlns:p14="http://schemas.microsoft.com/office/powerpoint/2010/main" val="3593820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86ADE2-5B59-2857-1E4D-6CFF943BFEF0}"/>
              </a:ext>
            </a:extLst>
          </p:cNvPr>
          <p:cNvSpPr txBox="1"/>
          <p:nvPr/>
        </p:nvSpPr>
        <p:spPr>
          <a:xfrm>
            <a:off x="511278" y="1076303"/>
            <a:ext cx="6096000" cy="4832092"/>
          </a:xfrm>
          <a:prstGeom prst="rect">
            <a:avLst/>
          </a:prstGeom>
          <a:noFill/>
        </p:spPr>
        <p:txBody>
          <a:bodyPr wrap="square">
            <a:spAutoFit/>
          </a:bodyPr>
          <a:lstStyle/>
          <a:p>
            <a:pPr marL="285750" indent="-285750">
              <a:buFont typeface="Wingdings" panose="05000000000000000000" pitchFamily="2" charset="2"/>
              <a:buChar char="v"/>
            </a:pPr>
            <a:r>
              <a:rPr lang="en-US" sz="2200" dirty="0"/>
              <a:t>In a </a:t>
            </a:r>
            <a:r>
              <a:rPr lang="en-US" sz="2200" b="1" dirty="0"/>
              <a:t>functional structure of analysis</a:t>
            </a:r>
            <a:r>
              <a:rPr lang="en-US" sz="2200" dirty="0"/>
              <a:t>, analysts are divided into </a:t>
            </a:r>
            <a:r>
              <a:rPr lang="en-US" sz="2200" b="1" dirty="0"/>
              <a:t>separate teams</a:t>
            </a:r>
            <a:r>
              <a:rPr lang="en-US" sz="2200" dirty="0"/>
              <a:t>, and each team works on a </a:t>
            </a:r>
            <a:r>
              <a:rPr lang="en-US" sz="2200" b="1" dirty="0"/>
              <a:t>specific system area</a:t>
            </a:r>
            <a:r>
              <a:rPr lang="en-US" sz="2200" dirty="0"/>
              <a:t> of the organization.</a:t>
            </a:r>
          </a:p>
          <a:p>
            <a:pPr>
              <a:buNone/>
            </a:pPr>
            <a:r>
              <a:rPr lang="en-US" sz="2200" dirty="0"/>
              <a:t>For example:</a:t>
            </a:r>
          </a:p>
          <a:p>
            <a:pPr marL="742950" lvl="1" indent="-285750">
              <a:buFont typeface="Wingdings" panose="05000000000000000000" pitchFamily="2" charset="2"/>
              <a:buChar char="§"/>
            </a:pPr>
            <a:r>
              <a:rPr lang="en-US" sz="2200" dirty="0"/>
              <a:t>A </a:t>
            </a:r>
            <a:r>
              <a:rPr lang="en-US" sz="2200" b="1" dirty="0"/>
              <a:t>Personnel Systems Team</a:t>
            </a:r>
            <a:r>
              <a:rPr lang="en-US" sz="2200" dirty="0"/>
              <a:t> handles employee-related systems.</a:t>
            </a:r>
          </a:p>
          <a:p>
            <a:pPr marL="742950" lvl="1" indent="-285750">
              <a:buFont typeface="Wingdings" panose="05000000000000000000" pitchFamily="2" charset="2"/>
              <a:buChar char="§"/>
            </a:pPr>
            <a:r>
              <a:rPr lang="en-US" sz="2200" dirty="0"/>
              <a:t>A </a:t>
            </a:r>
            <a:r>
              <a:rPr lang="en-US" sz="2200" b="1" dirty="0"/>
              <a:t>Production Systems Team</a:t>
            </a:r>
            <a:r>
              <a:rPr lang="en-US" sz="2200" dirty="0"/>
              <a:t> manages production-related systems.</a:t>
            </a:r>
          </a:p>
          <a:p>
            <a:pPr marL="742950" lvl="1" indent="-285750">
              <a:buFont typeface="Wingdings" panose="05000000000000000000" pitchFamily="2" charset="2"/>
              <a:buChar char="§"/>
            </a:pPr>
            <a:r>
              <a:rPr lang="en-US" sz="2200" dirty="0"/>
              <a:t>A </a:t>
            </a:r>
            <a:r>
              <a:rPr lang="en-US" sz="2200" b="1" dirty="0"/>
              <a:t>Marketing Systems Team</a:t>
            </a:r>
            <a:r>
              <a:rPr lang="en-US" sz="2200" dirty="0"/>
              <a:t> works on sales and marketing systems.</a:t>
            </a:r>
          </a:p>
          <a:p>
            <a:pPr>
              <a:buNone/>
            </a:pPr>
            <a:r>
              <a:rPr lang="en-US" sz="2200" dirty="0"/>
              <a:t>Each team has its </a:t>
            </a:r>
            <a:r>
              <a:rPr lang="en-US" sz="2200" b="1" dirty="0"/>
              <a:t>own manager</a:t>
            </a:r>
            <a:r>
              <a:rPr lang="en-US" sz="2200" dirty="0"/>
              <a:t>, and all team managers </a:t>
            </a:r>
            <a:r>
              <a:rPr lang="en-US" sz="2200" b="1" dirty="0"/>
              <a:t>report to the Director of System Development</a:t>
            </a:r>
            <a:r>
              <a:rPr lang="en-US" sz="2200" dirty="0"/>
              <a:t>.</a:t>
            </a:r>
          </a:p>
        </p:txBody>
      </p:sp>
      <p:pic>
        <p:nvPicPr>
          <p:cNvPr id="5" name="Picture 4">
            <a:extLst>
              <a:ext uri="{FF2B5EF4-FFF2-40B4-BE49-F238E27FC236}">
                <a16:creationId xmlns:a16="http://schemas.microsoft.com/office/drawing/2014/main" id="{A3E895C0-4AD4-5913-DDDF-83FF3A090992}"/>
              </a:ext>
            </a:extLst>
          </p:cNvPr>
          <p:cNvPicPr>
            <a:picLocks noChangeAspect="1"/>
          </p:cNvPicPr>
          <p:nvPr/>
        </p:nvPicPr>
        <p:blipFill>
          <a:blip r:embed="rId2"/>
          <a:stretch>
            <a:fillRect/>
          </a:stretch>
        </p:blipFill>
        <p:spPr>
          <a:xfrm>
            <a:off x="6912078" y="1645489"/>
            <a:ext cx="5191432" cy="3427956"/>
          </a:xfrm>
          <a:prstGeom prst="rect">
            <a:avLst/>
          </a:prstGeom>
        </p:spPr>
      </p:pic>
      <p:sp>
        <p:nvSpPr>
          <p:cNvPr id="2" name="TextBox 1">
            <a:extLst>
              <a:ext uri="{FF2B5EF4-FFF2-40B4-BE49-F238E27FC236}">
                <a16:creationId xmlns:a16="http://schemas.microsoft.com/office/drawing/2014/main" id="{8F140BC9-1C24-3179-B98A-50B4FA47F826}"/>
              </a:ext>
            </a:extLst>
          </p:cNvPr>
          <p:cNvSpPr txBox="1"/>
          <p:nvPr/>
        </p:nvSpPr>
        <p:spPr>
          <a:xfrm>
            <a:off x="511278" y="356262"/>
            <a:ext cx="6096000" cy="523220"/>
          </a:xfrm>
          <a:prstGeom prst="rect">
            <a:avLst/>
          </a:prstGeom>
          <a:noFill/>
        </p:spPr>
        <p:txBody>
          <a:bodyPr wrap="square">
            <a:spAutoFit/>
          </a:bodyPr>
          <a:lstStyle/>
          <a:p>
            <a:r>
              <a:rPr lang="en-US" sz="2800" b="1" i="1" dirty="0"/>
              <a:t>Primary Functions of an MIS Facility</a:t>
            </a:r>
          </a:p>
        </p:txBody>
      </p:sp>
      <p:sp>
        <p:nvSpPr>
          <p:cNvPr id="4" name="TextBox 3">
            <a:extLst>
              <a:ext uri="{FF2B5EF4-FFF2-40B4-BE49-F238E27FC236}">
                <a16:creationId xmlns:a16="http://schemas.microsoft.com/office/drawing/2014/main" id="{A68D3266-40D9-9EC5-FD86-1B987676B351}"/>
              </a:ext>
            </a:extLst>
          </p:cNvPr>
          <p:cNvSpPr txBox="1"/>
          <p:nvPr/>
        </p:nvSpPr>
        <p:spPr>
          <a:xfrm>
            <a:off x="7315199" y="5073445"/>
            <a:ext cx="396391" cy="338554"/>
          </a:xfrm>
          <a:prstGeom prst="rect">
            <a:avLst/>
          </a:prstGeom>
          <a:noFill/>
        </p:spPr>
        <p:txBody>
          <a:bodyPr wrap="none" rtlCol="0">
            <a:spAutoFit/>
          </a:bodyPr>
          <a:lstStyle/>
          <a:p>
            <a:r>
              <a:rPr lang="en-US" sz="1600" dirty="0"/>
              <a:t>SA</a:t>
            </a:r>
          </a:p>
        </p:txBody>
      </p:sp>
      <p:sp>
        <p:nvSpPr>
          <p:cNvPr id="6" name="TextBox 5">
            <a:extLst>
              <a:ext uri="{FF2B5EF4-FFF2-40B4-BE49-F238E27FC236}">
                <a16:creationId xmlns:a16="http://schemas.microsoft.com/office/drawing/2014/main" id="{A9E8C628-73D6-66D1-3C17-A2CC88F1C709}"/>
              </a:ext>
            </a:extLst>
          </p:cNvPr>
          <p:cNvSpPr txBox="1"/>
          <p:nvPr/>
        </p:nvSpPr>
        <p:spPr>
          <a:xfrm>
            <a:off x="10146891" y="5073445"/>
            <a:ext cx="396391" cy="338554"/>
          </a:xfrm>
          <a:prstGeom prst="rect">
            <a:avLst/>
          </a:prstGeom>
          <a:noFill/>
        </p:spPr>
        <p:txBody>
          <a:bodyPr wrap="none" rtlCol="0">
            <a:spAutoFit/>
          </a:bodyPr>
          <a:lstStyle/>
          <a:p>
            <a:r>
              <a:rPr lang="en-US" sz="1600" dirty="0"/>
              <a:t>SA</a:t>
            </a:r>
          </a:p>
        </p:txBody>
      </p:sp>
      <p:sp>
        <p:nvSpPr>
          <p:cNvPr id="7" name="TextBox 6">
            <a:extLst>
              <a:ext uri="{FF2B5EF4-FFF2-40B4-BE49-F238E27FC236}">
                <a16:creationId xmlns:a16="http://schemas.microsoft.com/office/drawing/2014/main" id="{3616A69A-46FA-C8C3-2034-3E0938598744}"/>
              </a:ext>
            </a:extLst>
          </p:cNvPr>
          <p:cNvSpPr txBox="1"/>
          <p:nvPr/>
        </p:nvSpPr>
        <p:spPr>
          <a:xfrm>
            <a:off x="8121445" y="5515897"/>
            <a:ext cx="3015954" cy="369332"/>
          </a:xfrm>
          <a:prstGeom prst="rect">
            <a:avLst/>
          </a:prstGeom>
          <a:noFill/>
        </p:spPr>
        <p:txBody>
          <a:bodyPr wrap="none" rtlCol="0">
            <a:spAutoFit/>
          </a:bodyPr>
          <a:lstStyle/>
          <a:p>
            <a:r>
              <a:rPr lang="en-US" dirty="0"/>
              <a:t>Figure 5: Functional Structure </a:t>
            </a:r>
          </a:p>
        </p:txBody>
      </p:sp>
    </p:spTree>
    <p:extLst>
      <p:ext uri="{BB962C8B-B14F-4D97-AF65-F5344CB8AC3E}">
        <p14:creationId xmlns:p14="http://schemas.microsoft.com/office/powerpoint/2010/main" val="299606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00337F-F98E-7AA6-5873-7F02FE8D6DBE}"/>
              </a:ext>
            </a:extLst>
          </p:cNvPr>
          <p:cNvSpPr txBox="1"/>
          <p:nvPr/>
        </p:nvSpPr>
        <p:spPr>
          <a:xfrm>
            <a:off x="1061884" y="464263"/>
            <a:ext cx="6096000" cy="523220"/>
          </a:xfrm>
          <a:prstGeom prst="rect">
            <a:avLst/>
          </a:prstGeom>
          <a:noFill/>
        </p:spPr>
        <p:txBody>
          <a:bodyPr wrap="square">
            <a:spAutoFit/>
          </a:bodyPr>
          <a:lstStyle/>
          <a:p>
            <a:r>
              <a:rPr lang="en-US" sz="2800" b="1" i="1" dirty="0"/>
              <a:t>Primary Functions of an MIS Facility</a:t>
            </a:r>
          </a:p>
        </p:txBody>
      </p:sp>
      <p:sp>
        <p:nvSpPr>
          <p:cNvPr id="4" name="TextBox 3">
            <a:extLst>
              <a:ext uri="{FF2B5EF4-FFF2-40B4-BE49-F238E27FC236}">
                <a16:creationId xmlns:a16="http://schemas.microsoft.com/office/drawing/2014/main" id="{439A81F9-5771-D83C-5A2D-5E0D8BBD2693}"/>
              </a:ext>
            </a:extLst>
          </p:cNvPr>
          <p:cNvSpPr txBox="1"/>
          <p:nvPr/>
        </p:nvSpPr>
        <p:spPr>
          <a:xfrm>
            <a:off x="1455173" y="1090642"/>
            <a:ext cx="9704439" cy="1901931"/>
          </a:xfrm>
          <a:prstGeom prst="rect">
            <a:avLst/>
          </a:prstGeom>
          <a:noFill/>
        </p:spPr>
        <p:txBody>
          <a:bodyPr wrap="square">
            <a:spAutoFit/>
          </a:bodyPr>
          <a:lstStyle/>
          <a:p>
            <a:r>
              <a:rPr lang="en-US" sz="2200" dirty="0"/>
              <a:t>3.Programming work is divided into </a:t>
            </a:r>
            <a:r>
              <a:rPr lang="en-US" sz="2200" b="1" dirty="0"/>
              <a:t>three areas</a:t>
            </a:r>
            <a:r>
              <a:rPr lang="en-US" sz="2200" dirty="0"/>
              <a:t>:</a:t>
            </a:r>
          </a:p>
          <a:p>
            <a:pPr marL="800100" lvl="1" indent="-342900">
              <a:lnSpc>
                <a:spcPct val="150000"/>
              </a:lnSpc>
              <a:buFont typeface="Wingdings" panose="05000000000000000000" pitchFamily="2" charset="2"/>
              <a:buChar char="§"/>
            </a:pPr>
            <a:r>
              <a:rPr lang="en-US" sz="2200" b="1" dirty="0"/>
              <a:t>Applications</a:t>
            </a:r>
            <a:r>
              <a:rPr lang="en-US" sz="2200" dirty="0"/>
              <a:t> – Develop new systems and applications.</a:t>
            </a:r>
          </a:p>
          <a:p>
            <a:pPr marL="800100" lvl="1" indent="-342900">
              <a:lnSpc>
                <a:spcPct val="150000"/>
              </a:lnSpc>
              <a:buFont typeface="Wingdings" panose="05000000000000000000" pitchFamily="2" charset="2"/>
              <a:buChar char="§"/>
            </a:pPr>
            <a:r>
              <a:rPr lang="en-US" sz="2200" b="1" dirty="0"/>
              <a:t>Software</a:t>
            </a:r>
            <a:r>
              <a:rPr lang="en-US" sz="2200" dirty="0"/>
              <a:t> – Modify compilers or software packages.</a:t>
            </a:r>
          </a:p>
          <a:p>
            <a:pPr marL="800100" lvl="1" indent="-342900">
              <a:lnSpc>
                <a:spcPct val="150000"/>
              </a:lnSpc>
              <a:buFont typeface="Wingdings" panose="05000000000000000000" pitchFamily="2" charset="2"/>
              <a:buChar char="§"/>
            </a:pPr>
            <a:r>
              <a:rPr lang="en-US" sz="2200" b="1" dirty="0"/>
              <a:t>Maintenance</a:t>
            </a:r>
            <a:r>
              <a:rPr lang="en-US" sz="2200" dirty="0"/>
              <a:t> – Make updates and fixes to keep systems running.</a:t>
            </a:r>
          </a:p>
        </p:txBody>
      </p:sp>
      <p:sp>
        <p:nvSpPr>
          <p:cNvPr id="6" name="TextBox 5">
            <a:extLst>
              <a:ext uri="{FF2B5EF4-FFF2-40B4-BE49-F238E27FC236}">
                <a16:creationId xmlns:a16="http://schemas.microsoft.com/office/drawing/2014/main" id="{595FD609-3652-6C43-CAD7-75DFDE5CFA80}"/>
              </a:ext>
            </a:extLst>
          </p:cNvPr>
          <p:cNvSpPr txBox="1"/>
          <p:nvPr/>
        </p:nvSpPr>
        <p:spPr>
          <a:xfrm>
            <a:off x="1523999" y="3232721"/>
            <a:ext cx="8367252" cy="2409762"/>
          </a:xfrm>
          <a:prstGeom prst="rect">
            <a:avLst/>
          </a:prstGeom>
          <a:noFill/>
        </p:spPr>
        <p:txBody>
          <a:bodyPr wrap="square">
            <a:spAutoFit/>
          </a:bodyPr>
          <a:lstStyle/>
          <a:p>
            <a:pPr>
              <a:buNone/>
            </a:pPr>
            <a:r>
              <a:rPr lang="en-US" sz="2200" dirty="0"/>
              <a:t>Programmers can work in </a:t>
            </a:r>
            <a:r>
              <a:rPr lang="en-US" sz="2200" b="1" dirty="0"/>
              <a:t>two ways</a:t>
            </a:r>
            <a:r>
              <a:rPr lang="en-US" sz="2200" dirty="0"/>
              <a:t>:</a:t>
            </a:r>
          </a:p>
          <a:p>
            <a:pPr lvl="1">
              <a:lnSpc>
                <a:spcPct val="150000"/>
              </a:lnSpc>
              <a:buFont typeface="+mj-lt"/>
              <a:buAutoNum type="arabicPeriod"/>
            </a:pPr>
            <a:r>
              <a:rPr lang="en-US" sz="2200" b="1" dirty="0"/>
              <a:t>Pool Approach</a:t>
            </a:r>
            <a:r>
              <a:rPr lang="en-US" sz="2200" dirty="0"/>
              <a:t> – All programmers belong to one pool and report to a supervisor; each works on different programs individually.</a:t>
            </a:r>
          </a:p>
          <a:p>
            <a:pPr lvl="1">
              <a:lnSpc>
                <a:spcPct val="150000"/>
              </a:lnSpc>
              <a:buFont typeface="+mj-lt"/>
              <a:buAutoNum type="arabicPeriod"/>
            </a:pPr>
            <a:r>
              <a:rPr lang="en-US" sz="2200" b="1" dirty="0"/>
              <a:t>Team Approach</a:t>
            </a:r>
            <a:r>
              <a:rPr lang="en-US" sz="2200" dirty="0"/>
              <a:t> – Programmers work in a team on one specific project.</a:t>
            </a:r>
          </a:p>
        </p:txBody>
      </p:sp>
    </p:spTree>
    <p:extLst>
      <p:ext uri="{BB962C8B-B14F-4D97-AF65-F5344CB8AC3E}">
        <p14:creationId xmlns:p14="http://schemas.microsoft.com/office/powerpoint/2010/main" val="4259615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6B83B6-7B19-2210-AC68-588C07E47622}"/>
              </a:ext>
            </a:extLst>
          </p:cNvPr>
          <p:cNvSpPr txBox="1"/>
          <p:nvPr/>
        </p:nvSpPr>
        <p:spPr>
          <a:xfrm>
            <a:off x="914400" y="1621078"/>
            <a:ext cx="6096000" cy="3594702"/>
          </a:xfrm>
          <a:prstGeom prst="rect">
            <a:avLst/>
          </a:prstGeom>
          <a:noFill/>
        </p:spPr>
        <p:txBody>
          <a:bodyPr wrap="square">
            <a:spAutoFit/>
          </a:bodyPr>
          <a:lstStyle/>
          <a:p>
            <a:pPr>
              <a:lnSpc>
                <a:spcPct val="150000"/>
              </a:lnSpc>
              <a:buNone/>
            </a:pPr>
            <a:r>
              <a:rPr lang="en-US" sz="2200" dirty="0"/>
              <a:t>In the </a:t>
            </a:r>
            <a:r>
              <a:rPr lang="en-US" sz="2200" b="1" dirty="0"/>
              <a:t>team approach</a:t>
            </a:r>
            <a:r>
              <a:rPr lang="en-US" sz="2200" dirty="0"/>
              <a:t>:</a:t>
            </a:r>
          </a:p>
          <a:p>
            <a:pPr marL="285750" indent="-285750">
              <a:lnSpc>
                <a:spcPct val="150000"/>
              </a:lnSpc>
              <a:buFont typeface="Wingdings" panose="05000000000000000000" pitchFamily="2" charset="2"/>
              <a:buChar char="§"/>
            </a:pPr>
            <a:r>
              <a:rPr lang="en-US" sz="2200" dirty="0"/>
              <a:t>Programmers report to a </a:t>
            </a:r>
            <a:r>
              <a:rPr lang="en-US" sz="2200" b="1" dirty="0"/>
              <a:t>Lead Programmer (Team Leader)</a:t>
            </a:r>
            <a:r>
              <a:rPr lang="en-US" sz="2200" dirty="0"/>
              <a:t>.</a:t>
            </a:r>
          </a:p>
          <a:p>
            <a:pPr marL="285750" indent="-285750">
              <a:lnSpc>
                <a:spcPct val="150000"/>
              </a:lnSpc>
              <a:buFont typeface="Wingdings" panose="05000000000000000000" pitchFamily="2" charset="2"/>
              <a:buChar char="§"/>
            </a:pPr>
            <a:r>
              <a:rPr lang="en-US" sz="2200" dirty="0"/>
              <a:t>The team leader reports to the </a:t>
            </a:r>
            <a:r>
              <a:rPr lang="en-US" sz="2200" b="1" dirty="0"/>
              <a:t>Project Leader</a:t>
            </a:r>
            <a:r>
              <a:rPr lang="en-US" sz="2200" dirty="0"/>
              <a:t>.</a:t>
            </a:r>
          </a:p>
          <a:p>
            <a:pPr marL="285750" indent="-285750">
              <a:lnSpc>
                <a:spcPct val="150000"/>
              </a:lnSpc>
              <a:buFont typeface="Wingdings" panose="05000000000000000000" pitchFamily="2" charset="2"/>
              <a:buChar char="§"/>
            </a:pPr>
            <a:r>
              <a:rPr lang="en-US" sz="2200" dirty="0"/>
              <a:t>The project leader (section head) supervises several teams and reports to the </a:t>
            </a:r>
            <a:r>
              <a:rPr lang="en-US" sz="2200" b="1" dirty="0"/>
              <a:t>Manager of the Programming Area</a:t>
            </a:r>
            <a:r>
              <a:rPr lang="en-US" sz="2200" dirty="0"/>
              <a:t>.</a:t>
            </a:r>
          </a:p>
        </p:txBody>
      </p:sp>
      <p:sp>
        <p:nvSpPr>
          <p:cNvPr id="4" name="TextBox 3">
            <a:extLst>
              <a:ext uri="{FF2B5EF4-FFF2-40B4-BE49-F238E27FC236}">
                <a16:creationId xmlns:a16="http://schemas.microsoft.com/office/drawing/2014/main" id="{A1F07422-9242-C362-4781-FC6D059DD19B}"/>
              </a:ext>
            </a:extLst>
          </p:cNvPr>
          <p:cNvSpPr txBox="1"/>
          <p:nvPr/>
        </p:nvSpPr>
        <p:spPr>
          <a:xfrm>
            <a:off x="1061884" y="464263"/>
            <a:ext cx="6096000" cy="523220"/>
          </a:xfrm>
          <a:prstGeom prst="rect">
            <a:avLst/>
          </a:prstGeom>
          <a:noFill/>
        </p:spPr>
        <p:txBody>
          <a:bodyPr wrap="square">
            <a:spAutoFit/>
          </a:bodyPr>
          <a:lstStyle/>
          <a:p>
            <a:r>
              <a:rPr lang="en-US" sz="2800" b="1" i="1" dirty="0"/>
              <a:t>Primary Functions of an MIS Facility</a:t>
            </a:r>
          </a:p>
        </p:txBody>
      </p:sp>
      <p:pic>
        <p:nvPicPr>
          <p:cNvPr id="6" name="Picture 5">
            <a:extLst>
              <a:ext uri="{FF2B5EF4-FFF2-40B4-BE49-F238E27FC236}">
                <a16:creationId xmlns:a16="http://schemas.microsoft.com/office/drawing/2014/main" id="{B9CACBA7-8CB4-6E35-0F84-E23B5DC91003}"/>
              </a:ext>
            </a:extLst>
          </p:cNvPr>
          <p:cNvPicPr>
            <a:picLocks noChangeAspect="1"/>
          </p:cNvPicPr>
          <p:nvPr/>
        </p:nvPicPr>
        <p:blipFill>
          <a:blip r:embed="rId2"/>
          <a:stretch>
            <a:fillRect/>
          </a:stretch>
        </p:blipFill>
        <p:spPr>
          <a:xfrm>
            <a:off x="6921909" y="987483"/>
            <a:ext cx="4935793" cy="4249439"/>
          </a:xfrm>
          <a:prstGeom prst="rect">
            <a:avLst/>
          </a:prstGeom>
        </p:spPr>
      </p:pic>
      <p:sp>
        <p:nvSpPr>
          <p:cNvPr id="7" name="TextBox 6">
            <a:extLst>
              <a:ext uri="{FF2B5EF4-FFF2-40B4-BE49-F238E27FC236}">
                <a16:creationId xmlns:a16="http://schemas.microsoft.com/office/drawing/2014/main" id="{8AD7A72A-DECE-DFF0-80C1-768F1BFA7272}"/>
              </a:ext>
            </a:extLst>
          </p:cNvPr>
          <p:cNvSpPr txBox="1"/>
          <p:nvPr/>
        </p:nvSpPr>
        <p:spPr>
          <a:xfrm>
            <a:off x="8180438" y="5236922"/>
            <a:ext cx="1360822" cy="369332"/>
          </a:xfrm>
          <a:prstGeom prst="rect">
            <a:avLst/>
          </a:prstGeom>
          <a:noFill/>
        </p:spPr>
        <p:txBody>
          <a:bodyPr wrap="none" rtlCol="0">
            <a:spAutoFit/>
          </a:bodyPr>
          <a:lstStyle/>
          <a:p>
            <a:r>
              <a:rPr lang="en-US" dirty="0"/>
              <a:t>Programmer</a:t>
            </a:r>
          </a:p>
        </p:txBody>
      </p:sp>
      <p:sp>
        <p:nvSpPr>
          <p:cNvPr id="2" name="TextBox 1">
            <a:extLst>
              <a:ext uri="{FF2B5EF4-FFF2-40B4-BE49-F238E27FC236}">
                <a16:creationId xmlns:a16="http://schemas.microsoft.com/office/drawing/2014/main" id="{8BDC9957-63A4-DA07-3FBB-FC2DC211E791}"/>
              </a:ext>
            </a:extLst>
          </p:cNvPr>
          <p:cNvSpPr txBox="1"/>
          <p:nvPr/>
        </p:nvSpPr>
        <p:spPr>
          <a:xfrm>
            <a:off x="7836310" y="5751871"/>
            <a:ext cx="2512226" cy="369332"/>
          </a:xfrm>
          <a:prstGeom prst="rect">
            <a:avLst/>
          </a:prstGeom>
          <a:noFill/>
        </p:spPr>
        <p:txBody>
          <a:bodyPr wrap="none" rtlCol="0">
            <a:spAutoFit/>
          </a:bodyPr>
          <a:lstStyle/>
          <a:p>
            <a:r>
              <a:rPr lang="en-US" dirty="0"/>
              <a:t>Figure 6: Team Approach</a:t>
            </a:r>
          </a:p>
        </p:txBody>
      </p:sp>
    </p:spTree>
    <p:extLst>
      <p:ext uri="{BB962C8B-B14F-4D97-AF65-F5344CB8AC3E}">
        <p14:creationId xmlns:p14="http://schemas.microsoft.com/office/powerpoint/2010/main" val="2307563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9E97D0-2135-A859-C80A-C66EAA324CF0}"/>
              </a:ext>
            </a:extLst>
          </p:cNvPr>
          <p:cNvSpPr txBox="1"/>
          <p:nvPr/>
        </p:nvSpPr>
        <p:spPr>
          <a:xfrm>
            <a:off x="1396181" y="1515125"/>
            <a:ext cx="10530348" cy="4102533"/>
          </a:xfrm>
          <a:prstGeom prst="rect">
            <a:avLst/>
          </a:prstGeom>
          <a:noFill/>
        </p:spPr>
        <p:txBody>
          <a:bodyPr wrap="square">
            <a:spAutoFit/>
          </a:bodyPr>
          <a:lstStyle/>
          <a:p>
            <a:pPr>
              <a:lnSpc>
                <a:spcPct val="150000"/>
              </a:lnSpc>
            </a:pPr>
            <a:r>
              <a:rPr lang="en-US" sz="2200" b="1" dirty="0"/>
              <a:t>3.Operations</a:t>
            </a:r>
            <a:r>
              <a:rPr lang="en-US" sz="2200" dirty="0"/>
              <a:t> manages the day-to-day running of computer systems.</a:t>
            </a:r>
          </a:p>
          <a:p>
            <a:pPr marL="742950" lvl="1" indent="-285750">
              <a:lnSpc>
                <a:spcPct val="150000"/>
              </a:lnSpc>
              <a:buFont typeface="Wingdings" panose="05000000000000000000" pitchFamily="2" charset="2"/>
              <a:buChar char="v"/>
            </a:pPr>
            <a:r>
              <a:rPr lang="en-US" sz="2200" dirty="0"/>
              <a:t>It includes tasks like:</a:t>
            </a:r>
          </a:p>
          <a:p>
            <a:pPr marL="1200150" lvl="2" indent="-285750">
              <a:lnSpc>
                <a:spcPct val="150000"/>
              </a:lnSpc>
              <a:buFont typeface="Wingdings" panose="05000000000000000000" pitchFamily="2" charset="2"/>
              <a:buChar char="§"/>
            </a:pPr>
            <a:r>
              <a:rPr lang="en-US" sz="2200" b="1" dirty="0"/>
              <a:t>Job scheduling</a:t>
            </a:r>
            <a:r>
              <a:rPr lang="en-US" sz="2200" dirty="0"/>
              <a:t> (deciding when programs or tasks will run)</a:t>
            </a:r>
          </a:p>
          <a:p>
            <a:pPr marL="1200150" lvl="2" indent="-285750">
              <a:lnSpc>
                <a:spcPct val="150000"/>
              </a:lnSpc>
              <a:buFont typeface="Wingdings" panose="05000000000000000000" pitchFamily="2" charset="2"/>
              <a:buChar char="§"/>
            </a:pPr>
            <a:r>
              <a:rPr lang="en-US" sz="2200" b="1" dirty="0"/>
              <a:t>Managing supplies inventory</a:t>
            </a:r>
            <a:r>
              <a:rPr lang="en-US" sz="2200" dirty="0"/>
              <a:t> (keeping track of necessary materials)</a:t>
            </a:r>
          </a:p>
          <a:p>
            <a:pPr marL="1200150" lvl="2" indent="-285750">
              <a:lnSpc>
                <a:spcPct val="150000"/>
              </a:lnSpc>
              <a:buFont typeface="Wingdings" panose="05000000000000000000" pitchFamily="2" charset="2"/>
              <a:buChar char="§"/>
            </a:pPr>
            <a:r>
              <a:rPr lang="en-US" sz="2200" b="1" dirty="0"/>
              <a:t>Supporting programming activities</a:t>
            </a:r>
            <a:endParaRPr lang="en-US" sz="2200" dirty="0"/>
          </a:p>
          <a:p>
            <a:pPr marL="1200150" lvl="2" indent="-285750">
              <a:lnSpc>
                <a:spcPct val="150000"/>
              </a:lnSpc>
              <a:buFont typeface="Wingdings" panose="05000000000000000000" pitchFamily="2" charset="2"/>
              <a:buChar char="§"/>
            </a:pPr>
            <a:r>
              <a:rPr lang="en-US" sz="2200" b="1" dirty="0"/>
              <a:t>Maintaining the data library</a:t>
            </a:r>
            <a:r>
              <a:rPr lang="en-US" sz="2200" dirty="0"/>
              <a:t> (storing and organizing data files)</a:t>
            </a:r>
          </a:p>
          <a:p>
            <a:pPr marL="742950" lvl="1" indent="-285750">
              <a:lnSpc>
                <a:spcPct val="150000"/>
              </a:lnSpc>
              <a:buFont typeface="Wingdings" panose="05000000000000000000" pitchFamily="2" charset="2"/>
              <a:buChar char="v"/>
            </a:pPr>
            <a:r>
              <a:rPr lang="en-US" sz="2200" dirty="0"/>
              <a:t>All these functions are </a:t>
            </a:r>
            <a:r>
              <a:rPr lang="en-US" sz="2200" b="1" dirty="0"/>
              <a:t>coordinated with systems design and programming</a:t>
            </a:r>
            <a:r>
              <a:rPr lang="en-US" sz="2200" dirty="0"/>
              <a:t>.</a:t>
            </a:r>
          </a:p>
          <a:p>
            <a:pPr marL="742950" lvl="1" indent="-285750">
              <a:lnSpc>
                <a:spcPct val="150000"/>
              </a:lnSpc>
              <a:buFont typeface="Wingdings" panose="05000000000000000000" pitchFamily="2" charset="2"/>
              <a:buChar char="v"/>
            </a:pPr>
            <a:r>
              <a:rPr lang="en-US" sz="2200" dirty="0"/>
              <a:t>Everything works together under a </a:t>
            </a:r>
            <a:r>
              <a:rPr lang="en-US" sz="2200" b="1" dirty="0"/>
              <a:t>master plan</a:t>
            </a:r>
            <a:r>
              <a:rPr lang="en-US" sz="2200" dirty="0"/>
              <a:t> to ensure smooth system operation.</a:t>
            </a:r>
          </a:p>
        </p:txBody>
      </p:sp>
      <p:sp>
        <p:nvSpPr>
          <p:cNvPr id="4" name="TextBox 3">
            <a:extLst>
              <a:ext uri="{FF2B5EF4-FFF2-40B4-BE49-F238E27FC236}">
                <a16:creationId xmlns:a16="http://schemas.microsoft.com/office/drawing/2014/main" id="{E9BF55EE-2763-E5C0-9D52-28FE03E5131F}"/>
              </a:ext>
            </a:extLst>
          </p:cNvPr>
          <p:cNvSpPr txBox="1"/>
          <p:nvPr/>
        </p:nvSpPr>
        <p:spPr>
          <a:xfrm>
            <a:off x="1061884" y="464263"/>
            <a:ext cx="6096000" cy="523220"/>
          </a:xfrm>
          <a:prstGeom prst="rect">
            <a:avLst/>
          </a:prstGeom>
          <a:noFill/>
        </p:spPr>
        <p:txBody>
          <a:bodyPr wrap="square">
            <a:spAutoFit/>
          </a:bodyPr>
          <a:lstStyle/>
          <a:p>
            <a:r>
              <a:rPr lang="en-US" sz="2800" b="1" i="1" dirty="0"/>
              <a:t>Primary Functions of an MIS Facility</a:t>
            </a:r>
          </a:p>
        </p:txBody>
      </p:sp>
    </p:spTree>
    <p:extLst>
      <p:ext uri="{BB962C8B-B14F-4D97-AF65-F5344CB8AC3E}">
        <p14:creationId xmlns:p14="http://schemas.microsoft.com/office/powerpoint/2010/main" val="2797483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TotalTime>
  <Words>2162</Words>
  <Application>Microsoft Office PowerPoint</Application>
  <PresentationFormat>Widescreen</PresentationFormat>
  <Paragraphs>243</Paragraphs>
  <Slides>26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Manirujjaman</dc:creator>
  <cp:lastModifiedBy>Md Manirujjaman</cp:lastModifiedBy>
  <cp:revision>8</cp:revision>
  <dcterms:created xsi:type="dcterms:W3CDTF">2025-11-03T05:28:26Z</dcterms:created>
  <dcterms:modified xsi:type="dcterms:W3CDTF">2025-11-27T11:54:18Z</dcterms:modified>
</cp:coreProperties>
</file>