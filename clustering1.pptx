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87"/>
  </p:notesMasterIdLst>
  <p:handoutMasterIdLst>
    <p:handoutMasterId r:id="rId88"/>
  </p:handoutMasterIdLst>
  <p:sldIdLst>
    <p:sldId id="471" r:id="rId2"/>
    <p:sldId id="472" r:id="rId3"/>
    <p:sldId id="473" r:id="rId4"/>
    <p:sldId id="474" r:id="rId5"/>
    <p:sldId id="475" r:id="rId6"/>
    <p:sldId id="476" r:id="rId7"/>
    <p:sldId id="477" r:id="rId8"/>
    <p:sldId id="478" r:id="rId9"/>
    <p:sldId id="479" r:id="rId10"/>
    <p:sldId id="480" r:id="rId11"/>
    <p:sldId id="481" r:id="rId12"/>
    <p:sldId id="482" r:id="rId13"/>
    <p:sldId id="483" r:id="rId14"/>
    <p:sldId id="484" r:id="rId15"/>
    <p:sldId id="485" r:id="rId16"/>
    <p:sldId id="486" r:id="rId17"/>
    <p:sldId id="487" r:id="rId18"/>
    <p:sldId id="488" r:id="rId19"/>
    <p:sldId id="489" r:id="rId20"/>
    <p:sldId id="490" r:id="rId21"/>
    <p:sldId id="491" r:id="rId22"/>
    <p:sldId id="492" r:id="rId23"/>
    <p:sldId id="493" r:id="rId24"/>
    <p:sldId id="494" r:id="rId25"/>
    <p:sldId id="495" r:id="rId26"/>
    <p:sldId id="496" r:id="rId27"/>
    <p:sldId id="497" r:id="rId28"/>
    <p:sldId id="498" r:id="rId29"/>
    <p:sldId id="499" r:id="rId30"/>
    <p:sldId id="500" r:id="rId31"/>
    <p:sldId id="501" r:id="rId32"/>
    <p:sldId id="502" r:id="rId33"/>
    <p:sldId id="503" r:id="rId34"/>
    <p:sldId id="504" r:id="rId35"/>
    <p:sldId id="505" r:id="rId36"/>
    <p:sldId id="506" r:id="rId37"/>
    <p:sldId id="507" r:id="rId38"/>
    <p:sldId id="508" r:id="rId39"/>
    <p:sldId id="509" r:id="rId40"/>
    <p:sldId id="510" r:id="rId41"/>
    <p:sldId id="511" r:id="rId42"/>
    <p:sldId id="512" r:id="rId43"/>
    <p:sldId id="513" r:id="rId44"/>
    <p:sldId id="514" r:id="rId45"/>
    <p:sldId id="515" r:id="rId46"/>
    <p:sldId id="516" r:id="rId47"/>
    <p:sldId id="517" r:id="rId48"/>
    <p:sldId id="518" r:id="rId49"/>
    <p:sldId id="519" r:id="rId50"/>
    <p:sldId id="520" r:id="rId51"/>
    <p:sldId id="521" r:id="rId52"/>
    <p:sldId id="522" r:id="rId53"/>
    <p:sldId id="523" r:id="rId54"/>
    <p:sldId id="524" r:id="rId55"/>
    <p:sldId id="525" r:id="rId56"/>
    <p:sldId id="526" r:id="rId57"/>
    <p:sldId id="527" r:id="rId58"/>
    <p:sldId id="528" r:id="rId59"/>
    <p:sldId id="529" r:id="rId60"/>
    <p:sldId id="530" r:id="rId61"/>
    <p:sldId id="531" r:id="rId62"/>
    <p:sldId id="532" r:id="rId63"/>
    <p:sldId id="533" r:id="rId64"/>
    <p:sldId id="534" r:id="rId65"/>
    <p:sldId id="535" r:id="rId66"/>
    <p:sldId id="536" r:id="rId67"/>
    <p:sldId id="537" r:id="rId68"/>
    <p:sldId id="538" r:id="rId69"/>
    <p:sldId id="539" r:id="rId70"/>
    <p:sldId id="540" r:id="rId71"/>
    <p:sldId id="541" r:id="rId72"/>
    <p:sldId id="542" r:id="rId73"/>
    <p:sldId id="543" r:id="rId74"/>
    <p:sldId id="544" r:id="rId75"/>
    <p:sldId id="545" r:id="rId76"/>
    <p:sldId id="546" r:id="rId77"/>
    <p:sldId id="547" r:id="rId78"/>
    <p:sldId id="548" r:id="rId79"/>
    <p:sldId id="549" r:id="rId80"/>
    <p:sldId id="550" r:id="rId81"/>
    <p:sldId id="551" r:id="rId82"/>
    <p:sldId id="552" r:id="rId83"/>
    <p:sldId id="553" r:id="rId84"/>
    <p:sldId id="321" r:id="rId85"/>
    <p:sldId id="322" r:id="rId8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4" autoAdjust="0"/>
    <p:restoredTop sz="48889" autoAdjust="0"/>
  </p:normalViewPr>
  <p:slideViewPr>
    <p:cSldViewPr>
      <p:cViewPr varScale="1">
        <p:scale>
          <a:sx n="40" d="100"/>
          <a:sy n="40" d="100"/>
        </p:scale>
        <p:origin x="2683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F9EFEA9-66BC-4174-926C-F8093975A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BD0B02A-F0B0-4301-8903-DF68581631A0}" type="datetimeFigureOut">
              <a:rPr lang="en-US"/>
              <a:pPr>
                <a:defRPr/>
              </a:pPr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6A44F01-B7E3-454B-9683-8F374F9D0B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Simple segmentation</a:t>
            </a:r>
            <a:endParaRPr lang="en-US" dirty="0"/>
          </a:p>
          <a:p>
            <a:r>
              <a:rPr lang="en-US" dirty="0"/>
              <a:t>Just dividing data by a rule (like alphabetically). </a:t>
            </a:r>
          </a:p>
          <a:p>
            <a:r>
              <a:rPr lang="en-US" dirty="0"/>
              <a:t>Not based on similarity → so </a:t>
            </a:r>
            <a:r>
              <a:rPr lang="en-US" b="1" dirty="0"/>
              <a:t>not clustering</a:t>
            </a:r>
            <a:r>
              <a:rPr lang="en-US" dirty="0"/>
              <a:t>. </a:t>
            </a:r>
          </a:p>
          <a:p>
            <a:r>
              <a:rPr lang="en-US" b="1" dirty="0"/>
              <a:t>2. Results of a query</a:t>
            </a:r>
            <a:endParaRPr lang="en-US" dirty="0"/>
          </a:p>
          <a:p>
            <a:r>
              <a:rPr lang="en-US" dirty="0"/>
              <a:t>Groups are created by user-defined conditions. </a:t>
            </a:r>
          </a:p>
          <a:p>
            <a:r>
              <a:rPr lang="en-US" dirty="0"/>
              <a:t>But clustering groups data </a:t>
            </a:r>
            <a:r>
              <a:rPr lang="en-US" b="1" dirty="0"/>
              <a:t>automatically based on similarity</a:t>
            </a:r>
            <a:r>
              <a:rPr lang="en-US" dirty="0"/>
              <a:t>, not external rules. </a:t>
            </a:r>
          </a:p>
          <a:p>
            <a:r>
              <a:rPr lang="en-US" b="1" dirty="0"/>
              <a:t>3. Supervised classification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known class labels</a:t>
            </a:r>
            <a:r>
              <a:rPr lang="en-US" dirty="0"/>
              <a:t> (like “pass/fail”). </a:t>
            </a:r>
          </a:p>
          <a:p>
            <a:r>
              <a:rPr lang="en-US" dirty="0"/>
              <a:t>Clustering has </a:t>
            </a:r>
            <a:r>
              <a:rPr lang="en-US" b="1" dirty="0"/>
              <a:t>no labels</a:t>
            </a:r>
            <a:r>
              <a:rPr lang="en-US" dirty="0"/>
              <a:t>, it finds groups by itself. </a:t>
            </a:r>
          </a:p>
          <a:p>
            <a:r>
              <a:rPr lang="en-US" b="1" dirty="0"/>
              <a:t>4. Association Analysis</a:t>
            </a:r>
            <a:endParaRPr lang="en-US" dirty="0"/>
          </a:p>
          <a:p>
            <a:r>
              <a:rPr lang="en-US" dirty="0"/>
              <a:t>Finds relationships between items (like “buy bread → buy butter”). </a:t>
            </a:r>
          </a:p>
          <a:p>
            <a:r>
              <a:rPr lang="en-US" dirty="0"/>
              <a:t>Focus is on </a:t>
            </a:r>
            <a:r>
              <a:rPr lang="en-US" b="1" dirty="0"/>
              <a:t>connections</a:t>
            </a:r>
            <a:r>
              <a:rPr lang="en-US" dirty="0"/>
              <a:t>, not grouping similar items.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13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Clustering</a:t>
            </a:r>
            <a:endParaRPr lang="en-US" dirty="0"/>
          </a:p>
          <a:p>
            <a:r>
              <a:rPr lang="en-US" dirty="0"/>
              <a:t>Clustering means a </a:t>
            </a:r>
            <a:r>
              <a:rPr lang="en-US" b="1" dirty="0"/>
              <a:t>collection of groups (clusters)</a:t>
            </a:r>
            <a:r>
              <a:rPr lang="en-US" dirty="0"/>
              <a:t>. </a:t>
            </a:r>
          </a:p>
          <a:p>
            <a:r>
              <a:rPr lang="en-US" b="1" dirty="0"/>
              <a:t>2. Two main types</a:t>
            </a:r>
            <a:endParaRPr lang="en-US" dirty="0"/>
          </a:p>
          <a:p>
            <a:r>
              <a:rPr lang="en-US" dirty="0"/>
              <a:t>There are two important types: </a:t>
            </a:r>
          </a:p>
          <a:p>
            <a:pPr lvl="1"/>
            <a:r>
              <a:rPr lang="en-US" b="1" dirty="0"/>
              <a:t>Partitional clustering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Hierarchical clustering</a:t>
            </a:r>
            <a:r>
              <a:rPr lang="en-US" dirty="0"/>
              <a:t> </a:t>
            </a:r>
          </a:p>
          <a:p>
            <a:r>
              <a:rPr lang="en-US" b="1" dirty="0"/>
              <a:t>3. Partitional Clustering</a:t>
            </a:r>
            <a:endParaRPr lang="en-US" dirty="0"/>
          </a:p>
          <a:p>
            <a:r>
              <a:rPr lang="en-US" dirty="0"/>
              <a:t>Data is divided into </a:t>
            </a:r>
            <a:r>
              <a:rPr lang="en-US" b="1" dirty="0"/>
              <a:t>separate groups</a:t>
            </a:r>
            <a:r>
              <a:rPr lang="en-US" dirty="0"/>
              <a:t>. </a:t>
            </a:r>
          </a:p>
          <a:p>
            <a:r>
              <a:rPr lang="en-US" dirty="0"/>
              <a:t>Each object belongs to </a:t>
            </a:r>
            <a:r>
              <a:rPr lang="en-US" b="1" dirty="0"/>
              <a:t>only one cluster</a:t>
            </a:r>
            <a:r>
              <a:rPr lang="en-US" dirty="0"/>
              <a:t>. </a:t>
            </a:r>
          </a:p>
          <a:p>
            <a:r>
              <a:rPr lang="en-US" dirty="0"/>
              <a:t>No overlap between clusters. </a:t>
            </a:r>
          </a:p>
          <a:p>
            <a:r>
              <a:rPr lang="en-US" b="1" dirty="0"/>
              <a:t>4. Hierarchical Clustering</a:t>
            </a:r>
            <a:endParaRPr lang="en-US" dirty="0"/>
          </a:p>
          <a:p>
            <a:r>
              <a:rPr lang="en-US" dirty="0"/>
              <a:t>Clusters are arranged like a </a:t>
            </a:r>
            <a:r>
              <a:rPr lang="en-US" b="1" dirty="0"/>
              <a:t>tree structure</a:t>
            </a:r>
            <a:r>
              <a:rPr lang="en-US" dirty="0"/>
              <a:t>. </a:t>
            </a:r>
          </a:p>
          <a:p>
            <a:r>
              <a:rPr lang="en-US" dirty="0"/>
              <a:t>Small clusters combine to form bigger ones (nested groups).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39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Exclusive vs. Non-exclusive</a:t>
            </a:r>
            <a:endParaRPr lang="en-US" dirty="0"/>
          </a:p>
          <a:p>
            <a:r>
              <a:rPr lang="en-US" b="1" dirty="0"/>
              <a:t>Exclusive</a:t>
            </a:r>
            <a:r>
              <a:rPr lang="en-US" dirty="0"/>
              <a:t>: each point belongs to </a:t>
            </a:r>
            <a:r>
              <a:rPr lang="en-US" b="1" dirty="0"/>
              <a:t>only one cluster</a:t>
            </a:r>
            <a:r>
              <a:rPr lang="en-US" dirty="0"/>
              <a:t> </a:t>
            </a:r>
          </a:p>
          <a:p>
            <a:r>
              <a:rPr lang="en-US" b="1" dirty="0"/>
              <a:t>Non-exclusive</a:t>
            </a:r>
            <a:r>
              <a:rPr lang="en-US" dirty="0"/>
              <a:t>: a point can belong to </a:t>
            </a:r>
            <a:r>
              <a:rPr lang="en-US" b="1" dirty="0"/>
              <a:t>multiple clusters</a:t>
            </a:r>
            <a:r>
              <a:rPr lang="en-US" dirty="0"/>
              <a:t> </a:t>
            </a:r>
          </a:p>
          <a:p>
            <a:r>
              <a:rPr lang="en-US" b="1" dirty="0"/>
              <a:t>2. Fuzzy vs. Non-fuzzy</a:t>
            </a:r>
            <a:endParaRPr lang="en-US" dirty="0"/>
          </a:p>
          <a:p>
            <a:r>
              <a:rPr lang="en-US" b="1" dirty="0"/>
              <a:t>Fuzzy clustering</a:t>
            </a:r>
            <a:r>
              <a:rPr lang="en-US" dirty="0"/>
              <a:t>: a point belongs to all clusters with a </a:t>
            </a:r>
            <a:r>
              <a:rPr lang="en-US" b="1" dirty="0"/>
              <a:t>weight (0 to 1)</a:t>
            </a:r>
            <a:r>
              <a:rPr lang="en-US" dirty="0"/>
              <a:t> </a:t>
            </a:r>
          </a:p>
          <a:p>
            <a:r>
              <a:rPr lang="en-US" dirty="0"/>
              <a:t>All weights together = </a:t>
            </a:r>
            <a:r>
              <a:rPr lang="en-US" b="1" dirty="0"/>
              <a:t>1</a:t>
            </a:r>
            <a:r>
              <a:rPr lang="en-US" dirty="0"/>
              <a:t> </a:t>
            </a:r>
          </a:p>
          <a:p>
            <a:r>
              <a:rPr lang="en-US" dirty="0"/>
              <a:t>Similar to probability-based grouping </a:t>
            </a:r>
          </a:p>
          <a:p>
            <a:r>
              <a:rPr lang="en-US" b="1" dirty="0"/>
              <a:t>3. Partial vs. Complete</a:t>
            </a:r>
            <a:endParaRPr lang="en-US" dirty="0"/>
          </a:p>
          <a:p>
            <a:r>
              <a:rPr lang="en-US" b="1" dirty="0"/>
              <a:t>Partial</a:t>
            </a:r>
            <a:r>
              <a:rPr lang="en-US" dirty="0"/>
              <a:t>: cluster only </a:t>
            </a:r>
            <a:r>
              <a:rPr lang="en-US" b="1" dirty="0"/>
              <a:t>some data</a:t>
            </a:r>
            <a:r>
              <a:rPr lang="en-US" dirty="0"/>
              <a:t> </a:t>
            </a:r>
          </a:p>
          <a:p>
            <a:r>
              <a:rPr lang="en-US" b="1" dirty="0"/>
              <a:t>Complete</a:t>
            </a:r>
            <a:r>
              <a:rPr lang="en-US" dirty="0"/>
              <a:t>: cluster </a:t>
            </a:r>
            <a:r>
              <a:rPr lang="en-US" b="1" dirty="0"/>
              <a:t>all data</a:t>
            </a:r>
            <a:r>
              <a:rPr lang="en-US" dirty="0"/>
              <a:t> </a:t>
            </a:r>
          </a:p>
          <a:p>
            <a:r>
              <a:rPr lang="en-US" b="1" dirty="0"/>
              <a:t>4. Heterogeneous vs. Homogeneous</a:t>
            </a:r>
            <a:endParaRPr lang="en-US" dirty="0"/>
          </a:p>
          <a:p>
            <a:r>
              <a:rPr lang="en-US" b="1" dirty="0"/>
              <a:t>Heterogeneous</a:t>
            </a:r>
            <a:r>
              <a:rPr lang="en-US" dirty="0"/>
              <a:t>: clusters are </a:t>
            </a:r>
            <a:r>
              <a:rPr lang="en-US" b="1" dirty="0"/>
              <a:t>very different</a:t>
            </a:r>
            <a:r>
              <a:rPr lang="en-US" dirty="0"/>
              <a:t> (size, shape, density) </a:t>
            </a:r>
          </a:p>
          <a:p>
            <a:r>
              <a:rPr lang="en-US" b="1" dirty="0"/>
              <a:t>Homogeneous</a:t>
            </a:r>
            <a:r>
              <a:rPr lang="en-US" dirty="0"/>
              <a:t>: clusters are </a:t>
            </a:r>
            <a:r>
              <a:rPr lang="en-US" b="1" dirty="0"/>
              <a:t>similar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Exclusive → one cluster / Non-exclusive → many</a:t>
            </a:r>
            <a:r>
              <a:rPr lang="en-US" dirty="0"/>
              <a:t> </a:t>
            </a:r>
            <a:r>
              <a:rPr lang="en-US" b="1" dirty="0"/>
              <a:t>Fuzzy → weighted membership</a:t>
            </a:r>
            <a:r>
              <a:rPr lang="en-US" dirty="0"/>
              <a:t> </a:t>
            </a:r>
            <a:r>
              <a:rPr lang="en-US" b="1" dirty="0"/>
              <a:t>Partial → some data / Complete → all data</a:t>
            </a:r>
            <a:r>
              <a:rPr lang="en-US" dirty="0"/>
              <a:t> </a:t>
            </a:r>
            <a:r>
              <a:rPr lang="en-US" b="1" dirty="0"/>
              <a:t>Heterogeneous → different clusters / Homogeneous → similar clusters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55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 Well-separated clusters</a:t>
            </a:r>
            <a:endParaRPr lang="en-US" dirty="0"/>
          </a:p>
          <a:p>
            <a:r>
              <a:rPr lang="en-US" dirty="0"/>
              <a:t>Points in one cluster are </a:t>
            </a:r>
            <a:r>
              <a:rPr lang="en-US" b="1" dirty="0"/>
              <a:t>far from other clusters</a:t>
            </a:r>
            <a:r>
              <a:rPr lang="en-US" dirty="0"/>
              <a:t> </a:t>
            </a:r>
          </a:p>
          <a:p>
            <a:r>
              <a:rPr lang="en-US" dirty="0"/>
              <a:t>Easy to clearly separate groups </a:t>
            </a:r>
          </a:p>
          <a:p>
            <a:r>
              <a:rPr lang="en-US" b="1" dirty="0"/>
              <a:t>2. Center-based clusters</a:t>
            </a:r>
            <a:endParaRPr lang="en-US" dirty="0"/>
          </a:p>
          <a:p>
            <a:r>
              <a:rPr lang="en-US" dirty="0"/>
              <a:t>Each cluster has a </a:t>
            </a:r>
            <a:r>
              <a:rPr lang="en-US" b="1" dirty="0"/>
              <a:t>center (centroid)</a:t>
            </a:r>
            <a:r>
              <a:rPr lang="en-US" dirty="0"/>
              <a:t> </a:t>
            </a:r>
          </a:p>
          <a:p>
            <a:r>
              <a:rPr lang="en-US" dirty="0"/>
              <a:t>Points belong to the cluster whose center is </a:t>
            </a:r>
            <a:r>
              <a:rPr lang="en-US" b="1" dirty="0"/>
              <a:t>closest</a:t>
            </a:r>
            <a:r>
              <a:rPr lang="en-US" dirty="0"/>
              <a:t> </a:t>
            </a:r>
          </a:p>
          <a:p>
            <a:r>
              <a:rPr lang="en-US" b="1" dirty="0"/>
              <a:t>3. Contiguous clusters</a:t>
            </a:r>
            <a:endParaRPr lang="en-US" dirty="0"/>
          </a:p>
          <a:p>
            <a:r>
              <a:rPr lang="en-US" dirty="0"/>
              <a:t>Points in a cluster are </a:t>
            </a:r>
            <a:r>
              <a:rPr lang="en-US" b="1" dirty="0"/>
              <a:t>connected or close to each other</a:t>
            </a:r>
            <a:r>
              <a:rPr lang="en-US" dirty="0"/>
              <a:t> </a:t>
            </a:r>
          </a:p>
          <a:p>
            <a:r>
              <a:rPr lang="en-US" dirty="0"/>
              <a:t>Based on </a:t>
            </a:r>
            <a:r>
              <a:rPr lang="en-US" b="1" dirty="0"/>
              <a:t>neighborhood (nearby points)</a:t>
            </a:r>
            <a:r>
              <a:rPr lang="en-US" dirty="0"/>
              <a:t> </a:t>
            </a:r>
          </a:p>
          <a:p>
            <a:r>
              <a:rPr lang="en-US" b="1" dirty="0"/>
              <a:t>4. Density-based clusters</a:t>
            </a:r>
            <a:endParaRPr lang="en-US" dirty="0"/>
          </a:p>
          <a:p>
            <a:r>
              <a:rPr lang="en-US" dirty="0"/>
              <a:t>Clusters are areas with </a:t>
            </a:r>
            <a:r>
              <a:rPr lang="en-US" b="1" dirty="0"/>
              <a:t>high data density</a:t>
            </a:r>
            <a:r>
              <a:rPr lang="en-US" dirty="0"/>
              <a:t> </a:t>
            </a:r>
          </a:p>
          <a:p>
            <a:r>
              <a:rPr lang="en-US" dirty="0"/>
              <a:t>Low-density areas separate clusters </a:t>
            </a:r>
          </a:p>
          <a:p>
            <a:r>
              <a:rPr lang="en-US" b="1" dirty="0"/>
              <a:t>5. Property (Conceptual) clusters</a:t>
            </a:r>
            <a:endParaRPr lang="en-US" dirty="0"/>
          </a:p>
          <a:p>
            <a:r>
              <a:rPr lang="en-US" dirty="0"/>
              <a:t>Objects are grouped based on </a:t>
            </a:r>
            <a:r>
              <a:rPr lang="en-US" b="1" dirty="0"/>
              <a:t>common properties or meaning</a:t>
            </a:r>
            <a:r>
              <a:rPr lang="en-US" dirty="0"/>
              <a:t> </a:t>
            </a:r>
          </a:p>
          <a:p>
            <a:r>
              <a:rPr lang="en-US" dirty="0"/>
              <a:t>Not just distance, but </a:t>
            </a:r>
            <a:r>
              <a:rPr lang="en-US" b="1" dirty="0"/>
              <a:t>shared characteristics</a:t>
            </a:r>
            <a:r>
              <a:rPr lang="en-US" dirty="0"/>
              <a:t> </a:t>
            </a:r>
          </a:p>
          <a:p>
            <a:r>
              <a:rPr lang="en-US" b="1" dirty="0"/>
              <a:t>6. Objective-function based clusters</a:t>
            </a:r>
            <a:endParaRPr lang="en-US" dirty="0"/>
          </a:p>
          <a:p>
            <a:r>
              <a:rPr lang="en-US" dirty="0"/>
              <a:t>Clusters are formed by </a:t>
            </a:r>
            <a:r>
              <a:rPr lang="en-US" b="1" dirty="0"/>
              <a:t>optimizing a function</a:t>
            </a:r>
            <a:r>
              <a:rPr lang="en-US" dirty="0"/>
              <a:t> </a:t>
            </a:r>
          </a:p>
          <a:p>
            <a:r>
              <a:rPr lang="en-US" dirty="0"/>
              <a:t>Example: minimize distance within clusters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46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Well-separated clusters</a:t>
            </a:r>
            <a:endParaRPr lang="en-US" dirty="0"/>
          </a:p>
          <a:p>
            <a:r>
              <a:rPr lang="en-US" dirty="0"/>
              <a:t>Points in one cluster are </a:t>
            </a:r>
            <a:r>
              <a:rPr lang="en-US" b="1" dirty="0"/>
              <a:t>far from other clusters</a:t>
            </a:r>
            <a:r>
              <a:rPr lang="en-US" dirty="0"/>
              <a:t> </a:t>
            </a:r>
          </a:p>
          <a:p>
            <a:r>
              <a:rPr lang="en-US" dirty="0"/>
              <a:t>Easy to clearly separate groups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07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. Center-based clusters</a:t>
            </a:r>
            <a:endParaRPr lang="en-US" dirty="0"/>
          </a:p>
          <a:p>
            <a:r>
              <a:rPr lang="en-US" dirty="0"/>
              <a:t>Each cluster has a </a:t>
            </a:r>
            <a:r>
              <a:rPr lang="en-US" b="1" dirty="0"/>
              <a:t>center (centroid)</a:t>
            </a:r>
            <a:r>
              <a:rPr lang="en-US" dirty="0"/>
              <a:t> </a:t>
            </a:r>
          </a:p>
          <a:p>
            <a:r>
              <a:rPr lang="en-US" dirty="0"/>
              <a:t>Points belong to the cluster whose center is </a:t>
            </a:r>
            <a:r>
              <a:rPr lang="en-US" b="1" dirty="0"/>
              <a:t>closest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53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form a cluster if they are </a:t>
            </a:r>
            <a:r>
              <a:rPr lang="en-US" b="1" dirty="0"/>
              <a:t>connected through “near” links</a:t>
            </a:r>
            <a:r>
              <a:rPr lang="en-US" dirty="0"/>
              <a:t>.</a:t>
            </a:r>
          </a:p>
          <a:p>
            <a:r>
              <a:rPr lang="en-US" dirty="0"/>
              <a:t>A point doesn’t need to be close to </a:t>
            </a:r>
            <a:r>
              <a:rPr lang="en-US" b="1" dirty="0"/>
              <a:t>all</a:t>
            </a:r>
            <a:r>
              <a:rPr lang="en-US" dirty="0"/>
              <a:t> points in the cluster—</a:t>
            </a:r>
            <a:br>
              <a:rPr lang="en-US" dirty="0"/>
            </a:br>
            <a:r>
              <a:rPr lang="en-US" dirty="0"/>
              <a:t>it’s enough to be close to </a:t>
            </a:r>
            <a:r>
              <a:rPr lang="en-US" b="1" dirty="0"/>
              <a:t>at least one</a:t>
            </a:r>
            <a:r>
              <a:rPr lang="en-US" dirty="0"/>
              <a:t> point in the cluster.</a:t>
            </a:r>
          </a:p>
          <a:p>
            <a:r>
              <a:rPr lang="en-US" dirty="0"/>
              <a:t>A is close to B, B is close to C ⇒ </a:t>
            </a:r>
            <a:r>
              <a:rPr lang="en-US" b="1" dirty="0"/>
              <a:t>A, B, C</a:t>
            </a:r>
            <a:r>
              <a:rPr lang="en-US" dirty="0"/>
              <a:t> become one cluster (transitive).</a:t>
            </a:r>
          </a:p>
          <a:p>
            <a:r>
              <a:rPr lang="en-US" dirty="0"/>
              <a:t>It can create </a:t>
            </a:r>
            <a:r>
              <a:rPr lang="en-US" b="1" dirty="0"/>
              <a:t>long / irregular shape</a:t>
            </a:r>
            <a:r>
              <a:rPr lang="en-US" dirty="0"/>
              <a:t> clusters, and sometimes “bridge” two groups if there is a small connection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68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Idea:</a:t>
            </a:r>
            <a:r>
              <a:rPr lang="en-US" dirty="0"/>
              <a:t> a cluster is a </a:t>
            </a:r>
            <a:r>
              <a:rPr lang="en-US" b="1" dirty="0"/>
              <a:t>crowded area</a:t>
            </a:r>
            <a:r>
              <a:rPr lang="en-US" dirty="0"/>
              <a:t> of points.</a:t>
            </a:r>
            <a:br>
              <a:rPr lang="en-US" dirty="0"/>
            </a:br>
            <a:r>
              <a:rPr lang="en-US" dirty="0"/>
              <a:t>Two clusters are separated by </a:t>
            </a:r>
            <a:r>
              <a:rPr lang="en-US" b="1" dirty="0"/>
              <a:t>empty / low-density space</a:t>
            </a:r>
            <a:r>
              <a:rPr lang="en-US" dirty="0"/>
              <a:t>.</a:t>
            </a:r>
          </a:p>
          <a:p>
            <a:r>
              <a:rPr lang="en-US" b="1" dirty="0"/>
              <a:t>How it works (intuition):</a:t>
            </a:r>
            <a:endParaRPr lang="en-US" dirty="0"/>
          </a:p>
          <a:p>
            <a:r>
              <a:rPr lang="en-US" dirty="0"/>
              <a:t>If many points are close together → they form a cluster.</a:t>
            </a:r>
          </a:p>
          <a:p>
            <a:r>
              <a:rPr lang="en-US" dirty="0"/>
              <a:t>If a point is alone or in a very sparse area → it is </a:t>
            </a:r>
            <a:r>
              <a:rPr lang="en-US" b="1" dirty="0"/>
              <a:t>noise / outlier</a:t>
            </a:r>
            <a:r>
              <a:rPr lang="en-US" dirty="0"/>
              <a:t>.</a:t>
            </a:r>
          </a:p>
          <a:p>
            <a:r>
              <a:rPr lang="en-US" dirty="0"/>
              <a:t>Can find </a:t>
            </a:r>
            <a:r>
              <a:rPr lang="en-US" b="1" dirty="0"/>
              <a:t>irregular shapes</a:t>
            </a:r>
            <a:r>
              <a:rPr lang="en-US" dirty="0"/>
              <a:t> (like “C” shape, curved clusters).</a:t>
            </a:r>
          </a:p>
          <a:p>
            <a:r>
              <a:rPr lang="en-US" dirty="0"/>
              <a:t>Handles </a:t>
            </a:r>
            <a:r>
              <a:rPr lang="en-US" b="1" dirty="0"/>
              <a:t>noise</a:t>
            </a:r>
            <a:r>
              <a:rPr lang="en-US" dirty="0"/>
              <a:t> naturally (doesn’t force every point into a cluster).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5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64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1. Proximity / Density measure</a:t>
            </a:r>
            <a:endParaRPr lang="en-US" dirty="0"/>
          </a:p>
          <a:p>
            <a:r>
              <a:rPr lang="en-US" dirty="0"/>
              <a:t>Clustering depends on how we measure </a:t>
            </a:r>
            <a:r>
              <a:rPr lang="en-US" b="1" dirty="0"/>
              <a:t>similarity or closeness</a:t>
            </a:r>
            <a:r>
              <a:rPr lang="en-US" dirty="0"/>
              <a:t> </a:t>
            </a:r>
          </a:p>
          <a:p>
            <a:r>
              <a:rPr lang="en-US" dirty="0"/>
              <a:t>This choice is very important and depends on the </a:t>
            </a:r>
            <a:r>
              <a:rPr lang="en-US" b="1" dirty="0"/>
              <a:t>type of data and use</a:t>
            </a:r>
            <a:r>
              <a:rPr lang="en-US" dirty="0"/>
              <a:t> </a:t>
            </a:r>
          </a:p>
          <a:p>
            <a:r>
              <a:rPr lang="en-US" b="1" dirty="0"/>
              <a:t>2. Data characteristics affecting clustering</a:t>
            </a:r>
            <a:endParaRPr lang="en-US" dirty="0"/>
          </a:p>
          <a:p>
            <a:r>
              <a:rPr lang="en-US" b="1" dirty="0"/>
              <a:t>Dimensionality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High dimensions → data becomes </a:t>
            </a:r>
            <a:r>
              <a:rPr lang="en-US" b="1" dirty="0"/>
              <a:t>sparse (spread out)</a:t>
            </a:r>
            <a:r>
              <a:rPr lang="en-US" dirty="0"/>
              <a:t> </a:t>
            </a:r>
          </a:p>
          <a:p>
            <a:r>
              <a:rPr lang="en-US" b="1" dirty="0"/>
              <a:t>Attribute type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 can be numeric, categorical, etc. </a:t>
            </a:r>
          </a:p>
          <a:p>
            <a:pPr lvl="1"/>
            <a:r>
              <a:rPr lang="en-US" dirty="0"/>
              <a:t>Different types need </a:t>
            </a:r>
            <a:r>
              <a:rPr lang="en-US" b="1" dirty="0"/>
              <a:t>different handling</a:t>
            </a:r>
            <a:r>
              <a:rPr lang="en-US" dirty="0"/>
              <a:t> </a:t>
            </a:r>
          </a:p>
          <a:p>
            <a:r>
              <a:rPr lang="en-US" b="1" dirty="0"/>
              <a:t>Special relationships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Some data have internal patterns (like </a:t>
            </a:r>
            <a:r>
              <a:rPr lang="en-US" b="1" dirty="0"/>
              <a:t>autocorrelation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These relationships affect clustering </a:t>
            </a:r>
          </a:p>
          <a:p>
            <a:r>
              <a:rPr lang="en-US" b="1" dirty="0"/>
              <a:t>Data distribution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How data is spread (uniform, skewed, etc.) also matters </a:t>
            </a:r>
          </a:p>
          <a:p>
            <a:r>
              <a:rPr lang="en-US" b="1" dirty="0"/>
              <a:t>3. Noise and Outliers</a:t>
            </a:r>
            <a:endParaRPr lang="en-US" dirty="0"/>
          </a:p>
          <a:p>
            <a:r>
              <a:rPr lang="en-US" dirty="0"/>
              <a:t>Some data points are </a:t>
            </a:r>
            <a:r>
              <a:rPr lang="en-US" b="1" dirty="0"/>
              <a:t>errors or very different</a:t>
            </a:r>
            <a:r>
              <a:rPr lang="en-US" dirty="0"/>
              <a:t> </a:t>
            </a:r>
          </a:p>
          <a:p>
            <a:r>
              <a:rPr lang="en-US" dirty="0"/>
              <a:t>These can </a:t>
            </a:r>
            <a:r>
              <a:rPr lang="en-US" b="1" dirty="0"/>
              <a:t>disturb clustering results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Clustering depends on </a:t>
            </a:r>
            <a:r>
              <a:rPr lang="en-US" b="1" dirty="0"/>
              <a:t>distance/similarity measure</a:t>
            </a:r>
            <a:r>
              <a:rPr lang="en-US" dirty="0"/>
              <a:t> Affected by: </a:t>
            </a:r>
            <a:r>
              <a:rPr lang="en-US" b="1" dirty="0"/>
              <a:t>Dimensions</a:t>
            </a:r>
            <a:r>
              <a:rPr lang="en-US" dirty="0"/>
              <a:t> </a:t>
            </a:r>
          </a:p>
          <a:p>
            <a:r>
              <a:rPr lang="en-US" b="1" dirty="0"/>
              <a:t>Attribute type</a:t>
            </a:r>
            <a:r>
              <a:rPr lang="en-US" dirty="0"/>
              <a:t> </a:t>
            </a:r>
          </a:p>
          <a:p>
            <a:r>
              <a:rPr lang="en-US" b="1" dirty="0"/>
              <a:t>Relationships</a:t>
            </a:r>
            <a:r>
              <a:rPr lang="en-US" dirty="0"/>
              <a:t> </a:t>
            </a:r>
          </a:p>
          <a:p>
            <a:r>
              <a:rPr lang="en-US" b="1" dirty="0"/>
              <a:t>Distribution</a:t>
            </a:r>
            <a:r>
              <a:rPr lang="en-US" dirty="0"/>
              <a:t> </a:t>
            </a:r>
          </a:p>
          <a:p>
            <a:r>
              <a:rPr lang="en-US" b="1" dirty="0"/>
              <a:t>Noise &amp; outliers → can harm clustering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2611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K-means Clustering</a:t>
            </a:r>
            <a:endParaRPr lang="en-US" dirty="0"/>
          </a:p>
          <a:p>
            <a:r>
              <a:rPr lang="en-US" dirty="0"/>
              <a:t>It is a </a:t>
            </a:r>
            <a:r>
              <a:rPr lang="en-US" b="1" dirty="0"/>
              <a:t>partitional clustering method</a:t>
            </a:r>
            <a:r>
              <a:rPr lang="en-US" dirty="0"/>
              <a:t>. </a:t>
            </a:r>
          </a:p>
          <a:p>
            <a:r>
              <a:rPr lang="en-US" dirty="0"/>
              <a:t>You must choose the number of clusters (</a:t>
            </a:r>
            <a:r>
              <a:rPr lang="en-US" b="1" dirty="0"/>
              <a:t>K</a:t>
            </a:r>
            <a:r>
              <a:rPr lang="en-US" dirty="0"/>
              <a:t>) before starting. </a:t>
            </a:r>
          </a:p>
          <a:p>
            <a:r>
              <a:rPr lang="en-US" dirty="0"/>
              <a:t>Each cluster has a </a:t>
            </a:r>
            <a:r>
              <a:rPr lang="en-US" b="1" dirty="0"/>
              <a:t>centroid (center point)</a:t>
            </a:r>
            <a:r>
              <a:rPr lang="en-US" dirty="0"/>
              <a:t>. </a:t>
            </a:r>
          </a:p>
          <a:p>
            <a:r>
              <a:rPr lang="en-US" dirty="0"/>
              <a:t>Each data point goes to the </a:t>
            </a:r>
            <a:r>
              <a:rPr lang="en-US" b="1" dirty="0"/>
              <a:t>nearest centroid</a:t>
            </a:r>
            <a:r>
              <a:rPr lang="en-US" dirty="0"/>
              <a:t>. </a:t>
            </a:r>
          </a:p>
          <a:p>
            <a:r>
              <a:rPr lang="en-US" dirty="0"/>
              <a:t>The method is </a:t>
            </a:r>
            <a:r>
              <a:rPr lang="en-US" b="1" dirty="0"/>
              <a:t>simple and easy to use</a:t>
            </a:r>
            <a:r>
              <a:rPr lang="en-US" dirty="0"/>
              <a:t>. </a:t>
            </a:r>
          </a:p>
          <a:p>
            <a:r>
              <a:rPr lang="en-US" b="1" dirty="0"/>
              <a:t>How it works (steps):</a:t>
            </a:r>
            <a:endParaRPr lang="en-US" dirty="0"/>
          </a:p>
          <a:p>
            <a:r>
              <a:rPr lang="en-US" dirty="0"/>
              <a:t>Choose </a:t>
            </a:r>
            <a:r>
              <a:rPr lang="en-US" b="1" dirty="0"/>
              <a:t>K initial centroids</a:t>
            </a:r>
            <a:r>
              <a:rPr lang="en-US" dirty="0"/>
              <a:t> </a:t>
            </a:r>
          </a:p>
          <a:p>
            <a:r>
              <a:rPr lang="en-US" dirty="0"/>
              <a:t>Repeat: </a:t>
            </a:r>
          </a:p>
          <a:p>
            <a:pPr lvl="1"/>
            <a:r>
              <a:rPr lang="en-US" dirty="0"/>
              <a:t>Assign each point to the </a:t>
            </a:r>
            <a:r>
              <a:rPr lang="en-US" b="1" dirty="0"/>
              <a:t>nearest centroid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Recalculate the </a:t>
            </a:r>
            <a:r>
              <a:rPr lang="en-US" b="1" dirty="0"/>
              <a:t>centroid of each cluster</a:t>
            </a:r>
            <a:r>
              <a:rPr lang="en-US" dirty="0"/>
              <a:t> </a:t>
            </a:r>
          </a:p>
          <a:p>
            <a:r>
              <a:rPr lang="en-US" dirty="0"/>
              <a:t>Stop when centroids </a:t>
            </a:r>
            <a:r>
              <a:rPr lang="en-US" b="1" dirty="0"/>
              <a:t>no longer change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28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Initial centroids</a:t>
            </a:r>
            <a:endParaRPr lang="en-US" dirty="0"/>
          </a:p>
          <a:p>
            <a:r>
              <a:rPr lang="en-US" dirty="0"/>
              <a:t>Starting centers are usually chosen </a:t>
            </a:r>
            <a:r>
              <a:rPr lang="en-US" b="1" dirty="0"/>
              <a:t>randomly</a:t>
            </a:r>
            <a:r>
              <a:rPr lang="en-US" dirty="0"/>
              <a:t> </a:t>
            </a:r>
          </a:p>
          <a:p>
            <a:r>
              <a:rPr lang="en-US" dirty="0"/>
              <a:t>So results may </a:t>
            </a:r>
            <a:r>
              <a:rPr lang="en-US" b="1" dirty="0"/>
              <a:t>change each time</a:t>
            </a:r>
            <a:r>
              <a:rPr lang="en-US" dirty="0"/>
              <a:t> </a:t>
            </a:r>
          </a:p>
          <a:p>
            <a:r>
              <a:rPr lang="en-US" b="1" dirty="0"/>
              <a:t>2. Centroid meaning</a:t>
            </a:r>
            <a:endParaRPr lang="en-US" dirty="0"/>
          </a:p>
          <a:p>
            <a:r>
              <a:rPr lang="en-US" dirty="0"/>
              <a:t>Centroid = </a:t>
            </a:r>
            <a:r>
              <a:rPr lang="en-US" b="1" dirty="0"/>
              <a:t>average (mean)</a:t>
            </a:r>
            <a:r>
              <a:rPr lang="en-US" dirty="0"/>
              <a:t> of all points in a cluster </a:t>
            </a:r>
          </a:p>
          <a:p>
            <a:r>
              <a:rPr lang="en-US" b="1" dirty="0"/>
              <a:t>3. Measuring closeness</a:t>
            </a:r>
            <a:endParaRPr lang="en-US" dirty="0"/>
          </a:p>
          <a:p>
            <a:r>
              <a:rPr lang="en-US" dirty="0"/>
              <a:t>Distance/similarity is measured using: </a:t>
            </a:r>
          </a:p>
          <a:p>
            <a:pPr lvl="1"/>
            <a:r>
              <a:rPr lang="en-US" b="1" dirty="0"/>
              <a:t>Euclidean distance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Cosine similarity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Correlation</a:t>
            </a:r>
            <a:r>
              <a:rPr lang="en-US" dirty="0"/>
              <a:t> </a:t>
            </a:r>
          </a:p>
          <a:p>
            <a:r>
              <a:rPr lang="en-US" b="1" dirty="0"/>
              <a:t>4. Convergence</a:t>
            </a:r>
            <a:endParaRPr lang="en-US" dirty="0"/>
          </a:p>
          <a:p>
            <a:r>
              <a:rPr lang="en-US" dirty="0"/>
              <a:t>K-means will </a:t>
            </a:r>
            <a:r>
              <a:rPr lang="en-US" b="1" dirty="0"/>
              <a:t>eventually stop (converge)</a:t>
            </a:r>
            <a:r>
              <a:rPr lang="en-US" dirty="0"/>
              <a:t> </a:t>
            </a:r>
          </a:p>
          <a:p>
            <a:r>
              <a:rPr lang="en-US" dirty="0"/>
              <a:t>Most changes happen in the </a:t>
            </a:r>
            <a:r>
              <a:rPr lang="en-US" b="1" dirty="0"/>
              <a:t>first few iterations</a:t>
            </a:r>
            <a:r>
              <a:rPr lang="en-US" dirty="0"/>
              <a:t> </a:t>
            </a:r>
          </a:p>
          <a:p>
            <a:r>
              <a:rPr lang="en-US" dirty="0"/>
              <a:t>Sometimes we stop when </a:t>
            </a:r>
            <a:r>
              <a:rPr lang="en-US" b="1" dirty="0"/>
              <a:t>very few points change clusters</a:t>
            </a:r>
            <a:r>
              <a:rPr lang="en-US" dirty="0"/>
              <a:t> </a:t>
            </a:r>
          </a:p>
          <a:p>
            <a:r>
              <a:rPr lang="en-US" b="1" dirty="0"/>
              <a:t>5. Complexity</a:t>
            </a:r>
            <a:endParaRPr lang="en-US" dirty="0"/>
          </a:p>
          <a:p>
            <a:r>
              <a:rPr lang="en-US" dirty="0"/>
              <a:t>Time = </a:t>
            </a:r>
            <a:r>
              <a:rPr lang="en-US" b="1" dirty="0"/>
              <a:t>O(n × K × I × d)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 = number of points </a:t>
            </a:r>
          </a:p>
          <a:p>
            <a:pPr lvl="1"/>
            <a:r>
              <a:rPr lang="en-US" dirty="0"/>
              <a:t>K = clusters </a:t>
            </a:r>
          </a:p>
          <a:p>
            <a:pPr lvl="1"/>
            <a:r>
              <a:rPr lang="en-US" dirty="0"/>
              <a:t>I = iterations </a:t>
            </a:r>
          </a:p>
          <a:p>
            <a:pPr lvl="1"/>
            <a:r>
              <a:rPr lang="en-US" dirty="0"/>
              <a:t>d = attributes (features)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70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Evaluating K-means (SSE)</a:t>
                </a:r>
                <a:endParaRPr lang="en-US" dirty="0"/>
              </a:p>
              <a:p>
                <a:r>
                  <a:rPr lang="en-US" dirty="0"/>
                  <a:t>The main measure is </a:t>
                </a:r>
                <a:r>
                  <a:rPr lang="en-US" b="1" dirty="0"/>
                  <a:t>SSE (Sum of Squared Error)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For each point, find distance to its </a:t>
                </a:r>
                <a:r>
                  <a:rPr lang="en-US" b="1" dirty="0"/>
                  <a:t>nearest cluster center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Then </a:t>
                </a:r>
                <a:r>
                  <a:rPr lang="en-US" b="1" dirty="0"/>
                  <a:t>square the distance and add all together</a:t>
                </a:r>
                <a:r>
                  <a:rPr lang="en-US" dirty="0"/>
                  <a:t> </a:t>
                </a:r>
              </a:p>
              <a:p>
                <a:r>
                  <a:rPr lang="en-US" b="1" dirty="0"/>
                  <a:t>Meaning of terms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/>
                  <a:t>= data point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centroid (mean) of cluster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US" b="1" dirty="0"/>
                  <a:t>Important ideas</a:t>
                </a:r>
                <a:endParaRPr lang="en-US" dirty="0"/>
              </a:p>
              <a:p>
                <a:r>
                  <a:rPr lang="en-US" dirty="0"/>
                  <a:t>Smaller SSE = </a:t>
                </a:r>
                <a:r>
                  <a:rPr lang="en-US" b="1" dirty="0"/>
                  <a:t>better clustering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If comparing two </a:t>
                </a:r>
                <a:r>
                  <a:rPr lang="en-US" dirty="0" err="1"/>
                  <a:t>clusterings</a:t>
                </a:r>
                <a:r>
                  <a:rPr lang="en-US" dirty="0"/>
                  <a:t> → choose </a:t>
                </a:r>
                <a:r>
                  <a:rPr lang="en-US" b="1" dirty="0"/>
                  <a:t>lower SSE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Increasing number of clusters (</a:t>
                </a:r>
                <a:r>
                  <a:rPr lang="en-US" b="1" dirty="0"/>
                  <a:t>K</a:t>
                </a:r>
                <a:r>
                  <a:rPr lang="en-US" dirty="0"/>
                  <a:t>) usually </a:t>
                </a:r>
                <a:r>
                  <a:rPr lang="en-US" b="1" dirty="0"/>
                  <a:t>reduces SSE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But more clusters ≠ always better (may overfit)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Evaluating K-means (SSE)</a:t>
                </a:r>
                <a:endParaRPr lang="en-US" dirty="0"/>
              </a:p>
              <a:p>
                <a:r>
                  <a:rPr lang="en-US" dirty="0"/>
                  <a:t>The main measure is </a:t>
                </a:r>
                <a:r>
                  <a:rPr lang="en-US" b="1" dirty="0"/>
                  <a:t>SSE (Sum of Squared Error)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For each point, find distance to its </a:t>
                </a:r>
                <a:r>
                  <a:rPr lang="en-US" b="1" dirty="0"/>
                  <a:t>nearest cluster center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Then </a:t>
                </a:r>
                <a:r>
                  <a:rPr lang="en-US" b="1" dirty="0"/>
                  <a:t>square the distance and add all together</a:t>
                </a:r>
                <a:r>
                  <a:rPr lang="en-US" dirty="0"/>
                  <a:t> </a:t>
                </a:r>
              </a:p>
              <a:p>
                <a:r>
                  <a:rPr lang="en-US" b="1" dirty="0"/>
                  <a:t>Meaning of terms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/>
                  <a:t>= data point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𝑚_𝑖</a:t>
                </a:r>
                <a:r>
                  <a:rPr lang="ar-AE" dirty="0"/>
                  <a:t>= </a:t>
                </a:r>
                <a:r>
                  <a:rPr lang="en-US" dirty="0"/>
                  <a:t>centroid (mean) of cluster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𝐶_𝑖</a:t>
                </a:r>
                <a:endParaRPr lang="ar-AE" dirty="0"/>
              </a:p>
              <a:p>
                <a:r>
                  <a:rPr lang="en-US" b="1" dirty="0"/>
                  <a:t>Important ideas</a:t>
                </a:r>
                <a:endParaRPr lang="en-US" dirty="0"/>
              </a:p>
              <a:p>
                <a:r>
                  <a:rPr lang="en-US" dirty="0"/>
                  <a:t>Smaller SSE = </a:t>
                </a:r>
                <a:r>
                  <a:rPr lang="en-US" b="1" dirty="0"/>
                  <a:t>better clustering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If comparing two </a:t>
                </a:r>
                <a:r>
                  <a:rPr lang="en-US" dirty="0" err="1"/>
                  <a:t>clusterings</a:t>
                </a:r>
                <a:r>
                  <a:rPr lang="en-US" dirty="0"/>
                  <a:t> → choose </a:t>
                </a:r>
                <a:r>
                  <a:rPr lang="en-US" b="1" dirty="0"/>
                  <a:t>lower SSE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Increasing number of clusters (</a:t>
                </a:r>
                <a:r>
                  <a:rPr lang="en-US" b="1" dirty="0"/>
                  <a:t>K</a:t>
                </a:r>
                <a:r>
                  <a:rPr lang="en-US" dirty="0"/>
                  <a:t>) usually </a:t>
                </a:r>
                <a:r>
                  <a:rPr lang="en-US" b="1" dirty="0"/>
                  <a:t>reduces SSE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But more clusters ≠ always better (may overfit)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6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Problem with different clusters</a:t>
            </a:r>
            <a:endParaRPr lang="en-US" dirty="0"/>
          </a:p>
          <a:p>
            <a:r>
              <a:rPr lang="en-US" dirty="0"/>
              <a:t>K-means does not work well when clusters have: </a:t>
            </a:r>
          </a:p>
          <a:p>
            <a:pPr lvl="1"/>
            <a:r>
              <a:rPr lang="en-US" b="1" dirty="0"/>
              <a:t>Different sizes</a:t>
            </a:r>
            <a:r>
              <a:rPr lang="en-US" dirty="0"/>
              <a:t> → big vs small clusters </a:t>
            </a:r>
          </a:p>
          <a:p>
            <a:pPr lvl="1"/>
            <a:r>
              <a:rPr lang="en-US" b="1" dirty="0"/>
              <a:t>Different densities</a:t>
            </a:r>
            <a:r>
              <a:rPr lang="en-US" dirty="0"/>
              <a:t> → some dense, some sparse </a:t>
            </a:r>
          </a:p>
          <a:p>
            <a:pPr lvl="1"/>
            <a:r>
              <a:rPr lang="en-US" b="1" dirty="0"/>
              <a:t>Non-globular shapes</a:t>
            </a:r>
            <a:r>
              <a:rPr lang="en-US" dirty="0"/>
              <a:t> → not round (e.g., curved shapes) </a:t>
            </a:r>
          </a:p>
          <a:p>
            <a:r>
              <a:rPr lang="en-US" b="1" dirty="0"/>
              <a:t>2. Problem with outliers</a:t>
            </a:r>
            <a:endParaRPr lang="en-US" dirty="0"/>
          </a:p>
          <a:p>
            <a:r>
              <a:rPr lang="en-US" dirty="0"/>
              <a:t>Outliers (very different points) can </a:t>
            </a:r>
            <a:r>
              <a:rPr lang="en-US" b="1" dirty="0"/>
              <a:t>pull the centroid</a:t>
            </a:r>
            <a:r>
              <a:rPr lang="en-US" dirty="0"/>
              <a:t> </a:t>
            </a:r>
          </a:p>
          <a:p>
            <a:r>
              <a:rPr lang="en-US" dirty="0"/>
              <a:t>This can give </a:t>
            </a:r>
            <a:r>
              <a:rPr lang="en-US" b="1" dirty="0"/>
              <a:t>wrong clusters.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79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Overcoming K-means Limitations</a:t>
            </a:r>
            <a:endParaRPr lang="en-US" dirty="0"/>
          </a:p>
          <a:p>
            <a:r>
              <a:rPr lang="en-US" dirty="0"/>
              <a:t>K-means may fail when clusters are complex (different shapes/sizes). </a:t>
            </a:r>
          </a:p>
          <a:p>
            <a:r>
              <a:rPr lang="en-US" dirty="0"/>
              <a:t>One idea: use </a:t>
            </a:r>
            <a:r>
              <a:rPr lang="en-US" b="1" dirty="0"/>
              <a:t>more clusters (larger K)</a:t>
            </a:r>
            <a:r>
              <a:rPr lang="en-US" dirty="0"/>
              <a:t>. </a:t>
            </a:r>
          </a:p>
          <a:p>
            <a:r>
              <a:rPr lang="en-US" b="1" dirty="0"/>
              <a:t>How it helps</a:t>
            </a:r>
            <a:endParaRPr lang="en-US" dirty="0"/>
          </a:p>
          <a:p>
            <a:r>
              <a:rPr lang="en-US" dirty="0"/>
              <a:t>Instead of finding one big cluster, K-means finds </a:t>
            </a:r>
            <a:r>
              <a:rPr lang="en-US" b="1" dirty="0"/>
              <a:t>many small parts</a:t>
            </a:r>
            <a:r>
              <a:rPr lang="en-US" dirty="0"/>
              <a:t>. </a:t>
            </a:r>
          </a:p>
          <a:p>
            <a:r>
              <a:rPr lang="en-US" dirty="0"/>
              <a:t>These small clusters can later be </a:t>
            </a:r>
            <a:r>
              <a:rPr lang="en-US" b="1" dirty="0"/>
              <a:t>combined</a:t>
            </a:r>
            <a:r>
              <a:rPr lang="en-US" dirty="0"/>
              <a:t> to form better shapes. </a:t>
            </a:r>
          </a:p>
          <a:p>
            <a:r>
              <a:rPr lang="en-US" b="1" dirty="0"/>
              <a:t>From the figure</a:t>
            </a:r>
            <a:endParaRPr lang="en-US" dirty="0"/>
          </a:p>
          <a:p>
            <a:r>
              <a:rPr lang="en-US" dirty="0"/>
              <a:t>Left: original data (natural groups) </a:t>
            </a:r>
          </a:p>
          <a:p>
            <a:r>
              <a:rPr lang="en-US" dirty="0"/>
              <a:t>Right: K-means splits into </a:t>
            </a:r>
            <a:r>
              <a:rPr lang="en-US" b="1" dirty="0"/>
              <a:t>many small clusters</a:t>
            </a:r>
            <a:r>
              <a:rPr lang="en-US" dirty="0"/>
              <a:t> </a:t>
            </a:r>
          </a:p>
          <a:p>
            <a:r>
              <a:rPr lang="en-US" dirty="0"/>
              <a:t>These small clusters approximate the real structure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56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Problem with Initial Centroids</a:t>
                </a:r>
                <a:endParaRPr lang="en-US" dirty="0"/>
              </a:p>
              <a:p>
                <a:r>
                  <a:rPr lang="en-US" dirty="0"/>
                  <a:t>K-means starts with </a:t>
                </a:r>
                <a:r>
                  <a:rPr lang="en-US" b="1" dirty="0"/>
                  <a:t>random initial points (centroids)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If there are </a:t>
                </a:r>
                <a:r>
                  <a:rPr lang="en-US" b="1" dirty="0"/>
                  <a:t>K clusters</a:t>
                </a:r>
                <a:r>
                  <a:rPr lang="en-US" dirty="0"/>
                  <a:t>, picking one correct centroid from each cluster is </a:t>
                </a:r>
                <a:r>
                  <a:rPr lang="en-US" b="1" dirty="0"/>
                  <a:t>very unlikely</a:t>
                </a:r>
                <a:r>
                  <a:rPr lang="en-US" dirty="0"/>
                  <a:t>. </a:t>
                </a:r>
              </a:p>
              <a:p>
                <a:r>
                  <a:rPr lang="en-US" b="1" dirty="0"/>
                  <a:t>Why?</a:t>
                </a:r>
                <a:endParaRPr lang="en-US" dirty="0"/>
              </a:p>
              <a:p>
                <a:r>
                  <a:rPr lang="en-US" dirty="0"/>
                  <a:t>When </a:t>
                </a:r>
                <a:r>
                  <a:rPr lang="en-US" b="1" dirty="0"/>
                  <a:t>K is large</a:t>
                </a:r>
                <a:r>
                  <a:rPr lang="en-US" dirty="0"/>
                  <a:t>, the chance becomes </a:t>
                </a:r>
                <a:r>
                  <a:rPr lang="en-US" b="1" dirty="0"/>
                  <a:t>very small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Even if clusters are equal in size, probability is still low. </a:t>
                </a:r>
              </a:p>
              <a:p>
                <a:r>
                  <a:rPr lang="en-US" b="1" dirty="0"/>
                  <a:t>Example</a:t>
                </a:r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𝐾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=10</m:t>
                    </m:r>
                  </m:oMath>
                </a14:m>
                <a:r>
                  <a:rPr lang="en-US" dirty="0"/>
                  <a:t>, probability ≈ </a:t>
                </a:r>
                <a:r>
                  <a:rPr lang="en-US" b="1" dirty="0"/>
                  <a:t>0.00036</a:t>
                </a:r>
                <a:r>
                  <a:rPr lang="en-US" dirty="0"/>
                  <a:t> → very small </a:t>
                </a:r>
              </a:p>
              <a:p>
                <a:r>
                  <a:rPr lang="en-US" b="1" dirty="0"/>
                  <a:t>Effect</a:t>
                </a:r>
                <a:endParaRPr lang="en-US" dirty="0"/>
              </a:p>
              <a:p>
                <a:r>
                  <a:rPr lang="en-US" dirty="0"/>
                  <a:t>Sometimes centroids adjust correctly → good result </a:t>
                </a:r>
              </a:p>
              <a:p>
                <a:r>
                  <a:rPr lang="en-US" dirty="0"/>
                  <a:t>Sometimes they don’t → poor clustering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Problem with Initial Centroids</a:t>
                </a:r>
                <a:endParaRPr lang="en-US" dirty="0"/>
              </a:p>
              <a:p>
                <a:r>
                  <a:rPr lang="en-US" dirty="0"/>
                  <a:t>K-means starts with </a:t>
                </a:r>
                <a:r>
                  <a:rPr lang="en-US" b="1" dirty="0"/>
                  <a:t>random initial points (centroids)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If there are </a:t>
                </a:r>
                <a:r>
                  <a:rPr lang="en-US" b="1" dirty="0"/>
                  <a:t>K clusters</a:t>
                </a:r>
                <a:r>
                  <a:rPr lang="en-US" dirty="0"/>
                  <a:t>, picking one correct centroid from each cluster is </a:t>
                </a:r>
                <a:r>
                  <a:rPr lang="en-US" b="1" dirty="0"/>
                  <a:t>very unlikely</a:t>
                </a:r>
                <a:r>
                  <a:rPr lang="en-US" dirty="0"/>
                  <a:t>. </a:t>
                </a:r>
              </a:p>
              <a:p>
                <a:r>
                  <a:rPr lang="en-US" b="1" dirty="0"/>
                  <a:t>Why?</a:t>
                </a:r>
                <a:endParaRPr lang="en-US" dirty="0"/>
              </a:p>
              <a:p>
                <a:r>
                  <a:rPr lang="en-US" dirty="0"/>
                  <a:t>When </a:t>
                </a:r>
                <a:r>
                  <a:rPr lang="en-US" b="1" dirty="0"/>
                  <a:t>K is large</a:t>
                </a:r>
                <a:r>
                  <a:rPr lang="en-US" dirty="0"/>
                  <a:t>, the chance becomes </a:t>
                </a:r>
                <a:r>
                  <a:rPr lang="en-US" b="1" dirty="0"/>
                  <a:t>very small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Even if clusters are equal in size, probability is still low. </a:t>
                </a:r>
              </a:p>
              <a:p>
                <a:r>
                  <a:rPr lang="en-US" b="1" dirty="0"/>
                  <a:t>Example</a:t>
                </a:r>
                <a:endParaRPr lang="en-US" dirty="0"/>
              </a:p>
              <a:p>
                <a:r>
                  <a:rPr lang="en-US" dirty="0"/>
                  <a:t>If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𝐾=10</a:t>
                </a:r>
                <a:r>
                  <a:rPr lang="en-US" dirty="0"/>
                  <a:t>, probability ≈ </a:t>
                </a:r>
                <a:r>
                  <a:rPr lang="en-US" b="1" dirty="0"/>
                  <a:t>0.00036</a:t>
                </a:r>
                <a:r>
                  <a:rPr lang="en-US" dirty="0"/>
                  <a:t> → very small </a:t>
                </a:r>
              </a:p>
              <a:p>
                <a:r>
                  <a:rPr lang="en-US" b="1" dirty="0"/>
                  <a:t>Effect</a:t>
                </a:r>
                <a:endParaRPr lang="en-US" dirty="0"/>
              </a:p>
              <a:p>
                <a:r>
                  <a:rPr lang="en-US" dirty="0"/>
                  <a:t>Sometimes centroids adjust correctly → good result </a:t>
                </a:r>
              </a:p>
              <a:p>
                <a:r>
                  <a:rPr lang="en-US" dirty="0"/>
                  <a:t>Sometimes they don’t → poor clustering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74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Solutions to the initial centroid problem (K-means)</a:t>
                </a:r>
              </a:p>
              <a:p>
                <a:r>
                  <a:rPr lang="en-US" b="1" dirty="0"/>
                  <a:t>Multiple runs</a:t>
                </a:r>
                <a:endParaRPr lang="en-US" dirty="0"/>
              </a:p>
              <a:p>
                <a:pPr lvl="1"/>
                <a:r>
                  <a:rPr lang="en-US" dirty="0"/>
                  <a:t>Run K-means many times with different random starts, then keep the </a:t>
                </a:r>
                <a:r>
                  <a:rPr lang="en-US" b="1" dirty="0"/>
                  <a:t>best result</a:t>
                </a:r>
                <a:r>
                  <a:rPr lang="en-US" dirty="0"/>
                  <a:t> (lowest SSE).</a:t>
                </a:r>
              </a:p>
              <a:p>
                <a:pPr lvl="1"/>
                <a:r>
                  <a:rPr lang="en-US" dirty="0"/>
                  <a:t>Helps, but not always enough when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en-US" dirty="0"/>
                  <a:t>is large.</a:t>
                </a:r>
              </a:p>
              <a:p>
                <a:r>
                  <a:rPr lang="en-US" b="1" dirty="0"/>
                  <a:t>Use sampling + hierarchical clustering to pick start centroids</a:t>
                </a:r>
                <a:endParaRPr lang="en-US" dirty="0"/>
              </a:p>
              <a:p>
                <a:pPr lvl="1"/>
                <a:r>
                  <a:rPr lang="en-US" dirty="0"/>
                  <a:t>Take a sample of data, do </a:t>
                </a:r>
                <a:r>
                  <a:rPr lang="en-US" b="1" dirty="0"/>
                  <a:t>hierarchical clustering</a:t>
                </a:r>
                <a:r>
                  <a:rPr lang="en-US" dirty="0"/>
                  <a:t>, and use the cluster centers as </a:t>
                </a:r>
                <a:r>
                  <a:rPr lang="en-US" b="1" dirty="0"/>
                  <a:t>better initial centroids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Pick more than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en-US" b="1" dirty="0"/>
                  <a:t>candidates, then choose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First select many candidate points, then choose the </a:t>
                </a:r>
                <a:r>
                  <a:rPr lang="en-US" b="1" dirty="0"/>
                  <a:t>most widely separated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en-US" dirty="0"/>
                  <a:t>points as initial centroids (spread out starts).</a:t>
                </a:r>
              </a:p>
              <a:p>
                <a:r>
                  <a:rPr lang="en-US" b="1" dirty="0"/>
                  <a:t>Post-processing (cluster then merge)</a:t>
                </a:r>
                <a:endParaRPr lang="en-US" dirty="0"/>
              </a:p>
              <a:p>
                <a:pPr lvl="1"/>
                <a:r>
                  <a:rPr lang="en-US" dirty="0"/>
                  <a:t>First create </a:t>
                </a:r>
                <a:r>
                  <a:rPr lang="en-US" b="1" dirty="0"/>
                  <a:t>more clusters than needed</a:t>
                </a:r>
                <a:r>
                  <a:rPr lang="en-US" dirty="0"/>
                  <a:t>, then </a:t>
                </a:r>
                <a:r>
                  <a:rPr lang="en-US" b="1" dirty="0"/>
                  <a:t>merge</a:t>
                </a:r>
                <a:r>
                  <a:rPr lang="en-US" dirty="0"/>
                  <a:t> similar clusters using hierarchical clustering.</a:t>
                </a:r>
              </a:p>
              <a:p>
                <a:r>
                  <a:rPr lang="en-US" b="1" dirty="0"/>
                  <a:t>Bisecting K-means</a:t>
                </a:r>
                <a:endParaRPr lang="en-US" dirty="0"/>
              </a:p>
              <a:p>
                <a:pPr lvl="1"/>
                <a:r>
                  <a:rPr lang="en-US" dirty="0"/>
                  <a:t>Start with 1 cluster, then repeatedly </a:t>
                </a:r>
                <a:r>
                  <a:rPr lang="en-US" b="1" dirty="0"/>
                  <a:t>split one cluster into two</a:t>
                </a:r>
                <a:r>
                  <a:rPr lang="en-US" dirty="0"/>
                  <a:t> until you get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en-US" dirty="0"/>
                  <a:t>clusters.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Solutions to the initial centroid problem (K-means)</a:t>
                </a:r>
              </a:p>
              <a:p>
                <a:r>
                  <a:rPr lang="en-US" b="1" dirty="0"/>
                  <a:t>Multiple runs</a:t>
                </a:r>
                <a:endParaRPr lang="en-US" dirty="0"/>
              </a:p>
              <a:p>
                <a:pPr lvl="1"/>
                <a:r>
                  <a:rPr lang="en-US" dirty="0"/>
                  <a:t>Run K-means many times with different random starts, then keep the </a:t>
                </a:r>
                <a:r>
                  <a:rPr lang="en-US" b="1" dirty="0"/>
                  <a:t>best result</a:t>
                </a:r>
                <a:r>
                  <a:rPr lang="en-US" dirty="0"/>
                  <a:t> (lowest SSE).</a:t>
                </a:r>
              </a:p>
              <a:p>
                <a:pPr lvl="1"/>
                <a:r>
                  <a:rPr lang="en-US" dirty="0"/>
                  <a:t>Helps, but not always enough when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US" dirty="0"/>
                  <a:t>is large.</a:t>
                </a:r>
              </a:p>
              <a:p>
                <a:r>
                  <a:rPr lang="en-US" b="1" dirty="0"/>
                  <a:t>Use sampling + hierarchical clustering to pick start centroids</a:t>
                </a:r>
                <a:endParaRPr lang="en-US" dirty="0"/>
              </a:p>
              <a:p>
                <a:pPr lvl="1"/>
                <a:r>
                  <a:rPr lang="en-US" dirty="0"/>
                  <a:t>Take a sample of data, do </a:t>
                </a:r>
                <a:r>
                  <a:rPr lang="en-US" b="1" dirty="0"/>
                  <a:t>hierarchical clustering</a:t>
                </a:r>
                <a:r>
                  <a:rPr lang="en-US" dirty="0"/>
                  <a:t>, and use the cluster centers as </a:t>
                </a:r>
                <a:r>
                  <a:rPr lang="en-US" b="1" dirty="0"/>
                  <a:t>better initial centroids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Pick more than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US" b="1" dirty="0"/>
                  <a:t>candidates, then choose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endParaRPr lang="en-US" dirty="0"/>
              </a:p>
              <a:p>
                <a:pPr lvl="1"/>
                <a:r>
                  <a:rPr lang="en-US" dirty="0"/>
                  <a:t>First select many candidate points, then choose the </a:t>
                </a:r>
                <a:r>
                  <a:rPr lang="en-US" b="1" dirty="0"/>
                  <a:t>most widely separated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US" dirty="0"/>
                  <a:t>points as initial centroids (spread out starts).</a:t>
                </a:r>
              </a:p>
              <a:p>
                <a:r>
                  <a:rPr lang="en-US" b="1" dirty="0"/>
                  <a:t>Post-processing (cluster then merge)</a:t>
                </a:r>
                <a:endParaRPr lang="en-US" dirty="0"/>
              </a:p>
              <a:p>
                <a:pPr lvl="1"/>
                <a:r>
                  <a:rPr lang="en-US" dirty="0"/>
                  <a:t>First create </a:t>
                </a:r>
                <a:r>
                  <a:rPr lang="en-US" b="1" dirty="0"/>
                  <a:t>more clusters than needed</a:t>
                </a:r>
                <a:r>
                  <a:rPr lang="en-US" dirty="0"/>
                  <a:t>, then </a:t>
                </a:r>
                <a:r>
                  <a:rPr lang="en-US" b="1" dirty="0"/>
                  <a:t>merge</a:t>
                </a:r>
                <a:r>
                  <a:rPr lang="en-US" dirty="0"/>
                  <a:t> similar clusters using hierarchical clustering.</a:t>
                </a:r>
              </a:p>
              <a:p>
                <a:r>
                  <a:rPr lang="en-US" b="1" dirty="0"/>
                  <a:t>Bisecting K-means</a:t>
                </a:r>
                <a:endParaRPr lang="en-US" dirty="0"/>
              </a:p>
              <a:p>
                <a:pPr lvl="1"/>
                <a:r>
                  <a:rPr lang="en-US" dirty="0"/>
                  <a:t>Start with 1 cluster, then repeatedly </a:t>
                </a:r>
                <a:r>
                  <a:rPr lang="en-US" b="1" dirty="0"/>
                  <a:t>split one cluster into two</a:t>
                </a:r>
                <a:r>
                  <a:rPr lang="en-US" dirty="0"/>
                  <a:t> until you get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US" dirty="0"/>
                  <a:t>clusters.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33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cluster becomes empty (no points assigned), we </a:t>
            </a:r>
            <a:r>
              <a:rPr lang="en-US" b="1" dirty="0"/>
              <a:t>re-initialize</a:t>
            </a:r>
            <a:r>
              <a:rPr lang="en-US" dirty="0"/>
              <a:t> its centroid using one of these strategies:</a:t>
            </a:r>
          </a:p>
          <a:p>
            <a:r>
              <a:rPr lang="en-US" b="1" dirty="0"/>
              <a:t>Pick the point that contributes most to SSE</a:t>
            </a:r>
            <a:endParaRPr lang="en-US" dirty="0"/>
          </a:p>
          <a:p>
            <a:pPr lvl="1"/>
            <a:r>
              <a:rPr lang="en-US" dirty="0"/>
              <a:t>Find the point with the </a:t>
            </a:r>
            <a:r>
              <a:rPr lang="en-US" b="1" dirty="0"/>
              <a:t>largest squared distance</a:t>
            </a:r>
            <a:r>
              <a:rPr lang="en-US" dirty="0"/>
              <a:t> from its current centroid (biggest error).</a:t>
            </a:r>
          </a:p>
          <a:p>
            <a:pPr lvl="1"/>
            <a:r>
              <a:rPr lang="en-US" dirty="0"/>
              <a:t>Make that point the </a:t>
            </a:r>
            <a:r>
              <a:rPr lang="en-US" b="1" dirty="0"/>
              <a:t>new centroid</a:t>
            </a:r>
            <a:r>
              <a:rPr lang="en-US" dirty="0"/>
              <a:t> of the empty cluster.</a:t>
            </a:r>
          </a:p>
          <a:p>
            <a:r>
              <a:rPr lang="en-US" b="1" dirty="0"/>
              <a:t>Pick a point from the cluster with the highest SSE</a:t>
            </a:r>
            <a:endParaRPr lang="en-US" dirty="0"/>
          </a:p>
          <a:p>
            <a:pPr lvl="1"/>
            <a:r>
              <a:rPr lang="en-US" dirty="0"/>
              <a:t>First find which cluster has the </a:t>
            </a:r>
            <a:r>
              <a:rPr lang="en-US" b="1" dirty="0"/>
              <a:t>largest total SSE</a:t>
            </a:r>
            <a:r>
              <a:rPr lang="en-US" dirty="0"/>
              <a:t> (worst / most spread).</a:t>
            </a:r>
          </a:p>
          <a:p>
            <a:pPr lvl="1"/>
            <a:r>
              <a:rPr lang="en-US" dirty="0"/>
              <a:t>Take a point from that cluster (often a far point) and set it as the </a:t>
            </a:r>
            <a:r>
              <a:rPr lang="en-US" b="1" dirty="0"/>
              <a:t>new centroid</a:t>
            </a:r>
            <a:r>
              <a:rPr lang="en-US" dirty="0"/>
              <a:t>.</a:t>
            </a:r>
          </a:p>
          <a:p>
            <a:r>
              <a:rPr lang="en-US" b="1" dirty="0"/>
              <a:t>If multiple clusters are empty</a:t>
            </a:r>
            <a:endParaRPr lang="en-US" dirty="0"/>
          </a:p>
          <a:p>
            <a:pPr lvl="1"/>
            <a:r>
              <a:rPr lang="en-US" dirty="0"/>
              <a:t>Repeat the same steps for each empty cluster until all have centroids.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92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Updating centers incrementally (online K-means)</a:t>
            </a:r>
          </a:p>
          <a:p>
            <a:r>
              <a:rPr lang="en-US" b="1" dirty="0"/>
              <a:t>Basic K-means:</a:t>
            </a:r>
            <a:r>
              <a:rPr lang="en-US" dirty="0"/>
              <a:t> assign </a:t>
            </a:r>
            <a:r>
              <a:rPr lang="en-US" b="1" dirty="0"/>
              <a:t>all points</a:t>
            </a:r>
            <a:r>
              <a:rPr lang="en-US" dirty="0"/>
              <a:t> to nearest centroid, then update centroids </a:t>
            </a:r>
            <a:r>
              <a:rPr lang="en-US" b="1" dirty="0"/>
              <a:t>once</a:t>
            </a:r>
            <a:r>
              <a:rPr lang="en-US" dirty="0"/>
              <a:t> at the end of the iteration.</a:t>
            </a:r>
          </a:p>
          <a:p>
            <a:r>
              <a:rPr lang="en-US" b="1" dirty="0"/>
              <a:t>Incremental version:</a:t>
            </a:r>
            <a:r>
              <a:rPr lang="en-US" dirty="0"/>
              <a:t> after </a:t>
            </a:r>
            <a:r>
              <a:rPr lang="en-US" b="1" dirty="0"/>
              <a:t>each single assignment</a:t>
            </a:r>
            <a:r>
              <a:rPr lang="en-US" dirty="0"/>
              <a:t>, update the centroid(s) immediately.</a:t>
            </a:r>
          </a:p>
          <a:p>
            <a:pPr lvl="1"/>
            <a:r>
              <a:rPr lang="en-US" dirty="0"/>
              <a:t>Each move updates </a:t>
            </a:r>
            <a:r>
              <a:rPr lang="en-US" b="1" dirty="0"/>
              <a:t>0 or 2 centroids</a:t>
            </a:r>
            <a:r>
              <a:rPr lang="en-US" dirty="0"/>
              <a:t> (old cluster centroid and new cluster centroid).</a:t>
            </a:r>
          </a:p>
          <a:p>
            <a:pPr lvl="1"/>
            <a:r>
              <a:rPr lang="en-US" b="1" dirty="0"/>
              <a:t>More expensive</a:t>
            </a:r>
            <a:r>
              <a:rPr lang="en-US" dirty="0"/>
              <a:t> (more frequent updates).</a:t>
            </a:r>
          </a:p>
          <a:p>
            <a:pPr lvl="1"/>
            <a:r>
              <a:rPr lang="en-US" b="1" dirty="0"/>
              <a:t>Order dependent</a:t>
            </a:r>
            <a:r>
              <a:rPr lang="en-US" dirty="0"/>
              <a:t> (different data order → can give different result).</a:t>
            </a:r>
          </a:p>
          <a:p>
            <a:pPr lvl="1"/>
            <a:r>
              <a:rPr lang="en-US" b="1" dirty="0"/>
              <a:t>No empty cluster</a:t>
            </a:r>
            <a:r>
              <a:rPr lang="en-US" dirty="0"/>
              <a:t> (because you update as you go).</a:t>
            </a:r>
          </a:p>
          <a:p>
            <a:pPr lvl="1"/>
            <a:r>
              <a:rPr lang="en-US" dirty="0"/>
              <a:t>You can use </a:t>
            </a:r>
            <a:r>
              <a:rPr lang="en-US" b="1" dirty="0"/>
              <a:t>weights</a:t>
            </a:r>
            <a:r>
              <a:rPr lang="en-US" dirty="0"/>
              <a:t> to control how much a new point changes the centroid.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70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Pre-processing and Post-processing</a:t>
            </a:r>
          </a:p>
          <a:p>
            <a:r>
              <a:rPr lang="en-US" b="1" dirty="0"/>
              <a:t>Pre-processing (before K-means)</a:t>
            </a:r>
            <a:endParaRPr lang="en-US" dirty="0"/>
          </a:p>
          <a:p>
            <a:r>
              <a:rPr lang="en-US" b="1" dirty="0"/>
              <a:t>Normalize the data</a:t>
            </a:r>
            <a:r>
              <a:rPr lang="en-US" dirty="0"/>
              <a:t> (so one feature doesn’t dominate).</a:t>
            </a:r>
          </a:p>
          <a:p>
            <a:r>
              <a:rPr lang="en-US" b="1" dirty="0"/>
              <a:t>Eliminate outliers</a:t>
            </a:r>
            <a:r>
              <a:rPr lang="en-US" dirty="0"/>
              <a:t> (because they can pull centroids).</a:t>
            </a:r>
          </a:p>
          <a:p>
            <a:r>
              <a:rPr lang="en-US" b="1" dirty="0"/>
              <a:t>Post-processing (after K-means)</a:t>
            </a:r>
            <a:endParaRPr lang="en-US" dirty="0"/>
          </a:p>
          <a:p>
            <a:r>
              <a:rPr lang="en-US" b="1" dirty="0"/>
              <a:t>Remove very small clusters</a:t>
            </a:r>
            <a:r>
              <a:rPr lang="en-US" dirty="0"/>
              <a:t> (they may actually be outliers).</a:t>
            </a:r>
          </a:p>
          <a:p>
            <a:r>
              <a:rPr lang="en-US" b="1" dirty="0"/>
              <a:t>Split “loose” clusters</a:t>
            </a:r>
            <a:r>
              <a:rPr lang="en-US" dirty="0"/>
              <a:t> (clusters with relatively high SSE).</a:t>
            </a:r>
          </a:p>
          <a:p>
            <a:r>
              <a:rPr lang="en-US" b="1" dirty="0"/>
              <a:t>Merge “close” clusters</a:t>
            </a:r>
            <a:r>
              <a:rPr lang="en-US" dirty="0"/>
              <a:t> (clusters that are near each other and have low SSE).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95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Bisecting K-means</a:t>
            </a:r>
            <a:endParaRPr lang="en-US" dirty="0"/>
          </a:p>
          <a:p>
            <a:r>
              <a:rPr lang="en-US" dirty="0"/>
              <a:t>It is a </a:t>
            </a:r>
            <a:r>
              <a:rPr lang="en-US" b="1" dirty="0"/>
              <a:t>variation of K-means</a:t>
            </a:r>
            <a:r>
              <a:rPr lang="en-US" dirty="0"/>
              <a:t> </a:t>
            </a:r>
          </a:p>
          <a:p>
            <a:r>
              <a:rPr lang="en-US" dirty="0"/>
              <a:t>Can create both </a:t>
            </a:r>
            <a:r>
              <a:rPr lang="en-US" b="1" dirty="0"/>
              <a:t>partitional and hierarchical clusters</a:t>
            </a:r>
            <a:r>
              <a:rPr lang="en-US" dirty="0"/>
              <a:t> </a:t>
            </a:r>
          </a:p>
          <a:p>
            <a:r>
              <a:rPr lang="en-US" b="1" dirty="0"/>
              <a:t>How it works (steps):</a:t>
            </a:r>
            <a:endParaRPr lang="en-US" dirty="0"/>
          </a:p>
          <a:p>
            <a:r>
              <a:rPr lang="en-US" dirty="0"/>
              <a:t>Start with </a:t>
            </a:r>
            <a:r>
              <a:rPr lang="en-US" b="1" dirty="0"/>
              <a:t>all data in one cluster</a:t>
            </a:r>
            <a:r>
              <a:rPr lang="en-US" dirty="0"/>
              <a:t> </a:t>
            </a:r>
          </a:p>
          <a:p>
            <a:r>
              <a:rPr lang="en-US" dirty="0"/>
              <a:t>Repeat: </a:t>
            </a:r>
          </a:p>
          <a:p>
            <a:pPr lvl="1"/>
            <a:r>
              <a:rPr lang="en-US" dirty="0"/>
              <a:t>Pick one cluster </a:t>
            </a:r>
          </a:p>
          <a:p>
            <a:pPr lvl="1"/>
            <a:r>
              <a:rPr lang="en-US" dirty="0"/>
              <a:t>Split it into </a:t>
            </a:r>
            <a:r>
              <a:rPr lang="en-US" b="1" dirty="0"/>
              <a:t>2 clusters using K-means (K=2)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Do this several times </a:t>
            </a:r>
          </a:p>
          <a:p>
            <a:pPr lvl="1"/>
            <a:r>
              <a:rPr lang="en-US" dirty="0"/>
              <a:t>Choose the split with the </a:t>
            </a:r>
            <a:r>
              <a:rPr lang="en-US" b="1" dirty="0"/>
              <a:t>lowest SSE (best split)</a:t>
            </a:r>
            <a:r>
              <a:rPr lang="en-US" dirty="0"/>
              <a:t> </a:t>
            </a:r>
          </a:p>
          <a:p>
            <a:r>
              <a:rPr lang="en-US" dirty="0"/>
              <a:t>Add the two new clusters </a:t>
            </a:r>
          </a:p>
          <a:p>
            <a:r>
              <a:rPr lang="en-US" dirty="0"/>
              <a:t>Continue until we get </a:t>
            </a:r>
            <a:r>
              <a:rPr lang="en-US" b="1" dirty="0"/>
              <a:t>K clusters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🔸 Summary (Easy to Remember)</a:t>
            </a:r>
          </a:p>
          <a:p>
            <a:r>
              <a:rPr lang="en-US" dirty="0"/>
              <a:t>Start with </a:t>
            </a:r>
            <a:r>
              <a:rPr lang="en-US" b="1" dirty="0"/>
              <a:t>one cluster</a:t>
            </a:r>
            <a:r>
              <a:rPr lang="en-US" dirty="0"/>
              <a:t> </a:t>
            </a:r>
          </a:p>
          <a:p>
            <a:r>
              <a:rPr lang="en-US" b="1" dirty="0"/>
              <a:t>Split into two again and again</a:t>
            </a:r>
            <a:r>
              <a:rPr lang="en-US" dirty="0"/>
              <a:t> </a:t>
            </a:r>
          </a:p>
          <a:p>
            <a:r>
              <a:rPr lang="en-US" dirty="0"/>
              <a:t>Choose </a:t>
            </a:r>
            <a:r>
              <a:rPr lang="en-US" b="1" dirty="0"/>
              <a:t>best split (low SSE)</a:t>
            </a:r>
            <a:r>
              <a:rPr lang="en-US" dirty="0"/>
              <a:t> </a:t>
            </a:r>
          </a:p>
          <a:p>
            <a:r>
              <a:rPr lang="en-US" dirty="0"/>
              <a:t>Stop when </a:t>
            </a:r>
            <a:r>
              <a:rPr lang="en-US" b="1" dirty="0"/>
              <a:t>K clusters are formed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91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C5B01B-F5D8-451F-A3D8-AB782CDF7AFA}" type="slidenum">
              <a:rPr lang="en-US" altLang="zh-CN" smtClean="0"/>
              <a:pPr/>
              <a:t>42</a:t>
            </a:fld>
            <a:endParaRPr lang="en-US" altLang="zh-CN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Variations of the K-means Method — simple</a:t>
            </a:r>
          </a:p>
          <a:p>
            <a:r>
              <a:rPr lang="en-US" dirty="0"/>
              <a:t>Most K-means variations differ in these parts:</a:t>
            </a:r>
          </a:p>
          <a:p>
            <a:r>
              <a:rPr lang="en-US" b="1" dirty="0"/>
              <a:t>How initial centroids are chosen</a:t>
            </a:r>
            <a:endParaRPr lang="en-US" dirty="0"/>
          </a:p>
          <a:p>
            <a:r>
              <a:rPr lang="en-US" b="1" dirty="0"/>
              <a:t>How distance / dissimilarity is measured</a:t>
            </a:r>
            <a:endParaRPr lang="en-US" dirty="0"/>
          </a:p>
          <a:p>
            <a:r>
              <a:rPr lang="en-US" b="1" dirty="0"/>
              <a:t>How cluster centers are updated</a:t>
            </a:r>
            <a:endParaRPr lang="en-US" dirty="0"/>
          </a:p>
          <a:p>
            <a:r>
              <a:rPr lang="en-US" b="1" dirty="0"/>
              <a:t>For categorical data: K-modes</a:t>
            </a:r>
          </a:p>
          <a:p>
            <a:r>
              <a:rPr lang="en-US" dirty="0"/>
              <a:t>K-means works well for numeric data, but for </a:t>
            </a:r>
            <a:r>
              <a:rPr lang="en-US" b="1" dirty="0"/>
              <a:t>categorical data</a:t>
            </a:r>
            <a:r>
              <a:rPr lang="en-US" dirty="0"/>
              <a:t> we use </a:t>
            </a:r>
            <a:r>
              <a:rPr lang="en-US" b="1" dirty="0"/>
              <a:t>K-modes</a:t>
            </a:r>
            <a:r>
              <a:rPr lang="en-US" dirty="0"/>
              <a:t>.</a:t>
            </a:r>
          </a:p>
          <a:p>
            <a:r>
              <a:rPr lang="en-US" dirty="0"/>
              <a:t>It uses </a:t>
            </a:r>
            <a:r>
              <a:rPr lang="en-US" b="1" dirty="0"/>
              <a:t>mode</a:t>
            </a:r>
            <a:r>
              <a:rPr lang="en-US" dirty="0"/>
              <a:t> instead of mean</a:t>
            </a:r>
            <a:br>
              <a:rPr lang="en-US" dirty="0"/>
            </a:br>
            <a:r>
              <a:rPr lang="en-US" dirty="0"/>
              <a:t>(most frequent category value in a cluster)</a:t>
            </a:r>
          </a:p>
          <a:p>
            <a:r>
              <a:rPr lang="en-US" dirty="0"/>
              <a:t>It uses a different </a:t>
            </a:r>
            <a:r>
              <a:rPr lang="en-US" b="1" dirty="0"/>
              <a:t>dissimilarity measure</a:t>
            </a:r>
            <a:r>
              <a:rPr lang="en-US" dirty="0"/>
              <a:t> for categorical values</a:t>
            </a:r>
          </a:p>
          <a:p>
            <a:r>
              <a:rPr lang="en-US" dirty="0"/>
              <a:t>It updates clusters using a </a:t>
            </a:r>
            <a:r>
              <a:rPr lang="en-US" b="1" dirty="0"/>
              <a:t>frequency-based</a:t>
            </a:r>
            <a:r>
              <a:rPr lang="en-US" dirty="0"/>
              <a:t> method</a:t>
            </a:r>
          </a:p>
          <a:p>
            <a:r>
              <a:rPr lang="en-US" b="1" dirty="0"/>
              <a:t>For mixed data: K-prototypes</a:t>
            </a:r>
          </a:p>
          <a:p>
            <a:r>
              <a:rPr lang="en-US" dirty="0"/>
              <a:t>If data has </a:t>
            </a:r>
            <a:r>
              <a:rPr lang="en-US" b="1" dirty="0"/>
              <a:t>both numeric and categorical features</a:t>
            </a:r>
            <a:r>
              <a:rPr lang="en-US" dirty="0"/>
              <a:t>, we use </a:t>
            </a:r>
            <a:r>
              <a:rPr lang="en-US" b="1" dirty="0"/>
              <a:t>K-prototypes</a:t>
            </a:r>
            <a:r>
              <a:rPr lang="en-US" dirty="0"/>
              <a:t>.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7F1F50-45D7-4570-847D-916846E299DF}" type="slidenum">
              <a:rPr lang="en-US" altLang="zh-CN" smtClean="0"/>
              <a:pPr/>
              <a:t>43</a:t>
            </a:fld>
            <a:endParaRPr lang="en-US" altLang="zh-CN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Problem of the K-means Method — simple</a:t>
            </a:r>
          </a:p>
          <a:p>
            <a:r>
              <a:rPr lang="en-US" b="1" dirty="0"/>
              <a:t>K-means is sensitive to outliers.</a:t>
            </a:r>
            <a:endParaRPr lang="en-US" dirty="0"/>
          </a:p>
          <a:p>
            <a:r>
              <a:rPr lang="en-US" dirty="0"/>
              <a:t>An object with a </a:t>
            </a:r>
            <a:r>
              <a:rPr lang="en-US" b="1" dirty="0"/>
              <a:t>very large or extreme value</a:t>
            </a:r>
            <a:r>
              <a:rPr lang="en-US" dirty="0"/>
              <a:t> can pull the </a:t>
            </a:r>
            <a:r>
              <a:rPr lang="en-US" b="1" dirty="0"/>
              <a:t>centroid (mean)</a:t>
            </a:r>
            <a:r>
              <a:rPr lang="en-US" dirty="0"/>
              <a:t> toward itself.</a:t>
            </a:r>
          </a:p>
          <a:p>
            <a:r>
              <a:rPr lang="en-US" dirty="0"/>
              <a:t>So the cluster center may become distorted.</a:t>
            </a:r>
          </a:p>
          <a:p>
            <a:r>
              <a:rPr lang="en-US" dirty="0"/>
              <a:t>Also, the </a:t>
            </a:r>
            <a:r>
              <a:rPr lang="en-US" b="1" dirty="0"/>
              <a:t>centroid is not necessarily a real data point</a:t>
            </a:r>
            <a:r>
              <a:rPr lang="en-US" dirty="0"/>
              <a:t>.</a:t>
            </a:r>
          </a:p>
          <a:p>
            <a:r>
              <a:rPr lang="en-US" b="1" dirty="0"/>
              <a:t>Solution: K-medoids</a:t>
            </a:r>
          </a:p>
          <a:p>
            <a:r>
              <a:rPr lang="en-US" dirty="0"/>
              <a:t>Instead of using the </a:t>
            </a:r>
            <a:r>
              <a:rPr lang="en-US" b="1" dirty="0"/>
              <a:t>mean</a:t>
            </a:r>
            <a:r>
              <a:rPr lang="en-US" dirty="0"/>
              <a:t> as the cluster center, use a </a:t>
            </a:r>
            <a:r>
              <a:rPr lang="en-US" b="1" dirty="0"/>
              <a:t>medoid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medoid</a:t>
            </a:r>
            <a:r>
              <a:rPr lang="en-US" dirty="0"/>
              <a:t> is the </a:t>
            </a:r>
            <a:r>
              <a:rPr lang="en-US" b="1" dirty="0"/>
              <a:t>most centrally located actual data point</a:t>
            </a:r>
            <a:r>
              <a:rPr lang="en-US" dirty="0"/>
              <a:t> in the cluster.</a:t>
            </a:r>
          </a:p>
          <a:p>
            <a:r>
              <a:rPr lang="en-US" dirty="0"/>
              <a:t>Because it uses a real point, </a:t>
            </a:r>
            <a:r>
              <a:rPr lang="en-US" b="1" dirty="0"/>
              <a:t>K-medoids is less affected by outliers</a:t>
            </a:r>
            <a:r>
              <a:rPr lang="en-US" dirty="0"/>
              <a:t> than K-means.</a:t>
            </a:r>
          </a:p>
          <a:p>
            <a:endParaRPr lang="en-US" dirty="0"/>
          </a:p>
          <a:p>
            <a:r>
              <a:rPr lang="en-US" dirty="0"/>
              <a:t>In short:</a:t>
            </a:r>
          </a:p>
          <a:p>
            <a:r>
              <a:rPr lang="en-US" dirty="0"/>
              <a:t>K-means → </a:t>
            </a:r>
            <a:r>
              <a:rPr lang="en-US" b="1" dirty="0"/>
              <a:t>affected by outliers</a:t>
            </a:r>
            <a:r>
              <a:rPr lang="en-US" dirty="0"/>
              <a:t> </a:t>
            </a:r>
          </a:p>
          <a:p>
            <a:r>
              <a:rPr lang="en-US" dirty="0"/>
              <a:t>Centroid = </a:t>
            </a:r>
            <a:r>
              <a:rPr lang="en-US" b="1" dirty="0"/>
              <a:t>average (not real point)</a:t>
            </a:r>
            <a:r>
              <a:rPr lang="en-US" dirty="0"/>
              <a:t> </a:t>
            </a:r>
          </a:p>
          <a:p>
            <a:r>
              <a:rPr lang="en-US" dirty="0"/>
              <a:t>K-medoids → use </a:t>
            </a:r>
            <a:r>
              <a:rPr lang="en-US" b="1" dirty="0"/>
              <a:t>real central point</a:t>
            </a:r>
            <a:r>
              <a:rPr lang="en-US" dirty="0"/>
              <a:t> </a:t>
            </a:r>
          </a:p>
          <a:p>
            <a:r>
              <a:rPr lang="en-US" b="1" dirty="0"/>
              <a:t>Better for noisy data</a:t>
            </a:r>
            <a:endParaRPr lang="en-US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FF72C5-0E33-4F36-9957-EF83B77A40DE}" type="slidenum">
              <a:rPr lang="en-US" altLang="zh-CN" smtClean="0"/>
              <a:pPr/>
              <a:t>44</a:t>
            </a:fld>
            <a:endParaRPr lang="en-US" altLang="zh-CN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PAM in K-medoids</a:t>
            </a:r>
          </a:p>
          <a:p>
            <a:r>
              <a:rPr lang="en-US" b="1" dirty="0"/>
              <a:t>PAM</a:t>
            </a:r>
            <a:r>
              <a:rPr lang="en-US" dirty="0"/>
              <a:t> stands for </a:t>
            </a:r>
            <a:r>
              <a:rPr lang="en-US" b="1" dirty="0"/>
              <a:t>Partitioning Around Medoids</a:t>
            </a:r>
            <a:r>
              <a:rPr lang="en-US" dirty="0"/>
              <a:t>.</a:t>
            </a:r>
          </a:p>
          <a:p>
            <a:r>
              <a:rPr lang="en-US" dirty="0"/>
              <a:t>It is a </a:t>
            </a:r>
            <a:r>
              <a:rPr lang="en-US" b="1" dirty="0"/>
              <a:t>K-medoids clustering algorithm</a:t>
            </a:r>
            <a:r>
              <a:rPr lang="en-US" dirty="0"/>
              <a:t> that finds </a:t>
            </a:r>
            <a:r>
              <a:rPr lang="en-US" b="1" dirty="0"/>
              <a:t>representative real data points</a:t>
            </a:r>
            <a:r>
              <a:rPr lang="en-US" dirty="0"/>
              <a:t> called </a:t>
            </a:r>
            <a:r>
              <a:rPr lang="en-US" b="1" dirty="0"/>
              <a:t>medoids</a:t>
            </a:r>
            <a:r>
              <a:rPr lang="en-US" dirty="0"/>
              <a:t>.</a:t>
            </a:r>
          </a:p>
          <a:p>
            <a:r>
              <a:rPr lang="en-US" b="1" dirty="0"/>
              <a:t>How PAM works</a:t>
            </a:r>
          </a:p>
          <a:p>
            <a:r>
              <a:rPr lang="en-US" dirty="0"/>
              <a:t>Start with an initial set of </a:t>
            </a:r>
            <a:r>
              <a:rPr lang="en-US" b="1" dirty="0"/>
              <a:t>medoids</a:t>
            </a:r>
            <a:r>
              <a:rPr lang="en-US" dirty="0"/>
              <a:t>.</a:t>
            </a:r>
          </a:p>
          <a:p>
            <a:r>
              <a:rPr lang="en-US" dirty="0"/>
              <a:t>Assign each data point to the </a:t>
            </a:r>
            <a:r>
              <a:rPr lang="en-US" b="1" dirty="0"/>
              <a:t>nearest medoid</a:t>
            </a:r>
            <a:r>
              <a:rPr lang="en-US" dirty="0"/>
              <a:t>.</a:t>
            </a:r>
          </a:p>
          <a:p>
            <a:r>
              <a:rPr lang="en-US" dirty="0"/>
              <a:t>Try replacing a medoid with a </a:t>
            </a:r>
            <a:r>
              <a:rPr lang="en-US" b="1" dirty="0"/>
              <a:t>non-medoid</a:t>
            </a:r>
            <a:r>
              <a:rPr lang="en-US" dirty="0"/>
              <a:t> point.</a:t>
            </a:r>
          </a:p>
          <a:p>
            <a:r>
              <a:rPr lang="en-US" dirty="0"/>
              <a:t>If the replacement </a:t>
            </a:r>
            <a:r>
              <a:rPr lang="en-US" b="1" dirty="0"/>
              <a:t>reduces total distance / cost</a:t>
            </a:r>
            <a:r>
              <a:rPr lang="en-US" dirty="0"/>
              <a:t>, keep it.</a:t>
            </a:r>
          </a:p>
          <a:p>
            <a:r>
              <a:rPr lang="en-US" dirty="0"/>
              <a:t>Repeat until no better swap is found.</a:t>
            </a:r>
          </a:p>
          <a:p>
            <a:r>
              <a:rPr lang="en-US" b="1" dirty="0"/>
              <a:t>Main point</a:t>
            </a:r>
          </a:p>
          <a:p>
            <a:r>
              <a:rPr lang="en-US" dirty="0"/>
              <a:t>PAM uses </a:t>
            </a:r>
            <a:r>
              <a:rPr lang="en-US" b="1" dirty="0"/>
              <a:t>real data points</a:t>
            </a:r>
            <a:r>
              <a:rPr lang="en-US" dirty="0"/>
              <a:t> as centers, not means.</a:t>
            </a:r>
          </a:p>
          <a:p>
            <a:r>
              <a:rPr lang="en-US" dirty="0"/>
              <a:t>So it is </a:t>
            </a:r>
            <a:r>
              <a:rPr lang="en-US" b="1" dirty="0"/>
              <a:t>more robust to outliers</a:t>
            </a:r>
            <a:r>
              <a:rPr lang="en-US" dirty="0"/>
              <a:t> than K-means.</a:t>
            </a:r>
          </a:p>
          <a:p>
            <a:r>
              <a:rPr lang="en-US" b="1" dirty="0"/>
              <a:t>Limitation</a:t>
            </a:r>
          </a:p>
          <a:p>
            <a:r>
              <a:rPr lang="en-US" dirty="0"/>
              <a:t>PAM works well for </a:t>
            </a:r>
            <a:r>
              <a:rPr lang="en-US" b="1" dirty="0"/>
              <a:t>small datasets</a:t>
            </a:r>
            <a:r>
              <a:rPr lang="en-US" dirty="0"/>
              <a:t>.</a:t>
            </a:r>
          </a:p>
          <a:p>
            <a:r>
              <a:rPr lang="en-US" dirty="0"/>
              <a:t>It is </a:t>
            </a:r>
            <a:r>
              <a:rPr lang="en-US" b="1" dirty="0"/>
              <a:t>computationally expensive</a:t>
            </a:r>
            <a:r>
              <a:rPr lang="en-US" dirty="0"/>
              <a:t> for </a:t>
            </a:r>
            <a:r>
              <a:rPr lang="en-US" b="1" dirty="0"/>
              <a:t>large datasets</a:t>
            </a:r>
            <a:r>
              <a:rPr lang="en-US" dirty="0"/>
              <a:t>.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PAM algorithm — simple steps</a:t>
                </a:r>
              </a:p>
              <a:p>
                <a:r>
                  <a:rPr lang="en-US" b="1" dirty="0"/>
                  <a:t>Input: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en-US" dirty="0"/>
                  <a:t>= number of clusters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</m:oMath>
                </a14:m>
                <a:r>
                  <a:rPr lang="en-US" dirty="0"/>
                  <a:t>= dataset with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en-US" dirty="0"/>
                  <a:t> objects</a:t>
                </a:r>
              </a:p>
              <a:p>
                <a:r>
                  <a:rPr lang="en-US" b="1" dirty="0"/>
                  <a:t>Output: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en-US" dirty="0"/>
                  <a:t>clusters</a:t>
                </a:r>
              </a:p>
              <a:p>
                <a:r>
                  <a:rPr lang="en-US" b="1" dirty="0"/>
                  <a:t>Method</a:t>
                </a:r>
              </a:p>
              <a:p>
                <a:r>
                  <a:rPr lang="en-US" b="1" dirty="0"/>
                  <a:t>Choose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en-US" b="1" dirty="0"/>
                  <a:t>objects randomly</a:t>
                </a:r>
                <a:r>
                  <a:rPr lang="en-US" dirty="0"/>
                  <a:t> from the dataset as the initial </a:t>
                </a:r>
                <a:r>
                  <a:rPr lang="en-US" b="1" dirty="0"/>
                  <a:t>medoids</a:t>
                </a:r>
                <a:r>
                  <a:rPr lang="en-US" dirty="0"/>
                  <a:t> (representative objects).</a:t>
                </a:r>
              </a:p>
              <a:p>
                <a:r>
                  <a:rPr lang="en-US" b="1" dirty="0"/>
                  <a:t>Assign</a:t>
                </a:r>
                <a:r>
                  <a:rPr lang="en-US" dirty="0"/>
                  <a:t> every other object to the cluster of the </a:t>
                </a:r>
                <a:r>
                  <a:rPr lang="en-US" b="1" dirty="0"/>
                  <a:t>nearest medoid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Pick a non-medoid object randomly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Compute the </a:t>
                </a:r>
                <a:r>
                  <a:rPr lang="en-US" b="1" dirty="0"/>
                  <a:t>swap cost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</m:t>
                    </m:r>
                  </m:oMath>
                </a14:m>
                <a:r>
                  <a:rPr lang="en-US" dirty="0"/>
                  <a:t>: what happens if we replace one current medoid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𝑂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with that non-medoid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𝑂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en-US" dirty="0"/>
                  <a:t>, the swap </a:t>
                </a:r>
                <a:r>
                  <a:rPr lang="en-US" b="1" dirty="0"/>
                  <a:t>reduces total cost</a:t>
                </a:r>
                <a:r>
                  <a:rPr lang="en-US" dirty="0"/>
                  <a:t>, so perform the swap.</a:t>
                </a:r>
              </a:p>
              <a:p>
                <a:r>
                  <a:rPr lang="en-US" dirty="0"/>
                  <a:t>Repeat the process until </a:t>
                </a:r>
                <a:r>
                  <a:rPr lang="en-US" b="1" dirty="0"/>
                  <a:t>no change</a:t>
                </a:r>
                <a:r>
                  <a:rPr lang="en-US" dirty="0"/>
                  <a:t> improves the clustering.</a:t>
                </a:r>
              </a:p>
              <a:p>
                <a:r>
                  <a:rPr lang="en-US" b="1" dirty="0"/>
                  <a:t>Main idea</a:t>
                </a:r>
              </a:p>
              <a:p>
                <a:r>
                  <a:rPr lang="en-US" dirty="0"/>
                  <a:t>PAM keeps trying to replace current medoids with better objects until the </a:t>
                </a:r>
                <a:r>
                  <a:rPr lang="en-US" b="1" dirty="0"/>
                  <a:t>total distance becomes minimum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PAM algorithm — simple steps</a:t>
                </a:r>
              </a:p>
              <a:p>
                <a:r>
                  <a:rPr lang="en-US" b="1" dirty="0"/>
                  <a:t>Input: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en-US" dirty="0"/>
                  <a:t>= number of clusters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en-US" dirty="0"/>
                  <a:t>= dataset with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</a:t>
                </a:r>
                <a:r>
                  <a:rPr lang="en-US" dirty="0"/>
                  <a:t>objects</a:t>
                </a:r>
              </a:p>
              <a:p>
                <a:r>
                  <a:rPr lang="en-US" b="1" dirty="0"/>
                  <a:t>Output: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en-US" dirty="0"/>
                  <a:t>clusters</a:t>
                </a:r>
              </a:p>
              <a:p>
                <a:r>
                  <a:rPr lang="en-US" b="1" dirty="0"/>
                  <a:t>Method</a:t>
                </a:r>
              </a:p>
              <a:p>
                <a:r>
                  <a:rPr lang="en-US" b="1" dirty="0"/>
                  <a:t>Choose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en-US" b="1" dirty="0"/>
                  <a:t>objects randomly</a:t>
                </a:r>
                <a:r>
                  <a:rPr lang="en-US" dirty="0"/>
                  <a:t> from the dataset as the initial </a:t>
                </a:r>
                <a:r>
                  <a:rPr lang="en-US" b="1" dirty="0"/>
                  <a:t>medoids</a:t>
                </a:r>
                <a:r>
                  <a:rPr lang="en-US" dirty="0"/>
                  <a:t> (representative objects).</a:t>
                </a:r>
              </a:p>
              <a:p>
                <a:r>
                  <a:rPr lang="en-US" b="1" dirty="0"/>
                  <a:t>Assign</a:t>
                </a:r>
                <a:r>
                  <a:rPr lang="en-US" dirty="0"/>
                  <a:t> every other object to the cluster of the </a:t>
                </a:r>
                <a:r>
                  <a:rPr lang="en-US" b="1" dirty="0"/>
                  <a:t>nearest medoid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Pick a non-medoid object randomly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Compute the </a:t>
                </a:r>
                <a:r>
                  <a:rPr lang="en-US" b="1" dirty="0"/>
                  <a:t>swap cost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</a:t>
                </a:r>
                <a:r>
                  <a:rPr lang="en-US" dirty="0"/>
                  <a:t>: what happens if we replace one current medoid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𝑂_𝑗</a:t>
                </a:r>
                <a:r>
                  <a:rPr lang="en-US" dirty="0"/>
                  <a:t>with that non-medoid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𝑂_𝑟𝑎𝑛𝑑𝑜𝑚</a:t>
                </a:r>
                <a:r>
                  <a:rPr lang="ar-AE" dirty="0"/>
                  <a:t>.</a:t>
                </a:r>
              </a:p>
              <a:p>
                <a:r>
                  <a:rPr lang="en-US" dirty="0"/>
                  <a:t>If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𝑆&lt;0</a:t>
                </a:r>
                <a:r>
                  <a:rPr lang="en-US" dirty="0"/>
                  <a:t>, the swap </a:t>
                </a:r>
                <a:r>
                  <a:rPr lang="en-US" b="1" dirty="0"/>
                  <a:t>reduces total cost</a:t>
                </a:r>
                <a:r>
                  <a:rPr lang="en-US" dirty="0"/>
                  <a:t>, so perform the swap.</a:t>
                </a:r>
              </a:p>
              <a:p>
                <a:r>
                  <a:rPr lang="en-US" dirty="0"/>
                  <a:t>Repeat the process until </a:t>
                </a:r>
                <a:r>
                  <a:rPr lang="en-US" b="1" dirty="0"/>
                  <a:t>no change</a:t>
                </a:r>
                <a:r>
                  <a:rPr lang="en-US" dirty="0"/>
                  <a:t> improves the clustering.</a:t>
                </a:r>
              </a:p>
              <a:p>
                <a:r>
                  <a:rPr lang="en-US" b="1" dirty="0"/>
                  <a:t>Main idea</a:t>
                </a:r>
              </a:p>
              <a:p>
                <a:r>
                  <a:rPr lang="en-US" dirty="0"/>
                  <a:t>PAM keeps trying to replace current medoids with better objects until the </a:t>
                </a:r>
                <a:r>
                  <a:rPr lang="en-US" b="1" dirty="0"/>
                  <a:t>total distance becomes minimum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077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C180ED-FA7B-4234-A1BB-0A1890037CBD}" type="slidenum">
              <a:rPr lang="en-US" altLang="zh-CN" smtClean="0"/>
              <a:pPr/>
              <a:t>46</a:t>
            </a:fld>
            <a:endParaRPr lang="en-US" altLang="zh-CN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PAM / K-medoids — short notes</a:t>
                </a:r>
              </a:p>
              <a:p>
                <a:r>
                  <a:rPr lang="en-US" b="1" dirty="0"/>
                  <a:t>Time complexity: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𝐾</m:t>
                      </m:r>
                      <m:d>
                        <m:dPr>
                          <m:endChr m:val="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𝐾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Advantages</a:t>
                </a:r>
              </a:p>
              <a:p>
                <a:r>
                  <a:rPr lang="en-US" b="1" dirty="0"/>
                  <a:t>Simple</a:t>
                </a:r>
                <a:r>
                  <a:rPr lang="en-US" dirty="0"/>
                  <a:t> to understand and implement</a:t>
                </a:r>
              </a:p>
              <a:p>
                <a:r>
                  <a:rPr lang="en-US" b="1" dirty="0"/>
                  <a:t>Converges</a:t>
                </a:r>
                <a:r>
                  <a:rPr lang="en-US" dirty="0"/>
                  <a:t> in a fixed number of steps</a:t>
                </a:r>
              </a:p>
              <a:p>
                <a:r>
                  <a:rPr lang="en-US" b="1" dirty="0"/>
                  <a:t>Less sensitive to outliers</a:t>
                </a:r>
                <a:r>
                  <a:rPr lang="en-US" dirty="0"/>
                  <a:t> than many partitioning methods</a:t>
                </a:r>
              </a:p>
              <a:p>
                <a:r>
                  <a:rPr lang="en-US" b="1" dirty="0"/>
                  <a:t>Disadvantages</a:t>
                </a:r>
              </a:p>
              <a:p>
                <a:r>
                  <a:rPr lang="en-US" b="1" dirty="0"/>
                  <a:t>Not suitable for non-spherical / arbitrary-shaped clusters</a:t>
                </a:r>
                <a:br>
                  <a:rPr lang="en-US" dirty="0"/>
                </a:br>
                <a:r>
                  <a:rPr lang="en-US" dirty="0"/>
                  <a:t>because it focuses on </a:t>
                </a:r>
                <a:r>
                  <a:rPr lang="en-US" b="1" dirty="0"/>
                  <a:t>compactness</a:t>
                </a:r>
                <a:r>
                  <a:rPr lang="en-US" dirty="0"/>
                  <a:t> (distance to medoid), not connectivity</a:t>
                </a:r>
              </a:p>
              <a:p>
                <a:r>
                  <a:rPr lang="en-US" dirty="0"/>
                  <a:t>Can give </a:t>
                </a:r>
                <a:r>
                  <a:rPr lang="en-US" b="1" dirty="0"/>
                  <a:t>different results in different runs</a:t>
                </a:r>
                <a:br>
                  <a:rPr lang="en-US" dirty="0"/>
                </a:br>
                <a:r>
                  <a:rPr lang="en-US" dirty="0"/>
                  <a:t>because the initial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en-US" dirty="0"/>
                  <a:t>medoids are chosen </a:t>
                </a:r>
                <a:r>
                  <a:rPr lang="en-US" b="1" dirty="0"/>
                  <a:t>randomly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PAM / K-medoids — short notes</a:t>
                </a:r>
              </a:p>
              <a:p>
                <a:r>
                  <a:rPr lang="en-US" b="1" dirty="0"/>
                  <a:t>Time complexity: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𝑂(𝐾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(𝑛−𝐾├ )┤^2)┤</a:t>
                </a:r>
                <a:endParaRPr lang="ar-AE" dirty="0"/>
              </a:p>
              <a:p>
                <a:r>
                  <a:rPr lang="en-US" b="1" dirty="0"/>
                  <a:t>Advantages</a:t>
                </a:r>
              </a:p>
              <a:p>
                <a:r>
                  <a:rPr lang="en-US" b="1" dirty="0"/>
                  <a:t>Simple</a:t>
                </a:r>
                <a:r>
                  <a:rPr lang="en-US" dirty="0"/>
                  <a:t> to understand and implement</a:t>
                </a:r>
              </a:p>
              <a:p>
                <a:r>
                  <a:rPr lang="en-US" b="1" dirty="0"/>
                  <a:t>Converges</a:t>
                </a:r>
                <a:r>
                  <a:rPr lang="en-US" dirty="0"/>
                  <a:t> in a fixed number of steps</a:t>
                </a:r>
              </a:p>
              <a:p>
                <a:r>
                  <a:rPr lang="en-US" b="1" dirty="0"/>
                  <a:t>Less sensitive to outliers</a:t>
                </a:r>
                <a:r>
                  <a:rPr lang="en-US" dirty="0"/>
                  <a:t> than many partitioning methods</a:t>
                </a:r>
              </a:p>
              <a:p>
                <a:r>
                  <a:rPr lang="en-US" b="1" dirty="0"/>
                  <a:t>Disadvantages</a:t>
                </a:r>
              </a:p>
              <a:p>
                <a:r>
                  <a:rPr lang="en-US" b="1" dirty="0"/>
                  <a:t>Not suitable for non-spherical / arbitrary-shaped clusters</a:t>
                </a:r>
                <a:br>
                  <a:rPr lang="en-US" dirty="0"/>
                </a:br>
                <a:r>
                  <a:rPr lang="en-US" dirty="0"/>
                  <a:t>because it focuses on </a:t>
                </a:r>
                <a:r>
                  <a:rPr lang="en-US" b="1" dirty="0"/>
                  <a:t>compactness</a:t>
                </a:r>
                <a:r>
                  <a:rPr lang="en-US" dirty="0"/>
                  <a:t> (distance to medoid), not connectivity</a:t>
                </a:r>
              </a:p>
              <a:p>
                <a:r>
                  <a:rPr lang="en-US" dirty="0"/>
                  <a:t>Can give </a:t>
                </a:r>
                <a:r>
                  <a:rPr lang="en-US" b="1" dirty="0"/>
                  <a:t>different results in different runs</a:t>
                </a:r>
                <a:br>
                  <a:rPr lang="en-US" dirty="0"/>
                </a:br>
                <a:r>
                  <a:rPr lang="en-US" dirty="0"/>
                  <a:t>because the initial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US" dirty="0"/>
                  <a:t>medoids are chosen </a:t>
                </a:r>
                <a:r>
                  <a:rPr lang="en-US" b="1" dirty="0"/>
                  <a:t>randomly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05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B57866-58DE-4C6F-8DDC-EFD07F9B7294}" type="slidenum">
              <a:rPr lang="en-US" altLang="zh-CN" smtClean="0"/>
              <a:pPr/>
              <a:t>50</a:t>
            </a:fld>
            <a:endParaRPr lang="en-US" altLang="zh-CN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Problems with PAM — simple</a:t>
            </a:r>
          </a:p>
          <a:p>
            <a:r>
              <a:rPr lang="en-US" b="1" dirty="0"/>
              <a:t>PAM is more robust than K-means</a:t>
            </a:r>
            <a:r>
              <a:rPr lang="en-US" dirty="0"/>
              <a:t> when there is </a:t>
            </a:r>
            <a:r>
              <a:rPr lang="en-US" b="1" dirty="0"/>
              <a:t>noise and outliers</a:t>
            </a:r>
            <a:br>
              <a:rPr lang="en-US" dirty="0"/>
            </a:br>
            <a:r>
              <a:rPr lang="en-US" dirty="0"/>
              <a:t>because a </a:t>
            </a:r>
            <a:r>
              <a:rPr lang="en-US" b="1" dirty="0"/>
              <a:t>medoid</a:t>
            </a:r>
            <a:r>
              <a:rPr lang="en-US" dirty="0"/>
              <a:t> is less affected by extreme values than a mean.</a:t>
            </a:r>
          </a:p>
          <a:p>
            <a:r>
              <a:rPr lang="en-US" dirty="0"/>
              <a:t>But </a:t>
            </a:r>
            <a:r>
              <a:rPr lang="en-US" b="1" dirty="0"/>
              <a:t>PAM works well only for small datasets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does </a:t>
            </a:r>
            <a:r>
              <a:rPr lang="en-US" b="1" dirty="0"/>
              <a:t>not scale well</a:t>
            </a:r>
            <a:r>
              <a:rPr lang="en-US" dirty="0"/>
              <a:t> for large datasets.</a:t>
            </a:r>
          </a:p>
          <a:p>
            <a:r>
              <a:rPr lang="en-US" dirty="0"/>
              <a:t>To handle large datasets, a </a:t>
            </a:r>
            <a:r>
              <a:rPr lang="en-US" b="1" dirty="0"/>
              <a:t>sampling-based method</a:t>
            </a:r>
            <a:r>
              <a:rPr lang="en-US" dirty="0"/>
              <a:t> is used:</a:t>
            </a:r>
          </a:p>
          <a:p>
            <a:pPr lvl="1"/>
            <a:r>
              <a:rPr lang="en-US" b="1" dirty="0"/>
              <a:t>CLARA</a:t>
            </a:r>
            <a:r>
              <a:rPr lang="en-US" dirty="0"/>
              <a:t> = </a:t>
            </a:r>
            <a:r>
              <a:rPr lang="en-US" b="1" dirty="0"/>
              <a:t>Clustering Large Applications</a:t>
            </a:r>
            <a:r>
              <a:rPr lang="en-US" dirty="0"/>
              <a:t>.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DB4BD9-92CA-43A5-ACE9-DB017C380CFB}" type="slidenum">
              <a:rPr lang="en-US" altLang="zh-CN" smtClean="0"/>
              <a:pPr/>
              <a:t>51</a:t>
            </a:fld>
            <a:endParaRPr lang="en-US" altLang="zh-CN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CLARA — simple</a:t>
            </a:r>
          </a:p>
          <a:p>
            <a:r>
              <a:rPr lang="en-US" b="1" dirty="0"/>
              <a:t>CLARA</a:t>
            </a:r>
            <a:r>
              <a:rPr lang="en-US" dirty="0"/>
              <a:t> stands for </a:t>
            </a:r>
            <a:r>
              <a:rPr lang="en-US" b="1" dirty="0"/>
              <a:t>Clustering Large Applications</a:t>
            </a:r>
            <a:r>
              <a:rPr lang="en-US" dirty="0"/>
              <a:t>.</a:t>
            </a:r>
          </a:p>
          <a:p>
            <a:r>
              <a:rPr lang="en-US" dirty="0"/>
              <a:t>It is a method designed to handle </a:t>
            </a:r>
            <a:r>
              <a:rPr lang="en-US" b="1" dirty="0"/>
              <a:t>larger datasets</a:t>
            </a:r>
            <a:r>
              <a:rPr lang="en-US" dirty="0"/>
              <a:t> than PAM.</a:t>
            </a:r>
          </a:p>
          <a:p>
            <a:r>
              <a:rPr lang="en-US" b="1" dirty="0"/>
              <a:t>How CLARA works</a:t>
            </a:r>
          </a:p>
          <a:p>
            <a:r>
              <a:rPr lang="en-US" dirty="0"/>
              <a:t>It takes </a:t>
            </a:r>
            <a:r>
              <a:rPr lang="en-US" b="1" dirty="0"/>
              <a:t>multiple samples</a:t>
            </a:r>
            <a:r>
              <a:rPr lang="en-US" dirty="0"/>
              <a:t> from the whole dataset.</a:t>
            </a:r>
          </a:p>
          <a:p>
            <a:r>
              <a:rPr lang="en-US" dirty="0"/>
              <a:t>It applies </a:t>
            </a:r>
            <a:r>
              <a:rPr lang="en-US" b="1" dirty="0"/>
              <a:t>PAM</a:t>
            </a:r>
            <a:r>
              <a:rPr lang="en-US" dirty="0"/>
              <a:t> on each sample.</a:t>
            </a:r>
          </a:p>
          <a:p>
            <a:r>
              <a:rPr lang="en-US" dirty="0"/>
              <a:t>Then it chooses the </a:t>
            </a:r>
            <a:r>
              <a:rPr lang="en-US" b="1" dirty="0"/>
              <a:t>best clustering</a:t>
            </a:r>
            <a:r>
              <a:rPr lang="en-US" dirty="0"/>
              <a:t> among those sample results.</a:t>
            </a:r>
          </a:p>
          <a:p>
            <a:r>
              <a:rPr lang="en-US" b="1" dirty="0"/>
              <a:t>Strength</a:t>
            </a:r>
          </a:p>
          <a:p>
            <a:r>
              <a:rPr lang="en-US" dirty="0"/>
              <a:t>Works better than </a:t>
            </a:r>
            <a:r>
              <a:rPr lang="en-US" b="1" dirty="0"/>
              <a:t>PAM</a:t>
            </a:r>
            <a:r>
              <a:rPr lang="en-US" dirty="0"/>
              <a:t> for </a:t>
            </a:r>
            <a:r>
              <a:rPr lang="en-US" b="1" dirty="0"/>
              <a:t>large datasets</a:t>
            </a:r>
            <a:r>
              <a:rPr lang="en-US" dirty="0"/>
              <a:t>.</a:t>
            </a:r>
          </a:p>
          <a:p>
            <a:r>
              <a:rPr lang="en-US" b="1" dirty="0"/>
              <a:t>Weakness</a:t>
            </a:r>
          </a:p>
          <a:p>
            <a:r>
              <a:rPr lang="en-US" dirty="0"/>
              <a:t>Performance depends on the </a:t>
            </a:r>
            <a:r>
              <a:rPr lang="en-US" b="1" dirty="0"/>
              <a:t>sample size</a:t>
            </a:r>
            <a:r>
              <a:rPr lang="en-US" dirty="0"/>
              <a:t>.</a:t>
            </a:r>
          </a:p>
          <a:p>
            <a:r>
              <a:rPr lang="en-US" dirty="0"/>
              <a:t>If the sample is </a:t>
            </a:r>
            <a:r>
              <a:rPr lang="en-US" b="1" dirty="0"/>
              <a:t>biased / not representative</a:t>
            </a:r>
            <a:r>
              <a:rPr lang="en-US" dirty="0"/>
              <a:t>, the final clustering may also be poor.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01C234-933A-4EA5-9CF8-1BAB7DEC6301}" type="slidenum">
              <a:rPr lang="en-US" altLang="zh-CN" smtClean="0"/>
              <a:pPr/>
              <a:t>52</a:t>
            </a:fld>
            <a:endParaRPr lang="en-US" altLang="zh-CN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46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b="1" dirty="0"/>
                  <a:t>CLARANS</a:t>
                </a:r>
                <a:r>
                  <a:rPr lang="en-US" dirty="0"/>
                  <a:t> stands for </a:t>
                </a:r>
                <a:r>
                  <a:rPr lang="en-US" b="1" dirty="0"/>
                  <a:t>Clustering Large Applications based on Randomized Search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It is a randomized version of </a:t>
                </a:r>
                <a:r>
                  <a:rPr lang="en-US" b="1" dirty="0"/>
                  <a:t>CLARA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Main idea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one random set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en-US" b="1" dirty="0"/>
                  <a:t>medoids</a:t>
                </a:r>
                <a:endParaRPr lang="en-US" dirty="0"/>
              </a:p>
              <a:p>
                <a:r>
                  <a:rPr lang="en-US" dirty="0"/>
                  <a:t>Make a </a:t>
                </a:r>
                <a:r>
                  <a:rPr lang="en-US" b="1" dirty="0"/>
                  <a:t>small random change</a:t>
                </a:r>
                <a:br>
                  <a:rPr lang="en-US" dirty="0"/>
                </a:br>
                <a:r>
                  <a:rPr lang="en-US" dirty="0"/>
                  <a:t>(for example: replace one current medoid with another point)</a:t>
                </a:r>
              </a:p>
              <a:p>
                <a:r>
                  <a:rPr lang="en-US" dirty="0"/>
                  <a:t>Check if this new set is </a:t>
                </a:r>
                <a:r>
                  <a:rPr lang="en-US" b="1" dirty="0"/>
                  <a:t>better</a:t>
                </a:r>
                <a:endParaRPr lang="en-US" dirty="0"/>
              </a:p>
              <a:p>
                <a:r>
                  <a:rPr lang="en-US" dirty="0"/>
                  <a:t>If better → move to that new set</a:t>
                </a:r>
              </a:p>
              <a:p>
                <a:r>
                  <a:rPr lang="en-US" dirty="0"/>
                  <a:t>If not better → try another random change</a:t>
                </a:r>
              </a:p>
              <a:p>
                <a:r>
                  <a:rPr lang="en-US" dirty="0"/>
                  <a:t>After some tries, if no better set is found, it assumes it reached a </a:t>
                </a:r>
                <a:r>
                  <a:rPr lang="en-US" b="1" dirty="0"/>
                  <a:t>local optimum</a:t>
                </a:r>
                <a:endParaRPr lang="en-US" dirty="0"/>
              </a:p>
              <a:p>
                <a:r>
                  <a:rPr lang="en-US" dirty="0"/>
                  <a:t>Then it </a:t>
                </a:r>
                <a:r>
                  <a:rPr lang="en-US" b="1" dirty="0"/>
                  <a:t>starts again from another random set</a:t>
                </a:r>
                <a:r>
                  <a:rPr lang="en-US" dirty="0"/>
                  <a:t> and repeats</a:t>
                </a:r>
              </a:p>
              <a:p>
                <a:r>
                  <a:rPr lang="en-US" dirty="0"/>
                  <a:t>Finally, it keeps the </a:t>
                </a:r>
                <a:r>
                  <a:rPr lang="en-US" b="1" dirty="0"/>
                  <a:t>best solution found</a:t>
                </a:r>
                <a:endParaRPr lang="en-US" dirty="0"/>
              </a:p>
              <a:p>
                <a:r>
                  <a:rPr lang="en-US" b="1" dirty="0"/>
                  <a:t>Advantage</a:t>
                </a:r>
              </a:p>
              <a:p>
                <a:r>
                  <a:rPr lang="en-US" b="1" dirty="0"/>
                  <a:t>More efficient and scalable</a:t>
                </a:r>
                <a:r>
                  <a:rPr lang="en-US" dirty="0"/>
                  <a:t> than both </a:t>
                </a:r>
                <a:r>
                  <a:rPr lang="en-US" b="1" dirty="0"/>
                  <a:t>PAM</a:t>
                </a:r>
                <a:r>
                  <a:rPr lang="en-US" dirty="0"/>
                  <a:t> and </a:t>
                </a:r>
                <a:r>
                  <a:rPr lang="en-US" b="1" dirty="0"/>
                  <a:t>CLARA</a:t>
                </a:r>
                <a:r>
                  <a:rPr lang="en-US" dirty="0"/>
                  <a:t>.</a:t>
                </a:r>
              </a:p>
              <a:p>
                <a:endParaRPr lang="zh-CN" altLang="zh-CN" dirty="0"/>
              </a:p>
            </p:txBody>
          </p:sp>
        </mc:Choice>
        <mc:Fallback xmlns="">
          <p:sp>
            <p:nvSpPr>
              <p:cNvPr id="19046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b="1" dirty="0"/>
                  <a:t>CLARANS — simple</a:t>
                </a:r>
              </a:p>
              <a:p>
                <a:r>
                  <a:rPr lang="en-US" b="1" dirty="0"/>
                  <a:t>CLARANS</a:t>
                </a:r>
                <a:r>
                  <a:rPr lang="en-US" dirty="0"/>
                  <a:t> stands for </a:t>
                </a:r>
                <a:r>
                  <a:rPr lang="en-US" b="1" dirty="0"/>
                  <a:t>Clustering Large Applications based on Randomized Search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It is a randomized version of </a:t>
                </a:r>
                <a:r>
                  <a:rPr lang="en-US" b="1" dirty="0"/>
                  <a:t>CLARA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Main idea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one random set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en-US" b="1" dirty="0"/>
                  <a:t>medoids</a:t>
                </a:r>
                <a:endParaRPr lang="en-US" dirty="0"/>
              </a:p>
              <a:p>
                <a:r>
                  <a:rPr lang="en-US" dirty="0"/>
                  <a:t>Make a </a:t>
                </a:r>
                <a:r>
                  <a:rPr lang="en-US" b="1" dirty="0"/>
                  <a:t>small random change</a:t>
                </a:r>
                <a:br>
                  <a:rPr lang="en-US" dirty="0"/>
                </a:br>
                <a:r>
                  <a:rPr lang="en-US" dirty="0"/>
                  <a:t>(for example: replace one current medoid with another point)</a:t>
                </a:r>
              </a:p>
              <a:p>
                <a:r>
                  <a:rPr lang="en-US" dirty="0"/>
                  <a:t>Check if this new set is </a:t>
                </a:r>
                <a:r>
                  <a:rPr lang="en-US" b="1" dirty="0"/>
                  <a:t>better</a:t>
                </a:r>
                <a:endParaRPr lang="en-US" dirty="0"/>
              </a:p>
              <a:p>
                <a:r>
                  <a:rPr lang="en-US" dirty="0"/>
                  <a:t>If better → move to that new set</a:t>
                </a:r>
              </a:p>
              <a:p>
                <a:r>
                  <a:rPr lang="en-US" dirty="0"/>
                  <a:t>If not better → try another random change</a:t>
                </a:r>
              </a:p>
              <a:p>
                <a:r>
                  <a:rPr lang="en-US" dirty="0"/>
                  <a:t>After some tries, if no better set is found, it assumes it reached a </a:t>
                </a:r>
                <a:r>
                  <a:rPr lang="en-US" b="1" dirty="0"/>
                  <a:t>local optimum</a:t>
                </a:r>
                <a:endParaRPr lang="en-US" dirty="0"/>
              </a:p>
              <a:p>
                <a:r>
                  <a:rPr lang="en-US" dirty="0"/>
                  <a:t>Then it </a:t>
                </a:r>
                <a:r>
                  <a:rPr lang="en-US" b="1" dirty="0"/>
                  <a:t>starts again from another random set</a:t>
                </a:r>
                <a:r>
                  <a:rPr lang="en-US" dirty="0"/>
                  <a:t> and repeats</a:t>
                </a:r>
              </a:p>
              <a:p>
                <a:r>
                  <a:rPr lang="en-US" dirty="0"/>
                  <a:t>Finally, it keeps the </a:t>
                </a:r>
                <a:r>
                  <a:rPr lang="en-US" b="1" dirty="0"/>
                  <a:t>best solution found</a:t>
                </a:r>
                <a:endParaRPr lang="en-US" dirty="0"/>
              </a:p>
              <a:p>
                <a:r>
                  <a:rPr lang="en-US" b="1" dirty="0"/>
                  <a:t>Advantage</a:t>
                </a:r>
              </a:p>
              <a:p>
                <a:r>
                  <a:rPr lang="en-US" b="1" dirty="0"/>
                  <a:t>More efficient and scalable</a:t>
                </a:r>
                <a:r>
                  <a:rPr lang="en-US" dirty="0"/>
                  <a:t> than both </a:t>
                </a:r>
                <a:r>
                  <a:rPr lang="en-US" b="1" dirty="0"/>
                  <a:t>PAM</a:t>
                </a:r>
                <a:r>
                  <a:rPr lang="en-US" dirty="0"/>
                  <a:t> and </a:t>
                </a:r>
                <a:r>
                  <a:rPr lang="en-US" b="1" dirty="0"/>
                  <a:t>CLARA</a:t>
                </a:r>
                <a:r>
                  <a:rPr lang="en-US" dirty="0"/>
                  <a:t>.</a:t>
                </a:r>
              </a:p>
              <a:p>
                <a:endParaRPr lang="zh-CN" altLang="zh-CN" dirty="0"/>
              </a:p>
            </p:txBody>
          </p:sp>
        </mc:Fallback>
      </mc:AlternateContent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Forms </a:t>
            </a:r>
            <a:r>
              <a:rPr lang="en-US" b="1" dirty="0"/>
              <a:t>nested clusters</a:t>
            </a:r>
            <a:r>
              <a:rPr lang="en-US" dirty="0"/>
              <a:t> in a </a:t>
            </a:r>
            <a:r>
              <a:rPr lang="en-US" b="1" dirty="0"/>
              <a:t>tree-like structure</a:t>
            </a:r>
            <a:endParaRPr lang="en-US" dirty="0"/>
          </a:p>
          <a:p>
            <a:r>
              <a:rPr lang="en-US" dirty="0"/>
              <a:t>Can be shown using a </a:t>
            </a:r>
            <a:r>
              <a:rPr lang="en-US" b="1" dirty="0"/>
              <a:t>dendrogram</a:t>
            </a:r>
            <a:endParaRPr lang="en-US" dirty="0"/>
          </a:p>
          <a:p>
            <a:r>
              <a:rPr lang="en-US" dirty="0"/>
              <a:t>A dendrogram records the </a:t>
            </a:r>
            <a:r>
              <a:rPr lang="en-US" b="1" dirty="0"/>
              <a:t>order of merges or splits</a:t>
            </a:r>
            <a:endParaRPr lang="en-US" dirty="0"/>
          </a:p>
          <a:p>
            <a:r>
              <a:rPr lang="en-US" dirty="0"/>
              <a:t>Useful for seeing data grouping at </a:t>
            </a:r>
            <a:r>
              <a:rPr lang="en-US" b="1" dirty="0"/>
              <a:t>different levels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666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Strengths of Hierarchical Clustering</a:t>
                </a:r>
              </a:p>
              <a:p>
                <a:r>
                  <a:rPr lang="en-US" b="1" dirty="0"/>
                  <a:t>No need to choose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en-US" b="1" dirty="0"/>
                  <a:t>first</a:t>
                </a:r>
                <a:endParaRPr lang="en-US" dirty="0"/>
              </a:p>
              <a:p>
                <a:r>
                  <a:rPr lang="en-US" dirty="0"/>
                  <a:t>You can get any number of clusters by </a:t>
                </a:r>
                <a:r>
                  <a:rPr lang="en-US" b="1" dirty="0"/>
                  <a:t>cutting the dendrogram</a:t>
                </a:r>
                <a:endParaRPr lang="en-US" dirty="0"/>
              </a:p>
              <a:p>
                <a:r>
                  <a:rPr lang="en-US" dirty="0"/>
                  <a:t>Can show </a:t>
                </a:r>
                <a:r>
                  <a:rPr lang="en-US" b="1" dirty="0"/>
                  <a:t>meaningful hierarchical relationships</a:t>
                </a:r>
                <a:endParaRPr lang="en-US" dirty="0"/>
              </a:p>
              <a:p>
                <a:r>
                  <a:rPr lang="en-US" dirty="0"/>
                  <a:t>Useful in areas like </a:t>
                </a:r>
                <a:r>
                  <a:rPr lang="en-US" b="1" dirty="0"/>
                  <a:t>biology / taxonomy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one line:</a:t>
                </a:r>
              </a:p>
              <a:p>
                <a:r>
                  <a:rPr lang="en-US" dirty="0"/>
                  <a:t>No need to choose K beforehand, flexible cluster selection, and produces meaningful hierarchical structures (like taxonomy).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Strengths of Hierarchical Clustering</a:t>
                </a:r>
              </a:p>
              <a:p>
                <a:r>
                  <a:rPr lang="en-US" b="1" dirty="0"/>
                  <a:t>No need to choose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US" b="1" dirty="0"/>
                  <a:t>first</a:t>
                </a:r>
                <a:endParaRPr lang="en-US" dirty="0"/>
              </a:p>
              <a:p>
                <a:r>
                  <a:rPr lang="en-US" dirty="0"/>
                  <a:t>You can get any number of clusters by </a:t>
                </a:r>
                <a:r>
                  <a:rPr lang="en-US" b="1" dirty="0"/>
                  <a:t>cutting the dendrogram</a:t>
                </a:r>
                <a:endParaRPr lang="en-US" dirty="0"/>
              </a:p>
              <a:p>
                <a:r>
                  <a:rPr lang="en-US" dirty="0"/>
                  <a:t>Can show </a:t>
                </a:r>
                <a:r>
                  <a:rPr lang="en-US" b="1" dirty="0"/>
                  <a:t>meaningful hierarchical relationships</a:t>
                </a:r>
                <a:endParaRPr lang="en-US" dirty="0"/>
              </a:p>
              <a:p>
                <a:r>
                  <a:rPr lang="en-US" dirty="0"/>
                  <a:t>Useful in areas like </a:t>
                </a:r>
                <a:r>
                  <a:rPr lang="en-US" b="1" dirty="0"/>
                  <a:t>biology / taxonomy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591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Two types of Hierarchical Clustering</a:t>
            </a:r>
          </a:p>
          <a:p>
            <a:r>
              <a:rPr lang="en-US" b="1" dirty="0"/>
              <a:t>Agglomerative</a:t>
            </a:r>
            <a:endParaRPr lang="en-US" dirty="0"/>
          </a:p>
          <a:p>
            <a:pPr lvl="1"/>
            <a:r>
              <a:rPr lang="en-US" dirty="0"/>
              <a:t>Start with </a:t>
            </a:r>
            <a:r>
              <a:rPr lang="en-US" b="1" dirty="0"/>
              <a:t>each point as its own cluster</a:t>
            </a:r>
            <a:endParaRPr lang="en-US" dirty="0"/>
          </a:p>
          <a:p>
            <a:pPr lvl="1"/>
            <a:r>
              <a:rPr lang="en-US" dirty="0"/>
              <a:t>Then </a:t>
            </a:r>
            <a:r>
              <a:rPr lang="en-US" b="1" dirty="0"/>
              <a:t>merge the closest clusters</a:t>
            </a:r>
            <a:r>
              <a:rPr lang="en-US" dirty="0"/>
              <a:t> step by step</a:t>
            </a:r>
          </a:p>
          <a:p>
            <a:r>
              <a:rPr lang="en-US" b="1" dirty="0"/>
              <a:t>Divisive</a:t>
            </a:r>
            <a:endParaRPr lang="en-US" dirty="0"/>
          </a:p>
          <a:p>
            <a:pPr lvl="1"/>
            <a:r>
              <a:rPr lang="en-US" dirty="0"/>
              <a:t>Start with </a:t>
            </a:r>
            <a:r>
              <a:rPr lang="en-US" b="1" dirty="0"/>
              <a:t>all points in one cluster</a:t>
            </a:r>
            <a:endParaRPr lang="en-US" dirty="0"/>
          </a:p>
          <a:p>
            <a:pPr lvl="1"/>
            <a:r>
              <a:rPr lang="en-US" dirty="0"/>
              <a:t>Then </a:t>
            </a:r>
            <a:r>
              <a:rPr lang="en-US" b="1" dirty="0"/>
              <a:t>split the cluster</a:t>
            </a:r>
            <a:r>
              <a:rPr lang="en-US" dirty="0"/>
              <a:t> step by step</a:t>
            </a:r>
          </a:p>
          <a:p>
            <a:r>
              <a:rPr lang="en-US" dirty="0"/>
              <a:t>It usually uses a </a:t>
            </a:r>
            <a:r>
              <a:rPr lang="en-US" b="1" dirty="0"/>
              <a:t>similarity / distance matrix</a:t>
            </a:r>
            <a:endParaRPr lang="en-US" dirty="0"/>
          </a:p>
          <a:p>
            <a:r>
              <a:rPr lang="en-US" dirty="0"/>
              <a:t>At each step, only </a:t>
            </a:r>
            <a:r>
              <a:rPr lang="en-US" b="1" dirty="0"/>
              <a:t>one merge or one split</a:t>
            </a:r>
            <a:r>
              <a:rPr lang="en-US" dirty="0"/>
              <a:t> happens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798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B378FF-7438-437D-9506-6C4338434D3C}" type="slidenum">
              <a:rPr lang="en-US" altLang="zh-CN" smtClean="0"/>
              <a:pPr/>
              <a:t>56</a:t>
            </a:fld>
            <a:endParaRPr lang="en-US" altLang="zh-CN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AGNES (Agglomerative Nesting) — short</a:t>
            </a:r>
          </a:p>
          <a:p>
            <a:r>
              <a:rPr lang="en-US" dirty="0"/>
              <a:t>Start with </a:t>
            </a:r>
            <a:r>
              <a:rPr lang="en-US" b="1" dirty="0"/>
              <a:t>each object as a separate cluster</a:t>
            </a:r>
            <a:endParaRPr lang="en-US" dirty="0"/>
          </a:p>
          <a:p>
            <a:r>
              <a:rPr lang="en-US" dirty="0"/>
              <a:t>Find the </a:t>
            </a:r>
            <a:r>
              <a:rPr lang="en-US" b="1" dirty="0"/>
              <a:t>closest two clusters</a:t>
            </a:r>
            <a:endParaRPr lang="en-US" dirty="0"/>
          </a:p>
          <a:p>
            <a:r>
              <a:rPr lang="en-US" b="1" dirty="0"/>
              <a:t>Merge</a:t>
            </a:r>
            <a:r>
              <a:rPr lang="en-US" dirty="0"/>
              <a:t> them</a:t>
            </a:r>
          </a:p>
          <a:p>
            <a:r>
              <a:rPr lang="en-US" dirty="0"/>
              <a:t>Repeat this process again and again</a:t>
            </a:r>
          </a:p>
          <a:p>
            <a:r>
              <a:rPr lang="en-US" dirty="0"/>
              <a:t>Finally, </a:t>
            </a:r>
            <a:r>
              <a:rPr lang="en-US" b="1" dirty="0"/>
              <a:t>all objects become one cluster</a:t>
            </a:r>
            <a:br>
              <a:rPr lang="en-US" dirty="0"/>
            </a:br>
            <a:r>
              <a:rPr lang="en-US" dirty="0"/>
              <a:t>(or stop earlier if the required number of clusters is reached)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185C58-4480-47B1-8ADF-57A297D9DFBC}" type="slidenum">
              <a:rPr lang="en-US" altLang="zh-CN" smtClean="0"/>
              <a:pPr/>
              <a:t>57</a:t>
            </a:fld>
            <a:endParaRPr lang="en-US" altLang="zh-CN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DIANA (Divisive Analysis) — short</a:t>
            </a:r>
          </a:p>
          <a:p>
            <a:r>
              <a:rPr lang="en-US" dirty="0"/>
              <a:t>Start with </a:t>
            </a:r>
            <a:r>
              <a:rPr lang="en-US" b="1" dirty="0"/>
              <a:t>all objects in one cluster</a:t>
            </a:r>
            <a:endParaRPr lang="en-US" dirty="0"/>
          </a:p>
          <a:p>
            <a:r>
              <a:rPr lang="en-US" dirty="0"/>
              <a:t>Find the cluster to </a:t>
            </a:r>
            <a:r>
              <a:rPr lang="en-US" b="1" dirty="0"/>
              <a:t>split</a:t>
            </a:r>
            <a:endParaRPr lang="en-US" dirty="0"/>
          </a:p>
          <a:p>
            <a:r>
              <a:rPr lang="en-US" dirty="0"/>
              <a:t>Divide it into </a:t>
            </a:r>
            <a:r>
              <a:rPr lang="en-US" b="1" dirty="0"/>
              <a:t>smaller clusters</a:t>
            </a:r>
            <a:endParaRPr lang="en-US" dirty="0"/>
          </a:p>
          <a:p>
            <a:r>
              <a:rPr lang="en-US" dirty="0"/>
              <a:t>Repeat the splitting process</a:t>
            </a:r>
          </a:p>
          <a:p>
            <a:r>
              <a:rPr lang="en-US" dirty="0"/>
              <a:t>Finally, </a:t>
            </a:r>
            <a:r>
              <a:rPr lang="en-US" b="1" dirty="0"/>
              <a:t>each object becomes its own cluster</a:t>
            </a:r>
            <a:br>
              <a:rPr lang="en-US" dirty="0"/>
            </a:br>
            <a:r>
              <a:rPr lang="en-US" dirty="0"/>
              <a:t>(or stop earlier when the required number of clusters is reached)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CBC0F2-7AFE-4804-AE3B-AD49D79A5B00}" type="slidenum">
              <a:rPr lang="en-US" altLang="zh-CN" smtClean="0"/>
              <a:pPr/>
              <a:t>58</a:t>
            </a:fld>
            <a:endParaRPr lang="en-US" altLang="zh-CN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971926" y="8831421"/>
            <a:ext cx="3038475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68" tIns="46585" rIns="93168" bIns="46585" anchor="b"/>
          <a:lstStyle/>
          <a:p>
            <a:pPr algn="r" defTabSz="932044"/>
            <a:fld id="{1170C8B0-E946-4EF8-AF41-B23997E14643}" type="slidenum">
              <a:rPr lang="en-US" altLang="zh-CN" sz="1200">
                <a:latin typeface="Times New Roman" pitchFamily="18" charset="0"/>
              </a:rPr>
              <a:pPr algn="r" defTabSz="932044"/>
              <a:t>59</a:t>
            </a:fld>
            <a:endParaRPr lang="en-US" altLang="zh-CN" sz="1200" dirty="0">
              <a:latin typeface="Times New Roman" pitchFamily="18" charset="0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EBDE655-28BD-AB56-8B33-034413D0C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Distance between Clusters </a:t>
            </a:r>
          </a:p>
          <a:p>
            <a:r>
              <a:rPr lang="en-US" b="1" dirty="0"/>
              <a:t>Single link:</a:t>
            </a:r>
            <a:r>
              <a:rPr lang="en-US" dirty="0"/>
              <a:t> distance between the </a:t>
            </a:r>
            <a:r>
              <a:rPr lang="en-US" b="1" dirty="0"/>
              <a:t>closest two points</a:t>
            </a:r>
            <a:r>
              <a:rPr lang="en-US" dirty="0"/>
              <a:t> from two clusters</a:t>
            </a:r>
          </a:p>
          <a:p>
            <a:r>
              <a:rPr lang="en-US" b="1" dirty="0"/>
              <a:t>Complete link:</a:t>
            </a:r>
            <a:r>
              <a:rPr lang="en-US" dirty="0"/>
              <a:t> distance between the </a:t>
            </a:r>
            <a:r>
              <a:rPr lang="en-US" b="1" dirty="0"/>
              <a:t>farthest two points</a:t>
            </a:r>
            <a:r>
              <a:rPr lang="en-US" dirty="0"/>
              <a:t> from two clusters</a:t>
            </a:r>
          </a:p>
          <a:p>
            <a:r>
              <a:rPr lang="en-US" b="1" dirty="0"/>
              <a:t>Average link:</a:t>
            </a:r>
            <a:r>
              <a:rPr lang="en-US" dirty="0"/>
              <a:t> </a:t>
            </a:r>
            <a:r>
              <a:rPr lang="en-US" b="1" dirty="0"/>
              <a:t>average distance</a:t>
            </a:r>
            <a:r>
              <a:rPr lang="en-US" dirty="0"/>
              <a:t> between points of two clusters</a:t>
            </a:r>
          </a:p>
          <a:p>
            <a:r>
              <a:rPr lang="en-US" b="1" dirty="0"/>
              <a:t>Centroid method:</a:t>
            </a:r>
            <a:r>
              <a:rPr lang="en-US" dirty="0"/>
              <a:t> distance between the </a:t>
            </a:r>
            <a:r>
              <a:rPr lang="en-US" b="1" dirty="0"/>
              <a:t>centers (centroids)</a:t>
            </a:r>
            <a:r>
              <a:rPr lang="en-US" dirty="0"/>
              <a:t> of two clusters</a:t>
            </a:r>
          </a:p>
          <a:p>
            <a:r>
              <a:rPr lang="en-US" b="1" dirty="0"/>
              <a:t>Medoid method:</a:t>
            </a:r>
            <a:r>
              <a:rPr lang="en-US" dirty="0"/>
              <a:t> distance between the </a:t>
            </a:r>
            <a:r>
              <a:rPr lang="en-US" b="1" dirty="0"/>
              <a:t>medoids</a:t>
            </a:r>
            <a:r>
              <a:rPr lang="en-US" dirty="0"/>
              <a:t> of two clusters</a:t>
            </a:r>
          </a:p>
          <a:p>
            <a:r>
              <a:rPr lang="en-US" b="1" dirty="0"/>
              <a:t>Medoid</a:t>
            </a:r>
            <a:r>
              <a:rPr lang="en-US" dirty="0"/>
              <a:t> = a real point that is most centrally located in a cluster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 txBox="1">
            <a:spLocks noGrp="1" noChangeArrowheads="1"/>
          </p:cNvSpPr>
          <p:nvPr/>
        </p:nvSpPr>
        <p:spPr bwMode="auto">
          <a:xfrm>
            <a:off x="3971926" y="8831421"/>
            <a:ext cx="3038475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68" tIns="46585" rIns="93168" bIns="46585" anchor="b"/>
          <a:lstStyle/>
          <a:p>
            <a:pPr algn="r" defTabSz="932044"/>
            <a:fld id="{ADF8A524-1A0F-4209-B65B-8CF55E5B13BB}" type="slidenum">
              <a:rPr lang="en-US" altLang="zh-CN" sz="1200">
                <a:latin typeface="Times New Roman" pitchFamily="18" charset="0"/>
              </a:rPr>
              <a:pPr algn="r" defTabSz="932044"/>
              <a:t>60</a:t>
            </a:fld>
            <a:endParaRPr lang="en-US" altLang="zh-CN" sz="1200" dirty="0">
              <a:latin typeface="Times New Roman" pitchFamily="18" charset="0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341F633-43CC-164F-8130-CDCD8DE8F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Centroid, Radius, and Diameter — simple</a:t>
            </a:r>
          </a:p>
          <a:p>
            <a:r>
              <a:rPr lang="en-US" b="1" dirty="0"/>
              <a:t>Centroid:</a:t>
            </a:r>
            <a:r>
              <a:rPr lang="en-US" dirty="0"/>
              <a:t> the </a:t>
            </a:r>
            <a:r>
              <a:rPr lang="en-US" b="1" dirty="0"/>
              <a:t>center / middle point</a:t>
            </a:r>
            <a:r>
              <a:rPr lang="en-US" dirty="0"/>
              <a:t> of a cluster</a:t>
            </a:r>
            <a:br>
              <a:rPr lang="en-US" dirty="0"/>
            </a:br>
            <a:r>
              <a:rPr lang="en-US" dirty="0"/>
              <a:t>(usually the average of all points)</a:t>
            </a:r>
          </a:p>
          <a:p>
            <a:r>
              <a:rPr lang="en-US" b="1" dirty="0"/>
              <a:t>Radius:</a:t>
            </a:r>
            <a:r>
              <a:rPr lang="en-US" dirty="0"/>
              <a:t> shows how far, on average, the cluster points are from the </a:t>
            </a:r>
            <a:r>
              <a:rPr lang="en-US" b="1" dirty="0"/>
              <a:t>centroid</a:t>
            </a:r>
            <a:endParaRPr lang="en-US" dirty="0"/>
          </a:p>
          <a:p>
            <a:r>
              <a:rPr lang="en-US" b="1" dirty="0"/>
              <a:t>Diameter:</a:t>
            </a:r>
            <a:r>
              <a:rPr lang="en-US" dirty="0"/>
              <a:t> shows how spread out the cluster is by measuring the average distance between </a:t>
            </a:r>
            <a:r>
              <a:rPr lang="en-US" b="1" dirty="0"/>
              <a:t>all pairs of points</a:t>
            </a:r>
            <a:endParaRPr lang="en-US" dirty="0"/>
          </a:p>
          <a:p>
            <a:r>
              <a:rPr lang="en-US" b="1" dirty="0"/>
              <a:t>In short</a:t>
            </a:r>
          </a:p>
          <a:p>
            <a:r>
              <a:rPr lang="en-US" b="1" dirty="0"/>
              <a:t>Centroid</a:t>
            </a:r>
            <a:r>
              <a:rPr lang="en-US" dirty="0"/>
              <a:t> = cluster center</a:t>
            </a:r>
          </a:p>
          <a:p>
            <a:r>
              <a:rPr lang="en-US" b="1" dirty="0"/>
              <a:t>Radius</a:t>
            </a:r>
            <a:r>
              <a:rPr lang="en-US" dirty="0"/>
              <a:t> = spread from center</a:t>
            </a:r>
          </a:p>
          <a:p>
            <a:r>
              <a:rPr lang="en-US" b="1" dirty="0"/>
              <a:t>Diameter</a:t>
            </a:r>
            <a:r>
              <a:rPr lang="en-US" dirty="0"/>
              <a:t> = overall spread inside the cluster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Agglomerative Clustering — simple steps</a:t>
            </a:r>
          </a:p>
          <a:p>
            <a:r>
              <a:rPr lang="en-US" dirty="0"/>
              <a:t>Start with </a:t>
            </a:r>
            <a:r>
              <a:rPr lang="en-US" b="1" dirty="0"/>
              <a:t>each data point as a separate cluster</a:t>
            </a:r>
            <a:endParaRPr lang="en-US" dirty="0"/>
          </a:p>
          <a:p>
            <a:r>
              <a:rPr lang="en-US" dirty="0"/>
              <a:t>Compute the </a:t>
            </a:r>
            <a:r>
              <a:rPr lang="en-US" b="1" dirty="0"/>
              <a:t>proximity (distance) matrix</a:t>
            </a:r>
            <a:endParaRPr lang="en-US" dirty="0"/>
          </a:p>
          <a:p>
            <a:r>
              <a:rPr lang="en-US" dirty="0"/>
              <a:t>Find the </a:t>
            </a:r>
            <a:r>
              <a:rPr lang="en-US" b="1" dirty="0"/>
              <a:t>two closest clusters</a:t>
            </a:r>
            <a:endParaRPr lang="en-US" dirty="0"/>
          </a:p>
          <a:p>
            <a:r>
              <a:rPr lang="en-US" b="1" dirty="0"/>
              <a:t>Merge</a:t>
            </a:r>
            <a:r>
              <a:rPr lang="en-US" dirty="0"/>
              <a:t> them</a:t>
            </a:r>
          </a:p>
          <a:p>
            <a:r>
              <a:rPr lang="en-US" b="1" dirty="0"/>
              <a:t>Update</a:t>
            </a:r>
            <a:r>
              <a:rPr lang="en-US" dirty="0"/>
              <a:t> the proximity matrix</a:t>
            </a:r>
          </a:p>
          <a:p>
            <a:r>
              <a:rPr lang="en-US" dirty="0"/>
              <a:t>Repeat until </a:t>
            </a:r>
            <a:r>
              <a:rPr lang="en-US" b="1" dirty="0"/>
              <a:t>one cluster</a:t>
            </a:r>
            <a:r>
              <a:rPr lang="en-US" dirty="0"/>
              <a:t> remains</a:t>
            </a:r>
            <a:br>
              <a:rPr lang="en-US" dirty="0"/>
            </a:br>
            <a:r>
              <a:rPr lang="en-US" dirty="0"/>
              <a:t>(or stop earlier when the required number of clusters is reached)</a:t>
            </a:r>
          </a:p>
          <a:p>
            <a:r>
              <a:rPr lang="en-US" b="1" dirty="0"/>
              <a:t>Key idea</a:t>
            </a:r>
          </a:p>
          <a:p>
            <a:r>
              <a:rPr lang="en-US" dirty="0"/>
              <a:t>The main task is how to measure the </a:t>
            </a:r>
            <a:r>
              <a:rPr lang="en-US" b="1" dirty="0"/>
              <a:t>distance between two clusters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039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smallest distance</a:t>
            </a:r>
            <a:r>
              <a:rPr lang="en-US" dirty="0"/>
              <a:t> between any </a:t>
            </a:r>
            <a:r>
              <a:rPr lang="en-US" b="1" dirty="0"/>
              <a:t>one point in the first cluster</a:t>
            </a:r>
            <a:r>
              <a:rPr lang="en-US" dirty="0"/>
              <a:t> and </a:t>
            </a:r>
            <a:r>
              <a:rPr lang="en-US" b="1" dirty="0"/>
              <a:t>one point in the second cluster</a:t>
            </a:r>
            <a:r>
              <a:rPr lang="en-US" dirty="0"/>
              <a:t>.</a:t>
            </a:r>
          </a:p>
          <a:p>
            <a:r>
              <a:rPr lang="en-US" dirty="0"/>
              <a:t>So clustering depends on the </a:t>
            </a:r>
            <a:r>
              <a:rPr lang="en-US" b="1" dirty="0"/>
              <a:t>closest pair of points</a:t>
            </a:r>
            <a:r>
              <a:rPr lang="en-US" dirty="0"/>
              <a:t> between two clusters.</a:t>
            </a:r>
          </a:p>
          <a:p>
            <a:r>
              <a:rPr lang="en-US" dirty="0"/>
              <a:t>Single link = nearest-neighbor distance</a:t>
            </a:r>
          </a:p>
          <a:p>
            <a:r>
              <a:rPr lang="en-US" dirty="0"/>
              <a:t>If cluster A and cluster B have many points, we only look at the </a:t>
            </a:r>
            <a:r>
              <a:rPr lang="en-US" b="1" dirty="0"/>
              <a:t>two nearest points</a:t>
            </a:r>
            <a:r>
              <a:rPr lang="en-US" dirty="0"/>
              <a:t> between them.</a:t>
            </a:r>
            <a:br>
              <a:rPr lang="en-US" dirty="0"/>
            </a:br>
            <a:r>
              <a:rPr lang="en-US" dirty="0"/>
              <a:t>That minimum distance is used as the </a:t>
            </a:r>
            <a:r>
              <a:rPr lang="en-US" b="1" dirty="0"/>
              <a:t>cluster distance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697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Because </a:t>
            </a:r>
            <a:r>
              <a:rPr lang="en-US" b="1" dirty="0"/>
              <a:t>MIN (single-link)</a:t>
            </a:r>
            <a:r>
              <a:rPr lang="en-US" dirty="0"/>
              <a:t> uses only the </a:t>
            </a:r>
            <a:r>
              <a:rPr lang="en-US" b="1" dirty="0"/>
              <a:t>closest pair of points</a:t>
            </a:r>
            <a:r>
              <a:rPr lang="en-US" dirty="0"/>
              <a:t>, a single noisy/outlier point can create a false link and incorrectly merge clusters.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139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</a:t>
            </a:r>
            <a:r>
              <a:rPr lang="en-US" b="1" dirty="0"/>
              <a:t>MAX (complete-link)</a:t>
            </a:r>
            <a:r>
              <a:rPr lang="en-US" dirty="0"/>
              <a:t> uses the </a:t>
            </a:r>
            <a:r>
              <a:rPr lang="en-US" b="1" dirty="0"/>
              <a:t>farthest pair of points</a:t>
            </a:r>
            <a:r>
              <a:rPr lang="en-US" dirty="0"/>
              <a:t> between clusters, large or spread-out clusters look very far apart, so it tends to split them and prefers compact, globular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627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</a:t>
            </a:r>
            <a:r>
              <a:rPr lang="en-US" b="1" dirty="0"/>
              <a:t>group average</a:t>
            </a:r>
            <a:r>
              <a:rPr lang="en-US" dirty="0"/>
              <a:t> uses the </a:t>
            </a:r>
            <a:r>
              <a:rPr lang="en-US" b="1" dirty="0"/>
              <a:t>average of all pairwise distances</a:t>
            </a:r>
            <a:r>
              <a:rPr lang="en-US" dirty="0"/>
              <a:t>, it is less affected by one noisy point than single-link, but it still prefers </a:t>
            </a:r>
            <a:r>
              <a:rPr lang="en-US" b="1" dirty="0"/>
              <a:t>compact, round (globular)</a:t>
            </a:r>
            <a:r>
              <a:rPr lang="en-US" dirty="0"/>
              <a:t> clusters since spread-out shapes increase the average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975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Ward’s Method — simple</a:t>
            </a:r>
          </a:p>
          <a:p>
            <a:r>
              <a:rPr lang="en-US" dirty="0"/>
              <a:t>It merges the two clusters that cause the </a:t>
            </a:r>
            <a:r>
              <a:rPr lang="en-US" b="1" dirty="0"/>
              <a:t>smallest increase in squared error (SSE)</a:t>
            </a:r>
            <a:r>
              <a:rPr lang="en-US" dirty="0"/>
              <a:t>.</a:t>
            </a:r>
          </a:p>
          <a:p>
            <a:r>
              <a:rPr lang="en-US" dirty="0"/>
              <a:t>So it tries to keep clusters </a:t>
            </a:r>
            <a:r>
              <a:rPr lang="en-US" b="1" dirty="0"/>
              <a:t>compact</a:t>
            </a:r>
            <a:r>
              <a:rPr lang="en-US" dirty="0"/>
              <a:t> after merging.</a:t>
            </a:r>
          </a:p>
          <a:p>
            <a:r>
              <a:rPr lang="en-US" b="1" dirty="0"/>
              <a:t>Why less sensitive to noise/outliers?</a:t>
            </a:r>
          </a:p>
          <a:p>
            <a:r>
              <a:rPr lang="en-US" dirty="0"/>
              <a:t>Because it considers the </a:t>
            </a:r>
            <a:r>
              <a:rPr lang="en-US" b="1" dirty="0"/>
              <a:t>overall cluster variance</a:t>
            </a:r>
            <a:r>
              <a:rPr lang="en-US" dirty="0"/>
              <a:t>, not just one closest or farthest point.</a:t>
            </a:r>
          </a:p>
          <a:p>
            <a:r>
              <a:rPr lang="en-US" b="1" dirty="0"/>
              <a:t>Why biased toward globular clusters?</a:t>
            </a:r>
          </a:p>
          <a:p>
            <a:r>
              <a:rPr lang="en-US" dirty="0"/>
              <a:t>Because minimizing SSE naturally prefers </a:t>
            </a:r>
            <a:r>
              <a:rPr lang="en-US" b="1" dirty="0"/>
              <a:t>compact, round-shaped clusters</a:t>
            </a:r>
            <a:r>
              <a:rPr lang="en-US" dirty="0"/>
              <a:t>.</a:t>
            </a:r>
          </a:p>
          <a:p>
            <a:r>
              <a:rPr lang="en-US" b="1" dirty="0"/>
              <a:t>Main note</a:t>
            </a:r>
          </a:p>
          <a:p>
            <a:r>
              <a:rPr lang="en-US" dirty="0"/>
              <a:t>It is the </a:t>
            </a:r>
            <a:r>
              <a:rPr lang="en-US" b="1" dirty="0"/>
              <a:t>hierarchical version of K-means</a:t>
            </a:r>
            <a:endParaRPr lang="en-US" dirty="0"/>
          </a:p>
          <a:p>
            <a:r>
              <a:rPr lang="en-US" dirty="0"/>
              <a:t>It can also help </a:t>
            </a:r>
            <a:r>
              <a:rPr lang="en-US" b="1" dirty="0"/>
              <a:t>initialize K-means</a:t>
            </a:r>
            <a:r>
              <a:rPr lang="en-US" dirty="0"/>
              <a:t> to find good clusters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21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5D3131-574A-4C83-B42B-C2C7F6201AAC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CS252 S05</a:t>
            </a:r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1E8ECEB-82CC-4598-934F-541F9CB94AD6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F085F-0862-4687-969E-A113ED526F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212DC-59E6-444E-AD7D-AB217D4E46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1DB46-EA3B-4771-84A7-EF2A89089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7241A-14B4-47C9-97AA-E825931DEA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899CB-E299-4B2F-A5FF-BAA7A4455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54605-094D-467A-98B4-485DD38572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456F1-5FD4-4074-A7F5-122F6C81D7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69C9D-9F2F-431A-8109-7CE4B4AFDF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D69A7-3DB0-47C4-8AB7-03B3E235F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5A3F1-4B91-4C91-96E0-C7B24072A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256C4-D2FC-483B-A9EE-73C10A4B54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D61D0-5A32-4214-9618-E7413E4A3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7931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148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716607F1-F5B4-40CE-9840-A0B6A98E7C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7176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4" r:id="rId13"/>
    <p:sldLayoutId id="2147483825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11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13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48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5.w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2.w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990600"/>
            <a:ext cx="6781800" cy="1752600"/>
          </a:xfrm>
        </p:spPr>
        <p:txBody>
          <a:bodyPr/>
          <a:lstStyle/>
          <a:p>
            <a:pPr algn="ctr" eaLnBrk="1" hangingPunct="1"/>
            <a:r>
              <a:rPr lang="en-US" sz="2800" dirty="0"/>
              <a:t>Data Mining (CSE 6506)</a:t>
            </a:r>
            <a:br>
              <a:rPr lang="en-US" sz="2800" dirty="0"/>
            </a:br>
            <a:br>
              <a:rPr lang="en-US" sz="2800" dirty="0"/>
            </a:br>
            <a:r>
              <a:rPr lang="en-US" sz="2800" i="1" u="sng" dirty="0"/>
              <a:t>Clustering-</a:t>
            </a:r>
            <a:r>
              <a:rPr lang="en-US" sz="2800" u="sng" dirty="0"/>
              <a:t>1</a:t>
            </a:r>
            <a:br>
              <a:rPr lang="en-US" sz="2800" i="1" u="sng" dirty="0"/>
            </a:br>
            <a:endParaRPr lang="en-US" sz="2800" b="0" i="1" u="sng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en-US" sz="2400" dirty="0"/>
              <a:t>Dr. Mahmuda </a:t>
            </a:r>
            <a:r>
              <a:rPr lang="en-US" sz="2400" dirty="0" err="1"/>
              <a:t>Naznin</a:t>
            </a:r>
            <a:endParaRPr lang="en-US" sz="2400" dirty="0"/>
          </a:p>
          <a:p>
            <a:pPr algn="ctr" eaLnBrk="1" hangingPunct="1">
              <a:lnSpc>
                <a:spcPct val="90000"/>
              </a:lnSpc>
            </a:pPr>
            <a:r>
              <a:rPr lang="en-US" sz="2400" dirty="0"/>
              <a:t>Department of Computer Science Engineering, BUET </a:t>
            </a:r>
            <a:br>
              <a:rPr lang="en-US" sz="2400" dirty="0"/>
            </a:br>
            <a:endParaRPr lang="en-US" sz="2400" dirty="0"/>
          </a:p>
          <a:p>
            <a:pPr algn="ctr" eaLnBrk="1" hangingPunct="1">
              <a:lnSpc>
                <a:spcPct val="90000"/>
              </a:lnSpc>
            </a:pPr>
            <a:r>
              <a:rPr lang="en-US" sz="2400" dirty="0"/>
              <a:t>October, 2019</a:t>
            </a:r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543800" cy="808038"/>
          </a:xfrm>
        </p:spPr>
        <p:txBody>
          <a:bodyPr/>
          <a:lstStyle/>
          <a:p>
            <a:r>
              <a:rPr lang="en-US" altLang="en-US" dirty="0"/>
              <a:t>What is Cluster Analysis?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1295400"/>
          </a:xfrm>
        </p:spPr>
        <p:txBody>
          <a:bodyPr/>
          <a:lstStyle/>
          <a:p>
            <a:r>
              <a:rPr lang="en-US" altLang="en-US" sz="2400" dirty="0"/>
              <a:t>Finding groups of objects such that the objects in a group will be similar (or related) to one another and different from (or unrelated to) the objects in other groups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276600" y="3570288"/>
            <a:ext cx="3048000" cy="2678112"/>
            <a:chOff x="2160" y="2544"/>
            <a:chExt cx="1920" cy="1687"/>
          </a:xfrm>
        </p:grpSpPr>
        <p:sp>
          <p:nvSpPr>
            <p:cNvPr id="3087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8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9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0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1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2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3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4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5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6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7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8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9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0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1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2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3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4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5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7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8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9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0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1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2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5257800" y="2667000"/>
            <a:ext cx="3048000" cy="2514600"/>
            <a:chOff x="3312" y="1584"/>
            <a:chExt cx="1920" cy="1584"/>
          </a:xfrm>
        </p:grpSpPr>
        <p:sp>
          <p:nvSpPr>
            <p:cNvPr id="3085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895600" y="3657600"/>
            <a:ext cx="3276600" cy="2286000"/>
            <a:chOff x="1824" y="2208"/>
            <a:chExt cx="2064" cy="1440"/>
          </a:xfrm>
        </p:grpSpPr>
        <p:sp>
          <p:nvSpPr>
            <p:cNvPr id="3082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4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295400" y="2971800"/>
            <a:ext cx="2286000" cy="1676400"/>
            <a:chOff x="816" y="1776"/>
            <a:chExt cx="1440" cy="1056"/>
          </a:xfrm>
        </p:grpSpPr>
        <p:sp>
          <p:nvSpPr>
            <p:cNvPr id="308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Cluster Analysis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sz="2400" b="1" dirty="0"/>
              <a:t>Understanding</a:t>
            </a:r>
          </a:p>
          <a:p>
            <a:pPr lvl="1">
              <a:spcBef>
                <a:spcPct val="20000"/>
              </a:spcBef>
            </a:pPr>
            <a:r>
              <a:rPr lang="en-US" altLang="en-US" sz="2000" dirty="0"/>
              <a:t>Group related documents for browsing, group genes and proteins that have similar functionality, or group stocks with similar price fluctuations</a:t>
            </a:r>
            <a:endParaRPr lang="en-US" altLang="en-US" sz="2000" b="1" dirty="0"/>
          </a:p>
          <a:p>
            <a:pPr>
              <a:spcBef>
                <a:spcPct val="20000"/>
              </a:spcBef>
            </a:pPr>
            <a:endParaRPr lang="en-US" altLang="en-US" sz="2400" b="1" dirty="0"/>
          </a:p>
          <a:p>
            <a:pPr>
              <a:spcBef>
                <a:spcPct val="20000"/>
              </a:spcBef>
            </a:pPr>
            <a:r>
              <a:rPr lang="en-US" altLang="en-US" sz="2400" b="1" dirty="0"/>
              <a:t>Summarization</a:t>
            </a:r>
          </a:p>
          <a:p>
            <a:pPr lvl="1">
              <a:spcBef>
                <a:spcPct val="20000"/>
              </a:spcBef>
            </a:pPr>
            <a:r>
              <a:rPr lang="en-US" altLang="en-US" sz="2000" dirty="0"/>
              <a:t>Reduce the size of large data sets</a:t>
            </a:r>
          </a:p>
          <a:p>
            <a:endParaRPr lang="en-US" altLang="en-US" sz="2400" dirty="0"/>
          </a:p>
        </p:txBody>
      </p:sp>
      <p:graphicFrame>
        <p:nvGraphicFramePr>
          <p:cNvPr id="4100" name="Object 102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43400" y="1193800"/>
          <a:ext cx="4800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20181" imgH="3122232" progId="Word.Document.8">
                  <p:embed/>
                </p:oleObj>
              </mc:Choice>
              <mc:Fallback>
                <p:oleObj name="Document" r:id="rId2" imgW="5620181" imgH="3122232" progId="Word.Document.8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193800"/>
                        <a:ext cx="4800600" cy="2667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1" name="Picture 1030" descr="precip_aust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4" t="12122" r="11072" b="18182"/>
          <a:stretch>
            <a:fillRect/>
          </a:stretch>
        </p:blipFill>
        <p:spPr>
          <a:xfrm>
            <a:off x="4953000" y="3886200"/>
            <a:ext cx="3657600" cy="2474913"/>
          </a:xfrm>
          <a:noFill/>
        </p:spPr>
      </p:pic>
      <p:sp>
        <p:nvSpPr>
          <p:cNvPr id="4102" name="Text Box 1032"/>
          <p:cNvSpPr txBox="1">
            <a:spLocks noChangeArrowheads="1"/>
          </p:cNvSpPr>
          <p:nvPr/>
        </p:nvSpPr>
        <p:spPr bwMode="auto">
          <a:xfrm>
            <a:off x="4724400" y="5654675"/>
            <a:ext cx="2209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Clustering precipitation in Australia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What is not Cluster Analysis?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7772400" cy="5106988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/>
              <a:t>Simple segmentation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Dividing students into different registration groups alphabetically, by last name</a:t>
            </a:r>
          </a:p>
          <a:p>
            <a:pPr lvl="4">
              <a:lnSpc>
                <a:spcPct val="80000"/>
              </a:lnSpc>
            </a:pPr>
            <a:endParaRPr lang="en-US" altLang="en-US" sz="180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/>
              <a:t>Results of a query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Groupings are a result of an external specification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Clustering is a grouping of objects based on the data</a:t>
            </a:r>
          </a:p>
          <a:p>
            <a:pPr lvl="4">
              <a:lnSpc>
                <a:spcPct val="80000"/>
              </a:lnSpc>
            </a:pPr>
            <a:endParaRPr lang="en-US" altLang="en-US" sz="180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/>
              <a:t>Supervised classification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Have class label information</a:t>
            </a:r>
          </a:p>
          <a:p>
            <a:pPr lvl="4">
              <a:lnSpc>
                <a:spcPct val="80000"/>
              </a:lnSpc>
            </a:pPr>
            <a:endParaRPr lang="en-US" altLang="en-US" sz="180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/>
              <a:t>Association Analysis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Local vs. global connections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dirty="0"/>
              <a:t>Cluster can be Ambiguous</a:t>
            </a:r>
          </a:p>
        </p:txBody>
      </p:sp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685800" y="1905000"/>
            <a:ext cx="3344863" cy="1509713"/>
            <a:chOff x="432" y="1200"/>
            <a:chExt cx="2107" cy="951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 dirty="0">
                  <a:cs typeface="Times New Roman" pitchFamily="18" charset="0"/>
                </a:rPr>
                <a:t>How many clusters?</a:t>
              </a:r>
              <a:endParaRPr lang="en-US" altLang="en-US" sz="1800" b="0" dirty="0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4960938" y="4114800"/>
            <a:ext cx="3344862" cy="1401763"/>
            <a:chOff x="3125" y="2592"/>
            <a:chExt cx="2107" cy="883"/>
          </a:xfrm>
        </p:grpSpPr>
        <p:grpSp>
          <p:nvGrpSpPr>
            <p:cNvPr id="5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Four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685800" y="4114800"/>
            <a:ext cx="3344863" cy="1401763"/>
            <a:chOff x="432" y="2592"/>
            <a:chExt cx="2107" cy="883"/>
          </a:xfrm>
        </p:grpSpPr>
        <p:grpSp>
          <p:nvGrpSpPr>
            <p:cNvPr id="7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Two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4960938" y="1905000"/>
            <a:ext cx="3344862" cy="1509713"/>
            <a:chOff x="3125" y="1200"/>
            <a:chExt cx="2107" cy="951"/>
          </a:xfrm>
        </p:grpSpPr>
        <p:grpSp>
          <p:nvGrpSpPr>
            <p:cNvPr id="9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6153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4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5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6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160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1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2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3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4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5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6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7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8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9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0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1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2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52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Six Clusters</a:t>
              </a:r>
              <a:r>
                <a:rPr lang="en-US" altLang="en-US" sz="1600" b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95" name="Slide Number Placeholder 9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Types of Clusterings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A </a:t>
            </a:r>
            <a:r>
              <a:rPr lang="en-US" altLang="en-US">
                <a:solidFill>
                  <a:srgbClr val="FF0000"/>
                </a:solidFill>
              </a:rPr>
              <a:t>clustering</a:t>
            </a:r>
            <a:r>
              <a:rPr lang="en-US" altLang="en-US"/>
              <a:t> is a set of clusters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Important distinction between </a:t>
            </a:r>
            <a:r>
              <a:rPr lang="en-US" altLang="en-US">
                <a:solidFill>
                  <a:srgbClr val="FF0000"/>
                </a:solidFill>
              </a:rPr>
              <a:t>hierarchical</a:t>
            </a:r>
            <a:r>
              <a:rPr lang="en-US" altLang="en-US"/>
              <a:t> and </a:t>
            </a:r>
            <a:r>
              <a:rPr lang="en-US" altLang="en-US">
                <a:solidFill>
                  <a:srgbClr val="FF0000"/>
                </a:solidFill>
              </a:rPr>
              <a:t>partitional</a:t>
            </a:r>
            <a:r>
              <a:rPr lang="en-US" altLang="en-US">
                <a:solidFill>
                  <a:srgbClr val="FFCC00"/>
                </a:solidFill>
              </a:rPr>
              <a:t> </a:t>
            </a:r>
            <a:r>
              <a:rPr lang="en-US" altLang="en-US"/>
              <a:t>sets of clusters </a:t>
            </a:r>
            <a:endParaRPr lang="en-US" altLang="en-US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Partitional Clustering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A division of data objects into non-overlapping subsets (clusters) such that each data object is in exactly one subset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altLang="en-US" sz="100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Hierarchical clustering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A set of nested clusters organized as a hierarchical tree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Partitional Clustering</a:t>
            </a:r>
          </a:p>
        </p:txBody>
      </p:sp>
      <p:sp>
        <p:nvSpPr>
          <p:cNvPr id="8195" name="Freeform 4"/>
          <p:cNvSpPr>
            <a:spLocks/>
          </p:cNvSpPr>
          <p:nvPr/>
        </p:nvSpPr>
        <p:spPr bwMode="auto">
          <a:xfrm>
            <a:off x="1254125" y="2517775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" name="Freeform 5"/>
          <p:cNvSpPr>
            <a:spLocks/>
          </p:cNvSpPr>
          <p:nvPr/>
        </p:nvSpPr>
        <p:spPr bwMode="auto">
          <a:xfrm>
            <a:off x="1254125" y="2716213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Freeform 6"/>
          <p:cNvSpPr>
            <a:spLocks/>
          </p:cNvSpPr>
          <p:nvPr/>
        </p:nvSpPr>
        <p:spPr bwMode="auto">
          <a:xfrm>
            <a:off x="1951038" y="4711700"/>
            <a:ext cx="96837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0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Freeform 7"/>
          <p:cNvSpPr>
            <a:spLocks/>
          </p:cNvSpPr>
          <p:nvPr/>
        </p:nvSpPr>
        <p:spPr bwMode="auto">
          <a:xfrm>
            <a:off x="1550988" y="26193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9" name="Freeform 8"/>
          <p:cNvSpPr>
            <a:spLocks/>
          </p:cNvSpPr>
          <p:nvPr/>
        </p:nvSpPr>
        <p:spPr bwMode="auto">
          <a:xfrm>
            <a:off x="1951038" y="39147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Freeform 9"/>
          <p:cNvSpPr>
            <a:spLocks/>
          </p:cNvSpPr>
          <p:nvPr/>
        </p:nvSpPr>
        <p:spPr bwMode="auto">
          <a:xfrm>
            <a:off x="2120900" y="182562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Freeform 10"/>
          <p:cNvSpPr>
            <a:spLocks/>
          </p:cNvSpPr>
          <p:nvPr/>
        </p:nvSpPr>
        <p:spPr bwMode="auto">
          <a:xfrm>
            <a:off x="2351088" y="2020888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Freeform 11"/>
          <p:cNvSpPr>
            <a:spLocks/>
          </p:cNvSpPr>
          <p:nvPr/>
        </p:nvSpPr>
        <p:spPr bwMode="auto">
          <a:xfrm>
            <a:off x="244792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Freeform 12"/>
          <p:cNvSpPr>
            <a:spLocks/>
          </p:cNvSpPr>
          <p:nvPr/>
        </p:nvSpPr>
        <p:spPr bwMode="auto">
          <a:xfrm>
            <a:off x="284797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Freeform 13"/>
          <p:cNvSpPr>
            <a:spLocks/>
          </p:cNvSpPr>
          <p:nvPr/>
        </p:nvSpPr>
        <p:spPr bwMode="auto">
          <a:xfrm>
            <a:off x="2647950" y="2117725"/>
            <a:ext cx="96838" cy="103188"/>
          </a:xfrm>
          <a:custGeom>
            <a:avLst/>
            <a:gdLst>
              <a:gd name="T0" fmla="*/ 2147483647 w 61"/>
              <a:gd name="T1" fmla="*/ 2147483647 h 65"/>
              <a:gd name="T2" fmla="*/ 2147483647 w 61"/>
              <a:gd name="T3" fmla="*/ 2147483647 h 65"/>
              <a:gd name="T4" fmla="*/ 2147483647 w 61"/>
              <a:gd name="T5" fmla="*/ 2147483647 h 65"/>
              <a:gd name="T6" fmla="*/ 2147483647 w 61"/>
              <a:gd name="T7" fmla="*/ 2147483647 h 65"/>
              <a:gd name="T8" fmla="*/ 2147483647 w 61"/>
              <a:gd name="T9" fmla="*/ 2147483647 h 65"/>
              <a:gd name="T10" fmla="*/ 0 w 61"/>
              <a:gd name="T11" fmla="*/ 2147483647 h 65"/>
              <a:gd name="T12" fmla="*/ 0 w 61"/>
              <a:gd name="T13" fmla="*/ 2147483647 h 65"/>
              <a:gd name="T14" fmla="*/ 2147483647 w 61"/>
              <a:gd name="T15" fmla="*/ 2147483647 h 65"/>
              <a:gd name="T16" fmla="*/ 2147483647 w 61"/>
              <a:gd name="T17" fmla="*/ 0 h 65"/>
              <a:gd name="T18" fmla="*/ 2147483647 w 61"/>
              <a:gd name="T19" fmla="*/ 2147483647 h 65"/>
              <a:gd name="T20" fmla="*/ 2147483647 w 61"/>
              <a:gd name="T21" fmla="*/ 2147483647 h 65"/>
              <a:gd name="T22" fmla="*/ 2147483647 w 61"/>
              <a:gd name="T23" fmla="*/ 2147483647 h 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5"/>
              <a:gd name="T38" fmla="*/ 61 w 61"/>
              <a:gd name="T39" fmla="*/ 65 h 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5" name="Freeform 14"/>
          <p:cNvSpPr>
            <a:spLocks/>
          </p:cNvSpPr>
          <p:nvPr/>
        </p:nvSpPr>
        <p:spPr bwMode="auto">
          <a:xfrm>
            <a:off x="2647950" y="1724025"/>
            <a:ext cx="96838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6" name="Freeform 15"/>
          <p:cNvSpPr>
            <a:spLocks/>
          </p:cNvSpPr>
          <p:nvPr/>
        </p:nvSpPr>
        <p:spPr bwMode="auto">
          <a:xfrm>
            <a:off x="3344863" y="4711700"/>
            <a:ext cx="103187" cy="98425"/>
          </a:xfrm>
          <a:custGeom>
            <a:avLst/>
            <a:gdLst>
              <a:gd name="T0" fmla="*/ 2147483647 w 65"/>
              <a:gd name="T1" fmla="*/ 2147483647 h 62"/>
              <a:gd name="T2" fmla="*/ 2147483647 w 65"/>
              <a:gd name="T3" fmla="*/ 2147483647 h 62"/>
              <a:gd name="T4" fmla="*/ 2147483647 w 65"/>
              <a:gd name="T5" fmla="*/ 2147483647 h 62"/>
              <a:gd name="T6" fmla="*/ 2147483647 w 65"/>
              <a:gd name="T7" fmla="*/ 2147483647 h 62"/>
              <a:gd name="T8" fmla="*/ 2147483647 w 65"/>
              <a:gd name="T9" fmla="*/ 2147483647 h 62"/>
              <a:gd name="T10" fmla="*/ 0 w 65"/>
              <a:gd name="T11" fmla="*/ 2147483647 h 62"/>
              <a:gd name="T12" fmla="*/ 0 w 65"/>
              <a:gd name="T13" fmla="*/ 2147483647 h 62"/>
              <a:gd name="T14" fmla="*/ 2147483647 w 65"/>
              <a:gd name="T15" fmla="*/ 2147483647 h 62"/>
              <a:gd name="T16" fmla="*/ 2147483647 w 65"/>
              <a:gd name="T17" fmla="*/ 0 h 62"/>
              <a:gd name="T18" fmla="*/ 2147483647 w 65"/>
              <a:gd name="T19" fmla="*/ 0 h 62"/>
              <a:gd name="T20" fmla="*/ 2147483647 w 65"/>
              <a:gd name="T21" fmla="*/ 2147483647 h 62"/>
              <a:gd name="T22" fmla="*/ 2147483647 w 65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5"/>
              <a:gd name="T37" fmla="*/ 0 h 62"/>
              <a:gd name="T38" fmla="*/ 65 w 65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Freeform 16"/>
          <p:cNvSpPr>
            <a:spLocks/>
          </p:cNvSpPr>
          <p:nvPr/>
        </p:nvSpPr>
        <p:spPr bwMode="auto">
          <a:xfrm>
            <a:off x="1550988" y="2220913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Freeform 17"/>
          <p:cNvSpPr>
            <a:spLocks/>
          </p:cNvSpPr>
          <p:nvPr/>
        </p:nvSpPr>
        <p:spPr bwMode="auto">
          <a:xfrm>
            <a:off x="1223963" y="441007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9" name="Freeform 18"/>
          <p:cNvSpPr>
            <a:spLocks/>
          </p:cNvSpPr>
          <p:nvPr/>
        </p:nvSpPr>
        <p:spPr bwMode="auto">
          <a:xfrm>
            <a:off x="1254125" y="5008563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Freeform 19"/>
          <p:cNvSpPr>
            <a:spLocks/>
          </p:cNvSpPr>
          <p:nvPr/>
        </p:nvSpPr>
        <p:spPr bwMode="auto">
          <a:xfrm>
            <a:off x="1720850" y="199072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990600" y="55626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4724400" y="1295400"/>
            <a:ext cx="3581400" cy="4633913"/>
            <a:chOff x="2976" y="816"/>
            <a:chExt cx="2256" cy="2919"/>
          </a:xfrm>
        </p:grpSpPr>
        <p:graphicFrame>
          <p:nvGraphicFramePr>
            <p:cNvPr id="8213" name="Object 1024"/>
            <p:cNvGraphicFramePr>
              <a:graphicFrameLocks noChangeAspect="1"/>
            </p:cNvGraphicFramePr>
            <p:nvPr/>
          </p:nvGraphicFramePr>
          <p:xfrm>
            <a:off x="2976" y="816"/>
            <a:ext cx="2125" cy="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547102" imgH="2097084" progId="">
                    <p:embed/>
                  </p:oleObj>
                </mc:Choice>
                <mc:Fallback>
                  <p:oleObj name="VISIO" r:id="rId2" imgW="1547102" imgH="2097084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816"/>
                          <a:ext cx="2125" cy="2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21"/>
            <p:cNvSpPr txBox="1">
              <a:spLocks noChangeArrowheads="1"/>
            </p:cNvSpPr>
            <p:nvPr/>
          </p:nvSpPr>
          <p:spPr bwMode="auto">
            <a:xfrm>
              <a:off x="3456" y="3504"/>
              <a:ext cx="1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A Partitional  Clustering</a:t>
              </a:r>
            </a:p>
          </p:txBody>
        </p:sp>
      </p:grp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</a:t>
            </a:r>
          </a:p>
        </p:txBody>
      </p:sp>
      <p:graphicFrame>
        <p:nvGraphicFramePr>
          <p:cNvPr id="9219" name="Object 1024"/>
          <p:cNvGraphicFramePr>
            <a:graphicFrameLocks noChangeAspect="1"/>
          </p:cNvGraphicFramePr>
          <p:nvPr/>
        </p:nvGraphicFramePr>
        <p:xfrm>
          <a:off x="990600" y="3962400"/>
          <a:ext cx="275272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47671" imgH="1960706" progId="">
                  <p:embed/>
                </p:oleObj>
              </mc:Choice>
              <mc:Fallback>
                <p:oleObj name="VISIO" r:id="rId2" imgW="2747671" imgH="196070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962400"/>
                        <a:ext cx="275272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025"/>
          <p:cNvGraphicFramePr>
            <a:graphicFrameLocks noChangeAspect="1"/>
          </p:cNvGraphicFramePr>
          <p:nvPr/>
        </p:nvGraphicFramePr>
        <p:xfrm>
          <a:off x="914400" y="1447800"/>
          <a:ext cx="2760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56614" imgH="1795265" progId="">
                  <p:embed/>
                </p:oleObj>
              </mc:Choice>
              <mc:Fallback>
                <p:oleObj name="VISIO" r:id="rId4" imgW="2756614" imgH="1795265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47800"/>
                        <a:ext cx="2760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026"/>
          <p:cNvGraphicFramePr>
            <a:graphicFrameLocks noChangeAspect="1"/>
          </p:cNvGraphicFramePr>
          <p:nvPr/>
        </p:nvGraphicFramePr>
        <p:xfrm>
          <a:off x="5400675" y="1066800"/>
          <a:ext cx="1773238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379425" imgH="1779615" progId="">
                  <p:embed/>
                </p:oleObj>
              </mc:Choice>
              <mc:Fallback>
                <p:oleObj name="VISIO" r:id="rId6" imgW="1379425" imgH="1779615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1066800"/>
                        <a:ext cx="1773238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027"/>
          <p:cNvGraphicFramePr>
            <a:graphicFrameLocks noChangeAspect="1"/>
          </p:cNvGraphicFramePr>
          <p:nvPr/>
        </p:nvGraphicFramePr>
        <p:xfrm>
          <a:off x="5400675" y="3657600"/>
          <a:ext cx="1909763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71089" imgH="1761729" progId="">
                  <p:embed/>
                </p:oleObj>
              </mc:Choice>
              <mc:Fallback>
                <p:oleObj name="VISIO" r:id="rId8" imgW="1471089" imgH="1761729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3657600"/>
                        <a:ext cx="1909763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3200400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228600" y="5791200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Hierarchical Clustering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800600" y="57912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800600" y="32004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Other Distinctions Between Sets of Clusters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Exclusive vs. non-exclusive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non-exclusive clustering, points may belong to multiple clusters.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Can represent multiple classes or ‘border’ points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Fuzzy vs. non-fuzzy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fuzzy clustering, a point belongs to every cluster with some weight between 0 and 1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Weights must sum to 1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Probabilistic clustering has similar characteristics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Partial vs. complete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some cases, we only want to cluster some of the data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Heterogeneous vs. homogeneous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Clusters of widely different sizes, shapes, and densities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7543800" cy="731838"/>
          </a:xfrm>
        </p:spPr>
        <p:txBody>
          <a:bodyPr/>
          <a:lstStyle/>
          <a:p>
            <a:r>
              <a:rPr lang="en-US" altLang="en-US" dirty="0"/>
              <a:t>Types of Clusters</a:t>
            </a:r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 Well-separated clusters</a:t>
            </a:r>
          </a:p>
          <a:p>
            <a:endParaRPr lang="en-US" altLang="en-US" sz="2400"/>
          </a:p>
          <a:p>
            <a:r>
              <a:rPr lang="en-US" altLang="en-US" sz="2400"/>
              <a:t> Center-based clusters</a:t>
            </a:r>
          </a:p>
          <a:p>
            <a:endParaRPr lang="en-US" altLang="en-US" sz="2400"/>
          </a:p>
          <a:p>
            <a:r>
              <a:rPr lang="en-US" altLang="en-US" sz="2400"/>
              <a:t> Contiguous clusters</a:t>
            </a:r>
          </a:p>
          <a:p>
            <a:endParaRPr lang="en-US" altLang="en-US" sz="2400"/>
          </a:p>
          <a:p>
            <a:r>
              <a:rPr lang="en-US" altLang="en-US" sz="2400"/>
              <a:t> Density-based clusters</a:t>
            </a:r>
          </a:p>
          <a:p>
            <a:endParaRPr lang="en-US" altLang="en-US" sz="2400"/>
          </a:p>
          <a:p>
            <a:r>
              <a:rPr lang="en-US" altLang="en-US" sz="2400"/>
              <a:t>Property or Conceptual</a:t>
            </a:r>
          </a:p>
          <a:p>
            <a:endParaRPr lang="en-US" altLang="en-US" sz="2400"/>
          </a:p>
          <a:p>
            <a:r>
              <a:rPr lang="en-US" altLang="en-US" sz="2400"/>
              <a:t>Described by an Objective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Types of Clusters: Well-Separated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Well-Separated Clusters: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A cluster is a set of points such that any point in a cluster is closer (or more similar) to every other point in the cluster than to any point not in the cluster.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2400"/>
          </a:p>
        </p:txBody>
      </p:sp>
      <p:sp>
        <p:nvSpPr>
          <p:cNvPr id="12292" name="Oval 4"/>
          <p:cNvSpPr>
            <a:spLocks noChangeAspect="1" noChangeArrowheads="1"/>
          </p:cNvSpPr>
          <p:nvPr/>
        </p:nvSpPr>
        <p:spPr bwMode="auto">
          <a:xfrm>
            <a:off x="1447800" y="4570413"/>
            <a:ext cx="1143000" cy="1143000"/>
          </a:xfrm>
          <a:prstGeom prst="ellipse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3" name="Oval 5"/>
          <p:cNvSpPr>
            <a:spLocks noChangeAspect="1" noChangeArrowheads="1"/>
          </p:cNvSpPr>
          <p:nvPr/>
        </p:nvSpPr>
        <p:spPr bwMode="auto">
          <a:xfrm>
            <a:off x="6018213" y="4570413"/>
            <a:ext cx="1143000" cy="1143000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Oval 6"/>
          <p:cNvSpPr>
            <a:spLocks noChangeAspect="1" noChangeArrowheads="1"/>
          </p:cNvSpPr>
          <p:nvPr/>
        </p:nvSpPr>
        <p:spPr bwMode="auto">
          <a:xfrm>
            <a:off x="3506788" y="2971800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3 well-separated clusters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Types of Clusters: Center-Based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Center-based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 A cluster is a set of objects such that an object in a cluster is closer (more similar) to the “center” of a cluster, than to the center of any other cluster 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The center of a cluster is often a </a:t>
            </a:r>
            <a:r>
              <a:rPr lang="en-US" altLang="en-US" sz="2000">
                <a:solidFill>
                  <a:srgbClr val="FF0000"/>
                </a:solidFill>
              </a:rPr>
              <a:t>centroid</a:t>
            </a:r>
            <a:r>
              <a:rPr lang="en-US" altLang="en-US" sz="2000"/>
              <a:t>, the average of all the points in the cluster, or a </a:t>
            </a:r>
            <a:r>
              <a:rPr lang="en-US" altLang="en-US" sz="2000">
                <a:solidFill>
                  <a:srgbClr val="FF0000"/>
                </a:solidFill>
              </a:rPr>
              <a:t>medoid</a:t>
            </a:r>
            <a:r>
              <a:rPr lang="en-US" altLang="en-US" sz="2000"/>
              <a:t>, the most “representative” point of a cluster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</p:txBody>
      </p:sp>
      <p:sp>
        <p:nvSpPr>
          <p:cNvPr id="13316" name="Oval 4"/>
          <p:cNvSpPr>
            <a:spLocks noChangeAspect="1" noChangeArrowheads="1"/>
          </p:cNvSpPr>
          <p:nvPr/>
        </p:nvSpPr>
        <p:spPr bwMode="auto">
          <a:xfrm>
            <a:off x="1143000" y="4191000"/>
            <a:ext cx="1371600" cy="1371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7" name="Oval 5"/>
          <p:cNvSpPr>
            <a:spLocks noChangeAspect="1" noChangeArrowheads="1"/>
          </p:cNvSpPr>
          <p:nvPr/>
        </p:nvSpPr>
        <p:spPr bwMode="auto">
          <a:xfrm>
            <a:off x="2514600" y="4191000"/>
            <a:ext cx="1371600" cy="1371600"/>
          </a:xfrm>
          <a:prstGeom prst="ellipse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8" name="Oval 6"/>
          <p:cNvSpPr>
            <a:spLocks noChangeAspect="1" noChangeArrowheads="1"/>
          </p:cNvSpPr>
          <p:nvPr/>
        </p:nvSpPr>
        <p:spPr bwMode="auto">
          <a:xfrm>
            <a:off x="5322888" y="4329113"/>
            <a:ext cx="1166812" cy="1100137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9" name="Oval 7"/>
          <p:cNvSpPr>
            <a:spLocks noChangeAspect="1" noChangeArrowheads="1"/>
          </p:cNvSpPr>
          <p:nvPr/>
        </p:nvSpPr>
        <p:spPr bwMode="auto">
          <a:xfrm>
            <a:off x="6694488" y="4329113"/>
            <a:ext cx="1166812" cy="1100137"/>
          </a:xfrm>
          <a:prstGeom prst="ellipse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4 center-based clusters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Types of Clusters: Contiguity-Based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Contiguous Cluster (Nearest Neighbor or Transitive)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cluster is a set of points such that a point in a cluster is closer (or more similar) to one or more other points in the cluster than to any point not in the cluster.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2400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81000" y="3810000"/>
            <a:ext cx="8534400" cy="1219200"/>
            <a:chOff x="950" y="2544"/>
            <a:chExt cx="4106" cy="576"/>
          </a:xfrm>
        </p:grpSpPr>
        <p:sp>
          <p:nvSpPr>
            <p:cNvPr id="14342" name="Freeform 4" descr="Large grid"/>
            <p:cNvSpPr>
              <a:spLocks noChangeAspect="1"/>
            </p:cNvSpPr>
            <p:nvPr/>
          </p:nvSpPr>
          <p:spPr bwMode="auto">
            <a:xfrm>
              <a:off x="950" y="2552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99CC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5" descr="Large grid"/>
            <p:cNvSpPr>
              <a:spLocks noChangeAspect="1"/>
            </p:cNvSpPr>
            <p:nvPr/>
          </p:nvSpPr>
          <p:spPr bwMode="auto">
            <a:xfrm>
              <a:off x="1061" y="2618"/>
              <a:ext cx="267" cy="459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9 h 744"/>
                <a:gd name="T10" fmla="*/ 27 w 432"/>
                <a:gd name="T11" fmla="*/ 45 h 744"/>
                <a:gd name="T12" fmla="*/ 27 w 432"/>
                <a:gd name="T13" fmla="*/ 64 h 744"/>
                <a:gd name="T14" fmla="*/ 22 w 432"/>
                <a:gd name="T15" fmla="*/ 64 h 744"/>
                <a:gd name="T16" fmla="*/ 0 w 432"/>
                <a:gd name="T17" fmla="*/ 67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rnd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6" descr="Large grid"/>
            <p:cNvSpPr>
              <a:spLocks noChangeAspect="1"/>
            </p:cNvSpPr>
            <p:nvPr/>
          </p:nvSpPr>
          <p:spPr bwMode="auto">
            <a:xfrm>
              <a:off x="1195" y="2663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FF7C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Oval 7"/>
            <p:cNvSpPr>
              <a:spLocks noChangeAspect="1" noChangeArrowheads="1"/>
            </p:cNvSpPr>
            <p:nvPr/>
          </p:nvSpPr>
          <p:spPr bwMode="auto">
            <a:xfrm>
              <a:off x="2171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6" name="AutoShape 8"/>
            <p:cNvSpPr>
              <a:spLocks noChangeAspect="1" noChangeArrowheads="1"/>
            </p:cNvSpPr>
            <p:nvPr/>
          </p:nvSpPr>
          <p:spPr bwMode="auto">
            <a:xfrm rot="-5400000">
              <a:off x="1942" y="2382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Oval 9"/>
            <p:cNvSpPr>
              <a:spLocks noChangeAspect="1" noChangeArrowheads="1"/>
            </p:cNvSpPr>
            <p:nvPr/>
          </p:nvSpPr>
          <p:spPr bwMode="auto">
            <a:xfrm>
              <a:off x="2504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8" name="Line 10"/>
            <p:cNvSpPr>
              <a:spLocks noChangeAspect="1" noChangeShapeType="1"/>
            </p:cNvSpPr>
            <p:nvPr/>
          </p:nvSpPr>
          <p:spPr bwMode="auto">
            <a:xfrm>
              <a:off x="2305" y="2818"/>
              <a:ext cx="199" cy="0"/>
            </a:xfrm>
            <a:prstGeom prst="line">
              <a:avLst/>
            </a:prstGeom>
            <a:noFill/>
            <a:ln w="19050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Oval 11"/>
            <p:cNvSpPr>
              <a:spLocks noChangeAspect="1" noChangeArrowheads="1"/>
            </p:cNvSpPr>
            <p:nvPr/>
          </p:nvSpPr>
          <p:spPr bwMode="auto">
            <a:xfrm>
              <a:off x="4236" y="2633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0" name="Oval 12"/>
            <p:cNvSpPr>
              <a:spLocks noChangeAspect="1" noChangeArrowheads="1"/>
            </p:cNvSpPr>
            <p:nvPr/>
          </p:nvSpPr>
          <p:spPr bwMode="auto">
            <a:xfrm>
              <a:off x="4680" y="2633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1" name="Oval 13"/>
            <p:cNvSpPr>
              <a:spLocks noChangeAspect="1" noChangeArrowheads="1"/>
            </p:cNvSpPr>
            <p:nvPr/>
          </p:nvSpPr>
          <p:spPr bwMode="auto">
            <a:xfrm>
              <a:off x="2992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2" name="Oval 14"/>
            <p:cNvSpPr>
              <a:spLocks noChangeAspect="1" noChangeArrowheads="1"/>
            </p:cNvSpPr>
            <p:nvPr/>
          </p:nvSpPr>
          <p:spPr bwMode="auto">
            <a:xfrm>
              <a:off x="3391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4341" name="Text Box 16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8 contiguous clusters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Types of Clusters: Density-Based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Density-based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A cluster is a dense region of points, which is separated by low-density regions, from other regions of high density.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Used when the clusters are irregular or intertwined, and when noise and outliers are present. 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04800" y="3657600"/>
            <a:ext cx="8610600" cy="1676400"/>
            <a:chOff x="1056" y="3072"/>
            <a:chExt cx="3840" cy="720"/>
          </a:xfrm>
        </p:grpSpPr>
        <p:sp>
          <p:nvSpPr>
            <p:cNvPr id="15366" name="Rectangle 2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7" name="Oval 5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8" name="AutoShape 6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Oval 7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0" name="Oval 8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1" name="Oval 9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2" name="Oval 10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3" name="Oval 11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6 density-based clusters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Types of Clusters: Conceptual Clusters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Shared Property or Conceptual Clusters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Finds clusters that share some common property or represent a particular concept.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2000"/>
              <a:t>. </a:t>
            </a:r>
          </a:p>
        </p:txBody>
      </p:sp>
      <p:sp>
        <p:nvSpPr>
          <p:cNvPr id="16388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2 Overlapping Circles</a:t>
            </a:r>
          </a:p>
        </p:txBody>
      </p:sp>
      <p:sp>
        <p:nvSpPr>
          <p:cNvPr id="16389" name="AutoShape 15"/>
          <p:cNvSpPr>
            <a:spLocks noChangeArrowheads="1"/>
          </p:cNvSpPr>
          <p:nvPr/>
        </p:nvSpPr>
        <p:spPr bwMode="auto">
          <a:xfrm>
            <a:off x="2819400" y="2819400"/>
            <a:ext cx="2286000" cy="2057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30" y="10800"/>
                </a:moveTo>
                <a:cubicBezTo>
                  <a:pt x="3030" y="15091"/>
                  <a:pt x="6509" y="18570"/>
                  <a:pt x="10800" y="18570"/>
                </a:cubicBezTo>
                <a:cubicBezTo>
                  <a:pt x="15091" y="18570"/>
                  <a:pt x="18570" y="15091"/>
                  <a:pt x="18570" y="10800"/>
                </a:cubicBezTo>
                <a:cubicBezTo>
                  <a:pt x="18570" y="6509"/>
                  <a:pt x="15091" y="3030"/>
                  <a:pt x="10800" y="3030"/>
                </a:cubicBezTo>
                <a:cubicBezTo>
                  <a:pt x="6509" y="3030"/>
                  <a:pt x="3030" y="6509"/>
                  <a:pt x="3030" y="10800"/>
                </a:cubicBezTo>
                <a:close/>
              </a:path>
            </a:pathLst>
          </a:cu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AutoShape 16"/>
          <p:cNvSpPr>
            <a:spLocks noChangeArrowheads="1"/>
          </p:cNvSpPr>
          <p:nvPr/>
        </p:nvSpPr>
        <p:spPr bwMode="auto">
          <a:xfrm>
            <a:off x="3886200" y="2819400"/>
            <a:ext cx="2286000" cy="2057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30" y="10800"/>
                </a:moveTo>
                <a:cubicBezTo>
                  <a:pt x="3030" y="15091"/>
                  <a:pt x="6509" y="18570"/>
                  <a:pt x="10800" y="18570"/>
                </a:cubicBezTo>
                <a:cubicBezTo>
                  <a:pt x="15091" y="18570"/>
                  <a:pt x="18570" y="15091"/>
                  <a:pt x="18570" y="10800"/>
                </a:cubicBezTo>
                <a:cubicBezTo>
                  <a:pt x="18570" y="6509"/>
                  <a:pt x="15091" y="3030"/>
                  <a:pt x="10800" y="3030"/>
                </a:cubicBezTo>
                <a:cubicBezTo>
                  <a:pt x="6509" y="3030"/>
                  <a:pt x="3030" y="6509"/>
                  <a:pt x="3030" y="10800"/>
                </a:cubicBezTo>
                <a:close/>
              </a:path>
            </a:pathLst>
          </a:cu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884238"/>
          </a:xfrm>
        </p:spPr>
        <p:txBody>
          <a:bodyPr/>
          <a:lstStyle/>
          <a:p>
            <a:r>
              <a:rPr lang="en-US" altLang="en-US" sz="2600" dirty="0"/>
              <a:t>Characteristics of Cluster Data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Type of proximity or density measure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Central to clustering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Depends on data and application </a:t>
            </a:r>
          </a:p>
          <a:p>
            <a:pPr lvl="1"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2200" dirty="0"/>
              <a:t>Data characteristics that affect proximity and/or density are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Dimensionality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altLang="en-US" sz="1400" dirty="0"/>
              <a:t>Sparseness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Attribute type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Special relationships in the data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altLang="en-US" sz="1400" dirty="0"/>
              <a:t>For example, autocorrelation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Distribution of the data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Noise and Outliers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Often interfere with the operation of the clustering algorithm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alt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Main Clustering Algorithms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err="1"/>
              <a:t>Partitional</a:t>
            </a:r>
            <a:r>
              <a:rPr lang="en-US" altLang="en-US" dirty="0"/>
              <a:t>  clustering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Hierarchical clustering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Density-based clustering</a:t>
            </a:r>
          </a:p>
          <a:p>
            <a:pPr lvl="4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 Clustering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2514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Partitional clustering approach.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Number of clusters, K, must be specified.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Each cluster is associated with a </a:t>
            </a:r>
            <a:r>
              <a:rPr lang="en-US" altLang="en-US" sz="2200" dirty="0">
                <a:solidFill>
                  <a:srgbClr val="FFCC00"/>
                </a:solidFill>
              </a:rPr>
              <a:t>centroid</a:t>
            </a:r>
            <a:r>
              <a:rPr lang="en-US" altLang="en-US" sz="2200" dirty="0"/>
              <a:t> (center point).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Each point is assigned to the cluster with the closest centroid.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The basic algorithm is very simple.</a:t>
            </a:r>
          </a:p>
        </p:txBody>
      </p:sp>
      <p:graphicFrame>
        <p:nvGraphicFramePr>
          <p:cNvPr id="21508" name="Object 1024"/>
          <p:cNvGraphicFramePr>
            <a:graphicFrameLocks noChangeAspect="1"/>
          </p:cNvGraphicFramePr>
          <p:nvPr/>
        </p:nvGraphicFramePr>
        <p:xfrm>
          <a:off x="457200" y="4133850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9784928" imgH="3177815" progId="PBrush">
                  <p:embed/>
                </p:oleObj>
              </mc:Choice>
              <mc:Fallback>
                <p:oleObj name="Bitmap Image" r:id="rId3" imgW="9784928" imgH="3177815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457200" y="4133850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Example of K-means Clustering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 Clustering – Details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8001000" cy="990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Initial centroids are often chosen randomly.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Clusters produced vary from one run to another.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The centroid is (typically) the mean of the points in the cluster.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‘Closeness’ is measured by Euclidean distance, cosine similarity, correlation, etc.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K-means will converge for common similarity measures mentioned above.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Most of the convergence happens in the first few iterations.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Often the stopping condition is changed to ‘Until relatively few points change clusters’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Complexity is O( n * K * I * d )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n = number of points, K = number of clusters, </a:t>
            </a:r>
            <a:br>
              <a:rPr lang="en-US" altLang="en-US" sz="1800" dirty="0"/>
            </a:br>
            <a:r>
              <a:rPr lang="en-US" altLang="en-US" sz="1800" dirty="0"/>
              <a:t>I = number of iterations, d = number of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543800" cy="808038"/>
          </a:xfrm>
        </p:spPr>
        <p:txBody>
          <a:bodyPr/>
          <a:lstStyle/>
          <a:p>
            <a:r>
              <a:rPr lang="en-US" altLang="en-US" dirty="0"/>
              <a:t>Evaluating K-means Clusters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2"/>
            <a:ext cx="8229600" cy="48339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Most common measure is </a:t>
            </a:r>
            <a:r>
              <a:rPr lang="en-US" altLang="en-US" sz="2400" i="1" dirty="0"/>
              <a:t>Sum of Squared Error (SSE)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For each point, the error is the distance to the nearest cluster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To get SSE, we square these errors and sum them.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x </a:t>
            </a:r>
            <a:r>
              <a:rPr lang="en-US" altLang="en-US" sz="2000" dirty="0"/>
              <a:t>is a data point in cluster </a:t>
            </a:r>
            <a:r>
              <a:rPr lang="en-US" altLang="en-US" sz="2000" i="1" dirty="0" err="1"/>
              <a:t>C</a:t>
            </a:r>
            <a:r>
              <a:rPr lang="en-US" altLang="en-US" sz="2000" baseline="-25000" dirty="0" err="1"/>
              <a:t>i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m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is the representative point for cluster </a:t>
            </a:r>
            <a:r>
              <a:rPr lang="en-US" altLang="en-US" sz="2000" i="1" dirty="0" err="1"/>
              <a:t>C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</a:t>
            </a:r>
          </a:p>
          <a:p>
            <a:pPr marL="1146175" lvl="2" indent="-231775">
              <a:lnSpc>
                <a:spcPct val="90000"/>
              </a:lnSpc>
            </a:pPr>
            <a:r>
              <a:rPr lang="en-US" altLang="en-US" sz="1800" dirty="0"/>
              <a:t>  </a:t>
            </a:r>
            <a:r>
              <a:rPr lang="en-US" altLang="en-US" sz="1800" i="1" dirty="0"/>
              <a:t>m</a:t>
            </a:r>
            <a:r>
              <a:rPr lang="en-US" altLang="en-US" sz="1800" i="1" baseline="-25000" dirty="0"/>
              <a:t>i</a:t>
            </a:r>
            <a:r>
              <a:rPr lang="en-US" altLang="en-US" sz="1800" baseline="-25000" dirty="0"/>
              <a:t> </a:t>
            </a:r>
            <a:r>
              <a:rPr lang="en-US" altLang="en-US" sz="1800" dirty="0"/>
              <a:t>corresponds to the center (mean) of the cluster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Given two sets of clusters, we prefer the one with the smallest error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One easy way to reduce SSE is to increase </a:t>
            </a:r>
            <a:r>
              <a:rPr lang="en-US" altLang="en-US" sz="2000" i="1" dirty="0"/>
              <a:t>K</a:t>
            </a:r>
            <a:r>
              <a:rPr lang="en-US" altLang="en-US" sz="2000" dirty="0"/>
              <a:t>, the number of clusters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A good clustering with smaller K may have a lower SSE than a poor clustering with higher K</a:t>
            </a:r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362200" y="2743200"/>
          <a:ext cx="31750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300" imgH="457200" progId="Equation.3">
                  <p:embed/>
                </p:oleObj>
              </mc:Choice>
              <mc:Fallback>
                <p:oleObj name="Equation" r:id="rId3" imgW="1511300" imgH="457200" progId="Equation.3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743200"/>
                        <a:ext cx="3175000" cy="9604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Two different K-means Clusterings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990600"/>
            <a:ext cx="3043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5410200" y="5881688"/>
            <a:ext cx="2743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Sub-optimal Clustering</a:t>
            </a:r>
          </a:p>
        </p:txBody>
      </p:sp>
      <p:pic>
        <p:nvPicPr>
          <p:cNvPr id="2663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1447800" y="5881688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Optimal Clustering</a:t>
            </a:r>
          </a:p>
        </p:txBody>
      </p: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5257800" y="15240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808038"/>
          </a:xfrm>
        </p:spPr>
        <p:txBody>
          <a:bodyPr/>
          <a:lstStyle/>
          <a:p>
            <a:r>
              <a:rPr lang="en-US" altLang="en-US" dirty="0"/>
              <a:t>Limitations of K-means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K-means has problems when clusters are of differing </a:t>
            </a:r>
          </a:p>
          <a:p>
            <a:pPr lvl="1"/>
            <a:r>
              <a:rPr lang="en-US" altLang="en-US"/>
              <a:t>Sizes</a:t>
            </a:r>
          </a:p>
          <a:p>
            <a:pPr lvl="1"/>
            <a:r>
              <a:rPr lang="en-US" altLang="en-US"/>
              <a:t>Densities</a:t>
            </a:r>
          </a:p>
          <a:p>
            <a:pPr lvl="1"/>
            <a:r>
              <a:rPr lang="en-US" altLang="en-US"/>
              <a:t>Non-globular shapes</a:t>
            </a:r>
          </a:p>
          <a:p>
            <a:endParaRPr lang="en-US" altLang="en-US"/>
          </a:p>
          <a:p>
            <a:r>
              <a:rPr lang="en-US" altLang="en-US"/>
              <a:t>K-means has problems when the data contains outliers.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Limitations of K-means: Differing Sizes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0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762000" y="49530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1690631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6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Limitations of K-means: Differing Density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762000" y="4953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1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1655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16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52450"/>
          </a:xfrm>
        </p:spPr>
        <p:txBody>
          <a:bodyPr/>
          <a:lstStyle/>
          <a:p>
            <a:r>
              <a:rPr lang="en-US" altLang="en-US" sz="2800"/>
              <a:t>Limitations of K-means: Non-globular Shapes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1143000" y="48768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2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2679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(2 Clusters)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267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762000" y="49530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1143000" y="5562600"/>
            <a:ext cx="6553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000" b="0"/>
              <a:t>One solution is to use many clusters.</a:t>
            </a:r>
          </a:p>
          <a:p>
            <a:pPr lvl="1"/>
            <a:r>
              <a:rPr lang="en-US" altLang="en-US" sz="2000" b="0"/>
              <a:t>Find parts of clusters, but need to put together.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762000" y="49530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143000" y="48768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1219200"/>
            <a:ext cx="42687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Importance of Choosing Initial Centroids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Importance of Choosing Initial Centroids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9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Importance of Choosing Initial Centroids …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Importance of Choosing Initial Centroids …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19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219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Problems with Selecting Initial Points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US" altLang="en-US" sz="2200" dirty="0"/>
              <a:t>If there is </a:t>
            </a:r>
            <a:r>
              <a:rPr lang="en-US" altLang="en-US" sz="2200" i="1" dirty="0"/>
              <a:t>K</a:t>
            </a:r>
            <a:r>
              <a:rPr lang="en-US" altLang="en-US" sz="2200" dirty="0"/>
              <a:t> clusters  then the chance of selecting one </a:t>
            </a:r>
            <a:r>
              <a:rPr lang="en-US" altLang="en-US" sz="2200" dirty="0" err="1"/>
              <a:t>centroid</a:t>
            </a:r>
            <a:r>
              <a:rPr lang="en-US" altLang="en-US" sz="2200" dirty="0"/>
              <a:t> from each cluster is small. 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Chance is </a:t>
            </a:r>
            <a:r>
              <a:rPr lang="en-US" altLang="en-US" sz="2000" b="1" i="1" dirty="0"/>
              <a:t>relatively small </a:t>
            </a:r>
            <a:r>
              <a:rPr lang="en-US" altLang="en-US" sz="2000" dirty="0"/>
              <a:t>when </a:t>
            </a:r>
            <a:r>
              <a:rPr lang="en-US" altLang="en-US" sz="2000" i="1" dirty="0"/>
              <a:t>K</a:t>
            </a:r>
            <a:r>
              <a:rPr lang="en-US" altLang="en-US" sz="2000" dirty="0"/>
              <a:t> is large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If clusters are the same size for </a:t>
            </a:r>
            <a:r>
              <a:rPr lang="en-US" altLang="en-US" sz="2000" i="1" dirty="0"/>
              <a:t>n data</a:t>
            </a:r>
            <a:r>
              <a:rPr lang="en-US" altLang="en-US" sz="2000" dirty="0"/>
              <a:t>, then</a:t>
            </a:r>
            <a:br>
              <a:rPr lang="en-US" altLang="en-US" sz="2000" dirty="0"/>
            </a:b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For example, if </a:t>
            </a:r>
            <a:r>
              <a:rPr lang="en-US" altLang="en-US" sz="2000" i="1" dirty="0"/>
              <a:t>K</a:t>
            </a:r>
            <a:r>
              <a:rPr lang="en-US" altLang="en-US" sz="2000" dirty="0"/>
              <a:t> = 10, then probability = 10!/10</a:t>
            </a:r>
            <a:r>
              <a:rPr lang="en-US" altLang="en-US" sz="2000" baseline="30000" dirty="0"/>
              <a:t>10</a:t>
            </a:r>
            <a:r>
              <a:rPr lang="en-US" altLang="en-US" sz="2000" dirty="0"/>
              <a:t> = 0.00036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Sometimes the initial </a:t>
            </a:r>
            <a:r>
              <a:rPr lang="en-US" altLang="en-US" sz="2000" dirty="0" err="1"/>
              <a:t>centroids</a:t>
            </a:r>
            <a:r>
              <a:rPr lang="en-US" altLang="en-US" sz="2000" dirty="0"/>
              <a:t> will readjust themselves in ‘right’ way, and sometimes they don’t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Consider an example of five pairs of clusters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762000" y="2857500"/>
          <a:ext cx="8001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9259102" imgH="960203" progId="PBrush">
                  <p:embed/>
                </p:oleObj>
              </mc:Choice>
              <mc:Fallback>
                <p:oleObj name="Bitmap Image" r:id="rId3" imgW="9259102" imgH="960203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857500"/>
                        <a:ext cx="80010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Solutions to Initial </a:t>
            </a:r>
            <a:r>
              <a:rPr lang="en-US" altLang="en-US" dirty="0" err="1"/>
              <a:t>Centroids</a:t>
            </a:r>
            <a:r>
              <a:rPr lang="en-US" altLang="en-US" dirty="0"/>
              <a:t> Problem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Multiple runs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Helps, but probability is not good enough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Sampling and use hierarchical clustering to determine initial centroids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en-US" dirty="0"/>
              <a:t>   </a:t>
            </a:r>
            <a:r>
              <a:rPr lang="en-US" i="1" dirty="0"/>
              <a:t>Select </a:t>
            </a:r>
            <a:r>
              <a:rPr lang="en-US" b="1" i="1" dirty="0"/>
              <a:t>more than k </a:t>
            </a:r>
            <a:r>
              <a:rPr lang="en-US" i="1" dirty="0"/>
              <a:t>initial centroids and then select among these initial centroids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/>
              <a:t>Select most widely separated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Post-processing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en-US" dirty="0"/>
              <a:t>   </a:t>
            </a:r>
            <a:r>
              <a:rPr lang="en-US" i="1" dirty="0"/>
              <a:t>Generate a larger number of clusters and then perform a hierarchical clustering (merging)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Bisecting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731838"/>
          </a:xfrm>
        </p:spPr>
        <p:txBody>
          <a:bodyPr/>
          <a:lstStyle/>
          <a:p>
            <a:r>
              <a:rPr lang="en-US" altLang="en-US" dirty="0"/>
              <a:t>Empty Clusters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r>
              <a:rPr lang="en-US" altLang="en-US" i="1" dirty="0"/>
              <a:t>K</a:t>
            </a:r>
            <a:r>
              <a:rPr lang="en-US" altLang="en-US" dirty="0"/>
              <a:t>-means can yield empty clusters</a:t>
            </a:r>
          </a:p>
          <a:p>
            <a:endParaRPr lang="en-US" altLang="en-US" dirty="0"/>
          </a:p>
        </p:txBody>
      </p:sp>
      <p:graphicFrame>
        <p:nvGraphicFramePr>
          <p:cNvPr id="1680388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447800" y="3919538"/>
          <a:ext cx="6024563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104880" imgH="1304280" progId="">
                  <p:embed/>
                </p:oleObj>
              </mc:Choice>
              <mc:Fallback>
                <p:oleObj name="VISIO" r:id="rId2" imgW="6104880" imgH="1304280" progId="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919538"/>
                        <a:ext cx="6024563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524000" y="2243138"/>
          <a:ext cx="60325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104880" imgH="1304280" progId="">
                  <p:embed/>
                </p:oleObj>
              </mc:Choice>
              <mc:Fallback>
                <p:oleObj name="VISIO" r:id="rId4" imgW="6104880" imgH="1304280" progId="">
                  <p:embed/>
                  <p:pic>
                    <p:nvPicPr>
                      <p:cNvPr id="0" name="Picture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43138"/>
                        <a:ext cx="60325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0390" name="Rectangle 6"/>
          <p:cNvSpPr>
            <a:spLocks noChangeArrowheads="1"/>
          </p:cNvSpPr>
          <p:nvPr/>
        </p:nvSpPr>
        <p:spPr bwMode="auto">
          <a:xfrm>
            <a:off x="1295400" y="2243138"/>
            <a:ext cx="1828800" cy="9906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1" name="Rectangle 7"/>
          <p:cNvSpPr>
            <a:spLocks noChangeArrowheads="1"/>
          </p:cNvSpPr>
          <p:nvPr/>
        </p:nvSpPr>
        <p:spPr bwMode="auto">
          <a:xfrm>
            <a:off x="3200400" y="2243138"/>
            <a:ext cx="2590800" cy="9906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2" name="Rectangle 8"/>
          <p:cNvSpPr>
            <a:spLocks noChangeArrowheads="1"/>
          </p:cNvSpPr>
          <p:nvPr/>
        </p:nvSpPr>
        <p:spPr bwMode="auto">
          <a:xfrm>
            <a:off x="5943600" y="2243138"/>
            <a:ext cx="1676400" cy="9906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3" name="Rectangle 9"/>
          <p:cNvSpPr>
            <a:spLocks noChangeArrowheads="1"/>
          </p:cNvSpPr>
          <p:nvPr/>
        </p:nvSpPr>
        <p:spPr bwMode="auto">
          <a:xfrm>
            <a:off x="1219200" y="3919538"/>
            <a:ext cx="2362200" cy="10668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4" name="Rectangle 10"/>
          <p:cNvSpPr>
            <a:spLocks noChangeArrowheads="1"/>
          </p:cNvSpPr>
          <p:nvPr/>
        </p:nvSpPr>
        <p:spPr bwMode="auto">
          <a:xfrm>
            <a:off x="5181600" y="3919538"/>
            <a:ext cx="2286000" cy="10668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5" name="AutoShape 11"/>
          <p:cNvSpPr>
            <a:spLocks noChangeArrowheads="1"/>
          </p:cNvSpPr>
          <p:nvPr/>
        </p:nvSpPr>
        <p:spPr bwMode="auto">
          <a:xfrm>
            <a:off x="4495800" y="5334000"/>
            <a:ext cx="1524000" cy="762000"/>
          </a:xfrm>
          <a:prstGeom prst="wedgeRoundRectCallout">
            <a:avLst>
              <a:gd name="adj1" fmla="val -56667"/>
              <a:gd name="adj2" fmla="val -130000"/>
              <a:gd name="adj3" fmla="val 16667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altLang="en-US" sz="2000"/>
              <a:t>Empty Cluster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0390" grpId="0" animBg="1"/>
      <p:bldP spid="1680391" grpId="0" animBg="1"/>
      <p:bldP spid="1680392" grpId="0" animBg="1"/>
      <p:bldP spid="1680393" grpId="0" animBg="1"/>
      <p:bldP spid="1680394" grpId="0" animBg="1"/>
      <p:bldP spid="168039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Empty Clusters</a:t>
            </a:r>
          </a:p>
        </p:txBody>
      </p:sp>
      <p:sp>
        <p:nvSpPr>
          <p:cNvPr id="460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/>
            <a:endParaRPr lang="en-US" altLang="en-US" dirty="0"/>
          </a:p>
          <a:p>
            <a:r>
              <a:rPr lang="en-US" altLang="en-US" dirty="0"/>
              <a:t>Several strategies</a:t>
            </a:r>
          </a:p>
          <a:p>
            <a:pPr lvl="1"/>
            <a:r>
              <a:rPr lang="en-US" altLang="en-US" dirty="0"/>
              <a:t>Choose the point that contributes most to SSE</a:t>
            </a:r>
          </a:p>
          <a:p>
            <a:pPr lvl="1"/>
            <a:r>
              <a:rPr lang="en-US" altLang="en-US" dirty="0"/>
              <a:t>Choose a point from the cluster with the highest SSE</a:t>
            </a:r>
          </a:p>
          <a:p>
            <a:pPr lvl="1"/>
            <a:r>
              <a:rPr lang="en-US" altLang="en-US" dirty="0"/>
              <a:t>If there are several empty clusters, the above can be repeated several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153400" cy="808038"/>
          </a:xfrm>
        </p:spPr>
        <p:txBody>
          <a:bodyPr/>
          <a:lstStyle/>
          <a:p>
            <a:r>
              <a:rPr lang="en-US" altLang="en-US" dirty="0"/>
              <a:t>Updating Centers Incrementally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r>
              <a:rPr lang="en-US" altLang="en-US" dirty="0"/>
              <a:t>In the basic K-means algorithm, </a:t>
            </a:r>
            <a:r>
              <a:rPr lang="en-US" altLang="en-US" dirty="0" err="1"/>
              <a:t>centroids</a:t>
            </a:r>
            <a:r>
              <a:rPr lang="en-US" altLang="en-US" dirty="0"/>
              <a:t> are updated after all points are assigned to a </a:t>
            </a:r>
            <a:r>
              <a:rPr lang="en-US" altLang="en-US" dirty="0" err="1"/>
              <a:t>centroid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en-US" altLang="en-US" dirty="0"/>
              <a:t>An alternative is to update the </a:t>
            </a:r>
            <a:r>
              <a:rPr lang="en-US" altLang="en-US" dirty="0" err="1"/>
              <a:t>centroids</a:t>
            </a:r>
            <a:r>
              <a:rPr lang="en-US" altLang="en-US" dirty="0"/>
              <a:t> after each assignment (incremental approach)</a:t>
            </a:r>
          </a:p>
          <a:p>
            <a:pPr lvl="1"/>
            <a:r>
              <a:rPr lang="en-US" altLang="en-US" dirty="0"/>
              <a:t>Each assignment updates zero or two </a:t>
            </a:r>
            <a:r>
              <a:rPr lang="en-US" altLang="en-US" dirty="0" err="1"/>
              <a:t>centroids</a:t>
            </a:r>
            <a:endParaRPr lang="en-US" altLang="en-US" dirty="0"/>
          </a:p>
          <a:p>
            <a:pPr lvl="1"/>
            <a:r>
              <a:rPr lang="en-US" altLang="en-US" dirty="0"/>
              <a:t>More expensive</a:t>
            </a:r>
          </a:p>
          <a:p>
            <a:pPr lvl="1"/>
            <a:r>
              <a:rPr lang="en-US" altLang="en-US" dirty="0"/>
              <a:t>Introduces an order dependency</a:t>
            </a:r>
          </a:p>
          <a:p>
            <a:pPr lvl="1"/>
            <a:r>
              <a:rPr lang="en-US" altLang="en-US" dirty="0"/>
              <a:t>Never get an empty cluster</a:t>
            </a:r>
          </a:p>
          <a:p>
            <a:pPr lvl="1"/>
            <a:r>
              <a:rPr lang="en-US" altLang="en-US" dirty="0"/>
              <a:t>Can use “weights” to change the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Pre-processing and Post-processing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686800" cy="4411662"/>
          </a:xfrm>
        </p:spPr>
        <p:txBody>
          <a:bodyPr/>
          <a:lstStyle/>
          <a:p>
            <a:r>
              <a:rPr lang="en-US" altLang="en-US" dirty="0"/>
              <a:t>Pre-processing</a:t>
            </a:r>
          </a:p>
          <a:p>
            <a:pPr lvl="1"/>
            <a:r>
              <a:rPr lang="en-US" altLang="en-US" dirty="0"/>
              <a:t>Normalize the data</a:t>
            </a:r>
          </a:p>
          <a:p>
            <a:pPr lvl="1"/>
            <a:r>
              <a:rPr lang="en-US" altLang="en-US" dirty="0"/>
              <a:t>Eliminate outliers</a:t>
            </a:r>
          </a:p>
          <a:p>
            <a:pPr lvl="4"/>
            <a:endParaRPr lang="en-US" altLang="en-US" sz="800" dirty="0"/>
          </a:p>
          <a:p>
            <a:r>
              <a:rPr lang="en-US" altLang="en-US" dirty="0"/>
              <a:t>Post-processing</a:t>
            </a:r>
          </a:p>
          <a:p>
            <a:pPr lvl="1"/>
            <a:r>
              <a:rPr lang="en-US" altLang="en-US" dirty="0"/>
              <a:t>Eliminate small clusters that may represent outliers</a:t>
            </a:r>
          </a:p>
          <a:p>
            <a:pPr lvl="1"/>
            <a:r>
              <a:rPr lang="en-US" altLang="en-US" dirty="0"/>
              <a:t>Split ‘loose’ clusters, i.e., clusters with relatively high SSE</a:t>
            </a:r>
          </a:p>
          <a:p>
            <a:pPr lvl="1"/>
            <a:r>
              <a:rPr lang="en-US" altLang="en-US" dirty="0"/>
              <a:t>Merge clusters that are ‘close’ and that have relatively low SSE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Bisecting K-means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Bisecting K-means algorithm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Variant of K-means that can produce a partitional or a hierarchical clustering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18997"/>
              </p:ext>
            </p:extLst>
          </p:nvPr>
        </p:nvGraphicFramePr>
        <p:xfrm>
          <a:off x="228600" y="2971800"/>
          <a:ext cx="8694738" cy="259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8694360" imgH="3132000" progId="PBrush">
                  <p:embed/>
                </p:oleObj>
              </mc:Choice>
              <mc:Fallback>
                <p:oleObj name="Bitmap Image" r:id="rId3" imgW="8694360" imgH="3132000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7029"/>
                      <a:stretch>
                        <a:fillRect/>
                      </a:stretch>
                    </p:blipFill>
                    <p:spPr bwMode="auto">
                      <a:xfrm>
                        <a:off x="228600" y="2971800"/>
                        <a:ext cx="8694738" cy="259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rm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Variations of the </a:t>
            </a:r>
            <a:r>
              <a:rPr lang="en-US" altLang="zh-CN" sz="3600" i="1" dirty="0">
                <a:solidFill>
                  <a:schemeClr val="tx2"/>
                </a:solidFill>
                <a:latin typeface="+mj-lt"/>
                <a:ea typeface="SimSun" pitchFamily="2" charset="-122"/>
              </a:rPr>
              <a:t>K-Means</a:t>
            </a: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 Method</a:t>
            </a:r>
            <a:endParaRPr lang="en-US" altLang="zh-CN" sz="3600" dirty="0">
              <a:solidFill>
                <a:schemeClr val="tx2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4582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Most of the variants of the </a:t>
            </a:r>
            <a:r>
              <a:rPr lang="en-US" altLang="zh-CN" sz="2000" i="1" dirty="0">
                <a:ea typeface="SimSun" pitchFamily="2" charset="-122"/>
              </a:rPr>
              <a:t>k-means</a:t>
            </a:r>
            <a:r>
              <a:rPr lang="en-US" altLang="zh-CN" sz="2000" dirty="0">
                <a:ea typeface="SimSun" pitchFamily="2" charset="-122"/>
              </a:rPr>
              <a:t> which differ in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Selection of the initial </a:t>
            </a:r>
            <a:r>
              <a:rPr lang="en-US" altLang="zh-CN" sz="2000" i="1" dirty="0">
                <a:ea typeface="SimSun" pitchFamily="2" charset="-122"/>
              </a:rPr>
              <a:t>k</a:t>
            </a:r>
            <a:r>
              <a:rPr lang="en-US" altLang="zh-CN" sz="2000" dirty="0">
                <a:ea typeface="SimSun" pitchFamily="2" charset="-122"/>
              </a:rPr>
              <a:t> means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Dissimilarity calculations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Strategies to calculate cluster means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Handling categorical data: </a:t>
            </a:r>
            <a:r>
              <a:rPr lang="en-US" altLang="zh-CN" sz="2000" i="1" dirty="0">
                <a:ea typeface="SimSun" pitchFamily="2" charset="-122"/>
              </a:rPr>
              <a:t>k-modes</a:t>
            </a:r>
            <a:endParaRPr lang="en-US" altLang="zh-CN" sz="2000" dirty="0">
              <a:ea typeface="SimSun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Replacing means of clusters with </a:t>
            </a:r>
            <a:r>
              <a:rPr lang="en-US" altLang="zh-CN" sz="2000" u="sng" dirty="0">
                <a:ea typeface="SimSun" pitchFamily="2" charset="-122"/>
              </a:rPr>
              <a:t>modes</a:t>
            </a:r>
            <a:endParaRPr lang="en-US" altLang="zh-CN" sz="2000" dirty="0">
              <a:ea typeface="SimSun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Using new dissimilarity measures to deal with categorical objects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Using a </a:t>
            </a:r>
            <a:r>
              <a:rPr lang="en-US" altLang="zh-CN" sz="2000" u="sng" dirty="0">
                <a:ea typeface="SimSun" pitchFamily="2" charset="-122"/>
              </a:rPr>
              <a:t>frequency</a:t>
            </a:r>
            <a:r>
              <a:rPr lang="en-US" altLang="zh-CN" sz="2000" dirty="0">
                <a:ea typeface="SimSun" pitchFamily="2" charset="-122"/>
              </a:rPr>
              <a:t>-based method to update modes of clusters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ea typeface="SimSun" pitchFamily="2" charset="-122"/>
              </a:rPr>
              <a:t>A mixture of categorical and numerical data: </a:t>
            </a:r>
            <a:r>
              <a:rPr lang="en-US" altLang="zh-CN" sz="2000" i="1" dirty="0">
                <a:ea typeface="SimSun" pitchFamily="2" charset="-122"/>
              </a:rPr>
              <a:t>k-prototype</a:t>
            </a:r>
            <a:r>
              <a:rPr lang="en-US" altLang="zh-CN" sz="2000" dirty="0">
                <a:ea typeface="SimSun" pitchFamily="2" charset="-122"/>
              </a:rPr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E522186-B18C-493C-A6E6-DF525BA6A179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rm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ko-KR" sz="3600" dirty="0">
                <a:solidFill>
                  <a:schemeClr val="tx2"/>
                </a:solidFill>
                <a:latin typeface="+mj-lt"/>
                <a:ea typeface="Gulim" pitchFamily="34" charset="-127"/>
              </a:rPr>
              <a:t>Problem of the K-Means Method</a:t>
            </a:r>
            <a:endParaRPr lang="en-US" altLang="zh-CN" sz="3600" dirty="0">
              <a:solidFill>
                <a:schemeClr val="tx2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3440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ko-KR" sz="2200" dirty="0">
                <a:ea typeface="Gulim" pitchFamily="34" charset="-127"/>
              </a:rPr>
              <a:t>The </a:t>
            </a:r>
            <a:r>
              <a:rPr lang="en-US" altLang="ko-KR" sz="2200" i="1" dirty="0">
                <a:ea typeface="Gulim" pitchFamily="34" charset="-127"/>
              </a:rPr>
              <a:t>K</a:t>
            </a:r>
            <a:r>
              <a:rPr lang="en-US" altLang="ko-KR" sz="2200" dirty="0">
                <a:ea typeface="Gulim" pitchFamily="34" charset="-127"/>
              </a:rPr>
              <a:t>-means algorithm is sensitive to outliers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ko-KR" sz="2200" dirty="0">
                <a:ea typeface="Gulim" pitchFamily="34" charset="-127"/>
              </a:rPr>
              <a:t>Since an object with an extremely large value may substantially distort the distribution of the data. </a:t>
            </a:r>
            <a:r>
              <a:rPr lang="en-US" altLang="ko-KR" sz="2200" dirty="0" err="1">
                <a:ea typeface="Gulim" pitchFamily="34" charset="-127"/>
              </a:rPr>
              <a:t>Centroid</a:t>
            </a:r>
            <a:r>
              <a:rPr lang="en-US" altLang="ko-KR" sz="2200" dirty="0">
                <a:ea typeface="Gulim" pitchFamily="34" charset="-127"/>
              </a:rPr>
              <a:t> is not the data point.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200" i="1" dirty="0">
                <a:ea typeface="Gulim" pitchFamily="34" charset="-127"/>
              </a:rPr>
              <a:t>K</a:t>
            </a:r>
            <a:r>
              <a:rPr lang="en-US" altLang="ko-KR" sz="2200" dirty="0">
                <a:ea typeface="Gulim" pitchFamily="34" charset="-127"/>
              </a:rPr>
              <a:t>-</a:t>
            </a:r>
            <a:r>
              <a:rPr lang="en-US" altLang="ko-KR" sz="2200" i="1" dirty="0" err="1">
                <a:ea typeface="Gulim" pitchFamily="34" charset="-127"/>
              </a:rPr>
              <a:t>Medoids</a:t>
            </a:r>
            <a:r>
              <a:rPr lang="en-US" altLang="ko-KR" sz="2200" dirty="0">
                <a:ea typeface="Gulim" pitchFamily="34" charset="-127"/>
              </a:rPr>
              <a:t>:  Instead of taking the </a:t>
            </a:r>
            <a:r>
              <a:rPr lang="en-US" altLang="ko-KR" sz="2200" b="1" dirty="0">
                <a:ea typeface="Gulim" pitchFamily="34" charset="-127"/>
              </a:rPr>
              <a:t>mean</a:t>
            </a:r>
            <a:r>
              <a:rPr lang="en-US" altLang="ko-KR" sz="2200" dirty="0">
                <a:ea typeface="Gulim" pitchFamily="34" charset="-127"/>
              </a:rPr>
              <a:t> value of the object in a cluster as a reference point, </a:t>
            </a:r>
            <a:r>
              <a:rPr lang="en-US" altLang="ko-KR" sz="2200" b="1" dirty="0" err="1">
                <a:ea typeface="Gulim" pitchFamily="34" charset="-127"/>
              </a:rPr>
              <a:t>medoids</a:t>
            </a:r>
            <a:r>
              <a:rPr lang="en-US" altLang="ko-KR" sz="2200" dirty="0">
                <a:ea typeface="Gulim" pitchFamily="34" charset="-127"/>
              </a:rPr>
              <a:t> can be used, which is the </a:t>
            </a:r>
            <a:r>
              <a:rPr lang="en-US" altLang="ko-KR" sz="2200" b="1" dirty="0">
                <a:ea typeface="Gulim" pitchFamily="34" charset="-127"/>
              </a:rPr>
              <a:t>most centrally located</a:t>
            </a:r>
            <a:r>
              <a:rPr lang="en-US" altLang="ko-KR" sz="2200" dirty="0">
                <a:ea typeface="Gulim" pitchFamily="34" charset="-127"/>
              </a:rPr>
              <a:t> object in a cluster</a:t>
            </a: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2057400" y="4724400"/>
            <a:ext cx="5257800" cy="1765300"/>
            <a:chOff x="1344" y="3072"/>
            <a:chExt cx="3312" cy="1112"/>
          </a:xfrm>
        </p:grpSpPr>
        <p:grpSp>
          <p:nvGrpSpPr>
            <p:cNvPr id="3" name="Group 1029"/>
            <p:cNvGrpSpPr>
              <a:grpSpLocks/>
            </p:cNvGrpSpPr>
            <p:nvPr/>
          </p:nvGrpSpPr>
          <p:grpSpPr bwMode="auto">
            <a:xfrm>
              <a:off x="1344" y="3072"/>
              <a:ext cx="1248" cy="1112"/>
              <a:chOff x="1728" y="864"/>
              <a:chExt cx="1396" cy="1208"/>
            </a:xfrm>
          </p:grpSpPr>
          <p:sp>
            <p:nvSpPr>
              <p:cNvPr id="29789" name="Rectangle 1030"/>
              <p:cNvSpPr>
                <a:spLocks noChangeArrowheads="1"/>
              </p:cNvSpPr>
              <p:nvPr/>
            </p:nvSpPr>
            <p:spPr bwMode="auto">
              <a:xfrm>
                <a:off x="1728" y="864"/>
                <a:ext cx="1396" cy="1208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  <p:sp>
            <p:nvSpPr>
              <p:cNvPr id="29790" name="Rectangle 1031"/>
              <p:cNvSpPr>
                <a:spLocks noChangeArrowheads="1"/>
              </p:cNvSpPr>
              <p:nvPr/>
            </p:nvSpPr>
            <p:spPr bwMode="auto">
              <a:xfrm>
                <a:off x="1861" y="950"/>
                <a:ext cx="1198" cy="9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  <p:sp>
            <p:nvSpPr>
              <p:cNvPr id="29791" name="Line 1032"/>
              <p:cNvSpPr>
                <a:spLocks noChangeShapeType="1"/>
              </p:cNvSpPr>
              <p:nvPr/>
            </p:nvSpPr>
            <p:spPr bwMode="auto">
              <a:xfrm>
                <a:off x="1861" y="1828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2" name="Line 1033"/>
              <p:cNvSpPr>
                <a:spLocks noChangeShapeType="1"/>
              </p:cNvSpPr>
              <p:nvPr/>
            </p:nvSpPr>
            <p:spPr bwMode="auto">
              <a:xfrm>
                <a:off x="1861" y="173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3" name="Line 1034"/>
              <p:cNvSpPr>
                <a:spLocks noChangeShapeType="1"/>
              </p:cNvSpPr>
              <p:nvPr/>
            </p:nvSpPr>
            <p:spPr bwMode="auto">
              <a:xfrm>
                <a:off x="1861" y="1633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4" name="Line 1035"/>
              <p:cNvSpPr>
                <a:spLocks noChangeShapeType="1"/>
              </p:cNvSpPr>
              <p:nvPr/>
            </p:nvSpPr>
            <p:spPr bwMode="auto">
              <a:xfrm>
                <a:off x="1861" y="153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5" name="Line 1036"/>
              <p:cNvSpPr>
                <a:spLocks noChangeShapeType="1"/>
              </p:cNvSpPr>
              <p:nvPr/>
            </p:nvSpPr>
            <p:spPr bwMode="auto">
              <a:xfrm>
                <a:off x="1861" y="143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6" name="Line 1037"/>
              <p:cNvSpPr>
                <a:spLocks noChangeShapeType="1"/>
              </p:cNvSpPr>
              <p:nvPr/>
            </p:nvSpPr>
            <p:spPr bwMode="auto">
              <a:xfrm>
                <a:off x="1861" y="134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7" name="Line 1038"/>
              <p:cNvSpPr>
                <a:spLocks noChangeShapeType="1"/>
              </p:cNvSpPr>
              <p:nvPr/>
            </p:nvSpPr>
            <p:spPr bwMode="auto">
              <a:xfrm>
                <a:off x="1861" y="1242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8" name="Line 1039"/>
              <p:cNvSpPr>
                <a:spLocks noChangeShapeType="1"/>
              </p:cNvSpPr>
              <p:nvPr/>
            </p:nvSpPr>
            <p:spPr bwMode="auto">
              <a:xfrm>
                <a:off x="1861" y="114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9" name="Line 1040"/>
              <p:cNvSpPr>
                <a:spLocks noChangeShapeType="1"/>
              </p:cNvSpPr>
              <p:nvPr/>
            </p:nvSpPr>
            <p:spPr bwMode="auto">
              <a:xfrm>
                <a:off x="1861" y="104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0" name="Line 1041"/>
              <p:cNvSpPr>
                <a:spLocks noChangeShapeType="1"/>
              </p:cNvSpPr>
              <p:nvPr/>
            </p:nvSpPr>
            <p:spPr bwMode="auto">
              <a:xfrm>
                <a:off x="1861" y="95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1" name="Line 1042"/>
              <p:cNvSpPr>
                <a:spLocks noChangeShapeType="1"/>
              </p:cNvSpPr>
              <p:nvPr/>
            </p:nvSpPr>
            <p:spPr bwMode="auto">
              <a:xfrm>
                <a:off x="198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2" name="Line 1043"/>
              <p:cNvSpPr>
                <a:spLocks noChangeShapeType="1"/>
              </p:cNvSpPr>
              <p:nvPr/>
            </p:nvSpPr>
            <p:spPr bwMode="auto">
              <a:xfrm>
                <a:off x="2102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3" name="Line 1044"/>
              <p:cNvSpPr>
                <a:spLocks noChangeShapeType="1"/>
              </p:cNvSpPr>
              <p:nvPr/>
            </p:nvSpPr>
            <p:spPr bwMode="auto">
              <a:xfrm>
                <a:off x="221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4" name="Line 1045"/>
              <p:cNvSpPr>
                <a:spLocks noChangeShapeType="1"/>
              </p:cNvSpPr>
              <p:nvPr/>
            </p:nvSpPr>
            <p:spPr bwMode="auto">
              <a:xfrm>
                <a:off x="233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5" name="Line 1046"/>
              <p:cNvSpPr>
                <a:spLocks noChangeShapeType="1"/>
              </p:cNvSpPr>
              <p:nvPr/>
            </p:nvSpPr>
            <p:spPr bwMode="auto">
              <a:xfrm>
                <a:off x="2460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6" name="Line 1047"/>
              <p:cNvSpPr>
                <a:spLocks noChangeShapeType="1"/>
              </p:cNvSpPr>
              <p:nvPr/>
            </p:nvSpPr>
            <p:spPr bwMode="auto">
              <a:xfrm>
                <a:off x="258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7" name="Line 1048"/>
              <p:cNvSpPr>
                <a:spLocks noChangeShapeType="1"/>
              </p:cNvSpPr>
              <p:nvPr/>
            </p:nvSpPr>
            <p:spPr bwMode="auto">
              <a:xfrm>
                <a:off x="270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8" name="Line 1049"/>
              <p:cNvSpPr>
                <a:spLocks noChangeShapeType="1"/>
              </p:cNvSpPr>
              <p:nvPr/>
            </p:nvSpPr>
            <p:spPr bwMode="auto">
              <a:xfrm>
                <a:off x="2818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9" name="Line 1050"/>
              <p:cNvSpPr>
                <a:spLocks noChangeShapeType="1"/>
              </p:cNvSpPr>
              <p:nvPr/>
            </p:nvSpPr>
            <p:spPr bwMode="auto">
              <a:xfrm>
                <a:off x="293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0" name="Line 1051"/>
              <p:cNvSpPr>
                <a:spLocks noChangeShapeType="1"/>
              </p:cNvSpPr>
              <p:nvPr/>
            </p:nvSpPr>
            <p:spPr bwMode="auto">
              <a:xfrm>
                <a:off x="305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1" name="Rectangle 1052"/>
              <p:cNvSpPr>
                <a:spLocks noChangeArrowheads="1"/>
              </p:cNvSpPr>
              <p:nvPr/>
            </p:nvSpPr>
            <p:spPr bwMode="auto">
              <a:xfrm>
                <a:off x="1861" y="950"/>
                <a:ext cx="1198" cy="975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  <p:sp>
            <p:nvSpPr>
              <p:cNvPr id="29812" name="Line 1053"/>
              <p:cNvSpPr>
                <a:spLocks noChangeShapeType="1"/>
              </p:cNvSpPr>
              <p:nvPr/>
            </p:nvSpPr>
            <p:spPr bwMode="auto">
              <a:xfrm>
                <a:off x="186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3" name="Line 1054"/>
              <p:cNvSpPr>
                <a:spLocks noChangeShapeType="1"/>
              </p:cNvSpPr>
              <p:nvPr/>
            </p:nvSpPr>
            <p:spPr bwMode="auto">
              <a:xfrm>
                <a:off x="1849" y="192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4" name="Line 1055"/>
              <p:cNvSpPr>
                <a:spLocks noChangeShapeType="1"/>
              </p:cNvSpPr>
              <p:nvPr/>
            </p:nvSpPr>
            <p:spPr bwMode="auto">
              <a:xfrm>
                <a:off x="1849" y="1828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5" name="Line 1056"/>
              <p:cNvSpPr>
                <a:spLocks noChangeShapeType="1"/>
              </p:cNvSpPr>
              <p:nvPr/>
            </p:nvSpPr>
            <p:spPr bwMode="auto">
              <a:xfrm>
                <a:off x="1849" y="173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6" name="Line 1057"/>
              <p:cNvSpPr>
                <a:spLocks noChangeShapeType="1"/>
              </p:cNvSpPr>
              <p:nvPr/>
            </p:nvSpPr>
            <p:spPr bwMode="auto">
              <a:xfrm>
                <a:off x="1849" y="1633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7" name="Line 1058"/>
              <p:cNvSpPr>
                <a:spLocks noChangeShapeType="1"/>
              </p:cNvSpPr>
              <p:nvPr/>
            </p:nvSpPr>
            <p:spPr bwMode="auto">
              <a:xfrm>
                <a:off x="1849" y="153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8" name="Line 1059"/>
              <p:cNvSpPr>
                <a:spLocks noChangeShapeType="1"/>
              </p:cNvSpPr>
              <p:nvPr/>
            </p:nvSpPr>
            <p:spPr bwMode="auto">
              <a:xfrm>
                <a:off x="1849" y="143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9" name="Line 1060"/>
              <p:cNvSpPr>
                <a:spLocks noChangeShapeType="1"/>
              </p:cNvSpPr>
              <p:nvPr/>
            </p:nvSpPr>
            <p:spPr bwMode="auto">
              <a:xfrm>
                <a:off x="1849" y="134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0" name="Line 1061"/>
              <p:cNvSpPr>
                <a:spLocks noChangeShapeType="1"/>
              </p:cNvSpPr>
              <p:nvPr/>
            </p:nvSpPr>
            <p:spPr bwMode="auto">
              <a:xfrm>
                <a:off x="1849" y="1242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1" name="Line 1062"/>
              <p:cNvSpPr>
                <a:spLocks noChangeShapeType="1"/>
              </p:cNvSpPr>
              <p:nvPr/>
            </p:nvSpPr>
            <p:spPr bwMode="auto">
              <a:xfrm>
                <a:off x="1849" y="114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2" name="Line 1063"/>
              <p:cNvSpPr>
                <a:spLocks noChangeShapeType="1"/>
              </p:cNvSpPr>
              <p:nvPr/>
            </p:nvSpPr>
            <p:spPr bwMode="auto">
              <a:xfrm>
                <a:off x="1849" y="104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3" name="Line 1064"/>
              <p:cNvSpPr>
                <a:spLocks noChangeShapeType="1"/>
              </p:cNvSpPr>
              <p:nvPr/>
            </p:nvSpPr>
            <p:spPr bwMode="auto">
              <a:xfrm>
                <a:off x="1849" y="95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4" name="Line 1065"/>
              <p:cNvSpPr>
                <a:spLocks noChangeShapeType="1"/>
              </p:cNvSpPr>
              <p:nvPr/>
            </p:nvSpPr>
            <p:spPr bwMode="auto">
              <a:xfrm>
                <a:off x="1861" y="192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5" name="Line 1066"/>
              <p:cNvSpPr>
                <a:spLocks noChangeShapeType="1"/>
              </p:cNvSpPr>
              <p:nvPr/>
            </p:nvSpPr>
            <p:spPr bwMode="auto">
              <a:xfrm flipV="1">
                <a:off x="186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6" name="Line 1067"/>
              <p:cNvSpPr>
                <a:spLocks noChangeShapeType="1"/>
              </p:cNvSpPr>
              <p:nvPr/>
            </p:nvSpPr>
            <p:spPr bwMode="auto">
              <a:xfrm flipV="1">
                <a:off x="198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7" name="Line 1068"/>
              <p:cNvSpPr>
                <a:spLocks noChangeShapeType="1"/>
              </p:cNvSpPr>
              <p:nvPr/>
            </p:nvSpPr>
            <p:spPr bwMode="auto">
              <a:xfrm flipV="1">
                <a:off x="2102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8" name="Line 1069"/>
              <p:cNvSpPr>
                <a:spLocks noChangeShapeType="1"/>
              </p:cNvSpPr>
              <p:nvPr/>
            </p:nvSpPr>
            <p:spPr bwMode="auto">
              <a:xfrm flipV="1">
                <a:off x="221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9" name="Line 1070"/>
              <p:cNvSpPr>
                <a:spLocks noChangeShapeType="1"/>
              </p:cNvSpPr>
              <p:nvPr/>
            </p:nvSpPr>
            <p:spPr bwMode="auto">
              <a:xfrm flipV="1">
                <a:off x="233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0" name="Line 1071"/>
              <p:cNvSpPr>
                <a:spLocks noChangeShapeType="1"/>
              </p:cNvSpPr>
              <p:nvPr/>
            </p:nvSpPr>
            <p:spPr bwMode="auto">
              <a:xfrm flipV="1">
                <a:off x="2460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1" name="Line 1072"/>
              <p:cNvSpPr>
                <a:spLocks noChangeShapeType="1"/>
              </p:cNvSpPr>
              <p:nvPr/>
            </p:nvSpPr>
            <p:spPr bwMode="auto">
              <a:xfrm flipV="1">
                <a:off x="258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2" name="Line 1073"/>
              <p:cNvSpPr>
                <a:spLocks noChangeShapeType="1"/>
              </p:cNvSpPr>
              <p:nvPr/>
            </p:nvSpPr>
            <p:spPr bwMode="auto">
              <a:xfrm flipV="1">
                <a:off x="270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3" name="Line 1074"/>
              <p:cNvSpPr>
                <a:spLocks noChangeShapeType="1"/>
              </p:cNvSpPr>
              <p:nvPr/>
            </p:nvSpPr>
            <p:spPr bwMode="auto">
              <a:xfrm flipV="1">
                <a:off x="2818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4" name="Line 1075"/>
              <p:cNvSpPr>
                <a:spLocks noChangeShapeType="1"/>
              </p:cNvSpPr>
              <p:nvPr/>
            </p:nvSpPr>
            <p:spPr bwMode="auto">
              <a:xfrm flipV="1">
                <a:off x="293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5" name="Line 1076"/>
              <p:cNvSpPr>
                <a:spLocks noChangeShapeType="1"/>
              </p:cNvSpPr>
              <p:nvPr/>
            </p:nvSpPr>
            <p:spPr bwMode="auto">
              <a:xfrm flipV="1">
                <a:off x="305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6" name="Freeform 1077"/>
              <p:cNvSpPr>
                <a:spLocks/>
              </p:cNvSpPr>
              <p:nvPr/>
            </p:nvSpPr>
            <p:spPr bwMode="auto">
              <a:xfrm>
                <a:off x="2191" y="1507"/>
                <a:ext cx="56" cy="56"/>
              </a:xfrm>
              <a:custGeom>
                <a:avLst/>
                <a:gdLst>
                  <a:gd name="T0" fmla="*/ 28 w 56"/>
                  <a:gd name="T1" fmla="*/ 0 h 56"/>
                  <a:gd name="T2" fmla="*/ 56 w 56"/>
                  <a:gd name="T3" fmla="*/ 28 h 56"/>
                  <a:gd name="T4" fmla="*/ 28 w 56"/>
                  <a:gd name="T5" fmla="*/ 56 h 56"/>
                  <a:gd name="T6" fmla="*/ 0 w 56"/>
                  <a:gd name="T7" fmla="*/ 28 h 56"/>
                  <a:gd name="T8" fmla="*/ 28 w 56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6"/>
                  <a:gd name="T17" fmla="*/ 56 w 56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6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7" name="Freeform 1078"/>
              <p:cNvSpPr>
                <a:spLocks/>
              </p:cNvSpPr>
              <p:nvPr/>
            </p:nvSpPr>
            <p:spPr bwMode="auto">
              <a:xfrm>
                <a:off x="2191" y="1311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8" name="Freeform 1079"/>
              <p:cNvSpPr>
                <a:spLocks/>
              </p:cNvSpPr>
              <p:nvPr/>
            </p:nvSpPr>
            <p:spPr bwMode="auto">
              <a:xfrm>
                <a:off x="2673" y="160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9 h 57"/>
                  <a:gd name="T4" fmla="*/ 28 w 57"/>
                  <a:gd name="T5" fmla="*/ 57 h 57"/>
                  <a:gd name="T6" fmla="*/ 0 w 57"/>
                  <a:gd name="T7" fmla="*/ 29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9" name="Freeform 1080"/>
              <p:cNvSpPr>
                <a:spLocks/>
              </p:cNvSpPr>
              <p:nvPr/>
            </p:nvSpPr>
            <p:spPr bwMode="auto">
              <a:xfrm>
                <a:off x="2311" y="121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0" name="Freeform 1081"/>
              <p:cNvSpPr>
                <a:spLocks/>
              </p:cNvSpPr>
              <p:nvPr/>
            </p:nvSpPr>
            <p:spPr bwMode="auto">
              <a:xfrm>
                <a:off x="2191" y="1116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1" name="Freeform 1082"/>
              <p:cNvSpPr>
                <a:spLocks/>
              </p:cNvSpPr>
              <p:nvPr/>
            </p:nvSpPr>
            <p:spPr bwMode="auto">
              <a:xfrm>
                <a:off x="2790" y="14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2" name="Freeform 1083"/>
              <p:cNvSpPr>
                <a:spLocks/>
              </p:cNvSpPr>
              <p:nvPr/>
            </p:nvSpPr>
            <p:spPr bwMode="auto">
              <a:xfrm>
                <a:off x="2311" y="1409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3" name="Freeform 1084"/>
              <p:cNvSpPr>
                <a:spLocks/>
              </p:cNvSpPr>
              <p:nvPr/>
            </p:nvSpPr>
            <p:spPr bwMode="auto">
              <a:xfrm>
                <a:off x="2432" y="179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4" name="Freeform 1085"/>
              <p:cNvSpPr>
                <a:spLocks/>
              </p:cNvSpPr>
              <p:nvPr/>
            </p:nvSpPr>
            <p:spPr bwMode="auto">
              <a:xfrm>
                <a:off x="2673" y="1507"/>
                <a:ext cx="57" cy="56"/>
              </a:xfrm>
              <a:custGeom>
                <a:avLst/>
                <a:gdLst>
                  <a:gd name="T0" fmla="*/ 28 w 57"/>
                  <a:gd name="T1" fmla="*/ 0 h 56"/>
                  <a:gd name="T2" fmla="*/ 57 w 57"/>
                  <a:gd name="T3" fmla="*/ 28 h 56"/>
                  <a:gd name="T4" fmla="*/ 28 w 57"/>
                  <a:gd name="T5" fmla="*/ 56 h 56"/>
                  <a:gd name="T6" fmla="*/ 0 w 57"/>
                  <a:gd name="T7" fmla="*/ 28 h 56"/>
                  <a:gd name="T8" fmla="*/ 28 w 57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6"/>
                  <a:gd name="T17" fmla="*/ 57 w 57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6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5" name="Freeform 1086"/>
              <p:cNvSpPr>
                <a:spLocks/>
              </p:cNvSpPr>
              <p:nvPr/>
            </p:nvSpPr>
            <p:spPr bwMode="auto">
              <a:xfrm>
                <a:off x="2432" y="14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6" name="Rectangle 1087"/>
              <p:cNvSpPr>
                <a:spLocks noChangeArrowheads="1"/>
              </p:cNvSpPr>
              <p:nvPr/>
            </p:nvSpPr>
            <p:spPr bwMode="auto">
              <a:xfrm>
                <a:off x="1805" y="1897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0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47" name="Rectangle 1088"/>
              <p:cNvSpPr>
                <a:spLocks noChangeArrowheads="1"/>
              </p:cNvSpPr>
              <p:nvPr/>
            </p:nvSpPr>
            <p:spPr bwMode="auto">
              <a:xfrm>
                <a:off x="1805" y="1799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1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48" name="Rectangle 1089"/>
              <p:cNvSpPr>
                <a:spLocks noChangeArrowheads="1"/>
              </p:cNvSpPr>
              <p:nvPr/>
            </p:nvSpPr>
            <p:spPr bwMode="auto">
              <a:xfrm>
                <a:off x="1805" y="170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2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49" name="Rectangle 1090"/>
              <p:cNvSpPr>
                <a:spLocks noChangeArrowheads="1"/>
              </p:cNvSpPr>
              <p:nvPr/>
            </p:nvSpPr>
            <p:spPr bwMode="auto">
              <a:xfrm>
                <a:off x="1805" y="1604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3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0" name="Rectangle 1091"/>
              <p:cNvSpPr>
                <a:spLocks noChangeArrowheads="1"/>
              </p:cNvSpPr>
              <p:nvPr/>
            </p:nvSpPr>
            <p:spPr bwMode="auto">
              <a:xfrm>
                <a:off x="1805" y="1507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4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1" name="Rectangle 1092"/>
              <p:cNvSpPr>
                <a:spLocks noChangeArrowheads="1"/>
              </p:cNvSpPr>
              <p:nvPr/>
            </p:nvSpPr>
            <p:spPr bwMode="auto">
              <a:xfrm>
                <a:off x="1805" y="1409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5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2" name="Rectangle 1093"/>
              <p:cNvSpPr>
                <a:spLocks noChangeArrowheads="1"/>
              </p:cNvSpPr>
              <p:nvPr/>
            </p:nvSpPr>
            <p:spPr bwMode="auto">
              <a:xfrm>
                <a:off x="1805" y="1310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6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3" name="Rectangle 1094"/>
              <p:cNvSpPr>
                <a:spLocks noChangeArrowheads="1"/>
              </p:cNvSpPr>
              <p:nvPr/>
            </p:nvSpPr>
            <p:spPr bwMode="auto">
              <a:xfrm>
                <a:off x="1805" y="1214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7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4" name="Rectangle 1095"/>
              <p:cNvSpPr>
                <a:spLocks noChangeArrowheads="1"/>
              </p:cNvSpPr>
              <p:nvPr/>
            </p:nvSpPr>
            <p:spPr bwMode="auto">
              <a:xfrm>
                <a:off x="1805" y="1116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8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5" name="Rectangle 1096"/>
              <p:cNvSpPr>
                <a:spLocks noChangeArrowheads="1"/>
              </p:cNvSpPr>
              <p:nvPr/>
            </p:nvSpPr>
            <p:spPr bwMode="auto">
              <a:xfrm>
                <a:off x="1805" y="1019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9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6" name="Rectangle 1097"/>
              <p:cNvSpPr>
                <a:spLocks noChangeArrowheads="1"/>
              </p:cNvSpPr>
              <p:nvPr/>
            </p:nvSpPr>
            <p:spPr bwMode="auto">
              <a:xfrm>
                <a:off x="1779" y="920"/>
                <a:ext cx="6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10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7" name="Rectangle 1098"/>
              <p:cNvSpPr>
                <a:spLocks noChangeArrowheads="1"/>
              </p:cNvSpPr>
              <p:nvPr/>
            </p:nvSpPr>
            <p:spPr bwMode="auto">
              <a:xfrm>
                <a:off x="1849" y="19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0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8" name="Rectangle 1099"/>
              <p:cNvSpPr>
                <a:spLocks noChangeArrowheads="1"/>
              </p:cNvSpPr>
              <p:nvPr/>
            </p:nvSpPr>
            <p:spPr bwMode="auto">
              <a:xfrm>
                <a:off x="1968" y="19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1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59" name="Rectangle 1100"/>
              <p:cNvSpPr>
                <a:spLocks noChangeArrowheads="1"/>
              </p:cNvSpPr>
              <p:nvPr/>
            </p:nvSpPr>
            <p:spPr bwMode="auto">
              <a:xfrm>
                <a:off x="2090" y="19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2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0" name="Rectangle 1101"/>
              <p:cNvSpPr>
                <a:spLocks noChangeArrowheads="1"/>
              </p:cNvSpPr>
              <p:nvPr/>
            </p:nvSpPr>
            <p:spPr bwMode="auto">
              <a:xfrm>
                <a:off x="2207" y="19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3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1" name="Rectangle 1102"/>
              <p:cNvSpPr>
                <a:spLocks noChangeArrowheads="1"/>
              </p:cNvSpPr>
              <p:nvPr/>
            </p:nvSpPr>
            <p:spPr bwMode="auto">
              <a:xfrm>
                <a:off x="2326" y="19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4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2" name="Rectangle 1103"/>
              <p:cNvSpPr>
                <a:spLocks noChangeArrowheads="1"/>
              </p:cNvSpPr>
              <p:nvPr/>
            </p:nvSpPr>
            <p:spPr bwMode="auto">
              <a:xfrm>
                <a:off x="2448" y="19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5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3" name="Rectangle 1104"/>
              <p:cNvSpPr>
                <a:spLocks noChangeArrowheads="1"/>
              </p:cNvSpPr>
              <p:nvPr/>
            </p:nvSpPr>
            <p:spPr bwMode="auto">
              <a:xfrm>
                <a:off x="2569" y="19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6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4" name="Rectangle 1105"/>
              <p:cNvSpPr>
                <a:spLocks noChangeArrowheads="1"/>
              </p:cNvSpPr>
              <p:nvPr/>
            </p:nvSpPr>
            <p:spPr bwMode="auto">
              <a:xfrm>
                <a:off x="2689" y="19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7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5" name="Rectangle 1106"/>
              <p:cNvSpPr>
                <a:spLocks noChangeArrowheads="1"/>
              </p:cNvSpPr>
              <p:nvPr/>
            </p:nvSpPr>
            <p:spPr bwMode="auto">
              <a:xfrm>
                <a:off x="2806" y="19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8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6" name="Rectangle 1107"/>
              <p:cNvSpPr>
                <a:spLocks noChangeArrowheads="1"/>
              </p:cNvSpPr>
              <p:nvPr/>
            </p:nvSpPr>
            <p:spPr bwMode="auto">
              <a:xfrm>
                <a:off x="2927" y="19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9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7" name="Rectangle 1108"/>
              <p:cNvSpPr>
                <a:spLocks noChangeArrowheads="1"/>
              </p:cNvSpPr>
              <p:nvPr/>
            </p:nvSpPr>
            <p:spPr bwMode="auto">
              <a:xfrm>
                <a:off x="3035" y="1962"/>
                <a:ext cx="6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10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868" name="Rectangle 1109"/>
              <p:cNvSpPr>
                <a:spLocks noChangeArrowheads="1"/>
              </p:cNvSpPr>
              <p:nvPr/>
            </p:nvSpPr>
            <p:spPr bwMode="auto">
              <a:xfrm>
                <a:off x="1728" y="864"/>
                <a:ext cx="1396" cy="120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</p:grpSp>
        <p:grpSp>
          <p:nvGrpSpPr>
            <p:cNvPr id="4" name="Group 1110"/>
            <p:cNvGrpSpPr>
              <a:grpSpLocks/>
            </p:cNvGrpSpPr>
            <p:nvPr/>
          </p:nvGrpSpPr>
          <p:grpSpPr bwMode="auto">
            <a:xfrm>
              <a:off x="3408" y="3072"/>
              <a:ext cx="1248" cy="1112"/>
              <a:chOff x="3616" y="2464"/>
              <a:chExt cx="1396" cy="1208"/>
            </a:xfrm>
          </p:grpSpPr>
          <p:sp>
            <p:nvSpPr>
              <p:cNvPr id="29705" name="Rectangle 1111"/>
              <p:cNvSpPr>
                <a:spLocks noChangeArrowheads="1"/>
              </p:cNvSpPr>
              <p:nvPr/>
            </p:nvSpPr>
            <p:spPr bwMode="auto">
              <a:xfrm>
                <a:off x="3616" y="2464"/>
                <a:ext cx="1396" cy="1208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  <p:sp>
            <p:nvSpPr>
              <p:cNvPr id="29706" name="Rectangle 1112"/>
              <p:cNvSpPr>
                <a:spLocks noChangeArrowheads="1"/>
              </p:cNvSpPr>
              <p:nvPr/>
            </p:nvSpPr>
            <p:spPr bwMode="auto">
              <a:xfrm>
                <a:off x="3749" y="2550"/>
                <a:ext cx="1198" cy="9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  <p:sp>
            <p:nvSpPr>
              <p:cNvPr id="29707" name="Line 1113"/>
              <p:cNvSpPr>
                <a:spLocks noChangeShapeType="1"/>
              </p:cNvSpPr>
              <p:nvPr/>
            </p:nvSpPr>
            <p:spPr bwMode="auto">
              <a:xfrm>
                <a:off x="3749" y="3428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8" name="Line 1114"/>
              <p:cNvSpPr>
                <a:spLocks noChangeShapeType="1"/>
              </p:cNvSpPr>
              <p:nvPr/>
            </p:nvSpPr>
            <p:spPr bwMode="auto">
              <a:xfrm>
                <a:off x="3749" y="333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9" name="Line 1115"/>
              <p:cNvSpPr>
                <a:spLocks noChangeShapeType="1"/>
              </p:cNvSpPr>
              <p:nvPr/>
            </p:nvSpPr>
            <p:spPr bwMode="auto">
              <a:xfrm>
                <a:off x="3749" y="3233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0" name="Line 1116"/>
              <p:cNvSpPr>
                <a:spLocks noChangeShapeType="1"/>
              </p:cNvSpPr>
              <p:nvPr/>
            </p:nvSpPr>
            <p:spPr bwMode="auto">
              <a:xfrm>
                <a:off x="3749" y="313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1" name="Line 1117"/>
              <p:cNvSpPr>
                <a:spLocks noChangeShapeType="1"/>
              </p:cNvSpPr>
              <p:nvPr/>
            </p:nvSpPr>
            <p:spPr bwMode="auto">
              <a:xfrm>
                <a:off x="3749" y="303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2" name="Line 1118"/>
              <p:cNvSpPr>
                <a:spLocks noChangeShapeType="1"/>
              </p:cNvSpPr>
              <p:nvPr/>
            </p:nvSpPr>
            <p:spPr bwMode="auto">
              <a:xfrm>
                <a:off x="3749" y="294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3" name="Line 1119"/>
              <p:cNvSpPr>
                <a:spLocks noChangeShapeType="1"/>
              </p:cNvSpPr>
              <p:nvPr/>
            </p:nvSpPr>
            <p:spPr bwMode="auto">
              <a:xfrm>
                <a:off x="3749" y="2842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4" name="Line 1120"/>
              <p:cNvSpPr>
                <a:spLocks noChangeShapeType="1"/>
              </p:cNvSpPr>
              <p:nvPr/>
            </p:nvSpPr>
            <p:spPr bwMode="auto">
              <a:xfrm>
                <a:off x="3749" y="274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5" name="Line 1121"/>
              <p:cNvSpPr>
                <a:spLocks noChangeShapeType="1"/>
              </p:cNvSpPr>
              <p:nvPr/>
            </p:nvSpPr>
            <p:spPr bwMode="auto">
              <a:xfrm>
                <a:off x="3749" y="264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6" name="Line 1122"/>
              <p:cNvSpPr>
                <a:spLocks noChangeShapeType="1"/>
              </p:cNvSpPr>
              <p:nvPr/>
            </p:nvSpPr>
            <p:spPr bwMode="auto">
              <a:xfrm>
                <a:off x="3749" y="255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7" name="Line 1123"/>
              <p:cNvSpPr>
                <a:spLocks noChangeShapeType="1"/>
              </p:cNvSpPr>
              <p:nvPr/>
            </p:nvSpPr>
            <p:spPr bwMode="auto">
              <a:xfrm>
                <a:off x="386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8" name="Line 1124"/>
              <p:cNvSpPr>
                <a:spLocks noChangeShapeType="1"/>
              </p:cNvSpPr>
              <p:nvPr/>
            </p:nvSpPr>
            <p:spPr bwMode="auto">
              <a:xfrm>
                <a:off x="3990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9" name="Line 1125"/>
              <p:cNvSpPr>
                <a:spLocks noChangeShapeType="1"/>
              </p:cNvSpPr>
              <p:nvPr/>
            </p:nvSpPr>
            <p:spPr bwMode="auto">
              <a:xfrm>
                <a:off x="410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0" name="Line 1126"/>
              <p:cNvSpPr>
                <a:spLocks noChangeShapeType="1"/>
              </p:cNvSpPr>
              <p:nvPr/>
            </p:nvSpPr>
            <p:spPr bwMode="auto">
              <a:xfrm>
                <a:off x="422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1" name="Line 1127"/>
              <p:cNvSpPr>
                <a:spLocks noChangeShapeType="1"/>
              </p:cNvSpPr>
              <p:nvPr/>
            </p:nvSpPr>
            <p:spPr bwMode="auto">
              <a:xfrm>
                <a:off x="4348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2" name="Line 1128"/>
              <p:cNvSpPr>
                <a:spLocks noChangeShapeType="1"/>
              </p:cNvSpPr>
              <p:nvPr/>
            </p:nvSpPr>
            <p:spPr bwMode="auto">
              <a:xfrm>
                <a:off x="446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3" name="Line 1129"/>
              <p:cNvSpPr>
                <a:spLocks noChangeShapeType="1"/>
              </p:cNvSpPr>
              <p:nvPr/>
            </p:nvSpPr>
            <p:spPr bwMode="auto">
              <a:xfrm>
                <a:off x="458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4" name="Line 1130"/>
              <p:cNvSpPr>
                <a:spLocks noChangeShapeType="1"/>
              </p:cNvSpPr>
              <p:nvPr/>
            </p:nvSpPr>
            <p:spPr bwMode="auto">
              <a:xfrm>
                <a:off x="4706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5" name="Line 1131"/>
              <p:cNvSpPr>
                <a:spLocks noChangeShapeType="1"/>
              </p:cNvSpPr>
              <p:nvPr/>
            </p:nvSpPr>
            <p:spPr bwMode="auto">
              <a:xfrm>
                <a:off x="482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6" name="Line 1132"/>
              <p:cNvSpPr>
                <a:spLocks noChangeShapeType="1"/>
              </p:cNvSpPr>
              <p:nvPr/>
            </p:nvSpPr>
            <p:spPr bwMode="auto">
              <a:xfrm>
                <a:off x="494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7" name="Rectangle 1133"/>
              <p:cNvSpPr>
                <a:spLocks noChangeArrowheads="1"/>
              </p:cNvSpPr>
              <p:nvPr/>
            </p:nvSpPr>
            <p:spPr bwMode="auto">
              <a:xfrm>
                <a:off x="3749" y="2550"/>
                <a:ext cx="1198" cy="975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  <p:sp>
            <p:nvSpPr>
              <p:cNvPr id="29728" name="Line 1134"/>
              <p:cNvSpPr>
                <a:spLocks noChangeShapeType="1"/>
              </p:cNvSpPr>
              <p:nvPr/>
            </p:nvSpPr>
            <p:spPr bwMode="auto">
              <a:xfrm>
                <a:off x="374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9" name="Line 1135"/>
              <p:cNvSpPr>
                <a:spLocks noChangeShapeType="1"/>
              </p:cNvSpPr>
              <p:nvPr/>
            </p:nvSpPr>
            <p:spPr bwMode="auto">
              <a:xfrm>
                <a:off x="3737" y="352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0" name="Line 1136"/>
              <p:cNvSpPr>
                <a:spLocks noChangeShapeType="1"/>
              </p:cNvSpPr>
              <p:nvPr/>
            </p:nvSpPr>
            <p:spPr bwMode="auto">
              <a:xfrm>
                <a:off x="3737" y="3428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1" name="Line 1137"/>
              <p:cNvSpPr>
                <a:spLocks noChangeShapeType="1"/>
              </p:cNvSpPr>
              <p:nvPr/>
            </p:nvSpPr>
            <p:spPr bwMode="auto">
              <a:xfrm>
                <a:off x="3737" y="333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2" name="Line 1138"/>
              <p:cNvSpPr>
                <a:spLocks noChangeShapeType="1"/>
              </p:cNvSpPr>
              <p:nvPr/>
            </p:nvSpPr>
            <p:spPr bwMode="auto">
              <a:xfrm>
                <a:off x="3737" y="3233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3" name="Line 1139"/>
              <p:cNvSpPr>
                <a:spLocks noChangeShapeType="1"/>
              </p:cNvSpPr>
              <p:nvPr/>
            </p:nvSpPr>
            <p:spPr bwMode="auto">
              <a:xfrm>
                <a:off x="3737" y="313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4" name="Line 1140"/>
              <p:cNvSpPr>
                <a:spLocks noChangeShapeType="1"/>
              </p:cNvSpPr>
              <p:nvPr/>
            </p:nvSpPr>
            <p:spPr bwMode="auto">
              <a:xfrm>
                <a:off x="3737" y="303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5" name="Line 1141"/>
              <p:cNvSpPr>
                <a:spLocks noChangeShapeType="1"/>
              </p:cNvSpPr>
              <p:nvPr/>
            </p:nvSpPr>
            <p:spPr bwMode="auto">
              <a:xfrm>
                <a:off x="3737" y="294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6" name="Line 1142"/>
              <p:cNvSpPr>
                <a:spLocks noChangeShapeType="1"/>
              </p:cNvSpPr>
              <p:nvPr/>
            </p:nvSpPr>
            <p:spPr bwMode="auto">
              <a:xfrm>
                <a:off x="3737" y="2842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7" name="Line 1143"/>
              <p:cNvSpPr>
                <a:spLocks noChangeShapeType="1"/>
              </p:cNvSpPr>
              <p:nvPr/>
            </p:nvSpPr>
            <p:spPr bwMode="auto">
              <a:xfrm>
                <a:off x="3737" y="274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8" name="Line 1144"/>
              <p:cNvSpPr>
                <a:spLocks noChangeShapeType="1"/>
              </p:cNvSpPr>
              <p:nvPr/>
            </p:nvSpPr>
            <p:spPr bwMode="auto">
              <a:xfrm>
                <a:off x="3737" y="264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9" name="Line 1145"/>
              <p:cNvSpPr>
                <a:spLocks noChangeShapeType="1"/>
              </p:cNvSpPr>
              <p:nvPr/>
            </p:nvSpPr>
            <p:spPr bwMode="auto">
              <a:xfrm>
                <a:off x="3737" y="255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0" name="Line 1146"/>
              <p:cNvSpPr>
                <a:spLocks noChangeShapeType="1"/>
              </p:cNvSpPr>
              <p:nvPr/>
            </p:nvSpPr>
            <p:spPr bwMode="auto">
              <a:xfrm>
                <a:off x="3749" y="352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1" name="Line 1147"/>
              <p:cNvSpPr>
                <a:spLocks noChangeShapeType="1"/>
              </p:cNvSpPr>
              <p:nvPr/>
            </p:nvSpPr>
            <p:spPr bwMode="auto">
              <a:xfrm flipV="1">
                <a:off x="374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2" name="Line 1148"/>
              <p:cNvSpPr>
                <a:spLocks noChangeShapeType="1"/>
              </p:cNvSpPr>
              <p:nvPr/>
            </p:nvSpPr>
            <p:spPr bwMode="auto">
              <a:xfrm flipV="1">
                <a:off x="386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3" name="Line 1149"/>
              <p:cNvSpPr>
                <a:spLocks noChangeShapeType="1"/>
              </p:cNvSpPr>
              <p:nvPr/>
            </p:nvSpPr>
            <p:spPr bwMode="auto">
              <a:xfrm flipV="1">
                <a:off x="3990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4" name="Line 1150"/>
              <p:cNvSpPr>
                <a:spLocks noChangeShapeType="1"/>
              </p:cNvSpPr>
              <p:nvPr/>
            </p:nvSpPr>
            <p:spPr bwMode="auto">
              <a:xfrm flipV="1">
                <a:off x="410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5" name="Line 1151"/>
              <p:cNvSpPr>
                <a:spLocks noChangeShapeType="1"/>
              </p:cNvSpPr>
              <p:nvPr/>
            </p:nvSpPr>
            <p:spPr bwMode="auto">
              <a:xfrm flipV="1">
                <a:off x="422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6" name="Line 1152"/>
              <p:cNvSpPr>
                <a:spLocks noChangeShapeType="1"/>
              </p:cNvSpPr>
              <p:nvPr/>
            </p:nvSpPr>
            <p:spPr bwMode="auto">
              <a:xfrm flipV="1">
                <a:off x="4348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7" name="Line 1153"/>
              <p:cNvSpPr>
                <a:spLocks noChangeShapeType="1"/>
              </p:cNvSpPr>
              <p:nvPr/>
            </p:nvSpPr>
            <p:spPr bwMode="auto">
              <a:xfrm flipV="1">
                <a:off x="446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8" name="Line 1154"/>
              <p:cNvSpPr>
                <a:spLocks noChangeShapeType="1"/>
              </p:cNvSpPr>
              <p:nvPr/>
            </p:nvSpPr>
            <p:spPr bwMode="auto">
              <a:xfrm flipV="1">
                <a:off x="458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9" name="Line 1155"/>
              <p:cNvSpPr>
                <a:spLocks noChangeShapeType="1"/>
              </p:cNvSpPr>
              <p:nvPr/>
            </p:nvSpPr>
            <p:spPr bwMode="auto">
              <a:xfrm flipV="1">
                <a:off x="4706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0" name="Line 1156"/>
              <p:cNvSpPr>
                <a:spLocks noChangeShapeType="1"/>
              </p:cNvSpPr>
              <p:nvPr/>
            </p:nvSpPr>
            <p:spPr bwMode="auto">
              <a:xfrm flipV="1">
                <a:off x="482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1" name="Line 1157"/>
              <p:cNvSpPr>
                <a:spLocks noChangeShapeType="1"/>
              </p:cNvSpPr>
              <p:nvPr/>
            </p:nvSpPr>
            <p:spPr bwMode="auto">
              <a:xfrm flipV="1">
                <a:off x="494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2" name="Freeform 1158"/>
              <p:cNvSpPr>
                <a:spLocks/>
              </p:cNvSpPr>
              <p:nvPr/>
            </p:nvSpPr>
            <p:spPr bwMode="auto">
              <a:xfrm>
                <a:off x="4079" y="3107"/>
                <a:ext cx="56" cy="56"/>
              </a:xfrm>
              <a:custGeom>
                <a:avLst/>
                <a:gdLst>
                  <a:gd name="T0" fmla="*/ 28 w 56"/>
                  <a:gd name="T1" fmla="*/ 0 h 56"/>
                  <a:gd name="T2" fmla="*/ 56 w 56"/>
                  <a:gd name="T3" fmla="*/ 28 h 56"/>
                  <a:gd name="T4" fmla="*/ 28 w 56"/>
                  <a:gd name="T5" fmla="*/ 56 h 56"/>
                  <a:gd name="T6" fmla="*/ 0 w 56"/>
                  <a:gd name="T7" fmla="*/ 28 h 56"/>
                  <a:gd name="T8" fmla="*/ 28 w 56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6"/>
                  <a:gd name="T17" fmla="*/ 56 w 56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6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3" name="Freeform 1159"/>
              <p:cNvSpPr>
                <a:spLocks/>
              </p:cNvSpPr>
              <p:nvPr/>
            </p:nvSpPr>
            <p:spPr bwMode="auto">
              <a:xfrm>
                <a:off x="4079" y="2911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4" name="Freeform 1160"/>
              <p:cNvSpPr>
                <a:spLocks/>
              </p:cNvSpPr>
              <p:nvPr/>
            </p:nvSpPr>
            <p:spPr bwMode="auto">
              <a:xfrm>
                <a:off x="4561" y="320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9 h 57"/>
                  <a:gd name="T4" fmla="*/ 28 w 57"/>
                  <a:gd name="T5" fmla="*/ 57 h 57"/>
                  <a:gd name="T6" fmla="*/ 0 w 57"/>
                  <a:gd name="T7" fmla="*/ 29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5" name="Freeform 1161"/>
              <p:cNvSpPr>
                <a:spLocks/>
              </p:cNvSpPr>
              <p:nvPr/>
            </p:nvSpPr>
            <p:spPr bwMode="auto">
              <a:xfrm>
                <a:off x="4199" y="281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6" name="Freeform 1162"/>
              <p:cNvSpPr>
                <a:spLocks/>
              </p:cNvSpPr>
              <p:nvPr/>
            </p:nvSpPr>
            <p:spPr bwMode="auto">
              <a:xfrm>
                <a:off x="4079" y="2716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7" name="Freeform 1163"/>
              <p:cNvSpPr>
                <a:spLocks/>
              </p:cNvSpPr>
              <p:nvPr/>
            </p:nvSpPr>
            <p:spPr bwMode="auto">
              <a:xfrm>
                <a:off x="4678" y="30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8" name="Freeform 1164"/>
              <p:cNvSpPr>
                <a:spLocks/>
              </p:cNvSpPr>
              <p:nvPr/>
            </p:nvSpPr>
            <p:spPr bwMode="auto">
              <a:xfrm>
                <a:off x="4199" y="3009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9" name="Freeform 1165"/>
              <p:cNvSpPr>
                <a:spLocks/>
              </p:cNvSpPr>
              <p:nvPr/>
            </p:nvSpPr>
            <p:spPr bwMode="auto">
              <a:xfrm>
                <a:off x="4320" y="339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0" name="Freeform 1166"/>
              <p:cNvSpPr>
                <a:spLocks/>
              </p:cNvSpPr>
              <p:nvPr/>
            </p:nvSpPr>
            <p:spPr bwMode="auto">
              <a:xfrm>
                <a:off x="4561" y="3107"/>
                <a:ext cx="57" cy="56"/>
              </a:xfrm>
              <a:custGeom>
                <a:avLst/>
                <a:gdLst>
                  <a:gd name="T0" fmla="*/ 28 w 57"/>
                  <a:gd name="T1" fmla="*/ 0 h 56"/>
                  <a:gd name="T2" fmla="*/ 57 w 57"/>
                  <a:gd name="T3" fmla="*/ 28 h 56"/>
                  <a:gd name="T4" fmla="*/ 28 w 57"/>
                  <a:gd name="T5" fmla="*/ 56 h 56"/>
                  <a:gd name="T6" fmla="*/ 0 w 57"/>
                  <a:gd name="T7" fmla="*/ 28 h 56"/>
                  <a:gd name="T8" fmla="*/ 28 w 57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6"/>
                  <a:gd name="T17" fmla="*/ 57 w 57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6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1" name="Freeform 1167"/>
              <p:cNvSpPr>
                <a:spLocks/>
              </p:cNvSpPr>
              <p:nvPr/>
            </p:nvSpPr>
            <p:spPr bwMode="auto">
              <a:xfrm>
                <a:off x="4320" y="30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2" name="Rectangle 1168"/>
              <p:cNvSpPr>
                <a:spLocks noChangeArrowheads="1"/>
              </p:cNvSpPr>
              <p:nvPr/>
            </p:nvSpPr>
            <p:spPr bwMode="auto">
              <a:xfrm>
                <a:off x="3693" y="3497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0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63" name="Rectangle 1169"/>
              <p:cNvSpPr>
                <a:spLocks noChangeArrowheads="1"/>
              </p:cNvSpPr>
              <p:nvPr/>
            </p:nvSpPr>
            <p:spPr bwMode="auto">
              <a:xfrm>
                <a:off x="3693" y="3399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1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64" name="Rectangle 1170"/>
              <p:cNvSpPr>
                <a:spLocks noChangeArrowheads="1"/>
              </p:cNvSpPr>
              <p:nvPr/>
            </p:nvSpPr>
            <p:spPr bwMode="auto">
              <a:xfrm>
                <a:off x="3693" y="330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2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65" name="Rectangle 1171"/>
              <p:cNvSpPr>
                <a:spLocks noChangeArrowheads="1"/>
              </p:cNvSpPr>
              <p:nvPr/>
            </p:nvSpPr>
            <p:spPr bwMode="auto">
              <a:xfrm>
                <a:off x="3693" y="3204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3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66" name="Rectangle 1172"/>
              <p:cNvSpPr>
                <a:spLocks noChangeArrowheads="1"/>
              </p:cNvSpPr>
              <p:nvPr/>
            </p:nvSpPr>
            <p:spPr bwMode="auto">
              <a:xfrm>
                <a:off x="3693" y="3107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4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67" name="Rectangle 1173"/>
              <p:cNvSpPr>
                <a:spLocks noChangeArrowheads="1"/>
              </p:cNvSpPr>
              <p:nvPr/>
            </p:nvSpPr>
            <p:spPr bwMode="auto">
              <a:xfrm>
                <a:off x="3693" y="3009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5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68" name="Rectangle 1174"/>
              <p:cNvSpPr>
                <a:spLocks noChangeArrowheads="1"/>
              </p:cNvSpPr>
              <p:nvPr/>
            </p:nvSpPr>
            <p:spPr bwMode="auto">
              <a:xfrm>
                <a:off x="3693" y="2910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6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69" name="Rectangle 1175"/>
              <p:cNvSpPr>
                <a:spLocks noChangeArrowheads="1"/>
              </p:cNvSpPr>
              <p:nvPr/>
            </p:nvSpPr>
            <p:spPr bwMode="auto">
              <a:xfrm>
                <a:off x="3693" y="2814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7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0" name="Rectangle 1176"/>
              <p:cNvSpPr>
                <a:spLocks noChangeArrowheads="1"/>
              </p:cNvSpPr>
              <p:nvPr/>
            </p:nvSpPr>
            <p:spPr bwMode="auto">
              <a:xfrm>
                <a:off x="3693" y="2716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8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1" name="Rectangle 1177"/>
              <p:cNvSpPr>
                <a:spLocks noChangeArrowheads="1"/>
              </p:cNvSpPr>
              <p:nvPr/>
            </p:nvSpPr>
            <p:spPr bwMode="auto">
              <a:xfrm>
                <a:off x="3693" y="2619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9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2" name="Rectangle 1178"/>
              <p:cNvSpPr>
                <a:spLocks noChangeArrowheads="1"/>
              </p:cNvSpPr>
              <p:nvPr/>
            </p:nvSpPr>
            <p:spPr bwMode="auto">
              <a:xfrm>
                <a:off x="3667" y="2520"/>
                <a:ext cx="6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10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3" name="Rectangle 1179"/>
              <p:cNvSpPr>
                <a:spLocks noChangeArrowheads="1"/>
              </p:cNvSpPr>
              <p:nvPr/>
            </p:nvSpPr>
            <p:spPr bwMode="auto">
              <a:xfrm>
                <a:off x="3737" y="35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0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4" name="Rectangle 1180"/>
              <p:cNvSpPr>
                <a:spLocks noChangeArrowheads="1"/>
              </p:cNvSpPr>
              <p:nvPr/>
            </p:nvSpPr>
            <p:spPr bwMode="auto">
              <a:xfrm>
                <a:off x="3856" y="35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1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5" name="Rectangle 1181"/>
              <p:cNvSpPr>
                <a:spLocks noChangeArrowheads="1"/>
              </p:cNvSpPr>
              <p:nvPr/>
            </p:nvSpPr>
            <p:spPr bwMode="auto">
              <a:xfrm>
                <a:off x="3978" y="35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2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6" name="Rectangle 1182"/>
              <p:cNvSpPr>
                <a:spLocks noChangeArrowheads="1"/>
              </p:cNvSpPr>
              <p:nvPr/>
            </p:nvSpPr>
            <p:spPr bwMode="auto">
              <a:xfrm>
                <a:off x="4095" y="35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3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7" name="Rectangle 1183"/>
              <p:cNvSpPr>
                <a:spLocks noChangeArrowheads="1"/>
              </p:cNvSpPr>
              <p:nvPr/>
            </p:nvSpPr>
            <p:spPr bwMode="auto">
              <a:xfrm>
                <a:off x="4214" y="35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4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8" name="Rectangle 1184"/>
              <p:cNvSpPr>
                <a:spLocks noChangeArrowheads="1"/>
              </p:cNvSpPr>
              <p:nvPr/>
            </p:nvSpPr>
            <p:spPr bwMode="auto">
              <a:xfrm>
                <a:off x="4336" y="35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5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79" name="Rectangle 1185"/>
              <p:cNvSpPr>
                <a:spLocks noChangeArrowheads="1"/>
              </p:cNvSpPr>
              <p:nvPr/>
            </p:nvSpPr>
            <p:spPr bwMode="auto">
              <a:xfrm>
                <a:off x="4457" y="35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6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80" name="Rectangle 1186"/>
              <p:cNvSpPr>
                <a:spLocks noChangeArrowheads="1"/>
              </p:cNvSpPr>
              <p:nvPr/>
            </p:nvSpPr>
            <p:spPr bwMode="auto">
              <a:xfrm>
                <a:off x="4577" y="35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7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81" name="Rectangle 1187"/>
              <p:cNvSpPr>
                <a:spLocks noChangeArrowheads="1"/>
              </p:cNvSpPr>
              <p:nvPr/>
            </p:nvSpPr>
            <p:spPr bwMode="auto">
              <a:xfrm>
                <a:off x="4694" y="3562"/>
                <a:ext cx="3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8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82" name="Rectangle 1188"/>
              <p:cNvSpPr>
                <a:spLocks noChangeArrowheads="1"/>
              </p:cNvSpPr>
              <p:nvPr/>
            </p:nvSpPr>
            <p:spPr bwMode="auto">
              <a:xfrm>
                <a:off x="4815" y="3562"/>
                <a:ext cx="3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9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83" name="Rectangle 1189"/>
              <p:cNvSpPr>
                <a:spLocks noChangeArrowheads="1"/>
              </p:cNvSpPr>
              <p:nvPr/>
            </p:nvSpPr>
            <p:spPr bwMode="auto">
              <a:xfrm>
                <a:off x="4923" y="3562"/>
                <a:ext cx="6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Gulim" pitchFamily="34" charset="-127"/>
                  </a:rPr>
                  <a:t>10</a:t>
                </a:r>
                <a:endParaRPr lang="ko-KR" altLang="en-US">
                  <a:ea typeface="Gulim" pitchFamily="34" charset="-127"/>
                </a:endParaRPr>
              </a:p>
            </p:txBody>
          </p:sp>
          <p:sp>
            <p:nvSpPr>
              <p:cNvPr id="29784" name="Rectangle 1190"/>
              <p:cNvSpPr>
                <a:spLocks noChangeArrowheads="1"/>
              </p:cNvSpPr>
              <p:nvPr/>
            </p:nvSpPr>
            <p:spPr bwMode="auto">
              <a:xfrm>
                <a:off x="3616" y="2464"/>
                <a:ext cx="1396" cy="120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  <p:sp>
            <p:nvSpPr>
              <p:cNvPr id="29785" name="Freeform 1191"/>
              <p:cNvSpPr>
                <a:spLocks/>
              </p:cNvSpPr>
              <p:nvPr/>
            </p:nvSpPr>
            <p:spPr bwMode="auto">
              <a:xfrm>
                <a:off x="3955" y="2658"/>
                <a:ext cx="488" cy="597"/>
              </a:xfrm>
              <a:custGeom>
                <a:avLst/>
                <a:gdLst>
                  <a:gd name="T0" fmla="*/ 1 w 728"/>
                  <a:gd name="T1" fmla="*/ 1 h 896"/>
                  <a:gd name="T2" fmla="*/ 1 w 728"/>
                  <a:gd name="T3" fmla="*/ 1 h 896"/>
                  <a:gd name="T4" fmla="*/ 1 w 728"/>
                  <a:gd name="T5" fmla="*/ 1 h 896"/>
                  <a:gd name="T6" fmla="*/ 1 w 728"/>
                  <a:gd name="T7" fmla="*/ 1 h 896"/>
                  <a:gd name="T8" fmla="*/ 1 w 728"/>
                  <a:gd name="T9" fmla="*/ 1 h 896"/>
                  <a:gd name="T10" fmla="*/ 1 w 728"/>
                  <a:gd name="T11" fmla="*/ 1 h 896"/>
                  <a:gd name="T12" fmla="*/ 1 w 728"/>
                  <a:gd name="T13" fmla="*/ 1 h 896"/>
                  <a:gd name="T14" fmla="*/ 1 w 728"/>
                  <a:gd name="T15" fmla="*/ 1 h 896"/>
                  <a:gd name="T16" fmla="*/ 1 w 728"/>
                  <a:gd name="T17" fmla="*/ 1 h 896"/>
                  <a:gd name="T18" fmla="*/ 1 w 728"/>
                  <a:gd name="T19" fmla="*/ 1 h 896"/>
                  <a:gd name="T20" fmla="*/ 1 w 728"/>
                  <a:gd name="T21" fmla="*/ 1 h 896"/>
                  <a:gd name="T22" fmla="*/ 1 w 728"/>
                  <a:gd name="T23" fmla="*/ 1 h 896"/>
                  <a:gd name="T24" fmla="*/ 1 w 728"/>
                  <a:gd name="T25" fmla="*/ 1 h 896"/>
                  <a:gd name="T26" fmla="*/ 1 w 728"/>
                  <a:gd name="T27" fmla="*/ 1 h 896"/>
                  <a:gd name="T28" fmla="*/ 1 w 728"/>
                  <a:gd name="T29" fmla="*/ 1 h 896"/>
                  <a:gd name="T30" fmla="*/ 1 w 728"/>
                  <a:gd name="T31" fmla="*/ 1 h 896"/>
                  <a:gd name="T32" fmla="*/ 1 w 728"/>
                  <a:gd name="T33" fmla="*/ 1 h 896"/>
                  <a:gd name="T34" fmla="*/ 1 w 728"/>
                  <a:gd name="T35" fmla="*/ 0 h 896"/>
                  <a:gd name="T36" fmla="*/ 1 w 728"/>
                  <a:gd name="T37" fmla="*/ 1 h 896"/>
                  <a:gd name="T38" fmla="*/ 1 w 728"/>
                  <a:gd name="T39" fmla="*/ 1 h 896"/>
                  <a:gd name="T40" fmla="*/ 1 w 728"/>
                  <a:gd name="T41" fmla="*/ 1 h 89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28"/>
                  <a:gd name="T64" fmla="*/ 0 h 896"/>
                  <a:gd name="T65" fmla="*/ 728 w 728"/>
                  <a:gd name="T66" fmla="*/ 896 h 89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9786" name="Freeform 1192"/>
              <p:cNvSpPr>
                <a:spLocks/>
              </p:cNvSpPr>
              <p:nvPr/>
            </p:nvSpPr>
            <p:spPr bwMode="auto">
              <a:xfrm>
                <a:off x="4258" y="2900"/>
                <a:ext cx="538" cy="593"/>
              </a:xfrm>
              <a:custGeom>
                <a:avLst/>
                <a:gdLst>
                  <a:gd name="T0" fmla="*/ 1 w 802"/>
                  <a:gd name="T1" fmla="*/ 1 h 889"/>
                  <a:gd name="T2" fmla="*/ 1 w 802"/>
                  <a:gd name="T3" fmla="*/ 1 h 889"/>
                  <a:gd name="T4" fmla="*/ 1 w 802"/>
                  <a:gd name="T5" fmla="*/ 1 h 889"/>
                  <a:gd name="T6" fmla="*/ 1 w 802"/>
                  <a:gd name="T7" fmla="*/ 1 h 889"/>
                  <a:gd name="T8" fmla="*/ 1 w 802"/>
                  <a:gd name="T9" fmla="*/ 1 h 889"/>
                  <a:gd name="T10" fmla="*/ 1 w 802"/>
                  <a:gd name="T11" fmla="*/ 1 h 889"/>
                  <a:gd name="T12" fmla="*/ 1 w 802"/>
                  <a:gd name="T13" fmla="*/ 1 h 889"/>
                  <a:gd name="T14" fmla="*/ 1 w 802"/>
                  <a:gd name="T15" fmla="*/ 1 h 889"/>
                  <a:gd name="T16" fmla="*/ 1 w 802"/>
                  <a:gd name="T17" fmla="*/ 1 h 889"/>
                  <a:gd name="T18" fmla="*/ 1 w 802"/>
                  <a:gd name="T19" fmla="*/ 1 h 889"/>
                  <a:gd name="T20" fmla="*/ 1 w 802"/>
                  <a:gd name="T21" fmla="*/ 1 h 889"/>
                  <a:gd name="T22" fmla="*/ 1 w 802"/>
                  <a:gd name="T23" fmla="*/ 1 h 889"/>
                  <a:gd name="T24" fmla="*/ 1 w 802"/>
                  <a:gd name="T25" fmla="*/ 1 h 889"/>
                  <a:gd name="T26" fmla="*/ 1 w 802"/>
                  <a:gd name="T27" fmla="*/ 1 h 889"/>
                  <a:gd name="T28" fmla="*/ 1 w 802"/>
                  <a:gd name="T29" fmla="*/ 1 h 889"/>
                  <a:gd name="T30" fmla="*/ 1 w 802"/>
                  <a:gd name="T31" fmla="*/ 1 h 889"/>
                  <a:gd name="T32" fmla="*/ 1 w 802"/>
                  <a:gd name="T33" fmla="*/ 1 h 889"/>
                  <a:gd name="T34" fmla="*/ 1 w 802"/>
                  <a:gd name="T35" fmla="*/ 1 h 889"/>
                  <a:gd name="T36" fmla="*/ 1 w 802"/>
                  <a:gd name="T37" fmla="*/ 1 h 889"/>
                  <a:gd name="T38" fmla="*/ 1 w 802"/>
                  <a:gd name="T39" fmla="*/ 1 h 889"/>
                  <a:gd name="T40" fmla="*/ 1 w 802"/>
                  <a:gd name="T41" fmla="*/ 1 h 889"/>
                  <a:gd name="T42" fmla="*/ 1 w 802"/>
                  <a:gd name="T43" fmla="*/ 1 h 889"/>
                  <a:gd name="T44" fmla="*/ 1 w 802"/>
                  <a:gd name="T45" fmla="*/ 1 h 889"/>
                  <a:gd name="T46" fmla="*/ 1 w 802"/>
                  <a:gd name="T47" fmla="*/ 0 h 889"/>
                  <a:gd name="T48" fmla="*/ 1 w 802"/>
                  <a:gd name="T49" fmla="*/ 1 h 889"/>
                  <a:gd name="T50" fmla="*/ 1 w 802"/>
                  <a:gd name="T51" fmla="*/ 1 h 8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802"/>
                  <a:gd name="T79" fmla="*/ 0 h 889"/>
                  <a:gd name="T80" fmla="*/ 802 w 802"/>
                  <a:gd name="T81" fmla="*/ 889 h 8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9787" name="AutoShape 1193"/>
              <p:cNvSpPr>
                <a:spLocks noChangeArrowheads="1"/>
              </p:cNvSpPr>
              <p:nvPr/>
            </p:nvSpPr>
            <p:spPr bwMode="auto">
              <a:xfrm>
                <a:off x="4080" y="2880"/>
                <a:ext cx="48" cy="96"/>
              </a:xfrm>
              <a:prstGeom prst="plus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  <p:sp>
            <p:nvSpPr>
              <p:cNvPr id="29788" name="AutoShape 1194"/>
              <p:cNvSpPr>
                <a:spLocks noChangeArrowheads="1"/>
              </p:cNvSpPr>
              <p:nvPr/>
            </p:nvSpPr>
            <p:spPr bwMode="auto">
              <a:xfrm>
                <a:off x="4560" y="3168"/>
                <a:ext cx="48" cy="96"/>
              </a:xfrm>
              <a:prstGeom prst="plus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>
                  <a:ea typeface="SimSun" pitchFamily="2" charset="-122"/>
                </a:endParaRPr>
              </a:p>
            </p:txBody>
          </p:sp>
        </p:grpSp>
        <p:sp>
          <p:nvSpPr>
            <p:cNvPr id="29704" name="Line 1195"/>
            <p:cNvSpPr>
              <a:spLocks noChangeShapeType="1"/>
            </p:cNvSpPr>
            <p:nvPr/>
          </p:nvSpPr>
          <p:spPr bwMode="auto">
            <a:xfrm>
              <a:off x="2784" y="364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74" name="Slide Number Placeholder 17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rm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K-</a:t>
            </a:r>
            <a:r>
              <a:rPr lang="en-US" altLang="zh-CN" sz="3600" dirty="0" err="1">
                <a:solidFill>
                  <a:schemeClr val="tx2"/>
                </a:solidFill>
                <a:latin typeface="+mj-lt"/>
                <a:ea typeface="SimSun" pitchFamily="2" charset="-122"/>
              </a:rPr>
              <a:t>Medoid</a:t>
            </a: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 Clustering Method</a:t>
            </a:r>
            <a:endParaRPr lang="en-US" altLang="zh-CN" sz="3600" dirty="0">
              <a:solidFill>
                <a:schemeClr val="tx2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0292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i="1" dirty="0">
                <a:ea typeface="SimSun" pitchFamily="2" charset="-122"/>
              </a:rPr>
              <a:t>K</a:t>
            </a:r>
            <a:r>
              <a:rPr lang="en-US" altLang="zh-CN" sz="2400" dirty="0">
                <a:ea typeface="SimSun" pitchFamily="2" charset="-122"/>
              </a:rPr>
              <a:t>-</a:t>
            </a:r>
            <a:r>
              <a:rPr lang="en-US" altLang="zh-CN" sz="2400" i="1" dirty="0" err="1">
                <a:ea typeface="SimSun" pitchFamily="2" charset="-122"/>
              </a:rPr>
              <a:t>Medoids</a:t>
            </a:r>
            <a:r>
              <a:rPr lang="en-US" altLang="zh-CN" sz="2400" dirty="0">
                <a:ea typeface="SimSun" pitchFamily="2" charset="-122"/>
              </a:rPr>
              <a:t> Clustering: Find </a:t>
            </a:r>
            <a:r>
              <a:rPr lang="en-US" altLang="zh-CN" sz="2400" i="1" dirty="0">
                <a:ea typeface="SimSun" pitchFamily="2" charset="-122"/>
              </a:rPr>
              <a:t>representative</a:t>
            </a:r>
            <a:r>
              <a:rPr lang="en-US" altLang="zh-CN" sz="2400" dirty="0">
                <a:ea typeface="SimSun" pitchFamily="2" charset="-122"/>
              </a:rPr>
              <a:t> objects (</a:t>
            </a:r>
            <a:r>
              <a:rPr lang="en-US" altLang="zh-CN" sz="2400" u="sng" dirty="0" err="1">
                <a:ea typeface="SimSun" pitchFamily="2" charset="-122"/>
              </a:rPr>
              <a:t>medoids</a:t>
            </a:r>
            <a:r>
              <a:rPr lang="en-US" altLang="zh-CN" sz="2400" dirty="0">
                <a:ea typeface="SimSun" pitchFamily="2" charset="-122"/>
              </a:rPr>
              <a:t>) in clusters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i="1" dirty="0">
                <a:ea typeface="SimSun" pitchFamily="2" charset="-122"/>
              </a:rPr>
              <a:t>PAM</a:t>
            </a:r>
            <a:r>
              <a:rPr lang="en-US" altLang="zh-CN" sz="2400" dirty="0">
                <a:ea typeface="SimSun" pitchFamily="2" charset="-122"/>
              </a:rPr>
              <a:t> (Partitioning Around </a:t>
            </a:r>
            <a:r>
              <a:rPr lang="en-US" altLang="zh-CN" sz="2400" dirty="0" err="1">
                <a:ea typeface="SimSun" pitchFamily="2" charset="-122"/>
              </a:rPr>
              <a:t>Medoids</a:t>
            </a:r>
            <a:r>
              <a:rPr lang="en-US" altLang="zh-CN" sz="2400" dirty="0">
                <a:ea typeface="SimSun" pitchFamily="2" charset="-122"/>
              </a:rPr>
              <a:t>, Kaufmann &amp; </a:t>
            </a:r>
            <a:r>
              <a:rPr lang="en-US" altLang="zh-CN" sz="2400" dirty="0" err="1">
                <a:ea typeface="SimSun" pitchFamily="2" charset="-122"/>
              </a:rPr>
              <a:t>Rousseeuw</a:t>
            </a:r>
            <a:r>
              <a:rPr lang="en-US" altLang="zh-CN" sz="2400" dirty="0">
                <a:ea typeface="SimSun" pitchFamily="2" charset="-122"/>
              </a:rPr>
              <a:t> 1987)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>
                <a:ea typeface="SimSun" pitchFamily="2" charset="-122"/>
              </a:rPr>
              <a:t>Starts from an initial set of </a:t>
            </a:r>
            <a:r>
              <a:rPr lang="en-US" altLang="zh-CN" dirty="0" err="1">
                <a:ea typeface="SimSun" pitchFamily="2" charset="-122"/>
              </a:rPr>
              <a:t>medoids</a:t>
            </a:r>
            <a:r>
              <a:rPr lang="en-US" altLang="zh-CN" dirty="0">
                <a:ea typeface="SimSun" pitchFamily="2" charset="-122"/>
              </a:rPr>
              <a:t> and iteratively replaces one of the </a:t>
            </a:r>
            <a:r>
              <a:rPr lang="en-US" altLang="zh-CN" dirty="0" err="1">
                <a:ea typeface="SimSun" pitchFamily="2" charset="-122"/>
              </a:rPr>
              <a:t>medoids</a:t>
            </a:r>
            <a:r>
              <a:rPr lang="en-US" altLang="zh-CN" dirty="0">
                <a:ea typeface="SimSun" pitchFamily="2" charset="-122"/>
              </a:rPr>
              <a:t> by one of the non-</a:t>
            </a:r>
            <a:r>
              <a:rPr lang="en-US" altLang="zh-CN" dirty="0" err="1">
                <a:ea typeface="SimSun" pitchFamily="2" charset="-122"/>
              </a:rPr>
              <a:t>medoids</a:t>
            </a:r>
            <a:r>
              <a:rPr lang="en-US" altLang="zh-CN" dirty="0">
                <a:ea typeface="SimSun" pitchFamily="2" charset="-122"/>
              </a:rPr>
              <a:t> if it improves the total distance of the resulting clustering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i="1" dirty="0">
                <a:ea typeface="SimSun" pitchFamily="2" charset="-122"/>
              </a:rPr>
              <a:t>PAM</a:t>
            </a:r>
            <a:r>
              <a:rPr lang="en-US" altLang="zh-CN" dirty="0">
                <a:ea typeface="SimSun" pitchFamily="2" charset="-122"/>
              </a:rPr>
              <a:t> works effectively for small data sets, but does not scale well for large data sets (due to the computational complexity)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676400"/>
            <a:ext cx="77724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Input: </a:t>
            </a:r>
            <a:r>
              <a:rPr lang="en-US" sz="2000" b="1" i="1" dirty="0"/>
              <a:t>k</a:t>
            </a:r>
            <a:r>
              <a:rPr lang="en-US" sz="2000" dirty="0"/>
              <a:t> the number of clusters, </a:t>
            </a:r>
          </a:p>
          <a:p>
            <a:r>
              <a:rPr lang="en-US" sz="2000" b="1" dirty="0"/>
              <a:t>D</a:t>
            </a:r>
            <a:r>
              <a:rPr lang="en-US" sz="2000" dirty="0"/>
              <a:t>: a data set containing </a:t>
            </a:r>
            <a:r>
              <a:rPr lang="en-US" sz="2000" b="1" i="1" dirty="0"/>
              <a:t>n</a:t>
            </a:r>
            <a:r>
              <a:rPr lang="en-US" sz="2000" dirty="0"/>
              <a:t> objects. </a:t>
            </a:r>
          </a:p>
          <a:p>
            <a:r>
              <a:rPr lang="en-US" sz="2000" dirty="0"/>
              <a:t>Output: A set of </a:t>
            </a:r>
            <a:r>
              <a:rPr lang="en-US" sz="2000" b="1" i="1" dirty="0"/>
              <a:t>k</a:t>
            </a:r>
            <a:r>
              <a:rPr lang="en-US" sz="2000" dirty="0"/>
              <a:t> clusters. </a:t>
            </a:r>
          </a:p>
          <a:p>
            <a:r>
              <a:rPr lang="en-US" sz="2000" dirty="0"/>
              <a:t>Method:</a:t>
            </a:r>
          </a:p>
          <a:p>
            <a:pPr marL="0" lvl="1"/>
            <a:r>
              <a:rPr lang="en-US" sz="2000" dirty="0"/>
              <a:t> (1) arbitrarily choose </a:t>
            </a:r>
            <a:r>
              <a:rPr lang="en-US" sz="2000" b="1" i="1" dirty="0"/>
              <a:t>k</a:t>
            </a:r>
            <a:r>
              <a:rPr lang="en-US" sz="2000" dirty="0"/>
              <a:t> objects in </a:t>
            </a:r>
            <a:r>
              <a:rPr lang="en-US" sz="2000" b="1" dirty="0"/>
              <a:t>D</a:t>
            </a:r>
            <a:r>
              <a:rPr lang="en-US" sz="2000" dirty="0"/>
              <a:t> as the initial representative objects or seeds </a:t>
            </a:r>
            <a:r>
              <a:rPr lang="en-US" sz="2000" b="1" i="1" dirty="0" err="1"/>
              <a:t>O</a:t>
            </a:r>
            <a:r>
              <a:rPr lang="en-US" sz="2000" b="1" i="1" baseline="-25000" dirty="0" err="1"/>
              <a:t>j</a:t>
            </a:r>
            <a:r>
              <a:rPr lang="en-US" sz="2000" dirty="0"/>
              <a:t>    </a:t>
            </a:r>
            <a:r>
              <a:rPr lang="en-US" sz="2000" i="1" dirty="0"/>
              <a:t>j</a:t>
            </a:r>
            <a:r>
              <a:rPr lang="en-US" sz="2000" dirty="0"/>
              <a:t> = 1, 2…</a:t>
            </a:r>
            <a:r>
              <a:rPr lang="en-US" sz="2000" b="1" i="1" dirty="0"/>
              <a:t>k</a:t>
            </a:r>
          </a:p>
          <a:p>
            <a:r>
              <a:rPr lang="en-US" sz="2000" dirty="0"/>
              <a:t>(2) repeat </a:t>
            </a:r>
          </a:p>
          <a:p>
            <a:pPr lvl="1"/>
            <a:r>
              <a:rPr lang="en-US" sz="2000" dirty="0"/>
              <a:t>   (3) assign each remaining object to the cluster with the nearest representative object</a:t>
            </a:r>
          </a:p>
          <a:p>
            <a:pPr lvl="1"/>
            <a:r>
              <a:rPr lang="en-US" sz="2000" dirty="0"/>
              <a:t>    (4) randomly select a non-representative object </a:t>
            </a:r>
            <a:r>
              <a:rPr lang="en-US" sz="2000" b="1" i="1" dirty="0" err="1"/>
              <a:t>O</a:t>
            </a:r>
            <a:r>
              <a:rPr lang="en-US" sz="2000" b="1" i="1" baseline="-25000" dirty="0" err="1"/>
              <a:t>random</a:t>
            </a:r>
            <a:endParaRPr lang="en-US" sz="2000" dirty="0"/>
          </a:p>
          <a:p>
            <a:pPr lvl="1"/>
            <a:r>
              <a:rPr lang="en-US" sz="2000" dirty="0"/>
              <a:t>    (5) compute the total cost  </a:t>
            </a:r>
            <a:r>
              <a:rPr lang="en-US" sz="2000" b="1" i="1" dirty="0"/>
              <a:t>S</a:t>
            </a:r>
            <a:r>
              <a:rPr lang="en-US" sz="2000" dirty="0"/>
              <a:t>, of swapping representative object </a:t>
            </a:r>
            <a:r>
              <a:rPr lang="en-US" sz="2000" b="1" i="1" dirty="0" err="1"/>
              <a:t>O</a:t>
            </a:r>
            <a:r>
              <a:rPr lang="en-US" sz="2000" b="1" i="1" baseline="-25000" dirty="0" err="1"/>
              <a:t>j</a:t>
            </a:r>
            <a:r>
              <a:rPr lang="en-US" sz="2000" dirty="0"/>
              <a:t> , with </a:t>
            </a:r>
            <a:r>
              <a:rPr lang="en-US" sz="2000" b="1" i="1" dirty="0" err="1"/>
              <a:t>O</a:t>
            </a:r>
            <a:r>
              <a:rPr lang="en-US" sz="2000" b="1" i="1" baseline="-25000" dirty="0" err="1"/>
              <a:t>random</a:t>
            </a:r>
            <a:endParaRPr lang="en-US" sz="2000" dirty="0"/>
          </a:p>
          <a:p>
            <a:pPr lvl="1"/>
            <a:r>
              <a:rPr lang="en-US" sz="2000" dirty="0"/>
              <a:t>    (6) if </a:t>
            </a:r>
            <a:r>
              <a:rPr lang="en-US" sz="2000" b="1" i="1" dirty="0"/>
              <a:t>S</a:t>
            </a:r>
            <a:r>
              <a:rPr lang="en-US" sz="2000" dirty="0"/>
              <a:t> &lt; 0 then swap </a:t>
            </a:r>
            <a:r>
              <a:rPr lang="en-US" sz="2000" b="1" i="1" dirty="0" err="1"/>
              <a:t>O</a:t>
            </a:r>
            <a:r>
              <a:rPr lang="en-US" sz="2000" b="1" i="1" baseline="-25000" dirty="0" err="1"/>
              <a:t>j</a:t>
            </a:r>
            <a:r>
              <a:rPr lang="en-US" sz="2000" dirty="0"/>
              <a:t> with </a:t>
            </a:r>
            <a:r>
              <a:rPr lang="en-US" sz="2000" b="1" i="1" dirty="0" err="1"/>
              <a:t>O</a:t>
            </a:r>
            <a:r>
              <a:rPr lang="en-US" sz="2000" b="1" i="1" baseline="-25000" dirty="0" err="1"/>
              <a:t>random</a:t>
            </a:r>
            <a:r>
              <a:rPr lang="en-US" sz="2000" b="1" i="1" dirty="0"/>
              <a:t> </a:t>
            </a:r>
            <a:r>
              <a:rPr lang="en-US" sz="2000" dirty="0"/>
              <a:t>to form the new set of </a:t>
            </a:r>
            <a:r>
              <a:rPr lang="en-US" sz="2000" b="1" i="1" dirty="0"/>
              <a:t>k</a:t>
            </a:r>
            <a:r>
              <a:rPr lang="en-US" sz="2000" dirty="0"/>
              <a:t> representative objects; </a:t>
            </a:r>
          </a:p>
          <a:p>
            <a:r>
              <a:rPr lang="en-US" sz="2000" dirty="0"/>
              <a:t>(7) until no change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zh-CN" sz="3400" dirty="0">
                <a:solidFill>
                  <a:schemeClr val="tx2"/>
                </a:solidFill>
                <a:latin typeface="+mj-lt"/>
                <a:ea typeface="SimSun" pitchFamily="2" charset="-122"/>
              </a:rPr>
              <a:t>PAM Clustering: Finding the Best Cluster Center</a:t>
            </a:r>
            <a:endParaRPr lang="en-US" altLang="zh-CN" sz="3400" dirty="0">
              <a:solidFill>
                <a:schemeClr val="tx2"/>
              </a:solidFill>
              <a:latin typeface="+mj-lt"/>
              <a:ea typeface="PMingLiU" pitchFamily="18" charset="-120"/>
            </a:endParaRPr>
          </a:p>
        </p:txBody>
      </p:sp>
      <p:pic>
        <p:nvPicPr>
          <p:cNvPr id="9830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143000"/>
            <a:ext cx="7848600" cy="3851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14008E-C3DC-513E-259E-C76D66E1965E}"/>
                  </a:ext>
                </a:extLst>
              </p:cNvPr>
              <p:cNvSpPr txBox="1"/>
              <p:nvPr/>
            </p:nvSpPr>
            <p:spPr>
              <a:xfrm>
                <a:off x="381000" y="4994628"/>
                <a:ext cx="3733800" cy="1045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200" b="1" dirty="0"/>
                  <a:t>Image 1: Reassigned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sz="1200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200" dirty="0"/>
                  <a:t>Before swap, point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belongs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2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After replacement,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is </a:t>
                </a:r>
                <a:r>
                  <a:rPr lang="en-US" sz="1200" b="1" dirty="0"/>
                  <a:t>closer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than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2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So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moves to </a:t>
                </a:r>
                <a:r>
                  <a:rPr lang="en-US" sz="1200" b="1" dirty="0"/>
                  <a:t>cluster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2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14008E-C3DC-513E-259E-C76D66E19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994628"/>
                <a:ext cx="3733800" cy="1045414"/>
              </a:xfrm>
              <a:prstGeom prst="rect">
                <a:avLst/>
              </a:prstGeom>
              <a:blipFill>
                <a:blip r:embed="rId4"/>
                <a:stretch>
                  <a:fillRect l="-163" t="-581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CA193B-56ED-2B09-7823-E0B7096EBA11}"/>
                  </a:ext>
                </a:extLst>
              </p:cNvPr>
              <p:cNvSpPr txBox="1"/>
              <p:nvPr/>
            </p:nvSpPr>
            <p:spPr>
              <a:xfrm>
                <a:off x="2552700" y="3582094"/>
                <a:ext cx="3162300" cy="1204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/>
                  <a:t>Image 2: Reassigned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endParaRPr lang="ar-AE" sz="1400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Before swap,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belongs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/>
                  <a:t>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Now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is </a:t>
                </a:r>
                <a:r>
                  <a:rPr lang="en-US" sz="1400" b="1" dirty="0"/>
                  <a:t>closer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So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moves to </a:t>
                </a:r>
                <a:r>
                  <a:rPr lang="en-US" sz="1400" b="1" dirty="0"/>
                  <a:t>new cluster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CA193B-56ED-2B09-7823-E0B7096EB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700" y="3582094"/>
                <a:ext cx="3162300" cy="1204176"/>
              </a:xfrm>
              <a:prstGeom prst="rect">
                <a:avLst/>
              </a:prstGeom>
              <a:blipFill>
                <a:blip r:embed="rId5"/>
                <a:stretch>
                  <a:fillRect l="-578" t="-1015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B72DD1-B96F-CF9A-ED14-FE989D6E8542}"/>
                  </a:ext>
                </a:extLst>
              </p:cNvPr>
              <p:cNvSpPr txBox="1"/>
              <p:nvPr/>
            </p:nvSpPr>
            <p:spPr>
              <a:xfrm>
                <a:off x="5732417" y="3582094"/>
                <a:ext cx="3162300" cy="1204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/>
                  <a:t>Image 3: No change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Here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already belongs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, </a:t>
                </a:r>
                <a:r>
                  <a:rPr lang="en-US" sz="1400" dirty="0"/>
                  <a:t>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Even after 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/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400" dirty="0"/>
                  <a:t>, </a:t>
                </a: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is still closest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So </a:t>
                </a:r>
                <a:r>
                  <a:rPr lang="en-US" sz="1400" b="1" dirty="0"/>
                  <a:t>nothing changes</a:t>
                </a:r>
                <a:r>
                  <a:rPr lang="en-US" sz="1400" dirty="0"/>
                  <a:t> for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B72DD1-B96F-CF9A-ED14-FE989D6E8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17" y="3582094"/>
                <a:ext cx="3162300" cy="1204176"/>
              </a:xfrm>
              <a:prstGeom prst="rect">
                <a:avLst/>
              </a:prstGeom>
              <a:blipFill>
                <a:blip r:embed="rId6"/>
                <a:stretch>
                  <a:fillRect l="-578" t="-1015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93B6BB-07E7-39CE-00EA-8A43009D1A0F}"/>
                  </a:ext>
                </a:extLst>
              </p:cNvPr>
              <p:cNvSpPr txBox="1"/>
              <p:nvPr/>
            </p:nvSpPr>
            <p:spPr>
              <a:xfrm>
                <a:off x="5410200" y="4932559"/>
                <a:ext cx="2895600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/>
                  <a:t>Image 4: Reassigned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endParaRPr lang="ar-AE" sz="1400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Before swap,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belongs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After introducing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400" dirty="0"/>
                  <a:t>, </a:t>
                </a: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becomes closer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So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/>
                  <a:t>leaves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/>
                  <a:t>and joins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𝑟𝑎𝑛𝑑𝑜𝑚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93B6BB-07E7-39CE-00EA-8A43009D1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4932559"/>
                <a:ext cx="2895600" cy="1169551"/>
              </a:xfrm>
              <a:prstGeom prst="rect">
                <a:avLst/>
              </a:prstGeom>
              <a:blipFill>
                <a:blip r:embed="rId7"/>
                <a:stretch>
                  <a:fillRect l="-632" t="-1042"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884238"/>
          </a:xfrm>
        </p:spPr>
        <p:txBody>
          <a:bodyPr/>
          <a:lstStyle/>
          <a:p>
            <a:r>
              <a:rPr lang="en-US" dirty="0"/>
              <a:t>Example of PAM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p:pic>
        <p:nvPicPr>
          <p:cNvPr id="5" name="lightbox-image" descr="https://media.geeksforgeeks.org/wp-content/cdn-uploads/20200807084217/Screenshot-2020-08-07-at-1.12.02-PM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19200"/>
            <a:ext cx="3096683" cy="2782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04800" y="4495800"/>
            <a:ext cx="685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</a:t>
            </a:r>
            <a:br>
              <a:rPr lang="en-US" dirty="0"/>
            </a:br>
            <a:endParaRPr lang="en-US" dirty="0"/>
          </a:p>
          <a:p>
            <a:r>
              <a:rPr lang="en-US" dirty="0"/>
              <a:t>Let the randomly selected 2 </a:t>
            </a:r>
            <a:r>
              <a:rPr lang="en-US" dirty="0" err="1"/>
              <a:t>medoids</a:t>
            </a:r>
            <a:r>
              <a:rPr lang="en-US" dirty="0"/>
              <a:t>, so select k = 2 and let </a:t>
            </a:r>
            <a:r>
              <a:rPr lang="en-US" b="1" dirty="0"/>
              <a:t>C1 -(4, 5)</a:t>
            </a:r>
            <a:r>
              <a:rPr lang="en-US" dirty="0"/>
              <a:t> and </a:t>
            </a:r>
            <a:r>
              <a:rPr lang="en-US" b="1" dirty="0"/>
              <a:t>C2 -(8, 5)</a:t>
            </a:r>
            <a:r>
              <a:rPr lang="en-US" dirty="0"/>
              <a:t> are the two </a:t>
            </a:r>
            <a:r>
              <a:rPr lang="en-US" dirty="0" err="1"/>
              <a:t>medoids</a:t>
            </a:r>
            <a:r>
              <a:rPr lang="en-US" dirty="0"/>
              <a:t>. 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9" name="Picture 8" descr="https://media.geeksforgeeks.org/wp-content/cdn-uploads/20200807092053/Screenshot-2020-08-07-at-1.50.40-PM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4800" y="1371600"/>
            <a:ext cx="4724400" cy="267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7543800" cy="731838"/>
          </a:xfrm>
        </p:spPr>
        <p:txBody>
          <a:bodyPr/>
          <a:lstStyle/>
          <a:p>
            <a:r>
              <a:rPr lang="en-US" dirty="0"/>
              <a:t>Example of PAM (Contd.)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04800" y="3718679"/>
            <a:ext cx="8458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2: </a:t>
            </a:r>
            <a:r>
              <a:rPr lang="en-US" dirty="0"/>
              <a:t>Each point is assigned to the cluster of that </a:t>
            </a:r>
            <a:r>
              <a:rPr lang="en-US" dirty="0" err="1"/>
              <a:t>medoid</a:t>
            </a:r>
            <a:r>
              <a:rPr lang="en-US" dirty="0"/>
              <a:t> whose dissimilarity is less.</a:t>
            </a:r>
            <a:br>
              <a:rPr lang="en-US" dirty="0"/>
            </a:br>
            <a:r>
              <a:rPr lang="en-US" dirty="0"/>
              <a:t>The points </a:t>
            </a:r>
            <a:r>
              <a:rPr lang="en-US" b="1" i="1" dirty="0"/>
              <a:t>1, 2, 5 go to cluster C1</a:t>
            </a:r>
            <a:r>
              <a:rPr lang="en-US" dirty="0"/>
              <a:t> and </a:t>
            </a:r>
            <a:r>
              <a:rPr lang="en-US" b="1" i="1" dirty="0"/>
              <a:t>0, 3, 6, 7, 8 go to cluster C2.</a:t>
            </a:r>
            <a:br>
              <a:rPr lang="en-US" b="1" i="1" dirty="0"/>
            </a:br>
            <a:r>
              <a:rPr lang="en-US" dirty="0"/>
              <a:t>The Cost = (3 + 4 + 4) + (3 + 1 + 1 + 2 + 2) = 20</a:t>
            </a:r>
          </a:p>
          <a:p>
            <a:r>
              <a:rPr lang="en-US" b="1" dirty="0"/>
              <a:t>Step 3: randomly select one non-</a:t>
            </a:r>
            <a:r>
              <a:rPr lang="en-US" b="1" dirty="0" err="1"/>
              <a:t>medoid</a:t>
            </a:r>
            <a:r>
              <a:rPr lang="en-US" b="1" dirty="0"/>
              <a:t> point and recalculate the cost.</a:t>
            </a:r>
            <a:br>
              <a:rPr lang="en-US" dirty="0"/>
            </a:br>
            <a:r>
              <a:rPr lang="en-US" dirty="0"/>
              <a:t>Let be randomly selected point be (8, 4). The dissimilarity of each non-</a:t>
            </a:r>
            <a:r>
              <a:rPr lang="en-US" dirty="0" err="1"/>
              <a:t>medoid</a:t>
            </a:r>
            <a:r>
              <a:rPr lang="en-US" dirty="0"/>
              <a:t> point with the </a:t>
            </a:r>
            <a:r>
              <a:rPr lang="en-US" dirty="0" err="1"/>
              <a:t>medoids</a:t>
            </a:r>
            <a:r>
              <a:rPr lang="en-US" dirty="0"/>
              <a:t> – C1 (4, 5) and C2 (8, 4) is calculated and tabulated. </a:t>
            </a:r>
            <a:br>
              <a:rPr lang="en-US" dirty="0"/>
            </a:br>
            <a:r>
              <a:rPr lang="en-US" b="1" dirty="0"/>
              <a:t>New Cost </a:t>
            </a:r>
            <a:r>
              <a:rPr lang="en-US" dirty="0"/>
              <a:t>= (3 + 4 + 4) + (2 + 2 + 1 + 3 + 3) = 22</a:t>
            </a:r>
          </a:p>
          <a:p>
            <a:r>
              <a:rPr lang="en-US" b="1" dirty="0"/>
              <a:t>Swap Cost</a:t>
            </a:r>
            <a:r>
              <a:rPr lang="en-US" dirty="0"/>
              <a:t> = New Cost – Previous Cost = 22 – 20 and </a:t>
            </a:r>
            <a:r>
              <a:rPr lang="en-US" b="1" dirty="0"/>
              <a:t>2 &gt;0</a:t>
            </a:r>
            <a:endParaRPr lang="en-US" dirty="0"/>
          </a:p>
          <a:p>
            <a:r>
              <a:rPr lang="en-US" dirty="0"/>
              <a:t>As the swap cost is not less than zero, we undo the swap. </a:t>
            </a:r>
          </a:p>
        </p:txBody>
      </p:sp>
      <p:pic>
        <p:nvPicPr>
          <p:cNvPr id="7" name="Picture 6" descr="https://media.geeksforgeeks.org/wp-content/cdn-uploads/20200807084504/Screenshot-2020-08-07-at-1.14.56-PM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143000"/>
            <a:ext cx="380999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https://media.geeksforgeeks.org/wp-content/cdn-uploads/20200807091657/Screenshot-2020-08-07-at-1.46.48-PM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1066800"/>
            <a:ext cx="39569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884238"/>
          </a:xfrm>
        </p:spPr>
        <p:txBody>
          <a:bodyPr/>
          <a:lstStyle/>
          <a:p>
            <a:r>
              <a:rPr lang="en-US" dirty="0"/>
              <a:t>Example of PAM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04800" y="4495800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7391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time complexity</a:t>
            </a:r>
            <a:r>
              <a:rPr lang="en-US" dirty="0"/>
              <a:t> is  </a:t>
            </a:r>
            <a:r>
              <a:rPr lang="en-US" i="1" dirty="0"/>
              <a:t>O</a:t>
            </a:r>
            <a:r>
              <a:rPr lang="en-US" dirty="0"/>
              <a:t>(K-(n-K)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US" b="1" dirty="0"/>
              <a:t>Advantages:</a:t>
            </a:r>
            <a:endParaRPr lang="en-US" dirty="0"/>
          </a:p>
          <a:p>
            <a:pPr lvl="0">
              <a:buFont typeface="Arial" pitchFamily="34" charset="0"/>
              <a:buChar char="•"/>
            </a:pPr>
            <a:r>
              <a:rPr lang="en-US" dirty="0"/>
              <a:t>It is simple to understand and easy to implement.</a:t>
            </a:r>
          </a:p>
          <a:p>
            <a:pPr lvl="0">
              <a:buFont typeface="Arial" pitchFamily="34" charset="0"/>
              <a:buChar char="•"/>
            </a:pPr>
            <a:r>
              <a:rPr lang="en-US" dirty="0"/>
              <a:t>K-</a:t>
            </a:r>
            <a:r>
              <a:rPr lang="en-US" dirty="0" err="1"/>
              <a:t>Medoid</a:t>
            </a:r>
            <a:r>
              <a:rPr lang="en-US" dirty="0"/>
              <a:t> Algorithm is fast and converges in a fixed number of steps.</a:t>
            </a:r>
          </a:p>
          <a:p>
            <a:pPr lvl="0">
              <a:buFont typeface="Arial" pitchFamily="34" charset="0"/>
              <a:buChar char="•"/>
            </a:pPr>
            <a:r>
              <a:rPr lang="en-US" dirty="0"/>
              <a:t>PAM is less sensitive to outliers than other partitioning algorithms.</a:t>
            </a:r>
          </a:p>
          <a:p>
            <a:endParaRPr lang="en-US" b="1" dirty="0"/>
          </a:p>
          <a:p>
            <a:r>
              <a:rPr lang="en-US" b="1" dirty="0"/>
              <a:t>Disadvantages:</a:t>
            </a:r>
            <a:endParaRPr lang="en-US" dirty="0"/>
          </a:p>
          <a:p>
            <a:pPr lvl="0">
              <a:buFont typeface="Arial" pitchFamily="34" charset="0"/>
              <a:buChar char="•"/>
            </a:pPr>
            <a:r>
              <a:rPr lang="en-US" dirty="0"/>
              <a:t>The main disadvantage of K-</a:t>
            </a:r>
            <a:r>
              <a:rPr lang="en-US" dirty="0" err="1"/>
              <a:t>Medoid</a:t>
            </a:r>
            <a:r>
              <a:rPr lang="en-US" dirty="0"/>
              <a:t> algorithms is that it is not suitable for clustering non-spherical (arbitrary shaped) groups of objects. This is because it relies on minimizing the distances between the non-</a:t>
            </a:r>
            <a:r>
              <a:rPr lang="en-US" dirty="0" err="1"/>
              <a:t>medoid</a:t>
            </a:r>
            <a:r>
              <a:rPr lang="en-US" dirty="0"/>
              <a:t> objects and the </a:t>
            </a:r>
            <a:r>
              <a:rPr lang="en-US" dirty="0" err="1"/>
              <a:t>medoid</a:t>
            </a:r>
            <a:r>
              <a:rPr lang="en-US" dirty="0"/>
              <a:t> (the cluster centre) – briefly, it uses compactness as clustering criteria instead of connectivity.</a:t>
            </a:r>
          </a:p>
          <a:p>
            <a:pPr lvl="0">
              <a:buFont typeface="Arial" pitchFamily="34" charset="0"/>
              <a:buChar char="•"/>
            </a:pPr>
            <a:endParaRPr lang="en-US" dirty="0"/>
          </a:p>
          <a:p>
            <a:pPr lvl="0">
              <a:buFont typeface="Arial" pitchFamily="34" charset="0"/>
              <a:buChar char="•"/>
            </a:pPr>
            <a:r>
              <a:rPr lang="en-US" dirty="0"/>
              <a:t>It may obtain different results for different runs on the same dataset because the </a:t>
            </a:r>
            <a:r>
              <a:rPr lang="en-US" i="1" dirty="0"/>
              <a:t>first K</a:t>
            </a:r>
            <a:r>
              <a:rPr lang="en-US" dirty="0"/>
              <a:t> </a:t>
            </a:r>
            <a:r>
              <a:rPr lang="en-US" dirty="0" err="1"/>
              <a:t>medoids</a:t>
            </a:r>
            <a:r>
              <a:rPr lang="en-US" dirty="0"/>
              <a:t> are chosen randomly.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04800" y="1371600"/>
            <a:ext cx="8610600" cy="5029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altLang="ko-KR" sz="2400" dirty="0">
                <a:latin typeface="+mn-lt"/>
                <a:ea typeface="Gulim" pitchFamily="34" charset="-127"/>
              </a:rPr>
              <a:t>PAM is more robust than </a:t>
            </a:r>
            <a:r>
              <a:rPr lang="en-US" altLang="ko-KR" sz="2400" i="1" dirty="0">
                <a:latin typeface="+mn-lt"/>
                <a:ea typeface="Gulim" pitchFamily="34" charset="-127"/>
              </a:rPr>
              <a:t>k-</a:t>
            </a:r>
            <a:r>
              <a:rPr lang="en-US" altLang="ko-KR" sz="2400" dirty="0">
                <a:latin typeface="+mn-lt"/>
                <a:ea typeface="Gulim" pitchFamily="34" charset="-127"/>
              </a:rPr>
              <a:t>means in the presence of noise and outliers because a </a:t>
            </a:r>
            <a:r>
              <a:rPr lang="en-US" altLang="ko-KR" sz="2400" dirty="0" err="1">
                <a:latin typeface="+mn-lt"/>
                <a:ea typeface="Gulim" pitchFamily="34" charset="-127"/>
              </a:rPr>
              <a:t>medoid</a:t>
            </a:r>
            <a:r>
              <a:rPr lang="en-US" altLang="ko-KR" sz="2400" dirty="0">
                <a:latin typeface="+mn-lt"/>
                <a:ea typeface="Gulim" pitchFamily="34" charset="-127"/>
              </a:rPr>
              <a:t> is less influenced by outliers or other extreme values than a mean</a:t>
            </a: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altLang="ko-KR" sz="2400" dirty="0">
                <a:latin typeface="+mn-lt"/>
                <a:ea typeface="Gulim" pitchFamily="34" charset="-127"/>
              </a:rPr>
              <a:t>PAM works efficiently for small data sets but does not </a:t>
            </a:r>
            <a:r>
              <a:rPr lang="en-US" altLang="ko-KR" sz="2400" b="1" dirty="0">
                <a:latin typeface="+mn-lt"/>
                <a:ea typeface="Gulim" pitchFamily="34" charset="-127"/>
              </a:rPr>
              <a:t>scale well</a:t>
            </a:r>
            <a:r>
              <a:rPr lang="en-US" altLang="ko-KR" sz="2400" dirty="0">
                <a:latin typeface="+mn-lt"/>
                <a:ea typeface="Gulim" pitchFamily="34" charset="-127"/>
              </a:rPr>
              <a:t> for large data sets.</a:t>
            </a: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altLang="ko-KR" sz="2400" dirty="0">
                <a:latin typeface="+mn-lt"/>
                <a:ea typeface="Gulim" pitchFamily="34" charset="-127"/>
                <a:sym typeface="Wingdings" pitchFamily="2" charset="2"/>
              </a:rPr>
              <a:t>Sampling-based method</a:t>
            </a:r>
          </a:p>
          <a:p>
            <a:pPr marL="731520" lvl="1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ko-KR" sz="2400" dirty="0">
                <a:latin typeface="+mn-lt"/>
                <a:ea typeface="Gulim" pitchFamily="34" charset="-127"/>
                <a:sym typeface="Wingdings" pitchFamily="2" charset="2"/>
              </a:rPr>
              <a:t>CLARA(Clustering </a:t>
            </a:r>
            <a:r>
              <a:rPr lang="en-US" altLang="ko-KR" sz="2400" dirty="0" err="1">
                <a:latin typeface="+mn-lt"/>
                <a:ea typeface="Gulim" pitchFamily="34" charset="-127"/>
                <a:sym typeface="Wingdings" pitchFamily="2" charset="2"/>
              </a:rPr>
              <a:t>LARge</a:t>
            </a:r>
            <a:r>
              <a:rPr lang="en-US" altLang="ko-KR" sz="2400" dirty="0">
                <a:latin typeface="+mn-lt"/>
                <a:ea typeface="Gulim" pitchFamily="34" charset="-127"/>
                <a:sym typeface="Wingdings" pitchFamily="2" charset="2"/>
              </a:rPr>
              <a:t> Applications)</a:t>
            </a:r>
          </a:p>
          <a:p>
            <a:pPr marL="548640" marR="0" lvl="1" indent="-228600" algn="l" defTabSz="914400" rtl="0" eaLnBrk="1" fontAlgn="auto" latinLnBrk="0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itchFamily="2" charset="-122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ko-KR" sz="3600" dirty="0">
                <a:solidFill>
                  <a:schemeClr val="tx2"/>
                </a:solidFill>
                <a:latin typeface="+mj-lt"/>
                <a:ea typeface="Gulim" pitchFamily="34" charset="-127"/>
              </a:rPr>
              <a:t>Problems with PAM</a:t>
            </a:r>
            <a:endParaRPr lang="en-US" altLang="zh-CN" sz="3400" dirty="0">
              <a:solidFill>
                <a:schemeClr val="tx2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zh-CN" sz="3600" i="1" dirty="0">
                <a:solidFill>
                  <a:schemeClr val="tx2"/>
                </a:solidFill>
                <a:latin typeface="+mj-lt"/>
                <a:ea typeface="SimSun" pitchFamily="2" charset="-122"/>
              </a:rPr>
              <a:t>CLARA</a:t>
            </a: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 (Clustering Large Applications) (1990)</a:t>
            </a:r>
            <a:endParaRPr lang="en-US" altLang="zh-CN" sz="3400" dirty="0">
              <a:solidFill>
                <a:schemeClr val="tx2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229600" cy="4953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400" i="1" dirty="0">
                <a:ea typeface="SimSun" pitchFamily="2" charset="-122"/>
              </a:rPr>
              <a:t>CLARA</a:t>
            </a:r>
            <a:r>
              <a:rPr lang="en-US" altLang="zh-CN" sz="2400" dirty="0">
                <a:ea typeface="SimSun" pitchFamily="2" charset="-122"/>
              </a:rPr>
              <a:t> (Kaufmann and </a:t>
            </a:r>
            <a:r>
              <a:rPr lang="en-US" altLang="zh-CN" sz="2400" dirty="0" err="1">
                <a:ea typeface="SimSun" pitchFamily="2" charset="-122"/>
              </a:rPr>
              <a:t>Rousseeuw</a:t>
            </a:r>
            <a:r>
              <a:rPr lang="en-US" altLang="zh-CN" sz="2400" dirty="0">
                <a:ea typeface="SimSun" pitchFamily="2" charset="-122"/>
              </a:rPr>
              <a:t> in 1990)</a:t>
            </a: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dirty="0">
                <a:ea typeface="SimSun" pitchFamily="2" charset="-122"/>
              </a:rPr>
              <a:t>Built in statistical analysis packages, such as </a:t>
            </a:r>
            <a:r>
              <a:rPr lang="en-US" altLang="zh-CN" sz="2400" dirty="0" err="1">
                <a:ea typeface="SimSun" pitchFamily="2" charset="-122"/>
              </a:rPr>
              <a:t>SPlus</a:t>
            </a:r>
            <a:endParaRPr lang="en-US" altLang="zh-CN" sz="2400" dirty="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>
                <a:ea typeface="SimSun" pitchFamily="2" charset="-122"/>
              </a:rPr>
              <a:t>It draws </a:t>
            </a:r>
            <a:r>
              <a:rPr lang="en-US" altLang="zh-CN" sz="2400" i="1" dirty="0">
                <a:ea typeface="SimSun" pitchFamily="2" charset="-122"/>
              </a:rPr>
              <a:t>multiple samples</a:t>
            </a:r>
            <a:r>
              <a:rPr lang="en-US" altLang="zh-CN" sz="2400" dirty="0">
                <a:ea typeface="SimSun" pitchFamily="2" charset="-122"/>
              </a:rPr>
              <a:t> of the data set, applies </a:t>
            </a:r>
            <a:r>
              <a:rPr lang="en-US" altLang="zh-CN" sz="2400" i="1" dirty="0">
                <a:ea typeface="SimSun" pitchFamily="2" charset="-122"/>
              </a:rPr>
              <a:t>PAM</a:t>
            </a:r>
            <a:r>
              <a:rPr lang="en-US" altLang="zh-CN" sz="2400" dirty="0">
                <a:ea typeface="SimSun" pitchFamily="2" charset="-122"/>
              </a:rPr>
              <a:t> on each sample, and gives the best clustering as the output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u="sng" dirty="0">
                <a:ea typeface="SimSun" pitchFamily="2" charset="-122"/>
              </a:rPr>
              <a:t>Strength</a:t>
            </a:r>
            <a:r>
              <a:rPr lang="en-US" altLang="zh-CN" sz="2400" dirty="0">
                <a:ea typeface="SimSun" pitchFamily="2" charset="-122"/>
              </a:rPr>
              <a:t>: deals with larger data sets than </a:t>
            </a:r>
            <a:r>
              <a:rPr lang="en-US" altLang="zh-CN" sz="2400" i="1" dirty="0">
                <a:ea typeface="SimSun" pitchFamily="2" charset="-122"/>
              </a:rPr>
              <a:t>PAM</a:t>
            </a:r>
            <a:endParaRPr lang="en-US" altLang="zh-CN" sz="2400" dirty="0">
              <a:ea typeface="SimSun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u="sng" dirty="0">
                <a:ea typeface="SimSun" pitchFamily="2" charset="-122"/>
              </a:rPr>
              <a:t>Weakness:</a:t>
            </a:r>
            <a:endParaRPr lang="en-US" altLang="zh-CN" sz="2400" dirty="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>
                <a:ea typeface="SimSun" pitchFamily="2" charset="-122"/>
              </a:rPr>
              <a:t>Efficiency depends on the sample size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>
                <a:ea typeface="SimSun" pitchFamily="2" charset="-122"/>
              </a:rPr>
              <a:t>A good clustering based on samples will not necessarily represent a good clustering of the whole data set if the sample is biased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rm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zh-CN" sz="3600" i="1" dirty="0">
                <a:solidFill>
                  <a:schemeClr val="tx2"/>
                </a:solidFill>
                <a:latin typeface="+mj-lt"/>
                <a:ea typeface="SimSun" pitchFamily="2" charset="-122"/>
              </a:rPr>
              <a:t>CLARANS </a:t>
            </a: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(“Randomized” CLARA)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PMingLiU" pitchFamily="18" charset="-120"/>
              <a:cs typeface="+mj-cs"/>
            </a:endParaRP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029200"/>
          </a:xfrm>
        </p:spPr>
        <p:txBody>
          <a:bodyPr/>
          <a:lstStyle/>
          <a:p>
            <a:pPr eaLnBrk="1" hangingPunct="1"/>
            <a:r>
              <a:rPr lang="en-US" altLang="zh-CN" sz="2400" i="1" dirty="0">
                <a:ea typeface="SimSun" pitchFamily="2" charset="-122"/>
              </a:rPr>
              <a:t>CLARANS</a:t>
            </a:r>
            <a:r>
              <a:rPr lang="en-US" altLang="zh-CN" sz="2400" dirty="0">
                <a:ea typeface="SimSun" pitchFamily="2" charset="-122"/>
              </a:rPr>
              <a:t> (A Clustering Algorithm based on Randomized Search)  (Ng and Han’94)</a:t>
            </a:r>
          </a:p>
          <a:p>
            <a:pPr lvl="1" eaLnBrk="1" hangingPunct="1"/>
            <a:r>
              <a:rPr lang="en-US" altLang="zh-CN" sz="2400" dirty="0">
                <a:ea typeface="SimSun" pitchFamily="2" charset="-122"/>
              </a:rPr>
              <a:t>Draws sample of neighbors dynamically</a:t>
            </a:r>
          </a:p>
          <a:p>
            <a:pPr lvl="1" eaLnBrk="1" hangingPunct="1"/>
            <a:r>
              <a:rPr lang="en-US" altLang="zh-CN" sz="2400" dirty="0">
                <a:ea typeface="SimSun" pitchFamily="2" charset="-122"/>
              </a:rPr>
              <a:t>The clustering process can be presented as searching a graph where every node is a potential solution, that is, a set of </a:t>
            </a:r>
            <a:r>
              <a:rPr lang="en-US" altLang="zh-CN" sz="2400" i="1" dirty="0">
                <a:ea typeface="SimSun" pitchFamily="2" charset="-122"/>
              </a:rPr>
              <a:t>k</a:t>
            </a:r>
            <a:r>
              <a:rPr lang="en-US" altLang="zh-CN" sz="2400" dirty="0">
                <a:ea typeface="SimSun" pitchFamily="2" charset="-122"/>
              </a:rPr>
              <a:t> </a:t>
            </a:r>
            <a:r>
              <a:rPr lang="en-US" altLang="zh-CN" sz="2400" dirty="0" err="1">
                <a:ea typeface="SimSun" pitchFamily="2" charset="-122"/>
              </a:rPr>
              <a:t>medoids</a:t>
            </a:r>
            <a:endParaRPr lang="en-US" altLang="zh-CN" sz="2400" dirty="0">
              <a:ea typeface="SimSun" pitchFamily="2" charset="-122"/>
            </a:endParaRPr>
          </a:p>
          <a:p>
            <a:pPr lvl="1" eaLnBrk="1" hangingPunct="1"/>
            <a:r>
              <a:rPr lang="en-US" altLang="zh-CN" sz="2400" dirty="0">
                <a:ea typeface="SimSun" pitchFamily="2" charset="-122"/>
              </a:rPr>
              <a:t>If the local optimum is found, </a:t>
            </a:r>
            <a:r>
              <a:rPr lang="en-US" altLang="zh-CN" sz="2400" i="1" dirty="0">
                <a:ea typeface="SimSun" pitchFamily="2" charset="-122"/>
              </a:rPr>
              <a:t>it</a:t>
            </a:r>
            <a:r>
              <a:rPr lang="en-US" altLang="zh-CN" sz="2400" dirty="0">
                <a:ea typeface="SimSun" pitchFamily="2" charset="-122"/>
              </a:rPr>
              <a:t> starts with new randomly selected node in search for a new local optimum</a:t>
            </a:r>
          </a:p>
          <a:p>
            <a:pPr eaLnBrk="1" hangingPunct="1"/>
            <a:r>
              <a:rPr lang="en-US" altLang="zh-CN" sz="2400" dirty="0">
                <a:ea typeface="SimSun" pitchFamily="2" charset="-122"/>
              </a:rPr>
              <a:t>Advantages:  More efficient and scalable than both </a:t>
            </a:r>
            <a:r>
              <a:rPr lang="en-US" altLang="zh-CN" sz="2400" i="1" dirty="0">
                <a:ea typeface="SimSun" pitchFamily="2" charset="-122"/>
              </a:rPr>
              <a:t>PAM</a:t>
            </a:r>
            <a:r>
              <a:rPr lang="en-US" altLang="zh-CN" sz="2400" dirty="0">
                <a:ea typeface="SimSun" pitchFamily="2" charset="-122"/>
              </a:rPr>
              <a:t> and </a:t>
            </a:r>
            <a:r>
              <a:rPr lang="en-US" altLang="zh-CN" sz="2400" i="1" dirty="0">
                <a:ea typeface="SimSun" pitchFamily="2" charset="-122"/>
              </a:rPr>
              <a:t>CLARA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543800" cy="960438"/>
          </a:xfrm>
        </p:spPr>
        <p:txBody>
          <a:bodyPr/>
          <a:lstStyle/>
          <a:p>
            <a:r>
              <a:rPr lang="en-US" altLang="en-US" dirty="0"/>
              <a:t>Hierarchical Clustering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181600"/>
          </a:xfrm>
        </p:spPr>
        <p:txBody>
          <a:bodyPr/>
          <a:lstStyle/>
          <a:p>
            <a:r>
              <a:rPr lang="en-US" altLang="en-US" dirty="0"/>
              <a:t>Produces a set of nested clusters organized as a hierarchical tree</a:t>
            </a:r>
          </a:p>
          <a:p>
            <a:r>
              <a:rPr lang="en-US" altLang="en-US" dirty="0"/>
              <a:t>Can be visualized as a </a:t>
            </a:r>
            <a:r>
              <a:rPr lang="en-US" altLang="en-US" dirty="0" err="1"/>
              <a:t>dendrogram</a:t>
            </a:r>
            <a:endParaRPr lang="en-US" altLang="en-US" dirty="0"/>
          </a:p>
          <a:p>
            <a:pPr lvl="1"/>
            <a:r>
              <a:rPr lang="en-US" altLang="en-US" dirty="0"/>
              <a:t>A tree like diagram that records the sequences of merges or splits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59213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5105400" y="3629025"/>
          <a:ext cx="2743200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163511" imgH="3230582" progId="">
                  <p:embed/>
                </p:oleObj>
              </mc:Choice>
              <mc:Fallback>
                <p:oleObj name="VISIO" r:id="rId4" imgW="3163511" imgH="3230582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629025"/>
                        <a:ext cx="2743200" cy="246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Strengths of Hierarchical Clustering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Do not have to assume any particular number of clusters like </a:t>
            </a:r>
            <a:r>
              <a:rPr lang="en-US" altLang="en-US" i="1" dirty="0"/>
              <a:t>k</a:t>
            </a:r>
            <a:r>
              <a:rPr lang="en-US" altLang="en-US" dirty="0"/>
              <a:t> means clustering.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Any desired number of clusters can be obtained by ‘cutting’ the </a:t>
            </a:r>
            <a:r>
              <a:rPr lang="en-US" altLang="en-US" dirty="0" err="1"/>
              <a:t>dendrogram</a:t>
            </a:r>
            <a:r>
              <a:rPr lang="en-US" altLang="en-US" dirty="0"/>
              <a:t> at the proper level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They may correspond to meaningful taxonomies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 in biological sciences (e.g., animal kingdom, phylogeny reconstruction, 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543800" cy="838200"/>
          </a:xfrm>
        </p:spPr>
        <p:txBody>
          <a:bodyPr/>
          <a:lstStyle/>
          <a:p>
            <a:r>
              <a:rPr lang="en-US" altLang="en-US" dirty="0"/>
              <a:t>Hierarchical Clustering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229600" cy="4564062"/>
          </a:xfrm>
        </p:spPr>
        <p:txBody>
          <a:bodyPr/>
          <a:lstStyle/>
          <a:p>
            <a:r>
              <a:rPr lang="en-US" altLang="en-US" sz="2400" dirty="0"/>
              <a:t>Two main types of hierarchical clustering</a:t>
            </a:r>
          </a:p>
          <a:p>
            <a:pPr lvl="1"/>
            <a:r>
              <a:rPr lang="en-US" altLang="en-US" sz="2000" b="1" i="1" dirty="0"/>
              <a:t>Agglomerative:  </a:t>
            </a:r>
          </a:p>
          <a:p>
            <a:pPr marL="1146175" lvl="2" indent="-231775"/>
            <a:r>
              <a:rPr lang="en-US" altLang="en-US" sz="1800" dirty="0"/>
              <a:t>Start with the points as individual clusters</a:t>
            </a:r>
          </a:p>
          <a:p>
            <a:pPr marL="1146175" lvl="2" indent="-231775"/>
            <a:r>
              <a:rPr lang="en-US" altLang="en-US" sz="1800" dirty="0"/>
              <a:t>At each step, merge the closest pair of clusters until only one cluster (or k clusters) left</a:t>
            </a:r>
          </a:p>
          <a:p>
            <a:pPr lvl="4"/>
            <a:endParaRPr lang="en-US" altLang="en-US" sz="1800" dirty="0"/>
          </a:p>
          <a:p>
            <a:pPr lvl="1"/>
            <a:r>
              <a:rPr lang="en-US" altLang="en-US" sz="2000" b="1" i="1" dirty="0"/>
              <a:t>Divisive:</a:t>
            </a:r>
            <a:r>
              <a:rPr lang="en-US" altLang="en-US" sz="2000" dirty="0"/>
              <a:t>  </a:t>
            </a:r>
          </a:p>
          <a:p>
            <a:pPr marL="1146175" lvl="2" indent="-231775"/>
            <a:r>
              <a:rPr lang="en-US" altLang="en-US" sz="1800" dirty="0"/>
              <a:t>Start with one, all-inclusive cluster </a:t>
            </a:r>
          </a:p>
          <a:p>
            <a:pPr marL="1146175" lvl="2" indent="-231775"/>
            <a:r>
              <a:rPr lang="en-US" altLang="en-US" sz="1800" dirty="0"/>
              <a:t>At each step, split a cluster until each cluster contains an individual point (or there are k clusters)</a:t>
            </a:r>
          </a:p>
          <a:p>
            <a:pPr lvl="4"/>
            <a:endParaRPr lang="en-US" altLang="en-US" sz="1800" dirty="0"/>
          </a:p>
          <a:p>
            <a:r>
              <a:rPr lang="en-US" altLang="en-US" sz="2400" dirty="0"/>
              <a:t>Traditional hierarchical algorithms use a similarity or distance matrix</a:t>
            </a:r>
          </a:p>
          <a:p>
            <a:pPr lvl="1"/>
            <a:r>
              <a:rPr lang="en-US" altLang="en-US" sz="2000" b="1" i="1" dirty="0"/>
              <a:t>Merge or split one cluster at a time</a:t>
            </a:r>
          </a:p>
          <a:p>
            <a:pPr lvl="4"/>
            <a:endParaRPr lang="en-US" alt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55</a:t>
            </a:fld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rm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AGNES (Agglomerative Nesting)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PMingLiU" pitchFamily="18" charset="-120"/>
              <a:cs typeface="+mj-cs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2895600"/>
          </a:xfrm>
        </p:spPr>
        <p:txBody>
          <a:bodyPr>
            <a:normAutofit/>
          </a:bodyPr>
          <a:lstStyle/>
          <a:p>
            <a:r>
              <a:rPr lang="en-US" sz="2400" dirty="0"/>
              <a:t>Every object is placed into a cluster of its own </a:t>
            </a:r>
          </a:p>
          <a:p>
            <a:r>
              <a:rPr lang="en-US" sz="2400" dirty="0"/>
              <a:t>Merge the clusters according to the minimum Euclidean distance between the nearest objects in the clusters </a:t>
            </a:r>
          </a:p>
          <a:p>
            <a:r>
              <a:rPr lang="en-US" sz="2400" dirty="0"/>
              <a:t>If arriving a “whole” cluster, exit; otherwise repeat the process</a:t>
            </a:r>
            <a:endParaRPr lang="en-US" sz="2400" dirty="0">
              <a:ea typeface="SimSun" pitchFamily="2" charset="-122"/>
            </a:endParaRPr>
          </a:p>
          <a:p>
            <a:r>
              <a:rPr lang="en-US" altLang="zh-CN" sz="2400" dirty="0">
                <a:ea typeface="SimSun" pitchFamily="2" charset="-122"/>
              </a:rPr>
              <a:t>Eventually all nodes belong to the same cluster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rmAutofit/>
          </a:bodyPr>
          <a:lstStyle/>
          <a:p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DIANA (Divisive Analysis)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2667000"/>
          </a:xfrm>
        </p:spPr>
        <p:txBody>
          <a:bodyPr>
            <a:normAutofit/>
          </a:bodyPr>
          <a:lstStyle/>
          <a:p>
            <a:r>
              <a:rPr lang="en-US" sz="2400" dirty="0"/>
              <a:t>All the objects are placed in one cluster</a:t>
            </a:r>
          </a:p>
          <a:p>
            <a:r>
              <a:rPr lang="en-US" sz="2400" dirty="0"/>
              <a:t>Split the clusters according to the maximum Euclidean distance between the nearest objects in the clusters  </a:t>
            </a:r>
          </a:p>
          <a:p>
            <a:r>
              <a:rPr lang="en-US" sz="2400" dirty="0"/>
              <a:t>If each cluster contains only one object, exit; otherwise repeat the process </a:t>
            </a:r>
            <a:endParaRPr lang="en-US" sz="2400" dirty="0">
              <a:ea typeface="SimSun" pitchFamily="2" charset="-122"/>
            </a:endParaRPr>
          </a:p>
          <a:p>
            <a:r>
              <a:rPr lang="en-US" altLang="zh-CN" sz="2400" dirty="0">
                <a:ea typeface="SimSun" pitchFamily="2" charset="-122"/>
              </a:rPr>
              <a:t>Eventually each node forms a cluster on its own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rm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</a:rPr>
              <a:t>Hierarchical Clustering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PMingLiU" pitchFamily="18" charset="-120"/>
              <a:cs typeface="+mj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90600" y="1752600"/>
            <a:ext cx="6956425" cy="3641725"/>
            <a:chOff x="1200" y="1776"/>
            <a:chExt cx="4382" cy="2294"/>
          </a:xfrm>
        </p:grpSpPr>
        <p:sp>
          <p:nvSpPr>
            <p:cNvPr id="33798" name="Line 5"/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33851" name="Line 7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52" name="Text Box 8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SimSun" pitchFamily="2" charset="-122"/>
                  </a:rPr>
                  <a:t>Step 0</a:t>
                </a:r>
              </a:p>
            </p:txBody>
          </p:sp>
        </p:grp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33849" name="Line 10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50" name="Text Box 11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SimSun" pitchFamily="2" charset="-122"/>
                  </a:rPr>
                  <a:t>Step 1</a:t>
                </a:r>
              </a:p>
            </p:txBody>
          </p:sp>
        </p:grp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33847" name="Line 13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8" name="Text Box 14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SimSun" pitchFamily="2" charset="-122"/>
                  </a:rPr>
                  <a:t>Step 2</a:t>
                </a:r>
              </a:p>
            </p:txBody>
          </p:sp>
        </p:grp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33845" name="Line 16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6" name="Text Box 17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SimSun" pitchFamily="2" charset="-122"/>
                  </a:rPr>
                  <a:t>Step 3</a:t>
                </a:r>
              </a:p>
            </p:txBody>
          </p:sp>
        </p:grp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33843" name="Line 19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4" name="Text Box 20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SimSun" pitchFamily="2" charset="-122"/>
                  </a:rPr>
                  <a:t>Step 4</a:t>
                </a:r>
              </a:p>
            </p:txBody>
          </p:sp>
        </p:grpSp>
        <p:sp>
          <p:nvSpPr>
            <p:cNvPr id="33804" name="Text Box 21"/>
            <p:cNvSpPr txBox="1">
              <a:spLocks noChangeArrowheads="1"/>
            </p:cNvSpPr>
            <p:nvPr/>
          </p:nvSpPr>
          <p:spPr bwMode="auto">
            <a:xfrm>
              <a:off x="1440" y="250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b</a:t>
              </a:r>
            </a:p>
          </p:txBody>
        </p:sp>
        <p:sp>
          <p:nvSpPr>
            <p:cNvPr id="33805" name="Text Box 22"/>
            <p:cNvSpPr txBox="1">
              <a:spLocks noChangeArrowheads="1"/>
            </p:cNvSpPr>
            <p:nvPr/>
          </p:nvSpPr>
          <p:spPr bwMode="auto">
            <a:xfrm>
              <a:off x="1440" y="310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d</a:t>
              </a:r>
            </a:p>
          </p:txBody>
        </p:sp>
        <p:sp>
          <p:nvSpPr>
            <p:cNvPr id="33806" name="Text Box 23"/>
            <p:cNvSpPr txBox="1">
              <a:spLocks noChangeArrowheads="1"/>
            </p:cNvSpPr>
            <p:nvPr/>
          </p:nvSpPr>
          <p:spPr bwMode="auto">
            <a:xfrm>
              <a:off x="1440" y="2808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c</a:t>
              </a:r>
            </a:p>
          </p:txBody>
        </p:sp>
        <p:sp>
          <p:nvSpPr>
            <p:cNvPr id="33807" name="Text Box 24"/>
            <p:cNvSpPr txBox="1">
              <a:spLocks noChangeArrowheads="1"/>
            </p:cNvSpPr>
            <p:nvPr/>
          </p:nvSpPr>
          <p:spPr bwMode="auto">
            <a:xfrm>
              <a:off x="1440" y="3408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e</a:t>
              </a:r>
            </a:p>
          </p:txBody>
        </p:sp>
        <p:sp>
          <p:nvSpPr>
            <p:cNvPr id="33808" name="Text Box 25"/>
            <p:cNvSpPr txBox="1">
              <a:spLocks noChangeArrowheads="1"/>
            </p:cNvSpPr>
            <p:nvPr/>
          </p:nvSpPr>
          <p:spPr bwMode="auto">
            <a:xfrm>
              <a:off x="1440" y="2208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a</a:t>
              </a:r>
            </a:p>
          </p:txBody>
        </p:sp>
        <p:sp>
          <p:nvSpPr>
            <p:cNvPr id="33809" name="Oval 26"/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10" name="Oval 27"/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11" name="Oval 28"/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12" name="Oval 29"/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13" name="Oval 30"/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14" name="Text Box 31"/>
            <p:cNvSpPr txBox="1">
              <a:spLocks noChangeArrowheads="1"/>
            </p:cNvSpPr>
            <p:nvPr/>
          </p:nvSpPr>
          <p:spPr bwMode="auto">
            <a:xfrm>
              <a:off x="1968" y="2304"/>
              <a:ext cx="3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a b</a:t>
              </a:r>
            </a:p>
          </p:txBody>
        </p:sp>
        <p:sp>
          <p:nvSpPr>
            <p:cNvPr id="33815" name="Oval 32"/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16" name="Text Box 33"/>
            <p:cNvSpPr txBox="1">
              <a:spLocks noChangeArrowheads="1"/>
            </p:cNvSpPr>
            <p:nvPr/>
          </p:nvSpPr>
          <p:spPr bwMode="auto">
            <a:xfrm>
              <a:off x="2496" y="3216"/>
              <a:ext cx="34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d e</a:t>
              </a:r>
            </a:p>
          </p:txBody>
        </p:sp>
        <p:sp>
          <p:nvSpPr>
            <p:cNvPr id="33817" name="Oval 34"/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18" name="Text Box 35"/>
            <p:cNvSpPr txBox="1">
              <a:spLocks noChangeArrowheads="1"/>
            </p:cNvSpPr>
            <p:nvPr/>
          </p:nvSpPr>
          <p:spPr bwMode="auto">
            <a:xfrm>
              <a:off x="2880" y="2928"/>
              <a:ext cx="47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c d e</a:t>
              </a:r>
            </a:p>
          </p:txBody>
        </p:sp>
        <p:sp>
          <p:nvSpPr>
            <p:cNvPr id="33819" name="Oval 36"/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20" name="Text Box 37"/>
            <p:cNvSpPr txBox="1">
              <a:spLocks noChangeArrowheads="1"/>
            </p:cNvSpPr>
            <p:nvPr/>
          </p:nvSpPr>
          <p:spPr bwMode="auto">
            <a:xfrm>
              <a:off x="3216" y="2592"/>
              <a:ext cx="7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a b c d e</a:t>
              </a:r>
            </a:p>
          </p:txBody>
        </p:sp>
        <p:sp>
          <p:nvSpPr>
            <p:cNvPr id="33821" name="Oval 38"/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SimSun" pitchFamily="2" charset="-122"/>
              </a:endParaRPr>
            </a:p>
          </p:txBody>
        </p:sp>
        <p:sp>
          <p:nvSpPr>
            <p:cNvPr id="33822" name="Line 39"/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3" name="Line 40"/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4" name="Text Box 41"/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Step 4</a:t>
              </a:r>
            </a:p>
          </p:txBody>
        </p:sp>
        <p:sp>
          <p:nvSpPr>
            <p:cNvPr id="33825" name="Line 42"/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6" name="Text Box 43"/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dirty="0">
                  <a:latin typeface="Times New Roman" pitchFamily="18" charset="0"/>
                  <a:ea typeface="SimSun" pitchFamily="2" charset="-122"/>
                </a:rPr>
                <a:t>Step 3</a:t>
              </a:r>
            </a:p>
          </p:txBody>
        </p:sp>
        <p:sp>
          <p:nvSpPr>
            <p:cNvPr id="33827" name="Line 44"/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8" name="Text Box 45"/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dirty="0">
                  <a:latin typeface="Times New Roman" pitchFamily="18" charset="0"/>
                  <a:ea typeface="SimSun" pitchFamily="2" charset="-122"/>
                </a:rPr>
                <a:t>Step 2</a:t>
              </a:r>
            </a:p>
          </p:txBody>
        </p:sp>
        <p:sp>
          <p:nvSpPr>
            <p:cNvPr id="33829" name="Line 46"/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0" name="Text Box 47"/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Step 1</a:t>
              </a:r>
            </a:p>
          </p:txBody>
        </p:sp>
        <p:sp>
          <p:nvSpPr>
            <p:cNvPr id="33831" name="Line 48"/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2" name="Text Box 49"/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Step 0</a:t>
              </a:r>
            </a:p>
          </p:txBody>
        </p:sp>
        <p:sp>
          <p:nvSpPr>
            <p:cNvPr id="33833" name="Line 50"/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4" name="Line 51"/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5" name="Line 52"/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6" name="Line 53"/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7" name="Line 54"/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8" name="Line 55"/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9" name="Line 56"/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0" name="Line 57"/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41" name="Text Box 58"/>
            <p:cNvSpPr txBox="1">
              <a:spLocks noChangeArrowheads="1"/>
            </p:cNvSpPr>
            <p:nvPr/>
          </p:nvSpPr>
          <p:spPr bwMode="auto">
            <a:xfrm>
              <a:off x="4305" y="1824"/>
              <a:ext cx="1277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dirty="0">
                  <a:latin typeface="Times New Roman" pitchFamily="18" charset="0"/>
                  <a:ea typeface="SimSun" pitchFamily="2" charset="-122"/>
                </a:rPr>
                <a:t>agglomerative</a:t>
              </a:r>
            </a:p>
            <a:p>
              <a:pPr eaLnBrk="0" hangingPunct="0"/>
              <a:r>
                <a:rPr lang="en-US" altLang="zh-CN" b="1" dirty="0">
                  <a:latin typeface="Times New Roman" pitchFamily="18" charset="0"/>
                  <a:ea typeface="SimSun" pitchFamily="2" charset="-122"/>
                </a:rPr>
                <a:t>(AGNES)</a:t>
              </a:r>
            </a:p>
          </p:txBody>
        </p:sp>
        <p:sp>
          <p:nvSpPr>
            <p:cNvPr id="33842" name="Text Box 59"/>
            <p:cNvSpPr txBox="1">
              <a:spLocks noChangeArrowheads="1"/>
            </p:cNvSpPr>
            <p:nvPr/>
          </p:nvSpPr>
          <p:spPr bwMode="auto">
            <a:xfrm>
              <a:off x="4401" y="3552"/>
              <a:ext cx="875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latin typeface="Times New Roman" pitchFamily="18" charset="0"/>
                  <a:ea typeface="SimSun" pitchFamily="2" charset="-122"/>
                </a:rPr>
                <a:t>divisive</a:t>
              </a:r>
            </a:p>
            <a:p>
              <a:pPr eaLnBrk="0" hangingPunct="0"/>
              <a:r>
                <a:rPr lang="en-US" altLang="zh-CN" b="1">
                  <a:latin typeface="Times New Roman" pitchFamily="18" charset="0"/>
                  <a:ea typeface="SimSun" pitchFamily="2" charset="-122"/>
                </a:rPr>
                <a:t>(DIANA)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</p:grpSp>
      <p:sp>
        <p:nvSpPr>
          <p:cNvPr id="63" name="Slide Number Placeholder 6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rmAutofit/>
          </a:bodyPr>
          <a:lstStyle/>
          <a:p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  <a:cs typeface="Tahoma" pitchFamily="34" charset="0"/>
                <a:sym typeface="Symbol" pitchFamily="18" charset="2"/>
              </a:rPr>
              <a:t>Distance between Clusters</a:t>
            </a:r>
            <a:endParaRPr lang="en-US" altLang="zh-CN" sz="3600" dirty="0">
              <a:solidFill>
                <a:schemeClr val="tx2"/>
              </a:solidFill>
              <a:latin typeface="+mj-lt"/>
              <a:ea typeface="SimSun" pitchFamily="2" charset="-12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295400"/>
            <a:ext cx="8382000" cy="518160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SimSun" pitchFamily="2" charset="-122"/>
                <a:cs typeface="Tahoma" pitchFamily="34" charset="0"/>
                <a:sym typeface="Symbol" pitchFamily="18" charset="2"/>
              </a:rPr>
              <a:t>Single link:  </a:t>
            </a:r>
            <a:r>
              <a:rPr lang="en-US" altLang="zh-CN" sz="2000" dirty="0">
                <a:ea typeface="SimSun" pitchFamily="2" charset="-122"/>
                <a:cs typeface="Tahoma" pitchFamily="34" charset="0"/>
                <a:sym typeface="Symbol" pitchFamily="18" charset="2"/>
              </a:rPr>
              <a:t>smallest distance between an element in one cluster and an element in the other, i.e., 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 dist(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 = min(t</a:t>
            </a:r>
            <a:r>
              <a:rPr lang="en-US" altLang="zh-CN" sz="2000" i="1" baseline="-25000" dirty="0">
                <a:ea typeface="SimSun" pitchFamily="2" charset="-122"/>
                <a:cs typeface="Tahoma" pitchFamily="34" charset="0"/>
                <a:sym typeface="Symbol" pitchFamily="18" charset="2"/>
              </a:rPr>
              <a:t>ip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t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jq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SimSun" pitchFamily="2" charset="-122"/>
                <a:cs typeface="Tahoma" pitchFamily="34" charset="0"/>
                <a:sym typeface="Symbol" pitchFamily="18" charset="2"/>
              </a:rPr>
              <a:t>Complete link: </a:t>
            </a:r>
            <a:r>
              <a:rPr lang="en-US" altLang="zh-CN" sz="2000" dirty="0">
                <a:ea typeface="SimSun" pitchFamily="2" charset="-122"/>
                <a:cs typeface="Tahoma" pitchFamily="34" charset="0"/>
                <a:sym typeface="Symbol" pitchFamily="18" charset="2"/>
              </a:rPr>
              <a:t>largest distance between an element in one cluster and an element in the other, i.e.,  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dist(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 = max(t</a:t>
            </a:r>
            <a:r>
              <a:rPr lang="en-US" altLang="zh-CN" sz="2000" i="1" baseline="-25000" dirty="0">
                <a:ea typeface="SimSun" pitchFamily="2" charset="-122"/>
                <a:cs typeface="Tahoma" pitchFamily="34" charset="0"/>
                <a:sym typeface="Symbol" pitchFamily="18" charset="2"/>
              </a:rPr>
              <a:t>ip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t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jq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SimSun" pitchFamily="2" charset="-122"/>
                <a:cs typeface="Tahoma" pitchFamily="34" charset="0"/>
                <a:sym typeface="Symbol" pitchFamily="18" charset="2"/>
              </a:rPr>
              <a:t>Average: </a:t>
            </a:r>
            <a:r>
              <a:rPr lang="en-US" altLang="zh-CN" sz="2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avg</a:t>
            </a:r>
            <a:r>
              <a:rPr lang="en-US" altLang="zh-CN" sz="2000" dirty="0">
                <a:ea typeface="SimSun" pitchFamily="2" charset="-122"/>
                <a:cs typeface="Tahoma" pitchFamily="34" charset="0"/>
                <a:sym typeface="Symbol" pitchFamily="18" charset="2"/>
              </a:rPr>
              <a:t> distance between an element in one cluster and an element in the other, i.e.,  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dist(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 =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avg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(t</a:t>
            </a:r>
            <a:r>
              <a:rPr lang="en-US" altLang="zh-CN" sz="2000" i="1" baseline="-25000" dirty="0">
                <a:ea typeface="SimSun" pitchFamily="2" charset="-122"/>
                <a:cs typeface="Tahoma" pitchFamily="34" charset="0"/>
                <a:sym typeface="Symbol" pitchFamily="18" charset="2"/>
              </a:rPr>
              <a:t>ip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t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jq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Centroid</a:t>
            </a:r>
            <a:r>
              <a:rPr lang="en-US" altLang="zh-CN" sz="2400" dirty="0">
                <a:ea typeface="SimSun" pitchFamily="2" charset="-122"/>
                <a:cs typeface="Tahoma" pitchFamily="34" charset="0"/>
                <a:sym typeface="Symbol" pitchFamily="18" charset="2"/>
              </a:rPr>
              <a:t>: </a:t>
            </a:r>
            <a:r>
              <a:rPr lang="en-US" altLang="zh-CN" sz="2000" dirty="0">
                <a:ea typeface="SimSun" pitchFamily="2" charset="-122"/>
                <a:cs typeface="Tahoma" pitchFamily="34" charset="0"/>
                <a:sym typeface="Symbol" pitchFamily="18" charset="2"/>
              </a:rPr>
              <a:t>distance between the </a:t>
            </a:r>
            <a:r>
              <a:rPr lang="en-US" altLang="zh-CN" sz="2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centroids</a:t>
            </a:r>
            <a:r>
              <a:rPr lang="en-US" altLang="zh-CN" sz="2000" dirty="0">
                <a:ea typeface="SimSun" pitchFamily="2" charset="-122"/>
                <a:cs typeface="Tahoma" pitchFamily="34" charset="0"/>
                <a:sym typeface="Symbol" pitchFamily="18" charset="2"/>
              </a:rPr>
              <a:t> of two clusters, i.e.,  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dist(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 = dist(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C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C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Medoid</a:t>
            </a:r>
            <a:r>
              <a:rPr lang="en-US" altLang="zh-CN" sz="2400" dirty="0">
                <a:ea typeface="SimSun" pitchFamily="2" charset="-122"/>
                <a:cs typeface="Tahoma" pitchFamily="34" charset="0"/>
                <a:sym typeface="Symbol" pitchFamily="18" charset="2"/>
              </a:rPr>
              <a:t>: </a:t>
            </a:r>
            <a:r>
              <a:rPr lang="en-US" altLang="zh-CN" sz="2000" dirty="0">
                <a:ea typeface="SimSun" pitchFamily="2" charset="-122"/>
                <a:cs typeface="Tahoma" pitchFamily="34" charset="0"/>
                <a:sym typeface="Symbol" pitchFamily="18" charset="2"/>
              </a:rPr>
              <a:t>distance between the </a:t>
            </a:r>
            <a:r>
              <a:rPr lang="en-US" altLang="zh-CN" sz="2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medoids</a:t>
            </a:r>
            <a:r>
              <a:rPr lang="en-US" altLang="zh-CN" sz="2000" dirty="0">
                <a:ea typeface="SimSun" pitchFamily="2" charset="-122"/>
                <a:cs typeface="Tahoma" pitchFamily="34" charset="0"/>
                <a:sym typeface="Symbol" pitchFamily="18" charset="2"/>
              </a:rPr>
              <a:t> of two clusters, i.e.,  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dist(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 = dist(M</a:t>
            </a:r>
            <a:r>
              <a:rPr lang="en-US" altLang="zh-CN" sz="2000" i="1" baseline="-25000" dirty="0">
                <a:ea typeface="SimSun" pitchFamily="2" charset="-122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CN" sz="2000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M</a:t>
            </a:r>
            <a:r>
              <a:rPr lang="en-US" altLang="zh-CN" sz="2000" i="1" baseline="-25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CN" sz="2000" i="1" dirty="0">
                <a:ea typeface="SimSun" pitchFamily="2" charset="-122"/>
                <a:cs typeface="Tahoma" pitchFamily="34" charset="0"/>
                <a:sym typeface="Symbol" pitchFamily="18" charset="2"/>
              </a:rPr>
              <a:t>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Medoid</a:t>
            </a:r>
            <a:r>
              <a:rPr lang="en-US" altLang="zh-CN" sz="2000" dirty="0">
                <a:ea typeface="SimSun" pitchFamily="2" charset="-122"/>
                <a:cs typeface="Tahoma" pitchFamily="34" charset="0"/>
                <a:sym typeface="Symbol" pitchFamily="18" charset="2"/>
              </a:rPr>
              <a:t>: a chosen, centrally located object in the cluster</a:t>
            </a:r>
          </a:p>
        </p:txBody>
      </p:sp>
      <p:sp>
        <p:nvSpPr>
          <p:cNvPr id="37894" name="Slide Number Placeholder 4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3581A1C-E0C0-48B0-BC2E-CB446E9BAF6C}" type="slidenum">
              <a:rPr lang="en-US" altLang="zh-CN" sz="1200">
                <a:ea typeface="SimSun" pitchFamily="2" charset="-122"/>
              </a:rPr>
              <a:pPr algn="r"/>
              <a:t>59</a:t>
            </a:fld>
            <a:endParaRPr lang="en-US" altLang="zh-CN" sz="1200">
              <a:ea typeface="SimSun" pitchFamily="2" charset="-122"/>
            </a:endParaRP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152400"/>
            <a:ext cx="9144000" cy="990600"/>
          </a:xfrm>
          <a:prstGeom prst="rect">
            <a:avLst/>
          </a:prstGeom>
        </p:spPr>
        <p:txBody>
          <a:bodyPr lIns="92075" tIns="46038" rIns="92075" bIns="46038" anchor="ctr" anchorCtr="0">
            <a:noAutofit/>
          </a:bodyPr>
          <a:lstStyle/>
          <a:p>
            <a:r>
              <a:rPr lang="en-US" altLang="zh-CN" sz="3600" dirty="0" err="1">
                <a:solidFill>
                  <a:schemeClr val="tx2"/>
                </a:solidFill>
                <a:latin typeface="+mj-lt"/>
                <a:ea typeface="SimSun" pitchFamily="2" charset="-122"/>
                <a:cs typeface="Tahoma" pitchFamily="34" charset="0"/>
                <a:sym typeface="Symbol" pitchFamily="18" charset="2"/>
              </a:rPr>
              <a:t>Centroid</a:t>
            </a:r>
            <a:r>
              <a:rPr lang="en-US" altLang="zh-CN" sz="3600" dirty="0">
                <a:solidFill>
                  <a:schemeClr val="tx2"/>
                </a:solidFill>
                <a:latin typeface="+mj-lt"/>
                <a:ea typeface="SimSun" pitchFamily="2" charset="-122"/>
                <a:cs typeface="Tahoma" pitchFamily="34" charset="0"/>
                <a:sym typeface="Symbol" pitchFamily="18" charset="2"/>
              </a:rPr>
              <a:t>, Radius and Diameter</a:t>
            </a:r>
            <a:endParaRPr lang="en-US" altLang="zh-CN" sz="3600" dirty="0">
              <a:solidFill>
                <a:schemeClr val="tx2"/>
              </a:solidFill>
              <a:latin typeface="+mj-lt"/>
              <a:ea typeface="SimSun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371600"/>
            <a:ext cx="8153400" cy="5105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b="1" i="1" dirty="0" err="1">
                <a:ea typeface="SimSun" pitchFamily="2" charset="-122"/>
                <a:cs typeface="Tahoma" pitchFamily="34" charset="0"/>
                <a:sym typeface="Symbol" pitchFamily="18" charset="2"/>
              </a:rPr>
              <a:t>Centroid</a:t>
            </a:r>
            <a:r>
              <a:rPr lang="en-US" altLang="zh-CN" sz="2400" dirty="0">
                <a:ea typeface="SimSun" pitchFamily="2" charset="-122"/>
                <a:cs typeface="Tahoma" pitchFamily="34" charset="0"/>
                <a:sym typeface="Symbol" pitchFamily="18" charset="2"/>
              </a:rPr>
              <a:t>:  the “middle” of a cluster</a:t>
            </a:r>
          </a:p>
          <a:p>
            <a:pPr eaLnBrk="1" hangingPunct="1">
              <a:lnSpc>
                <a:spcPct val="130000"/>
              </a:lnSpc>
            </a:pPr>
            <a:endParaRPr lang="en-US" altLang="zh-CN" sz="2400" dirty="0">
              <a:ea typeface="SimSun" pitchFamily="2" charset="-122"/>
              <a:cs typeface="Tahoma" pitchFamily="34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400" b="1" i="1" dirty="0">
                <a:ea typeface="SimSun" pitchFamily="2" charset="-122"/>
                <a:cs typeface="Tahoma" pitchFamily="34" charset="0"/>
                <a:sym typeface="Symbol" pitchFamily="18" charset="2"/>
              </a:rPr>
              <a:t>Radius</a:t>
            </a:r>
            <a:r>
              <a:rPr lang="en-US" altLang="zh-CN" sz="2400" dirty="0">
                <a:ea typeface="SimSun" pitchFamily="2" charset="-122"/>
                <a:cs typeface="Tahoma" pitchFamily="34" charset="0"/>
                <a:sym typeface="Symbol" pitchFamily="18" charset="2"/>
              </a:rPr>
              <a:t>: square root of average distance from any point of the cluster to its </a:t>
            </a:r>
            <a:r>
              <a:rPr lang="en-US" altLang="zh-CN" sz="2400" dirty="0" err="1">
                <a:ea typeface="SimSun" pitchFamily="2" charset="-122"/>
                <a:cs typeface="Tahoma" pitchFamily="34" charset="0"/>
                <a:sym typeface="Symbol" pitchFamily="18" charset="2"/>
              </a:rPr>
              <a:t>centroid</a:t>
            </a:r>
            <a:endParaRPr lang="en-US" altLang="zh-CN" sz="2400" dirty="0">
              <a:ea typeface="SimSun" pitchFamily="2" charset="-122"/>
              <a:cs typeface="Tahoma" pitchFamily="34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400" dirty="0">
              <a:ea typeface="SimSun" pitchFamily="2" charset="-122"/>
              <a:cs typeface="Tahoma" pitchFamily="34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400" b="1" i="1" dirty="0">
                <a:ea typeface="SimSun" pitchFamily="2" charset="-122"/>
                <a:cs typeface="Tahoma" pitchFamily="34" charset="0"/>
                <a:sym typeface="Symbol" pitchFamily="18" charset="2"/>
              </a:rPr>
              <a:t>Diameter</a:t>
            </a:r>
            <a:r>
              <a:rPr lang="en-US" altLang="zh-CN" sz="2400" dirty="0">
                <a:ea typeface="SimSun" pitchFamily="2" charset="-122"/>
                <a:cs typeface="Tahoma" pitchFamily="34" charset="0"/>
                <a:sym typeface="Symbol" pitchFamily="18" charset="2"/>
              </a:rPr>
              <a:t>: square root of average mean squared distance between all pairs of points in the cluster</a:t>
            </a:r>
          </a:p>
        </p:txBody>
      </p:sp>
      <p:graphicFrame>
        <p:nvGraphicFramePr>
          <p:cNvPr id="38916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638800" y="1447800"/>
          <a:ext cx="21367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449" imgH="520474" progId="Equation.3">
                  <p:embed/>
                </p:oleObj>
              </mc:Choice>
              <mc:Fallback>
                <p:oleObj name="Equation" r:id="rId3" imgW="1269449" imgH="520474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47800"/>
                        <a:ext cx="2136775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5334000" y="3048000"/>
          <a:ext cx="28289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51100" imgH="927100" progId="Equation.3">
                  <p:embed/>
                </p:oleObj>
              </mc:Choice>
              <mc:Fallback>
                <p:oleObj name="Equation" r:id="rId5" imgW="2451100" imgH="927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048000"/>
                        <a:ext cx="2828925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800600" y="5181600"/>
          <a:ext cx="30480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59100" imgH="977900" progId="Equation.3">
                  <p:embed/>
                </p:oleObj>
              </mc:Choice>
              <mc:Fallback>
                <p:oleObj name="Equation" r:id="rId7" imgW="2959100" imgH="977900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181600"/>
                        <a:ext cx="3048000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Distance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sp>
        <p:nvSpPr>
          <p:cNvPr id="59397" name="Line 29"/>
          <p:cNvSpPr>
            <a:spLocks noChangeShapeType="1"/>
          </p:cNvSpPr>
          <p:nvPr/>
        </p:nvSpPr>
        <p:spPr bwMode="auto">
          <a:xfrm>
            <a:off x="2209800" y="20574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Text Box 30"/>
          <p:cNvSpPr txBox="1">
            <a:spLocks noChangeArrowheads="1"/>
          </p:cNvSpPr>
          <p:nvPr/>
        </p:nvSpPr>
        <p:spPr bwMode="auto">
          <a:xfrm>
            <a:off x="2209800" y="16002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Similarity?</a:t>
            </a:r>
          </a:p>
        </p:txBody>
      </p:sp>
      <p:sp>
        <p:nvSpPr>
          <p:cNvPr id="59399" name="Rectangle 3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Distance Between </a:t>
            </a:r>
            <a:r>
              <a:rPr lang="en-US" altLang="en-US" sz="2400" b="0" dirty="0" err="1"/>
              <a:t>Centroids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 dirty="0"/>
              <a:t>Ward’s Method uses squared error</a:t>
            </a:r>
            <a:endParaRPr lang="en-US" altLang="en-US" sz="2400" b="0" dirty="0"/>
          </a:p>
        </p:txBody>
      </p:sp>
      <p:sp>
        <p:nvSpPr>
          <p:cNvPr id="59400" name="Freeform 32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Oval 33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2" name="Oval 34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3" name="Oval 35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4" name="Oval 36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5" name="Freeform 37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Oval 38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7" name="Oval 39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8" name="Oval 40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9" name="Oval 41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sp>
        <p:nvSpPr>
          <p:cNvPr id="60421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2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3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4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5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6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8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9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0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1" name="Line 39"/>
          <p:cNvSpPr>
            <a:spLocks noChangeShapeType="1"/>
          </p:cNvSpPr>
          <p:nvPr/>
        </p:nvSpPr>
        <p:spPr bwMode="auto">
          <a:xfrm flipV="1">
            <a:off x="1981200" y="16002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3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>
                <a:solidFill>
                  <a:srgbClr val="FF0000"/>
                </a:solidFill>
              </a:rPr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Distance Between </a:t>
            </a:r>
            <a:r>
              <a:rPr lang="en-US" altLang="en-US" sz="2400" b="0" dirty="0" err="1"/>
              <a:t>Centroids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 dirty="0"/>
              <a:t>Ward’s Method uses squared error</a:t>
            </a:r>
            <a:endParaRPr lang="en-US" altLang="en-US" sz="2400" b="0" dirty="0"/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sp>
        <p:nvSpPr>
          <p:cNvPr id="61445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6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7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8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9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0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2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3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4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5" name="Line 39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6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1457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sp>
        <p:nvSpPr>
          <p:cNvPr id="62469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1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2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3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4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6" name="Oval 36"/>
          <p:cNvSpPr>
            <a:spLocks noChangeArrowheads="1"/>
          </p:cNvSpPr>
          <p:nvPr/>
        </p:nvSpPr>
        <p:spPr bwMode="auto">
          <a:xfrm rot="5400000" flipV="1">
            <a:off x="3516313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7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8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9" name="Line 39"/>
          <p:cNvSpPr>
            <a:spLocks noChangeShapeType="1"/>
          </p:cNvSpPr>
          <p:nvPr/>
        </p:nvSpPr>
        <p:spPr bwMode="auto">
          <a:xfrm>
            <a:off x="1828800" y="2209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0" name="Line 40"/>
          <p:cNvSpPr>
            <a:spLocks noChangeShapeType="1"/>
          </p:cNvSpPr>
          <p:nvPr/>
        </p:nvSpPr>
        <p:spPr bwMode="auto">
          <a:xfrm flipV="1">
            <a:off x="1828800" y="1676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1" name="Line 41"/>
          <p:cNvSpPr>
            <a:spLocks noChangeShapeType="1"/>
          </p:cNvSpPr>
          <p:nvPr/>
        </p:nvSpPr>
        <p:spPr bwMode="auto">
          <a:xfrm flipV="1">
            <a:off x="1828800" y="1295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2" name="Line 42"/>
          <p:cNvSpPr>
            <a:spLocks noChangeShapeType="1"/>
          </p:cNvSpPr>
          <p:nvPr/>
        </p:nvSpPr>
        <p:spPr bwMode="auto">
          <a:xfrm flipV="1">
            <a:off x="1828800" y="1676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3" name="Line 43"/>
          <p:cNvSpPr>
            <a:spLocks noChangeShapeType="1"/>
          </p:cNvSpPr>
          <p:nvPr/>
        </p:nvSpPr>
        <p:spPr bwMode="auto">
          <a:xfrm>
            <a:off x="1981200" y="1828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4" name="Line 44"/>
          <p:cNvSpPr>
            <a:spLocks noChangeShapeType="1"/>
          </p:cNvSpPr>
          <p:nvPr/>
        </p:nvSpPr>
        <p:spPr bwMode="auto">
          <a:xfrm flipV="1">
            <a:off x="1981200" y="1676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5" name="Line 45"/>
          <p:cNvSpPr>
            <a:spLocks noChangeShapeType="1"/>
          </p:cNvSpPr>
          <p:nvPr/>
        </p:nvSpPr>
        <p:spPr bwMode="auto">
          <a:xfrm flipV="1">
            <a:off x="1981200" y="1295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6" name="Line 46"/>
          <p:cNvSpPr>
            <a:spLocks noChangeShapeType="1"/>
          </p:cNvSpPr>
          <p:nvPr/>
        </p:nvSpPr>
        <p:spPr bwMode="auto">
          <a:xfrm flipV="1">
            <a:off x="1981200" y="1676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7" name="Line 47"/>
          <p:cNvSpPr>
            <a:spLocks noChangeShapeType="1"/>
          </p:cNvSpPr>
          <p:nvPr/>
        </p:nvSpPr>
        <p:spPr bwMode="auto">
          <a:xfrm>
            <a:off x="914400" y="1905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8" name="Line 48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9" name="Line 49"/>
          <p:cNvSpPr>
            <a:spLocks noChangeShapeType="1"/>
          </p:cNvSpPr>
          <p:nvPr/>
        </p:nvSpPr>
        <p:spPr bwMode="auto">
          <a:xfrm flipV="1">
            <a:off x="914400" y="1295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0" name="Line 50"/>
          <p:cNvSpPr>
            <a:spLocks noChangeShapeType="1"/>
          </p:cNvSpPr>
          <p:nvPr/>
        </p:nvSpPr>
        <p:spPr bwMode="auto">
          <a:xfrm flipV="1">
            <a:off x="914400" y="1676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1" name="Line 51"/>
          <p:cNvSpPr>
            <a:spLocks noChangeShapeType="1"/>
          </p:cNvSpPr>
          <p:nvPr/>
        </p:nvSpPr>
        <p:spPr bwMode="auto">
          <a:xfrm>
            <a:off x="1752600" y="1447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2" name="Line 52"/>
          <p:cNvSpPr>
            <a:spLocks noChangeShapeType="1"/>
          </p:cNvSpPr>
          <p:nvPr/>
        </p:nvSpPr>
        <p:spPr bwMode="auto">
          <a:xfrm>
            <a:off x="1752600" y="1447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3" name="Line 53"/>
          <p:cNvSpPr>
            <a:spLocks noChangeShapeType="1"/>
          </p:cNvSpPr>
          <p:nvPr/>
        </p:nvSpPr>
        <p:spPr bwMode="auto">
          <a:xfrm flipV="1">
            <a:off x="1752600" y="1295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4" name="Line 54"/>
          <p:cNvSpPr>
            <a:spLocks noChangeShapeType="1"/>
          </p:cNvSpPr>
          <p:nvPr/>
        </p:nvSpPr>
        <p:spPr bwMode="auto">
          <a:xfrm>
            <a:off x="1752600" y="1447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6" name="Rectangle 56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>
                <a:solidFill>
                  <a:srgbClr val="FF0000"/>
                </a:solidFill>
              </a:rPr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Distance Between </a:t>
            </a:r>
            <a:r>
              <a:rPr lang="en-US" altLang="en-US" sz="2400" b="0" dirty="0" err="1"/>
              <a:t>Centroids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 dirty="0"/>
              <a:t>Ward’s Method uses squared error</a:t>
            </a:r>
            <a:endParaRPr lang="en-US" altLang="en-US" sz="2400" b="0" dirty="0"/>
          </a:p>
        </p:txBody>
      </p:sp>
      <p:sp>
        <p:nvSpPr>
          <p:cNvPr id="57" name="Slide Number Placeholder 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2"/>
          <p:cNvSpPr>
            <a:spLocks noChangeShapeType="1"/>
          </p:cNvSpPr>
          <p:nvPr/>
        </p:nvSpPr>
        <p:spPr bwMode="auto">
          <a:xfrm flipV="1">
            <a:off x="1371600" y="19812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1" name="Freeform 3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sp>
        <p:nvSpPr>
          <p:cNvPr id="63495" name="Oval 31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6" name="Oval 32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7" name="Oval 33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8" name="Oval 34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9" name="Freeform 35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Oval 36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1" name="Oval 37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2" name="Oval 38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3" name="Oval 39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5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63506" name="Text Box 42"/>
          <p:cNvSpPr txBox="1">
            <a:spLocks noChangeArrowheads="1"/>
          </p:cNvSpPr>
          <p:nvPr/>
        </p:nvSpPr>
        <p:spPr bwMode="auto">
          <a:xfrm>
            <a:off x="12192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63507" name="Text Box 43"/>
          <p:cNvSpPr txBox="1">
            <a:spLocks noChangeArrowheads="1"/>
          </p:cNvSpPr>
          <p:nvPr/>
        </p:nvSpPr>
        <p:spPr bwMode="auto">
          <a:xfrm>
            <a:off x="41148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65</a:t>
            </a:fld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914400"/>
          </a:xfrm>
        </p:spPr>
        <p:txBody>
          <a:bodyPr/>
          <a:lstStyle/>
          <a:p>
            <a:r>
              <a:rPr lang="en-US" altLang="en-US" dirty="0"/>
              <a:t>Agglomerative Clustering 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Most popular hierarchical clustering technique</a:t>
            </a:r>
          </a:p>
          <a:p>
            <a:pPr marL="2209800" lvl="4" indent="-381000">
              <a:lnSpc>
                <a:spcPct val="90000"/>
              </a:lnSpc>
            </a:pPr>
            <a:endParaRPr lang="en-US" altLang="en-US" sz="8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Basic algorithm is straightforward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dirty="0"/>
              <a:t>Compute the 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dirty="0"/>
              <a:t>Let each data point be a cluster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b="1" dirty="0"/>
              <a:t>Repeat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2000" dirty="0"/>
              <a:t>	Merge the two closest 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2000" dirty="0"/>
              <a:t>	Update the 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b="1" dirty="0"/>
              <a:t>Until</a:t>
            </a:r>
            <a:r>
              <a:rPr lang="en-US" altLang="en-US" sz="2000" dirty="0"/>
              <a:t> only a single cluster remains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 dirty="0"/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Key operation is the computation of the proximity of two 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Different approaches to defining the distance between clusters distinguish the different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543800" cy="884238"/>
          </a:xfrm>
        </p:spPr>
        <p:txBody>
          <a:bodyPr/>
          <a:lstStyle/>
          <a:p>
            <a:r>
              <a:rPr lang="en-US" altLang="en-US" dirty="0"/>
              <a:t>Starting Situation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4564062"/>
          </a:xfrm>
        </p:spPr>
        <p:txBody>
          <a:bodyPr/>
          <a:lstStyle/>
          <a:p>
            <a:r>
              <a:rPr lang="en-US" altLang="en-US" dirty="0"/>
              <a:t>Start with clusters of individual points and a proximity matrix</a:t>
            </a:r>
          </a:p>
          <a:p>
            <a:pPr lvl="1"/>
            <a:endParaRPr lang="en-US" altLang="en-US" dirty="0"/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685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2743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1600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1447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1600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457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1828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3124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9" name="Oval 13"/>
          <p:cNvSpPr>
            <a:spLocks noChangeArrowheads="1"/>
          </p:cNvSpPr>
          <p:nvPr/>
        </p:nvSpPr>
        <p:spPr bwMode="auto">
          <a:xfrm>
            <a:off x="2133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0" name="Oval 14"/>
          <p:cNvSpPr>
            <a:spLocks noChangeArrowheads="1"/>
          </p:cNvSpPr>
          <p:nvPr/>
        </p:nvSpPr>
        <p:spPr bwMode="auto">
          <a:xfrm>
            <a:off x="3200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1" name="Oval 15"/>
          <p:cNvSpPr>
            <a:spLocks noChangeArrowheads="1"/>
          </p:cNvSpPr>
          <p:nvPr/>
        </p:nvSpPr>
        <p:spPr bwMode="auto">
          <a:xfrm>
            <a:off x="3733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257800" y="1903413"/>
            <a:ext cx="3200400" cy="2789237"/>
            <a:chOff x="3456" y="1622"/>
            <a:chExt cx="2160" cy="2058"/>
          </a:xfrm>
        </p:grpSpPr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0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4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6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28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29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0" name="Text Box 32"/>
            <p:cNvSpPr txBox="1">
              <a:spLocks noChangeArrowheads="1"/>
            </p:cNvSpPr>
            <p:nvPr/>
          </p:nvSpPr>
          <p:spPr bwMode="auto">
            <a:xfrm>
              <a:off x="3456" y="2679"/>
              <a:ext cx="33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1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2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33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4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35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6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7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5338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</p:txBody>
        </p:sp>
      </p:grpSp>
      <p:sp>
        <p:nvSpPr>
          <p:cNvPr id="55313" name="Text Box 41"/>
          <p:cNvSpPr txBox="1">
            <a:spLocks noChangeArrowheads="1"/>
          </p:cNvSpPr>
          <p:nvPr/>
        </p:nvSpPr>
        <p:spPr bwMode="auto">
          <a:xfrm>
            <a:off x="57912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5314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2000" y="5610225"/>
          <a:ext cx="40560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949438" imgH="1399827" progId="">
                  <p:embed/>
                </p:oleObj>
              </mc:Choice>
              <mc:Fallback>
                <p:oleObj name="Visio" r:id="rId2" imgW="7949438" imgH="1399827" progId="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10225"/>
                        <a:ext cx="40560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67</a:t>
            </a:fld>
            <a:endParaRPr lang="en-US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731838"/>
          </a:xfrm>
        </p:spPr>
        <p:txBody>
          <a:bodyPr/>
          <a:lstStyle/>
          <a:p>
            <a:r>
              <a:rPr lang="en-US" altLang="en-US" dirty="0"/>
              <a:t>Intermediate Situation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4411662"/>
          </a:xfrm>
        </p:spPr>
        <p:txBody>
          <a:bodyPr/>
          <a:lstStyle/>
          <a:p>
            <a:pPr marL="342900" indent="-342900"/>
            <a:r>
              <a:rPr lang="en-US" altLang="en-US" sz="2200" dirty="0"/>
              <a:t>After some merging steps, we have some clusters </a:t>
            </a:r>
          </a:p>
          <a:p>
            <a:pPr marL="742950" lvl="1" indent="-285750"/>
            <a:endParaRPr lang="en-US" altLang="en-US" sz="2000" dirty="0"/>
          </a:p>
        </p:txBody>
      </p:sp>
      <p:sp>
        <p:nvSpPr>
          <p:cNvPr id="56324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5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6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7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8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486400" y="1660525"/>
            <a:ext cx="2895600" cy="2212975"/>
            <a:chOff x="3456" y="1440"/>
            <a:chExt cx="1872" cy="1503"/>
          </a:xfrm>
        </p:grpSpPr>
        <p:sp>
          <p:nvSpPr>
            <p:cNvPr id="56337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38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39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0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1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2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3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44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5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46" name="Text Box 24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47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4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50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51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2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3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4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5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6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7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8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35" name="Text Box 37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6336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13288"/>
          <a:ext cx="408305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2996548" progId="">
                  <p:embed/>
                </p:oleObj>
              </mc:Choice>
              <mc:Fallback>
                <p:oleObj name="Visio" r:id="rId2" imgW="7591349" imgH="2996548" progId="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13288"/>
                        <a:ext cx="408305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543800" cy="655638"/>
          </a:xfrm>
        </p:spPr>
        <p:txBody>
          <a:bodyPr/>
          <a:lstStyle/>
          <a:p>
            <a:r>
              <a:rPr lang="en-US" altLang="en-US" dirty="0"/>
              <a:t>Intermediate Situation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marL="342900" indent="-342900"/>
            <a:r>
              <a:rPr lang="en-US" altLang="en-US" sz="2200" dirty="0"/>
              <a:t>We want to merge the two closest clusters (C2 and C5)  and update the proximity matrix. </a:t>
            </a:r>
          </a:p>
          <a:p>
            <a:pPr marL="742950" lvl="1" indent="-285750"/>
            <a:endParaRPr lang="en-US" altLang="en-US" sz="2000" dirty="0"/>
          </a:p>
        </p:txBody>
      </p:sp>
      <p:sp>
        <p:nvSpPr>
          <p:cNvPr id="57348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49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0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1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2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486400" y="1676400"/>
            <a:ext cx="2971800" cy="2193925"/>
            <a:chOff x="3456" y="1094"/>
            <a:chExt cx="1920" cy="1503"/>
          </a:xfrm>
        </p:grpSpPr>
        <p:sp>
          <p:nvSpPr>
            <p:cNvPr id="57362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63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4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5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6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7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8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9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0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1" name="Text Box 24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2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73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4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5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6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7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8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9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1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2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3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4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5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6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7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7359" name="Oval 41"/>
          <p:cNvSpPr>
            <a:spLocks noChangeArrowheads="1"/>
          </p:cNvSpPr>
          <p:nvPr/>
        </p:nvSpPr>
        <p:spPr bwMode="auto">
          <a:xfrm>
            <a:off x="990600" y="4648200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7360" name="Text Box 42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7361" name="Object 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95800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3431733" progId="">
                  <p:embed/>
                </p:oleObj>
              </mc:Choice>
              <mc:Fallback>
                <p:oleObj name="Visio" r:id="rId2" imgW="7591349" imgH="3431733" progId="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95800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884238"/>
          </a:xfrm>
        </p:spPr>
        <p:txBody>
          <a:bodyPr/>
          <a:lstStyle/>
          <a:p>
            <a:r>
              <a:rPr lang="en-US" altLang="en-US" dirty="0"/>
              <a:t>After Merging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181600"/>
          </a:xfrm>
        </p:spPr>
        <p:txBody>
          <a:bodyPr/>
          <a:lstStyle/>
          <a:p>
            <a:pPr marL="342900" indent="-342900"/>
            <a:r>
              <a:rPr lang="en-US" altLang="en-US" sz="2200" dirty="0"/>
              <a:t>The question is “How do we update the proximity matrix?” </a:t>
            </a:r>
          </a:p>
          <a:p>
            <a:pPr marL="742950" lvl="1" indent="-285750"/>
            <a:endParaRPr lang="en-US" altLang="en-US" sz="2000" dirty="0"/>
          </a:p>
        </p:txBody>
      </p:sp>
      <p:sp>
        <p:nvSpPr>
          <p:cNvPr id="58372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3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4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5" name="Freeform 7"/>
          <p:cNvSpPr>
            <a:spLocks/>
          </p:cNvSpPr>
          <p:nvPr/>
        </p:nvSpPr>
        <p:spPr bwMode="auto">
          <a:xfrm>
            <a:off x="1295400" y="4953000"/>
            <a:ext cx="23622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1905000" y="5181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</a:t>
            </a:r>
            <a:r>
              <a:rPr lang="en-US" altLang="en-US"/>
              <a:t> C5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6172200" y="274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        ?        ?        ?    	   </a:t>
            </a:r>
          </a:p>
        </p:txBody>
      </p:sp>
      <p:sp>
        <p:nvSpPr>
          <p:cNvPr id="58381" name="Text Box 13"/>
          <p:cNvSpPr txBox="1">
            <a:spLocks noChangeArrowheads="1"/>
          </p:cNvSpPr>
          <p:nvPr/>
        </p:nvSpPr>
        <p:spPr bwMode="auto">
          <a:xfrm>
            <a:off x="6651625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6651625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6651625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4" name="Text Box 16"/>
          <p:cNvSpPr txBox="1">
            <a:spLocks noChangeArrowheads="1"/>
          </p:cNvSpPr>
          <p:nvPr/>
        </p:nvSpPr>
        <p:spPr bwMode="auto">
          <a:xfrm>
            <a:off x="6629400" y="1555750"/>
            <a:ext cx="5334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6096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6019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5715000" y="2286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5638800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5638800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5638800" y="36576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5181600" y="28194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70866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3" name="Text Box 25"/>
          <p:cNvSpPr txBox="1">
            <a:spLocks noChangeArrowheads="1"/>
          </p:cNvSpPr>
          <p:nvPr/>
        </p:nvSpPr>
        <p:spPr bwMode="auto">
          <a:xfrm>
            <a:off x="7620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4" name="Line 26"/>
          <p:cNvSpPr>
            <a:spLocks noChangeShapeType="1"/>
          </p:cNvSpPr>
          <p:nvPr/>
        </p:nvSpPr>
        <p:spPr bwMode="auto">
          <a:xfrm>
            <a:off x="5715000" y="2667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5" name="Line 27"/>
          <p:cNvSpPr>
            <a:spLocks noChangeShapeType="1"/>
          </p:cNvSpPr>
          <p:nvPr/>
        </p:nvSpPr>
        <p:spPr bwMode="auto">
          <a:xfrm>
            <a:off x="5715000" y="3505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6" name="Line 28"/>
          <p:cNvSpPr>
            <a:spLocks noChangeShapeType="1"/>
          </p:cNvSpPr>
          <p:nvPr/>
        </p:nvSpPr>
        <p:spPr bwMode="auto">
          <a:xfrm>
            <a:off x="5715000" y="3124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7" name="Line 29"/>
          <p:cNvSpPr>
            <a:spLocks noChangeShapeType="1"/>
          </p:cNvSpPr>
          <p:nvPr/>
        </p:nvSpPr>
        <p:spPr bwMode="auto">
          <a:xfrm>
            <a:off x="5715000" y="3886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8" name="Line 30"/>
          <p:cNvSpPr>
            <a:spLocks noChangeShapeType="1"/>
          </p:cNvSpPr>
          <p:nvPr/>
        </p:nvSpPr>
        <p:spPr bwMode="auto">
          <a:xfrm>
            <a:off x="6553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9" name="Line 31"/>
          <p:cNvSpPr>
            <a:spLocks noChangeShapeType="1"/>
          </p:cNvSpPr>
          <p:nvPr/>
        </p:nvSpPr>
        <p:spPr bwMode="auto">
          <a:xfrm>
            <a:off x="70104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0" name="Line 32"/>
          <p:cNvSpPr>
            <a:spLocks noChangeShapeType="1"/>
          </p:cNvSpPr>
          <p:nvPr/>
        </p:nvSpPr>
        <p:spPr bwMode="auto">
          <a:xfrm>
            <a:off x="7543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>
            <a:off x="8077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2" name="Text Box 34"/>
          <p:cNvSpPr txBox="1">
            <a:spLocks noChangeArrowheads="1"/>
          </p:cNvSpPr>
          <p:nvPr/>
        </p:nvSpPr>
        <p:spPr bwMode="auto">
          <a:xfrm>
            <a:off x="5791200" y="3962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8403" name="Object 102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2000" y="4572000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3654718" progId="">
                  <p:embed/>
                </p:oleObj>
              </mc:Choice>
              <mc:Fallback>
                <p:oleObj name="Visio" r:id="rId2" imgW="7591349" imgH="3654718" progId="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72000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543800" cy="808038"/>
          </a:xfrm>
        </p:spPr>
        <p:txBody>
          <a:bodyPr/>
          <a:lstStyle/>
          <a:p>
            <a:r>
              <a:rPr lang="en-US" altLang="en-US" dirty="0"/>
              <a:t>MIN or Single Link 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r>
              <a:rPr lang="en-US" altLang="en-US"/>
              <a:t>Proximity of two clusters is based on the two closest points in the different clusters</a:t>
            </a:r>
          </a:p>
          <a:p>
            <a:pPr lvl="1"/>
            <a:r>
              <a:rPr lang="en-US" altLang="en-US"/>
              <a:t>Determined by one pair of points, i.e., by one link in the proximity graph</a:t>
            </a:r>
          </a:p>
          <a:p>
            <a:r>
              <a:rPr lang="en-US" altLang="en-US"/>
              <a:t>Example:</a:t>
            </a:r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>
          <a:xfrm>
            <a:off x="838200" y="3810000"/>
            <a:ext cx="3276600" cy="2500313"/>
          </a:xfrm>
          <a:noFill/>
        </p:spPr>
      </p:pic>
      <p:pic>
        <p:nvPicPr>
          <p:cNvPr id="64517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4114800"/>
            <a:ext cx="4000500" cy="1836738"/>
          </a:xfrm>
          <a:noFill/>
        </p:spPr>
      </p:pic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5715000" y="36576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Clustering: MIN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152400" y="5257800"/>
            <a:ext cx="4648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Dist({3,6}, {2,5})=min(dist(3,2), dist(6,2), dist(3,5), </a:t>
            </a:r>
            <a:r>
              <a:rPr lang="en-US" altLang="en-US" sz="1800" dirty="0" err="1"/>
              <a:t>dis</a:t>
            </a:r>
            <a:r>
              <a:rPr lang="en-US" altLang="en-US" sz="1800" dirty="0"/>
              <a:t>(6,5))=min(.15, .25, .28, .39)=.15</a:t>
            </a: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5562600" y="54102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2" name="Group 34"/>
          <p:cNvGrpSpPr/>
          <p:nvPr/>
        </p:nvGrpSpPr>
        <p:grpSpPr>
          <a:xfrm>
            <a:off x="304800" y="1219200"/>
            <a:ext cx="3502025" cy="3481388"/>
            <a:chOff x="307975" y="1547813"/>
            <a:chExt cx="4003675" cy="353060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747713" y="1773238"/>
              <a:ext cx="3175000" cy="2790825"/>
              <a:chOff x="471" y="1117"/>
              <a:chExt cx="2000" cy="1758"/>
            </a:xfrm>
          </p:grpSpPr>
          <p:sp>
            <p:nvSpPr>
              <p:cNvPr id="65558" name="Freeform 6"/>
              <p:cNvSpPr>
                <a:spLocks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7"/>
                  <a:gd name="T53" fmla="*/ 89 w 89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59" name="Freeform 7"/>
              <p:cNvSpPr>
                <a:spLocks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6"/>
                  <a:gd name="T53" fmla="*/ 89 w 89"/>
                  <a:gd name="T54" fmla="*/ 86 h 8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60" name="Freeform 8"/>
              <p:cNvSpPr>
                <a:spLocks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8"/>
                  <a:gd name="T53" fmla="*/ 89 w 89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61" name="Freeform 9"/>
              <p:cNvSpPr>
                <a:spLocks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8"/>
                  <a:gd name="T52" fmla="*/ 0 h 88"/>
                  <a:gd name="T53" fmla="*/ 88 w 88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62" name="Freeform 10"/>
              <p:cNvSpPr>
                <a:spLocks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8"/>
                  <a:gd name="T52" fmla="*/ 0 h 88"/>
                  <a:gd name="T53" fmla="*/ 88 w 88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63" name="Freeform 11"/>
              <p:cNvSpPr>
                <a:spLocks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9"/>
                  <a:gd name="T53" fmla="*/ 89 w 89"/>
                  <a:gd name="T54" fmla="*/ 89 h 8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64" name="Rectangle 12"/>
              <p:cNvSpPr>
                <a:spLocks noChangeArrowheads="1"/>
              </p:cNvSpPr>
              <p:nvPr/>
            </p:nvSpPr>
            <p:spPr bwMode="auto">
              <a:xfrm>
                <a:off x="2032" y="1117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en-US"/>
              </a:p>
            </p:txBody>
          </p:sp>
          <p:sp>
            <p:nvSpPr>
              <p:cNvPr id="65565" name="Rectangle 13"/>
              <p:cNvSpPr>
                <a:spLocks noChangeArrowheads="1"/>
              </p:cNvSpPr>
              <p:nvPr/>
            </p:nvSpPr>
            <p:spPr bwMode="auto">
              <a:xfrm>
                <a:off x="1256" y="1764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 dirty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en-US" dirty="0"/>
              </a:p>
            </p:txBody>
          </p:sp>
          <p:sp>
            <p:nvSpPr>
              <p:cNvPr id="65566" name="Rectangle 14"/>
              <p:cNvSpPr>
                <a:spLocks noChangeArrowheads="1"/>
              </p:cNvSpPr>
              <p:nvPr/>
            </p:nvSpPr>
            <p:spPr bwMode="auto">
              <a:xfrm>
                <a:off x="1810" y="2069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altLang="en-US"/>
              </a:p>
            </p:txBody>
          </p:sp>
          <p:sp>
            <p:nvSpPr>
              <p:cNvPr id="65567" name="Rectangle 15"/>
              <p:cNvSpPr>
                <a:spLocks noChangeArrowheads="1"/>
              </p:cNvSpPr>
              <p:nvPr/>
            </p:nvSpPr>
            <p:spPr bwMode="auto">
              <a:xfrm>
                <a:off x="1422" y="263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altLang="en-US"/>
              </a:p>
            </p:txBody>
          </p:sp>
          <p:sp>
            <p:nvSpPr>
              <p:cNvPr id="65568" name="Rectangle 16"/>
              <p:cNvSpPr>
                <a:spLocks noChangeArrowheads="1"/>
              </p:cNvSpPr>
              <p:nvPr/>
            </p:nvSpPr>
            <p:spPr bwMode="auto">
              <a:xfrm>
                <a:off x="648" y="1626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altLang="en-US"/>
              </a:p>
            </p:txBody>
          </p:sp>
          <p:sp>
            <p:nvSpPr>
              <p:cNvPr id="65569" name="Rectangle 17"/>
              <p:cNvSpPr>
                <a:spLocks noChangeArrowheads="1"/>
              </p:cNvSpPr>
              <p:nvPr/>
            </p:nvSpPr>
            <p:spPr bwMode="auto">
              <a:xfrm>
                <a:off x="2307" y="212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2495550" y="2863850"/>
              <a:ext cx="1423988" cy="914400"/>
              <a:chOff x="1572" y="1804"/>
              <a:chExt cx="897" cy="576"/>
            </a:xfrm>
          </p:grpSpPr>
          <p:sp>
            <p:nvSpPr>
              <p:cNvPr id="65556" name="Freeform 19"/>
              <p:cNvSpPr>
                <a:spLocks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97"/>
                  <a:gd name="T142" fmla="*/ 0 h 375"/>
                  <a:gd name="T143" fmla="*/ 897 w 897"/>
                  <a:gd name="T144" fmla="*/ 375 h 375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57" name="Rectangle 20"/>
              <p:cNvSpPr>
                <a:spLocks noChangeArrowheads="1"/>
              </p:cNvSpPr>
              <p:nvPr/>
            </p:nvSpPr>
            <p:spPr bwMode="auto">
              <a:xfrm>
                <a:off x="1944" y="1804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527050" y="2489200"/>
              <a:ext cx="1735138" cy="1158875"/>
              <a:chOff x="332" y="1568"/>
              <a:chExt cx="1093" cy="730"/>
            </a:xfrm>
          </p:grpSpPr>
          <p:sp>
            <p:nvSpPr>
              <p:cNvPr id="65554" name="Freeform 22"/>
              <p:cNvSpPr>
                <a:spLocks/>
              </p:cNvSpPr>
              <p:nvPr/>
            </p:nvSpPr>
            <p:spPr bwMode="auto">
              <a:xfrm>
                <a:off x="332" y="1568"/>
                <a:ext cx="1093" cy="497"/>
              </a:xfrm>
              <a:custGeom>
                <a:avLst/>
                <a:gdLst>
                  <a:gd name="T0" fmla="*/ 547 w 1093"/>
                  <a:gd name="T1" fmla="*/ 0 h 497"/>
                  <a:gd name="T2" fmla="*/ 615 w 1093"/>
                  <a:gd name="T3" fmla="*/ 3 h 497"/>
                  <a:gd name="T4" fmla="*/ 684 w 1093"/>
                  <a:gd name="T5" fmla="*/ 7 h 497"/>
                  <a:gd name="T6" fmla="*/ 749 w 1093"/>
                  <a:gd name="T7" fmla="*/ 18 h 497"/>
                  <a:gd name="T8" fmla="*/ 811 w 1093"/>
                  <a:gd name="T9" fmla="*/ 31 h 497"/>
                  <a:gd name="T10" fmla="*/ 868 w 1093"/>
                  <a:gd name="T11" fmla="*/ 48 h 497"/>
                  <a:gd name="T12" fmla="*/ 922 w 1093"/>
                  <a:gd name="T13" fmla="*/ 67 h 497"/>
                  <a:gd name="T14" fmla="*/ 969 w 1093"/>
                  <a:gd name="T15" fmla="*/ 91 h 497"/>
                  <a:gd name="T16" fmla="*/ 1008 w 1093"/>
                  <a:gd name="T17" fmla="*/ 115 h 497"/>
                  <a:gd name="T18" fmla="*/ 1043 w 1093"/>
                  <a:gd name="T19" fmla="*/ 143 h 497"/>
                  <a:gd name="T20" fmla="*/ 1067 w 1093"/>
                  <a:gd name="T21" fmla="*/ 171 h 497"/>
                  <a:gd name="T22" fmla="*/ 1084 w 1093"/>
                  <a:gd name="T23" fmla="*/ 201 h 497"/>
                  <a:gd name="T24" fmla="*/ 1093 w 1093"/>
                  <a:gd name="T25" fmla="*/ 234 h 497"/>
                  <a:gd name="T26" fmla="*/ 1093 w 1093"/>
                  <a:gd name="T27" fmla="*/ 264 h 497"/>
                  <a:gd name="T28" fmla="*/ 1084 w 1093"/>
                  <a:gd name="T29" fmla="*/ 294 h 497"/>
                  <a:gd name="T30" fmla="*/ 1067 w 1093"/>
                  <a:gd name="T31" fmla="*/ 324 h 497"/>
                  <a:gd name="T32" fmla="*/ 1043 w 1093"/>
                  <a:gd name="T33" fmla="*/ 354 h 497"/>
                  <a:gd name="T34" fmla="*/ 1008 w 1093"/>
                  <a:gd name="T35" fmla="*/ 383 h 497"/>
                  <a:gd name="T36" fmla="*/ 969 w 1093"/>
                  <a:gd name="T37" fmla="*/ 406 h 497"/>
                  <a:gd name="T38" fmla="*/ 922 w 1093"/>
                  <a:gd name="T39" fmla="*/ 430 h 497"/>
                  <a:gd name="T40" fmla="*/ 868 w 1093"/>
                  <a:gd name="T41" fmla="*/ 449 h 497"/>
                  <a:gd name="T42" fmla="*/ 811 w 1093"/>
                  <a:gd name="T43" fmla="*/ 467 h 497"/>
                  <a:gd name="T44" fmla="*/ 749 w 1093"/>
                  <a:gd name="T45" fmla="*/ 480 h 497"/>
                  <a:gd name="T46" fmla="*/ 684 w 1093"/>
                  <a:gd name="T47" fmla="*/ 488 h 497"/>
                  <a:gd name="T48" fmla="*/ 615 w 1093"/>
                  <a:gd name="T49" fmla="*/ 495 h 497"/>
                  <a:gd name="T50" fmla="*/ 547 w 1093"/>
                  <a:gd name="T51" fmla="*/ 497 h 497"/>
                  <a:gd name="T52" fmla="*/ 478 w 1093"/>
                  <a:gd name="T53" fmla="*/ 495 h 497"/>
                  <a:gd name="T54" fmla="*/ 411 w 1093"/>
                  <a:gd name="T55" fmla="*/ 488 h 497"/>
                  <a:gd name="T56" fmla="*/ 346 w 1093"/>
                  <a:gd name="T57" fmla="*/ 480 h 497"/>
                  <a:gd name="T58" fmla="*/ 284 w 1093"/>
                  <a:gd name="T59" fmla="*/ 467 h 497"/>
                  <a:gd name="T60" fmla="*/ 225 w 1093"/>
                  <a:gd name="T61" fmla="*/ 449 h 497"/>
                  <a:gd name="T62" fmla="*/ 173 w 1093"/>
                  <a:gd name="T63" fmla="*/ 430 h 497"/>
                  <a:gd name="T64" fmla="*/ 126 w 1093"/>
                  <a:gd name="T65" fmla="*/ 406 h 497"/>
                  <a:gd name="T66" fmla="*/ 85 w 1093"/>
                  <a:gd name="T67" fmla="*/ 383 h 497"/>
                  <a:gd name="T68" fmla="*/ 52 w 1093"/>
                  <a:gd name="T69" fmla="*/ 354 h 497"/>
                  <a:gd name="T70" fmla="*/ 26 w 1093"/>
                  <a:gd name="T71" fmla="*/ 324 h 497"/>
                  <a:gd name="T72" fmla="*/ 9 w 1093"/>
                  <a:gd name="T73" fmla="*/ 294 h 497"/>
                  <a:gd name="T74" fmla="*/ 0 w 1093"/>
                  <a:gd name="T75" fmla="*/ 264 h 497"/>
                  <a:gd name="T76" fmla="*/ 0 w 1093"/>
                  <a:gd name="T77" fmla="*/ 234 h 497"/>
                  <a:gd name="T78" fmla="*/ 9 w 1093"/>
                  <a:gd name="T79" fmla="*/ 201 h 497"/>
                  <a:gd name="T80" fmla="*/ 26 w 1093"/>
                  <a:gd name="T81" fmla="*/ 171 h 497"/>
                  <a:gd name="T82" fmla="*/ 52 w 1093"/>
                  <a:gd name="T83" fmla="*/ 143 h 497"/>
                  <a:gd name="T84" fmla="*/ 85 w 1093"/>
                  <a:gd name="T85" fmla="*/ 115 h 497"/>
                  <a:gd name="T86" fmla="*/ 126 w 1093"/>
                  <a:gd name="T87" fmla="*/ 91 h 497"/>
                  <a:gd name="T88" fmla="*/ 173 w 1093"/>
                  <a:gd name="T89" fmla="*/ 67 h 497"/>
                  <a:gd name="T90" fmla="*/ 225 w 1093"/>
                  <a:gd name="T91" fmla="*/ 48 h 497"/>
                  <a:gd name="T92" fmla="*/ 284 w 1093"/>
                  <a:gd name="T93" fmla="*/ 31 h 497"/>
                  <a:gd name="T94" fmla="*/ 346 w 1093"/>
                  <a:gd name="T95" fmla="*/ 18 h 497"/>
                  <a:gd name="T96" fmla="*/ 411 w 1093"/>
                  <a:gd name="T97" fmla="*/ 7 h 497"/>
                  <a:gd name="T98" fmla="*/ 478 w 1093"/>
                  <a:gd name="T99" fmla="*/ 3 h 497"/>
                  <a:gd name="T100" fmla="*/ 547 w 1093"/>
                  <a:gd name="T101" fmla="*/ 0 h 49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093"/>
                  <a:gd name="T154" fmla="*/ 0 h 497"/>
                  <a:gd name="T155" fmla="*/ 1093 w 1093"/>
                  <a:gd name="T156" fmla="*/ 497 h 497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093" h="497">
                    <a:moveTo>
                      <a:pt x="547" y="0"/>
                    </a:moveTo>
                    <a:lnTo>
                      <a:pt x="615" y="3"/>
                    </a:lnTo>
                    <a:lnTo>
                      <a:pt x="684" y="7"/>
                    </a:lnTo>
                    <a:lnTo>
                      <a:pt x="749" y="18"/>
                    </a:lnTo>
                    <a:lnTo>
                      <a:pt x="811" y="31"/>
                    </a:lnTo>
                    <a:lnTo>
                      <a:pt x="868" y="48"/>
                    </a:lnTo>
                    <a:lnTo>
                      <a:pt x="922" y="67"/>
                    </a:lnTo>
                    <a:lnTo>
                      <a:pt x="969" y="91"/>
                    </a:lnTo>
                    <a:lnTo>
                      <a:pt x="1008" y="115"/>
                    </a:lnTo>
                    <a:lnTo>
                      <a:pt x="1043" y="143"/>
                    </a:lnTo>
                    <a:lnTo>
                      <a:pt x="1067" y="171"/>
                    </a:lnTo>
                    <a:lnTo>
                      <a:pt x="1084" y="201"/>
                    </a:lnTo>
                    <a:lnTo>
                      <a:pt x="1093" y="234"/>
                    </a:lnTo>
                    <a:lnTo>
                      <a:pt x="1093" y="264"/>
                    </a:lnTo>
                    <a:lnTo>
                      <a:pt x="1084" y="294"/>
                    </a:lnTo>
                    <a:lnTo>
                      <a:pt x="1067" y="324"/>
                    </a:lnTo>
                    <a:lnTo>
                      <a:pt x="1043" y="354"/>
                    </a:lnTo>
                    <a:lnTo>
                      <a:pt x="1008" y="383"/>
                    </a:lnTo>
                    <a:lnTo>
                      <a:pt x="969" y="406"/>
                    </a:lnTo>
                    <a:lnTo>
                      <a:pt x="922" y="430"/>
                    </a:lnTo>
                    <a:lnTo>
                      <a:pt x="868" y="449"/>
                    </a:lnTo>
                    <a:lnTo>
                      <a:pt x="811" y="467"/>
                    </a:lnTo>
                    <a:lnTo>
                      <a:pt x="749" y="480"/>
                    </a:lnTo>
                    <a:lnTo>
                      <a:pt x="684" y="488"/>
                    </a:lnTo>
                    <a:lnTo>
                      <a:pt x="615" y="495"/>
                    </a:lnTo>
                    <a:lnTo>
                      <a:pt x="547" y="497"/>
                    </a:lnTo>
                    <a:lnTo>
                      <a:pt x="478" y="495"/>
                    </a:lnTo>
                    <a:lnTo>
                      <a:pt x="411" y="488"/>
                    </a:lnTo>
                    <a:lnTo>
                      <a:pt x="346" y="480"/>
                    </a:lnTo>
                    <a:lnTo>
                      <a:pt x="284" y="467"/>
                    </a:lnTo>
                    <a:lnTo>
                      <a:pt x="225" y="449"/>
                    </a:lnTo>
                    <a:lnTo>
                      <a:pt x="173" y="430"/>
                    </a:lnTo>
                    <a:lnTo>
                      <a:pt x="126" y="406"/>
                    </a:lnTo>
                    <a:lnTo>
                      <a:pt x="85" y="383"/>
                    </a:lnTo>
                    <a:lnTo>
                      <a:pt x="52" y="354"/>
                    </a:lnTo>
                    <a:lnTo>
                      <a:pt x="26" y="324"/>
                    </a:lnTo>
                    <a:lnTo>
                      <a:pt x="9" y="294"/>
                    </a:lnTo>
                    <a:lnTo>
                      <a:pt x="0" y="264"/>
                    </a:lnTo>
                    <a:lnTo>
                      <a:pt x="0" y="234"/>
                    </a:lnTo>
                    <a:lnTo>
                      <a:pt x="9" y="201"/>
                    </a:lnTo>
                    <a:lnTo>
                      <a:pt x="26" y="171"/>
                    </a:lnTo>
                    <a:lnTo>
                      <a:pt x="52" y="143"/>
                    </a:lnTo>
                    <a:lnTo>
                      <a:pt x="85" y="115"/>
                    </a:lnTo>
                    <a:lnTo>
                      <a:pt x="126" y="91"/>
                    </a:lnTo>
                    <a:lnTo>
                      <a:pt x="173" y="67"/>
                    </a:lnTo>
                    <a:lnTo>
                      <a:pt x="225" y="48"/>
                    </a:lnTo>
                    <a:lnTo>
                      <a:pt x="284" y="31"/>
                    </a:lnTo>
                    <a:lnTo>
                      <a:pt x="346" y="18"/>
                    </a:lnTo>
                    <a:lnTo>
                      <a:pt x="411" y="7"/>
                    </a:lnTo>
                    <a:lnTo>
                      <a:pt x="478" y="3"/>
                    </a:lnTo>
                    <a:lnTo>
                      <a:pt x="54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55" name="Rectangle 23"/>
              <p:cNvSpPr>
                <a:spLocks noChangeArrowheads="1"/>
              </p:cNvSpPr>
              <p:nvPr/>
            </p:nvSpPr>
            <p:spPr bwMode="auto">
              <a:xfrm>
                <a:off x="949" y="2052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444500" y="2071689"/>
              <a:ext cx="3675063" cy="2097088"/>
              <a:chOff x="280" y="1305"/>
              <a:chExt cx="2315" cy="1321"/>
            </a:xfrm>
          </p:grpSpPr>
          <p:sp>
            <p:nvSpPr>
              <p:cNvPr id="65552" name="Freeform 25"/>
              <p:cNvSpPr>
                <a:spLocks/>
              </p:cNvSpPr>
              <p:nvPr/>
            </p:nvSpPr>
            <p:spPr bwMode="auto">
              <a:xfrm>
                <a:off x="280" y="1314"/>
                <a:ext cx="2315" cy="1312"/>
              </a:xfrm>
              <a:custGeom>
                <a:avLst/>
                <a:gdLst>
                  <a:gd name="T0" fmla="*/ 1326 w 2315"/>
                  <a:gd name="T1" fmla="*/ 23 h 1312"/>
                  <a:gd name="T2" fmla="*/ 1519 w 2315"/>
                  <a:gd name="T3" fmla="*/ 64 h 1312"/>
                  <a:gd name="T4" fmla="*/ 1698 w 2315"/>
                  <a:gd name="T5" fmla="*/ 121 h 1312"/>
                  <a:gd name="T6" fmla="*/ 1865 w 2315"/>
                  <a:gd name="T7" fmla="*/ 194 h 1312"/>
                  <a:gd name="T8" fmla="*/ 2008 w 2315"/>
                  <a:gd name="T9" fmla="*/ 278 h 1312"/>
                  <a:gd name="T10" fmla="*/ 2129 w 2315"/>
                  <a:gd name="T11" fmla="*/ 375 h 1312"/>
                  <a:gd name="T12" fmla="*/ 2222 w 2315"/>
                  <a:gd name="T13" fmla="*/ 479 h 1312"/>
                  <a:gd name="T14" fmla="*/ 2282 w 2315"/>
                  <a:gd name="T15" fmla="*/ 589 h 1312"/>
                  <a:gd name="T16" fmla="*/ 2313 w 2315"/>
                  <a:gd name="T17" fmla="*/ 699 h 1312"/>
                  <a:gd name="T18" fmla="*/ 2308 w 2315"/>
                  <a:gd name="T19" fmla="*/ 809 h 1312"/>
                  <a:gd name="T20" fmla="*/ 2272 w 2315"/>
                  <a:gd name="T21" fmla="*/ 915 h 1312"/>
                  <a:gd name="T22" fmla="*/ 2202 w 2315"/>
                  <a:gd name="T23" fmla="*/ 1014 h 1312"/>
                  <a:gd name="T24" fmla="*/ 2105 w 2315"/>
                  <a:gd name="T25" fmla="*/ 1101 h 1312"/>
                  <a:gd name="T26" fmla="*/ 1977 w 2315"/>
                  <a:gd name="T27" fmla="*/ 1176 h 1312"/>
                  <a:gd name="T28" fmla="*/ 1828 w 2315"/>
                  <a:gd name="T29" fmla="*/ 1237 h 1312"/>
                  <a:gd name="T30" fmla="*/ 1659 w 2315"/>
                  <a:gd name="T31" fmla="*/ 1280 h 1312"/>
                  <a:gd name="T32" fmla="*/ 1476 w 2315"/>
                  <a:gd name="T33" fmla="*/ 1306 h 1312"/>
                  <a:gd name="T34" fmla="*/ 1283 w 2315"/>
                  <a:gd name="T35" fmla="*/ 1312 h 1312"/>
                  <a:gd name="T36" fmla="*/ 1086 w 2315"/>
                  <a:gd name="T37" fmla="*/ 1299 h 1312"/>
                  <a:gd name="T38" fmla="*/ 894 w 2315"/>
                  <a:gd name="T39" fmla="*/ 1269 h 1312"/>
                  <a:gd name="T40" fmla="*/ 705 w 2315"/>
                  <a:gd name="T41" fmla="*/ 1220 h 1312"/>
                  <a:gd name="T42" fmla="*/ 532 w 2315"/>
                  <a:gd name="T43" fmla="*/ 1155 h 1312"/>
                  <a:gd name="T44" fmla="*/ 377 w 2315"/>
                  <a:gd name="T45" fmla="*/ 1077 h 1312"/>
                  <a:gd name="T46" fmla="*/ 245 w 2315"/>
                  <a:gd name="T47" fmla="*/ 984 h 1312"/>
                  <a:gd name="T48" fmla="*/ 137 w 2315"/>
                  <a:gd name="T49" fmla="*/ 885 h 1312"/>
                  <a:gd name="T50" fmla="*/ 61 w 2315"/>
                  <a:gd name="T51" fmla="*/ 777 h 1312"/>
                  <a:gd name="T52" fmla="*/ 13 w 2315"/>
                  <a:gd name="T53" fmla="*/ 667 h 1312"/>
                  <a:gd name="T54" fmla="*/ 0 w 2315"/>
                  <a:gd name="T55" fmla="*/ 555 h 1312"/>
                  <a:gd name="T56" fmla="*/ 22 w 2315"/>
                  <a:gd name="T57" fmla="*/ 447 h 1312"/>
                  <a:gd name="T58" fmla="*/ 74 w 2315"/>
                  <a:gd name="T59" fmla="*/ 345 h 1312"/>
                  <a:gd name="T60" fmla="*/ 158 w 2315"/>
                  <a:gd name="T61" fmla="*/ 252 h 1312"/>
                  <a:gd name="T62" fmla="*/ 273 w 2315"/>
                  <a:gd name="T63" fmla="*/ 170 h 1312"/>
                  <a:gd name="T64" fmla="*/ 411 w 2315"/>
                  <a:gd name="T65" fmla="*/ 103 h 1312"/>
                  <a:gd name="T66" fmla="*/ 571 w 2315"/>
                  <a:gd name="T67" fmla="*/ 49 h 1312"/>
                  <a:gd name="T68" fmla="*/ 747 w 2315"/>
                  <a:gd name="T69" fmla="*/ 17 h 1312"/>
                  <a:gd name="T70" fmla="*/ 937 w 2315"/>
                  <a:gd name="T71" fmla="*/ 0 h 1312"/>
                  <a:gd name="T72" fmla="*/ 1132 w 2315"/>
                  <a:gd name="T73" fmla="*/ 2 h 131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15"/>
                  <a:gd name="T112" fmla="*/ 0 h 1312"/>
                  <a:gd name="T113" fmla="*/ 2315 w 2315"/>
                  <a:gd name="T114" fmla="*/ 1312 h 131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15" h="1312">
                    <a:moveTo>
                      <a:pt x="1229" y="10"/>
                    </a:moveTo>
                    <a:lnTo>
                      <a:pt x="1326" y="23"/>
                    </a:lnTo>
                    <a:lnTo>
                      <a:pt x="1424" y="43"/>
                    </a:lnTo>
                    <a:lnTo>
                      <a:pt x="1519" y="64"/>
                    </a:lnTo>
                    <a:lnTo>
                      <a:pt x="1610" y="90"/>
                    </a:lnTo>
                    <a:lnTo>
                      <a:pt x="1698" y="121"/>
                    </a:lnTo>
                    <a:lnTo>
                      <a:pt x="1783" y="155"/>
                    </a:lnTo>
                    <a:lnTo>
                      <a:pt x="1865" y="194"/>
                    </a:lnTo>
                    <a:lnTo>
                      <a:pt x="1938" y="235"/>
                    </a:lnTo>
                    <a:lnTo>
                      <a:pt x="2008" y="278"/>
                    </a:lnTo>
                    <a:lnTo>
                      <a:pt x="2073" y="326"/>
                    </a:lnTo>
                    <a:lnTo>
                      <a:pt x="2129" y="375"/>
                    </a:lnTo>
                    <a:lnTo>
                      <a:pt x="2179" y="425"/>
                    </a:lnTo>
                    <a:lnTo>
                      <a:pt x="2222" y="479"/>
                    </a:lnTo>
                    <a:lnTo>
                      <a:pt x="2256" y="533"/>
                    </a:lnTo>
                    <a:lnTo>
                      <a:pt x="2282" y="589"/>
                    </a:lnTo>
                    <a:lnTo>
                      <a:pt x="2302" y="643"/>
                    </a:lnTo>
                    <a:lnTo>
                      <a:pt x="2313" y="699"/>
                    </a:lnTo>
                    <a:lnTo>
                      <a:pt x="2315" y="755"/>
                    </a:lnTo>
                    <a:lnTo>
                      <a:pt x="2308" y="809"/>
                    </a:lnTo>
                    <a:lnTo>
                      <a:pt x="2295" y="863"/>
                    </a:lnTo>
                    <a:lnTo>
                      <a:pt x="2272" y="915"/>
                    </a:lnTo>
                    <a:lnTo>
                      <a:pt x="2241" y="965"/>
                    </a:lnTo>
                    <a:lnTo>
                      <a:pt x="2202" y="1014"/>
                    </a:lnTo>
                    <a:lnTo>
                      <a:pt x="2157" y="1060"/>
                    </a:lnTo>
                    <a:lnTo>
                      <a:pt x="2105" y="1101"/>
                    </a:lnTo>
                    <a:lnTo>
                      <a:pt x="2044" y="1140"/>
                    </a:lnTo>
                    <a:lnTo>
                      <a:pt x="1977" y="1176"/>
                    </a:lnTo>
                    <a:lnTo>
                      <a:pt x="1906" y="1209"/>
                    </a:lnTo>
                    <a:lnTo>
                      <a:pt x="1828" y="1237"/>
                    </a:lnTo>
                    <a:lnTo>
                      <a:pt x="1746" y="1261"/>
                    </a:lnTo>
                    <a:lnTo>
                      <a:pt x="1659" y="1280"/>
                    </a:lnTo>
                    <a:lnTo>
                      <a:pt x="1569" y="1295"/>
                    </a:lnTo>
                    <a:lnTo>
                      <a:pt x="1476" y="1306"/>
                    </a:lnTo>
                    <a:lnTo>
                      <a:pt x="1380" y="1310"/>
                    </a:lnTo>
                    <a:lnTo>
                      <a:pt x="1283" y="1312"/>
                    </a:lnTo>
                    <a:lnTo>
                      <a:pt x="1186" y="1308"/>
                    </a:lnTo>
                    <a:lnTo>
                      <a:pt x="1086" y="1299"/>
                    </a:lnTo>
                    <a:lnTo>
                      <a:pt x="989" y="1286"/>
                    </a:lnTo>
                    <a:lnTo>
                      <a:pt x="894" y="1269"/>
                    </a:lnTo>
                    <a:lnTo>
                      <a:pt x="798" y="1245"/>
                    </a:lnTo>
                    <a:lnTo>
                      <a:pt x="705" y="1220"/>
                    </a:lnTo>
                    <a:lnTo>
                      <a:pt x="617" y="1189"/>
                    </a:lnTo>
                    <a:lnTo>
                      <a:pt x="532" y="1155"/>
                    </a:lnTo>
                    <a:lnTo>
                      <a:pt x="452" y="1118"/>
                    </a:lnTo>
                    <a:lnTo>
                      <a:pt x="377" y="1077"/>
                    </a:lnTo>
                    <a:lnTo>
                      <a:pt x="307" y="1032"/>
                    </a:lnTo>
                    <a:lnTo>
                      <a:pt x="245" y="984"/>
                    </a:lnTo>
                    <a:lnTo>
                      <a:pt x="186" y="937"/>
                    </a:lnTo>
                    <a:lnTo>
                      <a:pt x="137" y="885"/>
                    </a:lnTo>
                    <a:lnTo>
                      <a:pt x="95" y="831"/>
                    </a:lnTo>
                    <a:lnTo>
                      <a:pt x="61" y="777"/>
                    </a:lnTo>
                    <a:lnTo>
                      <a:pt x="33" y="723"/>
                    </a:lnTo>
                    <a:lnTo>
                      <a:pt x="13" y="667"/>
                    </a:lnTo>
                    <a:lnTo>
                      <a:pt x="5" y="611"/>
                    </a:lnTo>
                    <a:lnTo>
                      <a:pt x="0" y="555"/>
                    </a:lnTo>
                    <a:lnTo>
                      <a:pt x="7" y="501"/>
                    </a:lnTo>
                    <a:lnTo>
                      <a:pt x="22" y="447"/>
                    </a:lnTo>
                    <a:lnTo>
                      <a:pt x="44" y="395"/>
                    </a:lnTo>
                    <a:lnTo>
                      <a:pt x="74" y="345"/>
                    </a:lnTo>
                    <a:lnTo>
                      <a:pt x="113" y="298"/>
                    </a:lnTo>
                    <a:lnTo>
                      <a:pt x="158" y="252"/>
                    </a:lnTo>
                    <a:lnTo>
                      <a:pt x="212" y="209"/>
                    </a:lnTo>
                    <a:lnTo>
                      <a:pt x="273" y="170"/>
                    </a:lnTo>
                    <a:lnTo>
                      <a:pt x="338" y="133"/>
                    </a:lnTo>
                    <a:lnTo>
                      <a:pt x="411" y="103"/>
                    </a:lnTo>
                    <a:lnTo>
                      <a:pt x="489" y="75"/>
                    </a:lnTo>
                    <a:lnTo>
                      <a:pt x="571" y="49"/>
                    </a:lnTo>
                    <a:lnTo>
                      <a:pt x="658" y="30"/>
                    </a:lnTo>
                    <a:lnTo>
                      <a:pt x="747" y="17"/>
                    </a:lnTo>
                    <a:lnTo>
                      <a:pt x="840" y="6"/>
                    </a:lnTo>
                    <a:lnTo>
                      <a:pt x="937" y="0"/>
                    </a:lnTo>
                    <a:lnTo>
                      <a:pt x="1034" y="0"/>
                    </a:lnTo>
                    <a:lnTo>
                      <a:pt x="1132" y="2"/>
                    </a:lnTo>
                    <a:lnTo>
                      <a:pt x="1229" y="1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53" name="Rectangle 26"/>
              <p:cNvSpPr>
                <a:spLocks noChangeArrowheads="1"/>
              </p:cNvSpPr>
              <p:nvPr/>
            </p:nvSpPr>
            <p:spPr bwMode="auto">
              <a:xfrm>
                <a:off x="1390" y="130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3</a:t>
                </a:r>
                <a:endParaRPr lang="en-US" altLang="en-US"/>
              </a:p>
            </p:txBody>
          </p:sp>
        </p:grpSp>
        <p:grpSp>
          <p:nvGrpSpPr>
            <p:cNvPr id="7" name="Group 27"/>
            <p:cNvGrpSpPr>
              <a:grpSpLocks/>
            </p:cNvGrpSpPr>
            <p:nvPr/>
          </p:nvGrpSpPr>
          <p:grpSpPr bwMode="auto">
            <a:xfrm>
              <a:off x="382588" y="1951038"/>
              <a:ext cx="3795712" cy="2924175"/>
              <a:chOff x="241" y="1229"/>
              <a:chExt cx="2391" cy="1842"/>
            </a:xfrm>
          </p:grpSpPr>
          <p:sp>
            <p:nvSpPr>
              <p:cNvPr id="65550" name="Freeform 28"/>
              <p:cNvSpPr>
                <a:spLocks/>
              </p:cNvSpPr>
              <p:nvPr/>
            </p:nvSpPr>
            <p:spPr bwMode="auto">
              <a:xfrm>
                <a:off x="241" y="1229"/>
                <a:ext cx="2391" cy="1611"/>
              </a:xfrm>
              <a:custGeom>
                <a:avLst/>
                <a:gdLst>
                  <a:gd name="T0" fmla="*/ 1385 w 2391"/>
                  <a:gd name="T1" fmla="*/ 24 h 1611"/>
                  <a:gd name="T2" fmla="*/ 1582 w 2391"/>
                  <a:gd name="T3" fmla="*/ 69 h 1611"/>
                  <a:gd name="T4" fmla="*/ 1768 w 2391"/>
                  <a:gd name="T5" fmla="*/ 136 h 1611"/>
                  <a:gd name="T6" fmla="*/ 1936 w 2391"/>
                  <a:gd name="T7" fmla="*/ 221 h 1611"/>
                  <a:gd name="T8" fmla="*/ 2083 w 2391"/>
                  <a:gd name="T9" fmla="*/ 322 h 1611"/>
                  <a:gd name="T10" fmla="*/ 2207 w 2391"/>
                  <a:gd name="T11" fmla="*/ 439 h 1611"/>
                  <a:gd name="T12" fmla="*/ 2300 w 2391"/>
                  <a:gd name="T13" fmla="*/ 566 h 1611"/>
                  <a:gd name="T14" fmla="*/ 2360 w 2391"/>
                  <a:gd name="T15" fmla="*/ 698 h 1611"/>
                  <a:gd name="T16" fmla="*/ 2388 w 2391"/>
                  <a:gd name="T17" fmla="*/ 836 h 1611"/>
                  <a:gd name="T18" fmla="*/ 2382 w 2391"/>
                  <a:gd name="T19" fmla="*/ 970 h 1611"/>
                  <a:gd name="T20" fmla="*/ 2343 w 2391"/>
                  <a:gd name="T21" fmla="*/ 1102 h 1611"/>
                  <a:gd name="T22" fmla="*/ 2270 w 2391"/>
                  <a:gd name="T23" fmla="*/ 1225 h 1611"/>
                  <a:gd name="T24" fmla="*/ 2166 w 2391"/>
                  <a:gd name="T25" fmla="*/ 1335 h 1611"/>
                  <a:gd name="T26" fmla="*/ 2032 w 2391"/>
                  <a:gd name="T27" fmla="*/ 1430 h 1611"/>
                  <a:gd name="T28" fmla="*/ 1876 w 2391"/>
                  <a:gd name="T29" fmla="*/ 1508 h 1611"/>
                  <a:gd name="T30" fmla="*/ 1701 w 2391"/>
                  <a:gd name="T31" fmla="*/ 1564 h 1611"/>
                  <a:gd name="T32" fmla="*/ 1510 w 2391"/>
                  <a:gd name="T33" fmla="*/ 1598 h 1611"/>
                  <a:gd name="T34" fmla="*/ 1311 w 2391"/>
                  <a:gd name="T35" fmla="*/ 1611 h 1611"/>
                  <a:gd name="T36" fmla="*/ 1108 w 2391"/>
                  <a:gd name="T37" fmla="*/ 1600 h 1611"/>
                  <a:gd name="T38" fmla="*/ 907 w 2391"/>
                  <a:gd name="T39" fmla="*/ 1568 h 1611"/>
                  <a:gd name="T40" fmla="*/ 716 w 2391"/>
                  <a:gd name="T41" fmla="*/ 1512 h 1611"/>
                  <a:gd name="T42" fmla="*/ 537 w 2391"/>
                  <a:gd name="T43" fmla="*/ 1436 h 1611"/>
                  <a:gd name="T44" fmla="*/ 379 w 2391"/>
                  <a:gd name="T45" fmla="*/ 1341 h 1611"/>
                  <a:gd name="T46" fmla="*/ 243 w 2391"/>
                  <a:gd name="T47" fmla="*/ 1233 h 1611"/>
                  <a:gd name="T48" fmla="*/ 134 w 2391"/>
                  <a:gd name="T49" fmla="*/ 1110 h 1611"/>
                  <a:gd name="T50" fmla="*/ 57 w 2391"/>
                  <a:gd name="T51" fmla="*/ 981 h 1611"/>
                  <a:gd name="T52" fmla="*/ 11 w 2391"/>
                  <a:gd name="T53" fmla="*/ 845 h 1611"/>
                  <a:gd name="T54" fmla="*/ 0 w 2391"/>
                  <a:gd name="T55" fmla="*/ 709 h 1611"/>
                  <a:gd name="T56" fmla="*/ 24 w 2391"/>
                  <a:gd name="T57" fmla="*/ 575 h 1611"/>
                  <a:gd name="T58" fmla="*/ 83 w 2391"/>
                  <a:gd name="T59" fmla="*/ 447 h 1611"/>
                  <a:gd name="T60" fmla="*/ 171 w 2391"/>
                  <a:gd name="T61" fmla="*/ 331 h 1611"/>
                  <a:gd name="T62" fmla="*/ 290 w 2391"/>
                  <a:gd name="T63" fmla="*/ 227 h 1611"/>
                  <a:gd name="T64" fmla="*/ 435 w 2391"/>
                  <a:gd name="T65" fmla="*/ 141 h 1611"/>
                  <a:gd name="T66" fmla="*/ 602 w 2391"/>
                  <a:gd name="T67" fmla="*/ 74 h 1611"/>
                  <a:gd name="T68" fmla="*/ 786 w 2391"/>
                  <a:gd name="T69" fmla="*/ 28 h 1611"/>
                  <a:gd name="T70" fmla="*/ 980 w 2391"/>
                  <a:gd name="T71" fmla="*/ 3 h 1611"/>
                  <a:gd name="T72" fmla="*/ 1181 w 2391"/>
                  <a:gd name="T73" fmla="*/ 3 h 161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91"/>
                  <a:gd name="T112" fmla="*/ 0 h 1611"/>
                  <a:gd name="T113" fmla="*/ 2391 w 2391"/>
                  <a:gd name="T114" fmla="*/ 1611 h 161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91" h="1611">
                    <a:moveTo>
                      <a:pt x="1283" y="11"/>
                    </a:moveTo>
                    <a:lnTo>
                      <a:pt x="1385" y="24"/>
                    </a:lnTo>
                    <a:lnTo>
                      <a:pt x="1484" y="46"/>
                    </a:lnTo>
                    <a:lnTo>
                      <a:pt x="1582" y="69"/>
                    </a:lnTo>
                    <a:lnTo>
                      <a:pt x="1675" y="100"/>
                    </a:lnTo>
                    <a:lnTo>
                      <a:pt x="1768" y="136"/>
                    </a:lnTo>
                    <a:lnTo>
                      <a:pt x="1854" y="175"/>
                    </a:lnTo>
                    <a:lnTo>
                      <a:pt x="1936" y="221"/>
                    </a:lnTo>
                    <a:lnTo>
                      <a:pt x="2012" y="270"/>
                    </a:lnTo>
                    <a:lnTo>
                      <a:pt x="2083" y="322"/>
                    </a:lnTo>
                    <a:lnTo>
                      <a:pt x="2148" y="380"/>
                    </a:lnTo>
                    <a:lnTo>
                      <a:pt x="2207" y="439"/>
                    </a:lnTo>
                    <a:lnTo>
                      <a:pt x="2257" y="501"/>
                    </a:lnTo>
                    <a:lnTo>
                      <a:pt x="2300" y="566"/>
                    </a:lnTo>
                    <a:lnTo>
                      <a:pt x="2334" y="631"/>
                    </a:lnTo>
                    <a:lnTo>
                      <a:pt x="2360" y="698"/>
                    </a:lnTo>
                    <a:lnTo>
                      <a:pt x="2380" y="767"/>
                    </a:lnTo>
                    <a:lnTo>
                      <a:pt x="2388" y="836"/>
                    </a:lnTo>
                    <a:lnTo>
                      <a:pt x="2391" y="903"/>
                    </a:lnTo>
                    <a:lnTo>
                      <a:pt x="2382" y="970"/>
                    </a:lnTo>
                    <a:lnTo>
                      <a:pt x="2367" y="1037"/>
                    </a:lnTo>
                    <a:lnTo>
                      <a:pt x="2343" y="1102"/>
                    </a:lnTo>
                    <a:lnTo>
                      <a:pt x="2311" y="1164"/>
                    </a:lnTo>
                    <a:lnTo>
                      <a:pt x="2270" y="1225"/>
                    </a:lnTo>
                    <a:lnTo>
                      <a:pt x="2220" y="1281"/>
                    </a:lnTo>
                    <a:lnTo>
                      <a:pt x="2166" y="1335"/>
                    </a:lnTo>
                    <a:lnTo>
                      <a:pt x="2101" y="1384"/>
                    </a:lnTo>
                    <a:lnTo>
                      <a:pt x="2032" y="1430"/>
                    </a:lnTo>
                    <a:lnTo>
                      <a:pt x="1958" y="1471"/>
                    </a:lnTo>
                    <a:lnTo>
                      <a:pt x="1876" y="1508"/>
                    </a:lnTo>
                    <a:lnTo>
                      <a:pt x="1789" y="1538"/>
                    </a:lnTo>
                    <a:lnTo>
                      <a:pt x="1701" y="1564"/>
                    </a:lnTo>
                    <a:lnTo>
                      <a:pt x="1608" y="1585"/>
                    </a:lnTo>
                    <a:lnTo>
                      <a:pt x="1510" y="1598"/>
                    </a:lnTo>
                    <a:lnTo>
                      <a:pt x="1411" y="1609"/>
                    </a:lnTo>
                    <a:lnTo>
                      <a:pt x="1311" y="1611"/>
                    </a:lnTo>
                    <a:lnTo>
                      <a:pt x="1210" y="1609"/>
                    </a:lnTo>
                    <a:lnTo>
                      <a:pt x="1108" y="1600"/>
                    </a:lnTo>
                    <a:lnTo>
                      <a:pt x="1006" y="1587"/>
                    </a:lnTo>
                    <a:lnTo>
                      <a:pt x="907" y="1568"/>
                    </a:lnTo>
                    <a:lnTo>
                      <a:pt x="809" y="1542"/>
                    </a:lnTo>
                    <a:lnTo>
                      <a:pt x="716" y="1512"/>
                    </a:lnTo>
                    <a:lnTo>
                      <a:pt x="626" y="1475"/>
                    </a:lnTo>
                    <a:lnTo>
                      <a:pt x="537" y="1436"/>
                    </a:lnTo>
                    <a:lnTo>
                      <a:pt x="455" y="1391"/>
                    </a:lnTo>
                    <a:lnTo>
                      <a:pt x="379" y="1341"/>
                    </a:lnTo>
                    <a:lnTo>
                      <a:pt x="308" y="1289"/>
                    </a:lnTo>
                    <a:lnTo>
                      <a:pt x="243" y="1233"/>
                    </a:lnTo>
                    <a:lnTo>
                      <a:pt x="184" y="1173"/>
                    </a:lnTo>
                    <a:lnTo>
                      <a:pt x="134" y="1110"/>
                    </a:lnTo>
                    <a:lnTo>
                      <a:pt x="91" y="1045"/>
                    </a:lnTo>
                    <a:lnTo>
                      <a:pt x="57" y="981"/>
                    </a:lnTo>
                    <a:lnTo>
                      <a:pt x="31" y="914"/>
                    </a:lnTo>
                    <a:lnTo>
                      <a:pt x="11" y="845"/>
                    </a:lnTo>
                    <a:lnTo>
                      <a:pt x="3" y="776"/>
                    </a:lnTo>
                    <a:lnTo>
                      <a:pt x="0" y="709"/>
                    </a:lnTo>
                    <a:lnTo>
                      <a:pt x="9" y="642"/>
                    </a:lnTo>
                    <a:lnTo>
                      <a:pt x="24" y="575"/>
                    </a:lnTo>
                    <a:lnTo>
                      <a:pt x="48" y="510"/>
                    </a:lnTo>
                    <a:lnTo>
                      <a:pt x="83" y="447"/>
                    </a:lnTo>
                    <a:lnTo>
                      <a:pt x="121" y="387"/>
                    </a:lnTo>
                    <a:lnTo>
                      <a:pt x="171" y="331"/>
                    </a:lnTo>
                    <a:lnTo>
                      <a:pt x="227" y="277"/>
                    </a:lnTo>
                    <a:lnTo>
                      <a:pt x="290" y="227"/>
                    </a:lnTo>
                    <a:lnTo>
                      <a:pt x="359" y="182"/>
                    </a:lnTo>
                    <a:lnTo>
                      <a:pt x="435" y="141"/>
                    </a:lnTo>
                    <a:lnTo>
                      <a:pt x="515" y="104"/>
                    </a:lnTo>
                    <a:lnTo>
                      <a:pt x="602" y="74"/>
                    </a:lnTo>
                    <a:lnTo>
                      <a:pt x="690" y="48"/>
                    </a:lnTo>
                    <a:lnTo>
                      <a:pt x="786" y="28"/>
                    </a:lnTo>
                    <a:lnTo>
                      <a:pt x="881" y="13"/>
                    </a:lnTo>
                    <a:lnTo>
                      <a:pt x="980" y="3"/>
                    </a:lnTo>
                    <a:lnTo>
                      <a:pt x="1082" y="0"/>
                    </a:lnTo>
                    <a:lnTo>
                      <a:pt x="1181" y="3"/>
                    </a:lnTo>
                    <a:lnTo>
                      <a:pt x="1283" y="11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51" name="Rectangle 29"/>
              <p:cNvSpPr>
                <a:spLocks noChangeArrowheads="1"/>
              </p:cNvSpPr>
              <p:nvPr/>
            </p:nvSpPr>
            <p:spPr bwMode="auto">
              <a:xfrm>
                <a:off x="1239" y="282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4</a:t>
                </a:r>
                <a:endParaRPr lang="en-US" altLang="en-US"/>
              </a:p>
            </p:txBody>
          </p:sp>
        </p:grpSp>
        <p:grpSp>
          <p:nvGrpSpPr>
            <p:cNvPr id="8" name="Group 30"/>
            <p:cNvGrpSpPr>
              <a:grpSpLocks/>
            </p:cNvGrpSpPr>
            <p:nvPr/>
          </p:nvGrpSpPr>
          <p:grpSpPr bwMode="auto">
            <a:xfrm>
              <a:off x="307975" y="1547813"/>
              <a:ext cx="4003675" cy="3530601"/>
              <a:chOff x="194" y="975"/>
              <a:chExt cx="2522" cy="2224"/>
            </a:xfrm>
          </p:grpSpPr>
          <p:sp>
            <p:nvSpPr>
              <p:cNvPr id="65548" name="Rectangle 31"/>
              <p:cNvSpPr>
                <a:spLocks noChangeArrowheads="1"/>
              </p:cNvSpPr>
              <p:nvPr/>
            </p:nvSpPr>
            <p:spPr bwMode="auto">
              <a:xfrm>
                <a:off x="2138" y="97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65549" name="Freeform 32"/>
              <p:cNvSpPr>
                <a:spLocks/>
              </p:cNvSpPr>
              <p:nvPr/>
            </p:nvSpPr>
            <p:spPr bwMode="auto">
              <a:xfrm>
                <a:off x="194" y="988"/>
                <a:ext cx="2522" cy="2211"/>
              </a:xfrm>
              <a:custGeom>
                <a:avLst/>
                <a:gdLst>
                  <a:gd name="T0" fmla="*/ 1363 w 2522"/>
                  <a:gd name="T1" fmla="*/ 4 h 2211"/>
                  <a:gd name="T2" fmla="*/ 1568 w 2522"/>
                  <a:gd name="T3" fmla="*/ 34 h 2211"/>
                  <a:gd name="T4" fmla="*/ 1765 w 2522"/>
                  <a:gd name="T5" fmla="*/ 92 h 2211"/>
                  <a:gd name="T6" fmla="*/ 1949 w 2522"/>
                  <a:gd name="T7" fmla="*/ 179 h 2211"/>
                  <a:gd name="T8" fmla="*/ 2113 w 2522"/>
                  <a:gd name="T9" fmla="*/ 291 h 2211"/>
                  <a:gd name="T10" fmla="*/ 2254 w 2522"/>
                  <a:gd name="T11" fmla="*/ 425 h 2211"/>
                  <a:gd name="T12" fmla="*/ 2368 w 2522"/>
                  <a:gd name="T13" fmla="*/ 578 h 2211"/>
                  <a:gd name="T14" fmla="*/ 2453 w 2522"/>
                  <a:gd name="T15" fmla="*/ 744 h 2211"/>
                  <a:gd name="T16" fmla="*/ 2505 w 2522"/>
                  <a:gd name="T17" fmla="*/ 922 h 2211"/>
                  <a:gd name="T18" fmla="*/ 2522 w 2522"/>
                  <a:gd name="T19" fmla="*/ 1103 h 2211"/>
                  <a:gd name="T20" fmla="*/ 2505 w 2522"/>
                  <a:gd name="T21" fmla="*/ 1284 h 2211"/>
                  <a:gd name="T22" fmla="*/ 2453 w 2522"/>
                  <a:gd name="T23" fmla="*/ 1461 h 2211"/>
                  <a:gd name="T24" fmla="*/ 2371 w 2522"/>
                  <a:gd name="T25" fmla="*/ 1630 h 2211"/>
                  <a:gd name="T26" fmla="*/ 2256 w 2522"/>
                  <a:gd name="T27" fmla="*/ 1783 h 2211"/>
                  <a:gd name="T28" fmla="*/ 2115 w 2522"/>
                  <a:gd name="T29" fmla="*/ 1917 h 2211"/>
                  <a:gd name="T30" fmla="*/ 1951 w 2522"/>
                  <a:gd name="T31" fmla="*/ 2029 h 2211"/>
                  <a:gd name="T32" fmla="*/ 1769 w 2522"/>
                  <a:gd name="T33" fmla="*/ 2118 h 2211"/>
                  <a:gd name="T34" fmla="*/ 1572 w 2522"/>
                  <a:gd name="T35" fmla="*/ 2176 h 2211"/>
                  <a:gd name="T36" fmla="*/ 1367 w 2522"/>
                  <a:gd name="T37" fmla="*/ 2206 h 2211"/>
                  <a:gd name="T38" fmla="*/ 1159 w 2522"/>
                  <a:gd name="T39" fmla="*/ 2206 h 2211"/>
                  <a:gd name="T40" fmla="*/ 954 w 2522"/>
                  <a:gd name="T41" fmla="*/ 2178 h 2211"/>
                  <a:gd name="T42" fmla="*/ 755 w 2522"/>
                  <a:gd name="T43" fmla="*/ 2118 h 2211"/>
                  <a:gd name="T44" fmla="*/ 573 w 2522"/>
                  <a:gd name="T45" fmla="*/ 2031 h 2211"/>
                  <a:gd name="T46" fmla="*/ 409 w 2522"/>
                  <a:gd name="T47" fmla="*/ 1919 h 2211"/>
                  <a:gd name="T48" fmla="*/ 266 w 2522"/>
                  <a:gd name="T49" fmla="*/ 1785 h 2211"/>
                  <a:gd name="T50" fmla="*/ 151 w 2522"/>
                  <a:gd name="T51" fmla="*/ 1634 h 2211"/>
                  <a:gd name="T52" fmla="*/ 69 w 2522"/>
                  <a:gd name="T53" fmla="*/ 1466 h 2211"/>
                  <a:gd name="T54" fmla="*/ 17 w 2522"/>
                  <a:gd name="T55" fmla="*/ 1289 h 2211"/>
                  <a:gd name="T56" fmla="*/ 0 w 2522"/>
                  <a:gd name="T57" fmla="*/ 1107 h 2211"/>
                  <a:gd name="T58" fmla="*/ 17 w 2522"/>
                  <a:gd name="T59" fmla="*/ 926 h 2211"/>
                  <a:gd name="T60" fmla="*/ 67 w 2522"/>
                  <a:gd name="T61" fmla="*/ 749 h 2211"/>
                  <a:gd name="T62" fmla="*/ 151 w 2522"/>
                  <a:gd name="T63" fmla="*/ 580 h 2211"/>
                  <a:gd name="T64" fmla="*/ 264 w 2522"/>
                  <a:gd name="T65" fmla="*/ 429 h 2211"/>
                  <a:gd name="T66" fmla="*/ 404 w 2522"/>
                  <a:gd name="T67" fmla="*/ 293 h 2211"/>
                  <a:gd name="T68" fmla="*/ 569 w 2522"/>
                  <a:gd name="T69" fmla="*/ 181 h 2211"/>
                  <a:gd name="T70" fmla="*/ 753 w 2522"/>
                  <a:gd name="T71" fmla="*/ 95 h 2211"/>
                  <a:gd name="T72" fmla="*/ 949 w 2522"/>
                  <a:gd name="T73" fmla="*/ 34 h 2211"/>
                  <a:gd name="T74" fmla="*/ 1155 w 2522"/>
                  <a:gd name="T75" fmla="*/ 4 h 221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522"/>
                  <a:gd name="T115" fmla="*/ 0 h 2211"/>
                  <a:gd name="T116" fmla="*/ 2522 w 2522"/>
                  <a:gd name="T117" fmla="*/ 2211 h 2211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522" h="2211">
                    <a:moveTo>
                      <a:pt x="1259" y="0"/>
                    </a:moveTo>
                    <a:lnTo>
                      <a:pt x="1363" y="4"/>
                    </a:lnTo>
                    <a:lnTo>
                      <a:pt x="1466" y="15"/>
                    </a:lnTo>
                    <a:lnTo>
                      <a:pt x="1568" y="34"/>
                    </a:lnTo>
                    <a:lnTo>
                      <a:pt x="1668" y="60"/>
                    </a:lnTo>
                    <a:lnTo>
                      <a:pt x="1765" y="92"/>
                    </a:lnTo>
                    <a:lnTo>
                      <a:pt x="1858" y="131"/>
                    </a:lnTo>
                    <a:lnTo>
                      <a:pt x="1949" y="179"/>
                    </a:lnTo>
                    <a:lnTo>
                      <a:pt x="2033" y="233"/>
                    </a:lnTo>
                    <a:lnTo>
                      <a:pt x="2113" y="291"/>
                    </a:lnTo>
                    <a:lnTo>
                      <a:pt x="2187" y="356"/>
                    </a:lnTo>
                    <a:lnTo>
                      <a:pt x="2254" y="425"/>
                    </a:lnTo>
                    <a:lnTo>
                      <a:pt x="2314" y="498"/>
                    </a:lnTo>
                    <a:lnTo>
                      <a:pt x="2368" y="578"/>
                    </a:lnTo>
                    <a:lnTo>
                      <a:pt x="2414" y="660"/>
                    </a:lnTo>
                    <a:lnTo>
                      <a:pt x="2453" y="744"/>
                    </a:lnTo>
                    <a:lnTo>
                      <a:pt x="2483" y="831"/>
                    </a:lnTo>
                    <a:lnTo>
                      <a:pt x="2505" y="922"/>
                    </a:lnTo>
                    <a:lnTo>
                      <a:pt x="2518" y="1012"/>
                    </a:lnTo>
                    <a:lnTo>
                      <a:pt x="2522" y="1103"/>
                    </a:lnTo>
                    <a:lnTo>
                      <a:pt x="2518" y="1194"/>
                    </a:lnTo>
                    <a:lnTo>
                      <a:pt x="2505" y="1284"/>
                    </a:lnTo>
                    <a:lnTo>
                      <a:pt x="2483" y="1375"/>
                    </a:lnTo>
                    <a:lnTo>
                      <a:pt x="2453" y="1461"/>
                    </a:lnTo>
                    <a:lnTo>
                      <a:pt x="2416" y="1548"/>
                    </a:lnTo>
                    <a:lnTo>
                      <a:pt x="2371" y="1630"/>
                    </a:lnTo>
                    <a:lnTo>
                      <a:pt x="2317" y="1707"/>
                    </a:lnTo>
                    <a:lnTo>
                      <a:pt x="2256" y="1783"/>
                    </a:lnTo>
                    <a:lnTo>
                      <a:pt x="2189" y="1852"/>
                    </a:lnTo>
                    <a:lnTo>
                      <a:pt x="2115" y="1917"/>
                    </a:lnTo>
                    <a:lnTo>
                      <a:pt x="2037" y="1975"/>
                    </a:lnTo>
                    <a:lnTo>
                      <a:pt x="1951" y="2029"/>
                    </a:lnTo>
                    <a:lnTo>
                      <a:pt x="1862" y="2077"/>
                    </a:lnTo>
                    <a:lnTo>
                      <a:pt x="1769" y="2118"/>
                    </a:lnTo>
                    <a:lnTo>
                      <a:pt x="1672" y="2150"/>
                    </a:lnTo>
                    <a:lnTo>
                      <a:pt x="1572" y="2176"/>
                    </a:lnTo>
                    <a:lnTo>
                      <a:pt x="1471" y="2195"/>
                    </a:lnTo>
                    <a:lnTo>
                      <a:pt x="1367" y="2206"/>
                    </a:lnTo>
                    <a:lnTo>
                      <a:pt x="1263" y="2211"/>
                    </a:lnTo>
                    <a:lnTo>
                      <a:pt x="1159" y="2206"/>
                    </a:lnTo>
                    <a:lnTo>
                      <a:pt x="1055" y="2195"/>
                    </a:lnTo>
                    <a:lnTo>
                      <a:pt x="954" y="2178"/>
                    </a:lnTo>
                    <a:lnTo>
                      <a:pt x="852" y="2152"/>
                    </a:lnTo>
                    <a:lnTo>
                      <a:pt x="755" y="2118"/>
                    </a:lnTo>
                    <a:lnTo>
                      <a:pt x="662" y="2079"/>
                    </a:lnTo>
                    <a:lnTo>
                      <a:pt x="573" y="2031"/>
                    </a:lnTo>
                    <a:lnTo>
                      <a:pt x="486" y="1980"/>
                    </a:lnTo>
                    <a:lnTo>
                      <a:pt x="409" y="1919"/>
                    </a:lnTo>
                    <a:lnTo>
                      <a:pt x="333" y="1856"/>
                    </a:lnTo>
                    <a:lnTo>
                      <a:pt x="266" y="1785"/>
                    </a:lnTo>
                    <a:lnTo>
                      <a:pt x="205" y="1712"/>
                    </a:lnTo>
                    <a:lnTo>
                      <a:pt x="151" y="1634"/>
                    </a:lnTo>
                    <a:lnTo>
                      <a:pt x="106" y="1552"/>
                    </a:lnTo>
                    <a:lnTo>
                      <a:pt x="69" y="1466"/>
                    </a:lnTo>
                    <a:lnTo>
                      <a:pt x="39" y="1379"/>
                    </a:lnTo>
                    <a:lnTo>
                      <a:pt x="17" y="1289"/>
                    </a:lnTo>
                    <a:lnTo>
                      <a:pt x="4" y="1198"/>
                    </a:lnTo>
                    <a:lnTo>
                      <a:pt x="0" y="1107"/>
                    </a:lnTo>
                    <a:lnTo>
                      <a:pt x="4" y="1017"/>
                    </a:lnTo>
                    <a:lnTo>
                      <a:pt x="17" y="926"/>
                    </a:lnTo>
                    <a:lnTo>
                      <a:pt x="37" y="835"/>
                    </a:lnTo>
                    <a:lnTo>
                      <a:pt x="67" y="749"/>
                    </a:lnTo>
                    <a:lnTo>
                      <a:pt x="106" y="662"/>
                    </a:lnTo>
                    <a:lnTo>
                      <a:pt x="151" y="580"/>
                    </a:lnTo>
                    <a:lnTo>
                      <a:pt x="203" y="503"/>
                    </a:lnTo>
                    <a:lnTo>
                      <a:pt x="264" y="429"/>
                    </a:lnTo>
                    <a:lnTo>
                      <a:pt x="331" y="358"/>
                    </a:lnTo>
                    <a:lnTo>
                      <a:pt x="404" y="293"/>
                    </a:lnTo>
                    <a:lnTo>
                      <a:pt x="484" y="235"/>
                    </a:lnTo>
                    <a:lnTo>
                      <a:pt x="569" y="181"/>
                    </a:lnTo>
                    <a:lnTo>
                      <a:pt x="660" y="133"/>
                    </a:lnTo>
                    <a:lnTo>
                      <a:pt x="753" y="95"/>
                    </a:lnTo>
                    <a:lnTo>
                      <a:pt x="850" y="60"/>
                    </a:lnTo>
                    <a:lnTo>
                      <a:pt x="949" y="34"/>
                    </a:lnTo>
                    <a:lnTo>
                      <a:pt x="1051" y="15"/>
                    </a:lnTo>
                    <a:lnTo>
                      <a:pt x="1155" y="4"/>
                    </a:lnTo>
                    <a:lnTo>
                      <a:pt x="1259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65547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885" y="2818626"/>
            <a:ext cx="4145316" cy="2591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90600"/>
            <a:ext cx="4000500" cy="1836738"/>
          </a:xfrm>
          <a:noFill/>
        </p:spPr>
      </p:pic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152400" y="4800600"/>
            <a:ext cx="137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i="1" u="sng" dirty="0"/>
              <a:t>Cluster 3:</a:t>
            </a:r>
          </a:p>
        </p:txBody>
      </p: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304800" y="6211669"/>
            <a:ext cx="4648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Dist({3,6}, {4})=min(dist(3,4), dist(6,4))=min(.15, .22)=.15</a:t>
            </a: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3886200" y="6211669"/>
            <a:ext cx="4648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Dist({3,6}, {1})=min(dist(3,1), dist(6,1))=min(.22, .23)=.22</a:t>
            </a: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72</a:t>
            </a:fld>
            <a:endParaRPr lang="en-US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Strength of MIN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066800" y="42672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66564" name="Text Box 5"/>
          <p:cNvSpPr txBox="1">
            <a:spLocks noChangeArrowheads="1"/>
          </p:cNvSpPr>
          <p:nvPr/>
        </p:nvSpPr>
        <p:spPr bwMode="auto">
          <a:xfrm>
            <a:off x="5410200" y="42672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Six Clusters</a:t>
            </a:r>
          </a:p>
        </p:txBody>
      </p:sp>
      <p:sp>
        <p:nvSpPr>
          <p:cNvPr id="66565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non-elliptical shapes</a:t>
            </a:r>
          </a:p>
        </p:txBody>
      </p:sp>
      <p:pic>
        <p:nvPicPr>
          <p:cNvPr id="665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75" y="1370013"/>
            <a:ext cx="4854575" cy="365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954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73</a:t>
            </a:fld>
            <a:endParaRPr lang="en-US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0" y="3203575"/>
            <a:ext cx="4241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612775"/>
            <a:ext cx="4241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Limitations of MIN</a:t>
            </a:r>
          </a:p>
        </p:txBody>
      </p:sp>
      <p:sp>
        <p:nvSpPr>
          <p:cNvPr id="67589" name="Text Box 3"/>
          <p:cNvSpPr txBox="1">
            <a:spLocks noChangeArrowheads="1"/>
          </p:cNvSpPr>
          <p:nvPr/>
        </p:nvSpPr>
        <p:spPr bwMode="auto">
          <a:xfrm>
            <a:off x="1066800" y="47244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5181600" y="31242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67591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Sensitive to noise and outliers</a:t>
            </a:r>
          </a:p>
        </p:txBody>
      </p:sp>
      <p:pic>
        <p:nvPicPr>
          <p:cNvPr id="6759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3" name="Text Box 11"/>
          <p:cNvSpPr txBox="1">
            <a:spLocks noChangeArrowheads="1"/>
          </p:cNvSpPr>
          <p:nvPr/>
        </p:nvSpPr>
        <p:spPr bwMode="auto">
          <a:xfrm>
            <a:off x="5257800" y="57150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Three Clusters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74</a:t>
            </a:fld>
            <a:endParaRPr lang="en-US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731838"/>
          </a:xfrm>
        </p:spPr>
        <p:txBody>
          <a:bodyPr/>
          <a:lstStyle/>
          <a:p>
            <a:r>
              <a:rPr lang="en-US" altLang="en-US" sz="2800" dirty="0"/>
              <a:t>MAX or Complete Linkage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r>
              <a:rPr lang="en-US" altLang="en-US" dirty="0"/>
              <a:t>Proximity of two clusters is based on the two most distant points in the different clusters</a:t>
            </a:r>
          </a:p>
          <a:p>
            <a:pPr lvl="1"/>
            <a:r>
              <a:rPr lang="en-US" altLang="en-US" dirty="0"/>
              <a:t>Determined by all pairs of points in the two clusters</a:t>
            </a:r>
          </a:p>
          <a:p>
            <a:endParaRPr lang="en-US" altLang="en-US" dirty="0"/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152400" y="2819400"/>
            <a:ext cx="4195763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886200"/>
            <a:ext cx="40005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86400" y="3429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75</a:t>
            </a:fld>
            <a:endParaRPr lang="en-US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9144000" cy="914400"/>
          </a:xfrm>
        </p:spPr>
        <p:txBody>
          <a:bodyPr/>
          <a:lstStyle/>
          <a:p>
            <a:r>
              <a:rPr lang="en-US" altLang="en-US" dirty="0"/>
              <a:t>Hierarchical Clustering: MAX (Complete link)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5562600" y="5791200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505200"/>
            <a:ext cx="43878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35"/>
          <p:cNvGrpSpPr/>
          <p:nvPr/>
        </p:nvGrpSpPr>
        <p:grpSpPr>
          <a:xfrm>
            <a:off x="457201" y="1219200"/>
            <a:ext cx="3048000" cy="2743200"/>
            <a:chOff x="360363" y="1582738"/>
            <a:chExt cx="3935412" cy="3487737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792163" y="1824038"/>
              <a:ext cx="2998787" cy="2687637"/>
              <a:chOff x="383" y="1437"/>
              <a:chExt cx="1889" cy="1693"/>
            </a:xfrm>
          </p:grpSpPr>
          <p:sp>
            <p:nvSpPr>
              <p:cNvPr id="69654" name="Freeform 7"/>
              <p:cNvSpPr>
                <a:spLocks/>
              </p:cNvSpPr>
              <p:nvPr/>
            </p:nvSpPr>
            <p:spPr bwMode="auto">
              <a:xfrm>
                <a:off x="974" y="211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5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5 w 87"/>
                  <a:gd name="T21" fmla="*/ 75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5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5" y="75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5" name="Freeform 8"/>
              <p:cNvSpPr>
                <a:spLocks/>
              </p:cNvSpPr>
              <p:nvPr/>
            </p:nvSpPr>
            <p:spPr bwMode="auto">
              <a:xfrm>
                <a:off x="1782" y="148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3 h 87"/>
                  <a:gd name="T8" fmla="*/ 45 w 87"/>
                  <a:gd name="T9" fmla="*/ 0 h 87"/>
                  <a:gd name="T10" fmla="*/ 60 w 87"/>
                  <a:gd name="T11" fmla="*/ 3 h 87"/>
                  <a:gd name="T12" fmla="*/ 74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4 w 87"/>
                  <a:gd name="T21" fmla="*/ 75 h 87"/>
                  <a:gd name="T22" fmla="*/ 60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3"/>
                    </a:lnTo>
                    <a:lnTo>
                      <a:pt x="45" y="0"/>
                    </a:lnTo>
                    <a:lnTo>
                      <a:pt x="60" y="3"/>
                    </a:lnTo>
                    <a:lnTo>
                      <a:pt x="74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4" y="75"/>
                    </a:lnTo>
                    <a:lnTo>
                      <a:pt x="60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6" name="Freeform 9"/>
              <p:cNvSpPr>
                <a:spLocks/>
              </p:cNvSpPr>
              <p:nvPr/>
            </p:nvSpPr>
            <p:spPr bwMode="auto">
              <a:xfrm>
                <a:off x="1193" y="2975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5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5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5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5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7" name="Freeform 10"/>
              <p:cNvSpPr>
                <a:spLocks/>
              </p:cNvSpPr>
              <p:nvPr/>
            </p:nvSpPr>
            <p:spPr bwMode="auto">
              <a:xfrm>
                <a:off x="383" y="1993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4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4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4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4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8" name="Freeform 11"/>
              <p:cNvSpPr>
                <a:spLocks/>
              </p:cNvSpPr>
              <p:nvPr/>
            </p:nvSpPr>
            <p:spPr bwMode="auto">
              <a:xfrm>
                <a:off x="1544" y="2419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5 h 87"/>
                  <a:gd name="T8" fmla="*/ 42 w 87"/>
                  <a:gd name="T9" fmla="*/ 0 h 87"/>
                  <a:gd name="T10" fmla="*/ 59 w 87"/>
                  <a:gd name="T11" fmla="*/ 5 h 87"/>
                  <a:gd name="T12" fmla="*/ 74 w 87"/>
                  <a:gd name="T13" fmla="*/ 13 h 87"/>
                  <a:gd name="T14" fmla="*/ 83 w 87"/>
                  <a:gd name="T15" fmla="*/ 28 h 87"/>
                  <a:gd name="T16" fmla="*/ 87 w 87"/>
                  <a:gd name="T17" fmla="*/ 45 h 87"/>
                  <a:gd name="T18" fmla="*/ 83 w 87"/>
                  <a:gd name="T19" fmla="*/ 62 h 87"/>
                  <a:gd name="T20" fmla="*/ 74 w 87"/>
                  <a:gd name="T21" fmla="*/ 75 h 87"/>
                  <a:gd name="T22" fmla="*/ 59 w 87"/>
                  <a:gd name="T23" fmla="*/ 85 h 87"/>
                  <a:gd name="T24" fmla="*/ 42 w 87"/>
                  <a:gd name="T25" fmla="*/ 87 h 87"/>
                  <a:gd name="T26" fmla="*/ 28 w 87"/>
                  <a:gd name="T27" fmla="*/ 85 h 87"/>
                  <a:gd name="T28" fmla="*/ 13 w 87"/>
                  <a:gd name="T29" fmla="*/ 75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5"/>
                    </a:lnTo>
                    <a:lnTo>
                      <a:pt x="42" y="0"/>
                    </a:lnTo>
                    <a:lnTo>
                      <a:pt x="59" y="5"/>
                    </a:lnTo>
                    <a:lnTo>
                      <a:pt x="74" y="13"/>
                    </a:lnTo>
                    <a:lnTo>
                      <a:pt x="83" y="28"/>
                    </a:lnTo>
                    <a:lnTo>
                      <a:pt x="87" y="45"/>
                    </a:lnTo>
                    <a:lnTo>
                      <a:pt x="83" y="62"/>
                    </a:lnTo>
                    <a:lnTo>
                      <a:pt x="74" y="75"/>
                    </a:lnTo>
                    <a:lnTo>
                      <a:pt x="59" y="85"/>
                    </a:lnTo>
                    <a:lnTo>
                      <a:pt x="42" y="87"/>
                    </a:lnTo>
                    <a:lnTo>
                      <a:pt x="28" y="85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9" name="Freeform 12"/>
              <p:cNvSpPr>
                <a:spLocks/>
              </p:cNvSpPr>
              <p:nvPr/>
            </p:nvSpPr>
            <p:spPr bwMode="auto">
              <a:xfrm>
                <a:off x="2018" y="2479"/>
                <a:ext cx="87" cy="87"/>
              </a:xfrm>
              <a:custGeom>
                <a:avLst/>
                <a:gdLst>
                  <a:gd name="T0" fmla="*/ 0 w 87"/>
                  <a:gd name="T1" fmla="*/ 42 h 87"/>
                  <a:gd name="T2" fmla="*/ 4 w 87"/>
                  <a:gd name="T3" fmla="*/ 25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4 w 87"/>
                  <a:gd name="T13" fmla="*/ 13 h 87"/>
                  <a:gd name="T14" fmla="*/ 85 w 87"/>
                  <a:gd name="T15" fmla="*/ 25 h 87"/>
                  <a:gd name="T16" fmla="*/ 87 w 87"/>
                  <a:gd name="T17" fmla="*/ 42 h 87"/>
                  <a:gd name="T18" fmla="*/ 85 w 87"/>
                  <a:gd name="T19" fmla="*/ 59 h 87"/>
                  <a:gd name="T20" fmla="*/ 74 w 87"/>
                  <a:gd name="T21" fmla="*/ 74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4 h 87"/>
                  <a:gd name="T30" fmla="*/ 4 w 87"/>
                  <a:gd name="T31" fmla="*/ 59 h 87"/>
                  <a:gd name="T32" fmla="*/ 0 w 87"/>
                  <a:gd name="T33" fmla="*/ 42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2"/>
                    </a:moveTo>
                    <a:lnTo>
                      <a:pt x="4" y="25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4" y="13"/>
                    </a:lnTo>
                    <a:lnTo>
                      <a:pt x="85" y="25"/>
                    </a:lnTo>
                    <a:lnTo>
                      <a:pt x="87" y="42"/>
                    </a:lnTo>
                    <a:lnTo>
                      <a:pt x="85" y="59"/>
                    </a:lnTo>
                    <a:lnTo>
                      <a:pt x="74" y="74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4"/>
                    </a:lnTo>
                    <a:lnTo>
                      <a:pt x="4" y="59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60" name="Rectangle 13"/>
              <p:cNvSpPr>
                <a:spLocks noChangeArrowheads="1"/>
              </p:cNvSpPr>
              <p:nvPr/>
            </p:nvSpPr>
            <p:spPr bwMode="auto">
              <a:xfrm>
                <a:off x="1890" y="1437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en-US"/>
              </a:p>
            </p:txBody>
          </p:sp>
          <p:sp>
            <p:nvSpPr>
              <p:cNvPr id="69661" name="Rectangle 14"/>
              <p:cNvSpPr>
                <a:spLocks noChangeArrowheads="1"/>
              </p:cNvSpPr>
              <p:nvPr/>
            </p:nvSpPr>
            <p:spPr bwMode="auto">
              <a:xfrm>
                <a:off x="1089" y="2061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en-US"/>
              </a:p>
            </p:txBody>
          </p:sp>
          <p:sp>
            <p:nvSpPr>
              <p:cNvPr id="69662" name="Rectangle 15"/>
              <p:cNvSpPr>
                <a:spLocks noChangeArrowheads="1"/>
              </p:cNvSpPr>
              <p:nvPr/>
            </p:nvSpPr>
            <p:spPr bwMode="auto">
              <a:xfrm>
                <a:off x="1699" y="2373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 dirty="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altLang="en-US" dirty="0"/>
              </a:p>
            </p:txBody>
          </p:sp>
          <p:sp>
            <p:nvSpPr>
              <p:cNvPr id="69663" name="Rectangle 16"/>
              <p:cNvSpPr>
                <a:spLocks noChangeArrowheads="1"/>
              </p:cNvSpPr>
              <p:nvPr/>
            </p:nvSpPr>
            <p:spPr bwMode="auto">
              <a:xfrm>
                <a:off x="1319" y="2928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altLang="en-US"/>
              </a:p>
            </p:txBody>
          </p:sp>
          <p:sp>
            <p:nvSpPr>
              <p:cNvPr id="69664" name="Rectangle 17"/>
              <p:cNvSpPr>
                <a:spLocks noChangeArrowheads="1"/>
              </p:cNvSpPr>
              <p:nvPr/>
            </p:nvSpPr>
            <p:spPr bwMode="auto">
              <a:xfrm>
                <a:off x="517" y="194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altLang="en-US"/>
              </a:p>
            </p:txBody>
          </p:sp>
          <p:sp>
            <p:nvSpPr>
              <p:cNvPr id="69665" name="Rectangle 18"/>
              <p:cNvSpPr>
                <a:spLocks noChangeArrowheads="1"/>
              </p:cNvSpPr>
              <p:nvPr/>
            </p:nvSpPr>
            <p:spPr bwMode="auto">
              <a:xfrm>
                <a:off x="2188" y="2428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4" name="Group 19"/>
            <p:cNvGrpSpPr>
              <a:grpSpLocks/>
            </p:cNvGrpSpPr>
            <p:nvPr/>
          </p:nvGrpSpPr>
          <p:grpSpPr bwMode="auto">
            <a:xfrm>
              <a:off x="2509838" y="3208338"/>
              <a:ext cx="1401762" cy="890587"/>
              <a:chOff x="1465" y="2309"/>
              <a:chExt cx="883" cy="561"/>
            </a:xfrm>
          </p:grpSpPr>
          <p:sp>
            <p:nvSpPr>
              <p:cNvPr id="69652" name="Freeform 20"/>
              <p:cNvSpPr>
                <a:spLocks/>
              </p:cNvSpPr>
              <p:nvPr/>
            </p:nvSpPr>
            <p:spPr bwMode="auto">
              <a:xfrm>
                <a:off x="1465" y="2309"/>
                <a:ext cx="883" cy="369"/>
              </a:xfrm>
              <a:custGeom>
                <a:avLst/>
                <a:gdLst>
                  <a:gd name="T0" fmla="*/ 442 w 883"/>
                  <a:gd name="T1" fmla="*/ 0 h 369"/>
                  <a:gd name="T2" fmla="*/ 502 w 883"/>
                  <a:gd name="T3" fmla="*/ 2 h 369"/>
                  <a:gd name="T4" fmla="*/ 562 w 883"/>
                  <a:gd name="T5" fmla="*/ 7 h 369"/>
                  <a:gd name="T6" fmla="*/ 619 w 883"/>
                  <a:gd name="T7" fmla="*/ 15 h 369"/>
                  <a:gd name="T8" fmla="*/ 672 w 883"/>
                  <a:gd name="T9" fmla="*/ 28 h 369"/>
                  <a:gd name="T10" fmla="*/ 721 w 883"/>
                  <a:gd name="T11" fmla="*/ 43 h 369"/>
                  <a:gd name="T12" fmla="*/ 766 w 883"/>
                  <a:gd name="T13" fmla="*/ 60 h 369"/>
                  <a:gd name="T14" fmla="*/ 804 w 883"/>
                  <a:gd name="T15" fmla="*/ 79 h 369"/>
                  <a:gd name="T16" fmla="*/ 836 w 883"/>
                  <a:gd name="T17" fmla="*/ 100 h 369"/>
                  <a:gd name="T18" fmla="*/ 859 w 883"/>
                  <a:gd name="T19" fmla="*/ 123 h 369"/>
                  <a:gd name="T20" fmla="*/ 876 w 883"/>
                  <a:gd name="T21" fmla="*/ 147 h 369"/>
                  <a:gd name="T22" fmla="*/ 883 w 883"/>
                  <a:gd name="T23" fmla="*/ 172 h 369"/>
                  <a:gd name="T24" fmla="*/ 883 w 883"/>
                  <a:gd name="T25" fmla="*/ 197 h 369"/>
                  <a:gd name="T26" fmla="*/ 876 w 883"/>
                  <a:gd name="T27" fmla="*/ 223 h 369"/>
                  <a:gd name="T28" fmla="*/ 859 w 883"/>
                  <a:gd name="T29" fmla="*/ 246 h 369"/>
                  <a:gd name="T30" fmla="*/ 836 w 883"/>
                  <a:gd name="T31" fmla="*/ 270 h 369"/>
                  <a:gd name="T32" fmla="*/ 804 w 883"/>
                  <a:gd name="T33" fmla="*/ 291 h 369"/>
                  <a:gd name="T34" fmla="*/ 766 w 883"/>
                  <a:gd name="T35" fmla="*/ 310 h 369"/>
                  <a:gd name="T36" fmla="*/ 721 w 883"/>
                  <a:gd name="T37" fmla="*/ 327 h 369"/>
                  <a:gd name="T38" fmla="*/ 672 w 883"/>
                  <a:gd name="T39" fmla="*/ 342 h 369"/>
                  <a:gd name="T40" fmla="*/ 619 w 883"/>
                  <a:gd name="T41" fmla="*/ 354 h 369"/>
                  <a:gd name="T42" fmla="*/ 562 w 883"/>
                  <a:gd name="T43" fmla="*/ 363 h 369"/>
                  <a:gd name="T44" fmla="*/ 502 w 883"/>
                  <a:gd name="T45" fmla="*/ 367 h 369"/>
                  <a:gd name="T46" fmla="*/ 442 w 883"/>
                  <a:gd name="T47" fmla="*/ 369 h 369"/>
                  <a:gd name="T48" fmla="*/ 381 w 883"/>
                  <a:gd name="T49" fmla="*/ 367 h 369"/>
                  <a:gd name="T50" fmla="*/ 323 w 883"/>
                  <a:gd name="T51" fmla="*/ 363 h 369"/>
                  <a:gd name="T52" fmla="*/ 266 w 883"/>
                  <a:gd name="T53" fmla="*/ 354 h 369"/>
                  <a:gd name="T54" fmla="*/ 213 w 883"/>
                  <a:gd name="T55" fmla="*/ 342 h 369"/>
                  <a:gd name="T56" fmla="*/ 162 w 883"/>
                  <a:gd name="T57" fmla="*/ 327 h 369"/>
                  <a:gd name="T58" fmla="*/ 119 w 883"/>
                  <a:gd name="T59" fmla="*/ 310 h 369"/>
                  <a:gd name="T60" fmla="*/ 81 w 883"/>
                  <a:gd name="T61" fmla="*/ 291 h 369"/>
                  <a:gd name="T62" fmla="*/ 49 w 883"/>
                  <a:gd name="T63" fmla="*/ 270 h 369"/>
                  <a:gd name="T64" fmla="*/ 26 w 883"/>
                  <a:gd name="T65" fmla="*/ 246 h 369"/>
                  <a:gd name="T66" fmla="*/ 9 w 883"/>
                  <a:gd name="T67" fmla="*/ 223 h 369"/>
                  <a:gd name="T68" fmla="*/ 0 w 883"/>
                  <a:gd name="T69" fmla="*/ 197 h 369"/>
                  <a:gd name="T70" fmla="*/ 0 w 883"/>
                  <a:gd name="T71" fmla="*/ 172 h 369"/>
                  <a:gd name="T72" fmla="*/ 9 w 883"/>
                  <a:gd name="T73" fmla="*/ 147 h 369"/>
                  <a:gd name="T74" fmla="*/ 26 w 883"/>
                  <a:gd name="T75" fmla="*/ 123 h 369"/>
                  <a:gd name="T76" fmla="*/ 49 w 883"/>
                  <a:gd name="T77" fmla="*/ 100 h 369"/>
                  <a:gd name="T78" fmla="*/ 81 w 883"/>
                  <a:gd name="T79" fmla="*/ 79 h 369"/>
                  <a:gd name="T80" fmla="*/ 119 w 883"/>
                  <a:gd name="T81" fmla="*/ 60 h 369"/>
                  <a:gd name="T82" fmla="*/ 162 w 883"/>
                  <a:gd name="T83" fmla="*/ 43 h 369"/>
                  <a:gd name="T84" fmla="*/ 213 w 883"/>
                  <a:gd name="T85" fmla="*/ 28 h 369"/>
                  <a:gd name="T86" fmla="*/ 266 w 883"/>
                  <a:gd name="T87" fmla="*/ 15 h 369"/>
                  <a:gd name="T88" fmla="*/ 323 w 883"/>
                  <a:gd name="T89" fmla="*/ 7 h 369"/>
                  <a:gd name="T90" fmla="*/ 381 w 883"/>
                  <a:gd name="T91" fmla="*/ 2 h 369"/>
                  <a:gd name="T92" fmla="*/ 442 w 883"/>
                  <a:gd name="T93" fmla="*/ 0 h 36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83"/>
                  <a:gd name="T142" fmla="*/ 0 h 369"/>
                  <a:gd name="T143" fmla="*/ 883 w 883"/>
                  <a:gd name="T144" fmla="*/ 369 h 369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83" h="369">
                    <a:moveTo>
                      <a:pt x="442" y="0"/>
                    </a:moveTo>
                    <a:lnTo>
                      <a:pt x="502" y="2"/>
                    </a:lnTo>
                    <a:lnTo>
                      <a:pt x="562" y="7"/>
                    </a:lnTo>
                    <a:lnTo>
                      <a:pt x="619" y="15"/>
                    </a:lnTo>
                    <a:lnTo>
                      <a:pt x="672" y="28"/>
                    </a:lnTo>
                    <a:lnTo>
                      <a:pt x="721" y="43"/>
                    </a:lnTo>
                    <a:lnTo>
                      <a:pt x="766" y="60"/>
                    </a:lnTo>
                    <a:lnTo>
                      <a:pt x="804" y="79"/>
                    </a:lnTo>
                    <a:lnTo>
                      <a:pt x="836" y="100"/>
                    </a:lnTo>
                    <a:lnTo>
                      <a:pt x="859" y="123"/>
                    </a:lnTo>
                    <a:lnTo>
                      <a:pt x="876" y="147"/>
                    </a:lnTo>
                    <a:lnTo>
                      <a:pt x="883" y="172"/>
                    </a:lnTo>
                    <a:lnTo>
                      <a:pt x="883" y="197"/>
                    </a:lnTo>
                    <a:lnTo>
                      <a:pt x="876" y="223"/>
                    </a:lnTo>
                    <a:lnTo>
                      <a:pt x="859" y="246"/>
                    </a:lnTo>
                    <a:lnTo>
                      <a:pt x="836" y="270"/>
                    </a:lnTo>
                    <a:lnTo>
                      <a:pt x="804" y="291"/>
                    </a:lnTo>
                    <a:lnTo>
                      <a:pt x="766" y="310"/>
                    </a:lnTo>
                    <a:lnTo>
                      <a:pt x="721" y="327"/>
                    </a:lnTo>
                    <a:lnTo>
                      <a:pt x="672" y="342"/>
                    </a:lnTo>
                    <a:lnTo>
                      <a:pt x="619" y="354"/>
                    </a:lnTo>
                    <a:lnTo>
                      <a:pt x="562" y="363"/>
                    </a:lnTo>
                    <a:lnTo>
                      <a:pt x="502" y="367"/>
                    </a:lnTo>
                    <a:lnTo>
                      <a:pt x="442" y="369"/>
                    </a:lnTo>
                    <a:lnTo>
                      <a:pt x="381" y="367"/>
                    </a:lnTo>
                    <a:lnTo>
                      <a:pt x="323" y="363"/>
                    </a:lnTo>
                    <a:lnTo>
                      <a:pt x="266" y="354"/>
                    </a:lnTo>
                    <a:lnTo>
                      <a:pt x="213" y="342"/>
                    </a:lnTo>
                    <a:lnTo>
                      <a:pt x="162" y="327"/>
                    </a:lnTo>
                    <a:lnTo>
                      <a:pt x="119" y="310"/>
                    </a:lnTo>
                    <a:lnTo>
                      <a:pt x="81" y="291"/>
                    </a:lnTo>
                    <a:lnTo>
                      <a:pt x="49" y="270"/>
                    </a:lnTo>
                    <a:lnTo>
                      <a:pt x="26" y="246"/>
                    </a:lnTo>
                    <a:lnTo>
                      <a:pt x="9" y="223"/>
                    </a:lnTo>
                    <a:lnTo>
                      <a:pt x="0" y="197"/>
                    </a:lnTo>
                    <a:lnTo>
                      <a:pt x="0" y="172"/>
                    </a:lnTo>
                    <a:lnTo>
                      <a:pt x="9" y="147"/>
                    </a:lnTo>
                    <a:lnTo>
                      <a:pt x="26" y="123"/>
                    </a:lnTo>
                    <a:lnTo>
                      <a:pt x="49" y="100"/>
                    </a:lnTo>
                    <a:lnTo>
                      <a:pt x="81" y="79"/>
                    </a:lnTo>
                    <a:lnTo>
                      <a:pt x="119" y="60"/>
                    </a:lnTo>
                    <a:lnTo>
                      <a:pt x="162" y="43"/>
                    </a:lnTo>
                    <a:lnTo>
                      <a:pt x="213" y="28"/>
                    </a:lnTo>
                    <a:lnTo>
                      <a:pt x="266" y="15"/>
                    </a:lnTo>
                    <a:lnTo>
                      <a:pt x="323" y="7"/>
                    </a:lnTo>
                    <a:lnTo>
                      <a:pt x="381" y="2"/>
                    </a:lnTo>
                    <a:lnTo>
                      <a:pt x="442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3" name="Rectangle 21"/>
              <p:cNvSpPr>
                <a:spLocks noChangeArrowheads="1"/>
              </p:cNvSpPr>
              <p:nvPr/>
            </p:nvSpPr>
            <p:spPr bwMode="auto">
              <a:xfrm>
                <a:off x="1831" y="2668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704850" y="2249488"/>
              <a:ext cx="1579563" cy="889000"/>
              <a:chOff x="328" y="1705"/>
              <a:chExt cx="995" cy="560"/>
            </a:xfrm>
          </p:grpSpPr>
          <p:sp>
            <p:nvSpPr>
              <p:cNvPr id="69650" name="Freeform 23"/>
              <p:cNvSpPr>
                <a:spLocks/>
              </p:cNvSpPr>
              <p:nvPr/>
            </p:nvSpPr>
            <p:spPr bwMode="auto">
              <a:xfrm>
                <a:off x="328" y="1881"/>
                <a:ext cx="995" cy="384"/>
              </a:xfrm>
              <a:custGeom>
                <a:avLst/>
                <a:gdLst>
                  <a:gd name="T0" fmla="*/ 514 w 995"/>
                  <a:gd name="T1" fmla="*/ 4 h 384"/>
                  <a:gd name="T2" fmla="*/ 576 w 995"/>
                  <a:gd name="T3" fmla="*/ 10 h 384"/>
                  <a:gd name="T4" fmla="*/ 638 w 995"/>
                  <a:gd name="T5" fmla="*/ 21 h 384"/>
                  <a:gd name="T6" fmla="*/ 695 w 995"/>
                  <a:gd name="T7" fmla="*/ 34 h 384"/>
                  <a:gd name="T8" fmla="*/ 752 w 995"/>
                  <a:gd name="T9" fmla="*/ 49 h 384"/>
                  <a:gd name="T10" fmla="*/ 803 w 995"/>
                  <a:gd name="T11" fmla="*/ 66 h 384"/>
                  <a:gd name="T12" fmla="*/ 850 w 995"/>
                  <a:gd name="T13" fmla="*/ 85 h 384"/>
                  <a:gd name="T14" fmla="*/ 891 w 995"/>
                  <a:gd name="T15" fmla="*/ 106 h 384"/>
                  <a:gd name="T16" fmla="*/ 927 w 995"/>
                  <a:gd name="T17" fmla="*/ 127 h 384"/>
                  <a:gd name="T18" fmla="*/ 954 w 995"/>
                  <a:gd name="T19" fmla="*/ 150 h 384"/>
                  <a:gd name="T20" fmla="*/ 976 w 995"/>
                  <a:gd name="T21" fmla="*/ 176 h 384"/>
                  <a:gd name="T22" fmla="*/ 988 w 995"/>
                  <a:gd name="T23" fmla="*/ 199 h 384"/>
                  <a:gd name="T24" fmla="*/ 995 w 995"/>
                  <a:gd name="T25" fmla="*/ 222 h 384"/>
                  <a:gd name="T26" fmla="*/ 993 w 995"/>
                  <a:gd name="T27" fmla="*/ 248 h 384"/>
                  <a:gd name="T28" fmla="*/ 982 w 995"/>
                  <a:gd name="T29" fmla="*/ 269 h 384"/>
                  <a:gd name="T30" fmla="*/ 965 w 995"/>
                  <a:gd name="T31" fmla="*/ 290 h 384"/>
                  <a:gd name="T32" fmla="*/ 940 w 995"/>
                  <a:gd name="T33" fmla="*/ 312 h 384"/>
                  <a:gd name="T34" fmla="*/ 908 w 995"/>
                  <a:gd name="T35" fmla="*/ 329 h 384"/>
                  <a:gd name="T36" fmla="*/ 869 w 995"/>
                  <a:gd name="T37" fmla="*/ 345 h 384"/>
                  <a:gd name="T38" fmla="*/ 827 w 995"/>
                  <a:gd name="T39" fmla="*/ 358 h 384"/>
                  <a:gd name="T40" fmla="*/ 776 w 995"/>
                  <a:gd name="T41" fmla="*/ 369 h 384"/>
                  <a:gd name="T42" fmla="*/ 723 w 995"/>
                  <a:gd name="T43" fmla="*/ 377 h 384"/>
                  <a:gd name="T44" fmla="*/ 665 w 995"/>
                  <a:gd name="T45" fmla="*/ 382 h 384"/>
                  <a:gd name="T46" fmla="*/ 606 w 995"/>
                  <a:gd name="T47" fmla="*/ 384 h 384"/>
                  <a:gd name="T48" fmla="*/ 544 w 995"/>
                  <a:gd name="T49" fmla="*/ 384 h 384"/>
                  <a:gd name="T50" fmla="*/ 480 w 995"/>
                  <a:gd name="T51" fmla="*/ 379 h 384"/>
                  <a:gd name="T52" fmla="*/ 419 w 995"/>
                  <a:gd name="T53" fmla="*/ 373 h 384"/>
                  <a:gd name="T54" fmla="*/ 357 w 995"/>
                  <a:gd name="T55" fmla="*/ 362 h 384"/>
                  <a:gd name="T56" fmla="*/ 300 w 995"/>
                  <a:gd name="T57" fmla="*/ 350 h 384"/>
                  <a:gd name="T58" fmla="*/ 242 w 995"/>
                  <a:gd name="T59" fmla="*/ 335 h 384"/>
                  <a:gd name="T60" fmla="*/ 191 w 995"/>
                  <a:gd name="T61" fmla="*/ 318 h 384"/>
                  <a:gd name="T62" fmla="*/ 144 w 995"/>
                  <a:gd name="T63" fmla="*/ 299 h 384"/>
                  <a:gd name="T64" fmla="*/ 104 w 995"/>
                  <a:gd name="T65" fmla="*/ 278 h 384"/>
                  <a:gd name="T66" fmla="*/ 68 w 995"/>
                  <a:gd name="T67" fmla="*/ 256 h 384"/>
                  <a:gd name="T68" fmla="*/ 40 w 995"/>
                  <a:gd name="T69" fmla="*/ 233 h 384"/>
                  <a:gd name="T70" fmla="*/ 19 w 995"/>
                  <a:gd name="T71" fmla="*/ 208 h 384"/>
                  <a:gd name="T72" fmla="*/ 6 w 995"/>
                  <a:gd name="T73" fmla="*/ 184 h 384"/>
                  <a:gd name="T74" fmla="*/ 0 w 995"/>
                  <a:gd name="T75" fmla="*/ 161 h 384"/>
                  <a:gd name="T76" fmla="*/ 2 w 995"/>
                  <a:gd name="T77" fmla="*/ 138 h 384"/>
                  <a:gd name="T78" fmla="*/ 13 w 995"/>
                  <a:gd name="T79" fmla="*/ 114 h 384"/>
                  <a:gd name="T80" fmla="*/ 30 w 995"/>
                  <a:gd name="T81" fmla="*/ 93 h 384"/>
                  <a:gd name="T82" fmla="*/ 55 w 995"/>
                  <a:gd name="T83" fmla="*/ 72 h 384"/>
                  <a:gd name="T84" fmla="*/ 87 w 995"/>
                  <a:gd name="T85" fmla="*/ 55 h 384"/>
                  <a:gd name="T86" fmla="*/ 125 w 995"/>
                  <a:gd name="T87" fmla="*/ 38 h 384"/>
                  <a:gd name="T88" fmla="*/ 168 w 995"/>
                  <a:gd name="T89" fmla="*/ 25 h 384"/>
                  <a:gd name="T90" fmla="*/ 219 w 995"/>
                  <a:gd name="T91" fmla="*/ 15 h 384"/>
                  <a:gd name="T92" fmla="*/ 272 w 995"/>
                  <a:gd name="T93" fmla="*/ 6 h 384"/>
                  <a:gd name="T94" fmla="*/ 329 w 995"/>
                  <a:gd name="T95" fmla="*/ 2 h 384"/>
                  <a:gd name="T96" fmla="*/ 389 w 995"/>
                  <a:gd name="T97" fmla="*/ 0 h 384"/>
                  <a:gd name="T98" fmla="*/ 450 w 995"/>
                  <a:gd name="T99" fmla="*/ 0 h 384"/>
                  <a:gd name="T100" fmla="*/ 514 w 995"/>
                  <a:gd name="T101" fmla="*/ 4 h 38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995"/>
                  <a:gd name="T154" fmla="*/ 0 h 384"/>
                  <a:gd name="T155" fmla="*/ 995 w 995"/>
                  <a:gd name="T156" fmla="*/ 384 h 38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995" h="384">
                    <a:moveTo>
                      <a:pt x="514" y="4"/>
                    </a:moveTo>
                    <a:lnTo>
                      <a:pt x="576" y="10"/>
                    </a:lnTo>
                    <a:lnTo>
                      <a:pt x="638" y="21"/>
                    </a:lnTo>
                    <a:lnTo>
                      <a:pt x="695" y="34"/>
                    </a:lnTo>
                    <a:lnTo>
                      <a:pt x="752" y="49"/>
                    </a:lnTo>
                    <a:lnTo>
                      <a:pt x="803" y="66"/>
                    </a:lnTo>
                    <a:lnTo>
                      <a:pt x="850" y="85"/>
                    </a:lnTo>
                    <a:lnTo>
                      <a:pt x="891" y="106"/>
                    </a:lnTo>
                    <a:lnTo>
                      <a:pt x="927" y="127"/>
                    </a:lnTo>
                    <a:lnTo>
                      <a:pt x="954" y="150"/>
                    </a:lnTo>
                    <a:lnTo>
                      <a:pt x="976" y="176"/>
                    </a:lnTo>
                    <a:lnTo>
                      <a:pt x="988" y="199"/>
                    </a:lnTo>
                    <a:lnTo>
                      <a:pt x="995" y="222"/>
                    </a:lnTo>
                    <a:lnTo>
                      <a:pt x="993" y="248"/>
                    </a:lnTo>
                    <a:lnTo>
                      <a:pt x="982" y="269"/>
                    </a:lnTo>
                    <a:lnTo>
                      <a:pt x="965" y="290"/>
                    </a:lnTo>
                    <a:lnTo>
                      <a:pt x="940" y="312"/>
                    </a:lnTo>
                    <a:lnTo>
                      <a:pt x="908" y="329"/>
                    </a:lnTo>
                    <a:lnTo>
                      <a:pt x="869" y="345"/>
                    </a:lnTo>
                    <a:lnTo>
                      <a:pt x="827" y="358"/>
                    </a:lnTo>
                    <a:lnTo>
                      <a:pt x="776" y="369"/>
                    </a:lnTo>
                    <a:lnTo>
                      <a:pt x="723" y="377"/>
                    </a:lnTo>
                    <a:lnTo>
                      <a:pt x="665" y="382"/>
                    </a:lnTo>
                    <a:lnTo>
                      <a:pt x="606" y="384"/>
                    </a:lnTo>
                    <a:lnTo>
                      <a:pt x="544" y="384"/>
                    </a:lnTo>
                    <a:lnTo>
                      <a:pt x="480" y="379"/>
                    </a:lnTo>
                    <a:lnTo>
                      <a:pt x="419" y="373"/>
                    </a:lnTo>
                    <a:lnTo>
                      <a:pt x="357" y="362"/>
                    </a:lnTo>
                    <a:lnTo>
                      <a:pt x="300" y="350"/>
                    </a:lnTo>
                    <a:lnTo>
                      <a:pt x="242" y="335"/>
                    </a:lnTo>
                    <a:lnTo>
                      <a:pt x="191" y="318"/>
                    </a:lnTo>
                    <a:lnTo>
                      <a:pt x="144" y="299"/>
                    </a:lnTo>
                    <a:lnTo>
                      <a:pt x="104" y="278"/>
                    </a:lnTo>
                    <a:lnTo>
                      <a:pt x="68" y="256"/>
                    </a:lnTo>
                    <a:lnTo>
                      <a:pt x="40" y="233"/>
                    </a:lnTo>
                    <a:lnTo>
                      <a:pt x="19" y="208"/>
                    </a:lnTo>
                    <a:lnTo>
                      <a:pt x="6" y="184"/>
                    </a:lnTo>
                    <a:lnTo>
                      <a:pt x="0" y="161"/>
                    </a:lnTo>
                    <a:lnTo>
                      <a:pt x="2" y="138"/>
                    </a:lnTo>
                    <a:lnTo>
                      <a:pt x="13" y="114"/>
                    </a:lnTo>
                    <a:lnTo>
                      <a:pt x="30" y="93"/>
                    </a:lnTo>
                    <a:lnTo>
                      <a:pt x="55" y="72"/>
                    </a:lnTo>
                    <a:lnTo>
                      <a:pt x="87" y="55"/>
                    </a:lnTo>
                    <a:lnTo>
                      <a:pt x="125" y="38"/>
                    </a:lnTo>
                    <a:lnTo>
                      <a:pt x="168" y="25"/>
                    </a:lnTo>
                    <a:lnTo>
                      <a:pt x="219" y="15"/>
                    </a:lnTo>
                    <a:lnTo>
                      <a:pt x="272" y="6"/>
                    </a:lnTo>
                    <a:lnTo>
                      <a:pt x="329" y="2"/>
                    </a:lnTo>
                    <a:lnTo>
                      <a:pt x="389" y="0"/>
                    </a:lnTo>
                    <a:lnTo>
                      <a:pt x="450" y="0"/>
                    </a:lnTo>
                    <a:lnTo>
                      <a:pt x="514" y="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1" name="Rectangle 24"/>
              <p:cNvSpPr>
                <a:spLocks noChangeArrowheads="1"/>
              </p:cNvSpPr>
              <p:nvPr/>
            </p:nvSpPr>
            <p:spPr bwMode="auto">
              <a:xfrm>
                <a:off x="853" y="1705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grpSp>
          <p:nvGrpSpPr>
            <p:cNvPr id="6" name="Group 25"/>
            <p:cNvGrpSpPr>
              <a:grpSpLocks/>
            </p:cNvGrpSpPr>
            <p:nvPr/>
          </p:nvGrpSpPr>
          <p:grpSpPr bwMode="auto">
            <a:xfrm>
              <a:off x="360363" y="1582738"/>
              <a:ext cx="3935412" cy="3487737"/>
              <a:chOff x="111" y="1285"/>
              <a:chExt cx="2479" cy="2197"/>
            </a:xfrm>
          </p:grpSpPr>
          <p:sp>
            <p:nvSpPr>
              <p:cNvPr id="69648" name="Rectangle 26"/>
              <p:cNvSpPr>
                <a:spLocks noChangeArrowheads="1"/>
              </p:cNvSpPr>
              <p:nvPr/>
            </p:nvSpPr>
            <p:spPr bwMode="auto">
              <a:xfrm>
                <a:off x="2484" y="1705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69649" name="Freeform 27"/>
              <p:cNvSpPr>
                <a:spLocks/>
              </p:cNvSpPr>
              <p:nvPr/>
            </p:nvSpPr>
            <p:spPr bwMode="auto">
              <a:xfrm>
                <a:off x="111" y="1285"/>
                <a:ext cx="2479" cy="2197"/>
              </a:xfrm>
              <a:custGeom>
                <a:avLst/>
                <a:gdLst>
                  <a:gd name="T0" fmla="*/ 1339 w 2479"/>
                  <a:gd name="T1" fmla="*/ 2 h 2197"/>
                  <a:gd name="T2" fmla="*/ 1541 w 2479"/>
                  <a:gd name="T3" fmla="*/ 32 h 2197"/>
                  <a:gd name="T4" fmla="*/ 1735 w 2479"/>
                  <a:gd name="T5" fmla="*/ 91 h 2197"/>
                  <a:gd name="T6" fmla="*/ 1916 w 2479"/>
                  <a:gd name="T7" fmla="*/ 178 h 2197"/>
                  <a:gd name="T8" fmla="*/ 2077 w 2479"/>
                  <a:gd name="T9" fmla="*/ 288 h 2197"/>
                  <a:gd name="T10" fmla="*/ 2215 w 2479"/>
                  <a:gd name="T11" fmla="*/ 422 h 2197"/>
                  <a:gd name="T12" fmla="*/ 2328 w 2479"/>
                  <a:gd name="T13" fmla="*/ 572 h 2197"/>
                  <a:gd name="T14" fmla="*/ 2411 w 2479"/>
                  <a:gd name="T15" fmla="*/ 740 h 2197"/>
                  <a:gd name="T16" fmla="*/ 2462 w 2479"/>
                  <a:gd name="T17" fmla="*/ 916 h 2197"/>
                  <a:gd name="T18" fmla="*/ 2479 w 2479"/>
                  <a:gd name="T19" fmla="*/ 1096 h 2197"/>
                  <a:gd name="T20" fmla="*/ 2462 w 2479"/>
                  <a:gd name="T21" fmla="*/ 1277 h 2197"/>
                  <a:gd name="T22" fmla="*/ 2411 w 2479"/>
                  <a:gd name="T23" fmla="*/ 1453 h 2197"/>
                  <a:gd name="T24" fmla="*/ 2330 w 2479"/>
                  <a:gd name="T25" fmla="*/ 1620 h 2197"/>
                  <a:gd name="T26" fmla="*/ 2217 w 2479"/>
                  <a:gd name="T27" fmla="*/ 1771 h 2197"/>
                  <a:gd name="T28" fmla="*/ 2079 w 2479"/>
                  <a:gd name="T29" fmla="*/ 1904 h 2197"/>
                  <a:gd name="T30" fmla="*/ 1918 w 2479"/>
                  <a:gd name="T31" fmla="*/ 2017 h 2197"/>
                  <a:gd name="T32" fmla="*/ 1739 w 2479"/>
                  <a:gd name="T33" fmla="*/ 2104 h 2197"/>
                  <a:gd name="T34" fmla="*/ 1546 w 2479"/>
                  <a:gd name="T35" fmla="*/ 2163 h 2197"/>
                  <a:gd name="T36" fmla="*/ 1344 w 2479"/>
                  <a:gd name="T37" fmla="*/ 2193 h 2197"/>
                  <a:gd name="T38" fmla="*/ 1139 w 2479"/>
                  <a:gd name="T39" fmla="*/ 2193 h 2197"/>
                  <a:gd name="T40" fmla="*/ 938 w 2479"/>
                  <a:gd name="T41" fmla="*/ 2163 h 2197"/>
                  <a:gd name="T42" fmla="*/ 744 w 2479"/>
                  <a:gd name="T43" fmla="*/ 2106 h 2197"/>
                  <a:gd name="T44" fmla="*/ 563 w 2479"/>
                  <a:gd name="T45" fmla="*/ 2019 h 2197"/>
                  <a:gd name="T46" fmla="*/ 402 w 2479"/>
                  <a:gd name="T47" fmla="*/ 1909 h 2197"/>
                  <a:gd name="T48" fmla="*/ 264 w 2479"/>
                  <a:gd name="T49" fmla="*/ 1775 h 2197"/>
                  <a:gd name="T50" fmla="*/ 151 w 2479"/>
                  <a:gd name="T51" fmla="*/ 1622 h 2197"/>
                  <a:gd name="T52" fmla="*/ 68 w 2479"/>
                  <a:gd name="T53" fmla="*/ 1457 h 2197"/>
                  <a:gd name="T54" fmla="*/ 17 w 2479"/>
                  <a:gd name="T55" fmla="*/ 1281 h 2197"/>
                  <a:gd name="T56" fmla="*/ 0 w 2479"/>
                  <a:gd name="T57" fmla="*/ 1101 h 2197"/>
                  <a:gd name="T58" fmla="*/ 17 w 2479"/>
                  <a:gd name="T59" fmla="*/ 920 h 2197"/>
                  <a:gd name="T60" fmla="*/ 68 w 2479"/>
                  <a:gd name="T61" fmla="*/ 744 h 2197"/>
                  <a:gd name="T62" fmla="*/ 149 w 2479"/>
                  <a:gd name="T63" fmla="*/ 577 h 2197"/>
                  <a:gd name="T64" fmla="*/ 261 w 2479"/>
                  <a:gd name="T65" fmla="*/ 424 h 2197"/>
                  <a:gd name="T66" fmla="*/ 400 w 2479"/>
                  <a:gd name="T67" fmla="*/ 290 h 2197"/>
                  <a:gd name="T68" fmla="*/ 559 w 2479"/>
                  <a:gd name="T69" fmla="*/ 180 h 2197"/>
                  <a:gd name="T70" fmla="*/ 740 w 2479"/>
                  <a:gd name="T71" fmla="*/ 93 h 2197"/>
                  <a:gd name="T72" fmla="*/ 933 w 2479"/>
                  <a:gd name="T73" fmla="*/ 34 h 2197"/>
                  <a:gd name="T74" fmla="*/ 1135 w 2479"/>
                  <a:gd name="T75" fmla="*/ 4 h 219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79"/>
                  <a:gd name="T115" fmla="*/ 0 h 2197"/>
                  <a:gd name="T116" fmla="*/ 2479 w 2479"/>
                  <a:gd name="T117" fmla="*/ 2197 h 219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79" h="2197">
                    <a:moveTo>
                      <a:pt x="1237" y="0"/>
                    </a:moveTo>
                    <a:lnTo>
                      <a:pt x="1339" y="2"/>
                    </a:lnTo>
                    <a:lnTo>
                      <a:pt x="1441" y="15"/>
                    </a:lnTo>
                    <a:lnTo>
                      <a:pt x="1541" y="32"/>
                    </a:lnTo>
                    <a:lnTo>
                      <a:pt x="1639" y="59"/>
                    </a:lnTo>
                    <a:lnTo>
                      <a:pt x="1735" y="91"/>
                    </a:lnTo>
                    <a:lnTo>
                      <a:pt x="1826" y="131"/>
                    </a:lnTo>
                    <a:lnTo>
                      <a:pt x="1916" y="178"/>
                    </a:lnTo>
                    <a:lnTo>
                      <a:pt x="1998" y="229"/>
                    </a:lnTo>
                    <a:lnTo>
                      <a:pt x="2077" y="288"/>
                    </a:lnTo>
                    <a:lnTo>
                      <a:pt x="2149" y="352"/>
                    </a:lnTo>
                    <a:lnTo>
                      <a:pt x="2215" y="422"/>
                    </a:lnTo>
                    <a:lnTo>
                      <a:pt x="2275" y="496"/>
                    </a:lnTo>
                    <a:lnTo>
                      <a:pt x="2328" y="572"/>
                    </a:lnTo>
                    <a:lnTo>
                      <a:pt x="2373" y="655"/>
                    </a:lnTo>
                    <a:lnTo>
                      <a:pt x="2411" y="740"/>
                    </a:lnTo>
                    <a:lnTo>
                      <a:pt x="2441" y="827"/>
                    </a:lnTo>
                    <a:lnTo>
                      <a:pt x="2462" y="916"/>
                    </a:lnTo>
                    <a:lnTo>
                      <a:pt x="2475" y="1005"/>
                    </a:lnTo>
                    <a:lnTo>
                      <a:pt x="2479" y="1096"/>
                    </a:lnTo>
                    <a:lnTo>
                      <a:pt x="2475" y="1188"/>
                    </a:lnTo>
                    <a:lnTo>
                      <a:pt x="2462" y="1277"/>
                    </a:lnTo>
                    <a:lnTo>
                      <a:pt x="2441" y="1366"/>
                    </a:lnTo>
                    <a:lnTo>
                      <a:pt x="2411" y="1453"/>
                    </a:lnTo>
                    <a:lnTo>
                      <a:pt x="2375" y="1537"/>
                    </a:lnTo>
                    <a:lnTo>
                      <a:pt x="2330" y="1620"/>
                    </a:lnTo>
                    <a:lnTo>
                      <a:pt x="2277" y="1697"/>
                    </a:lnTo>
                    <a:lnTo>
                      <a:pt x="2217" y="1771"/>
                    </a:lnTo>
                    <a:lnTo>
                      <a:pt x="2152" y="1841"/>
                    </a:lnTo>
                    <a:lnTo>
                      <a:pt x="2079" y="1904"/>
                    </a:lnTo>
                    <a:lnTo>
                      <a:pt x="2003" y="1964"/>
                    </a:lnTo>
                    <a:lnTo>
                      <a:pt x="1918" y="2017"/>
                    </a:lnTo>
                    <a:lnTo>
                      <a:pt x="1830" y="2063"/>
                    </a:lnTo>
                    <a:lnTo>
                      <a:pt x="1739" y="2104"/>
                    </a:lnTo>
                    <a:lnTo>
                      <a:pt x="1643" y="2136"/>
                    </a:lnTo>
                    <a:lnTo>
                      <a:pt x="1546" y="2163"/>
                    </a:lnTo>
                    <a:lnTo>
                      <a:pt x="1446" y="2182"/>
                    </a:lnTo>
                    <a:lnTo>
                      <a:pt x="1344" y="2193"/>
                    </a:lnTo>
                    <a:lnTo>
                      <a:pt x="1242" y="2197"/>
                    </a:lnTo>
                    <a:lnTo>
                      <a:pt x="1139" y="2193"/>
                    </a:lnTo>
                    <a:lnTo>
                      <a:pt x="1037" y="2182"/>
                    </a:lnTo>
                    <a:lnTo>
                      <a:pt x="938" y="2163"/>
                    </a:lnTo>
                    <a:lnTo>
                      <a:pt x="840" y="2138"/>
                    </a:lnTo>
                    <a:lnTo>
                      <a:pt x="744" y="2106"/>
                    </a:lnTo>
                    <a:lnTo>
                      <a:pt x="650" y="2066"/>
                    </a:lnTo>
                    <a:lnTo>
                      <a:pt x="563" y="2019"/>
                    </a:lnTo>
                    <a:lnTo>
                      <a:pt x="480" y="1966"/>
                    </a:lnTo>
                    <a:lnTo>
                      <a:pt x="402" y="1909"/>
                    </a:lnTo>
                    <a:lnTo>
                      <a:pt x="329" y="1843"/>
                    </a:lnTo>
                    <a:lnTo>
                      <a:pt x="264" y="1775"/>
                    </a:lnTo>
                    <a:lnTo>
                      <a:pt x="204" y="1701"/>
                    </a:lnTo>
                    <a:lnTo>
                      <a:pt x="151" y="1622"/>
                    </a:lnTo>
                    <a:lnTo>
                      <a:pt x="106" y="1542"/>
                    </a:lnTo>
                    <a:lnTo>
                      <a:pt x="68" y="1457"/>
                    </a:lnTo>
                    <a:lnTo>
                      <a:pt x="38" y="1370"/>
                    </a:lnTo>
                    <a:lnTo>
                      <a:pt x="17" y="1281"/>
                    </a:lnTo>
                    <a:lnTo>
                      <a:pt x="4" y="1192"/>
                    </a:lnTo>
                    <a:lnTo>
                      <a:pt x="0" y="1101"/>
                    </a:lnTo>
                    <a:lnTo>
                      <a:pt x="4" y="1009"/>
                    </a:lnTo>
                    <a:lnTo>
                      <a:pt x="17" y="920"/>
                    </a:lnTo>
                    <a:lnTo>
                      <a:pt x="38" y="831"/>
                    </a:lnTo>
                    <a:lnTo>
                      <a:pt x="68" y="744"/>
                    </a:lnTo>
                    <a:lnTo>
                      <a:pt x="104" y="659"/>
                    </a:lnTo>
                    <a:lnTo>
                      <a:pt x="149" y="577"/>
                    </a:lnTo>
                    <a:lnTo>
                      <a:pt x="202" y="498"/>
                    </a:lnTo>
                    <a:lnTo>
                      <a:pt x="261" y="424"/>
                    </a:lnTo>
                    <a:lnTo>
                      <a:pt x="327" y="356"/>
                    </a:lnTo>
                    <a:lnTo>
                      <a:pt x="400" y="290"/>
                    </a:lnTo>
                    <a:lnTo>
                      <a:pt x="476" y="233"/>
                    </a:lnTo>
                    <a:lnTo>
                      <a:pt x="559" y="180"/>
                    </a:lnTo>
                    <a:lnTo>
                      <a:pt x="648" y="133"/>
                    </a:lnTo>
                    <a:lnTo>
                      <a:pt x="740" y="93"/>
                    </a:lnTo>
                    <a:lnTo>
                      <a:pt x="835" y="59"/>
                    </a:lnTo>
                    <a:lnTo>
                      <a:pt x="933" y="34"/>
                    </a:lnTo>
                    <a:lnTo>
                      <a:pt x="1033" y="15"/>
                    </a:lnTo>
                    <a:lnTo>
                      <a:pt x="1135" y="4"/>
                    </a:lnTo>
                    <a:lnTo>
                      <a:pt x="123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1882775" y="2982913"/>
              <a:ext cx="2160588" cy="1652587"/>
              <a:chOff x="1070" y="2167"/>
              <a:chExt cx="1361" cy="1041"/>
            </a:xfrm>
          </p:grpSpPr>
          <p:sp>
            <p:nvSpPr>
              <p:cNvPr id="69646" name="Rectangle 29"/>
              <p:cNvSpPr>
                <a:spLocks noChangeArrowheads="1"/>
              </p:cNvSpPr>
              <p:nvPr/>
            </p:nvSpPr>
            <p:spPr bwMode="auto">
              <a:xfrm>
                <a:off x="1070" y="2560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69647" name="Freeform 30"/>
              <p:cNvSpPr>
                <a:spLocks/>
              </p:cNvSpPr>
              <p:nvPr/>
            </p:nvSpPr>
            <p:spPr bwMode="auto">
              <a:xfrm>
                <a:off x="1114" y="2167"/>
                <a:ext cx="1317" cy="1041"/>
              </a:xfrm>
              <a:custGeom>
                <a:avLst/>
                <a:gdLst>
                  <a:gd name="T0" fmla="*/ 441 w 1317"/>
                  <a:gd name="T1" fmla="*/ 174 h 1041"/>
                  <a:gd name="T2" fmla="*/ 506 w 1317"/>
                  <a:gd name="T3" fmla="*/ 134 h 1041"/>
                  <a:gd name="T4" fmla="*/ 574 w 1317"/>
                  <a:gd name="T5" fmla="*/ 100 h 1041"/>
                  <a:gd name="T6" fmla="*/ 643 w 1317"/>
                  <a:gd name="T7" fmla="*/ 70 h 1041"/>
                  <a:gd name="T8" fmla="*/ 711 w 1317"/>
                  <a:gd name="T9" fmla="*/ 47 h 1041"/>
                  <a:gd name="T10" fmla="*/ 781 w 1317"/>
                  <a:gd name="T11" fmla="*/ 26 h 1041"/>
                  <a:gd name="T12" fmla="*/ 847 w 1317"/>
                  <a:gd name="T13" fmla="*/ 13 h 1041"/>
                  <a:gd name="T14" fmla="*/ 910 w 1317"/>
                  <a:gd name="T15" fmla="*/ 4 h 1041"/>
                  <a:gd name="T16" fmla="*/ 974 w 1317"/>
                  <a:gd name="T17" fmla="*/ 0 h 1041"/>
                  <a:gd name="T18" fmla="*/ 1032 w 1317"/>
                  <a:gd name="T19" fmla="*/ 4 h 1041"/>
                  <a:gd name="T20" fmla="*/ 1087 w 1317"/>
                  <a:gd name="T21" fmla="*/ 13 h 1041"/>
                  <a:gd name="T22" fmla="*/ 1136 w 1317"/>
                  <a:gd name="T23" fmla="*/ 26 h 1041"/>
                  <a:gd name="T24" fmla="*/ 1180 w 1317"/>
                  <a:gd name="T25" fmla="*/ 45 h 1041"/>
                  <a:gd name="T26" fmla="*/ 1219 w 1317"/>
                  <a:gd name="T27" fmla="*/ 70 h 1041"/>
                  <a:gd name="T28" fmla="*/ 1253 w 1317"/>
                  <a:gd name="T29" fmla="*/ 100 h 1041"/>
                  <a:gd name="T30" fmla="*/ 1278 w 1317"/>
                  <a:gd name="T31" fmla="*/ 134 h 1041"/>
                  <a:gd name="T32" fmla="*/ 1297 w 1317"/>
                  <a:gd name="T33" fmla="*/ 172 h 1041"/>
                  <a:gd name="T34" fmla="*/ 1310 w 1317"/>
                  <a:gd name="T35" fmla="*/ 214 h 1041"/>
                  <a:gd name="T36" fmla="*/ 1317 w 1317"/>
                  <a:gd name="T37" fmla="*/ 261 h 1041"/>
                  <a:gd name="T38" fmla="*/ 1314 w 1317"/>
                  <a:gd name="T39" fmla="*/ 310 h 1041"/>
                  <a:gd name="T40" fmla="*/ 1304 w 1317"/>
                  <a:gd name="T41" fmla="*/ 359 h 1041"/>
                  <a:gd name="T42" fmla="*/ 1289 w 1317"/>
                  <a:gd name="T43" fmla="*/ 412 h 1041"/>
                  <a:gd name="T44" fmla="*/ 1265 w 1317"/>
                  <a:gd name="T45" fmla="*/ 467 h 1041"/>
                  <a:gd name="T46" fmla="*/ 1236 w 1317"/>
                  <a:gd name="T47" fmla="*/ 520 h 1041"/>
                  <a:gd name="T48" fmla="*/ 1200 w 1317"/>
                  <a:gd name="T49" fmla="*/ 575 h 1041"/>
                  <a:gd name="T50" fmla="*/ 1157 w 1317"/>
                  <a:gd name="T51" fmla="*/ 628 h 1041"/>
                  <a:gd name="T52" fmla="*/ 1110 w 1317"/>
                  <a:gd name="T53" fmla="*/ 681 h 1041"/>
                  <a:gd name="T54" fmla="*/ 1057 w 1317"/>
                  <a:gd name="T55" fmla="*/ 732 h 1041"/>
                  <a:gd name="T56" fmla="*/ 1000 w 1317"/>
                  <a:gd name="T57" fmla="*/ 781 h 1041"/>
                  <a:gd name="T58" fmla="*/ 940 w 1317"/>
                  <a:gd name="T59" fmla="*/ 825 h 1041"/>
                  <a:gd name="T60" fmla="*/ 876 w 1317"/>
                  <a:gd name="T61" fmla="*/ 868 h 1041"/>
                  <a:gd name="T62" fmla="*/ 810 w 1317"/>
                  <a:gd name="T63" fmla="*/ 908 h 1041"/>
                  <a:gd name="T64" fmla="*/ 742 w 1317"/>
                  <a:gd name="T65" fmla="*/ 942 h 1041"/>
                  <a:gd name="T66" fmla="*/ 674 w 1317"/>
                  <a:gd name="T67" fmla="*/ 971 h 1041"/>
                  <a:gd name="T68" fmla="*/ 604 w 1317"/>
                  <a:gd name="T69" fmla="*/ 995 h 1041"/>
                  <a:gd name="T70" fmla="*/ 536 w 1317"/>
                  <a:gd name="T71" fmla="*/ 1016 h 1041"/>
                  <a:gd name="T72" fmla="*/ 470 w 1317"/>
                  <a:gd name="T73" fmla="*/ 1029 h 1041"/>
                  <a:gd name="T74" fmla="*/ 404 w 1317"/>
                  <a:gd name="T75" fmla="*/ 1037 h 1041"/>
                  <a:gd name="T76" fmla="*/ 343 w 1317"/>
                  <a:gd name="T77" fmla="*/ 1041 h 1041"/>
                  <a:gd name="T78" fmla="*/ 283 w 1317"/>
                  <a:gd name="T79" fmla="*/ 1037 h 1041"/>
                  <a:gd name="T80" fmla="*/ 230 w 1317"/>
                  <a:gd name="T81" fmla="*/ 1029 h 1041"/>
                  <a:gd name="T82" fmla="*/ 179 w 1317"/>
                  <a:gd name="T83" fmla="*/ 1016 h 1041"/>
                  <a:gd name="T84" fmla="*/ 134 w 1317"/>
                  <a:gd name="T85" fmla="*/ 997 h 1041"/>
                  <a:gd name="T86" fmla="*/ 96 w 1317"/>
                  <a:gd name="T87" fmla="*/ 971 h 1041"/>
                  <a:gd name="T88" fmla="*/ 64 w 1317"/>
                  <a:gd name="T89" fmla="*/ 942 h 1041"/>
                  <a:gd name="T90" fmla="*/ 37 w 1317"/>
                  <a:gd name="T91" fmla="*/ 908 h 1041"/>
                  <a:gd name="T92" fmla="*/ 17 w 1317"/>
                  <a:gd name="T93" fmla="*/ 870 h 1041"/>
                  <a:gd name="T94" fmla="*/ 7 w 1317"/>
                  <a:gd name="T95" fmla="*/ 827 h 1041"/>
                  <a:gd name="T96" fmla="*/ 0 w 1317"/>
                  <a:gd name="T97" fmla="*/ 781 h 1041"/>
                  <a:gd name="T98" fmla="*/ 3 w 1317"/>
                  <a:gd name="T99" fmla="*/ 732 h 1041"/>
                  <a:gd name="T100" fmla="*/ 11 w 1317"/>
                  <a:gd name="T101" fmla="*/ 681 h 1041"/>
                  <a:gd name="T102" fmla="*/ 28 w 1317"/>
                  <a:gd name="T103" fmla="*/ 630 h 1041"/>
                  <a:gd name="T104" fmla="*/ 51 w 1317"/>
                  <a:gd name="T105" fmla="*/ 575 h 1041"/>
                  <a:gd name="T106" fmla="*/ 81 w 1317"/>
                  <a:gd name="T107" fmla="*/ 522 h 1041"/>
                  <a:gd name="T108" fmla="*/ 117 w 1317"/>
                  <a:gd name="T109" fmla="*/ 467 h 1041"/>
                  <a:gd name="T110" fmla="*/ 160 w 1317"/>
                  <a:gd name="T111" fmla="*/ 414 h 1041"/>
                  <a:gd name="T112" fmla="*/ 207 w 1317"/>
                  <a:gd name="T113" fmla="*/ 361 h 1041"/>
                  <a:gd name="T114" fmla="*/ 260 w 1317"/>
                  <a:gd name="T115" fmla="*/ 310 h 1041"/>
                  <a:gd name="T116" fmla="*/ 315 w 1317"/>
                  <a:gd name="T117" fmla="*/ 261 h 1041"/>
                  <a:gd name="T118" fmla="*/ 377 w 1317"/>
                  <a:gd name="T119" fmla="*/ 216 h 1041"/>
                  <a:gd name="T120" fmla="*/ 441 w 1317"/>
                  <a:gd name="T121" fmla="*/ 174 h 104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317"/>
                  <a:gd name="T184" fmla="*/ 0 h 1041"/>
                  <a:gd name="T185" fmla="*/ 1317 w 1317"/>
                  <a:gd name="T186" fmla="*/ 1041 h 1041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317" h="1041">
                    <a:moveTo>
                      <a:pt x="441" y="174"/>
                    </a:moveTo>
                    <a:lnTo>
                      <a:pt x="506" y="134"/>
                    </a:lnTo>
                    <a:lnTo>
                      <a:pt x="574" y="100"/>
                    </a:lnTo>
                    <a:lnTo>
                      <a:pt x="643" y="70"/>
                    </a:lnTo>
                    <a:lnTo>
                      <a:pt x="711" y="47"/>
                    </a:lnTo>
                    <a:lnTo>
                      <a:pt x="781" y="26"/>
                    </a:lnTo>
                    <a:lnTo>
                      <a:pt x="847" y="13"/>
                    </a:lnTo>
                    <a:lnTo>
                      <a:pt x="910" y="4"/>
                    </a:lnTo>
                    <a:lnTo>
                      <a:pt x="974" y="0"/>
                    </a:lnTo>
                    <a:lnTo>
                      <a:pt x="1032" y="4"/>
                    </a:lnTo>
                    <a:lnTo>
                      <a:pt x="1087" y="13"/>
                    </a:lnTo>
                    <a:lnTo>
                      <a:pt x="1136" y="26"/>
                    </a:lnTo>
                    <a:lnTo>
                      <a:pt x="1180" y="45"/>
                    </a:lnTo>
                    <a:lnTo>
                      <a:pt x="1219" y="70"/>
                    </a:lnTo>
                    <a:lnTo>
                      <a:pt x="1253" y="100"/>
                    </a:lnTo>
                    <a:lnTo>
                      <a:pt x="1278" y="134"/>
                    </a:lnTo>
                    <a:lnTo>
                      <a:pt x="1297" y="172"/>
                    </a:lnTo>
                    <a:lnTo>
                      <a:pt x="1310" y="214"/>
                    </a:lnTo>
                    <a:lnTo>
                      <a:pt x="1317" y="261"/>
                    </a:lnTo>
                    <a:lnTo>
                      <a:pt x="1314" y="310"/>
                    </a:lnTo>
                    <a:lnTo>
                      <a:pt x="1304" y="359"/>
                    </a:lnTo>
                    <a:lnTo>
                      <a:pt x="1289" y="412"/>
                    </a:lnTo>
                    <a:lnTo>
                      <a:pt x="1265" y="467"/>
                    </a:lnTo>
                    <a:lnTo>
                      <a:pt x="1236" y="520"/>
                    </a:lnTo>
                    <a:lnTo>
                      <a:pt x="1200" y="575"/>
                    </a:lnTo>
                    <a:lnTo>
                      <a:pt x="1157" y="628"/>
                    </a:lnTo>
                    <a:lnTo>
                      <a:pt x="1110" y="681"/>
                    </a:lnTo>
                    <a:lnTo>
                      <a:pt x="1057" y="732"/>
                    </a:lnTo>
                    <a:lnTo>
                      <a:pt x="1000" y="781"/>
                    </a:lnTo>
                    <a:lnTo>
                      <a:pt x="940" y="825"/>
                    </a:lnTo>
                    <a:lnTo>
                      <a:pt x="876" y="868"/>
                    </a:lnTo>
                    <a:lnTo>
                      <a:pt x="810" y="908"/>
                    </a:lnTo>
                    <a:lnTo>
                      <a:pt x="742" y="942"/>
                    </a:lnTo>
                    <a:lnTo>
                      <a:pt x="674" y="971"/>
                    </a:lnTo>
                    <a:lnTo>
                      <a:pt x="604" y="995"/>
                    </a:lnTo>
                    <a:lnTo>
                      <a:pt x="536" y="1016"/>
                    </a:lnTo>
                    <a:lnTo>
                      <a:pt x="470" y="1029"/>
                    </a:lnTo>
                    <a:lnTo>
                      <a:pt x="404" y="1037"/>
                    </a:lnTo>
                    <a:lnTo>
                      <a:pt x="343" y="1041"/>
                    </a:lnTo>
                    <a:lnTo>
                      <a:pt x="283" y="1037"/>
                    </a:lnTo>
                    <a:lnTo>
                      <a:pt x="230" y="1029"/>
                    </a:lnTo>
                    <a:lnTo>
                      <a:pt x="179" y="1016"/>
                    </a:lnTo>
                    <a:lnTo>
                      <a:pt x="134" y="997"/>
                    </a:lnTo>
                    <a:lnTo>
                      <a:pt x="96" y="971"/>
                    </a:lnTo>
                    <a:lnTo>
                      <a:pt x="64" y="942"/>
                    </a:lnTo>
                    <a:lnTo>
                      <a:pt x="37" y="908"/>
                    </a:lnTo>
                    <a:lnTo>
                      <a:pt x="17" y="870"/>
                    </a:lnTo>
                    <a:lnTo>
                      <a:pt x="7" y="827"/>
                    </a:lnTo>
                    <a:lnTo>
                      <a:pt x="0" y="781"/>
                    </a:lnTo>
                    <a:lnTo>
                      <a:pt x="3" y="732"/>
                    </a:lnTo>
                    <a:lnTo>
                      <a:pt x="11" y="681"/>
                    </a:lnTo>
                    <a:lnTo>
                      <a:pt x="28" y="630"/>
                    </a:lnTo>
                    <a:lnTo>
                      <a:pt x="51" y="575"/>
                    </a:lnTo>
                    <a:lnTo>
                      <a:pt x="81" y="522"/>
                    </a:lnTo>
                    <a:lnTo>
                      <a:pt x="117" y="467"/>
                    </a:lnTo>
                    <a:lnTo>
                      <a:pt x="160" y="414"/>
                    </a:lnTo>
                    <a:lnTo>
                      <a:pt x="207" y="361"/>
                    </a:lnTo>
                    <a:lnTo>
                      <a:pt x="260" y="310"/>
                    </a:lnTo>
                    <a:lnTo>
                      <a:pt x="315" y="261"/>
                    </a:lnTo>
                    <a:lnTo>
                      <a:pt x="377" y="216"/>
                    </a:lnTo>
                    <a:lnTo>
                      <a:pt x="441" y="17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31"/>
            <p:cNvGrpSpPr>
              <a:grpSpLocks/>
            </p:cNvGrpSpPr>
            <p:nvPr/>
          </p:nvGrpSpPr>
          <p:grpSpPr bwMode="auto">
            <a:xfrm>
              <a:off x="615950" y="1720850"/>
              <a:ext cx="2906713" cy="1520825"/>
              <a:chOff x="272" y="1372"/>
              <a:chExt cx="1831" cy="958"/>
            </a:xfrm>
          </p:grpSpPr>
          <p:sp>
            <p:nvSpPr>
              <p:cNvPr id="69644" name="Rectangle 32"/>
              <p:cNvSpPr>
                <a:spLocks noChangeArrowheads="1"/>
              </p:cNvSpPr>
              <p:nvPr/>
            </p:nvSpPr>
            <p:spPr bwMode="auto">
              <a:xfrm>
                <a:off x="1165" y="1380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69645" name="Freeform 33"/>
              <p:cNvSpPr>
                <a:spLocks/>
              </p:cNvSpPr>
              <p:nvPr/>
            </p:nvSpPr>
            <p:spPr bwMode="auto">
              <a:xfrm>
                <a:off x="272" y="1372"/>
                <a:ext cx="1831" cy="958"/>
              </a:xfrm>
              <a:custGeom>
                <a:avLst/>
                <a:gdLst>
                  <a:gd name="T0" fmla="*/ 906 w 1831"/>
                  <a:gd name="T1" fmla="*/ 25 h 958"/>
                  <a:gd name="T2" fmla="*/ 1081 w 1831"/>
                  <a:gd name="T3" fmla="*/ 4 h 958"/>
                  <a:gd name="T4" fmla="*/ 1246 w 1831"/>
                  <a:gd name="T5" fmla="*/ 0 h 958"/>
                  <a:gd name="T6" fmla="*/ 1404 w 1831"/>
                  <a:gd name="T7" fmla="*/ 13 h 958"/>
                  <a:gd name="T8" fmla="*/ 1542 w 1831"/>
                  <a:gd name="T9" fmla="*/ 42 h 958"/>
                  <a:gd name="T10" fmla="*/ 1657 w 1831"/>
                  <a:gd name="T11" fmla="*/ 87 h 958"/>
                  <a:gd name="T12" fmla="*/ 1744 w 1831"/>
                  <a:gd name="T13" fmla="*/ 146 h 958"/>
                  <a:gd name="T14" fmla="*/ 1803 w 1831"/>
                  <a:gd name="T15" fmla="*/ 218 h 958"/>
                  <a:gd name="T16" fmla="*/ 1829 w 1831"/>
                  <a:gd name="T17" fmla="*/ 299 h 958"/>
                  <a:gd name="T18" fmla="*/ 1823 w 1831"/>
                  <a:gd name="T19" fmla="*/ 388 h 958"/>
                  <a:gd name="T20" fmla="*/ 1784 w 1831"/>
                  <a:gd name="T21" fmla="*/ 477 h 958"/>
                  <a:gd name="T22" fmla="*/ 1714 w 1831"/>
                  <a:gd name="T23" fmla="*/ 568 h 958"/>
                  <a:gd name="T24" fmla="*/ 1614 w 1831"/>
                  <a:gd name="T25" fmla="*/ 657 h 958"/>
                  <a:gd name="T26" fmla="*/ 1489 w 1831"/>
                  <a:gd name="T27" fmla="*/ 738 h 958"/>
                  <a:gd name="T28" fmla="*/ 1344 w 1831"/>
                  <a:gd name="T29" fmla="*/ 810 h 958"/>
                  <a:gd name="T30" fmla="*/ 1183 w 1831"/>
                  <a:gd name="T31" fmla="*/ 869 h 958"/>
                  <a:gd name="T32" fmla="*/ 1010 w 1831"/>
                  <a:gd name="T33" fmla="*/ 914 h 958"/>
                  <a:gd name="T34" fmla="*/ 838 w 1831"/>
                  <a:gd name="T35" fmla="*/ 946 h 958"/>
                  <a:gd name="T36" fmla="*/ 666 w 1831"/>
                  <a:gd name="T37" fmla="*/ 958 h 958"/>
                  <a:gd name="T38" fmla="*/ 504 w 1831"/>
                  <a:gd name="T39" fmla="*/ 954 h 958"/>
                  <a:gd name="T40" fmla="*/ 356 w 1831"/>
                  <a:gd name="T41" fmla="*/ 933 h 958"/>
                  <a:gd name="T42" fmla="*/ 228 w 1831"/>
                  <a:gd name="T43" fmla="*/ 895 h 958"/>
                  <a:gd name="T44" fmla="*/ 126 w 1831"/>
                  <a:gd name="T45" fmla="*/ 842 h 958"/>
                  <a:gd name="T46" fmla="*/ 51 w 1831"/>
                  <a:gd name="T47" fmla="*/ 776 h 958"/>
                  <a:gd name="T48" fmla="*/ 9 w 1831"/>
                  <a:gd name="T49" fmla="*/ 700 h 958"/>
                  <a:gd name="T50" fmla="*/ 0 w 1831"/>
                  <a:gd name="T51" fmla="*/ 615 h 958"/>
                  <a:gd name="T52" fmla="*/ 22 w 1831"/>
                  <a:gd name="T53" fmla="*/ 524 h 958"/>
                  <a:gd name="T54" fmla="*/ 77 w 1831"/>
                  <a:gd name="T55" fmla="*/ 432 h 958"/>
                  <a:gd name="T56" fmla="*/ 164 w 1831"/>
                  <a:gd name="T57" fmla="*/ 343 h 958"/>
                  <a:gd name="T58" fmla="*/ 277 w 1831"/>
                  <a:gd name="T59" fmla="*/ 259 h 958"/>
                  <a:gd name="T60" fmla="*/ 413 w 1831"/>
                  <a:gd name="T61" fmla="*/ 182 h 958"/>
                  <a:gd name="T62" fmla="*/ 566 w 1831"/>
                  <a:gd name="T63" fmla="*/ 116 h 958"/>
                  <a:gd name="T64" fmla="*/ 732 w 1831"/>
                  <a:gd name="T65" fmla="*/ 63 h 95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31"/>
                  <a:gd name="T100" fmla="*/ 0 h 958"/>
                  <a:gd name="T101" fmla="*/ 1831 w 1831"/>
                  <a:gd name="T102" fmla="*/ 958 h 95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31" h="958">
                    <a:moveTo>
                      <a:pt x="819" y="42"/>
                    </a:moveTo>
                    <a:lnTo>
                      <a:pt x="906" y="25"/>
                    </a:lnTo>
                    <a:lnTo>
                      <a:pt x="993" y="13"/>
                    </a:lnTo>
                    <a:lnTo>
                      <a:pt x="1081" y="4"/>
                    </a:lnTo>
                    <a:lnTo>
                      <a:pt x="1166" y="0"/>
                    </a:lnTo>
                    <a:lnTo>
                      <a:pt x="1246" y="0"/>
                    </a:lnTo>
                    <a:lnTo>
                      <a:pt x="1327" y="4"/>
                    </a:lnTo>
                    <a:lnTo>
                      <a:pt x="1404" y="13"/>
                    </a:lnTo>
                    <a:lnTo>
                      <a:pt x="1474" y="25"/>
                    </a:lnTo>
                    <a:lnTo>
                      <a:pt x="1542" y="42"/>
                    </a:lnTo>
                    <a:lnTo>
                      <a:pt x="1601" y="63"/>
                    </a:lnTo>
                    <a:lnTo>
                      <a:pt x="1657" y="87"/>
                    </a:lnTo>
                    <a:lnTo>
                      <a:pt x="1704" y="116"/>
                    </a:lnTo>
                    <a:lnTo>
                      <a:pt x="1744" y="146"/>
                    </a:lnTo>
                    <a:lnTo>
                      <a:pt x="1778" y="182"/>
                    </a:lnTo>
                    <a:lnTo>
                      <a:pt x="1803" y="218"/>
                    </a:lnTo>
                    <a:lnTo>
                      <a:pt x="1820" y="259"/>
                    </a:lnTo>
                    <a:lnTo>
                      <a:pt x="1829" y="299"/>
                    </a:lnTo>
                    <a:lnTo>
                      <a:pt x="1831" y="343"/>
                    </a:lnTo>
                    <a:lnTo>
                      <a:pt x="1823" y="388"/>
                    </a:lnTo>
                    <a:lnTo>
                      <a:pt x="1808" y="432"/>
                    </a:lnTo>
                    <a:lnTo>
                      <a:pt x="1784" y="477"/>
                    </a:lnTo>
                    <a:lnTo>
                      <a:pt x="1752" y="524"/>
                    </a:lnTo>
                    <a:lnTo>
                      <a:pt x="1714" y="568"/>
                    </a:lnTo>
                    <a:lnTo>
                      <a:pt x="1667" y="613"/>
                    </a:lnTo>
                    <a:lnTo>
                      <a:pt x="1614" y="657"/>
                    </a:lnTo>
                    <a:lnTo>
                      <a:pt x="1555" y="698"/>
                    </a:lnTo>
                    <a:lnTo>
                      <a:pt x="1489" y="738"/>
                    </a:lnTo>
                    <a:lnTo>
                      <a:pt x="1419" y="774"/>
                    </a:lnTo>
                    <a:lnTo>
                      <a:pt x="1344" y="810"/>
                    </a:lnTo>
                    <a:lnTo>
                      <a:pt x="1263" y="842"/>
                    </a:lnTo>
                    <a:lnTo>
                      <a:pt x="1183" y="869"/>
                    </a:lnTo>
                    <a:lnTo>
                      <a:pt x="1098" y="895"/>
                    </a:lnTo>
                    <a:lnTo>
                      <a:pt x="1010" y="914"/>
                    </a:lnTo>
                    <a:lnTo>
                      <a:pt x="925" y="931"/>
                    </a:lnTo>
                    <a:lnTo>
                      <a:pt x="838" y="946"/>
                    </a:lnTo>
                    <a:lnTo>
                      <a:pt x="751" y="954"/>
                    </a:lnTo>
                    <a:lnTo>
                      <a:pt x="666" y="958"/>
                    </a:lnTo>
                    <a:lnTo>
                      <a:pt x="583" y="958"/>
                    </a:lnTo>
                    <a:lnTo>
                      <a:pt x="504" y="954"/>
                    </a:lnTo>
                    <a:lnTo>
                      <a:pt x="428" y="946"/>
                    </a:lnTo>
                    <a:lnTo>
                      <a:pt x="356" y="933"/>
                    </a:lnTo>
                    <a:lnTo>
                      <a:pt x="290" y="916"/>
                    </a:lnTo>
                    <a:lnTo>
                      <a:pt x="228" y="895"/>
                    </a:lnTo>
                    <a:lnTo>
                      <a:pt x="175" y="869"/>
                    </a:lnTo>
                    <a:lnTo>
                      <a:pt x="126" y="842"/>
                    </a:lnTo>
                    <a:lnTo>
                      <a:pt x="86" y="810"/>
                    </a:lnTo>
                    <a:lnTo>
                      <a:pt x="51" y="776"/>
                    </a:lnTo>
                    <a:lnTo>
                      <a:pt x="26" y="738"/>
                    </a:lnTo>
                    <a:lnTo>
                      <a:pt x="9" y="700"/>
                    </a:lnTo>
                    <a:lnTo>
                      <a:pt x="0" y="657"/>
                    </a:lnTo>
                    <a:lnTo>
                      <a:pt x="0" y="615"/>
                    </a:lnTo>
                    <a:lnTo>
                      <a:pt x="7" y="570"/>
                    </a:lnTo>
                    <a:lnTo>
                      <a:pt x="22" y="524"/>
                    </a:lnTo>
                    <a:lnTo>
                      <a:pt x="47" y="479"/>
                    </a:lnTo>
                    <a:lnTo>
                      <a:pt x="77" y="432"/>
                    </a:lnTo>
                    <a:lnTo>
                      <a:pt x="117" y="388"/>
                    </a:lnTo>
                    <a:lnTo>
                      <a:pt x="164" y="343"/>
                    </a:lnTo>
                    <a:lnTo>
                      <a:pt x="217" y="301"/>
                    </a:lnTo>
                    <a:lnTo>
                      <a:pt x="277" y="259"/>
                    </a:lnTo>
                    <a:lnTo>
                      <a:pt x="341" y="220"/>
                    </a:lnTo>
                    <a:lnTo>
                      <a:pt x="413" y="182"/>
                    </a:lnTo>
                    <a:lnTo>
                      <a:pt x="487" y="148"/>
                    </a:lnTo>
                    <a:lnTo>
                      <a:pt x="566" y="116"/>
                    </a:lnTo>
                    <a:lnTo>
                      <a:pt x="649" y="89"/>
                    </a:lnTo>
                    <a:lnTo>
                      <a:pt x="732" y="63"/>
                    </a:lnTo>
                    <a:lnTo>
                      <a:pt x="819" y="4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34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676400"/>
            <a:ext cx="4000500" cy="1836738"/>
          </a:xfrm>
          <a:noFill/>
        </p:spPr>
      </p:pic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228600" y="4267200"/>
            <a:ext cx="4648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Dist({3,6}, {2,5})=max(dist(3,2), dist(6,2), dist(3,5), </a:t>
            </a:r>
            <a:r>
              <a:rPr lang="en-US" altLang="en-US" sz="1800" dirty="0" err="1"/>
              <a:t>dis</a:t>
            </a:r>
            <a:r>
              <a:rPr lang="en-US" altLang="en-US" sz="1800" dirty="0"/>
              <a:t>(6,5))=max(.15, .25, .28, .39)=.39</a:t>
            </a:r>
          </a:p>
        </p:txBody>
      </p: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228600" y="5181600"/>
            <a:ext cx="4648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Dist({3,6}, {4})=max(dist(3,4), dist(6,4))=max(.15, .22)=.22</a:t>
            </a: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304800" y="6096000"/>
            <a:ext cx="4648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Dist({3,6}, {1})=max(dist(3,1), dist(6,1))=max(.22, .23)=.23</a:t>
            </a:r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228600" y="3886200"/>
            <a:ext cx="137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i="1" u="sng" dirty="0"/>
              <a:t>Cluster 3: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76</a:t>
            </a:fld>
            <a:endParaRPr lang="en-US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Strength of MAX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1370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70660" name="Text Box 6"/>
          <p:cNvSpPr txBox="1">
            <a:spLocks noChangeArrowheads="1"/>
          </p:cNvSpPr>
          <p:nvPr/>
        </p:nvSpPr>
        <p:spPr bwMode="auto">
          <a:xfrm>
            <a:off x="5180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70661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Less susceptible to noise and outliers</a:t>
            </a:r>
          </a:p>
        </p:txBody>
      </p:sp>
      <p:pic>
        <p:nvPicPr>
          <p:cNvPr id="7066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1066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1066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77</a:t>
            </a:fld>
            <a:endParaRPr lang="en-US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Limitations of MAX</a:t>
            </a:r>
          </a:p>
        </p:txBody>
      </p:sp>
      <p:sp>
        <p:nvSpPr>
          <p:cNvPr id="71683" name="Text Box 4"/>
          <p:cNvSpPr txBox="1">
            <a:spLocks noChangeArrowheads="1"/>
          </p:cNvSpPr>
          <p:nvPr/>
        </p:nvSpPr>
        <p:spPr bwMode="auto">
          <a:xfrm>
            <a:off x="1066800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71684" name="Text Box 7"/>
          <p:cNvSpPr txBox="1">
            <a:spLocks noChangeArrowheads="1"/>
          </p:cNvSpPr>
          <p:nvPr/>
        </p:nvSpPr>
        <p:spPr bwMode="auto">
          <a:xfrm>
            <a:off x="5180013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71685" name="Text Box 8"/>
          <p:cNvSpPr txBox="1">
            <a:spLocks noChangeArrowheads="1"/>
          </p:cNvSpPr>
          <p:nvPr/>
        </p:nvSpPr>
        <p:spPr bwMode="auto">
          <a:xfrm>
            <a:off x="609600" y="5486400"/>
            <a:ext cx="6324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Tends to break large clusters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Biased towards globular clusters</a:t>
            </a:r>
          </a:p>
        </p:txBody>
      </p:sp>
      <p:pic>
        <p:nvPicPr>
          <p:cNvPr id="71686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3716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7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13716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78</a:t>
            </a:fld>
            <a:endParaRPr lang="en-US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543800" cy="808038"/>
          </a:xfrm>
        </p:spPr>
        <p:txBody>
          <a:bodyPr/>
          <a:lstStyle/>
          <a:p>
            <a:r>
              <a:rPr lang="en-US" altLang="en-US" dirty="0"/>
              <a:t>Group Average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505200"/>
          </a:xfrm>
        </p:spPr>
        <p:txBody>
          <a:bodyPr/>
          <a:lstStyle/>
          <a:p>
            <a:r>
              <a:rPr lang="en-US" altLang="en-US" sz="2200"/>
              <a:t>Proximity of two clusters is the average of pairwise proximity between points in the two clusters.</a:t>
            </a:r>
          </a:p>
          <a:p>
            <a:endParaRPr lang="en-US" altLang="en-US" sz="2200"/>
          </a:p>
          <a:p>
            <a:endParaRPr lang="en-US" altLang="en-US" sz="2200"/>
          </a:p>
          <a:p>
            <a:pPr lvl="4"/>
            <a:endParaRPr lang="en-US" altLang="en-US" sz="1800"/>
          </a:p>
          <a:p>
            <a:r>
              <a:rPr lang="en-US" altLang="en-US" sz="2200"/>
              <a:t>Need to use average connectivity for scalability since total proximity favors large clusters</a:t>
            </a:r>
          </a:p>
          <a:p>
            <a:endParaRPr lang="en-US" altLang="en-US" sz="2200"/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2057400" y="19050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500" imgH="698500" progId="Equation.3">
                  <p:embed/>
                </p:oleObj>
              </mc:Choice>
              <mc:Fallback>
                <p:oleObj name="Equation" r:id="rId2" imgW="3873500" imgH="6985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5575300" cy="9985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838200" y="3810000"/>
            <a:ext cx="32766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411663"/>
            <a:ext cx="4000500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5715000" y="3954463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79</a:t>
            </a:fld>
            <a:endParaRPr lang="en-US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143000"/>
          </a:xfrm>
        </p:spPr>
        <p:txBody>
          <a:bodyPr/>
          <a:lstStyle/>
          <a:p>
            <a:r>
              <a:rPr lang="en-US" altLang="en-US" dirty="0"/>
              <a:t>Hierarchical Clustering: Group Average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5562600" y="5562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769" y="2971800"/>
            <a:ext cx="414408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34"/>
          <p:cNvGrpSpPr/>
          <p:nvPr/>
        </p:nvGrpSpPr>
        <p:grpSpPr>
          <a:xfrm>
            <a:off x="228600" y="1295400"/>
            <a:ext cx="3330575" cy="3025775"/>
            <a:chOff x="403225" y="1622425"/>
            <a:chExt cx="3659188" cy="346075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808038" y="1987550"/>
              <a:ext cx="2901950" cy="2544763"/>
              <a:chOff x="509" y="1252"/>
              <a:chExt cx="1828" cy="1603"/>
            </a:xfrm>
          </p:grpSpPr>
          <p:sp>
            <p:nvSpPr>
              <p:cNvPr id="73750" name="Freeform 7"/>
              <p:cNvSpPr>
                <a:spLocks/>
              </p:cNvSpPr>
              <p:nvPr/>
            </p:nvSpPr>
            <p:spPr bwMode="auto">
              <a:xfrm>
                <a:off x="1058" y="1885"/>
                <a:ext cx="79" cy="81"/>
              </a:xfrm>
              <a:custGeom>
                <a:avLst/>
                <a:gdLst>
                  <a:gd name="T0" fmla="*/ 0 w 79"/>
                  <a:gd name="T1" fmla="*/ 40 h 81"/>
                  <a:gd name="T2" fmla="*/ 2 w 79"/>
                  <a:gd name="T3" fmla="*/ 24 h 81"/>
                  <a:gd name="T4" fmla="*/ 12 w 79"/>
                  <a:gd name="T5" fmla="*/ 12 h 81"/>
                  <a:gd name="T6" fmla="*/ 24 w 79"/>
                  <a:gd name="T7" fmla="*/ 2 h 81"/>
                  <a:gd name="T8" fmla="*/ 40 w 79"/>
                  <a:gd name="T9" fmla="*/ 0 h 81"/>
                  <a:gd name="T10" fmla="*/ 56 w 79"/>
                  <a:gd name="T11" fmla="*/ 2 h 81"/>
                  <a:gd name="T12" fmla="*/ 68 w 79"/>
                  <a:gd name="T13" fmla="*/ 12 h 81"/>
                  <a:gd name="T14" fmla="*/ 77 w 79"/>
                  <a:gd name="T15" fmla="*/ 24 h 81"/>
                  <a:gd name="T16" fmla="*/ 79 w 79"/>
                  <a:gd name="T17" fmla="*/ 40 h 81"/>
                  <a:gd name="T18" fmla="*/ 77 w 79"/>
                  <a:gd name="T19" fmla="*/ 55 h 81"/>
                  <a:gd name="T20" fmla="*/ 68 w 79"/>
                  <a:gd name="T21" fmla="*/ 69 h 81"/>
                  <a:gd name="T22" fmla="*/ 56 w 79"/>
                  <a:gd name="T23" fmla="*/ 77 h 81"/>
                  <a:gd name="T24" fmla="*/ 40 w 79"/>
                  <a:gd name="T25" fmla="*/ 81 h 81"/>
                  <a:gd name="T26" fmla="*/ 24 w 79"/>
                  <a:gd name="T27" fmla="*/ 77 h 81"/>
                  <a:gd name="T28" fmla="*/ 12 w 79"/>
                  <a:gd name="T29" fmla="*/ 69 h 81"/>
                  <a:gd name="T30" fmla="*/ 2 w 79"/>
                  <a:gd name="T31" fmla="*/ 55 h 81"/>
                  <a:gd name="T32" fmla="*/ 0 w 79"/>
                  <a:gd name="T33" fmla="*/ 4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9"/>
                  <a:gd name="T52" fmla="*/ 0 h 81"/>
                  <a:gd name="T53" fmla="*/ 79 w 79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9" h="81">
                    <a:moveTo>
                      <a:pt x="0" y="40"/>
                    </a:moveTo>
                    <a:lnTo>
                      <a:pt x="2" y="24"/>
                    </a:lnTo>
                    <a:lnTo>
                      <a:pt x="12" y="12"/>
                    </a:lnTo>
                    <a:lnTo>
                      <a:pt x="24" y="2"/>
                    </a:lnTo>
                    <a:lnTo>
                      <a:pt x="40" y="0"/>
                    </a:lnTo>
                    <a:lnTo>
                      <a:pt x="56" y="2"/>
                    </a:lnTo>
                    <a:lnTo>
                      <a:pt x="68" y="12"/>
                    </a:lnTo>
                    <a:lnTo>
                      <a:pt x="77" y="24"/>
                    </a:lnTo>
                    <a:lnTo>
                      <a:pt x="79" y="40"/>
                    </a:lnTo>
                    <a:lnTo>
                      <a:pt x="77" y="55"/>
                    </a:lnTo>
                    <a:lnTo>
                      <a:pt x="68" y="69"/>
                    </a:lnTo>
                    <a:lnTo>
                      <a:pt x="56" y="77"/>
                    </a:lnTo>
                    <a:lnTo>
                      <a:pt x="40" y="81"/>
                    </a:lnTo>
                    <a:lnTo>
                      <a:pt x="24" y="77"/>
                    </a:lnTo>
                    <a:lnTo>
                      <a:pt x="12" y="69"/>
                    </a:lnTo>
                    <a:lnTo>
                      <a:pt x="2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1" name="Freeform 8"/>
              <p:cNvSpPr>
                <a:spLocks/>
              </p:cNvSpPr>
              <p:nvPr/>
            </p:nvSpPr>
            <p:spPr bwMode="auto">
              <a:xfrm>
                <a:off x="1810" y="1300"/>
                <a:ext cx="81" cy="81"/>
              </a:xfrm>
              <a:custGeom>
                <a:avLst/>
                <a:gdLst>
                  <a:gd name="T0" fmla="*/ 0 w 81"/>
                  <a:gd name="T1" fmla="*/ 39 h 81"/>
                  <a:gd name="T2" fmla="*/ 2 w 81"/>
                  <a:gd name="T3" fmla="*/ 23 h 81"/>
                  <a:gd name="T4" fmla="*/ 11 w 81"/>
                  <a:gd name="T5" fmla="*/ 12 h 81"/>
                  <a:gd name="T6" fmla="*/ 23 w 81"/>
                  <a:gd name="T7" fmla="*/ 2 h 81"/>
                  <a:gd name="T8" fmla="*/ 39 w 81"/>
                  <a:gd name="T9" fmla="*/ 0 h 81"/>
                  <a:gd name="T10" fmla="*/ 55 w 81"/>
                  <a:gd name="T11" fmla="*/ 2 h 81"/>
                  <a:gd name="T12" fmla="*/ 69 w 81"/>
                  <a:gd name="T13" fmla="*/ 12 h 81"/>
                  <a:gd name="T14" fmla="*/ 77 w 81"/>
                  <a:gd name="T15" fmla="*/ 23 h 81"/>
                  <a:gd name="T16" fmla="*/ 81 w 81"/>
                  <a:gd name="T17" fmla="*/ 39 h 81"/>
                  <a:gd name="T18" fmla="*/ 77 w 81"/>
                  <a:gd name="T19" fmla="*/ 55 h 81"/>
                  <a:gd name="T20" fmla="*/ 69 w 81"/>
                  <a:gd name="T21" fmla="*/ 69 h 81"/>
                  <a:gd name="T22" fmla="*/ 55 w 81"/>
                  <a:gd name="T23" fmla="*/ 77 h 81"/>
                  <a:gd name="T24" fmla="*/ 39 w 81"/>
                  <a:gd name="T25" fmla="*/ 81 h 81"/>
                  <a:gd name="T26" fmla="*/ 23 w 81"/>
                  <a:gd name="T27" fmla="*/ 77 h 81"/>
                  <a:gd name="T28" fmla="*/ 11 w 81"/>
                  <a:gd name="T29" fmla="*/ 69 h 81"/>
                  <a:gd name="T30" fmla="*/ 2 w 81"/>
                  <a:gd name="T31" fmla="*/ 55 h 81"/>
                  <a:gd name="T32" fmla="*/ 0 w 81"/>
                  <a:gd name="T33" fmla="*/ 39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81"/>
                  <a:gd name="T53" fmla="*/ 81 w 81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81">
                    <a:moveTo>
                      <a:pt x="0" y="39"/>
                    </a:moveTo>
                    <a:lnTo>
                      <a:pt x="2" y="23"/>
                    </a:lnTo>
                    <a:lnTo>
                      <a:pt x="11" y="12"/>
                    </a:lnTo>
                    <a:lnTo>
                      <a:pt x="23" y="2"/>
                    </a:lnTo>
                    <a:lnTo>
                      <a:pt x="39" y="0"/>
                    </a:lnTo>
                    <a:lnTo>
                      <a:pt x="55" y="2"/>
                    </a:lnTo>
                    <a:lnTo>
                      <a:pt x="69" y="12"/>
                    </a:lnTo>
                    <a:lnTo>
                      <a:pt x="77" y="23"/>
                    </a:lnTo>
                    <a:lnTo>
                      <a:pt x="81" y="39"/>
                    </a:lnTo>
                    <a:lnTo>
                      <a:pt x="77" y="55"/>
                    </a:lnTo>
                    <a:lnTo>
                      <a:pt x="69" y="69"/>
                    </a:lnTo>
                    <a:lnTo>
                      <a:pt x="55" y="77"/>
                    </a:lnTo>
                    <a:lnTo>
                      <a:pt x="39" y="81"/>
                    </a:lnTo>
                    <a:lnTo>
                      <a:pt x="23" y="77"/>
                    </a:lnTo>
                    <a:lnTo>
                      <a:pt x="11" y="69"/>
                    </a:lnTo>
                    <a:lnTo>
                      <a:pt x="2" y="55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2" name="Freeform 9"/>
              <p:cNvSpPr>
                <a:spLocks/>
              </p:cNvSpPr>
              <p:nvPr/>
            </p:nvSpPr>
            <p:spPr bwMode="auto">
              <a:xfrm>
                <a:off x="1262" y="2683"/>
                <a:ext cx="81" cy="81"/>
              </a:xfrm>
              <a:custGeom>
                <a:avLst/>
                <a:gdLst>
                  <a:gd name="T0" fmla="*/ 0 w 81"/>
                  <a:gd name="T1" fmla="*/ 40 h 81"/>
                  <a:gd name="T2" fmla="*/ 2 w 81"/>
                  <a:gd name="T3" fmla="*/ 24 h 81"/>
                  <a:gd name="T4" fmla="*/ 12 w 81"/>
                  <a:gd name="T5" fmla="*/ 12 h 81"/>
                  <a:gd name="T6" fmla="*/ 24 w 81"/>
                  <a:gd name="T7" fmla="*/ 2 h 81"/>
                  <a:gd name="T8" fmla="*/ 40 w 81"/>
                  <a:gd name="T9" fmla="*/ 0 h 81"/>
                  <a:gd name="T10" fmla="*/ 55 w 81"/>
                  <a:gd name="T11" fmla="*/ 2 h 81"/>
                  <a:gd name="T12" fmla="*/ 69 w 81"/>
                  <a:gd name="T13" fmla="*/ 12 h 81"/>
                  <a:gd name="T14" fmla="*/ 77 w 81"/>
                  <a:gd name="T15" fmla="*/ 24 h 81"/>
                  <a:gd name="T16" fmla="*/ 81 w 81"/>
                  <a:gd name="T17" fmla="*/ 40 h 81"/>
                  <a:gd name="T18" fmla="*/ 77 w 81"/>
                  <a:gd name="T19" fmla="*/ 56 h 81"/>
                  <a:gd name="T20" fmla="*/ 69 w 81"/>
                  <a:gd name="T21" fmla="*/ 69 h 81"/>
                  <a:gd name="T22" fmla="*/ 55 w 81"/>
                  <a:gd name="T23" fmla="*/ 77 h 81"/>
                  <a:gd name="T24" fmla="*/ 40 w 81"/>
                  <a:gd name="T25" fmla="*/ 81 h 81"/>
                  <a:gd name="T26" fmla="*/ 24 w 81"/>
                  <a:gd name="T27" fmla="*/ 77 h 81"/>
                  <a:gd name="T28" fmla="*/ 12 w 81"/>
                  <a:gd name="T29" fmla="*/ 69 h 81"/>
                  <a:gd name="T30" fmla="*/ 2 w 81"/>
                  <a:gd name="T31" fmla="*/ 56 h 81"/>
                  <a:gd name="T32" fmla="*/ 0 w 81"/>
                  <a:gd name="T33" fmla="*/ 4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81"/>
                  <a:gd name="T53" fmla="*/ 81 w 81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81">
                    <a:moveTo>
                      <a:pt x="0" y="40"/>
                    </a:moveTo>
                    <a:lnTo>
                      <a:pt x="2" y="24"/>
                    </a:lnTo>
                    <a:lnTo>
                      <a:pt x="12" y="12"/>
                    </a:lnTo>
                    <a:lnTo>
                      <a:pt x="24" y="2"/>
                    </a:lnTo>
                    <a:lnTo>
                      <a:pt x="40" y="0"/>
                    </a:lnTo>
                    <a:lnTo>
                      <a:pt x="55" y="2"/>
                    </a:lnTo>
                    <a:lnTo>
                      <a:pt x="69" y="12"/>
                    </a:lnTo>
                    <a:lnTo>
                      <a:pt x="77" y="24"/>
                    </a:lnTo>
                    <a:lnTo>
                      <a:pt x="81" y="40"/>
                    </a:lnTo>
                    <a:lnTo>
                      <a:pt x="77" y="56"/>
                    </a:lnTo>
                    <a:lnTo>
                      <a:pt x="69" y="69"/>
                    </a:lnTo>
                    <a:lnTo>
                      <a:pt x="55" y="77"/>
                    </a:lnTo>
                    <a:lnTo>
                      <a:pt x="40" y="81"/>
                    </a:lnTo>
                    <a:lnTo>
                      <a:pt x="24" y="77"/>
                    </a:lnTo>
                    <a:lnTo>
                      <a:pt x="12" y="69"/>
                    </a:lnTo>
                    <a:lnTo>
                      <a:pt x="2" y="56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3" name="Freeform 10"/>
              <p:cNvSpPr>
                <a:spLocks/>
              </p:cNvSpPr>
              <p:nvPr/>
            </p:nvSpPr>
            <p:spPr bwMode="auto">
              <a:xfrm>
                <a:off x="509" y="1769"/>
                <a:ext cx="81" cy="81"/>
              </a:xfrm>
              <a:custGeom>
                <a:avLst/>
                <a:gdLst>
                  <a:gd name="T0" fmla="*/ 0 w 81"/>
                  <a:gd name="T1" fmla="*/ 41 h 81"/>
                  <a:gd name="T2" fmla="*/ 2 w 81"/>
                  <a:gd name="T3" fmla="*/ 25 h 81"/>
                  <a:gd name="T4" fmla="*/ 12 w 81"/>
                  <a:gd name="T5" fmla="*/ 12 h 81"/>
                  <a:gd name="T6" fmla="*/ 24 w 81"/>
                  <a:gd name="T7" fmla="*/ 4 h 81"/>
                  <a:gd name="T8" fmla="*/ 39 w 81"/>
                  <a:gd name="T9" fmla="*/ 0 h 81"/>
                  <a:gd name="T10" fmla="*/ 55 w 81"/>
                  <a:gd name="T11" fmla="*/ 4 h 81"/>
                  <a:gd name="T12" fmla="*/ 69 w 81"/>
                  <a:gd name="T13" fmla="*/ 12 h 81"/>
                  <a:gd name="T14" fmla="*/ 77 w 81"/>
                  <a:gd name="T15" fmla="*/ 25 h 81"/>
                  <a:gd name="T16" fmla="*/ 81 w 81"/>
                  <a:gd name="T17" fmla="*/ 41 h 81"/>
                  <a:gd name="T18" fmla="*/ 77 w 81"/>
                  <a:gd name="T19" fmla="*/ 57 h 81"/>
                  <a:gd name="T20" fmla="*/ 69 w 81"/>
                  <a:gd name="T21" fmla="*/ 69 h 81"/>
                  <a:gd name="T22" fmla="*/ 55 w 81"/>
                  <a:gd name="T23" fmla="*/ 79 h 81"/>
                  <a:gd name="T24" fmla="*/ 39 w 81"/>
                  <a:gd name="T25" fmla="*/ 81 h 81"/>
                  <a:gd name="T26" fmla="*/ 24 w 81"/>
                  <a:gd name="T27" fmla="*/ 79 h 81"/>
                  <a:gd name="T28" fmla="*/ 12 w 81"/>
                  <a:gd name="T29" fmla="*/ 69 h 81"/>
                  <a:gd name="T30" fmla="*/ 2 w 81"/>
                  <a:gd name="T31" fmla="*/ 57 h 81"/>
                  <a:gd name="T32" fmla="*/ 0 w 81"/>
                  <a:gd name="T33" fmla="*/ 41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81"/>
                  <a:gd name="T53" fmla="*/ 81 w 81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81">
                    <a:moveTo>
                      <a:pt x="0" y="41"/>
                    </a:moveTo>
                    <a:lnTo>
                      <a:pt x="2" y="25"/>
                    </a:lnTo>
                    <a:lnTo>
                      <a:pt x="12" y="12"/>
                    </a:lnTo>
                    <a:lnTo>
                      <a:pt x="24" y="4"/>
                    </a:lnTo>
                    <a:lnTo>
                      <a:pt x="39" y="0"/>
                    </a:lnTo>
                    <a:lnTo>
                      <a:pt x="55" y="4"/>
                    </a:lnTo>
                    <a:lnTo>
                      <a:pt x="69" y="12"/>
                    </a:lnTo>
                    <a:lnTo>
                      <a:pt x="77" y="25"/>
                    </a:lnTo>
                    <a:lnTo>
                      <a:pt x="81" y="41"/>
                    </a:lnTo>
                    <a:lnTo>
                      <a:pt x="77" y="57"/>
                    </a:lnTo>
                    <a:lnTo>
                      <a:pt x="69" y="69"/>
                    </a:lnTo>
                    <a:lnTo>
                      <a:pt x="55" y="79"/>
                    </a:lnTo>
                    <a:lnTo>
                      <a:pt x="39" y="81"/>
                    </a:lnTo>
                    <a:lnTo>
                      <a:pt x="24" y="79"/>
                    </a:lnTo>
                    <a:lnTo>
                      <a:pt x="12" y="69"/>
                    </a:lnTo>
                    <a:lnTo>
                      <a:pt x="2" y="57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4" name="Freeform 11"/>
              <p:cNvSpPr>
                <a:spLocks/>
              </p:cNvSpPr>
              <p:nvPr/>
            </p:nvSpPr>
            <p:spPr bwMode="auto">
              <a:xfrm>
                <a:off x="1586" y="2167"/>
                <a:ext cx="81" cy="79"/>
              </a:xfrm>
              <a:custGeom>
                <a:avLst/>
                <a:gdLst>
                  <a:gd name="T0" fmla="*/ 0 w 81"/>
                  <a:gd name="T1" fmla="*/ 39 h 79"/>
                  <a:gd name="T2" fmla="*/ 4 w 81"/>
                  <a:gd name="T3" fmla="*/ 24 h 79"/>
                  <a:gd name="T4" fmla="*/ 12 w 81"/>
                  <a:gd name="T5" fmla="*/ 12 h 79"/>
                  <a:gd name="T6" fmla="*/ 26 w 81"/>
                  <a:gd name="T7" fmla="*/ 2 h 79"/>
                  <a:gd name="T8" fmla="*/ 42 w 81"/>
                  <a:gd name="T9" fmla="*/ 0 h 79"/>
                  <a:gd name="T10" fmla="*/ 58 w 81"/>
                  <a:gd name="T11" fmla="*/ 2 h 79"/>
                  <a:gd name="T12" fmla="*/ 69 w 81"/>
                  <a:gd name="T13" fmla="*/ 12 h 79"/>
                  <a:gd name="T14" fmla="*/ 79 w 81"/>
                  <a:gd name="T15" fmla="*/ 24 h 79"/>
                  <a:gd name="T16" fmla="*/ 81 w 81"/>
                  <a:gd name="T17" fmla="*/ 39 h 79"/>
                  <a:gd name="T18" fmla="*/ 79 w 81"/>
                  <a:gd name="T19" fmla="*/ 55 h 79"/>
                  <a:gd name="T20" fmla="*/ 69 w 81"/>
                  <a:gd name="T21" fmla="*/ 67 h 79"/>
                  <a:gd name="T22" fmla="*/ 58 w 81"/>
                  <a:gd name="T23" fmla="*/ 77 h 79"/>
                  <a:gd name="T24" fmla="*/ 42 w 81"/>
                  <a:gd name="T25" fmla="*/ 79 h 79"/>
                  <a:gd name="T26" fmla="*/ 26 w 81"/>
                  <a:gd name="T27" fmla="*/ 77 h 79"/>
                  <a:gd name="T28" fmla="*/ 12 w 81"/>
                  <a:gd name="T29" fmla="*/ 67 h 79"/>
                  <a:gd name="T30" fmla="*/ 4 w 81"/>
                  <a:gd name="T31" fmla="*/ 55 h 79"/>
                  <a:gd name="T32" fmla="*/ 0 w 81"/>
                  <a:gd name="T33" fmla="*/ 39 h 7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79"/>
                  <a:gd name="T53" fmla="*/ 81 w 81"/>
                  <a:gd name="T54" fmla="*/ 79 h 7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79">
                    <a:moveTo>
                      <a:pt x="0" y="39"/>
                    </a:moveTo>
                    <a:lnTo>
                      <a:pt x="4" y="24"/>
                    </a:lnTo>
                    <a:lnTo>
                      <a:pt x="12" y="12"/>
                    </a:lnTo>
                    <a:lnTo>
                      <a:pt x="26" y="2"/>
                    </a:lnTo>
                    <a:lnTo>
                      <a:pt x="42" y="0"/>
                    </a:lnTo>
                    <a:lnTo>
                      <a:pt x="58" y="2"/>
                    </a:lnTo>
                    <a:lnTo>
                      <a:pt x="69" y="12"/>
                    </a:lnTo>
                    <a:lnTo>
                      <a:pt x="79" y="24"/>
                    </a:lnTo>
                    <a:lnTo>
                      <a:pt x="81" y="39"/>
                    </a:lnTo>
                    <a:lnTo>
                      <a:pt x="79" y="55"/>
                    </a:lnTo>
                    <a:lnTo>
                      <a:pt x="69" y="67"/>
                    </a:lnTo>
                    <a:lnTo>
                      <a:pt x="58" y="77"/>
                    </a:lnTo>
                    <a:lnTo>
                      <a:pt x="42" y="79"/>
                    </a:lnTo>
                    <a:lnTo>
                      <a:pt x="26" y="77"/>
                    </a:lnTo>
                    <a:lnTo>
                      <a:pt x="12" y="67"/>
                    </a:lnTo>
                    <a:lnTo>
                      <a:pt x="4" y="55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5" name="Freeform 12"/>
              <p:cNvSpPr>
                <a:spLocks/>
              </p:cNvSpPr>
              <p:nvPr/>
            </p:nvSpPr>
            <p:spPr bwMode="auto">
              <a:xfrm>
                <a:off x="2029" y="2220"/>
                <a:ext cx="81" cy="81"/>
              </a:xfrm>
              <a:custGeom>
                <a:avLst/>
                <a:gdLst>
                  <a:gd name="T0" fmla="*/ 0 w 81"/>
                  <a:gd name="T1" fmla="*/ 40 h 81"/>
                  <a:gd name="T2" fmla="*/ 2 w 81"/>
                  <a:gd name="T3" fmla="*/ 26 h 81"/>
                  <a:gd name="T4" fmla="*/ 12 w 81"/>
                  <a:gd name="T5" fmla="*/ 12 h 81"/>
                  <a:gd name="T6" fmla="*/ 24 w 81"/>
                  <a:gd name="T7" fmla="*/ 4 h 81"/>
                  <a:gd name="T8" fmla="*/ 40 w 81"/>
                  <a:gd name="T9" fmla="*/ 0 h 81"/>
                  <a:gd name="T10" fmla="*/ 55 w 81"/>
                  <a:gd name="T11" fmla="*/ 4 h 81"/>
                  <a:gd name="T12" fmla="*/ 69 w 81"/>
                  <a:gd name="T13" fmla="*/ 12 h 81"/>
                  <a:gd name="T14" fmla="*/ 77 w 81"/>
                  <a:gd name="T15" fmla="*/ 26 h 81"/>
                  <a:gd name="T16" fmla="*/ 81 w 81"/>
                  <a:gd name="T17" fmla="*/ 40 h 81"/>
                  <a:gd name="T18" fmla="*/ 77 w 81"/>
                  <a:gd name="T19" fmla="*/ 55 h 81"/>
                  <a:gd name="T20" fmla="*/ 69 w 81"/>
                  <a:gd name="T21" fmla="*/ 69 h 81"/>
                  <a:gd name="T22" fmla="*/ 55 w 81"/>
                  <a:gd name="T23" fmla="*/ 77 h 81"/>
                  <a:gd name="T24" fmla="*/ 40 w 81"/>
                  <a:gd name="T25" fmla="*/ 81 h 81"/>
                  <a:gd name="T26" fmla="*/ 24 w 81"/>
                  <a:gd name="T27" fmla="*/ 77 h 81"/>
                  <a:gd name="T28" fmla="*/ 12 w 81"/>
                  <a:gd name="T29" fmla="*/ 69 h 81"/>
                  <a:gd name="T30" fmla="*/ 2 w 81"/>
                  <a:gd name="T31" fmla="*/ 55 h 81"/>
                  <a:gd name="T32" fmla="*/ 0 w 81"/>
                  <a:gd name="T33" fmla="*/ 4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81"/>
                  <a:gd name="T53" fmla="*/ 81 w 81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81">
                    <a:moveTo>
                      <a:pt x="0" y="40"/>
                    </a:moveTo>
                    <a:lnTo>
                      <a:pt x="2" y="26"/>
                    </a:lnTo>
                    <a:lnTo>
                      <a:pt x="12" y="12"/>
                    </a:lnTo>
                    <a:lnTo>
                      <a:pt x="24" y="4"/>
                    </a:lnTo>
                    <a:lnTo>
                      <a:pt x="40" y="0"/>
                    </a:lnTo>
                    <a:lnTo>
                      <a:pt x="55" y="4"/>
                    </a:lnTo>
                    <a:lnTo>
                      <a:pt x="69" y="12"/>
                    </a:lnTo>
                    <a:lnTo>
                      <a:pt x="77" y="26"/>
                    </a:lnTo>
                    <a:lnTo>
                      <a:pt x="81" y="40"/>
                    </a:lnTo>
                    <a:lnTo>
                      <a:pt x="77" y="55"/>
                    </a:lnTo>
                    <a:lnTo>
                      <a:pt x="69" y="69"/>
                    </a:lnTo>
                    <a:lnTo>
                      <a:pt x="55" y="77"/>
                    </a:lnTo>
                    <a:lnTo>
                      <a:pt x="40" y="81"/>
                    </a:lnTo>
                    <a:lnTo>
                      <a:pt x="24" y="77"/>
                    </a:lnTo>
                    <a:lnTo>
                      <a:pt x="12" y="69"/>
                    </a:lnTo>
                    <a:lnTo>
                      <a:pt x="2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6" name="Rectangle 13"/>
              <p:cNvSpPr>
                <a:spLocks noChangeArrowheads="1"/>
              </p:cNvSpPr>
              <p:nvPr/>
            </p:nvSpPr>
            <p:spPr bwMode="auto">
              <a:xfrm>
                <a:off x="1908" y="1252"/>
                <a:ext cx="150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en-US"/>
              </a:p>
            </p:txBody>
          </p:sp>
          <p:sp>
            <p:nvSpPr>
              <p:cNvPr id="73757" name="Rectangle 14"/>
              <p:cNvSpPr>
                <a:spLocks noChangeArrowheads="1"/>
              </p:cNvSpPr>
              <p:nvPr/>
            </p:nvSpPr>
            <p:spPr bwMode="auto">
              <a:xfrm>
                <a:off x="1163" y="1832"/>
                <a:ext cx="150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 dirty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en-US" dirty="0"/>
              </a:p>
            </p:txBody>
          </p:sp>
          <p:sp>
            <p:nvSpPr>
              <p:cNvPr id="73758" name="Rectangle 15"/>
              <p:cNvSpPr>
                <a:spLocks noChangeArrowheads="1"/>
              </p:cNvSpPr>
              <p:nvPr/>
            </p:nvSpPr>
            <p:spPr bwMode="auto">
              <a:xfrm>
                <a:off x="1732" y="2121"/>
                <a:ext cx="150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altLang="en-US"/>
              </a:p>
            </p:txBody>
          </p:sp>
          <p:sp>
            <p:nvSpPr>
              <p:cNvPr id="73759" name="Rectangle 16"/>
              <p:cNvSpPr>
                <a:spLocks noChangeArrowheads="1"/>
              </p:cNvSpPr>
              <p:nvPr/>
            </p:nvSpPr>
            <p:spPr bwMode="auto">
              <a:xfrm>
                <a:off x="1379" y="2638"/>
                <a:ext cx="150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altLang="en-US"/>
              </a:p>
            </p:txBody>
          </p:sp>
          <p:sp>
            <p:nvSpPr>
              <p:cNvPr id="73760" name="Rectangle 17"/>
              <p:cNvSpPr>
                <a:spLocks noChangeArrowheads="1"/>
              </p:cNvSpPr>
              <p:nvPr/>
            </p:nvSpPr>
            <p:spPr bwMode="auto">
              <a:xfrm>
                <a:off x="631" y="1719"/>
                <a:ext cx="150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altLang="en-US"/>
              </a:p>
            </p:txBody>
          </p:sp>
          <p:sp>
            <p:nvSpPr>
              <p:cNvPr id="73761" name="Rectangle 18"/>
              <p:cNvSpPr>
                <a:spLocks noChangeArrowheads="1"/>
              </p:cNvSpPr>
              <p:nvPr/>
            </p:nvSpPr>
            <p:spPr bwMode="auto">
              <a:xfrm>
                <a:off x="2187" y="2173"/>
                <a:ext cx="150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4" name="Group 19"/>
            <p:cNvGrpSpPr>
              <a:grpSpLocks/>
            </p:cNvGrpSpPr>
            <p:nvPr/>
          </p:nvGrpSpPr>
          <p:grpSpPr bwMode="auto">
            <a:xfrm>
              <a:off x="2405063" y="3273425"/>
              <a:ext cx="1301750" cy="889000"/>
              <a:chOff x="1515" y="2062"/>
              <a:chExt cx="820" cy="560"/>
            </a:xfrm>
          </p:grpSpPr>
          <p:sp>
            <p:nvSpPr>
              <p:cNvPr id="73748" name="Freeform 20"/>
              <p:cNvSpPr>
                <a:spLocks/>
              </p:cNvSpPr>
              <p:nvPr/>
            </p:nvSpPr>
            <p:spPr bwMode="auto">
              <a:xfrm>
                <a:off x="1515" y="2062"/>
                <a:ext cx="820" cy="343"/>
              </a:xfrm>
              <a:custGeom>
                <a:avLst/>
                <a:gdLst>
                  <a:gd name="T0" fmla="*/ 409 w 820"/>
                  <a:gd name="T1" fmla="*/ 0 h 343"/>
                  <a:gd name="T2" fmla="*/ 467 w 820"/>
                  <a:gd name="T3" fmla="*/ 2 h 343"/>
                  <a:gd name="T4" fmla="*/ 520 w 820"/>
                  <a:gd name="T5" fmla="*/ 8 h 343"/>
                  <a:gd name="T6" fmla="*/ 573 w 820"/>
                  <a:gd name="T7" fmla="*/ 16 h 343"/>
                  <a:gd name="T8" fmla="*/ 623 w 820"/>
                  <a:gd name="T9" fmla="*/ 26 h 343"/>
                  <a:gd name="T10" fmla="*/ 670 w 820"/>
                  <a:gd name="T11" fmla="*/ 40 h 343"/>
                  <a:gd name="T12" fmla="*/ 710 w 820"/>
                  <a:gd name="T13" fmla="*/ 56 h 343"/>
                  <a:gd name="T14" fmla="*/ 745 w 820"/>
                  <a:gd name="T15" fmla="*/ 73 h 343"/>
                  <a:gd name="T16" fmla="*/ 775 w 820"/>
                  <a:gd name="T17" fmla="*/ 93 h 343"/>
                  <a:gd name="T18" fmla="*/ 797 w 820"/>
                  <a:gd name="T19" fmla="*/ 115 h 343"/>
                  <a:gd name="T20" fmla="*/ 812 w 820"/>
                  <a:gd name="T21" fmla="*/ 138 h 343"/>
                  <a:gd name="T22" fmla="*/ 820 w 820"/>
                  <a:gd name="T23" fmla="*/ 160 h 343"/>
                  <a:gd name="T24" fmla="*/ 820 w 820"/>
                  <a:gd name="T25" fmla="*/ 184 h 343"/>
                  <a:gd name="T26" fmla="*/ 812 w 820"/>
                  <a:gd name="T27" fmla="*/ 207 h 343"/>
                  <a:gd name="T28" fmla="*/ 797 w 820"/>
                  <a:gd name="T29" fmla="*/ 229 h 343"/>
                  <a:gd name="T30" fmla="*/ 775 w 820"/>
                  <a:gd name="T31" fmla="*/ 251 h 343"/>
                  <a:gd name="T32" fmla="*/ 745 w 820"/>
                  <a:gd name="T33" fmla="*/ 271 h 343"/>
                  <a:gd name="T34" fmla="*/ 710 w 820"/>
                  <a:gd name="T35" fmla="*/ 290 h 343"/>
                  <a:gd name="T36" fmla="*/ 670 w 820"/>
                  <a:gd name="T37" fmla="*/ 306 h 343"/>
                  <a:gd name="T38" fmla="*/ 623 w 820"/>
                  <a:gd name="T39" fmla="*/ 318 h 343"/>
                  <a:gd name="T40" fmla="*/ 573 w 820"/>
                  <a:gd name="T41" fmla="*/ 330 h 343"/>
                  <a:gd name="T42" fmla="*/ 520 w 820"/>
                  <a:gd name="T43" fmla="*/ 338 h 343"/>
                  <a:gd name="T44" fmla="*/ 467 w 820"/>
                  <a:gd name="T45" fmla="*/ 341 h 343"/>
                  <a:gd name="T46" fmla="*/ 409 w 820"/>
                  <a:gd name="T47" fmla="*/ 343 h 343"/>
                  <a:gd name="T48" fmla="*/ 354 w 820"/>
                  <a:gd name="T49" fmla="*/ 341 h 343"/>
                  <a:gd name="T50" fmla="*/ 299 w 820"/>
                  <a:gd name="T51" fmla="*/ 338 h 343"/>
                  <a:gd name="T52" fmla="*/ 245 w 820"/>
                  <a:gd name="T53" fmla="*/ 330 h 343"/>
                  <a:gd name="T54" fmla="*/ 196 w 820"/>
                  <a:gd name="T55" fmla="*/ 318 h 343"/>
                  <a:gd name="T56" fmla="*/ 150 w 820"/>
                  <a:gd name="T57" fmla="*/ 306 h 343"/>
                  <a:gd name="T58" fmla="*/ 109 w 820"/>
                  <a:gd name="T59" fmla="*/ 290 h 343"/>
                  <a:gd name="T60" fmla="*/ 73 w 820"/>
                  <a:gd name="T61" fmla="*/ 271 h 343"/>
                  <a:gd name="T62" fmla="*/ 44 w 820"/>
                  <a:gd name="T63" fmla="*/ 251 h 343"/>
                  <a:gd name="T64" fmla="*/ 22 w 820"/>
                  <a:gd name="T65" fmla="*/ 229 h 343"/>
                  <a:gd name="T66" fmla="*/ 6 w 820"/>
                  <a:gd name="T67" fmla="*/ 207 h 343"/>
                  <a:gd name="T68" fmla="*/ 0 w 820"/>
                  <a:gd name="T69" fmla="*/ 184 h 343"/>
                  <a:gd name="T70" fmla="*/ 0 w 820"/>
                  <a:gd name="T71" fmla="*/ 160 h 343"/>
                  <a:gd name="T72" fmla="*/ 6 w 820"/>
                  <a:gd name="T73" fmla="*/ 138 h 343"/>
                  <a:gd name="T74" fmla="*/ 22 w 820"/>
                  <a:gd name="T75" fmla="*/ 115 h 343"/>
                  <a:gd name="T76" fmla="*/ 44 w 820"/>
                  <a:gd name="T77" fmla="*/ 93 h 343"/>
                  <a:gd name="T78" fmla="*/ 73 w 820"/>
                  <a:gd name="T79" fmla="*/ 73 h 343"/>
                  <a:gd name="T80" fmla="*/ 109 w 820"/>
                  <a:gd name="T81" fmla="*/ 56 h 343"/>
                  <a:gd name="T82" fmla="*/ 150 w 820"/>
                  <a:gd name="T83" fmla="*/ 40 h 343"/>
                  <a:gd name="T84" fmla="*/ 196 w 820"/>
                  <a:gd name="T85" fmla="*/ 26 h 343"/>
                  <a:gd name="T86" fmla="*/ 245 w 820"/>
                  <a:gd name="T87" fmla="*/ 16 h 343"/>
                  <a:gd name="T88" fmla="*/ 299 w 820"/>
                  <a:gd name="T89" fmla="*/ 8 h 343"/>
                  <a:gd name="T90" fmla="*/ 354 w 820"/>
                  <a:gd name="T91" fmla="*/ 2 h 343"/>
                  <a:gd name="T92" fmla="*/ 409 w 820"/>
                  <a:gd name="T93" fmla="*/ 0 h 343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20"/>
                  <a:gd name="T142" fmla="*/ 0 h 343"/>
                  <a:gd name="T143" fmla="*/ 820 w 820"/>
                  <a:gd name="T144" fmla="*/ 343 h 343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20" h="343">
                    <a:moveTo>
                      <a:pt x="409" y="0"/>
                    </a:moveTo>
                    <a:lnTo>
                      <a:pt x="467" y="2"/>
                    </a:lnTo>
                    <a:lnTo>
                      <a:pt x="520" y="8"/>
                    </a:lnTo>
                    <a:lnTo>
                      <a:pt x="573" y="16"/>
                    </a:lnTo>
                    <a:lnTo>
                      <a:pt x="623" y="26"/>
                    </a:lnTo>
                    <a:lnTo>
                      <a:pt x="670" y="40"/>
                    </a:lnTo>
                    <a:lnTo>
                      <a:pt x="710" y="56"/>
                    </a:lnTo>
                    <a:lnTo>
                      <a:pt x="745" y="73"/>
                    </a:lnTo>
                    <a:lnTo>
                      <a:pt x="775" y="93"/>
                    </a:lnTo>
                    <a:lnTo>
                      <a:pt x="797" y="115"/>
                    </a:lnTo>
                    <a:lnTo>
                      <a:pt x="812" y="138"/>
                    </a:lnTo>
                    <a:lnTo>
                      <a:pt x="820" y="160"/>
                    </a:lnTo>
                    <a:lnTo>
                      <a:pt x="820" y="184"/>
                    </a:lnTo>
                    <a:lnTo>
                      <a:pt x="812" y="207"/>
                    </a:lnTo>
                    <a:lnTo>
                      <a:pt x="797" y="229"/>
                    </a:lnTo>
                    <a:lnTo>
                      <a:pt x="775" y="251"/>
                    </a:lnTo>
                    <a:lnTo>
                      <a:pt x="745" y="271"/>
                    </a:lnTo>
                    <a:lnTo>
                      <a:pt x="710" y="290"/>
                    </a:lnTo>
                    <a:lnTo>
                      <a:pt x="670" y="306"/>
                    </a:lnTo>
                    <a:lnTo>
                      <a:pt x="623" y="318"/>
                    </a:lnTo>
                    <a:lnTo>
                      <a:pt x="573" y="330"/>
                    </a:lnTo>
                    <a:lnTo>
                      <a:pt x="520" y="338"/>
                    </a:lnTo>
                    <a:lnTo>
                      <a:pt x="467" y="341"/>
                    </a:lnTo>
                    <a:lnTo>
                      <a:pt x="409" y="343"/>
                    </a:lnTo>
                    <a:lnTo>
                      <a:pt x="354" y="341"/>
                    </a:lnTo>
                    <a:lnTo>
                      <a:pt x="299" y="338"/>
                    </a:lnTo>
                    <a:lnTo>
                      <a:pt x="245" y="330"/>
                    </a:lnTo>
                    <a:lnTo>
                      <a:pt x="196" y="318"/>
                    </a:lnTo>
                    <a:lnTo>
                      <a:pt x="150" y="306"/>
                    </a:lnTo>
                    <a:lnTo>
                      <a:pt x="109" y="290"/>
                    </a:lnTo>
                    <a:lnTo>
                      <a:pt x="73" y="271"/>
                    </a:lnTo>
                    <a:lnTo>
                      <a:pt x="44" y="251"/>
                    </a:lnTo>
                    <a:lnTo>
                      <a:pt x="22" y="229"/>
                    </a:lnTo>
                    <a:lnTo>
                      <a:pt x="6" y="207"/>
                    </a:lnTo>
                    <a:lnTo>
                      <a:pt x="0" y="184"/>
                    </a:lnTo>
                    <a:lnTo>
                      <a:pt x="0" y="160"/>
                    </a:lnTo>
                    <a:lnTo>
                      <a:pt x="6" y="138"/>
                    </a:lnTo>
                    <a:lnTo>
                      <a:pt x="22" y="115"/>
                    </a:lnTo>
                    <a:lnTo>
                      <a:pt x="44" y="93"/>
                    </a:lnTo>
                    <a:lnTo>
                      <a:pt x="73" y="73"/>
                    </a:lnTo>
                    <a:lnTo>
                      <a:pt x="109" y="56"/>
                    </a:lnTo>
                    <a:lnTo>
                      <a:pt x="150" y="40"/>
                    </a:lnTo>
                    <a:lnTo>
                      <a:pt x="196" y="26"/>
                    </a:lnTo>
                    <a:lnTo>
                      <a:pt x="245" y="16"/>
                    </a:lnTo>
                    <a:lnTo>
                      <a:pt x="299" y="8"/>
                    </a:lnTo>
                    <a:lnTo>
                      <a:pt x="354" y="2"/>
                    </a:lnTo>
                    <a:lnTo>
                      <a:pt x="409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49" name="Rectangle 21"/>
              <p:cNvSpPr>
                <a:spLocks noChangeArrowheads="1"/>
              </p:cNvSpPr>
              <p:nvPr/>
            </p:nvSpPr>
            <p:spPr bwMode="auto">
              <a:xfrm>
                <a:off x="1855" y="2395"/>
                <a:ext cx="16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717550" y="2382838"/>
              <a:ext cx="1323975" cy="985837"/>
              <a:chOff x="452" y="1501"/>
              <a:chExt cx="834" cy="621"/>
            </a:xfrm>
          </p:grpSpPr>
          <p:sp>
            <p:nvSpPr>
              <p:cNvPr id="73746" name="Freeform 23"/>
              <p:cNvSpPr>
                <a:spLocks/>
              </p:cNvSpPr>
              <p:nvPr/>
            </p:nvSpPr>
            <p:spPr bwMode="auto">
              <a:xfrm>
                <a:off x="452" y="1662"/>
                <a:ext cx="834" cy="460"/>
              </a:xfrm>
              <a:custGeom>
                <a:avLst/>
                <a:gdLst>
                  <a:gd name="T0" fmla="*/ 436 w 834"/>
                  <a:gd name="T1" fmla="*/ 2 h 460"/>
                  <a:gd name="T2" fmla="*/ 494 w 834"/>
                  <a:gd name="T3" fmla="*/ 10 h 460"/>
                  <a:gd name="T4" fmla="*/ 547 w 834"/>
                  <a:gd name="T5" fmla="*/ 20 h 460"/>
                  <a:gd name="T6" fmla="*/ 600 w 834"/>
                  <a:gd name="T7" fmla="*/ 36 h 460"/>
                  <a:gd name="T8" fmla="*/ 650 w 834"/>
                  <a:gd name="T9" fmla="*/ 54 h 460"/>
                  <a:gd name="T10" fmla="*/ 695 w 834"/>
                  <a:gd name="T11" fmla="*/ 77 h 460"/>
                  <a:gd name="T12" fmla="*/ 735 w 834"/>
                  <a:gd name="T13" fmla="*/ 101 h 460"/>
                  <a:gd name="T14" fmla="*/ 768 w 834"/>
                  <a:gd name="T15" fmla="*/ 128 h 460"/>
                  <a:gd name="T16" fmla="*/ 796 w 834"/>
                  <a:gd name="T17" fmla="*/ 158 h 460"/>
                  <a:gd name="T18" fmla="*/ 816 w 834"/>
                  <a:gd name="T19" fmla="*/ 188 h 460"/>
                  <a:gd name="T20" fmla="*/ 830 w 834"/>
                  <a:gd name="T21" fmla="*/ 219 h 460"/>
                  <a:gd name="T22" fmla="*/ 834 w 834"/>
                  <a:gd name="T23" fmla="*/ 251 h 460"/>
                  <a:gd name="T24" fmla="*/ 832 w 834"/>
                  <a:gd name="T25" fmla="*/ 282 h 460"/>
                  <a:gd name="T26" fmla="*/ 820 w 834"/>
                  <a:gd name="T27" fmla="*/ 312 h 460"/>
                  <a:gd name="T28" fmla="*/ 802 w 834"/>
                  <a:gd name="T29" fmla="*/ 339 h 460"/>
                  <a:gd name="T30" fmla="*/ 778 w 834"/>
                  <a:gd name="T31" fmla="*/ 367 h 460"/>
                  <a:gd name="T32" fmla="*/ 745 w 834"/>
                  <a:gd name="T33" fmla="*/ 391 h 460"/>
                  <a:gd name="T34" fmla="*/ 707 w 834"/>
                  <a:gd name="T35" fmla="*/ 412 h 460"/>
                  <a:gd name="T36" fmla="*/ 664 w 834"/>
                  <a:gd name="T37" fmla="*/ 430 h 460"/>
                  <a:gd name="T38" fmla="*/ 616 w 834"/>
                  <a:gd name="T39" fmla="*/ 444 h 460"/>
                  <a:gd name="T40" fmla="*/ 565 w 834"/>
                  <a:gd name="T41" fmla="*/ 454 h 460"/>
                  <a:gd name="T42" fmla="*/ 510 w 834"/>
                  <a:gd name="T43" fmla="*/ 460 h 460"/>
                  <a:gd name="T44" fmla="*/ 454 w 834"/>
                  <a:gd name="T45" fmla="*/ 460 h 460"/>
                  <a:gd name="T46" fmla="*/ 397 w 834"/>
                  <a:gd name="T47" fmla="*/ 458 h 460"/>
                  <a:gd name="T48" fmla="*/ 340 w 834"/>
                  <a:gd name="T49" fmla="*/ 450 h 460"/>
                  <a:gd name="T50" fmla="*/ 284 w 834"/>
                  <a:gd name="T51" fmla="*/ 440 h 460"/>
                  <a:gd name="T52" fmla="*/ 231 w 834"/>
                  <a:gd name="T53" fmla="*/ 424 h 460"/>
                  <a:gd name="T54" fmla="*/ 183 w 834"/>
                  <a:gd name="T55" fmla="*/ 404 h 460"/>
                  <a:gd name="T56" fmla="*/ 138 w 834"/>
                  <a:gd name="T57" fmla="*/ 383 h 460"/>
                  <a:gd name="T58" fmla="*/ 98 w 834"/>
                  <a:gd name="T59" fmla="*/ 359 h 460"/>
                  <a:gd name="T60" fmla="*/ 65 w 834"/>
                  <a:gd name="T61" fmla="*/ 331 h 460"/>
                  <a:gd name="T62" fmla="*/ 37 w 834"/>
                  <a:gd name="T63" fmla="*/ 302 h 460"/>
                  <a:gd name="T64" fmla="*/ 17 w 834"/>
                  <a:gd name="T65" fmla="*/ 272 h 460"/>
                  <a:gd name="T66" fmla="*/ 3 w 834"/>
                  <a:gd name="T67" fmla="*/ 241 h 460"/>
                  <a:gd name="T68" fmla="*/ 0 w 834"/>
                  <a:gd name="T69" fmla="*/ 209 h 460"/>
                  <a:gd name="T70" fmla="*/ 1 w 834"/>
                  <a:gd name="T71" fmla="*/ 178 h 460"/>
                  <a:gd name="T72" fmla="*/ 11 w 834"/>
                  <a:gd name="T73" fmla="*/ 148 h 460"/>
                  <a:gd name="T74" fmla="*/ 29 w 834"/>
                  <a:gd name="T75" fmla="*/ 119 h 460"/>
                  <a:gd name="T76" fmla="*/ 55 w 834"/>
                  <a:gd name="T77" fmla="*/ 93 h 460"/>
                  <a:gd name="T78" fmla="*/ 86 w 834"/>
                  <a:gd name="T79" fmla="*/ 69 h 460"/>
                  <a:gd name="T80" fmla="*/ 124 w 834"/>
                  <a:gd name="T81" fmla="*/ 48 h 460"/>
                  <a:gd name="T82" fmla="*/ 168 w 834"/>
                  <a:gd name="T83" fmla="*/ 30 h 460"/>
                  <a:gd name="T84" fmla="*/ 217 w 834"/>
                  <a:gd name="T85" fmla="*/ 16 h 460"/>
                  <a:gd name="T86" fmla="*/ 268 w 834"/>
                  <a:gd name="T87" fmla="*/ 6 h 460"/>
                  <a:gd name="T88" fmla="*/ 324 w 834"/>
                  <a:gd name="T89" fmla="*/ 0 h 460"/>
                  <a:gd name="T90" fmla="*/ 379 w 834"/>
                  <a:gd name="T91" fmla="*/ 0 h 460"/>
                  <a:gd name="T92" fmla="*/ 436 w 834"/>
                  <a:gd name="T93" fmla="*/ 2 h 46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34"/>
                  <a:gd name="T142" fmla="*/ 0 h 460"/>
                  <a:gd name="T143" fmla="*/ 834 w 834"/>
                  <a:gd name="T144" fmla="*/ 460 h 460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34" h="460">
                    <a:moveTo>
                      <a:pt x="436" y="2"/>
                    </a:moveTo>
                    <a:lnTo>
                      <a:pt x="494" y="10"/>
                    </a:lnTo>
                    <a:lnTo>
                      <a:pt x="547" y="20"/>
                    </a:lnTo>
                    <a:lnTo>
                      <a:pt x="600" y="36"/>
                    </a:lnTo>
                    <a:lnTo>
                      <a:pt x="650" y="54"/>
                    </a:lnTo>
                    <a:lnTo>
                      <a:pt x="695" y="77"/>
                    </a:lnTo>
                    <a:lnTo>
                      <a:pt x="735" y="101"/>
                    </a:lnTo>
                    <a:lnTo>
                      <a:pt x="768" y="128"/>
                    </a:lnTo>
                    <a:lnTo>
                      <a:pt x="796" y="158"/>
                    </a:lnTo>
                    <a:lnTo>
                      <a:pt x="816" y="188"/>
                    </a:lnTo>
                    <a:lnTo>
                      <a:pt x="830" y="219"/>
                    </a:lnTo>
                    <a:lnTo>
                      <a:pt x="834" y="251"/>
                    </a:lnTo>
                    <a:lnTo>
                      <a:pt x="832" y="282"/>
                    </a:lnTo>
                    <a:lnTo>
                      <a:pt x="820" y="312"/>
                    </a:lnTo>
                    <a:lnTo>
                      <a:pt x="802" y="339"/>
                    </a:lnTo>
                    <a:lnTo>
                      <a:pt x="778" y="367"/>
                    </a:lnTo>
                    <a:lnTo>
                      <a:pt x="745" y="391"/>
                    </a:lnTo>
                    <a:lnTo>
                      <a:pt x="707" y="412"/>
                    </a:lnTo>
                    <a:lnTo>
                      <a:pt x="664" y="430"/>
                    </a:lnTo>
                    <a:lnTo>
                      <a:pt x="616" y="444"/>
                    </a:lnTo>
                    <a:lnTo>
                      <a:pt x="565" y="454"/>
                    </a:lnTo>
                    <a:lnTo>
                      <a:pt x="510" y="460"/>
                    </a:lnTo>
                    <a:lnTo>
                      <a:pt x="454" y="460"/>
                    </a:lnTo>
                    <a:lnTo>
                      <a:pt x="397" y="458"/>
                    </a:lnTo>
                    <a:lnTo>
                      <a:pt x="340" y="450"/>
                    </a:lnTo>
                    <a:lnTo>
                      <a:pt x="284" y="440"/>
                    </a:lnTo>
                    <a:lnTo>
                      <a:pt x="231" y="424"/>
                    </a:lnTo>
                    <a:lnTo>
                      <a:pt x="183" y="404"/>
                    </a:lnTo>
                    <a:lnTo>
                      <a:pt x="138" y="383"/>
                    </a:lnTo>
                    <a:lnTo>
                      <a:pt x="98" y="359"/>
                    </a:lnTo>
                    <a:lnTo>
                      <a:pt x="65" y="331"/>
                    </a:lnTo>
                    <a:lnTo>
                      <a:pt x="37" y="302"/>
                    </a:lnTo>
                    <a:lnTo>
                      <a:pt x="17" y="272"/>
                    </a:lnTo>
                    <a:lnTo>
                      <a:pt x="3" y="241"/>
                    </a:lnTo>
                    <a:lnTo>
                      <a:pt x="0" y="209"/>
                    </a:lnTo>
                    <a:lnTo>
                      <a:pt x="1" y="178"/>
                    </a:lnTo>
                    <a:lnTo>
                      <a:pt x="11" y="148"/>
                    </a:lnTo>
                    <a:lnTo>
                      <a:pt x="29" y="119"/>
                    </a:lnTo>
                    <a:lnTo>
                      <a:pt x="55" y="93"/>
                    </a:lnTo>
                    <a:lnTo>
                      <a:pt x="86" y="69"/>
                    </a:lnTo>
                    <a:lnTo>
                      <a:pt x="124" y="48"/>
                    </a:lnTo>
                    <a:lnTo>
                      <a:pt x="168" y="30"/>
                    </a:lnTo>
                    <a:lnTo>
                      <a:pt x="217" y="16"/>
                    </a:lnTo>
                    <a:lnTo>
                      <a:pt x="268" y="6"/>
                    </a:lnTo>
                    <a:lnTo>
                      <a:pt x="324" y="0"/>
                    </a:lnTo>
                    <a:lnTo>
                      <a:pt x="379" y="0"/>
                    </a:lnTo>
                    <a:lnTo>
                      <a:pt x="436" y="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47" name="Rectangle 24"/>
              <p:cNvSpPr>
                <a:spLocks noChangeArrowheads="1"/>
              </p:cNvSpPr>
              <p:nvPr/>
            </p:nvSpPr>
            <p:spPr bwMode="auto">
              <a:xfrm>
                <a:off x="944" y="1501"/>
                <a:ext cx="16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grpSp>
          <p:nvGrpSpPr>
            <p:cNvPr id="6" name="Group 25"/>
            <p:cNvGrpSpPr>
              <a:grpSpLocks/>
            </p:cNvGrpSpPr>
            <p:nvPr/>
          </p:nvGrpSpPr>
          <p:grpSpPr bwMode="auto">
            <a:xfrm>
              <a:off x="403225" y="1622425"/>
              <a:ext cx="3659188" cy="3460750"/>
              <a:chOff x="254" y="1022"/>
              <a:chExt cx="2305" cy="2180"/>
            </a:xfrm>
          </p:grpSpPr>
          <p:sp>
            <p:nvSpPr>
              <p:cNvPr id="73744" name="Rectangle 26"/>
              <p:cNvSpPr>
                <a:spLocks noChangeArrowheads="1"/>
              </p:cNvSpPr>
              <p:nvPr/>
            </p:nvSpPr>
            <p:spPr bwMode="auto">
              <a:xfrm>
                <a:off x="564" y="1148"/>
                <a:ext cx="16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FF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73745" name="Freeform 27"/>
              <p:cNvSpPr>
                <a:spLocks/>
              </p:cNvSpPr>
              <p:nvPr/>
            </p:nvSpPr>
            <p:spPr bwMode="auto">
              <a:xfrm>
                <a:off x="254" y="1022"/>
                <a:ext cx="2305" cy="2180"/>
              </a:xfrm>
              <a:custGeom>
                <a:avLst/>
                <a:gdLst>
                  <a:gd name="T0" fmla="*/ 1245 w 2305"/>
                  <a:gd name="T1" fmla="*/ 4 h 2180"/>
                  <a:gd name="T2" fmla="*/ 1433 w 2305"/>
                  <a:gd name="T3" fmla="*/ 33 h 2180"/>
                  <a:gd name="T4" fmla="*/ 1615 w 2305"/>
                  <a:gd name="T5" fmla="*/ 90 h 2180"/>
                  <a:gd name="T6" fmla="*/ 1781 w 2305"/>
                  <a:gd name="T7" fmla="*/ 175 h 2180"/>
                  <a:gd name="T8" fmla="*/ 1931 w 2305"/>
                  <a:gd name="T9" fmla="*/ 286 h 2180"/>
                  <a:gd name="T10" fmla="*/ 2062 w 2305"/>
                  <a:gd name="T11" fmla="*/ 420 h 2180"/>
                  <a:gd name="T12" fmla="*/ 2166 w 2305"/>
                  <a:gd name="T13" fmla="*/ 569 h 2180"/>
                  <a:gd name="T14" fmla="*/ 2242 w 2305"/>
                  <a:gd name="T15" fmla="*/ 735 h 2180"/>
                  <a:gd name="T16" fmla="*/ 2289 w 2305"/>
                  <a:gd name="T17" fmla="*/ 908 h 2180"/>
                  <a:gd name="T18" fmla="*/ 2305 w 2305"/>
                  <a:gd name="T19" fmla="*/ 1088 h 2180"/>
                  <a:gd name="T20" fmla="*/ 2289 w 2305"/>
                  <a:gd name="T21" fmla="*/ 1267 h 2180"/>
                  <a:gd name="T22" fmla="*/ 2243 w 2305"/>
                  <a:gd name="T23" fmla="*/ 1443 h 2180"/>
                  <a:gd name="T24" fmla="*/ 2166 w 2305"/>
                  <a:gd name="T25" fmla="*/ 1606 h 2180"/>
                  <a:gd name="T26" fmla="*/ 2064 w 2305"/>
                  <a:gd name="T27" fmla="*/ 1758 h 2180"/>
                  <a:gd name="T28" fmla="*/ 1935 w 2305"/>
                  <a:gd name="T29" fmla="*/ 1890 h 2180"/>
                  <a:gd name="T30" fmla="*/ 1785 w 2305"/>
                  <a:gd name="T31" fmla="*/ 2002 h 2180"/>
                  <a:gd name="T32" fmla="*/ 1617 w 2305"/>
                  <a:gd name="T33" fmla="*/ 2087 h 2180"/>
                  <a:gd name="T34" fmla="*/ 1437 w 2305"/>
                  <a:gd name="T35" fmla="*/ 2146 h 2180"/>
                  <a:gd name="T36" fmla="*/ 1249 w 2305"/>
                  <a:gd name="T37" fmla="*/ 2176 h 2180"/>
                  <a:gd name="T38" fmla="*/ 1059 w 2305"/>
                  <a:gd name="T39" fmla="*/ 2176 h 2180"/>
                  <a:gd name="T40" fmla="*/ 872 w 2305"/>
                  <a:gd name="T41" fmla="*/ 2148 h 2180"/>
                  <a:gd name="T42" fmla="*/ 692 w 2305"/>
                  <a:gd name="T43" fmla="*/ 2089 h 2180"/>
                  <a:gd name="T44" fmla="*/ 524 w 2305"/>
                  <a:gd name="T45" fmla="*/ 2004 h 2180"/>
                  <a:gd name="T46" fmla="*/ 373 w 2305"/>
                  <a:gd name="T47" fmla="*/ 1894 h 2180"/>
                  <a:gd name="T48" fmla="*/ 245 w 2305"/>
                  <a:gd name="T49" fmla="*/ 1762 h 2180"/>
                  <a:gd name="T50" fmla="*/ 140 w 2305"/>
                  <a:gd name="T51" fmla="*/ 1610 h 2180"/>
                  <a:gd name="T52" fmla="*/ 63 w 2305"/>
                  <a:gd name="T53" fmla="*/ 1447 h 2180"/>
                  <a:gd name="T54" fmla="*/ 16 w 2305"/>
                  <a:gd name="T55" fmla="*/ 1271 h 2180"/>
                  <a:gd name="T56" fmla="*/ 0 w 2305"/>
                  <a:gd name="T57" fmla="*/ 1092 h 2180"/>
                  <a:gd name="T58" fmla="*/ 16 w 2305"/>
                  <a:gd name="T59" fmla="*/ 912 h 2180"/>
                  <a:gd name="T60" fmla="*/ 63 w 2305"/>
                  <a:gd name="T61" fmla="*/ 737 h 2180"/>
                  <a:gd name="T62" fmla="*/ 138 w 2305"/>
                  <a:gd name="T63" fmla="*/ 573 h 2180"/>
                  <a:gd name="T64" fmla="*/ 243 w 2305"/>
                  <a:gd name="T65" fmla="*/ 422 h 2180"/>
                  <a:gd name="T66" fmla="*/ 371 w 2305"/>
                  <a:gd name="T67" fmla="*/ 290 h 2180"/>
                  <a:gd name="T68" fmla="*/ 522 w 2305"/>
                  <a:gd name="T69" fmla="*/ 179 h 2180"/>
                  <a:gd name="T70" fmla="*/ 688 w 2305"/>
                  <a:gd name="T71" fmla="*/ 92 h 2180"/>
                  <a:gd name="T72" fmla="*/ 868 w 2305"/>
                  <a:gd name="T73" fmla="*/ 33 h 2180"/>
                  <a:gd name="T74" fmla="*/ 1055 w 2305"/>
                  <a:gd name="T75" fmla="*/ 4 h 218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305"/>
                  <a:gd name="T115" fmla="*/ 0 h 2180"/>
                  <a:gd name="T116" fmla="*/ 2305 w 2305"/>
                  <a:gd name="T117" fmla="*/ 2180 h 218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305" h="2180">
                    <a:moveTo>
                      <a:pt x="1150" y="0"/>
                    </a:moveTo>
                    <a:lnTo>
                      <a:pt x="1245" y="4"/>
                    </a:lnTo>
                    <a:lnTo>
                      <a:pt x="1340" y="14"/>
                    </a:lnTo>
                    <a:lnTo>
                      <a:pt x="1433" y="33"/>
                    </a:lnTo>
                    <a:lnTo>
                      <a:pt x="1526" y="59"/>
                    </a:lnTo>
                    <a:lnTo>
                      <a:pt x="1615" y="90"/>
                    </a:lnTo>
                    <a:lnTo>
                      <a:pt x="1700" y="130"/>
                    </a:lnTo>
                    <a:lnTo>
                      <a:pt x="1781" y="175"/>
                    </a:lnTo>
                    <a:lnTo>
                      <a:pt x="1860" y="228"/>
                    </a:lnTo>
                    <a:lnTo>
                      <a:pt x="1931" y="286"/>
                    </a:lnTo>
                    <a:lnTo>
                      <a:pt x="2000" y="351"/>
                    </a:lnTo>
                    <a:lnTo>
                      <a:pt x="2062" y="420"/>
                    </a:lnTo>
                    <a:lnTo>
                      <a:pt x="2117" y="493"/>
                    </a:lnTo>
                    <a:lnTo>
                      <a:pt x="2166" y="569"/>
                    </a:lnTo>
                    <a:lnTo>
                      <a:pt x="2208" y="650"/>
                    </a:lnTo>
                    <a:lnTo>
                      <a:pt x="2242" y="735"/>
                    </a:lnTo>
                    <a:lnTo>
                      <a:pt x="2269" y="820"/>
                    </a:lnTo>
                    <a:lnTo>
                      <a:pt x="2289" y="908"/>
                    </a:lnTo>
                    <a:lnTo>
                      <a:pt x="2301" y="997"/>
                    </a:lnTo>
                    <a:lnTo>
                      <a:pt x="2305" y="1088"/>
                    </a:lnTo>
                    <a:lnTo>
                      <a:pt x="2301" y="1178"/>
                    </a:lnTo>
                    <a:lnTo>
                      <a:pt x="2289" y="1267"/>
                    </a:lnTo>
                    <a:lnTo>
                      <a:pt x="2271" y="1356"/>
                    </a:lnTo>
                    <a:lnTo>
                      <a:pt x="2243" y="1443"/>
                    </a:lnTo>
                    <a:lnTo>
                      <a:pt x="2210" y="1525"/>
                    </a:lnTo>
                    <a:lnTo>
                      <a:pt x="2166" y="1606"/>
                    </a:lnTo>
                    <a:lnTo>
                      <a:pt x="2119" y="1685"/>
                    </a:lnTo>
                    <a:lnTo>
                      <a:pt x="2064" y="1758"/>
                    </a:lnTo>
                    <a:lnTo>
                      <a:pt x="2002" y="1827"/>
                    </a:lnTo>
                    <a:lnTo>
                      <a:pt x="1935" y="1890"/>
                    </a:lnTo>
                    <a:lnTo>
                      <a:pt x="1862" y="1949"/>
                    </a:lnTo>
                    <a:lnTo>
                      <a:pt x="1785" y="2002"/>
                    </a:lnTo>
                    <a:lnTo>
                      <a:pt x="1704" y="2048"/>
                    </a:lnTo>
                    <a:lnTo>
                      <a:pt x="1617" y="2087"/>
                    </a:lnTo>
                    <a:lnTo>
                      <a:pt x="1528" y="2121"/>
                    </a:lnTo>
                    <a:lnTo>
                      <a:pt x="1437" y="2146"/>
                    </a:lnTo>
                    <a:lnTo>
                      <a:pt x="1344" y="2164"/>
                    </a:lnTo>
                    <a:lnTo>
                      <a:pt x="1249" y="2176"/>
                    </a:lnTo>
                    <a:lnTo>
                      <a:pt x="1154" y="2180"/>
                    </a:lnTo>
                    <a:lnTo>
                      <a:pt x="1059" y="2176"/>
                    </a:lnTo>
                    <a:lnTo>
                      <a:pt x="965" y="2166"/>
                    </a:lnTo>
                    <a:lnTo>
                      <a:pt x="872" y="2148"/>
                    </a:lnTo>
                    <a:lnTo>
                      <a:pt x="781" y="2123"/>
                    </a:lnTo>
                    <a:lnTo>
                      <a:pt x="692" y="2089"/>
                    </a:lnTo>
                    <a:lnTo>
                      <a:pt x="607" y="2050"/>
                    </a:lnTo>
                    <a:lnTo>
                      <a:pt x="524" y="2004"/>
                    </a:lnTo>
                    <a:lnTo>
                      <a:pt x="447" y="1951"/>
                    </a:lnTo>
                    <a:lnTo>
                      <a:pt x="373" y="1894"/>
                    </a:lnTo>
                    <a:lnTo>
                      <a:pt x="306" y="1829"/>
                    </a:lnTo>
                    <a:lnTo>
                      <a:pt x="245" y="1762"/>
                    </a:lnTo>
                    <a:lnTo>
                      <a:pt x="190" y="1687"/>
                    </a:lnTo>
                    <a:lnTo>
                      <a:pt x="140" y="1610"/>
                    </a:lnTo>
                    <a:lnTo>
                      <a:pt x="99" y="1529"/>
                    </a:lnTo>
                    <a:lnTo>
                      <a:pt x="63" y="1447"/>
                    </a:lnTo>
                    <a:lnTo>
                      <a:pt x="35" y="1360"/>
                    </a:lnTo>
                    <a:lnTo>
                      <a:pt x="16" y="1271"/>
                    </a:lnTo>
                    <a:lnTo>
                      <a:pt x="4" y="1182"/>
                    </a:lnTo>
                    <a:lnTo>
                      <a:pt x="0" y="1092"/>
                    </a:lnTo>
                    <a:lnTo>
                      <a:pt x="4" y="1001"/>
                    </a:lnTo>
                    <a:lnTo>
                      <a:pt x="16" y="912"/>
                    </a:lnTo>
                    <a:lnTo>
                      <a:pt x="35" y="824"/>
                    </a:lnTo>
                    <a:lnTo>
                      <a:pt x="63" y="737"/>
                    </a:lnTo>
                    <a:lnTo>
                      <a:pt x="97" y="654"/>
                    </a:lnTo>
                    <a:lnTo>
                      <a:pt x="138" y="573"/>
                    </a:lnTo>
                    <a:lnTo>
                      <a:pt x="188" y="495"/>
                    </a:lnTo>
                    <a:lnTo>
                      <a:pt x="243" y="422"/>
                    </a:lnTo>
                    <a:lnTo>
                      <a:pt x="304" y="353"/>
                    </a:lnTo>
                    <a:lnTo>
                      <a:pt x="371" y="290"/>
                    </a:lnTo>
                    <a:lnTo>
                      <a:pt x="443" y="230"/>
                    </a:lnTo>
                    <a:lnTo>
                      <a:pt x="522" y="179"/>
                    </a:lnTo>
                    <a:lnTo>
                      <a:pt x="603" y="132"/>
                    </a:lnTo>
                    <a:lnTo>
                      <a:pt x="688" y="92"/>
                    </a:lnTo>
                    <a:lnTo>
                      <a:pt x="777" y="59"/>
                    </a:lnTo>
                    <a:lnTo>
                      <a:pt x="868" y="33"/>
                    </a:lnTo>
                    <a:lnTo>
                      <a:pt x="961" y="16"/>
                    </a:lnTo>
                    <a:lnTo>
                      <a:pt x="1055" y="4"/>
                    </a:lnTo>
                    <a:lnTo>
                      <a:pt x="11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1931988" y="3101975"/>
              <a:ext cx="1800225" cy="1720850"/>
              <a:chOff x="1217" y="1954"/>
              <a:chExt cx="1134" cy="1084"/>
            </a:xfrm>
          </p:grpSpPr>
          <p:sp>
            <p:nvSpPr>
              <p:cNvPr id="73742" name="Rectangle 29"/>
              <p:cNvSpPr>
                <a:spLocks noChangeArrowheads="1"/>
              </p:cNvSpPr>
              <p:nvPr/>
            </p:nvSpPr>
            <p:spPr bwMode="auto">
              <a:xfrm>
                <a:off x="1665" y="2811"/>
                <a:ext cx="16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 dirty="0">
                    <a:solidFill>
                      <a:srgbClr val="FF0000"/>
                    </a:solidFill>
                  </a:rPr>
                  <a:t>3</a:t>
                </a:r>
                <a:endParaRPr lang="en-US" altLang="en-US" dirty="0"/>
              </a:p>
            </p:txBody>
          </p:sp>
          <p:sp>
            <p:nvSpPr>
              <p:cNvPr id="73743" name="Freeform 30"/>
              <p:cNvSpPr>
                <a:spLocks/>
              </p:cNvSpPr>
              <p:nvPr/>
            </p:nvSpPr>
            <p:spPr bwMode="auto">
              <a:xfrm>
                <a:off x="1217" y="1954"/>
                <a:ext cx="1134" cy="909"/>
              </a:xfrm>
              <a:custGeom>
                <a:avLst/>
                <a:gdLst>
                  <a:gd name="T0" fmla="*/ 371 w 1134"/>
                  <a:gd name="T1" fmla="*/ 142 h 909"/>
                  <a:gd name="T2" fmla="*/ 430 w 1134"/>
                  <a:gd name="T3" fmla="*/ 108 h 909"/>
                  <a:gd name="T4" fmla="*/ 492 w 1134"/>
                  <a:gd name="T5" fmla="*/ 79 h 909"/>
                  <a:gd name="T6" fmla="*/ 551 w 1134"/>
                  <a:gd name="T7" fmla="*/ 53 h 909"/>
                  <a:gd name="T8" fmla="*/ 614 w 1134"/>
                  <a:gd name="T9" fmla="*/ 32 h 909"/>
                  <a:gd name="T10" fmla="*/ 674 w 1134"/>
                  <a:gd name="T11" fmla="*/ 16 h 909"/>
                  <a:gd name="T12" fmla="*/ 735 w 1134"/>
                  <a:gd name="T13" fmla="*/ 6 h 909"/>
                  <a:gd name="T14" fmla="*/ 792 w 1134"/>
                  <a:gd name="T15" fmla="*/ 0 h 909"/>
                  <a:gd name="T16" fmla="*/ 848 w 1134"/>
                  <a:gd name="T17" fmla="*/ 0 h 909"/>
                  <a:gd name="T18" fmla="*/ 899 w 1134"/>
                  <a:gd name="T19" fmla="*/ 4 h 909"/>
                  <a:gd name="T20" fmla="*/ 946 w 1134"/>
                  <a:gd name="T21" fmla="*/ 14 h 909"/>
                  <a:gd name="T22" fmla="*/ 990 w 1134"/>
                  <a:gd name="T23" fmla="*/ 30 h 909"/>
                  <a:gd name="T24" fmla="*/ 1027 w 1134"/>
                  <a:gd name="T25" fmla="*/ 51 h 909"/>
                  <a:gd name="T26" fmla="*/ 1061 w 1134"/>
                  <a:gd name="T27" fmla="*/ 77 h 909"/>
                  <a:gd name="T28" fmla="*/ 1089 w 1134"/>
                  <a:gd name="T29" fmla="*/ 107 h 909"/>
                  <a:gd name="T30" fmla="*/ 1110 w 1134"/>
                  <a:gd name="T31" fmla="*/ 140 h 909"/>
                  <a:gd name="T32" fmla="*/ 1124 w 1134"/>
                  <a:gd name="T33" fmla="*/ 177 h 909"/>
                  <a:gd name="T34" fmla="*/ 1132 w 1134"/>
                  <a:gd name="T35" fmla="*/ 217 h 909"/>
                  <a:gd name="T36" fmla="*/ 1134 w 1134"/>
                  <a:gd name="T37" fmla="*/ 260 h 909"/>
                  <a:gd name="T38" fmla="*/ 1128 w 1134"/>
                  <a:gd name="T39" fmla="*/ 308 h 909"/>
                  <a:gd name="T40" fmla="*/ 1118 w 1134"/>
                  <a:gd name="T41" fmla="*/ 355 h 909"/>
                  <a:gd name="T42" fmla="*/ 1099 w 1134"/>
                  <a:gd name="T43" fmla="*/ 402 h 909"/>
                  <a:gd name="T44" fmla="*/ 1075 w 1134"/>
                  <a:gd name="T45" fmla="*/ 451 h 909"/>
                  <a:gd name="T46" fmla="*/ 1045 w 1134"/>
                  <a:gd name="T47" fmla="*/ 501 h 909"/>
                  <a:gd name="T48" fmla="*/ 1010 w 1134"/>
                  <a:gd name="T49" fmla="*/ 550 h 909"/>
                  <a:gd name="T50" fmla="*/ 968 w 1134"/>
                  <a:gd name="T51" fmla="*/ 597 h 909"/>
                  <a:gd name="T52" fmla="*/ 923 w 1134"/>
                  <a:gd name="T53" fmla="*/ 643 h 909"/>
                  <a:gd name="T54" fmla="*/ 871 w 1134"/>
                  <a:gd name="T55" fmla="*/ 688 h 909"/>
                  <a:gd name="T56" fmla="*/ 818 w 1134"/>
                  <a:gd name="T57" fmla="*/ 727 h 909"/>
                  <a:gd name="T58" fmla="*/ 763 w 1134"/>
                  <a:gd name="T59" fmla="*/ 765 h 909"/>
                  <a:gd name="T60" fmla="*/ 703 w 1134"/>
                  <a:gd name="T61" fmla="*/ 800 h 909"/>
                  <a:gd name="T62" fmla="*/ 644 w 1134"/>
                  <a:gd name="T63" fmla="*/ 830 h 909"/>
                  <a:gd name="T64" fmla="*/ 583 w 1134"/>
                  <a:gd name="T65" fmla="*/ 855 h 909"/>
                  <a:gd name="T66" fmla="*/ 519 w 1134"/>
                  <a:gd name="T67" fmla="*/ 877 h 909"/>
                  <a:gd name="T68" fmla="*/ 460 w 1134"/>
                  <a:gd name="T69" fmla="*/ 893 h 909"/>
                  <a:gd name="T70" fmla="*/ 401 w 1134"/>
                  <a:gd name="T71" fmla="*/ 903 h 909"/>
                  <a:gd name="T72" fmla="*/ 342 w 1134"/>
                  <a:gd name="T73" fmla="*/ 909 h 909"/>
                  <a:gd name="T74" fmla="*/ 286 w 1134"/>
                  <a:gd name="T75" fmla="*/ 909 h 909"/>
                  <a:gd name="T76" fmla="*/ 235 w 1134"/>
                  <a:gd name="T77" fmla="*/ 905 h 909"/>
                  <a:gd name="T78" fmla="*/ 187 w 1134"/>
                  <a:gd name="T79" fmla="*/ 893 h 909"/>
                  <a:gd name="T80" fmla="*/ 144 w 1134"/>
                  <a:gd name="T81" fmla="*/ 877 h 909"/>
                  <a:gd name="T82" fmla="*/ 106 w 1134"/>
                  <a:gd name="T83" fmla="*/ 857 h 909"/>
                  <a:gd name="T84" fmla="*/ 73 w 1134"/>
                  <a:gd name="T85" fmla="*/ 832 h 909"/>
                  <a:gd name="T86" fmla="*/ 45 w 1134"/>
                  <a:gd name="T87" fmla="*/ 802 h 909"/>
                  <a:gd name="T88" fmla="*/ 23 w 1134"/>
                  <a:gd name="T89" fmla="*/ 769 h 909"/>
                  <a:gd name="T90" fmla="*/ 9 w 1134"/>
                  <a:gd name="T91" fmla="*/ 731 h 909"/>
                  <a:gd name="T92" fmla="*/ 2 w 1134"/>
                  <a:gd name="T93" fmla="*/ 690 h 909"/>
                  <a:gd name="T94" fmla="*/ 0 w 1134"/>
                  <a:gd name="T95" fmla="*/ 647 h 909"/>
                  <a:gd name="T96" fmla="*/ 5 w 1134"/>
                  <a:gd name="T97" fmla="*/ 601 h 909"/>
                  <a:gd name="T98" fmla="*/ 15 w 1134"/>
                  <a:gd name="T99" fmla="*/ 554 h 909"/>
                  <a:gd name="T100" fmla="*/ 35 w 1134"/>
                  <a:gd name="T101" fmla="*/ 505 h 909"/>
                  <a:gd name="T102" fmla="*/ 59 w 1134"/>
                  <a:gd name="T103" fmla="*/ 455 h 909"/>
                  <a:gd name="T104" fmla="*/ 88 w 1134"/>
                  <a:gd name="T105" fmla="*/ 406 h 909"/>
                  <a:gd name="T106" fmla="*/ 124 w 1134"/>
                  <a:gd name="T107" fmla="*/ 359 h 909"/>
                  <a:gd name="T108" fmla="*/ 166 w 1134"/>
                  <a:gd name="T109" fmla="*/ 311 h 909"/>
                  <a:gd name="T110" fmla="*/ 211 w 1134"/>
                  <a:gd name="T111" fmla="*/ 264 h 909"/>
                  <a:gd name="T112" fmla="*/ 262 w 1134"/>
                  <a:gd name="T113" fmla="*/ 221 h 909"/>
                  <a:gd name="T114" fmla="*/ 316 w 1134"/>
                  <a:gd name="T115" fmla="*/ 179 h 909"/>
                  <a:gd name="T116" fmla="*/ 371 w 1134"/>
                  <a:gd name="T117" fmla="*/ 142 h 90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134"/>
                  <a:gd name="T178" fmla="*/ 0 h 909"/>
                  <a:gd name="T179" fmla="*/ 1134 w 1134"/>
                  <a:gd name="T180" fmla="*/ 909 h 90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134" h="909">
                    <a:moveTo>
                      <a:pt x="371" y="142"/>
                    </a:moveTo>
                    <a:lnTo>
                      <a:pt x="430" y="108"/>
                    </a:lnTo>
                    <a:lnTo>
                      <a:pt x="492" y="79"/>
                    </a:lnTo>
                    <a:lnTo>
                      <a:pt x="551" y="53"/>
                    </a:lnTo>
                    <a:lnTo>
                      <a:pt x="614" y="32"/>
                    </a:lnTo>
                    <a:lnTo>
                      <a:pt x="674" y="16"/>
                    </a:lnTo>
                    <a:lnTo>
                      <a:pt x="735" y="6"/>
                    </a:lnTo>
                    <a:lnTo>
                      <a:pt x="792" y="0"/>
                    </a:lnTo>
                    <a:lnTo>
                      <a:pt x="848" y="0"/>
                    </a:lnTo>
                    <a:lnTo>
                      <a:pt x="899" y="4"/>
                    </a:lnTo>
                    <a:lnTo>
                      <a:pt x="946" y="14"/>
                    </a:lnTo>
                    <a:lnTo>
                      <a:pt x="990" y="30"/>
                    </a:lnTo>
                    <a:lnTo>
                      <a:pt x="1027" y="51"/>
                    </a:lnTo>
                    <a:lnTo>
                      <a:pt x="1061" y="77"/>
                    </a:lnTo>
                    <a:lnTo>
                      <a:pt x="1089" y="107"/>
                    </a:lnTo>
                    <a:lnTo>
                      <a:pt x="1110" y="140"/>
                    </a:lnTo>
                    <a:lnTo>
                      <a:pt x="1124" y="177"/>
                    </a:lnTo>
                    <a:lnTo>
                      <a:pt x="1132" y="217"/>
                    </a:lnTo>
                    <a:lnTo>
                      <a:pt x="1134" y="260"/>
                    </a:lnTo>
                    <a:lnTo>
                      <a:pt x="1128" y="308"/>
                    </a:lnTo>
                    <a:lnTo>
                      <a:pt x="1118" y="355"/>
                    </a:lnTo>
                    <a:lnTo>
                      <a:pt x="1099" y="402"/>
                    </a:lnTo>
                    <a:lnTo>
                      <a:pt x="1075" y="451"/>
                    </a:lnTo>
                    <a:lnTo>
                      <a:pt x="1045" y="501"/>
                    </a:lnTo>
                    <a:lnTo>
                      <a:pt x="1010" y="550"/>
                    </a:lnTo>
                    <a:lnTo>
                      <a:pt x="968" y="597"/>
                    </a:lnTo>
                    <a:lnTo>
                      <a:pt x="923" y="643"/>
                    </a:lnTo>
                    <a:lnTo>
                      <a:pt x="871" y="688"/>
                    </a:lnTo>
                    <a:lnTo>
                      <a:pt x="818" y="727"/>
                    </a:lnTo>
                    <a:lnTo>
                      <a:pt x="763" y="765"/>
                    </a:lnTo>
                    <a:lnTo>
                      <a:pt x="703" y="800"/>
                    </a:lnTo>
                    <a:lnTo>
                      <a:pt x="644" y="830"/>
                    </a:lnTo>
                    <a:lnTo>
                      <a:pt x="583" y="855"/>
                    </a:lnTo>
                    <a:lnTo>
                      <a:pt x="519" y="877"/>
                    </a:lnTo>
                    <a:lnTo>
                      <a:pt x="460" y="893"/>
                    </a:lnTo>
                    <a:lnTo>
                      <a:pt x="401" y="903"/>
                    </a:lnTo>
                    <a:lnTo>
                      <a:pt x="342" y="909"/>
                    </a:lnTo>
                    <a:lnTo>
                      <a:pt x="286" y="909"/>
                    </a:lnTo>
                    <a:lnTo>
                      <a:pt x="235" y="905"/>
                    </a:lnTo>
                    <a:lnTo>
                      <a:pt x="187" y="893"/>
                    </a:lnTo>
                    <a:lnTo>
                      <a:pt x="144" y="877"/>
                    </a:lnTo>
                    <a:lnTo>
                      <a:pt x="106" y="857"/>
                    </a:lnTo>
                    <a:lnTo>
                      <a:pt x="73" y="832"/>
                    </a:lnTo>
                    <a:lnTo>
                      <a:pt x="45" y="802"/>
                    </a:lnTo>
                    <a:lnTo>
                      <a:pt x="23" y="769"/>
                    </a:lnTo>
                    <a:lnTo>
                      <a:pt x="9" y="731"/>
                    </a:lnTo>
                    <a:lnTo>
                      <a:pt x="2" y="690"/>
                    </a:lnTo>
                    <a:lnTo>
                      <a:pt x="0" y="647"/>
                    </a:lnTo>
                    <a:lnTo>
                      <a:pt x="5" y="601"/>
                    </a:lnTo>
                    <a:lnTo>
                      <a:pt x="15" y="554"/>
                    </a:lnTo>
                    <a:lnTo>
                      <a:pt x="35" y="505"/>
                    </a:lnTo>
                    <a:lnTo>
                      <a:pt x="59" y="455"/>
                    </a:lnTo>
                    <a:lnTo>
                      <a:pt x="88" y="406"/>
                    </a:lnTo>
                    <a:lnTo>
                      <a:pt x="124" y="359"/>
                    </a:lnTo>
                    <a:lnTo>
                      <a:pt x="166" y="311"/>
                    </a:lnTo>
                    <a:lnTo>
                      <a:pt x="211" y="264"/>
                    </a:lnTo>
                    <a:lnTo>
                      <a:pt x="262" y="221"/>
                    </a:lnTo>
                    <a:lnTo>
                      <a:pt x="316" y="179"/>
                    </a:lnTo>
                    <a:lnTo>
                      <a:pt x="371" y="14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31"/>
            <p:cNvGrpSpPr>
              <a:grpSpLocks/>
            </p:cNvGrpSpPr>
            <p:nvPr/>
          </p:nvGrpSpPr>
          <p:grpSpPr bwMode="auto">
            <a:xfrm>
              <a:off x="1893888" y="1922463"/>
              <a:ext cx="1933575" cy="3097212"/>
              <a:chOff x="1193" y="1211"/>
              <a:chExt cx="1218" cy="1951"/>
            </a:xfrm>
          </p:grpSpPr>
          <p:sp>
            <p:nvSpPr>
              <p:cNvPr id="73740" name="Rectangle 32"/>
              <p:cNvSpPr>
                <a:spLocks noChangeArrowheads="1"/>
              </p:cNvSpPr>
              <p:nvPr/>
            </p:nvSpPr>
            <p:spPr bwMode="auto">
              <a:xfrm>
                <a:off x="1602" y="1211"/>
                <a:ext cx="16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FF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73741" name="Freeform 33"/>
              <p:cNvSpPr>
                <a:spLocks/>
              </p:cNvSpPr>
              <p:nvPr/>
            </p:nvSpPr>
            <p:spPr bwMode="auto">
              <a:xfrm>
                <a:off x="1193" y="1246"/>
                <a:ext cx="1218" cy="1916"/>
              </a:xfrm>
              <a:custGeom>
                <a:avLst/>
                <a:gdLst>
                  <a:gd name="T0" fmla="*/ 87 w 1218"/>
                  <a:gd name="T1" fmla="*/ 724 h 1916"/>
                  <a:gd name="T2" fmla="*/ 148 w 1218"/>
                  <a:gd name="T3" fmla="*/ 566 h 1916"/>
                  <a:gd name="T4" fmla="*/ 225 w 1218"/>
                  <a:gd name="T5" fmla="*/ 420 h 1916"/>
                  <a:gd name="T6" fmla="*/ 312 w 1218"/>
                  <a:gd name="T7" fmla="*/ 290 h 1916"/>
                  <a:gd name="T8" fmla="*/ 409 w 1218"/>
                  <a:gd name="T9" fmla="*/ 182 h 1916"/>
                  <a:gd name="T10" fmla="*/ 514 w 1218"/>
                  <a:gd name="T11" fmla="*/ 97 h 1916"/>
                  <a:gd name="T12" fmla="*/ 619 w 1218"/>
                  <a:gd name="T13" fmla="*/ 38 h 1916"/>
                  <a:gd name="T14" fmla="*/ 725 w 1218"/>
                  <a:gd name="T15" fmla="*/ 6 h 1916"/>
                  <a:gd name="T16" fmla="*/ 826 w 1218"/>
                  <a:gd name="T17" fmla="*/ 4 h 1916"/>
                  <a:gd name="T18" fmla="*/ 923 w 1218"/>
                  <a:gd name="T19" fmla="*/ 30 h 1916"/>
                  <a:gd name="T20" fmla="*/ 1008 w 1218"/>
                  <a:gd name="T21" fmla="*/ 85 h 1916"/>
                  <a:gd name="T22" fmla="*/ 1081 w 1218"/>
                  <a:gd name="T23" fmla="*/ 168 h 1916"/>
                  <a:gd name="T24" fmla="*/ 1142 w 1218"/>
                  <a:gd name="T25" fmla="*/ 272 h 1916"/>
                  <a:gd name="T26" fmla="*/ 1184 w 1218"/>
                  <a:gd name="T27" fmla="*/ 399 h 1916"/>
                  <a:gd name="T28" fmla="*/ 1212 w 1218"/>
                  <a:gd name="T29" fmla="*/ 543 h 1916"/>
                  <a:gd name="T30" fmla="*/ 1218 w 1218"/>
                  <a:gd name="T31" fmla="*/ 698 h 1916"/>
                  <a:gd name="T32" fmla="*/ 1208 w 1218"/>
                  <a:gd name="T33" fmla="*/ 862 h 1916"/>
                  <a:gd name="T34" fmla="*/ 1178 w 1218"/>
                  <a:gd name="T35" fmla="*/ 1029 h 1916"/>
                  <a:gd name="T36" fmla="*/ 1133 w 1218"/>
                  <a:gd name="T37" fmla="*/ 1193 h 1916"/>
                  <a:gd name="T38" fmla="*/ 1069 w 1218"/>
                  <a:gd name="T39" fmla="*/ 1351 h 1916"/>
                  <a:gd name="T40" fmla="*/ 992 w 1218"/>
                  <a:gd name="T41" fmla="*/ 1496 h 1916"/>
                  <a:gd name="T42" fmla="*/ 905 w 1218"/>
                  <a:gd name="T43" fmla="*/ 1627 h 1916"/>
                  <a:gd name="T44" fmla="*/ 808 w 1218"/>
                  <a:gd name="T45" fmla="*/ 1735 h 1916"/>
                  <a:gd name="T46" fmla="*/ 706 w 1218"/>
                  <a:gd name="T47" fmla="*/ 1820 h 1916"/>
                  <a:gd name="T48" fmla="*/ 599 w 1218"/>
                  <a:gd name="T49" fmla="*/ 1879 h 1916"/>
                  <a:gd name="T50" fmla="*/ 494 w 1218"/>
                  <a:gd name="T51" fmla="*/ 1910 h 1916"/>
                  <a:gd name="T52" fmla="*/ 391 w 1218"/>
                  <a:gd name="T53" fmla="*/ 1912 h 1916"/>
                  <a:gd name="T54" fmla="*/ 296 w 1218"/>
                  <a:gd name="T55" fmla="*/ 1887 h 1916"/>
                  <a:gd name="T56" fmla="*/ 209 w 1218"/>
                  <a:gd name="T57" fmla="*/ 1832 h 1916"/>
                  <a:gd name="T58" fmla="*/ 136 w 1218"/>
                  <a:gd name="T59" fmla="*/ 1751 h 1916"/>
                  <a:gd name="T60" fmla="*/ 77 w 1218"/>
                  <a:gd name="T61" fmla="*/ 1644 h 1916"/>
                  <a:gd name="T62" fmla="*/ 33 w 1218"/>
                  <a:gd name="T63" fmla="*/ 1518 h 1916"/>
                  <a:gd name="T64" fmla="*/ 8 w 1218"/>
                  <a:gd name="T65" fmla="*/ 1374 h 1916"/>
                  <a:gd name="T66" fmla="*/ 0 w 1218"/>
                  <a:gd name="T67" fmla="*/ 1219 h 1916"/>
                  <a:gd name="T68" fmla="*/ 12 w 1218"/>
                  <a:gd name="T69" fmla="*/ 1055 h 1916"/>
                  <a:gd name="T70" fmla="*/ 39 w 1218"/>
                  <a:gd name="T71" fmla="*/ 887 h 19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218"/>
                  <a:gd name="T109" fmla="*/ 0 h 1916"/>
                  <a:gd name="T110" fmla="*/ 1218 w 1218"/>
                  <a:gd name="T111" fmla="*/ 1916 h 191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218" h="1916">
                    <a:moveTo>
                      <a:pt x="61" y="805"/>
                    </a:moveTo>
                    <a:lnTo>
                      <a:pt x="87" y="724"/>
                    </a:lnTo>
                    <a:lnTo>
                      <a:pt x="116" y="643"/>
                    </a:lnTo>
                    <a:lnTo>
                      <a:pt x="148" y="566"/>
                    </a:lnTo>
                    <a:lnTo>
                      <a:pt x="186" y="491"/>
                    </a:lnTo>
                    <a:lnTo>
                      <a:pt x="225" y="420"/>
                    </a:lnTo>
                    <a:lnTo>
                      <a:pt x="267" y="353"/>
                    </a:lnTo>
                    <a:lnTo>
                      <a:pt x="312" y="290"/>
                    </a:lnTo>
                    <a:lnTo>
                      <a:pt x="360" y="233"/>
                    </a:lnTo>
                    <a:lnTo>
                      <a:pt x="409" y="182"/>
                    </a:lnTo>
                    <a:lnTo>
                      <a:pt x="460" y="136"/>
                    </a:lnTo>
                    <a:lnTo>
                      <a:pt x="514" y="97"/>
                    </a:lnTo>
                    <a:lnTo>
                      <a:pt x="565" y="64"/>
                    </a:lnTo>
                    <a:lnTo>
                      <a:pt x="619" y="38"/>
                    </a:lnTo>
                    <a:lnTo>
                      <a:pt x="672" y="18"/>
                    </a:lnTo>
                    <a:lnTo>
                      <a:pt x="725" y="6"/>
                    </a:lnTo>
                    <a:lnTo>
                      <a:pt x="777" y="0"/>
                    </a:lnTo>
                    <a:lnTo>
                      <a:pt x="826" y="4"/>
                    </a:lnTo>
                    <a:lnTo>
                      <a:pt x="876" y="14"/>
                    </a:lnTo>
                    <a:lnTo>
                      <a:pt x="923" y="30"/>
                    </a:lnTo>
                    <a:lnTo>
                      <a:pt x="966" y="54"/>
                    </a:lnTo>
                    <a:lnTo>
                      <a:pt x="1008" y="85"/>
                    </a:lnTo>
                    <a:lnTo>
                      <a:pt x="1048" y="123"/>
                    </a:lnTo>
                    <a:lnTo>
                      <a:pt x="1081" y="168"/>
                    </a:lnTo>
                    <a:lnTo>
                      <a:pt x="1113" y="217"/>
                    </a:lnTo>
                    <a:lnTo>
                      <a:pt x="1142" y="272"/>
                    </a:lnTo>
                    <a:lnTo>
                      <a:pt x="1166" y="334"/>
                    </a:lnTo>
                    <a:lnTo>
                      <a:pt x="1184" y="399"/>
                    </a:lnTo>
                    <a:lnTo>
                      <a:pt x="1200" y="470"/>
                    </a:lnTo>
                    <a:lnTo>
                      <a:pt x="1212" y="543"/>
                    </a:lnTo>
                    <a:lnTo>
                      <a:pt x="1218" y="619"/>
                    </a:lnTo>
                    <a:lnTo>
                      <a:pt x="1218" y="698"/>
                    </a:lnTo>
                    <a:lnTo>
                      <a:pt x="1216" y="779"/>
                    </a:lnTo>
                    <a:lnTo>
                      <a:pt x="1208" y="862"/>
                    </a:lnTo>
                    <a:lnTo>
                      <a:pt x="1196" y="947"/>
                    </a:lnTo>
                    <a:lnTo>
                      <a:pt x="1178" y="1029"/>
                    </a:lnTo>
                    <a:lnTo>
                      <a:pt x="1156" y="1112"/>
                    </a:lnTo>
                    <a:lnTo>
                      <a:pt x="1133" y="1193"/>
                    </a:lnTo>
                    <a:lnTo>
                      <a:pt x="1103" y="1274"/>
                    </a:lnTo>
                    <a:lnTo>
                      <a:pt x="1069" y="1351"/>
                    </a:lnTo>
                    <a:lnTo>
                      <a:pt x="1034" y="1426"/>
                    </a:lnTo>
                    <a:lnTo>
                      <a:pt x="992" y="1496"/>
                    </a:lnTo>
                    <a:lnTo>
                      <a:pt x="951" y="1563"/>
                    </a:lnTo>
                    <a:lnTo>
                      <a:pt x="905" y="1627"/>
                    </a:lnTo>
                    <a:lnTo>
                      <a:pt x="858" y="1684"/>
                    </a:lnTo>
                    <a:lnTo>
                      <a:pt x="808" y="1735"/>
                    </a:lnTo>
                    <a:lnTo>
                      <a:pt x="757" y="1780"/>
                    </a:lnTo>
                    <a:lnTo>
                      <a:pt x="706" y="1820"/>
                    </a:lnTo>
                    <a:lnTo>
                      <a:pt x="652" y="1853"/>
                    </a:lnTo>
                    <a:lnTo>
                      <a:pt x="599" y="1879"/>
                    </a:lnTo>
                    <a:lnTo>
                      <a:pt x="545" y="1899"/>
                    </a:lnTo>
                    <a:lnTo>
                      <a:pt x="494" y="1910"/>
                    </a:lnTo>
                    <a:lnTo>
                      <a:pt x="443" y="1916"/>
                    </a:lnTo>
                    <a:lnTo>
                      <a:pt x="391" y="1912"/>
                    </a:lnTo>
                    <a:lnTo>
                      <a:pt x="342" y="1902"/>
                    </a:lnTo>
                    <a:lnTo>
                      <a:pt x="296" y="1887"/>
                    </a:lnTo>
                    <a:lnTo>
                      <a:pt x="251" y="1863"/>
                    </a:lnTo>
                    <a:lnTo>
                      <a:pt x="209" y="1832"/>
                    </a:lnTo>
                    <a:lnTo>
                      <a:pt x="172" y="1794"/>
                    </a:lnTo>
                    <a:lnTo>
                      <a:pt x="136" y="1751"/>
                    </a:lnTo>
                    <a:lnTo>
                      <a:pt x="105" y="1699"/>
                    </a:lnTo>
                    <a:lnTo>
                      <a:pt x="77" y="1644"/>
                    </a:lnTo>
                    <a:lnTo>
                      <a:pt x="53" y="1583"/>
                    </a:lnTo>
                    <a:lnTo>
                      <a:pt x="33" y="1518"/>
                    </a:lnTo>
                    <a:lnTo>
                      <a:pt x="18" y="1449"/>
                    </a:lnTo>
                    <a:lnTo>
                      <a:pt x="8" y="1374"/>
                    </a:lnTo>
                    <a:lnTo>
                      <a:pt x="2" y="1297"/>
                    </a:lnTo>
                    <a:lnTo>
                      <a:pt x="0" y="1219"/>
                    </a:lnTo>
                    <a:lnTo>
                      <a:pt x="4" y="1138"/>
                    </a:lnTo>
                    <a:lnTo>
                      <a:pt x="12" y="1055"/>
                    </a:lnTo>
                    <a:lnTo>
                      <a:pt x="24" y="972"/>
                    </a:lnTo>
                    <a:lnTo>
                      <a:pt x="39" y="887"/>
                    </a:lnTo>
                    <a:lnTo>
                      <a:pt x="61" y="805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66800"/>
            <a:ext cx="40005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 Box 3"/>
          <p:cNvSpPr txBox="1">
            <a:spLocks noChangeArrowheads="1"/>
          </p:cNvSpPr>
          <p:nvPr/>
        </p:nvSpPr>
        <p:spPr bwMode="auto">
          <a:xfrm>
            <a:off x="152400" y="4724400"/>
            <a:ext cx="464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Dist({3,4, 6}, {1})=(.22+.37+.23)/(3*1)=.28</a:t>
            </a:r>
          </a:p>
        </p:txBody>
      </p:sp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228600" y="5562600"/>
            <a:ext cx="464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Dist({2, 5}, {1})=(.24+.34)/(2*1)=.2889</a:t>
            </a:r>
          </a:p>
        </p:txBody>
      </p: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52400" y="6172200"/>
            <a:ext cx="6172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Dist({3,4, 6}, {2,5})=(.15+.28+.25+.39+.20+.29)/(3*2)=.26</a:t>
            </a:r>
          </a:p>
        </p:txBody>
      </p:sp>
      <p:sp>
        <p:nvSpPr>
          <p:cNvPr id="39" name="Text Box 4"/>
          <p:cNvSpPr txBox="1">
            <a:spLocks noChangeArrowheads="1"/>
          </p:cNvSpPr>
          <p:nvPr/>
        </p:nvSpPr>
        <p:spPr bwMode="auto">
          <a:xfrm>
            <a:off x="304800" y="4267200"/>
            <a:ext cx="137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i="1" u="sng" dirty="0"/>
              <a:t>Cluster 4:</a:t>
            </a: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80</a:t>
            </a:fld>
            <a:endParaRPr lang="en-US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Clustering: Group Average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sz="3100"/>
              <a:t>Compromise between Single and Complete Link</a:t>
            </a:r>
          </a:p>
          <a:p>
            <a:pPr marL="533400" indent="-533400"/>
            <a:endParaRPr lang="en-US" altLang="en-US" sz="3100"/>
          </a:p>
          <a:p>
            <a:pPr marL="533400" indent="-533400"/>
            <a:r>
              <a:rPr lang="en-US" altLang="en-US" sz="3100"/>
              <a:t>Strengths</a:t>
            </a:r>
          </a:p>
          <a:p>
            <a:pPr marL="914400" lvl="1" indent="-457200"/>
            <a:r>
              <a:rPr lang="en-US" altLang="en-US" sz="2700"/>
              <a:t>Less susceptible to noise and outliers</a:t>
            </a:r>
          </a:p>
          <a:p>
            <a:pPr marL="533400" indent="-533400"/>
            <a:endParaRPr lang="en-US" altLang="en-US" sz="3100"/>
          </a:p>
          <a:p>
            <a:pPr marL="533400" indent="-533400"/>
            <a:r>
              <a:rPr lang="en-US" altLang="en-US" sz="3100"/>
              <a:t>Limitations</a:t>
            </a:r>
          </a:p>
          <a:p>
            <a:pPr marL="914400" lvl="1" indent="-457200"/>
            <a:r>
              <a:rPr lang="en-US" altLang="en-US" sz="2700"/>
              <a:t>Biased towards globular clusters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81</a:t>
            </a:fld>
            <a:endParaRPr lang="en-US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 Similarity: Ward’s Method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915400" cy="4411662"/>
          </a:xfrm>
        </p:spPr>
        <p:txBody>
          <a:bodyPr/>
          <a:lstStyle/>
          <a:p>
            <a:r>
              <a:rPr lang="en-US" altLang="en-US" dirty="0"/>
              <a:t>Similarity of two clusters is based on the increase in squared error when two clusters are merged</a:t>
            </a:r>
          </a:p>
          <a:p>
            <a:pPr lvl="1"/>
            <a:r>
              <a:rPr lang="en-US" altLang="en-US" dirty="0"/>
              <a:t>Similar to group average if distance between points is distance squared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Less susceptible to noise and outliers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Biased towards globular clusters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Hierarchical analogue of K-means</a:t>
            </a:r>
          </a:p>
          <a:p>
            <a:pPr lvl="1"/>
            <a:r>
              <a:rPr lang="en-US" altLang="en-US" dirty="0"/>
              <a:t>Can be used to initialize K-means to find 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82</a:t>
            </a:fld>
            <a:endParaRPr lang="en-US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543800" cy="503238"/>
          </a:xfrm>
        </p:spPr>
        <p:txBody>
          <a:bodyPr/>
          <a:lstStyle/>
          <a:p>
            <a:r>
              <a:rPr lang="en-US" altLang="en-US" sz="2400" dirty="0"/>
              <a:t>Hierarchical Clustering: Comparison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3352800" y="48768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/>
              <a:t>Group Average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4419600" y="39624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/>
              <a:t>Ward’s Method</a:t>
            </a:r>
          </a:p>
        </p:txBody>
      </p:sp>
      <p:grpSp>
        <p:nvGrpSpPr>
          <p:cNvPr id="2" name="Group 121"/>
          <p:cNvGrpSpPr/>
          <p:nvPr/>
        </p:nvGrpSpPr>
        <p:grpSpPr>
          <a:xfrm>
            <a:off x="6003925" y="3890963"/>
            <a:ext cx="2413000" cy="2281237"/>
            <a:chOff x="6003925" y="3890963"/>
            <a:chExt cx="2413000" cy="2281237"/>
          </a:xfrm>
        </p:grpSpPr>
        <p:grpSp>
          <p:nvGrpSpPr>
            <p:cNvPr id="3" name="Group 5"/>
            <p:cNvGrpSpPr>
              <a:grpSpLocks noChangeAspect="1"/>
            </p:cNvGrpSpPr>
            <p:nvPr/>
          </p:nvGrpSpPr>
          <p:grpSpPr bwMode="auto">
            <a:xfrm>
              <a:off x="6270625" y="4132263"/>
              <a:ext cx="1858963" cy="1693862"/>
              <a:chOff x="509" y="1253"/>
              <a:chExt cx="1776" cy="1618"/>
            </a:xfrm>
          </p:grpSpPr>
          <p:sp>
            <p:nvSpPr>
              <p:cNvPr id="76907" name="Freeform 6"/>
              <p:cNvSpPr>
                <a:spLocks noChangeAspect="1"/>
              </p:cNvSpPr>
              <p:nvPr/>
            </p:nvSpPr>
            <p:spPr bwMode="auto">
              <a:xfrm>
                <a:off x="1058" y="1885"/>
                <a:ext cx="79" cy="81"/>
              </a:xfrm>
              <a:custGeom>
                <a:avLst/>
                <a:gdLst>
                  <a:gd name="T0" fmla="*/ 0 w 79"/>
                  <a:gd name="T1" fmla="*/ 40 h 81"/>
                  <a:gd name="T2" fmla="*/ 2 w 79"/>
                  <a:gd name="T3" fmla="*/ 24 h 81"/>
                  <a:gd name="T4" fmla="*/ 12 w 79"/>
                  <a:gd name="T5" fmla="*/ 12 h 81"/>
                  <a:gd name="T6" fmla="*/ 24 w 79"/>
                  <a:gd name="T7" fmla="*/ 2 h 81"/>
                  <a:gd name="T8" fmla="*/ 40 w 79"/>
                  <a:gd name="T9" fmla="*/ 0 h 81"/>
                  <a:gd name="T10" fmla="*/ 56 w 79"/>
                  <a:gd name="T11" fmla="*/ 2 h 81"/>
                  <a:gd name="T12" fmla="*/ 68 w 79"/>
                  <a:gd name="T13" fmla="*/ 12 h 81"/>
                  <a:gd name="T14" fmla="*/ 77 w 79"/>
                  <a:gd name="T15" fmla="*/ 24 h 81"/>
                  <a:gd name="T16" fmla="*/ 79 w 79"/>
                  <a:gd name="T17" fmla="*/ 40 h 81"/>
                  <a:gd name="T18" fmla="*/ 77 w 79"/>
                  <a:gd name="T19" fmla="*/ 55 h 81"/>
                  <a:gd name="T20" fmla="*/ 68 w 79"/>
                  <a:gd name="T21" fmla="*/ 69 h 81"/>
                  <a:gd name="T22" fmla="*/ 56 w 79"/>
                  <a:gd name="T23" fmla="*/ 77 h 81"/>
                  <a:gd name="T24" fmla="*/ 40 w 79"/>
                  <a:gd name="T25" fmla="*/ 81 h 81"/>
                  <a:gd name="T26" fmla="*/ 24 w 79"/>
                  <a:gd name="T27" fmla="*/ 77 h 81"/>
                  <a:gd name="T28" fmla="*/ 12 w 79"/>
                  <a:gd name="T29" fmla="*/ 69 h 81"/>
                  <a:gd name="T30" fmla="*/ 2 w 79"/>
                  <a:gd name="T31" fmla="*/ 55 h 81"/>
                  <a:gd name="T32" fmla="*/ 0 w 79"/>
                  <a:gd name="T33" fmla="*/ 4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9"/>
                  <a:gd name="T52" fmla="*/ 0 h 81"/>
                  <a:gd name="T53" fmla="*/ 79 w 79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9" h="81">
                    <a:moveTo>
                      <a:pt x="0" y="40"/>
                    </a:moveTo>
                    <a:lnTo>
                      <a:pt x="2" y="24"/>
                    </a:lnTo>
                    <a:lnTo>
                      <a:pt x="12" y="12"/>
                    </a:lnTo>
                    <a:lnTo>
                      <a:pt x="24" y="2"/>
                    </a:lnTo>
                    <a:lnTo>
                      <a:pt x="40" y="0"/>
                    </a:lnTo>
                    <a:lnTo>
                      <a:pt x="56" y="2"/>
                    </a:lnTo>
                    <a:lnTo>
                      <a:pt x="68" y="12"/>
                    </a:lnTo>
                    <a:lnTo>
                      <a:pt x="77" y="24"/>
                    </a:lnTo>
                    <a:lnTo>
                      <a:pt x="79" y="40"/>
                    </a:lnTo>
                    <a:lnTo>
                      <a:pt x="77" y="55"/>
                    </a:lnTo>
                    <a:lnTo>
                      <a:pt x="68" y="69"/>
                    </a:lnTo>
                    <a:lnTo>
                      <a:pt x="56" y="77"/>
                    </a:lnTo>
                    <a:lnTo>
                      <a:pt x="40" y="81"/>
                    </a:lnTo>
                    <a:lnTo>
                      <a:pt x="24" y="77"/>
                    </a:lnTo>
                    <a:lnTo>
                      <a:pt x="12" y="69"/>
                    </a:lnTo>
                    <a:lnTo>
                      <a:pt x="2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08" name="Freeform 7"/>
              <p:cNvSpPr>
                <a:spLocks noChangeAspect="1"/>
              </p:cNvSpPr>
              <p:nvPr/>
            </p:nvSpPr>
            <p:spPr bwMode="auto">
              <a:xfrm>
                <a:off x="1810" y="1300"/>
                <a:ext cx="81" cy="81"/>
              </a:xfrm>
              <a:custGeom>
                <a:avLst/>
                <a:gdLst>
                  <a:gd name="T0" fmla="*/ 0 w 81"/>
                  <a:gd name="T1" fmla="*/ 39 h 81"/>
                  <a:gd name="T2" fmla="*/ 2 w 81"/>
                  <a:gd name="T3" fmla="*/ 23 h 81"/>
                  <a:gd name="T4" fmla="*/ 11 w 81"/>
                  <a:gd name="T5" fmla="*/ 12 h 81"/>
                  <a:gd name="T6" fmla="*/ 23 w 81"/>
                  <a:gd name="T7" fmla="*/ 2 h 81"/>
                  <a:gd name="T8" fmla="*/ 39 w 81"/>
                  <a:gd name="T9" fmla="*/ 0 h 81"/>
                  <a:gd name="T10" fmla="*/ 55 w 81"/>
                  <a:gd name="T11" fmla="*/ 2 h 81"/>
                  <a:gd name="T12" fmla="*/ 69 w 81"/>
                  <a:gd name="T13" fmla="*/ 12 h 81"/>
                  <a:gd name="T14" fmla="*/ 77 w 81"/>
                  <a:gd name="T15" fmla="*/ 23 h 81"/>
                  <a:gd name="T16" fmla="*/ 81 w 81"/>
                  <a:gd name="T17" fmla="*/ 39 h 81"/>
                  <a:gd name="T18" fmla="*/ 77 w 81"/>
                  <a:gd name="T19" fmla="*/ 55 h 81"/>
                  <a:gd name="T20" fmla="*/ 69 w 81"/>
                  <a:gd name="T21" fmla="*/ 69 h 81"/>
                  <a:gd name="T22" fmla="*/ 55 w 81"/>
                  <a:gd name="T23" fmla="*/ 77 h 81"/>
                  <a:gd name="T24" fmla="*/ 39 w 81"/>
                  <a:gd name="T25" fmla="*/ 81 h 81"/>
                  <a:gd name="T26" fmla="*/ 23 w 81"/>
                  <a:gd name="T27" fmla="*/ 77 h 81"/>
                  <a:gd name="T28" fmla="*/ 11 w 81"/>
                  <a:gd name="T29" fmla="*/ 69 h 81"/>
                  <a:gd name="T30" fmla="*/ 2 w 81"/>
                  <a:gd name="T31" fmla="*/ 55 h 81"/>
                  <a:gd name="T32" fmla="*/ 0 w 81"/>
                  <a:gd name="T33" fmla="*/ 39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81"/>
                  <a:gd name="T53" fmla="*/ 81 w 81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81">
                    <a:moveTo>
                      <a:pt x="0" y="39"/>
                    </a:moveTo>
                    <a:lnTo>
                      <a:pt x="2" y="23"/>
                    </a:lnTo>
                    <a:lnTo>
                      <a:pt x="11" y="12"/>
                    </a:lnTo>
                    <a:lnTo>
                      <a:pt x="23" y="2"/>
                    </a:lnTo>
                    <a:lnTo>
                      <a:pt x="39" y="0"/>
                    </a:lnTo>
                    <a:lnTo>
                      <a:pt x="55" y="2"/>
                    </a:lnTo>
                    <a:lnTo>
                      <a:pt x="69" y="12"/>
                    </a:lnTo>
                    <a:lnTo>
                      <a:pt x="77" y="23"/>
                    </a:lnTo>
                    <a:lnTo>
                      <a:pt x="81" y="39"/>
                    </a:lnTo>
                    <a:lnTo>
                      <a:pt x="77" y="55"/>
                    </a:lnTo>
                    <a:lnTo>
                      <a:pt x="69" y="69"/>
                    </a:lnTo>
                    <a:lnTo>
                      <a:pt x="55" y="77"/>
                    </a:lnTo>
                    <a:lnTo>
                      <a:pt x="39" y="81"/>
                    </a:lnTo>
                    <a:lnTo>
                      <a:pt x="23" y="77"/>
                    </a:lnTo>
                    <a:lnTo>
                      <a:pt x="11" y="69"/>
                    </a:lnTo>
                    <a:lnTo>
                      <a:pt x="2" y="55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09" name="Freeform 8"/>
              <p:cNvSpPr>
                <a:spLocks noChangeAspect="1"/>
              </p:cNvSpPr>
              <p:nvPr/>
            </p:nvSpPr>
            <p:spPr bwMode="auto">
              <a:xfrm>
                <a:off x="1262" y="2683"/>
                <a:ext cx="81" cy="81"/>
              </a:xfrm>
              <a:custGeom>
                <a:avLst/>
                <a:gdLst>
                  <a:gd name="T0" fmla="*/ 0 w 81"/>
                  <a:gd name="T1" fmla="*/ 40 h 81"/>
                  <a:gd name="T2" fmla="*/ 2 w 81"/>
                  <a:gd name="T3" fmla="*/ 24 h 81"/>
                  <a:gd name="T4" fmla="*/ 12 w 81"/>
                  <a:gd name="T5" fmla="*/ 12 h 81"/>
                  <a:gd name="T6" fmla="*/ 24 w 81"/>
                  <a:gd name="T7" fmla="*/ 2 h 81"/>
                  <a:gd name="T8" fmla="*/ 40 w 81"/>
                  <a:gd name="T9" fmla="*/ 0 h 81"/>
                  <a:gd name="T10" fmla="*/ 55 w 81"/>
                  <a:gd name="T11" fmla="*/ 2 h 81"/>
                  <a:gd name="T12" fmla="*/ 69 w 81"/>
                  <a:gd name="T13" fmla="*/ 12 h 81"/>
                  <a:gd name="T14" fmla="*/ 77 w 81"/>
                  <a:gd name="T15" fmla="*/ 24 h 81"/>
                  <a:gd name="T16" fmla="*/ 81 w 81"/>
                  <a:gd name="T17" fmla="*/ 40 h 81"/>
                  <a:gd name="T18" fmla="*/ 77 w 81"/>
                  <a:gd name="T19" fmla="*/ 56 h 81"/>
                  <a:gd name="T20" fmla="*/ 69 w 81"/>
                  <a:gd name="T21" fmla="*/ 69 h 81"/>
                  <a:gd name="T22" fmla="*/ 55 w 81"/>
                  <a:gd name="T23" fmla="*/ 77 h 81"/>
                  <a:gd name="T24" fmla="*/ 40 w 81"/>
                  <a:gd name="T25" fmla="*/ 81 h 81"/>
                  <a:gd name="T26" fmla="*/ 24 w 81"/>
                  <a:gd name="T27" fmla="*/ 77 h 81"/>
                  <a:gd name="T28" fmla="*/ 12 w 81"/>
                  <a:gd name="T29" fmla="*/ 69 h 81"/>
                  <a:gd name="T30" fmla="*/ 2 w 81"/>
                  <a:gd name="T31" fmla="*/ 56 h 81"/>
                  <a:gd name="T32" fmla="*/ 0 w 81"/>
                  <a:gd name="T33" fmla="*/ 4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81"/>
                  <a:gd name="T53" fmla="*/ 81 w 81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81">
                    <a:moveTo>
                      <a:pt x="0" y="40"/>
                    </a:moveTo>
                    <a:lnTo>
                      <a:pt x="2" y="24"/>
                    </a:lnTo>
                    <a:lnTo>
                      <a:pt x="12" y="12"/>
                    </a:lnTo>
                    <a:lnTo>
                      <a:pt x="24" y="2"/>
                    </a:lnTo>
                    <a:lnTo>
                      <a:pt x="40" y="0"/>
                    </a:lnTo>
                    <a:lnTo>
                      <a:pt x="55" y="2"/>
                    </a:lnTo>
                    <a:lnTo>
                      <a:pt x="69" y="12"/>
                    </a:lnTo>
                    <a:lnTo>
                      <a:pt x="77" y="24"/>
                    </a:lnTo>
                    <a:lnTo>
                      <a:pt x="81" y="40"/>
                    </a:lnTo>
                    <a:lnTo>
                      <a:pt x="77" y="56"/>
                    </a:lnTo>
                    <a:lnTo>
                      <a:pt x="69" y="69"/>
                    </a:lnTo>
                    <a:lnTo>
                      <a:pt x="55" y="77"/>
                    </a:lnTo>
                    <a:lnTo>
                      <a:pt x="40" y="81"/>
                    </a:lnTo>
                    <a:lnTo>
                      <a:pt x="24" y="77"/>
                    </a:lnTo>
                    <a:lnTo>
                      <a:pt x="12" y="69"/>
                    </a:lnTo>
                    <a:lnTo>
                      <a:pt x="2" y="56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10" name="Freeform 9"/>
              <p:cNvSpPr>
                <a:spLocks noChangeAspect="1"/>
              </p:cNvSpPr>
              <p:nvPr/>
            </p:nvSpPr>
            <p:spPr bwMode="auto">
              <a:xfrm>
                <a:off x="509" y="1769"/>
                <a:ext cx="81" cy="81"/>
              </a:xfrm>
              <a:custGeom>
                <a:avLst/>
                <a:gdLst>
                  <a:gd name="T0" fmla="*/ 0 w 81"/>
                  <a:gd name="T1" fmla="*/ 41 h 81"/>
                  <a:gd name="T2" fmla="*/ 2 w 81"/>
                  <a:gd name="T3" fmla="*/ 25 h 81"/>
                  <a:gd name="T4" fmla="*/ 12 w 81"/>
                  <a:gd name="T5" fmla="*/ 12 h 81"/>
                  <a:gd name="T6" fmla="*/ 24 w 81"/>
                  <a:gd name="T7" fmla="*/ 4 h 81"/>
                  <a:gd name="T8" fmla="*/ 39 w 81"/>
                  <a:gd name="T9" fmla="*/ 0 h 81"/>
                  <a:gd name="T10" fmla="*/ 55 w 81"/>
                  <a:gd name="T11" fmla="*/ 4 h 81"/>
                  <a:gd name="T12" fmla="*/ 69 w 81"/>
                  <a:gd name="T13" fmla="*/ 12 h 81"/>
                  <a:gd name="T14" fmla="*/ 77 w 81"/>
                  <a:gd name="T15" fmla="*/ 25 h 81"/>
                  <a:gd name="T16" fmla="*/ 81 w 81"/>
                  <a:gd name="T17" fmla="*/ 41 h 81"/>
                  <a:gd name="T18" fmla="*/ 77 w 81"/>
                  <a:gd name="T19" fmla="*/ 57 h 81"/>
                  <a:gd name="T20" fmla="*/ 69 w 81"/>
                  <a:gd name="T21" fmla="*/ 69 h 81"/>
                  <a:gd name="T22" fmla="*/ 55 w 81"/>
                  <a:gd name="T23" fmla="*/ 79 h 81"/>
                  <a:gd name="T24" fmla="*/ 39 w 81"/>
                  <a:gd name="T25" fmla="*/ 81 h 81"/>
                  <a:gd name="T26" fmla="*/ 24 w 81"/>
                  <a:gd name="T27" fmla="*/ 79 h 81"/>
                  <a:gd name="T28" fmla="*/ 12 w 81"/>
                  <a:gd name="T29" fmla="*/ 69 h 81"/>
                  <a:gd name="T30" fmla="*/ 2 w 81"/>
                  <a:gd name="T31" fmla="*/ 57 h 81"/>
                  <a:gd name="T32" fmla="*/ 0 w 81"/>
                  <a:gd name="T33" fmla="*/ 41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81"/>
                  <a:gd name="T53" fmla="*/ 81 w 81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81">
                    <a:moveTo>
                      <a:pt x="0" y="41"/>
                    </a:moveTo>
                    <a:lnTo>
                      <a:pt x="2" y="25"/>
                    </a:lnTo>
                    <a:lnTo>
                      <a:pt x="12" y="12"/>
                    </a:lnTo>
                    <a:lnTo>
                      <a:pt x="24" y="4"/>
                    </a:lnTo>
                    <a:lnTo>
                      <a:pt x="39" y="0"/>
                    </a:lnTo>
                    <a:lnTo>
                      <a:pt x="55" y="4"/>
                    </a:lnTo>
                    <a:lnTo>
                      <a:pt x="69" y="12"/>
                    </a:lnTo>
                    <a:lnTo>
                      <a:pt x="77" y="25"/>
                    </a:lnTo>
                    <a:lnTo>
                      <a:pt x="81" y="41"/>
                    </a:lnTo>
                    <a:lnTo>
                      <a:pt x="77" y="57"/>
                    </a:lnTo>
                    <a:lnTo>
                      <a:pt x="69" y="69"/>
                    </a:lnTo>
                    <a:lnTo>
                      <a:pt x="55" y="79"/>
                    </a:lnTo>
                    <a:lnTo>
                      <a:pt x="39" y="81"/>
                    </a:lnTo>
                    <a:lnTo>
                      <a:pt x="24" y="79"/>
                    </a:lnTo>
                    <a:lnTo>
                      <a:pt x="12" y="69"/>
                    </a:lnTo>
                    <a:lnTo>
                      <a:pt x="2" y="57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11" name="Freeform 10"/>
              <p:cNvSpPr>
                <a:spLocks noChangeAspect="1"/>
              </p:cNvSpPr>
              <p:nvPr/>
            </p:nvSpPr>
            <p:spPr bwMode="auto">
              <a:xfrm>
                <a:off x="1586" y="2167"/>
                <a:ext cx="81" cy="79"/>
              </a:xfrm>
              <a:custGeom>
                <a:avLst/>
                <a:gdLst>
                  <a:gd name="T0" fmla="*/ 0 w 81"/>
                  <a:gd name="T1" fmla="*/ 39 h 79"/>
                  <a:gd name="T2" fmla="*/ 4 w 81"/>
                  <a:gd name="T3" fmla="*/ 24 h 79"/>
                  <a:gd name="T4" fmla="*/ 12 w 81"/>
                  <a:gd name="T5" fmla="*/ 12 h 79"/>
                  <a:gd name="T6" fmla="*/ 26 w 81"/>
                  <a:gd name="T7" fmla="*/ 2 h 79"/>
                  <a:gd name="T8" fmla="*/ 42 w 81"/>
                  <a:gd name="T9" fmla="*/ 0 h 79"/>
                  <a:gd name="T10" fmla="*/ 58 w 81"/>
                  <a:gd name="T11" fmla="*/ 2 h 79"/>
                  <a:gd name="T12" fmla="*/ 69 w 81"/>
                  <a:gd name="T13" fmla="*/ 12 h 79"/>
                  <a:gd name="T14" fmla="*/ 79 w 81"/>
                  <a:gd name="T15" fmla="*/ 24 h 79"/>
                  <a:gd name="T16" fmla="*/ 81 w 81"/>
                  <a:gd name="T17" fmla="*/ 39 h 79"/>
                  <a:gd name="T18" fmla="*/ 79 w 81"/>
                  <a:gd name="T19" fmla="*/ 55 h 79"/>
                  <a:gd name="T20" fmla="*/ 69 w 81"/>
                  <a:gd name="T21" fmla="*/ 67 h 79"/>
                  <a:gd name="T22" fmla="*/ 58 w 81"/>
                  <a:gd name="T23" fmla="*/ 77 h 79"/>
                  <a:gd name="T24" fmla="*/ 42 w 81"/>
                  <a:gd name="T25" fmla="*/ 79 h 79"/>
                  <a:gd name="T26" fmla="*/ 26 w 81"/>
                  <a:gd name="T27" fmla="*/ 77 h 79"/>
                  <a:gd name="T28" fmla="*/ 12 w 81"/>
                  <a:gd name="T29" fmla="*/ 67 h 79"/>
                  <a:gd name="T30" fmla="*/ 4 w 81"/>
                  <a:gd name="T31" fmla="*/ 55 h 79"/>
                  <a:gd name="T32" fmla="*/ 0 w 81"/>
                  <a:gd name="T33" fmla="*/ 39 h 7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79"/>
                  <a:gd name="T53" fmla="*/ 81 w 81"/>
                  <a:gd name="T54" fmla="*/ 79 h 7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79">
                    <a:moveTo>
                      <a:pt x="0" y="39"/>
                    </a:moveTo>
                    <a:lnTo>
                      <a:pt x="4" y="24"/>
                    </a:lnTo>
                    <a:lnTo>
                      <a:pt x="12" y="12"/>
                    </a:lnTo>
                    <a:lnTo>
                      <a:pt x="26" y="2"/>
                    </a:lnTo>
                    <a:lnTo>
                      <a:pt x="42" y="0"/>
                    </a:lnTo>
                    <a:lnTo>
                      <a:pt x="58" y="2"/>
                    </a:lnTo>
                    <a:lnTo>
                      <a:pt x="69" y="12"/>
                    </a:lnTo>
                    <a:lnTo>
                      <a:pt x="79" y="24"/>
                    </a:lnTo>
                    <a:lnTo>
                      <a:pt x="81" y="39"/>
                    </a:lnTo>
                    <a:lnTo>
                      <a:pt x="79" y="55"/>
                    </a:lnTo>
                    <a:lnTo>
                      <a:pt x="69" y="67"/>
                    </a:lnTo>
                    <a:lnTo>
                      <a:pt x="58" y="77"/>
                    </a:lnTo>
                    <a:lnTo>
                      <a:pt x="42" y="79"/>
                    </a:lnTo>
                    <a:lnTo>
                      <a:pt x="26" y="77"/>
                    </a:lnTo>
                    <a:lnTo>
                      <a:pt x="12" y="67"/>
                    </a:lnTo>
                    <a:lnTo>
                      <a:pt x="4" y="55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12" name="Freeform 11"/>
              <p:cNvSpPr>
                <a:spLocks noChangeAspect="1"/>
              </p:cNvSpPr>
              <p:nvPr/>
            </p:nvSpPr>
            <p:spPr bwMode="auto">
              <a:xfrm>
                <a:off x="2029" y="2220"/>
                <a:ext cx="81" cy="81"/>
              </a:xfrm>
              <a:custGeom>
                <a:avLst/>
                <a:gdLst>
                  <a:gd name="T0" fmla="*/ 0 w 81"/>
                  <a:gd name="T1" fmla="*/ 40 h 81"/>
                  <a:gd name="T2" fmla="*/ 2 w 81"/>
                  <a:gd name="T3" fmla="*/ 26 h 81"/>
                  <a:gd name="T4" fmla="*/ 12 w 81"/>
                  <a:gd name="T5" fmla="*/ 12 h 81"/>
                  <a:gd name="T6" fmla="*/ 24 w 81"/>
                  <a:gd name="T7" fmla="*/ 4 h 81"/>
                  <a:gd name="T8" fmla="*/ 40 w 81"/>
                  <a:gd name="T9" fmla="*/ 0 h 81"/>
                  <a:gd name="T10" fmla="*/ 55 w 81"/>
                  <a:gd name="T11" fmla="*/ 4 h 81"/>
                  <a:gd name="T12" fmla="*/ 69 w 81"/>
                  <a:gd name="T13" fmla="*/ 12 h 81"/>
                  <a:gd name="T14" fmla="*/ 77 w 81"/>
                  <a:gd name="T15" fmla="*/ 26 h 81"/>
                  <a:gd name="T16" fmla="*/ 81 w 81"/>
                  <a:gd name="T17" fmla="*/ 40 h 81"/>
                  <a:gd name="T18" fmla="*/ 77 w 81"/>
                  <a:gd name="T19" fmla="*/ 55 h 81"/>
                  <a:gd name="T20" fmla="*/ 69 w 81"/>
                  <a:gd name="T21" fmla="*/ 69 h 81"/>
                  <a:gd name="T22" fmla="*/ 55 w 81"/>
                  <a:gd name="T23" fmla="*/ 77 h 81"/>
                  <a:gd name="T24" fmla="*/ 40 w 81"/>
                  <a:gd name="T25" fmla="*/ 81 h 81"/>
                  <a:gd name="T26" fmla="*/ 24 w 81"/>
                  <a:gd name="T27" fmla="*/ 77 h 81"/>
                  <a:gd name="T28" fmla="*/ 12 w 81"/>
                  <a:gd name="T29" fmla="*/ 69 h 81"/>
                  <a:gd name="T30" fmla="*/ 2 w 81"/>
                  <a:gd name="T31" fmla="*/ 55 h 81"/>
                  <a:gd name="T32" fmla="*/ 0 w 81"/>
                  <a:gd name="T33" fmla="*/ 4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81"/>
                  <a:gd name="T53" fmla="*/ 81 w 81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81">
                    <a:moveTo>
                      <a:pt x="0" y="40"/>
                    </a:moveTo>
                    <a:lnTo>
                      <a:pt x="2" y="26"/>
                    </a:lnTo>
                    <a:lnTo>
                      <a:pt x="12" y="12"/>
                    </a:lnTo>
                    <a:lnTo>
                      <a:pt x="24" y="4"/>
                    </a:lnTo>
                    <a:lnTo>
                      <a:pt x="40" y="0"/>
                    </a:lnTo>
                    <a:lnTo>
                      <a:pt x="55" y="4"/>
                    </a:lnTo>
                    <a:lnTo>
                      <a:pt x="69" y="12"/>
                    </a:lnTo>
                    <a:lnTo>
                      <a:pt x="77" y="26"/>
                    </a:lnTo>
                    <a:lnTo>
                      <a:pt x="81" y="40"/>
                    </a:lnTo>
                    <a:lnTo>
                      <a:pt x="77" y="55"/>
                    </a:lnTo>
                    <a:lnTo>
                      <a:pt x="69" y="69"/>
                    </a:lnTo>
                    <a:lnTo>
                      <a:pt x="55" y="77"/>
                    </a:lnTo>
                    <a:lnTo>
                      <a:pt x="40" y="81"/>
                    </a:lnTo>
                    <a:lnTo>
                      <a:pt x="24" y="77"/>
                    </a:lnTo>
                    <a:lnTo>
                      <a:pt x="12" y="69"/>
                    </a:lnTo>
                    <a:lnTo>
                      <a:pt x="2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13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1909" y="1253"/>
                <a:ext cx="9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76914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1163" y="1832"/>
                <a:ext cx="9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en-US" sz="1600"/>
              </a:p>
            </p:txBody>
          </p:sp>
          <p:sp>
            <p:nvSpPr>
              <p:cNvPr id="76915" name="Rectangle 14"/>
              <p:cNvSpPr>
                <a:spLocks noChangeAspect="1" noChangeArrowheads="1"/>
              </p:cNvSpPr>
              <p:nvPr/>
            </p:nvSpPr>
            <p:spPr bwMode="auto">
              <a:xfrm>
                <a:off x="1733" y="2122"/>
                <a:ext cx="9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altLang="en-US" sz="1600"/>
              </a:p>
            </p:txBody>
          </p:sp>
          <p:sp>
            <p:nvSpPr>
              <p:cNvPr id="76916" name="Rectangle 15"/>
              <p:cNvSpPr>
                <a:spLocks noChangeAspect="1" noChangeArrowheads="1"/>
              </p:cNvSpPr>
              <p:nvPr/>
            </p:nvSpPr>
            <p:spPr bwMode="auto">
              <a:xfrm>
                <a:off x="1379" y="263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altLang="en-US" sz="1600"/>
              </a:p>
            </p:txBody>
          </p:sp>
          <p:sp>
            <p:nvSpPr>
              <p:cNvPr id="76917" name="Rectangle 16"/>
              <p:cNvSpPr>
                <a:spLocks noChangeAspect="1" noChangeArrowheads="1"/>
              </p:cNvSpPr>
              <p:nvPr/>
            </p:nvSpPr>
            <p:spPr bwMode="auto">
              <a:xfrm>
                <a:off x="630" y="1720"/>
                <a:ext cx="9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altLang="en-US" sz="1600"/>
              </a:p>
            </p:txBody>
          </p:sp>
          <p:sp>
            <p:nvSpPr>
              <p:cNvPr id="76918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88" y="2173"/>
                <a:ext cx="9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altLang="en-US" sz="1600"/>
              </a:p>
            </p:txBody>
          </p:sp>
        </p:grpSp>
        <p:grpSp>
          <p:nvGrpSpPr>
            <p:cNvPr id="4" name="Group 18"/>
            <p:cNvGrpSpPr>
              <a:grpSpLocks noChangeAspect="1"/>
            </p:cNvGrpSpPr>
            <p:nvPr/>
          </p:nvGrpSpPr>
          <p:grpSpPr bwMode="auto">
            <a:xfrm>
              <a:off x="7324725" y="4979988"/>
              <a:ext cx="857250" cy="592137"/>
              <a:chOff x="1515" y="2062"/>
              <a:chExt cx="820" cy="566"/>
            </a:xfrm>
          </p:grpSpPr>
          <p:sp>
            <p:nvSpPr>
              <p:cNvPr id="76905" name="Freeform 19"/>
              <p:cNvSpPr>
                <a:spLocks noChangeAspect="1"/>
              </p:cNvSpPr>
              <p:nvPr/>
            </p:nvSpPr>
            <p:spPr bwMode="auto">
              <a:xfrm>
                <a:off x="1515" y="2062"/>
                <a:ext cx="820" cy="343"/>
              </a:xfrm>
              <a:custGeom>
                <a:avLst/>
                <a:gdLst>
                  <a:gd name="T0" fmla="*/ 409 w 820"/>
                  <a:gd name="T1" fmla="*/ 0 h 343"/>
                  <a:gd name="T2" fmla="*/ 467 w 820"/>
                  <a:gd name="T3" fmla="*/ 2 h 343"/>
                  <a:gd name="T4" fmla="*/ 520 w 820"/>
                  <a:gd name="T5" fmla="*/ 8 h 343"/>
                  <a:gd name="T6" fmla="*/ 573 w 820"/>
                  <a:gd name="T7" fmla="*/ 16 h 343"/>
                  <a:gd name="T8" fmla="*/ 623 w 820"/>
                  <a:gd name="T9" fmla="*/ 26 h 343"/>
                  <a:gd name="T10" fmla="*/ 670 w 820"/>
                  <a:gd name="T11" fmla="*/ 40 h 343"/>
                  <a:gd name="T12" fmla="*/ 710 w 820"/>
                  <a:gd name="T13" fmla="*/ 56 h 343"/>
                  <a:gd name="T14" fmla="*/ 745 w 820"/>
                  <a:gd name="T15" fmla="*/ 73 h 343"/>
                  <a:gd name="T16" fmla="*/ 775 w 820"/>
                  <a:gd name="T17" fmla="*/ 93 h 343"/>
                  <a:gd name="T18" fmla="*/ 797 w 820"/>
                  <a:gd name="T19" fmla="*/ 115 h 343"/>
                  <a:gd name="T20" fmla="*/ 812 w 820"/>
                  <a:gd name="T21" fmla="*/ 138 h 343"/>
                  <a:gd name="T22" fmla="*/ 820 w 820"/>
                  <a:gd name="T23" fmla="*/ 160 h 343"/>
                  <a:gd name="T24" fmla="*/ 820 w 820"/>
                  <a:gd name="T25" fmla="*/ 184 h 343"/>
                  <a:gd name="T26" fmla="*/ 812 w 820"/>
                  <a:gd name="T27" fmla="*/ 207 h 343"/>
                  <a:gd name="T28" fmla="*/ 797 w 820"/>
                  <a:gd name="T29" fmla="*/ 229 h 343"/>
                  <a:gd name="T30" fmla="*/ 775 w 820"/>
                  <a:gd name="T31" fmla="*/ 251 h 343"/>
                  <a:gd name="T32" fmla="*/ 745 w 820"/>
                  <a:gd name="T33" fmla="*/ 271 h 343"/>
                  <a:gd name="T34" fmla="*/ 710 w 820"/>
                  <a:gd name="T35" fmla="*/ 290 h 343"/>
                  <a:gd name="T36" fmla="*/ 670 w 820"/>
                  <a:gd name="T37" fmla="*/ 306 h 343"/>
                  <a:gd name="T38" fmla="*/ 623 w 820"/>
                  <a:gd name="T39" fmla="*/ 318 h 343"/>
                  <a:gd name="T40" fmla="*/ 573 w 820"/>
                  <a:gd name="T41" fmla="*/ 330 h 343"/>
                  <a:gd name="T42" fmla="*/ 520 w 820"/>
                  <a:gd name="T43" fmla="*/ 338 h 343"/>
                  <a:gd name="T44" fmla="*/ 467 w 820"/>
                  <a:gd name="T45" fmla="*/ 341 h 343"/>
                  <a:gd name="T46" fmla="*/ 409 w 820"/>
                  <a:gd name="T47" fmla="*/ 343 h 343"/>
                  <a:gd name="T48" fmla="*/ 354 w 820"/>
                  <a:gd name="T49" fmla="*/ 341 h 343"/>
                  <a:gd name="T50" fmla="*/ 299 w 820"/>
                  <a:gd name="T51" fmla="*/ 338 h 343"/>
                  <a:gd name="T52" fmla="*/ 245 w 820"/>
                  <a:gd name="T53" fmla="*/ 330 h 343"/>
                  <a:gd name="T54" fmla="*/ 196 w 820"/>
                  <a:gd name="T55" fmla="*/ 318 h 343"/>
                  <a:gd name="T56" fmla="*/ 150 w 820"/>
                  <a:gd name="T57" fmla="*/ 306 h 343"/>
                  <a:gd name="T58" fmla="*/ 109 w 820"/>
                  <a:gd name="T59" fmla="*/ 290 h 343"/>
                  <a:gd name="T60" fmla="*/ 73 w 820"/>
                  <a:gd name="T61" fmla="*/ 271 h 343"/>
                  <a:gd name="T62" fmla="*/ 44 w 820"/>
                  <a:gd name="T63" fmla="*/ 251 h 343"/>
                  <a:gd name="T64" fmla="*/ 22 w 820"/>
                  <a:gd name="T65" fmla="*/ 229 h 343"/>
                  <a:gd name="T66" fmla="*/ 6 w 820"/>
                  <a:gd name="T67" fmla="*/ 207 h 343"/>
                  <a:gd name="T68" fmla="*/ 0 w 820"/>
                  <a:gd name="T69" fmla="*/ 184 h 343"/>
                  <a:gd name="T70" fmla="*/ 0 w 820"/>
                  <a:gd name="T71" fmla="*/ 160 h 343"/>
                  <a:gd name="T72" fmla="*/ 6 w 820"/>
                  <a:gd name="T73" fmla="*/ 138 h 343"/>
                  <a:gd name="T74" fmla="*/ 22 w 820"/>
                  <a:gd name="T75" fmla="*/ 115 h 343"/>
                  <a:gd name="T76" fmla="*/ 44 w 820"/>
                  <a:gd name="T77" fmla="*/ 93 h 343"/>
                  <a:gd name="T78" fmla="*/ 73 w 820"/>
                  <a:gd name="T79" fmla="*/ 73 h 343"/>
                  <a:gd name="T80" fmla="*/ 109 w 820"/>
                  <a:gd name="T81" fmla="*/ 56 h 343"/>
                  <a:gd name="T82" fmla="*/ 150 w 820"/>
                  <a:gd name="T83" fmla="*/ 40 h 343"/>
                  <a:gd name="T84" fmla="*/ 196 w 820"/>
                  <a:gd name="T85" fmla="*/ 26 h 343"/>
                  <a:gd name="T86" fmla="*/ 245 w 820"/>
                  <a:gd name="T87" fmla="*/ 16 h 343"/>
                  <a:gd name="T88" fmla="*/ 299 w 820"/>
                  <a:gd name="T89" fmla="*/ 8 h 343"/>
                  <a:gd name="T90" fmla="*/ 354 w 820"/>
                  <a:gd name="T91" fmla="*/ 2 h 343"/>
                  <a:gd name="T92" fmla="*/ 409 w 820"/>
                  <a:gd name="T93" fmla="*/ 0 h 343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20"/>
                  <a:gd name="T142" fmla="*/ 0 h 343"/>
                  <a:gd name="T143" fmla="*/ 820 w 820"/>
                  <a:gd name="T144" fmla="*/ 343 h 343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20" h="343">
                    <a:moveTo>
                      <a:pt x="409" y="0"/>
                    </a:moveTo>
                    <a:lnTo>
                      <a:pt x="467" y="2"/>
                    </a:lnTo>
                    <a:lnTo>
                      <a:pt x="520" y="8"/>
                    </a:lnTo>
                    <a:lnTo>
                      <a:pt x="573" y="16"/>
                    </a:lnTo>
                    <a:lnTo>
                      <a:pt x="623" y="26"/>
                    </a:lnTo>
                    <a:lnTo>
                      <a:pt x="670" y="40"/>
                    </a:lnTo>
                    <a:lnTo>
                      <a:pt x="710" y="56"/>
                    </a:lnTo>
                    <a:lnTo>
                      <a:pt x="745" y="73"/>
                    </a:lnTo>
                    <a:lnTo>
                      <a:pt x="775" y="93"/>
                    </a:lnTo>
                    <a:lnTo>
                      <a:pt x="797" y="115"/>
                    </a:lnTo>
                    <a:lnTo>
                      <a:pt x="812" y="138"/>
                    </a:lnTo>
                    <a:lnTo>
                      <a:pt x="820" y="160"/>
                    </a:lnTo>
                    <a:lnTo>
                      <a:pt x="820" y="184"/>
                    </a:lnTo>
                    <a:lnTo>
                      <a:pt x="812" y="207"/>
                    </a:lnTo>
                    <a:lnTo>
                      <a:pt x="797" y="229"/>
                    </a:lnTo>
                    <a:lnTo>
                      <a:pt x="775" y="251"/>
                    </a:lnTo>
                    <a:lnTo>
                      <a:pt x="745" y="271"/>
                    </a:lnTo>
                    <a:lnTo>
                      <a:pt x="710" y="290"/>
                    </a:lnTo>
                    <a:lnTo>
                      <a:pt x="670" y="306"/>
                    </a:lnTo>
                    <a:lnTo>
                      <a:pt x="623" y="318"/>
                    </a:lnTo>
                    <a:lnTo>
                      <a:pt x="573" y="330"/>
                    </a:lnTo>
                    <a:lnTo>
                      <a:pt x="520" y="338"/>
                    </a:lnTo>
                    <a:lnTo>
                      <a:pt x="467" y="341"/>
                    </a:lnTo>
                    <a:lnTo>
                      <a:pt x="409" y="343"/>
                    </a:lnTo>
                    <a:lnTo>
                      <a:pt x="354" y="341"/>
                    </a:lnTo>
                    <a:lnTo>
                      <a:pt x="299" y="338"/>
                    </a:lnTo>
                    <a:lnTo>
                      <a:pt x="245" y="330"/>
                    </a:lnTo>
                    <a:lnTo>
                      <a:pt x="196" y="318"/>
                    </a:lnTo>
                    <a:lnTo>
                      <a:pt x="150" y="306"/>
                    </a:lnTo>
                    <a:lnTo>
                      <a:pt x="109" y="290"/>
                    </a:lnTo>
                    <a:lnTo>
                      <a:pt x="73" y="271"/>
                    </a:lnTo>
                    <a:lnTo>
                      <a:pt x="44" y="251"/>
                    </a:lnTo>
                    <a:lnTo>
                      <a:pt x="22" y="229"/>
                    </a:lnTo>
                    <a:lnTo>
                      <a:pt x="6" y="207"/>
                    </a:lnTo>
                    <a:lnTo>
                      <a:pt x="0" y="184"/>
                    </a:lnTo>
                    <a:lnTo>
                      <a:pt x="0" y="160"/>
                    </a:lnTo>
                    <a:lnTo>
                      <a:pt x="6" y="138"/>
                    </a:lnTo>
                    <a:lnTo>
                      <a:pt x="22" y="115"/>
                    </a:lnTo>
                    <a:lnTo>
                      <a:pt x="44" y="93"/>
                    </a:lnTo>
                    <a:lnTo>
                      <a:pt x="73" y="73"/>
                    </a:lnTo>
                    <a:lnTo>
                      <a:pt x="109" y="56"/>
                    </a:lnTo>
                    <a:lnTo>
                      <a:pt x="150" y="40"/>
                    </a:lnTo>
                    <a:lnTo>
                      <a:pt x="196" y="26"/>
                    </a:lnTo>
                    <a:lnTo>
                      <a:pt x="245" y="16"/>
                    </a:lnTo>
                    <a:lnTo>
                      <a:pt x="299" y="8"/>
                    </a:lnTo>
                    <a:lnTo>
                      <a:pt x="354" y="2"/>
                    </a:lnTo>
                    <a:lnTo>
                      <a:pt x="409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06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1855" y="2394"/>
                <a:ext cx="108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1</a:t>
                </a:r>
                <a:endParaRPr lang="en-US" altLang="en-US" sz="1600"/>
              </a:p>
            </p:txBody>
          </p:sp>
        </p:grpSp>
        <p:grpSp>
          <p:nvGrpSpPr>
            <p:cNvPr id="5" name="Group 21"/>
            <p:cNvGrpSpPr>
              <a:grpSpLocks noChangeAspect="1"/>
            </p:cNvGrpSpPr>
            <p:nvPr/>
          </p:nvGrpSpPr>
          <p:grpSpPr bwMode="auto">
            <a:xfrm>
              <a:off x="6211888" y="4392613"/>
              <a:ext cx="873125" cy="649287"/>
              <a:chOff x="452" y="1501"/>
              <a:chExt cx="834" cy="621"/>
            </a:xfrm>
          </p:grpSpPr>
          <p:sp>
            <p:nvSpPr>
              <p:cNvPr id="76903" name="Freeform 22"/>
              <p:cNvSpPr>
                <a:spLocks noChangeAspect="1"/>
              </p:cNvSpPr>
              <p:nvPr/>
            </p:nvSpPr>
            <p:spPr bwMode="auto">
              <a:xfrm>
                <a:off x="452" y="1662"/>
                <a:ext cx="834" cy="460"/>
              </a:xfrm>
              <a:custGeom>
                <a:avLst/>
                <a:gdLst>
                  <a:gd name="T0" fmla="*/ 436 w 834"/>
                  <a:gd name="T1" fmla="*/ 2 h 460"/>
                  <a:gd name="T2" fmla="*/ 494 w 834"/>
                  <a:gd name="T3" fmla="*/ 10 h 460"/>
                  <a:gd name="T4" fmla="*/ 547 w 834"/>
                  <a:gd name="T5" fmla="*/ 20 h 460"/>
                  <a:gd name="T6" fmla="*/ 600 w 834"/>
                  <a:gd name="T7" fmla="*/ 36 h 460"/>
                  <a:gd name="T8" fmla="*/ 650 w 834"/>
                  <a:gd name="T9" fmla="*/ 54 h 460"/>
                  <a:gd name="T10" fmla="*/ 695 w 834"/>
                  <a:gd name="T11" fmla="*/ 77 h 460"/>
                  <a:gd name="T12" fmla="*/ 735 w 834"/>
                  <a:gd name="T13" fmla="*/ 101 h 460"/>
                  <a:gd name="T14" fmla="*/ 768 w 834"/>
                  <a:gd name="T15" fmla="*/ 128 h 460"/>
                  <a:gd name="T16" fmla="*/ 796 w 834"/>
                  <a:gd name="T17" fmla="*/ 158 h 460"/>
                  <a:gd name="T18" fmla="*/ 816 w 834"/>
                  <a:gd name="T19" fmla="*/ 188 h 460"/>
                  <a:gd name="T20" fmla="*/ 830 w 834"/>
                  <a:gd name="T21" fmla="*/ 219 h 460"/>
                  <a:gd name="T22" fmla="*/ 834 w 834"/>
                  <a:gd name="T23" fmla="*/ 251 h 460"/>
                  <a:gd name="T24" fmla="*/ 832 w 834"/>
                  <a:gd name="T25" fmla="*/ 282 h 460"/>
                  <a:gd name="T26" fmla="*/ 820 w 834"/>
                  <a:gd name="T27" fmla="*/ 312 h 460"/>
                  <a:gd name="T28" fmla="*/ 802 w 834"/>
                  <a:gd name="T29" fmla="*/ 339 h 460"/>
                  <a:gd name="T30" fmla="*/ 778 w 834"/>
                  <a:gd name="T31" fmla="*/ 367 h 460"/>
                  <a:gd name="T32" fmla="*/ 745 w 834"/>
                  <a:gd name="T33" fmla="*/ 391 h 460"/>
                  <a:gd name="T34" fmla="*/ 707 w 834"/>
                  <a:gd name="T35" fmla="*/ 412 h 460"/>
                  <a:gd name="T36" fmla="*/ 664 w 834"/>
                  <a:gd name="T37" fmla="*/ 430 h 460"/>
                  <a:gd name="T38" fmla="*/ 616 w 834"/>
                  <a:gd name="T39" fmla="*/ 444 h 460"/>
                  <a:gd name="T40" fmla="*/ 565 w 834"/>
                  <a:gd name="T41" fmla="*/ 454 h 460"/>
                  <a:gd name="T42" fmla="*/ 510 w 834"/>
                  <a:gd name="T43" fmla="*/ 460 h 460"/>
                  <a:gd name="T44" fmla="*/ 454 w 834"/>
                  <a:gd name="T45" fmla="*/ 460 h 460"/>
                  <a:gd name="T46" fmla="*/ 397 w 834"/>
                  <a:gd name="T47" fmla="*/ 458 h 460"/>
                  <a:gd name="T48" fmla="*/ 340 w 834"/>
                  <a:gd name="T49" fmla="*/ 450 h 460"/>
                  <a:gd name="T50" fmla="*/ 284 w 834"/>
                  <a:gd name="T51" fmla="*/ 440 h 460"/>
                  <a:gd name="T52" fmla="*/ 231 w 834"/>
                  <a:gd name="T53" fmla="*/ 424 h 460"/>
                  <a:gd name="T54" fmla="*/ 183 w 834"/>
                  <a:gd name="T55" fmla="*/ 404 h 460"/>
                  <a:gd name="T56" fmla="*/ 138 w 834"/>
                  <a:gd name="T57" fmla="*/ 383 h 460"/>
                  <a:gd name="T58" fmla="*/ 98 w 834"/>
                  <a:gd name="T59" fmla="*/ 359 h 460"/>
                  <a:gd name="T60" fmla="*/ 65 w 834"/>
                  <a:gd name="T61" fmla="*/ 331 h 460"/>
                  <a:gd name="T62" fmla="*/ 37 w 834"/>
                  <a:gd name="T63" fmla="*/ 302 h 460"/>
                  <a:gd name="T64" fmla="*/ 17 w 834"/>
                  <a:gd name="T65" fmla="*/ 272 h 460"/>
                  <a:gd name="T66" fmla="*/ 3 w 834"/>
                  <a:gd name="T67" fmla="*/ 241 h 460"/>
                  <a:gd name="T68" fmla="*/ 0 w 834"/>
                  <a:gd name="T69" fmla="*/ 209 h 460"/>
                  <a:gd name="T70" fmla="*/ 1 w 834"/>
                  <a:gd name="T71" fmla="*/ 178 h 460"/>
                  <a:gd name="T72" fmla="*/ 11 w 834"/>
                  <a:gd name="T73" fmla="*/ 148 h 460"/>
                  <a:gd name="T74" fmla="*/ 29 w 834"/>
                  <a:gd name="T75" fmla="*/ 119 h 460"/>
                  <a:gd name="T76" fmla="*/ 55 w 834"/>
                  <a:gd name="T77" fmla="*/ 93 h 460"/>
                  <a:gd name="T78" fmla="*/ 86 w 834"/>
                  <a:gd name="T79" fmla="*/ 69 h 460"/>
                  <a:gd name="T80" fmla="*/ 124 w 834"/>
                  <a:gd name="T81" fmla="*/ 48 h 460"/>
                  <a:gd name="T82" fmla="*/ 168 w 834"/>
                  <a:gd name="T83" fmla="*/ 30 h 460"/>
                  <a:gd name="T84" fmla="*/ 217 w 834"/>
                  <a:gd name="T85" fmla="*/ 16 h 460"/>
                  <a:gd name="T86" fmla="*/ 268 w 834"/>
                  <a:gd name="T87" fmla="*/ 6 h 460"/>
                  <a:gd name="T88" fmla="*/ 324 w 834"/>
                  <a:gd name="T89" fmla="*/ 0 h 460"/>
                  <a:gd name="T90" fmla="*/ 379 w 834"/>
                  <a:gd name="T91" fmla="*/ 0 h 460"/>
                  <a:gd name="T92" fmla="*/ 436 w 834"/>
                  <a:gd name="T93" fmla="*/ 2 h 46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34"/>
                  <a:gd name="T142" fmla="*/ 0 h 460"/>
                  <a:gd name="T143" fmla="*/ 834 w 834"/>
                  <a:gd name="T144" fmla="*/ 460 h 460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34" h="460">
                    <a:moveTo>
                      <a:pt x="436" y="2"/>
                    </a:moveTo>
                    <a:lnTo>
                      <a:pt x="494" y="10"/>
                    </a:lnTo>
                    <a:lnTo>
                      <a:pt x="547" y="20"/>
                    </a:lnTo>
                    <a:lnTo>
                      <a:pt x="600" y="36"/>
                    </a:lnTo>
                    <a:lnTo>
                      <a:pt x="650" y="54"/>
                    </a:lnTo>
                    <a:lnTo>
                      <a:pt x="695" y="77"/>
                    </a:lnTo>
                    <a:lnTo>
                      <a:pt x="735" y="101"/>
                    </a:lnTo>
                    <a:lnTo>
                      <a:pt x="768" y="128"/>
                    </a:lnTo>
                    <a:lnTo>
                      <a:pt x="796" y="158"/>
                    </a:lnTo>
                    <a:lnTo>
                      <a:pt x="816" y="188"/>
                    </a:lnTo>
                    <a:lnTo>
                      <a:pt x="830" y="219"/>
                    </a:lnTo>
                    <a:lnTo>
                      <a:pt x="834" y="251"/>
                    </a:lnTo>
                    <a:lnTo>
                      <a:pt x="832" y="282"/>
                    </a:lnTo>
                    <a:lnTo>
                      <a:pt x="820" y="312"/>
                    </a:lnTo>
                    <a:lnTo>
                      <a:pt x="802" y="339"/>
                    </a:lnTo>
                    <a:lnTo>
                      <a:pt x="778" y="367"/>
                    </a:lnTo>
                    <a:lnTo>
                      <a:pt x="745" y="391"/>
                    </a:lnTo>
                    <a:lnTo>
                      <a:pt x="707" y="412"/>
                    </a:lnTo>
                    <a:lnTo>
                      <a:pt x="664" y="430"/>
                    </a:lnTo>
                    <a:lnTo>
                      <a:pt x="616" y="444"/>
                    </a:lnTo>
                    <a:lnTo>
                      <a:pt x="565" y="454"/>
                    </a:lnTo>
                    <a:lnTo>
                      <a:pt x="510" y="460"/>
                    </a:lnTo>
                    <a:lnTo>
                      <a:pt x="454" y="460"/>
                    </a:lnTo>
                    <a:lnTo>
                      <a:pt x="397" y="458"/>
                    </a:lnTo>
                    <a:lnTo>
                      <a:pt x="340" y="450"/>
                    </a:lnTo>
                    <a:lnTo>
                      <a:pt x="284" y="440"/>
                    </a:lnTo>
                    <a:lnTo>
                      <a:pt x="231" y="424"/>
                    </a:lnTo>
                    <a:lnTo>
                      <a:pt x="183" y="404"/>
                    </a:lnTo>
                    <a:lnTo>
                      <a:pt x="138" y="383"/>
                    </a:lnTo>
                    <a:lnTo>
                      <a:pt x="98" y="359"/>
                    </a:lnTo>
                    <a:lnTo>
                      <a:pt x="65" y="331"/>
                    </a:lnTo>
                    <a:lnTo>
                      <a:pt x="37" y="302"/>
                    </a:lnTo>
                    <a:lnTo>
                      <a:pt x="17" y="272"/>
                    </a:lnTo>
                    <a:lnTo>
                      <a:pt x="3" y="241"/>
                    </a:lnTo>
                    <a:lnTo>
                      <a:pt x="0" y="209"/>
                    </a:lnTo>
                    <a:lnTo>
                      <a:pt x="1" y="178"/>
                    </a:lnTo>
                    <a:lnTo>
                      <a:pt x="11" y="148"/>
                    </a:lnTo>
                    <a:lnTo>
                      <a:pt x="29" y="119"/>
                    </a:lnTo>
                    <a:lnTo>
                      <a:pt x="55" y="93"/>
                    </a:lnTo>
                    <a:lnTo>
                      <a:pt x="86" y="69"/>
                    </a:lnTo>
                    <a:lnTo>
                      <a:pt x="124" y="48"/>
                    </a:lnTo>
                    <a:lnTo>
                      <a:pt x="168" y="30"/>
                    </a:lnTo>
                    <a:lnTo>
                      <a:pt x="217" y="16"/>
                    </a:lnTo>
                    <a:lnTo>
                      <a:pt x="268" y="6"/>
                    </a:lnTo>
                    <a:lnTo>
                      <a:pt x="324" y="0"/>
                    </a:lnTo>
                    <a:lnTo>
                      <a:pt x="379" y="0"/>
                    </a:lnTo>
                    <a:lnTo>
                      <a:pt x="436" y="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04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943" y="1501"/>
                <a:ext cx="108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2</a:t>
                </a:r>
                <a:endParaRPr lang="en-US" altLang="en-US" sz="1600"/>
              </a:p>
            </p:txBody>
          </p:sp>
        </p:grpSp>
        <p:grpSp>
          <p:nvGrpSpPr>
            <p:cNvPr id="6" name="Group 24"/>
            <p:cNvGrpSpPr>
              <a:grpSpLocks noChangeAspect="1"/>
            </p:cNvGrpSpPr>
            <p:nvPr/>
          </p:nvGrpSpPr>
          <p:grpSpPr bwMode="auto">
            <a:xfrm>
              <a:off x="6003925" y="3890963"/>
              <a:ext cx="2413000" cy="2281237"/>
              <a:chOff x="254" y="1022"/>
              <a:chExt cx="2305" cy="2180"/>
            </a:xfrm>
          </p:grpSpPr>
          <p:sp>
            <p:nvSpPr>
              <p:cNvPr id="76901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63" y="1148"/>
                <a:ext cx="108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5</a:t>
                </a:r>
                <a:endParaRPr lang="en-US" altLang="en-US" sz="1600"/>
              </a:p>
            </p:txBody>
          </p:sp>
          <p:sp>
            <p:nvSpPr>
              <p:cNvPr id="76902" name="Freeform 26"/>
              <p:cNvSpPr>
                <a:spLocks noChangeAspect="1"/>
              </p:cNvSpPr>
              <p:nvPr/>
            </p:nvSpPr>
            <p:spPr bwMode="auto">
              <a:xfrm>
                <a:off x="254" y="1022"/>
                <a:ext cx="2305" cy="2180"/>
              </a:xfrm>
              <a:custGeom>
                <a:avLst/>
                <a:gdLst>
                  <a:gd name="T0" fmla="*/ 1245 w 2305"/>
                  <a:gd name="T1" fmla="*/ 4 h 2180"/>
                  <a:gd name="T2" fmla="*/ 1433 w 2305"/>
                  <a:gd name="T3" fmla="*/ 33 h 2180"/>
                  <a:gd name="T4" fmla="*/ 1615 w 2305"/>
                  <a:gd name="T5" fmla="*/ 90 h 2180"/>
                  <a:gd name="T6" fmla="*/ 1781 w 2305"/>
                  <a:gd name="T7" fmla="*/ 175 h 2180"/>
                  <a:gd name="T8" fmla="*/ 1931 w 2305"/>
                  <a:gd name="T9" fmla="*/ 286 h 2180"/>
                  <a:gd name="T10" fmla="*/ 2062 w 2305"/>
                  <a:gd name="T11" fmla="*/ 420 h 2180"/>
                  <a:gd name="T12" fmla="*/ 2166 w 2305"/>
                  <a:gd name="T13" fmla="*/ 569 h 2180"/>
                  <a:gd name="T14" fmla="*/ 2242 w 2305"/>
                  <a:gd name="T15" fmla="*/ 735 h 2180"/>
                  <a:gd name="T16" fmla="*/ 2289 w 2305"/>
                  <a:gd name="T17" fmla="*/ 908 h 2180"/>
                  <a:gd name="T18" fmla="*/ 2305 w 2305"/>
                  <a:gd name="T19" fmla="*/ 1088 h 2180"/>
                  <a:gd name="T20" fmla="*/ 2289 w 2305"/>
                  <a:gd name="T21" fmla="*/ 1267 h 2180"/>
                  <a:gd name="T22" fmla="*/ 2243 w 2305"/>
                  <a:gd name="T23" fmla="*/ 1443 h 2180"/>
                  <a:gd name="T24" fmla="*/ 2166 w 2305"/>
                  <a:gd name="T25" fmla="*/ 1606 h 2180"/>
                  <a:gd name="T26" fmla="*/ 2064 w 2305"/>
                  <a:gd name="T27" fmla="*/ 1758 h 2180"/>
                  <a:gd name="T28" fmla="*/ 1935 w 2305"/>
                  <a:gd name="T29" fmla="*/ 1890 h 2180"/>
                  <a:gd name="T30" fmla="*/ 1785 w 2305"/>
                  <a:gd name="T31" fmla="*/ 2002 h 2180"/>
                  <a:gd name="T32" fmla="*/ 1617 w 2305"/>
                  <a:gd name="T33" fmla="*/ 2087 h 2180"/>
                  <a:gd name="T34" fmla="*/ 1437 w 2305"/>
                  <a:gd name="T35" fmla="*/ 2146 h 2180"/>
                  <a:gd name="T36" fmla="*/ 1249 w 2305"/>
                  <a:gd name="T37" fmla="*/ 2176 h 2180"/>
                  <a:gd name="T38" fmla="*/ 1059 w 2305"/>
                  <a:gd name="T39" fmla="*/ 2176 h 2180"/>
                  <a:gd name="T40" fmla="*/ 872 w 2305"/>
                  <a:gd name="T41" fmla="*/ 2148 h 2180"/>
                  <a:gd name="T42" fmla="*/ 692 w 2305"/>
                  <a:gd name="T43" fmla="*/ 2089 h 2180"/>
                  <a:gd name="T44" fmla="*/ 524 w 2305"/>
                  <a:gd name="T45" fmla="*/ 2004 h 2180"/>
                  <a:gd name="T46" fmla="*/ 373 w 2305"/>
                  <a:gd name="T47" fmla="*/ 1894 h 2180"/>
                  <a:gd name="T48" fmla="*/ 245 w 2305"/>
                  <a:gd name="T49" fmla="*/ 1762 h 2180"/>
                  <a:gd name="T50" fmla="*/ 140 w 2305"/>
                  <a:gd name="T51" fmla="*/ 1610 h 2180"/>
                  <a:gd name="T52" fmla="*/ 63 w 2305"/>
                  <a:gd name="T53" fmla="*/ 1447 h 2180"/>
                  <a:gd name="T54" fmla="*/ 16 w 2305"/>
                  <a:gd name="T55" fmla="*/ 1271 h 2180"/>
                  <a:gd name="T56" fmla="*/ 0 w 2305"/>
                  <a:gd name="T57" fmla="*/ 1092 h 2180"/>
                  <a:gd name="T58" fmla="*/ 16 w 2305"/>
                  <a:gd name="T59" fmla="*/ 912 h 2180"/>
                  <a:gd name="T60" fmla="*/ 63 w 2305"/>
                  <a:gd name="T61" fmla="*/ 737 h 2180"/>
                  <a:gd name="T62" fmla="*/ 138 w 2305"/>
                  <a:gd name="T63" fmla="*/ 573 h 2180"/>
                  <a:gd name="T64" fmla="*/ 243 w 2305"/>
                  <a:gd name="T65" fmla="*/ 422 h 2180"/>
                  <a:gd name="T66" fmla="*/ 371 w 2305"/>
                  <a:gd name="T67" fmla="*/ 290 h 2180"/>
                  <a:gd name="T68" fmla="*/ 522 w 2305"/>
                  <a:gd name="T69" fmla="*/ 179 h 2180"/>
                  <a:gd name="T70" fmla="*/ 688 w 2305"/>
                  <a:gd name="T71" fmla="*/ 92 h 2180"/>
                  <a:gd name="T72" fmla="*/ 868 w 2305"/>
                  <a:gd name="T73" fmla="*/ 33 h 2180"/>
                  <a:gd name="T74" fmla="*/ 1055 w 2305"/>
                  <a:gd name="T75" fmla="*/ 4 h 218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305"/>
                  <a:gd name="T115" fmla="*/ 0 h 2180"/>
                  <a:gd name="T116" fmla="*/ 2305 w 2305"/>
                  <a:gd name="T117" fmla="*/ 2180 h 218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305" h="2180">
                    <a:moveTo>
                      <a:pt x="1150" y="0"/>
                    </a:moveTo>
                    <a:lnTo>
                      <a:pt x="1245" y="4"/>
                    </a:lnTo>
                    <a:lnTo>
                      <a:pt x="1340" y="14"/>
                    </a:lnTo>
                    <a:lnTo>
                      <a:pt x="1433" y="33"/>
                    </a:lnTo>
                    <a:lnTo>
                      <a:pt x="1526" y="59"/>
                    </a:lnTo>
                    <a:lnTo>
                      <a:pt x="1615" y="90"/>
                    </a:lnTo>
                    <a:lnTo>
                      <a:pt x="1700" y="130"/>
                    </a:lnTo>
                    <a:lnTo>
                      <a:pt x="1781" y="175"/>
                    </a:lnTo>
                    <a:lnTo>
                      <a:pt x="1860" y="228"/>
                    </a:lnTo>
                    <a:lnTo>
                      <a:pt x="1931" y="286"/>
                    </a:lnTo>
                    <a:lnTo>
                      <a:pt x="2000" y="351"/>
                    </a:lnTo>
                    <a:lnTo>
                      <a:pt x="2062" y="420"/>
                    </a:lnTo>
                    <a:lnTo>
                      <a:pt x="2117" y="493"/>
                    </a:lnTo>
                    <a:lnTo>
                      <a:pt x="2166" y="569"/>
                    </a:lnTo>
                    <a:lnTo>
                      <a:pt x="2208" y="650"/>
                    </a:lnTo>
                    <a:lnTo>
                      <a:pt x="2242" y="735"/>
                    </a:lnTo>
                    <a:lnTo>
                      <a:pt x="2269" y="820"/>
                    </a:lnTo>
                    <a:lnTo>
                      <a:pt x="2289" y="908"/>
                    </a:lnTo>
                    <a:lnTo>
                      <a:pt x="2301" y="997"/>
                    </a:lnTo>
                    <a:lnTo>
                      <a:pt x="2305" y="1088"/>
                    </a:lnTo>
                    <a:lnTo>
                      <a:pt x="2301" y="1178"/>
                    </a:lnTo>
                    <a:lnTo>
                      <a:pt x="2289" y="1267"/>
                    </a:lnTo>
                    <a:lnTo>
                      <a:pt x="2271" y="1356"/>
                    </a:lnTo>
                    <a:lnTo>
                      <a:pt x="2243" y="1443"/>
                    </a:lnTo>
                    <a:lnTo>
                      <a:pt x="2210" y="1525"/>
                    </a:lnTo>
                    <a:lnTo>
                      <a:pt x="2166" y="1606"/>
                    </a:lnTo>
                    <a:lnTo>
                      <a:pt x="2119" y="1685"/>
                    </a:lnTo>
                    <a:lnTo>
                      <a:pt x="2064" y="1758"/>
                    </a:lnTo>
                    <a:lnTo>
                      <a:pt x="2002" y="1827"/>
                    </a:lnTo>
                    <a:lnTo>
                      <a:pt x="1935" y="1890"/>
                    </a:lnTo>
                    <a:lnTo>
                      <a:pt x="1862" y="1949"/>
                    </a:lnTo>
                    <a:lnTo>
                      <a:pt x="1785" y="2002"/>
                    </a:lnTo>
                    <a:lnTo>
                      <a:pt x="1704" y="2048"/>
                    </a:lnTo>
                    <a:lnTo>
                      <a:pt x="1617" y="2087"/>
                    </a:lnTo>
                    <a:lnTo>
                      <a:pt x="1528" y="2121"/>
                    </a:lnTo>
                    <a:lnTo>
                      <a:pt x="1437" y="2146"/>
                    </a:lnTo>
                    <a:lnTo>
                      <a:pt x="1344" y="2164"/>
                    </a:lnTo>
                    <a:lnTo>
                      <a:pt x="1249" y="2176"/>
                    </a:lnTo>
                    <a:lnTo>
                      <a:pt x="1154" y="2180"/>
                    </a:lnTo>
                    <a:lnTo>
                      <a:pt x="1059" y="2176"/>
                    </a:lnTo>
                    <a:lnTo>
                      <a:pt x="965" y="2166"/>
                    </a:lnTo>
                    <a:lnTo>
                      <a:pt x="872" y="2148"/>
                    </a:lnTo>
                    <a:lnTo>
                      <a:pt x="781" y="2123"/>
                    </a:lnTo>
                    <a:lnTo>
                      <a:pt x="692" y="2089"/>
                    </a:lnTo>
                    <a:lnTo>
                      <a:pt x="607" y="2050"/>
                    </a:lnTo>
                    <a:lnTo>
                      <a:pt x="524" y="2004"/>
                    </a:lnTo>
                    <a:lnTo>
                      <a:pt x="447" y="1951"/>
                    </a:lnTo>
                    <a:lnTo>
                      <a:pt x="373" y="1894"/>
                    </a:lnTo>
                    <a:lnTo>
                      <a:pt x="306" y="1829"/>
                    </a:lnTo>
                    <a:lnTo>
                      <a:pt x="245" y="1762"/>
                    </a:lnTo>
                    <a:lnTo>
                      <a:pt x="190" y="1687"/>
                    </a:lnTo>
                    <a:lnTo>
                      <a:pt x="140" y="1610"/>
                    </a:lnTo>
                    <a:lnTo>
                      <a:pt x="99" y="1529"/>
                    </a:lnTo>
                    <a:lnTo>
                      <a:pt x="63" y="1447"/>
                    </a:lnTo>
                    <a:lnTo>
                      <a:pt x="35" y="1360"/>
                    </a:lnTo>
                    <a:lnTo>
                      <a:pt x="16" y="1271"/>
                    </a:lnTo>
                    <a:lnTo>
                      <a:pt x="4" y="1182"/>
                    </a:lnTo>
                    <a:lnTo>
                      <a:pt x="0" y="1092"/>
                    </a:lnTo>
                    <a:lnTo>
                      <a:pt x="4" y="1001"/>
                    </a:lnTo>
                    <a:lnTo>
                      <a:pt x="16" y="912"/>
                    </a:lnTo>
                    <a:lnTo>
                      <a:pt x="35" y="824"/>
                    </a:lnTo>
                    <a:lnTo>
                      <a:pt x="63" y="737"/>
                    </a:lnTo>
                    <a:lnTo>
                      <a:pt x="97" y="654"/>
                    </a:lnTo>
                    <a:lnTo>
                      <a:pt x="138" y="573"/>
                    </a:lnTo>
                    <a:lnTo>
                      <a:pt x="188" y="495"/>
                    </a:lnTo>
                    <a:lnTo>
                      <a:pt x="243" y="422"/>
                    </a:lnTo>
                    <a:lnTo>
                      <a:pt x="304" y="353"/>
                    </a:lnTo>
                    <a:lnTo>
                      <a:pt x="371" y="290"/>
                    </a:lnTo>
                    <a:lnTo>
                      <a:pt x="443" y="230"/>
                    </a:lnTo>
                    <a:lnTo>
                      <a:pt x="522" y="179"/>
                    </a:lnTo>
                    <a:lnTo>
                      <a:pt x="603" y="132"/>
                    </a:lnTo>
                    <a:lnTo>
                      <a:pt x="688" y="92"/>
                    </a:lnTo>
                    <a:lnTo>
                      <a:pt x="777" y="59"/>
                    </a:lnTo>
                    <a:lnTo>
                      <a:pt x="868" y="33"/>
                    </a:lnTo>
                    <a:lnTo>
                      <a:pt x="961" y="16"/>
                    </a:lnTo>
                    <a:lnTo>
                      <a:pt x="1055" y="4"/>
                    </a:lnTo>
                    <a:lnTo>
                      <a:pt x="11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7"/>
            <p:cNvGrpSpPr>
              <a:grpSpLocks noChangeAspect="1"/>
            </p:cNvGrpSpPr>
            <p:nvPr/>
          </p:nvGrpSpPr>
          <p:grpSpPr bwMode="auto">
            <a:xfrm>
              <a:off x="7011988" y="4865688"/>
              <a:ext cx="1187450" cy="1141412"/>
              <a:chOff x="1217" y="1954"/>
              <a:chExt cx="1134" cy="1090"/>
            </a:xfrm>
          </p:grpSpPr>
          <p:sp>
            <p:nvSpPr>
              <p:cNvPr id="76899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1666" y="2811"/>
                <a:ext cx="1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3</a:t>
                </a:r>
                <a:endParaRPr lang="en-US" altLang="en-US" sz="1600"/>
              </a:p>
            </p:txBody>
          </p:sp>
          <p:sp>
            <p:nvSpPr>
              <p:cNvPr id="76900" name="Freeform 29"/>
              <p:cNvSpPr>
                <a:spLocks noChangeAspect="1"/>
              </p:cNvSpPr>
              <p:nvPr/>
            </p:nvSpPr>
            <p:spPr bwMode="auto">
              <a:xfrm>
                <a:off x="1217" y="1954"/>
                <a:ext cx="1134" cy="909"/>
              </a:xfrm>
              <a:custGeom>
                <a:avLst/>
                <a:gdLst>
                  <a:gd name="T0" fmla="*/ 371 w 1134"/>
                  <a:gd name="T1" fmla="*/ 142 h 909"/>
                  <a:gd name="T2" fmla="*/ 430 w 1134"/>
                  <a:gd name="T3" fmla="*/ 108 h 909"/>
                  <a:gd name="T4" fmla="*/ 492 w 1134"/>
                  <a:gd name="T5" fmla="*/ 79 h 909"/>
                  <a:gd name="T6" fmla="*/ 551 w 1134"/>
                  <a:gd name="T7" fmla="*/ 53 h 909"/>
                  <a:gd name="T8" fmla="*/ 614 w 1134"/>
                  <a:gd name="T9" fmla="*/ 32 h 909"/>
                  <a:gd name="T10" fmla="*/ 674 w 1134"/>
                  <a:gd name="T11" fmla="*/ 16 h 909"/>
                  <a:gd name="T12" fmla="*/ 735 w 1134"/>
                  <a:gd name="T13" fmla="*/ 6 h 909"/>
                  <a:gd name="T14" fmla="*/ 792 w 1134"/>
                  <a:gd name="T15" fmla="*/ 0 h 909"/>
                  <a:gd name="T16" fmla="*/ 848 w 1134"/>
                  <a:gd name="T17" fmla="*/ 0 h 909"/>
                  <a:gd name="T18" fmla="*/ 899 w 1134"/>
                  <a:gd name="T19" fmla="*/ 4 h 909"/>
                  <a:gd name="T20" fmla="*/ 946 w 1134"/>
                  <a:gd name="T21" fmla="*/ 14 h 909"/>
                  <a:gd name="T22" fmla="*/ 990 w 1134"/>
                  <a:gd name="T23" fmla="*/ 30 h 909"/>
                  <a:gd name="T24" fmla="*/ 1027 w 1134"/>
                  <a:gd name="T25" fmla="*/ 51 h 909"/>
                  <a:gd name="T26" fmla="*/ 1061 w 1134"/>
                  <a:gd name="T27" fmla="*/ 77 h 909"/>
                  <a:gd name="T28" fmla="*/ 1089 w 1134"/>
                  <a:gd name="T29" fmla="*/ 107 h 909"/>
                  <a:gd name="T30" fmla="*/ 1110 w 1134"/>
                  <a:gd name="T31" fmla="*/ 140 h 909"/>
                  <a:gd name="T32" fmla="*/ 1124 w 1134"/>
                  <a:gd name="T33" fmla="*/ 177 h 909"/>
                  <a:gd name="T34" fmla="*/ 1132 w 1134"/>
                  <a:gd name="T35" fmla="*/ 217 h 909"/>
                  <a:gd name="T36" fmla="*/ 1134 w 1134"/>
                  <a:gd name="T37" fmla="*/ 260 h 909"/>
                  <a:gd name="T38" fmla="*/ 1128 w 1134"/>
                  <a:gd name="T39" fmla="*/ 308 h 909"/>
                  <a:gd name="T40" fmla="*/ 1118 w 1134"/>
                  <a:gd name="T41" fmla="*/ 355 h 909"/>
                  <a:gd name="T42" fmla="*/ 1099 w 1134"/>
                  <a:gd name="T43" fmla="*/ 402 h 909"/>
                  <a:gd name="T44" fmla="*/ 1075 w 1134"/>
                  <a:gd name="T45" fmla="*/ 451 h 909"/>
                  <a:gd name="T46" fmla="*/ 1045 w 1134"/>
                  <a:gd name="T47" fmla="*/ 501 h 909"/>
                  <a:gd name="T48" fmla="*/ 1010 w 1134"/>
                  <a:gd name="T49" fmla="*/ 550 h 909"/>
                  <a:gd name="T50" fmla="*/ 968 w 1134"/>
                  <a:gd name="T51" fmla="*/ 597 h 909"/>
                  <a:gd name="T52" fmla="*/ 923 w 1134"/>
                  <a:gd name="T53" fmla="*/ 643 h 909"/>
                  <a:gd name="T54" fmla="*/ 871 w 1134"/>
                  <a:gd name="T55" fmla="*/ 688 h 909"/>
                  <a:gd name="T56" fmla="*/ 818 w 1134"/>
                  <a:gd name="T57" fmla="*/ 727 h 909"/>
                  <a:gd name="T58" fmla="*/ 763 w 1134"/>
                  <a:gd name="T59" fmla="*/ 765 h 909"/>
                  <a:gd name="T60" fmla="*/ 703 w 1134"/>
                  <a:gd name="T61" fmla="*/ 800 h 909"/>
                  <a:gd name="T62" fmla="*/ 644 w 1134"/>
                  <a:gd name="T63" fmla="*/ 830 h 909"/>
                  <a:gd name="T64" fmla="*/ 583 w 1134"/>
                  <a:gd name="T65" fmla="*/ 855 h 909"/>
                  <a:gd name="T66" fmla="*/ 519 w 1134"/>
                  <a:gd name="T67" fmla="*/ 877 h 909"/>
                  <a:gd name="T68" fmla="*/ 460 w 1134"/>
                  <a:gd name="T69" fmla="*/ 893 h 909"/>
                  <a:gd name="T70" fmla="*/ 401 w 1134"/>
                  <a:gd name="T71" fmla="*/ 903 h 909"/>
                  <a:gd name="T72" fmla="*/ 342 w 1134"/>
                  <a:gd name="T73" fmla="*/ 909 h 909"/>
                  <a:gd name="T74" fmla="*/ 286 w 1134"/>
                  <a:gd name="T75" fmla="*/ 909 h 909"/>
                  <a:gd name="T76" fmla="*/ 235 w 1134"/>
                  <a:gd name="T77" fmla="*/ 905 h 909"/>
                  <a:gd name="T78" fmla="*/ 187 w 1134"/>
                  <a:gd name="T79" fmla="*/ 893 h 909"/>
                  <a:gd name="T80" fmla="*/ 144 w 1134"/>
                  <a:gd name="T81" fmla="*/ 877 h 909"/>
                  <a:gd name="T82" fmla="*/ 106 w 1134"/>
                  <a:gd name="T83" fmla="*/ 857 h 909"/>
                  <a:gd name="T84" fmla="*/ 73 w 1134"/>
                  <a:gd name="T85" fmla="*/ 832 h 909"/>
                  <a:gd name="T86" fmla="*/ 45 w 1134"/>
                  <a:gd name="T87" fmla="*/ 802 h 909"/>
                  <a:gd name="T88" fmla="*/ 23 w 1134"/>
                  <a:gd name="T89" fmla="*/ 769 h 909"/>
                  <a:gd name="T90" fmla="*/ 9 w 1134"/>
                  <a:gd name="T91" fmla="*/ 731 h 909"/>
                  <a:gd name="T92" fmla="*/ 2 w 1134"/>
                  <a:gd name="T93" fmla="*/ 690 h 909"/>
                  <a:gd name="T94" fmla="*/ 0 w 1134"/>
                  <a:gd name="T95" fmla="*/ 647 h 909"/>
                  <a:gd name="T96" fmla="*/ 5 w 1134"/>
                  <a:gd name="T97" fmla="*/ 601 h 909"/>
                  <a:gd name="T98" fmla="*/ 15 w 1134"/>
                  <a:gd name="T99" fmla="*/ 554 h 909"/>
                  <a:gd name="T100" fmla="*/ 35 w 1134"/>
                  <a:gd name="T101" fmla="*/ 505 h 909"/>
                  <a:gd name="T102" fmla="*/ 59 w 1134"/>
                  <a:gd name="T103" fmla="*/ 455 h 909"/>
                  <a:gd name="T104" fmla="*/ 88 w 1134"/>
                  <a:gd name="T105" fmla="*/ 406 h 909"/>
                  <a:gd name="T106" fmla="*/ 124 w 1134"/>
                  <a:gd name="T107" fmla="*/ 359 h 909"/>
                  <a:gd name="T108" fmla="*/ 166 w 1134"/>
                  <a:gd name="T109" fmla="*/ 311 h 909"/>
                  <a:gd name="T110" fmla="*/ 211 w 1134"/>
                  <a:gd name="T111" fmla="*/ 264 h 909"/>
                  <a:gd name="T112" fmla="*/ 262 w 1134"/>
                  <a:gd name="T113" fmla="*/ 221 h 909"/>
                  <a:gd name="T114" fmla="*/ 316 w 1134"/>
                  <a:gd name="T115" fmla="*/ 179 h 909"/>
                  <a:gd name="T116" fmla="*/ 371 w 1134"/>
                  <a:gd name="T117" fmla="*/ 142 h 90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134"/>
                  <a:gd name="T178" fmla="*/ 0 h 909"/>
                  <a:gd name="T179" fmla="*/ 1134 w 1134"/>
                  <a:gd name="T180" fmla="*/ 909 h 90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134" h="909">
                    <a:moveTo>
                      <a:pt x="371" y="142"/>
                    </a:moveTo>
                    <a:lnTo>
                      <a:pt x="430" y="108"/>
                    </a:lnTo>
                    <a:lnTo>
                      <a:pt x="492" y="79"/>
                    </a:lnTo>
                    <a:lnTo>
                      <a:pt x="551" y="53"/>
                    </a:lnTo>
                    <a:lnTo>
                      <a:pt x="614" y="32"/>
                    </a:lnTo>
                    <a:lnTo>
                      <a:pt x="674" y="16"/>
                    </a:lnTo>
                    <a:lnTo>
                      <a:pt x="735" y="6"/>
                    </a:lnTo>
                    <a:lnTo>
                      <a:pt x="792" y="0"/>
                    </a:lnTo>
                    <a:lnTo>
                      <a:pt x="848" y="0"/>
                    </a:lnTo>
                    <a:lnTo>
                      <a:pt x="899" y="4"/>
                    </a:lnTo>
                    <a:lnTo>
                      <a:pt x="946" y="14"/>
                    </a:lnTo>
                    <a:lnTo>
                      <a:pt x="990" y="30"/>
                    </a:lnTo>
                    <a:lnTo>
                      <a:pt x="1027" y="51"/>
                    </a:lnTo>
                    <a:lnTo>
                      <a:pt x="1061" y="77"/>
                    </a:lnTo>
                    <a:lnTo>
                      <a:pt x="1089" y="107"/>
                    </a:lnTo>
                    <a:lnTo>
                      <a:pt x="1110" y="140"/>
                    </a:lnTo>
                    <a:lnTo>
                      <a:pt x="1124" y="177"/>
                    </a:lnTo>
                    <a:lnTo>
                      <a:pt x="1132" y="217"/>
                    </a:lnTo>
                    <a:lnTo>
                      <a:pt x="1134" y="260"/>
                    </a:lnTo>
                    <a:lnTo>
                      <a:pt x="1128" y="308"/>
                    </a:lnTo>
                    <a:lnTo>
                      <a:pt x="1118" y="355"/>
                    </a:lnTo>
                    <a:lnTo>
                      <a:pt x="1099" y="402"/>
                    </a:lnTo>
                    <a:lnTo>
                      <a:pt x="1075" y="451"/>
                    </a:lnTo>
                    <a:lnTo>
                      <a:pt x="1045" y="501"/>
                    </a:lnTo>
                    <a:lnTo>
                      <a:pt x="1010" y="550"/>
                    </a:lnTo>
                    <a:lnTo>
                      <a:pt x="968" y="597"/>
                    </a:lnTo>
                    <a:lnTo>
                      <a:pt x="923" y="643"/>
                    </a:lnTo>
                    <a:lnTo>
                      <a:pt x="871" y="688"/>
                    </a:lnTo>
                    <a:lnTo>
                      <a:pt x="818" y="727"/>
                    </a:lnTo>
                    <a:lnTo>
                      <a:pt x="763" y="765"/>
                    </a:lnTo>
                    <a:lnTo>
                      <a:pt x="703" y="800"/>
                    </a:lnTo>
                    <a:lnTo>
                      <a:pt x="644" y="830"/>
                    </a:lnTo>
                    <a:lnTo>
                      <a:pt x="583" y="855"/>
                    </a:lnTo>
                    <a:lnTo>
                      <a:pt x="519" y="877"/>
                    </a:lnTo>
                    <a:lnTo>
                      <a:pt x="460" y="893"/>
                    </a:lnTo>
                    <a:lnTo>
                      <a:pt x="401" y="903"/>
                    </a:lnTo>
                    <a:lnTo>
                      <a:pt x="342" y="909"/>
                    </a:lnTo>
                    <a:lnTo>
                      <a:pt x="286" y="909"/>
                    </a:lnTo>
                    <a:lnTo>
                      <a:pt x="235" y="905"/>
                    </a:lnTo>
                    <a:lnTo>
                      <a:pt x="187" y="893"/>
                    </a:lnTo>
                    <a:lnTo>
                      <a:pt x="144" y="877"/>
                    </a:lnTo>
                    <a:lnTo>
                      <a:pt x="106" y="857"/>
                    </a:lnTo>
                    <a:lnTo>
                      <a:pt x="73" y="832"/>
                    </a:lnTo>
                    <a:lnTo>
                      <a:pt x="45" y="802"/>
                    </a:lnTo>
                    <a:lnTo>
                      <a:pt x="23" y="769"/>
                    </a:lnTo>
                    <a:lnTo>
                      <a:pt x="9" y="731"/>
                    </a:lnTo>
                    <a:lnTo>
                      <a:pt x="2" y="690"/>
                    </a:lnTo>
                    <a:lnTo>
                      <a:pt x="0" y="647"/>
                    </a:lnTo>
                    <a:lnTo>
                      <a:pt x="5" y="601"/>
                    </a:lnTo>
                    <a:lnTo>
                      <a:pt x="15" y="554"/>
                    </a:lnTo>
                    <a:lnTo>
                      <a:pt x="35" y="505"/>
                    </a:lnTo>
                    <a:lnTo>
                      <a:pt x="59" y="455"/>
                    </a:lnTo>
                    <a:lnTo>
                      <a:pt x="88" y="406"/>
                    </a:lnTo>
                    <a:lnTo>
                      <a:pt x="124" y="359"/>
                    </a:lnTo>
                    <a:lnTo>
                      <a:pt x="166" y="311"/>
                    </a:lnTo>
                    <a:lnTo>
                      <a:pt x="211" y="264"/>
                    </a:lnTo>
                    <a:lnTo>
                      <a:pt x="262" y="221"/>
                    </a:lnTo>
                    <a:lnTo>
                      <a:pt x="316" y="179"/>
                    </a:lnTo>
                    <a:lnTo>
                      <a:pt x="371" y="14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30"/>
            <p:cNvGrpSpPr>
              <a:grpSpLocks noChangeAspect="1"/>
            </p:cNvGrpSpPr>
            <p:nvPr/>
          </p:nvGrpSpPr>
          <p:grpSpPr bwMode="auto">
            <a:xfrm>
              <a:off x="6986588" y="4089400"/>
              <a:ext cx="1274762" cy="2041525"/>
              <a:chOff x="1193" y="1212"/>
              <a:chExt cx="1218" cy="1950"/>
            </a:xfrm>
          </p:grpSpPr>
          <p:sp>
            <p:nvSpPr>
              <p:cNvPr id="76897" name="Rectangle 31"/>
              <p:cNvSpPr>
                <a:spLocks noChangeAspect="1" noChangeArrowheads="1"/>
              </p:cNvSpPr>
              <p:nvPr/>
            </p:nvSpPr>
            <p:spPr bwMode="auto">
              <a:xfrm>
                <a:off x="1603" y="1212"/>
                <a:ext cx="10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4</a:t>
                </a:r>
                <a:endParaRPr lang="en-US" altLang="en-US" sz="1600"/>
              </a:p>
            </p:txBody>
          </p:sp>
          <p:sp>
            <p:nvSpPr>
              <p:cNvPr id="76898" name="Freeform 32"/>
              <p:cNvSpPr>
                <a:spLocks noChangeAspect="1"/>
              </p:cNvSpPr>
              <p:nvPr/>
            </p:nvSpPr>
            <p:spPr bwMode="auto">
              <a:xfrm>
                <a:off x="1193" y="1246"/>
                <a:ext cx="1218" cy="1916"/>
              </a:xfrm>
              <a:custGeom>
                <a:avLst/>
                <a:gdLst>
                  <a:gd name="T0" fmla="*/ 87 w 1218"/>
                  <a:gd name="T1" fmla="*/ 724 h 1916"/>
                  <a:gd name="T2" fmla="*/ 148 w 1218"/>
                  <a:gd name="T3" fmla="*/ 566 h 1916"/>
                  <a:gd name="T4" fmla="*/ 225 w 1218"/>
                  <a:gd name="T5" fmla="*/ 420 h 1916"/>
                  <a:gd name="T6" fmla="*/ 312 w 1218"/>
                  <a:gd name="T7" fmla="*/ 290 h 1916"/>
                  <a:gd name="T8" fmla="*/ 409 w 1218"/>
                  <a:gd name="T9" fmla="*/ 182 h 1916"/>
                  <a:gd name="T10" fmla="*/ 514 w 1218"/>
                  <a:gd name="T11" fmla="*/ 97 h 1916"/>
                  <a:gd name="T12" fmla="*/ 619 w 1218"/>
                  <a:gd name="T13" fmla="*/ 38 h 1916"/>
                  <a:gd name="T14" fmla="*/ 725 w 1218"/>
                  <a:gd name="T15" fmla="*/ 6 h 1916"/>
                  <a:gd name="T16" fmla="*/ 826 w 1218"/>
                  <a:gd name="T17" fmla="*/ 4 h 1916"/>
                  <a:gd name="T18" fmla="*/ 923 w 1218"/>
                  <a:gd name="T19" fmla="*/ 30 h 1916"/>
                  <a:gd name="T20" fmla="*/ 1008 w 1218"/>
                  <a:gd name="T21" fmla="*/ 85 h 1916"/>
                  <a:gd name="T22" fmla="*/ 1081 w 1218"/>
                  <a:gd name="T23" fmla="*/ 168 h 1916"/>
                  <a:gd name="T24" fmla="*/ 1142 w 1218"/>
                  <a:gd name="T25" fmla="*/ 272 h 1916"/>
                  <a:gd name="T26" fmla="*/ 1184 w 1218"/>
                  <a:gd name="T27" fmla="*/ 399 h 1916"/>
                  <a:gd name="T28" fmla="*/ 1212 w 1218"/>
                  <a:gd name="T29" fmla="*/ 543 h 1916"/>
                  <a:gd name="T30" fmla="*/ 1218 w 1218"/>
                  <a:gd name="T31" fmla="*/ 698 h 1916"/>
                  <a:gd name="T32" fmla="*/ 1208 w 1218"/>
                  <a:gd name="T33" fmla="*/ 862 h 1916"/>
                  <a:gd name="T34" fmla="*/ 1178 w 1218"/>
                  <a:gd name="T35" fmla="*/ 1029 h 1916"/>
                  <a:gd name="T36" fmla="*/ 1133 w 1218"/>
                  <a:gd name="T37" fmla="*/ 1193 h 1916"/>
                  <a:gd name="T38" fmla="*/ 1069 w 1218"/>
                  <a:gd name="T39" fmla="*/ 1351 h 1916"/>
                  <a:gd name="T40" fmla="*/ 992 w 1218"/>
                  <a:gd name="T41" fmla="*/ 1496 h 1916"/>
                  <a:gd name="T42" fmla="*/ 905 w 1218"/>
                  <a:gd name="T43" fmla="*/ 1627 h 1916"/>
                  <a:gd name="T44" fmla="*/ 808 w 1218"/>
                  <a:gd name="T45" fmla="*/ 1735 h 1916"/>
                  <a:gd name="T46" fmla="*/ 706 w 1218"/>
                  <a:gd name="T47" fmla="*/ 1820 h 1916"/>
                  <a:gd name="T48" fmla="*/ 599 w 1218"/>
                  <a:gd name="T49" fmla="*/ 1879 h 1916"/>
                  <a:gd name="T50" fmla="*/ 494 w 1218"/>
                  <a:gd name="T51" fmla="*/ 1910 h 1916"/>
                  <a:gd name="T52" fmla="*/ 391 w 1218"/>
                  <a:gd name="T53" fmla="*/ 1912 h 1916"/>
                  <a:gd name="T54" fmla="*/ 296 w 1218"/>
                  <a:gd name="T55" fmla="*/ 1887 h 1916"/>
                  <a:gd name="T56" fmla="*/ 209 w 1218"/>
                  <a:gd name="T57" fmla="*/ 1832 h 1916"/>
                  <a:gd name="T58" fmla="*/ 136 w 1218"/>
                  <a:gd name="T59" fmla="*/ 1751 h 1916"/>
                  <a:gd name="T60" fmla="*/ 77 w 1218"/>
                  <a:gd name="T61" fmla="*/ 1644 h 1916"/>
                  <a:gd name="T62" fmla="*/ 33 w 1218"/>
                  <a:gd name="T63" fmla="*/ 1518 h 1916"/>
                  <a:gd name="T64" fmla="*/ 8 w 1218"/>
                  <a:gd name="T65" fmla="*/ 1374 h 1916"/>
                  <a:gd name="T66" fmla="*/ 0 w 1218"/>
                  <a:gd name="T67" fmla="*/ 1219 h 1916"/>
                  <a:gd name="T68" fmla="*/ 12 w 1218"/>
                  <a:gd name="T69" fmla="*/ 1055 h 1916"/>
                  <a:gd name="T70" fmla="*/ 39 w 1218"/>
                  <a:gd name="T71" fmla="*/ 887 h 19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218"/>
                  <a:gd name="T109" fmla="*/ 0 h 1916"/>
                  <a:gd name="T110" fmla="*/ 1218 w 1218"/>
                  <a:gd name="T111" fmla="*/ 1916 h 191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218" h="1916">
                    <a:moveTo>
                      <a:pt x="61" y="805"/>
                    </a:moveTo>
                    <a:lnTo>
                      <a:pt x="87" y="724"/>
                    </a:lnTo>
                    <a:lnTo>
                      <a:pt x="116" y="643"/>
                    </a:lnTo>
                    <a:lnTo>
                      <a:pt x="148" y="566"/>
                    </a:lnTo>
                    <a:lnTo>
                      <a:pt x="186" y="491"/>
                    </a:lnTo>
                    <a:lnTo>
                      <a:pt x="225" y="420"/>
                    </a:lnTo>
                    <a:lnTo>
                      <a:pt x="267" y="353"/>
                    </a:lnTo>
                    <a:lnTo>
                      <a:pt x="312" y="290"/>
                    </a:lnTo>
                    <a:lnTo>
                      <a:pt x="360" y="233"/>
                    </a:lnTo>
                    <a:lnTo>
                      <a:pt x="409" y="182"/>
                    </a:lnTo>
                    <a:lnTo>
                      <a:pt x="460" y="136"/>
                    </a:lnTo>
                    <a:lnTo>
                      <a:pt x="514" y="97"/>
                    </a:lnTo>
                    <a:lnTo>
                      <a:pt x="565" y="64"/>
                    </a:lnTo>
                    <a:lnTo>
                      <a:pt x="619" y="38"/>
                    </a:lnTo>
                    <a:lnTo>
                      <a:pt x="672" y="18"/>
                    </a:lnTo>
                    <a:lnTo>
                      <a:pt x="725" y="6"/>
                    </a:lnTo>
                    <a:lnTo>
                      <a:pt x="777" y="0"/>
                    </a:lnTo>
                    <a:lnTo>
                      <a:pt x="826" y="4"/>
                    </a:lnTo>
                    <a:lnTo>
                      <a:pt x="876" y="14"/>
                    </a:lnTo>
                    <a:lnTo>
                      <a:pt x="923" y="30"/>
                    </a:lnTo>
                    <a:lnTo>
                      <a:pt x="966" y="54"/>
                    </a:lnTo>
                    <a:lnTo>
                      <a:pt x="1008" y="85"/>
                    </a:lnTo>
                    <a:lnTo>
                      <a:pt x="1048" y="123"/>
                    </a:lnTo>
                    <a:lnTo>
                      <a:pt x="1081" y="168"/>
                    </a:lnTo>
                    <a:lnTo>
                      <a:pt x="1113" y="217"/>
                    </a:lnTo>
                    <a:lnTo>
                      <a:pt x="1142" y="272"/>
                    </a:lnTo>
                    <a:lnTo>
                      <a:pt x="1166" y="334"/>
                    </a:lnTo>
                    <a:lnTo>
                      <a:pt x="1184" y="399"/>
                    </a:lnTo>
                    <a:lnTo>
                      <a:pt x="1200" y="470"/>
                    </a:lnTo>
                    <a:lnTo>
                      <a:pt x="1212" y="543"/>
                    </a:lnTo>
                    <a:lnTo>
                      <a:pt x="1218" y="619"/>
                    </a:lnTo>
                    <a:lnTo>
                      <a:pt x="1218" y="698"/>
                    </a:lnTo>
                    <a:lnTo>
                      <a:pt x="1216" y="779"/>
                    </a:lnTo>
                    <a:lnTo>
                      <a:pt x="1208" y="862"/>
                    </a:lnTo>
                    <a:lnTo>
                      <a:pt x="1196" y="947"/>
                    </a:lnTo>
                    <a:lnTo>
                      <a:pt x="1178" y="1029"/>
                    </a:lnTo>
                    <a:lnTo>
                      <a:pt x="1156" y="1112"/>
                    </a:lnTo>
                    <a:lnTo>
                      <a:pt x="1133" y="1193"/>
                    </a:lnTo>
                    <a:lnTo>
                      <a:pt x="1103" y="1274"/>
                    </a:lnTo>
                    <a:lnTo>
                      <a:pt x="1069" y="1351"/>
                    </a:lnTo>
                    <a:lnTo>
                      <a:pt x="1034" y="1426"/>
                    </a:lnTo>
                    <a:lnTo>
                      <a:pt x="992" y="1496"/>
                    </a:lnTo>
                    <a:lnTo>
                      <a:pt x="951" y="1563"/>
                    </a:lnTo>
                    <a:lnTo>
                      <a:pt x="905" y="1627"/>
                    </a:lnTo>
                    <a:lnTo>
                      <a:pt x="858" y="1684"/>
                    </a:lnTo>
                    <a:lnTo>
                      <a:pt x="808" y="1735"/>
                    </a:lnTo>
                    <a:lnTo>
                      <a:pt x="757" y="1780"/>
                    </a:lnTo>
                    <a:lnTo>
                      <a:pt x="706" y="1820"/>
                    </a:lnTo>
                    <a:lnTo>
                      <a:pt x="652" y="1853"/>
                    </a:lnTo>
                    <a:lnTo>
                      <a:pt x="599" y="1879"/>
                    </a:lnTo>
                    <a:lnTo>
                      <a:pt x="545" y="1899"/>
                    </a:lnTo>
                    <a:lnTo>
                      <a:pt x="494" y="1910"/>
                    </a:lnTo>
                    <a:lnTo>
                      <a:pt x="443" y="1916"/>
                    </a:lnTo>
                    <a:lnTo>
                      <a:pt x="391" y="1912"/>
                    </a:lnTo>
                    <a:lnTo>
                      <a:pt x="342" y="1902"/>
                    </a:lnTo>
                    <a:lnTo>
                      <a:pt x="296" y="1887"/>
                    </a:lnTo>
                    <a:lnTo>
                      <a:pt x="251" y="1863"/>
                    </a:lnTo>
                    <a:lnTo>
                      <a:pt x="209" y="1832"/>
                    </a:lnTo>
                    <a:lnTo>
                      <a:pt x="172" y="1794"/>
                    </a:lnTo>
                    <a:lnTo>
                      <a:pt x="136" y="1751"/>
                    </a:lnTo>
                    <a:lnTo>
                      <a:pt x="105" y="1699"/>
                    </a:lnTo>
                    <a:lnTo>
                      <a:pt x="77" y="1644"/>
                    </a:lnTo>
                    <a:lnTo>
                      <a:pt x="53" y="1583"/>
                    </a:lnTo>
                    <a:lnTo>
                      <a:pt x="33" y="1518"/>
                    </a:lnTo>
                    <a:lnTo>
                      <a:pt x="18" y="1449"/>
                    </a:lnTo>
                    <a:lnTo>
                      <a:pt x="8" y="1374"/>
                    </a:lnTo>
                    <a:lnTo>
                      <a:pt x="2" y="1297"/>
                    </a:lnTo>
                    <a:lnTo>
                      <a:pt x="0" y="1219"/>
                    </a:lnTo>
                    <a:lnTo>
                      <a:pt x="4" y="1138"/>
                    </a:lnTo>
                    <a:lnTo>
                      <a:pt x="12" y="1055"/>
                    </a:lnTo>
                    <a:lnTo>
                      <a:pt x="24" y="972"/>
                    </a:lnTo>
                    <a:lnTo>
                      <a:pt x="39" y="887"/>
                    </a:lnTo>
                    <a:lnTo>
                      <a:pt x="61" y="805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6811" name="Text Box 33"/>
          <p:cNvSpPr txBox="1">
            <a:spLocks noChangeArrowheads="1"/>
          </p:cNvSpPr>
          <p:nvPr/>
        </p:nvSpPr>
        <p:spPr bwMode="auto">
          <a:xfrm>
            <a:off x="3387725" y="2133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MIN</a:t>
            </a:r>
          </a:p>
        </p:txBody>
      </p:sp>
      <p:sp>
        <p:nvSpPr>
          <p:cNvPr id="76812" name="Text Box 34"/>
          <p:cNvSpPr txBox="1">
            <a:spLocks noChangeArrowheads="1"/>
          </p:cNvSpPr>
          <p:nvPr/>
        </p:nvSpPr>
        <p:spPr bwMode="auto">
          <a:xfrm>
            <a:off x="4953000" y="2133600"/>
            <a:ext cx="685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/>
              <a:t>MAX</a:t>
            </a:r>
          </a:p>
        </p:txBody>
      </p:sp>
      <p:grpSp>
        <p:nvGrpSpPr>
          <p:cNvPr id="9" name="Group 119"/>
          <p:cNvGrpSpPr/>
          <p:nvPr/>
        </p:nvGrpSpPr>
        <p:grpSpPr>
          <a:xfrm>
            <a:off x="668338" y="3886200"/>
            <a:ext cx="2578100" cy="2286000"/>
            <a:chOff x="668338" y="3886200"/>
            <a:chExt cx="2578100" cy="2286000"/>
          </a:xfrm>
        </p:grpSpPr>
        <p:grpSp>
          <p:nvGrpSpPr>
            <p:cNvPr id="10" name="Group 35"/>
            <p:cNvGrpSpPr>
              <a:grpSpLocks noChangeAspect="1"/>
            </p:cNvGrpSpPr>
            <p:nvPr/>
          </p:nvGrpSpPr>
          <p:grpSpPr bwMode="auto">
            <a:xfrm>
              <a:off x="954088" y="4044950"/>
              <a:ext cx="1978025" cy="1795463"/>
              <a:chOff x="438" y="1309"/>
              <a:chExt cx="1937" cy="1757"/>
            </a:xfrm>
          </p:grpSpPr>
          <p:sp>
            <p:nvSpPr>
              <p:cNvPr id="76885" name="Freeform 36"/>
              <p:cNvSpPr>
                <a:spLocks noChangeAspect="1"/>
              </p:cNvSpPr>
              <p:nvPr/>
            </p:nvSpPr>
            <p:spPr bwMode="auto">
              <a:xfrm>
                <a:off x="1038" y="2002"/>
                <a:ext cx="88" cy="87"/>
              </a:xfrm>
              <a:custGeom>
                <a:avLst/>
                <a:gdLst>
                  <a:gd name="T0" fmla="*/ 0 w 88"/>
                  <a:gd name="T1" fmla="*/ 43 h 87"/>
                  <a:gd name="T2" fmla="*/ 4 w 88"/>
                  <a:gd name="T3" fmla="*/ 26 h 87"/>
                  <a:gd name="T4" fmla="*/ 13 w 88"/>
                  <a:gd name="T5" fmla="*/ 13 h 87"/>
                  <a:gd name="T6" fmla="*/ 28 w 88"/>
                  <a:gd name="T7" fmla="*/ 2 h 87"/>
                  <a:gd name="T8" fmla="*/ 45 w 88"/>
                  <a:gd name="T9" fmla="*/ 0 h 87"/>
                  <a:gd name="T10" fmla="*/ 62 w 88"/>
                  <a:gd name="T11" fmla="*/ 2 h 87"/>
                  <a:gd name="T12" fmla="*/ 75 w 88"/>
                  <a:gd name="T13" fmla="*/ 13 h 87"/>
                  <a:gd name="T14" fmla="*/ 86 w 88"/>
                  <a:gd name="T15" fmla="*/ 26 h 87"/>
                  <a:gd name="T16" fmla="*/ 88 w 88"/>
                  <a:gd name="T17" fmla="*/ 43 h 87"/>
                  <a:gd name="T18" fmla="*/ 86 w 88"/>
                  <a:gd name="T19" fmla="*/ 61 h 87"/>
                  <a:gd name="T20" fmla="*/ 75 w 88"/>
                  <a:gd name="T21" fmla="*/ 74 h 87"/>
                  <a:gd name="T22" fmla="*/ 62 w 88"/>
                  <a:gd name="T23" fmla="*/ 84 h 87"/>
                  <a:gd name="T24" fmla="*/ 45 w 88"/>
                  <a:gd name="T25" fmla="*/ 87 h 87"/>
                  <a:gd name="T26" fmla="*/ 28 w 88"/>
                  <a:gd name="T27" fmla="*/ 84 h 87"/>
                  <a:gd name="T28" fmla="*/ 13 w 88"/>
                  <a:gd name="T29" fmla="*/ 74 h 87"/>
                  <a:gd name="T30" fmla="*/ 4 w 88"/>
                  <a:gd name="T31" fmla="*/ 61 h 87"/>
                  <a:gd name="T32" fmla="*/ 0 w 88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8"/>
                  <a:gd name="T52" fmla="*/ 0 h 87"/>
                  <a:gd name="T53" fmla="*/ 88 w 88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8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5" y="13"/>
                    </a:lnTo>
                    <a:lnTo>
                      <a:pt x="86" y="26"/>
                    </a:lnTo>
                    <a:lnTo>
                      <a:pt x="88" y="43"/>
                    </a:lnTo>
                    <a:lnTo>
                      <a:pt x="86" y="61"/>
                    </a:lnTo>
                    <a:lnTo>
                      <a:pt x="75" y="74"/>
                    </a:lnTo>
                    <a:lnTo>
                      <a:pt x="62" y="84"/>
                    </a:lnTo>
                    <a:lnTo>
                      <a:pt x="45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86" name="Freeform 37"/>
              <p:cNvSpPr>
                <a:spLocks noChangeAspect="1"/>
              </p:cNvSpPr>
              <p:nvPr/>
            </p:nvSpPr>
            <p:spPr bwMode="auto">
              <a:xfrm>
                <a:off x="1860" y="1361"/>
                <a:ext cx="89" cy="88"/>
              </a:xfrm>
              <a:custGeom>
                <a:avLst/>
                <a:gdLst>
                  <a:gd name="T0" fmla="*/ 0 w 89"/>
                  <a:gd name="T1" fmla="*/ 43 h 88"/>
                  <a:gd name="T2" fmla="*/ 4 w 89"/>
                  <a:gd name="T3" fmla="*/ 26 h 88"/>
                  <a:gd name="T4" fmla="*/ 13 w 89"/>
                  <a:gd name="T5" fmla="*/ 13 h 88"/>
                  <a:gd name="T6" fmla="*/ 28 w 89"/>
                  <a:gd name="T7" fmla="*/ 2 h 88"/>
                  <a:gd name="T8" fmla="*/ 45 w 89"/>
                  <a:gd name="T9" fmla="*/ 0 h 88"/>
                  <a:gd name="T10" fmla="*/ 63 w 89"/>
                  <a:gd name="T11" fmla="*/ 2 h 88"/>
                  <a:gd name="T12" fmla="*/ 76 w 89"/>
                  <a:gd name="T13" fmla="*/ 13 h 88"/>
                  <a:gd name="T14" fmla="*/ 86 w 89"/>
                  <a:gd name="T15" fmla="*/ 26 h 88"/>
                  <a:gd name="T16" fmla="*/ 89 w 89"/>
                  <a:gd name="T17" fmla="*/ 43 h 88"/>
                  <a:gd name="T18" fmla="*/ 86 w 89"/>
                  <a:gd name="T19" fmla="*/ 60 h 88"/>
                  <a:gd name="T20" fmla="*/ 76 w 89"/>
                  <a:gd name="T21" fmla="*/ 76 h 88"/>
                  <a:gd name="T22" fmla="*/ 63 w 89"/>
                  <a:gd name="T23" fmla="*/ 84 h 88"/>
                  <a:gd name="T24" fmla="*/ 45 w 89"/>
                  <a:gd name="T25" fmla="*/ 88 h 88"/>
                  <a:gd name="T26" fmla="*/ 28 w 89"/>
                  <a:gd name="T27" fmla="*/ 84 h 88"/>
                  <a:gd name="T28" fmla="*/ 13 w 89"/>
                  <a:gd name="T29" fmla="*/ 76 h 88"/>
                  <a:gd name="T30" fmla="*/ 4 w 89"/>
                  <a:gd name="T31" fmla="*/ 60 h 88"/>
                  <a:gd name="T32" fmla="*/ 0 w 89"/>
                  <a:gd name="T33" fmla="*/ 43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8"/>
                  <a:gd name="T53" fmla="*/ 89 w 89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8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6" y="26"/>
                    </a:lnTo>
                    <a:lnTo>
                      <a:pt x="89" y="43"/>
                    </a:lnTo>
                    <a:lnTo>
                      <a:pt x="86" y="60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5" y="88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87" name="Freeform 38"/>
              <p:cNvSpPr>
                <a:spLocks noChangeAspect="1"/>
              </p:cNvSpPr>
              <p:nvPr/>
            </p:nvSpPr>
            <p:spPr bwMode="auto">
              <a:xfrm>
                <a:off x="1260" y="2875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5 w 89"/>
                  <a:gd name="T3" fmla="*/ 28 h 88"/>
                  <a:gd name="T4" fmla="*/ 13 w 89"/>
                  <a:gd name="T5" fmla="*/ 12 h 88"/>
                  <a:gd name="T6" fmla="*/ 29 w 89"/>
                  <a:gd name="T7" fmla="*/ 4 h 88"/>
                  <a:gd name="T8" fmla="*/ 46 w 89"/>
                  <a:gd name="T9" fmla="*/ 0 h 88"/>
                  <a:gd name="T10" fmla="*/ 63 w 89"/>
                  <a:gd name="T11" fmla="*/ 4 h 88"/>
                  <a:gd name="T12" fmla="*/ 76 w 89"/>
                  <a:gd name="T13" fmla="*/ 12 h 88"/>
                  <a:gd name="T14" fmla="*/ 87 w 89"/>
                  <a:gd name="T15" fmla="*/ 28 h 88"/>
                  <a:gd name="T16" fmla="*/ 89 w 89"/>
                  <a:gd name="T17" fmla="*/ 45 h 88"/>
                  <a:gd name="T18" fmla="*/ 87 w 89"/>
                  <a:gd name="T19" fmla="*/ 62 h 88"/>
                  <a:gd name="T20" fmla="*/ 76 w 89"/>
                  <a:gd name="T21" fmla="*/ 75 h 88"/>
                  <a:gd name="T22" fmla="*/ 63 w 89"/>
                  <a:gd name="T23" fmla="*/ 86 h 88"/>
                  <a:gd name="T24" fmla="*/ 46 w 89"/>
                  <a:gd name="T25" fmla="*/ 88 h 88"/>
                  <a:gd name="T26" fmla="*/ 29 w 89"/>
                  <a:gd name="T27" fmla="*/ 86 h 88"/>
                  <a:gd name="T28" fmla="*/ 13 w 89"/>
                  <a:gd name="T29" fmla="*/ 75 h 88"/>
                  <a:gd name="T30" fmla="*/ 5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8"/>
                  <a:gd name="T53" fmla="*/ 89 w 89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8">
                    <a:moveTo>
                      <a:pt x="0" y="45"/>
                    </a:moveTo>
                    <a:lnTo>
                      <a:pt x="5" y="28"/>
                    </a:lnTo>
                    <a:lnTo>
                      <a:pt x="13" y="12"/>
                    </a:lnTo>
                    <a:lnTo>
                      <a:pt x="29" y="4"/>
                    </a:lnTo>
                    <a:lnTo>
                      <a:pt x="46" y="0"/>
                    </a:lnTo>
                    <a:lnTo>
                      <a:pt x="63" y="4"/>
                    </a:lnTo>
                    <a:lnTo>
                      <a:pt x="76" y="12"/>
                    </a:lnTo>
                    <a:lnTo>
                      <a:pt x="87" y="28"/>
                    </a:lnTo>
                    <a:lnTo>
                      <a:pt x="89" y="45"/>
                    </a:lnTo>
                    <a:lnTo>
                      <a:pt x="87" y="62"/>
                    </a:lnTo>
                    <a:lnTo>
                      <a:pt x="76" y="75"/>
                    </a:lnTo>
                    <a:lnTo>
                      <a:pt x="63" y="86"/>
                    </a:lnTo>
                    <a:lnTo>
                      <a:pt x="46" y="88"/>
                    </a:lnTo>
                    <a:lnTo>
                      <a:pt x="29" y="86"/>
                    </a:lnTo>
                    <a:lnTo>
                      <a:pt x="13" y="75"/>
                    </a:lnTo>
                    <a:lnTo>
                      <a:pt x="5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88" name="Freeform 39"/>
              <p:cNvSpPr>
                <a:spLocks noChangeAspect="1"/>
              </p:cNvSpPr>
              <p:nvPr/>
            </p:nvSpPr>
            <p:spPr bwMode="auto">
              <a:xfrm>
                <a:off x="438" y="1875"/>
                <a:ext cx="87" cy="88"/>
              </a:xfrm>
              <a:custGeom>
                <a:avLst/>
                <a:gdLst>
                  <a:gd name="T0" fmla="*/ 0 w 87"/>
                  <a:gd name="T1" fmla="*/ 45 h 88"/>
                  <a:gd name="T2" fmla="*/ 2 w 87"/>
                  <a:gd name="T3" fmla="*/ 28 h 88"/>
                  <a:gd name="T4" fmla="*/ 11 w 87"/>
                  <a:gd name="T5" fmla="*/ 13 h 88"/>
                  <a:gd name="T6" fmla="*/ 26 w 87"/>
                  <a:gd name="T7" fmla="*/ 4 h 88"/>
                  <a:gd name="T8" fmla="*/ 44 w 87"/>
                  <a:gd name="T9" fmla="*/ 0 h 88"/>
                  <a:gd name="T10" fmla="*/ 61 w 87"/>
                  <a:gd name="T11" fmla="*/ 4 h 88"/>
                  <a:gd name="T12" fmla="*/ 74 w 87"/>
                  <a:gd name="T13" fmla="*/ 13 h 88"/>
                  <a:gd name="T14" fmla="*/ 85 w 87"/>
                  <a:gd name="T15" fmla="*/ 28 h 88"/>
                  <a:gd name="T16" fmla="*/ 87 w 87"/>
                  <a:gd name="T17" fmla="*/ 45 h 88"/>
                  <a:gd name="T18" fmla="*/ 85 w 87"/>
                  <a:gd name="T19" fmla="*/ 62 h 88"/>
                  <a:gd name="T20" fmla="*/ 74 w 87"/>
                  <a:gd name="T21" fmla="*/ 75 h 88"/>
                  <a:gd name="T22" fmla="*/ 61 w 87"/>
                  <a:gd name="T23" fmla="*/ 86 h 88"/>
                  <a:gd name="T24" fmla="*/ 44 w 87"/>
                  <a:gd name="T25" fmla="*/ 88 h 88"/>
                  <a:gd name="T26" fmla="*/ 26 w 87"/>
                  <a:gd name="T27" fmla="*/ 86 h 88"/>
                  <a:gd name="T28" fmla="*/ 11 w 87"/>
                  <a:gd name="T29" fmla="*/ 75 h 88"/>
                  <a:gd name="T30" fmla="*/ 2 w 87"/>
                  <a:gd name="T31" fmla="*/ 62 h 88"/>
                  <a:gd name="T32" fmla="*/ 0 w 87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8"/>
                  <a:gd name="T53" fmla="*/ 87 w 87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8">
                    <a:moveTo>
                      <a:pt x="0" y="45"/>
                    </a:moveTo>
                    <a:lnTo>
                      <a:pt x="2" y="28"/>
                    </a:lnTo>
                    <a:lnTo>
                      <a:pt x="11" y="13"/>
                    </a:lnTo>
                    <a:lnTo>
                      <a:pt x="26" y="4"/>
                    </a:lnTo>
                    <a:lnTo>
                      <a:pt x="44" y="0"/>
                    </a:lnTo>
                    <a:lnTo>
                      <a:pt x="61" y="4"/>
                    </a:lnTo>
                    <a:lnTo>
                      <a:pt x="74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4" y="75"/>
                    </a:lnTo>
                    <a:lnTo>
                      <a:pt x="61" y="86"/>
                    </a:lnTo>
                    <a:lnTo>
                      <a:pt x="44" y="88"/>
                    </a:lnTo>
                    <a:lnTo>
                      <a:pt x="26" y="86"/>
                    </a:lnTo>
                    <a:lnTo>
                      <a:pt x="11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89" name="Freeform 40"/>
              <p:cNvSpPr>
                <a:spLocks noChangeAspect="1"/>
              </p:cNvSpPr>
              <p:nvPr/>
            </p:nvSpPr>
            <p:spPr bwMode="auto">
              <a:xfrm>
                <a:off x="1617" y="2309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5 w 89"/>
                  <a:gd name="T3" fmla="*/ 28 h 88"/>
                  <a:gd name="T4" fmla="*/ 13 w 89"/>
                  <a:gd name="T5" fmla="*/ 13 h 88"/>
                  <a:gd name="T6" fmla="*/ 29 w 89"/>
                  <a:gd name="T7" fmla="*/ 4 h 88"/>
                  <a:gd name="T8" fmla="*/ 46 w 89"/>
                  <a:gd name="T9" fmla="*/ 0 h 88"/>
                  <a:gd name="T10" fmla="*/ 61 w 89"/>
                  <a:gd name="T11" fmla="*/ 4 h 88"/>
                  <a:gd name="T12" fmla="*/ 76 w 89"/>
                  <a:gd name="T13" fmla="*/ 13 h 88"/>
                  <a:gd name="T14" fmla="*/ 85 w 89"/>
                  <a:gd name="T15" fmla="*/ 28 h 88"/>
                  <a:gd name="T16" fmla="*/ 89 w 89"/>
                  <a:gd name="T17" fmla="*/ 45 h 88"/>
                  <a:gd name="T18" fmla="*/ 85 w 89"/>
                  <a:gd name="T19" fmla="*/ 62 h 88"/>
                  <a:gd name="T20" fmla="*/ 76 w 89"/>
                  <a:gd name="T21" fmla="*/ 75 h 88"/>
                  <a:gd name="T22" fmla="*/ 61 w 89"/>
                  <a:gd name="T23" fmla="*/ 86 h 88"/>
                  <a:gd name="T24" fmla="*/ 46 w 89"/>
                  <a:gd name="T25" fmla="*/ 88 h 88"/>
                  <a:gd name="T26" fmla="*/ 29 w 89"/>
                  <a:gd name="T27" fmla="*/ 86 h 88"/>
                  <a:gd name="T28" fmla="*/ 13 w 89"/>
                  <a:gd name="T29" fmla="*/ 75 h 88"/>
                  <a:gd name="T30" fmla="*/ 5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8"/>
                  <a:gd name="T53" fmla="*/ 89 w 89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8">
                    <a:moveTo>
                      <a:pt x="0" y="45"/>
                    </a:moveTo>
                    <a:lnTo>
                      <a:pt x="5" y="28"/>
                    </a:lnTo>
                    <a:lnTo>
                      <a:pt x="13" y="13"/>
                    </a:lnTo>
                    <a:lnTo>
                      <a:pt x="29" y="4"/>
                    </a:lnTo>
                    <a:lnTo>
                      <a:pt x="46" y="0"/>
                    </a:lnTo>
                    <a:lnTo>
                      <a:pt x="61" y="4"/>
                    </a:lnTo>
                    <a:lnTo>
                      <a:pt x="76" y="13"/>
                    </a:lnTo>
                    <a:lnTo>
                      <a:pt x="85" y="28"/>
                    </a:lnTo>
                    <a:lnTo>
                      <a:pt x="89" y="45"/>
                    </a:lnTo>
                    <a:lnTo>
                      <a:pt x="85" y="62"/>
                    </a:lnTo>
                    <a:lnTo>
                      <a:pt x="76" y="75"/>
                    </a:lnTo>
                    <a:lnTo>
                      <a:pt x="61" y="86"/>
                    </a:lnTo>
                    <a:lnTo>
                      <a:pt x="46" y="88"/>
                    </a:lnTo>
                    <a:lnTo>
                      <a:pt x="29" y="86"/>
                    </a:lnTo>
                    <a:lnTo>
                      <a:pt x="13" y="75"/>
                    </a:lnTo>
                    <a:lnTo>
                      <a:pt x="5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90" name="Freeform 41"/>
              <p:cNvSpPr>
                <a:spLocks noChangeAspect="1"/>
              </p:cNvSpPr>
              <p:nvPr/>
            </p:nvSpPr>
            <p:spPr bwMode="auto">
              <a:xfrm>
                <a:off x="2100" y="2369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5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5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9"/>
                  <a:gd name="T53" fmla="*/ 89 w 89"/>
                  <a:gd name="T54" fmla="*/ 89 h 8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5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91" name="Rectangle 42"/>
              <p:cNvSpPr>
                <a:spLocks noChangeAspect="1" noChangeArrowheads="1"/>
              </p:cNvSpPr>
              <p:nvPr/>
            </p:nvSpPr>
            <p:spPr bwMode="auto">
              <a:xfrm>
                <a:off x="1971" y="1309"/>
                <a:ext cx="99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76892" name="Rectangle 43"/>
              <p:cNvSpPr>
                <a:spLocks noChangeAspect="1" noChangeArrowheads="1"/>
              </p:cNvSpPr>
              <p:nvPr/>
            </p:nvSpPr>
            <p:spPr bwMode="auto">
              <a:xfrm>
                <a:off x="1155" y="1945"/>
                <a:ext cx="99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en-US" sz="1600"/>
              </a:p>
            </p:txBody>
          </p:sp>
          <p:sp>
            <p:nvSpPr>
              <p:cNvPr id="76893" name="Rectangle 44"/>
              <p:cNvSpPr>
                <a:spLocks noChangeAspect="1" noChangeArrowheads="1"/>
              </p:cNvSpPr>
              <p:nvPr/>
            </p:nvSpPr>
            <p:spPr bwMode="auto">
              <a:xfrm>
                <a:off x="1775" y="2262"/>
                <a:ext cx="99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altLang="en-US" sz="1600"/>
              </a:p>
            </p:txBody>
          </p:sp>
          <p:sp>
            <p:nvSpPr>
              <p:cNvPr id="76894" name="Rectangle 45"/>
              <p:cNvSpPr>
                <a:spLocks noChangeAspect="1" noChangeArrowheads="1"/>
              </p:cNvSpPr>
              <p:nvPr/>
            </p:nvSpPr>
            <p:spPr bwMode="auto">
              <a:xfrm>
                <a:off x="1388" y="2827"/>
                <a:ext cx="99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altLang="en-US" sz="1600"/>
              </a:p>
            </p:txBody>
          </p:sp>
          <p:sp>
            <p:nvSpPr>
              <p:cNvPr id="76895" name="Rectangle 46"/>
              <p:cNvSpPr>
                <a:spLocks noChangeAspect="1" noChangeArrowheads="1"/>
              </p:cNvSpPr>
              <p:nvPr/>
            </p:nvSpPr>
            <p:spPr bwMode="auto">
              <a:xfrm>
                <a:off x="572" y="1817"/>
                <a:ext cx="99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altLang="en-US" sz="1600"/>
              </a:p>
            </p:txBody>
          </p:sp>
          <p:sp>
            <p:nvSpPr>
              <p:cNvPr id="76896" name="Rectangle 47"/>
              <p:cNvSpPr>
                <a:spLocks noChangeAspect="1" noChangeArrowheads="1"/>
              </p:cNvSpPr>
              <p:nvPr/>
            </p:nvSpPr>
            <p:spPr bwMode="auto">
              <a:xfrm>
                <a:off x="2275" y="2316"/>
                <a:ext cx="100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altLang="en-US" sz="1600"/>
              </a:p>
            </p:txBody>
          </p:sp>
        </p:grpSp>
        <p:grpSp>
          <p:nvGrpSpPr>
            <p:cNvPr id="11" name="Group 48"/>
            <p:cNvGrpSpPr>
              <a:grpSpLocks noChangeAspect="1"/>
            </p:cNvGrpSpPr>
            <p:nvPr/>
          </p:nvGrpSpPr>
          <p:grpSpPr bwMode="auto">
            <a:xfrm>
              <a:off x="2076450" y="4951413"/>
              <a:ext cx="917575" cy="617537"/>
              <a:chOff x="1537" y="2197"/>
              <a:chExt cx="898" cy="604"/>
            </a:xfrm>
          </p:grpSpPr>
          <p:sp>
            <p:nvSpPr>
              <p:cNvPr id="76883" name="Freeform 49"/>
              <p:cNvSpPr>
                <a:spLocks noChangeAspect="1"/>
              </p:cNvSpPr>
              <p:nvPr/>
            </p:nvSpPr>
            <p:spPr bwMode="auto">
              <a:xfrm>
                <a:off x="1537" y="2197"/>
                <a:ext cx="898" cy="375"/>
              </a:xfrm>
              <a:custGeom>
                <a:avLst/>
                <a:gdLst>
                  <a:gd name="T0" fmla="*/ 450 w 898"/>
                  <a:gd name="T1" fmla="*/ 0 h 375"/>
                  <a:gd name="T2" fmla="*/ 511 w 898"/>
                  <a:gd name="T3" fmla="*/ 2 h 375"/>
                  <a:gd name="T4" fmla="*/ 572 w 898"/>
                  <a:gd name="T5" fmla="*/ 6 h 375"/>
                  <a:gd name="T6" fmla="*/ 630 w 898"/>
                  <a:gd name="T7" fmla="*/ 15 h 375"/>
                  <a:gd name="T8" fmla="*/ 684 w 898"/>
                  <a:gd name="T9" fmla="*/ 28 h 375"/>
                  <a:gd name="T10" fmla="*/ 734 w 898"/>
                  <a:gd name="T11" fmla="*/ 43 h 375"/>
                  <a:gd name="T12" fmla="*/ 779 w 898"/>
                  <a:gd name="T13" fmla="*/ 60 h 375"/>
                  <a:gd name="T14" fmla="*/ 818 w 898"/>
                  <a:gd name="T15" fmla="*/ 79 h 375"/>
                  <a:gd name="T16" fmla="*/ 851 w 898"/>
                  <a:gd name="T17" fmla="*/ 101 h 375"/>
                  <a:gd name="T18" fmla="*/ 875 w 898"/>
                  <a:gd name="T19" fmla="*/ 125 h 375"/>
                  <a:gd name="T20" fmla="*/ 892 w 898"/>
                  <a:gd name="T21" fmla="*/ 149 h 375"/>
                  <a:gd name="T22" fmla="*/ 898 w 898"/>
                  <a:gd name="T23" fmla="*/ 174 h 375"/>
                  <a:gd name="T24" fmla="*/ 898 w 898"/>
                  <a:gd name="T25" fmla="*/ 200 h 375"/>
                  <a:gd name="T26" fmla="*/ 892 w 898"/>
                  <a:gd name="T27" fmla="*/ 226 h 375"/>
                  <a:gd name="T28" fmla="*/ 875 w 898"/>
                  <a:gd name="T29" fmla="*/ 250 h 375"/>
                  <a:gd name="T30" fmla="*/ 851 w 898"/>
                  <a:gd name="T31" fmla="*/ 274 h 375"/>
                  <a:gd name="T32" fmla="*/ 818 w 898"/>
                  <a:gd name="T33" fmla="*/ 295 h 375"/>
                  <a:gd name="T34" fmla="*/ 779 w 898"/>
                  <a:gd name="T35" fmla="*/ 315 h 375"/>
                  <a:gd name="T36" fmla="*/ 734 w 898"/>
                  <a:gd name="T37" fmla="*/ 332 h 375"/>
                  <a:gd name="T38" fmla="*/ 684 w 898"/>
                  <a:gd name="T39" fmla="*/ 347 h 375"/>
                  <a:gd name="T40" fmla="*/ 630 w 898"/>
                  <a:gd name="T41" fmla="*/ 360 h 375"/>
                  <a:gd name="T42" fmla="*/ 572 w 898"/>
                  <a:gd name="T43" fmla="*/ 369 h 375"/>
                  <a:gd name="T44" fmla="*/ 511 w 898"/>
                  <a:gd name="T45" fmla="*/ 373 h 375"/>
                  <a:gd name="T46" fmla="*/ 450 w 898"/>
                  <a:gd name="T47" fmla="*/ 375 h 375"/>
                  <a:gd name="T48" fmla="*/ 390 w 898"/>
                  <a:gd name="T49" fmla="*/ 373 h 375"/>
                  <a:gd name="T50" fmla="*/ 329 w 898"/>
                  <a:gd name="T51" fmla="*/ 369 h 375"/>
                  <a:gd name="T52" fmla="*/ 271 w 898"/>
                  <a:gd name="T53" fmla="*/ 360 h 375"/>
                  <a:gd name="T54" fmla="*/ 217 w 898"/>
                  <a:gd name="T55" fmla="*/ 347 h 375"/>
                  <a:gd name="T56" fmla="*/ 167 w 898"/>
                  <a:gd name="T57" fmla="*/ 332 h 375"/>
                  <a:gd name="T58" fmla="*/ 122 w 898"/>
                  <a:gd name="T59" fmla="*/ 315 h 375"/>
                  <a:gd name="T60" fmla="*/ 83 w 898"/>
                  <a:gd name="T61" fmla="*/ 295 h 375"/>
                  <a:gd name="T62" fmla="*/ 50 w 898"/>
                  <a:gd name="T63" fmla="*/ 274 h 375"/>
                  <a:gd name="T64" fmla="*/ 26 w 898"/>
                  <a:gd name="T65" fmla="*/ 250 h 375"/>
                  <a:gd name="T66" fmla="*/ 9 w 898"/>
                  <a:gd name="T67" fmla="*/ 226 h 375"/>
                  <a:gd name="T68" fmla="*/ 0 w 898"/>
                  <a:gd name="T69" fmla="*/ 200 h 375"/>
                  <a:gd name="T70" fmla="*/ 0 w 898"/>
                  <a:gd name="T71" fmla="*/ 174 h 375"/>
                  <a:gd name="T72" fmla="*/ 9 w 898"/>
                  <a:gd name="T73" fmla="*/ 149 h 375"/>
                  <a:gd name="T74" fmla="*/ 26 w 898"/>
                  <a:gd name="T75" fmla="*/ 125 h 375"/>
                  <a:gd name="T76" fmla="*/ 50 w 898"/>
                  <a:gd name="T77" fmla="*/ 101 h 375"/>
                  <a:gd name="T78" fmla="*/ 83 w 898"/>
                  <a:gd name="T79" fmla="*/ 79 h 375"/>
                  <a:gd name="T80" fmla="*/ 122 w 898"/>
                  <a:gd name="T81" fmla="*/ 60 h 375"/>
                  <a:gd name="T82" fmla="*/ 167 w 898"/>
                  <a:gd name="T83" fmla="*/ 43 h 375"/>
                  <a:gd name="T84" fmla="*/ 217 w 898"/>
                  <a:gd name="T85" fmla="*/ 28 h 375"/>
                  <a:gd name="T86" fmla="*/ 271 w 898"/>
                  <a:gd name="T87" fmla="*/ 15 h 375"/>
                  <a:gd name="T88" fmla="*/ 329 w 898"/>
                  <a:gd name="T89" fmla="*/ 6 h 375"/>
                  <a:gd name="T90" fmla="*/ 390 w 898"/>
                  <a:gd name="T91" fmla="*/ 2 h 375"/>
                  <a:gd name="T92" fmla="*/ 450 w 898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98"/>
                  <a:gd name="T142" fmla="*/ 0 h 375"/>
                  <a:gd name="T143" fmla="*/ 898 w 898"/>
                  <a:gd name="T144" fmla="*/ 375 h 375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98" h="375">
                    <a:moveTo>
                      <a:pt x="450" y="0"/>
                    </a:moveTo>
                    <a:lnTo>
                      <a:pt x="511" y="2"/>
                    </a:lnTo>
                    <a:lnTo>
                      <a:pt x="572" y="6"/>
                    </a:lnTo>
                    <a:lnTo>
                      <a:pt x="630" y="15"/>
                    </a:lnTo>
                    <a:lnTo>
                      <a:pt x="684" y="28"/>
                    </a:lnTo>
                    <a:lnTo>
                      <a:pt x="734" y="43"/>
                    </a:lnTo>
                    <a:lnTo>
                      <a:pt x="779" y="60"/>
                    </a:lnTo>
                    <a:lnTo>
                      <a:pt x="818" y="79"/>
                    </a:lnTo>
                    <a:lnTo>
                      <a:pt x="851" y="101"/>
                    </a:lnTo>
                    <a:lnTo>
                      <a:pt x="875" y="125"/>
                    </a:lnTo>
                    <a:lnTo>
                      <a:pt x="892" y="149"/>
                    </a:lnTo>
                    <a:lnTo>
                      <a:pt x="898" y="174"/>
                    </a:lnTo>
                    <a:lnTo>
                      <a:pt x="898" y="200"/>
                    </a:lnTo>
                    <a:lnTo>
                      <a:pt x="892" y="226"/>
                    </a:lnTo>
                    <a:lnTo>
                      <a:pt x="875" y="250"/>
                    </a:lnTo>
                    <a:lnTo>
                      <a:pt x="851" y="274"/>
                    </a:lnTo>
                    <a:lnTo>
                      <a:pt x="818" y="295"/>
                    </a:lnTo>
                    <a:lnTo>
                      <a:pt x="779" y="315"/>
                    </a:lnTo>
                    <a:lnTo>
                      <a:pt x="734" y="332"/>
                    </a:lnTo>
                    <a:lnTo>
                      <a:pt x="684" y="347"/>
                    </a:lnTo>
                    <a:lnTo>
                      <a:pt x="630" y="360"/>
                    </a:lnTo>
                    <a:lnTo>
                      <a:pt x="572" y="369"/>
                    </a:lnTo>
                    <a:lnTo>
                      <a:pt x="511" y="373"/>
                    </a:lnTo>
                    <a:lnTo>
                      <a:pt x="450" y="375"/>
                    </a:lnTo>
                    <a:lnTo>
                      <a:pt x="390" y="373"/>
                    </a:lnTo>
                    <a:lnTo>
                      <a:pt x="329" y="369"/>
                    </a:lnTo>
                    <a:lnTo>
                      <a:pt x="271" y="360"/>
                    </a:lnTo>
                    <a:lnTo>
                      <a:pt x="217" y="347"/>
                    </a:lnTo>
                    <a:lnTo>
                      <a:pt x="167" y="332"/>
                    </a:lnTo>
                    <a:lnTo>
                      <a:pt x="122" y="315"/>
                    </a:lnTo>
                    <a:lnTo>
                      <a:pt x="83" y="295"/>
                    </a:lnTo>
                    <a:lnTo>
                      <a:pt x="50" y="274"/>
                    </a:lnTo>
                    <a:lnTo>
                      <a:pt x="26" y="250"/>
                    </a:lnTo>
                    <a:lnTo>
                      <a:pt x="9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9" y="149"/>
                    </a:lnTo>
                    <a:lnTo>
                      <a:pt x="26" y="125"/>
                    </a:lnTo>
                    <a:lnTo>
                      <a:pt x="50" y="101"/>
                    </a:lnTo>
                    <a:lnTo>
                      <a:pt x="83" y="79"/>
                    </a:lnTo>
                    <a:lnTo>
                      <a:pt x="122" y="60"/>
                    </a:lnTo>
                    <a:lnTo>
                      <a:pt x="167" y="43"/>
                    </a:lnTo>
                    <a:lnTo>
                      <a:pt x="217" y="28"/>
                    </a:lnTo>
                    <a:lnTo>
                      <a:pt x="271" y="15"/>
                    </a:lnTo>
                    <a:lnTo>
                      <a:pt x="329" y="6"/>
                    </a:lnTo>
                    <a:lnTo>
                      <a:pt x="390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84" name="Rectangle 50"/>
              <p:cNvSpPr>
                <a:spLocks noChangeAspect="1" noChangeArrowheads="1"/>
              </p:cNvSpPr>
              <p:nvPr/>
            </p:nvSpPr>
            <p:spPr bwMode="auto">
              <a:xfrm>
                <a:off x="1910" y="2562"/>
                <a:ext cx="110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1</a:t>
                </a:r>
                <a:endParaRPr lang="en-US" altLang="en-US" sz="1600"/>
              </a:p>
            </p:txBody>
          </p:sp>
        </p:grpSp>
        <p:grpSp>
          <p:nvGrpSpPr>
            <p:cNvPr id="12" name="Group 51"/>
            <p:cNvGrpSpPr>
              <a:grpSpLocks noChangeAspect="1"/>
            </p:cNvGrpSpPr>
            <p:nvPr/>
          </p:nvGrpSpPr>
          <p:grpSpPr bwMode="auto">
            <a:xfrm>
              <a:off x="893763" y="4322763"/>
              <a:ext cx="1035050" cy="582612"/>
              <a:chOff x="380" y="1581"/>
              <a:chExt cx="1012" cy="570"/>
            </a:xfrm>
          </p:grpSpPr>
          <p:sp>
            <p:nvSpPr>
              <p:cNvPr id="76881" name="Freeform 52"/>
              <p:cNvSpPr>
                <a:spLocks noChangeAspect="1"/>
              </p:cNvSpPr>
              <p:nvPr/>
            </p:nvSpPr>
            <p:spPr bwMode="auto">
              <a:xfrm>
                <a:off x="380" y="1760"/>
                <a:ext cx="1012" cy="391"/>
              </a:xfrm>
              <a:custGeom>
                <a:avLst/>
                <a:gdLst>
                  <a:gd name="T0" fmla="*/ 523 w 1012"/>
                  <a:gd name="T1" fmla="*/ 5 h 391"/>
                  <a:gd name="T2" fmla="*/ 586 w 1012"/>
                  <a:gd name="T3" fmla="*/ 11 h 391"/>
                  <a:gd name="T4" fmla="*/ 649 w 1012"/>
                  <a:gd name="T5" fmla="*/ 22 h 391"/>
                  <a:gd name="T6" fmla="*/ 707 w 1012"/>
                  <a:gd name="T7" fmla="*/ 35 h 391"/>
                  <a:gd name="T8" fmla="*/ 766 w 1012"/>
                  <a:gd name="T9" fmla="*/ 50 h 391"/>
                  <a:gd name="T10" fmla="*/ 818 w 1012"/>
                  <a:gd name="T11" fmla="*/ 67 h 391"/>
                  <a:gd name="T12" fmla="*/ 865 w 1012"/>
                  <a:gd name="T13" fmla="*/ 87 h 391"/>
                  <a:gd name="T14" fmla="*/ 906 w 1012"/>
                  <a:gd name="T15" fmla="*/ 108 h 391"/>
                  <a:gd name="T16" fmla="*/ 943 w 1012"/>
                  <a:gd name="T17" fmla="*/ 130 h 391"/>
                  <a:gd name="T18" fmla="*/ 971 w 1012"/>
                  <a:gd name="T19" fmla="*/ 154 h 391"/>
                  <a:gd name="T20" fmla="*/ 993 w 1012"/>
                  <a:gd name="T21" fmla="*/ 180 h 391"/>
                  <a:gd name="T22" fmla="*/ 1006 w 1012"/>
                  <a:gd name="T23" fmla="*/ 203 h 391"/>
                  <a:gd name="T24" fmla="*/ 1012 w 1012"/>
                  <a:gd name="T25" fmla="*/ 227 h 391"/>
                  <a:gd name="T26" fmla="*/ 1010 w 1012"/>
                  <a:gd name="T27" fmla="*/ 251 h 391"/>
                  <a:gd name="T28" fmla="*/ 999 w 1012"/>
                  <a:gd name="T29" fmla="*/ 275 h 391"/>
                  <a:gd name="T30" fmla="*/ 982 w 1012"/>
                  <a:gd name="T31" fmla="*/ 296 h 391"/>
                  <a:gd name="T32" fmla="*/ 956 w 1012"/>
                  <a:gd name="T33" fmla="*/ 318 h 391"/>
                  <a:gd name="T34" fmla="*/ 924 w 1012"/>
                  <a:gd name="T35" fmla="*/ 335 h 391"/>
                  <a:gd name="T36" fmla="*/ 885 w 1012"/>
                  <a:gd name="T37" fmla="*/ 352 h 391"/>
                  <a:gd name="T38" fmla="*/ 842 w 1012"/>
                  <a:gd name="T39" fmla="*/ 365 h 391"/>
                  <a:gd name="T40" fmla="*/ 790 w 1012"/>
                  <a:gd name="T41" fmla="*/ 376 h 391"/>
                  <a:gd name="T42" fmla="*/ 736 w 1012"/>
                  <a:gd name="T43" fmla="*/ 385 h 391"/>
                  <a:gd name="T44" fmla="*/ 677 w 1012"/>
                  <a:gd name="T45" fmla="*/ 389 h 391"/>
                  <a:gd name="T46" fmla="*/ 616 w 1012"/>
                  <a:gd name="T47" fmla="*/ 391 h 391"/>
                  <a:gd name="T48" fmla="*/ 554 w 1012"/>
                  <a:gd name="T49" fmla="*/ 391 h 391"/>
                  <a:gd name="T50" fmla="*/ 489 w 1012"/>
                  <a:gd name="T51" fmla="*/ 387 h 391"/>
                  <a:gd name="T52" fmla="*/ 426 w 1012"/>
                  <a:gd name="T53" fmla="*/ 380 h 391"/>
                  <a:gd name="T54" fmla="*/ 363 w 1012"/>
                  <a:gd name="T55" fmla="*/ 370 h 391"/>
                  <a:gd name="T56" fmla="*/ 305 w 1012"/>
                  <a:gd name="T57" fmla="*/ 357 h 391"/>
                  <a:gd name="T58" fmla="*/ 249 w 1012"/>
                  <a:gd name="T59" fmla="*/ 342 h 391"/>
                  <a:gd name="T60" fmla="*/ 195 w 1012"/>
                  <a:gd name="T61" fmla="*/ 324 h 391"/>
                  <a:gd name="T62" fmla="*/ 147 w 1012"/>
                  <a:gd name="T63" fmla="*/ 305 h 391"/>
                  <a:gd name="T64" fmla="*/ 106 w 1012"/>
                  <a:gd name="T65" fmla="*/ 283 h 391"/>
                  <a:gd name="T66" fmla="*/ 69 w 1012"/>
                  <a:gd name="T67" fmla="*/ 262 h 391"/>
                  <a:gd name="T68" fmla="*/ 41 w 1012"/>
                  <a:gd name="T69" fmla="*/ 238 h 391"/>
                  <a:gd name="T70" fmla="*/ 19 w 1012"/>
                  <a:gd name="T71" fmla="*/ 212 h 391"/>
                  <a:gd name="T72" fmla="*/ 6 w 1012"/>
                  <a:gd name="T73" fmla="*/ 188 h 391"/>
                  <a:gd name="T74" fmla="*/ 0 w 1012"/>
                  <a:gd name="T75" fmla="*/ 164 h 391"/>
                  <a:gd name="T76" fmla="*/ 2 w 1012"/>
                  <a:gd name="T77" fmla="*/ 139 h 391"/>
                  <a:gd name="T78" fmla="*/ 13 w 1012"/>
                  <a:gd name="T79" fmla="*/ 117 h 391"/>
                  <a:gd name="T80" fmla="*/ 30 w 1012"/>
                  <a:gd name="T81" fmla="*/ 95 h 391"/>
                  <a:gd name="T82" fmla="*/ 56 w 1012"/>
                  <a:gd name="T83" fmla="*/ 74 h 391"/>
                  <a:gd name="T84" fmla="*/ 89 w 1012"/>
                  <a:gd name="T85" fmla="*/ 57 h 391"/>
                  <a:gd name="T86" fmla="*/ 128 w 1012"/>
                  <a:gd name="T87" fmla="*/ 39 h 391"/>
                  <a:gd name="T88" fmla="*/ 171 w 1012"/>
                  <a:gd name="T89" fmla="*/ 26 h 391"/>
                  <a:gd name="T90" fmla="*/ 223 w 1012"/>
                  <a:gd name="T91" fmla="*/ 16 h 391"/>
                  <a:gd name="T92" fmla="*/ 277 w 1012"/>
                  <a:gd name="T93" fmla="*/ 7 h 391"/>
                  <a:gd name="T94" fmla="*/ 335 w 1012"/>
                  <a:gd name="T95" fmla="*/ 3 h 391"/>
                  <a:gd name="T96" fmla="*/ 396 w 1012"/>
                  <a:gd name="T97" fmla="*/ 0 h 391"/>
                  <a:gd name="T98" fmla="*/ 459 w 1012"/>
                  <a:gd name="T99" fmla="*/ 0 h 391"/>
                  <a:gd name="T100" fmla="*/ 523 w 1012"/>
                  <a:gd name="T101" fmla="*/ 5 h 391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012"/>
                  <a:gd name="T154" fmla="*/ 0 h 391"/>
                  <a:gd name="T155" fmla="*/ 1012 w 1012"/>
                  <a:gd name="T156" fmla="*/ 391 h 391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012" h="391">
                    <a:moveTo>
                      <a:pt x="523" y="5"/>
                    </a:moveTo>
                    <a:lnTo>
                      <a:pt x="586" y="11"/>
                    </a:lnTo>
                    <a:lnTo>
                      <a:pt x="649" y="22"/>
                    </a:lnTo>
                    <a:lnTo>
                      <a:pt x="707" y="35"/>
                    </a:lnTo>
                    <a:lnTo>
                      <a:pt x="766" y="50"/>
                    </a:lnTo>
                    <a:lnTo>
                      <a:pt x="818" y="67"/>
                    </a:lnTo>
                    <a:lnTo>
                      <a:pt x="865" y="87"/>
                    </a:lnTo>
                    <a:lnTo>
                      <a:pt x="906" y="108"/>
                    </a:lnTo>
                    <a:lnTo>
                      <a:pt x="943" y="130"/>
                    </a:lnTo>
                    <a:lnTo>
                      <a:pt x="971" y="154"/>
                    </a:lnTo>
                    <a:lnTo>
                      <a:pt x="993" y="180"/>
                    </a:lnTo>
                    <a:lnTo>
                      <a:pt x="1006" y="203"/>
                    </a:lnTo>
                    <a:lnTo>
                      <a:pt x="1012" y="227"/>
                    </a:lnTo>
                    <a:lnTo>
                      <a:pt x="1010" y="251"/>
                    </a:lnTo>
                    <a:lnTo>
                      <a:pt x="999" y="275"/>
                    </a:lnTo>
                    <a:lnTo>
                      <a:pt x="982" y="296"/>
                    </a:lnTo>
                    <a:lnTo>
                      <a:pt x="956" y="318"/>
                    </a:lnTo>
                    <a:lnTo>
                      <a:pt x="924" y="335"/>
                    </a:lnTo>
                    <a:lnTo>
                      <a:pt x="885" y="352"/>
                    </a:lnTo>
                    <a:lnTo>
                      <a:pt x="842" y="365"/>
                    </a:lnTo>
                    <a:lnTo>
                      <a:pt x="790" y="376"/>
                    </a:lnTo>
                    <a:lnTo>
                      <a:pt x="736" y="385"/>
                    </a:lnTo>
                    <a:lnTo>
                      <a:pt x="677" y="389"/>
                    </a:lnTo>
                    <a:lnTo>
                      <a:pt x="616" y="391"/>
                    </a:lnTo>
                    <a:lnTo>
                      <a:pt x="554" y="391"/>
                    </a:lnTo>
                    <a:lnTo>
                      <a:pt x="489" y="387"/>
                    </a:lnTo>
                    <a:lnTo>
                      <a:pt x="426" y="380"/>
                    </a:lnTo>
                    <a:lnTo>
                      <a:pt x="363" y="370"/>
                    </a:lnTo>
                    <a:lnTo>
                      <a:pt x="305" y="357"/>
                    </a:lnTo>
                    <a:lnTo>
                      <a:pt x="249" y="342"/>
                    </a:lnTo>
                    <a:lnTo>
                      <a:pt x="195" y="324"/>
                    </a:lnTo>
                    <a:lnTo>
                      <a:pt x="147" y="305"/>
                    </a:lnTo>
                    <a:lnTo>
                      <a:pt x="106" y="283"/>
                    </a:lnTo>
                    <a:lnTo>
                      <a:pt x="69" y="262"/>
                    </a:lnTo>
                    <a:lnTo>
                      <a:pt x="41" y="238"/>
                    </a:lnTo>
                    <a:lnTo>
                      <a:pt x="19" y="212"/>
                    </a:lnTo>
                    <a:lnTo>
                      <a:pt x="6" y="188"/>
                    </a:lnTo>
                    <a:lnTo>
                      <a:pt x="0" y="164"/>
                    </a:lnTo>
                    <a:lnTo>
                      <a:pt x="2" y="139"/>
                    </a:lnTo>
                    <a:lnTo>
                      <a:pt x="13" y="117"/>
                    </a:lnTo>
                    <a:lnTo>
                      <a:pt x="30" y="95"/>
                    </a:lnTo>
                    <a:lnTo>
                      <a:pt x="56" y="74"/>
                    </a:lnTo>
                    <a:lnTo>
                      <a:pt x="89" y="57"/>
                    </a:lnTo>
                    <a:lnTo>
                      <a:pt x="128" y="39"/>
                    </a:lnTo>
                    <a:lnTo>
                      <a:pt x="171" y="26"/>
                    </a:lnTo>
                    <a:lnTo>
                      <a:pt x="223" y="16"/>
                    </a:lnTo>
                    <a:lnTo>
                      <a:pt x="277" y="7"/>
                    </a:lnTo>
                    <a:lnTo>
                      <a:pt x="335" y="3"/>
                    </a:lnTo>
                    <a:lnTo>
                      <a:pt x="396" y="0"/>
                    </a:lnTo>
                    <a:lnTo>
                      <a:pt x="459" y="0"/>
                    </a:lnTo>
                    <a:lnTo>
                      <a:pt x="523" y="5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82" name="Rectangle 53"/>
              <p:cNvSpPr>
                <a:spLocks noChangeAspect="1" noChangeArrowheads="1"/>
              </p:cNvSpPr>
              <p:nvPr/>
            </p:nvSpPr>
            <p:spPr bwMode="auto">
              <a:xfrm>
                <a:off x="914" y="1581"/>
                <a:ext cx="110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2</a:t>
                </a:r>
                <a:endParaRPr lang="en-US" altLang="en-US" sz="1600"/>
              </a:p>
            </p:txBody>
          </p:sp>
        </p:grpSp>
        <p:grpSp>
          <p:nvGrpSpPr>
            <p:cNvPr id="13" name="Group 54"/>
            <p:cNvGrpSpPr>
              <a:grpSpLocks noChangeAspect="1"/>
            </p:cNvGrpSpPr>
            <p:nvPr/>
          </p:nvGrpSpPr>
          <p:grpSpPr bwMode="auto">
            <a:xfrm>
              <a:off x="668338" y="3886200"/>
              <a:ext cx="2578100" cy="2286000"/>
              <a:chOff x="159" y="1154"/>
              <a:chExt cx="2523" cy="2237"/>
            </a:xfrm>
          </p:grpSpPr>
          <p:sp>
            <p:nvSpPr>
              <p:cNvPr id="76879" name="Rectangle 55"/>
              <p:cNvSpPr>
                <a:spLocks noChangeAspect="1" noChangeArrowheads="1"/>
              </p:cNvSpPr>
              <p:nvPr/>
            </p:nvSpPr>
            <p:spPr bwMode="auto">
              <a:xfrm>
                <a:off x="2186" y="1166"/>
                <a:ext cx="111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5</a:t>
                </a:r>
                <a:endParaRPr lang="en-US" altLang="en-US" sz="1600"/>
              </a:p>
            </p:txBody>
          </p:sp>
          <p:sp>
            <p:nvSpPr>
              <p:cNvPr id="76880" name="Freeform 56"/>
              <p:cNvSpPr>
                <a:spLocks noChangeAspect="1"/>
              </p:cNvSpPr>
              <p:nvPr/>
            </p:nvSpPr>
            <p:spPr bwMode="auto">
              <a:xfrm>
                <a:off x="159" y="1154"/>
                <a:ext cx="2523" cy="2237"/>
              </a:xfrm>
              <a:custGeom>
                <a:avLst/>
                <a:gdLst>
                  <a:gd name="T0" fmla="*/ 1363 w 2523"/>
                  <a:gd name="T1" fmla="*/ 2 h 2237"/>
                  <a:gd name="T2" fmla="*/ 1569 w 2523"/>
                  <a:gd name="T3" fmla="*/ 32 h 2237"/>
                  <a:gd name="T4" fmla="*/ 1766 w 2523"/>
                  <a:gd name="T5" fmla="*/ 93 h 2237"/>
                  <a:gd name="T6" fmla="*/ 1950 w 2523"/>
                  <a:gd name="T7" fmla="*/ 179 h 2237"/>
                  <a:gd name="T8" fmla="*/ 2114 w 2523"/>
                  <a:gd name="T9" fmla="*/ 293 h 2237"/>
                  <a:gd name="T10" fmla="*/ 2255 w 2523"/>
                  <a:gd name="T11" fmla="*/ 429 h 2237"/>
                  <a:gd name="T12" fmla="*/ 2369 w 2523"/>
                  <a:gd name="T13" fmla="*/ 583 h 2237"/>
                  <a:gd name="T14" fmla="*/ 2454 w 2523"/>
                  <a:gd name="T15" fmla="*/ 753 h 2237"/>
                  <a:gd name="T16" fmla="*/ 2506 w 2523"/>
                  <a:gd name="T17" fmla="*/ 930 h 2237"/>
                  <a:gd name="T18" fmla="*/ 2523 w 2523"/>
                  <a:gd name="T19" fmla="*/ 1116 h 2237"/>
                  <a:gd name="T20" fmla="*/ 2506 w 2523"/>
                  <a:gd name="T21" fmla="*/ 1299 h 2237"/>
                  <a:gd name="T22" fmla="*/ 2454 w 2523"/>
                  <a:gd name="T23" fmla="*/ 1479 h 2237"/>
                  <a:gd name="T24" fmla="*/ 2372 w 2523"/>
                  <a:gd name="T25" fmla="*/ 1647 h 2237"/>
                  <a:gd name="T26" fmla="*/ 2257 w 2523"/>
                  <a:gd name="T27" fmla="*/ 1803 h 2237"/>
                  <a:gd name="T28" fmla="*/ 2116 w 2523"/>
                  <a:gd name="T29" fmla="*/ 1939 h 2237"/>
                  <a:gd name="T30" fmla="*/ 1952 w 2523"/>
                  <a:gd name="T31" fmla="*/ 2053 h 2237"/>
                  <a:gd name="T32" fmla="*/ 1770 w 2523"/>
                  <a:gd name="T33" fmla="*/ 2142 h 2237"/>
                  <a:gd name="T34" fmla="*/ 1573 w 2523"/>
                  <a:gd name="T35" fmla="*/ 2202 h 2237"/>
                  <a:gd name="T36" fmla="*/ 1368 w 2523"/>
                  <a:gd name="T37" fmla="*/ 2232 h 2237"/>
                  <a:gd name="T38" fmla="*/ 1160 w 2523"/>
                  <a:gd name="T39" fmla="*/ 2232 h 2237"/>
                  <a:gd name="T40" fmla="*/ 954 w 2523"/>
                  <a:gd name="T41" fmla="*/ 2202 h 2237"/>
                  <a:gd name="T42" fmla="*/ 757 w 2523"/>
                  <a:gd name="T43" fmla="*/ 2144 h 2237"/>
                  <a:gd name="T44" fmla="*/ 574 w 2523"/>
                  <a:gd name="T45" fmla="*/ 2055 h 2237"/>
                  <a:gd name="T46" fmla="*/ 409 w 2523"/>
                  <a:gd name="T47" fmla="*/ 1943 h 2237"/>
                  <a:gd name="T48" fmla="*/ 268 w 2523"/>
                  <a:gd name="T49" fmla="*/ 1807 h 2237"/>
                  <a:gd name="T50" fmla="*/ 154 w 2523"/>
                  <a:gd name="T51" fmla="*/ 1651 h 2237"/>
                  <a:gd name="T52" fmla="*/ 69 w 2523"/>
                  <a:gd name="T53" fmla="*/ 1483 h 2237"/>
                  <a:gd name="T54" fmla="*/ 17 w 2523"/>
                  <a:gd name="T55" fmla="*/ 1304 h 2237"/>
                  <a:gd name="T56" fmla="*/ 0 w 2523"/>
                  <a:gd name="T57" fmla="*/ 1120 h 2237"/>
                  <a:gd name="T58" fmla="*/ 17 w 2523"/>
                  <a:gd name="T59" fmla="*/ 935 h 2237"/>
                  <a:gd name="T60" fmla="*/ 69 w 2523"/>
                  <a:gd name="T61" fmla="*/ 755 h 2237"/>
                  <a:gd name="T62" fmla="*/ 152 w 2523"/>
                  <a:gd name="T63" fmla="*/ 587 h 2237"/>
                  <a:gd name="T64" fmla="*/ 266 w 2523"/>
                  <a:gd name="T65" fmla="*/ 431 h 2237"/>
                  <a:gd name="T66" fmla="*/ 407 w 2523"/>
                  <a:gd name="T67" fmla="*/ 295 h 2237"/>
                  <a:gd name="T68" fmla="*/ 571 w 2523"/>
                  <a:gd name="T69" fmla="*/ 183 h 2237"/>
                  <a:gd name="T70" fmla="*/ 753 w 2523"/>
                  <a:gd name="T71" fmla="*/ 95 h 2237"/>
                  <a:gd name="T72" fmla="*/ 950 w 2523"/>
                  <a:gd name="T73" fmla="*/ 34 h 2237"/>
                  <a:gd name="T74" fmla="*/ 1156 w 2523"/>
                  <a:gd name="T75" fmla="*/ 4 h 223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523"/>
                  <a:gd name="T115" fmla="*/ 0 h 2237"/>
                  <a:gd name="T116" fmla="*/ 2523 w 2523"/>
                  <a:gd name="T117" fmla="*/ 2237 h 223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523" h="2237">
                    <a:moveTo>
                      <a:pt x="1259" y="0"/>
                    </a:moveTo>
                    <a:lnTo>
                      <a:pt x="1363" y="2"/>
                    </a:lnTo>
                    <a:lnTo>
                      <a:pt x="1467" y="15"/>
                    </a:lnTo>
                    <a:lnTo>
                      <a:pt x="1569" y="32"/>
                    </a:lnTo>
                    <a:lnTo>
                      <a:pt x="1668" y="58"/>
                    </a:lnTo>
                    <a:lnTo>
                      <a:pt x="1766" y="93"/>
                    </a:lnTo>
                    <a:lnTo>
                      <a:pt x="1861" y="134"/>
                    </a:lnTo>
                    <a:lnTo>
                      <a:pt x="1950" y="179"/>
                    </a:lnTo>
                    <a:lnTo>
                      <a:pt x="2034" y="233"/>
                    </a:lnTo>
                    <a:lnTo>
                      <a:pt x="2114" y="293"/>
                    </a:lnTo>
                    <a:lnTo>
                      <a:pt x="2188" y="358"/>
                    </a:lnTo>
                    <a:lnTo>
                      <a:pt x="2255" y="429"/>
                    </a:lnTo>
                    <a:lnTo>
                      <a:pt x="2315" y="505"/>
                    </a:lnTo>
                    <a:lnTo>
                      <a:pt x="2369" y="583"/>
                    </a:lnTo>
                    <a:lnTo>
                      <a:pt x="2415" y="667"/>
                    </a:lnTo>
                    <a:lnTo>
                      <a:pt x="2454" y="753"/>
                    </a:lnTo>
                    <a:lnTo>
                      <a:pt x="2484" y="842"/>
                    </a:lnTo>
                    <a:lnTo>
                      <a:pt x="2506" y="930"/>
                    </a:lnTo>
                    <a:lnTo>
                      <a:pt x="2519" y="1023"/>
                    </a:lnTo>
                    <a:lnTo>
                      <a:pt x="2523" y="1116"/>
                    </a:lnTo>
                    <a:lnTo>
                      <a:pt x="2519" y="1209"/>
                    </a:lnTo>
                    <a:lnTo>
                      <a:pt x="2506" y="1299"/>
                    </a:lnTo>
                    <a:lnTo>
                      <a:pt x="2484" y="1390"/>
                    </a:lnTo>
                    <a:lnTo>
                      <a:pt x="2454" y="1479"/>
                    </a:lnTo>
                    <a:lnTo>
                      <a:pt x="2417" y="1565"/>
                    </a:lnTo>
                    <a:lnTo>
                      <a:pt x="2372" y="1647"/>
                    </a:lnTo>
                    <a:lnTo>
                      <a:pt x="2317" y="1727"/>
                    </a:lnTo>
                    <a:lnTo>
                      <a:pt x="2257" y="1803"/>
                    </a:lnTo>
                    <a:lnTo>
                      <a:pt x="2190" y="1874"/>
                    </a:lnTo>
                    <a:lnTo>
                      <a:pt x="2116" y="1939"/>
                    </a:lnTo>
                    <a:lnTo>
                      <a:pt x="2038" y="1999"/>
                    </a:lnTo>
                    <a:lnTo>
                      <a:pt x="1952" y="2053"/>
                    </a:lnTo>
                    <a:lnTo>
                      <a:pt x="1863" y="2101"/>
                    </a:lnTo>
                    <a:lnTo>
                      <a:pt x="1770" y="2142"/>
                    </a:lnTo>
                    <a:lnTo>
                      <a:pt x="1673" y="2174"/>
                    </a:lnTo>
                    <a:lnTo>
                      <a:pt x="1573" y="2202"/>
                    </a:lnTo>
                    <a:lnTo>
                      <a:pt x="1471" y="2221"/>
                    </a:lnTo>
                    <a:lnTo>
                      <a:pt x="1368" y="2232"/>
                    </a:lnTo>
                    <a:lnTo>
                      <a:pt x="1264" y="2237"/>
                    </a:lnTo>
                    <a:lnTo>
                      <a:pt x="1160" y="2232"/>
                    </a:lnTo>
                    <a:lnTo>
                      <a:pt x="1056" y="2221"/>
                    </a:lnTo>
                    <a:lnTo>
                      <a:pt x="954" y="2202"/>
                    </a:lnTo>
                    <a:lnTo>
                      <a:pt x="855" y="2176"/>
                    </a:lnTo>
                    <a:lnTo>
                      <a:pt x="757" y="2144"/>
                    </a:lnTo>
                    <a:lnTo>
                      <a:pt x="662" y="2103"/>
                    </a:lnTo>
                    <a:lnTo>
                      <a:pt x="574" y="2055"/>
                    </a:lnTo>
                    <a:lnTo>
                      <a:pt x="489" y="2001"/>
                    </a:lnTo>
                    <a:lnTo>
                      <a:pt x="409" y="1943"/>
                    </a:lnTo>
                    <a:lnTo>
                      <a:pt x="336" y="1876"/>
                    </a:lnTo>
                    <a:lnTo>
                      <a:pt x="268" y="1807"/>
                    </a:lnTo>
                    <a:lnTo>
                      <a:pt x="208" y="1731"/>
                    </a:lnTo>
                    <a:lnTo>
                      <a:pt x="154" y="1651"/>
                    </a:lnTo>
                    <a:lnTo>
                      <a:pt x="108" y="1569"/>
                    </a:lnTo>
                    <a:lnTo>
                      <a:pt x="69" y="1483"/>
                    </a:lnTo>
                    <a:lnTo>
                      <a:pt x="39" y="1394"/>
                    </a:lnTo>
                    <a:lnTo>
                      <a:pt x="17" y="1304"/>
                    </a:lnTo>
                    <a:lnTo>
                      <a:pt x="4" y="1213"/>
                    </a:lnTo>
                    <a:lnTo>
                      <a:pt x="0" y="1120"/>
                    </a:lnTo>
                    <a:lnTo>
                      <a:pt x="4" y="1027"/>
                    </a:lnTo>
                    <a:lnTo>
                      <a:pt x="17" y="935"/>
                    </a:lnTo>
                    <a:lnTo>
                      <a:pt x="39" y="846"/>
                    </a:lnTo>
                    <a:lnTo>
                      <a:pt x="69" y="755"/>
                    </a:lnTo>
                    <a:lnTo>
                      <a:pt x="106" y="671"/>
                    </a:lnTo>
                    <a:lnTo>
                      <a:pt x="152" y="587"/>
                    </a:lnTo>
                    <a:lnTo>
                      <a:pt x="206" y="507"/>
                    </a:lnTo>
                    <a:lnTo>
                      <a:pt x="266" y="431"/>
                    </a:lnTo>
                    <a:lnTo>
                      <a:pt x="333" y="362"/>
                    </a:lnTo>
                    <a:lnTo>
                      <a:pt x="407" y="295"/>
                    </a:lnTo>
                    <a:lnTo>
                      <a:pt x="485" y="237"/>
                    </a:lnTo>
                    <a:lnTo>
                      <a:pt x="571" y="183"/>
                    </a:lnTo>
                    <a:lnTo>
                      <a:pt x="660" y="136"/>
                    </a:lnTo>
                    <a:lnTo>
                      <a:pt x="753" y="95"/>
                    </a:lnTo>
                    <a:lnTo>
                      <a:pt x="850" y="60"/>
                    </a:lnTo>
                    <a:lnTo>
                      <a:pt x="950" y="34"/>
                    </a:lnTo>
                    <a:lnTo>
                      <a:pt x="1052" y="15"/>
                    </a:lnTo>
                    <a:lnTo>
                      <a:pt x="1156" y="4"/>
                    </a:lnTo>
                    <a:lnTo>
                      <a:pt x="1259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57"/>
            <p:cNvGrpSpPr>
              <a:grpSpLocks noChangeAspect="1"/>
            </p:cNvGrpSpPr>
            <p:nvPr/>
          </p:nvGrpSpPr>
          <p:grpSpPr bwMode="auto">
            <a:xfrm>
              <a:off x="1665288" y="4837113"/>
              <a:ext cx="1357312" cy="1052512"/>
              <a:chOff x="1135" y="2084"/>
              <a:chExt cx="1328" cy="1030"/>
            </a:xfrm>
          </p:grpSpPr>
          <p:sp>
            <p:nvSpPr>
              <p:cNvPr id="76877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1135" y="2451"/>
                <a:ext cx="110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3</a:t>
                </a:r>
                <a:endParaRPr lang="en-US" altLang="en-US" sz="1600"/>
              </a:p>
            </p:txBody>
          </p:sp>
          <p:sp>
            <p:nvSpPr>
              <p:cNvPr id="76878" name="Freeform 59"/>
              <p:cNvSpPr>
                <a:spLocks noChangeAspect="1"/>
              </p:cNvSpPr>
              <p:nvPr/>
            </p:nvSpPr>
            <p:spPr bwMode="auto">
              <a:xfrm>
                <a:off x="1178" y="2084"/>
                <a:ext cx="1285" cy="1030"/>
              </a:xfrm>
              <a:custGeom>
                <a:avLst/>
                <a:gdLst>
                  <a:gd name="T0" fmla="*/ 422 w 1285"/>
                  <a:gd name="T1" fmla="*/ 162 h 1030"/>
                  <a:gd name="T2" fmla="*/ 487 w 1285"/>
                  <a:gd name="T3" fmla="*/ 123 h 1030"/>
                  <a:gd name="T4" fmla="*/ 556 w 1285"/>
                  <a:gd name="T5" fmla="*/ 89 h 1030"/>
                  <a:gd name="T6" fmla="*/ 626 w 1285"/>
                  <a:gd name="T7" fmla="*/ 61 h 1030"/>
                  <a:gd name="T8" fmla="*/ 695 w 1285"/>
                  <a:gd name="T9" fmla="*/ 37 h 1030"/>
                  <a:gd name="T10" fmla="*/ 764 w 1285"/>
                  <a:gd name="T11" fmla="*/ 18 h 1030"/>
                  <a:gd name="T12" fmla="*/ 831 w 1285"/>
                  <a:gd name="T13" fmla="*/ 7 h 1030"/>
                  <a:gd name="T14" fmla="*/ 896 w 1285"/>
                  <a:gd name="T15" fmla="*/ 0 h 1030"/>
                  <a:gd name="T16" fmla="*/ 959 w 1285"/>
                  <a:gd name="T17" fmla="*/ 0 h 1030"/>
                  <a:gd name="T18" fmla="*/ 1017 w 1285"/>
                  <a:gd name="T19" fmla="*/ 7 h 1030"/>
                  <a:gd name="T20" fmla="*/ 1071 w 1285"/>
                  <a:gd name="T21" fmla="*/ 18 h 1030"/>
                  <a:gd name="T22" fmla="*/ 1121 w 1285"/>
                  <a:gd name="T23" fmla="*/ 35 h 1030"/>
                  <a:gd name="T24" fmla="*/ 1164 w 1285"/>
                  <a:gd name="T25" fmla="*/ 59 h 1030"/>
                  <a:gd name="T26" fmla="*/ 1203 w 1285"/>
                  <a:gd name="T27" fmla="*/ 87 h 1030"/>
                  <a:gd name="T28" fmla="*/ 1234 w 1285"/>
                  <a:gd name="T29" fmla="*/ 121 h 1030"/>
                  <a:gd name="T30" fmla="*/ 1257 w 1285"/>
                  <a:gd name="T31" fmla="*/ 160 h 1030"/>
                  <a:gd name="T32" fmla="*/ 1275 w 1285"/>
                  <a:gd name="T33" fmla="*/ 201 h 1030"/>
                  <a:gd name="T34" fmla="*/ 1283 w 1285"/>
                  <a:gd name="T35" fmla="*/ 249 h 1030"/>
                  <a:gd name="T36" fmla="*/ 1285 w 1285"/>
                  <a:gd name="T37" fmla="*/ 298 h 1030"/>
                  <a:gd name="T38" fmla="*/ 1279 w 1285"/>
                  <a:gd name="T39" fmla="*/ 350 h 1030"/>
                  <a:gd name="T40" fmla="*/ 1266 w 1285"/>
                  <a:gd name="T41" fmla="*/ 404 h 1030"/>
                  <a:gd name="T42" fmla="*/ 1247 w 1285"/>
                  <a:gd name="T43" fmla="*/ 458 h 1030"/>
                  <a:gd name="T44" fmla="*/ 1218 w 1285"/>
                  <a:gd name="T45" fmla="*/ 514 h 1030"/>
                  <a:gd name="T46" fmla="*/ 1184 w 1285"/>
                  <a:gd name="T47" fmla="*/ 570 h 1030"/>
                  <a:gd name="T48" fmla="*/ 1145 w 1285"/>
                  <a:gd name="T49" fmla="*/ 624 h 1030"/>
                  <a:gd name="T50" fmla="*/ 1097 w 1285"/>
                  <a:gd name="T51" fmla="*/ 678 h 1030"/>
                  <a:gd name="T52" fmla="*/ 1045 w 1285"/>
                  <a:gd name="T53" fmla="*/ 730 h 1030"/>
                  <a:gd name="T54" fmla="*/ 989 w 1285"/>
                  <a:gd name="T55" fmla="*/ 780 h 1030"/>
                  <a:gd name="T56" fmla="*/ 928 w 1285"/>
                  <a:gd name="T57" fmla="*/ 827 h 1030"/>
                  <a:gd name="T58" fmla="*/ 866 w 1285"/>
                  <a:gd name="T59" fmla="*/ 870 h 1030"/>
                  <a:gd name="T60" fmla="*/ 799 w 1285"/>
                  <a:gd name="T61" fmla="*/ 907 h 1030"/>
                  <a:gd name="T62" fmla="*/ 729 w 1285"/>
                  <a:gd name="T63" fmla="*/ 942 h 1030"/>
                  <a:gd name="T64" fmla="*/ 660 w 1285"/>
                  <a:gd name="T65" fmla="*/ 972 h 1030"/>
                  <a:gd name="T66" fmla="*/ 591 w 1285"/>
                  <a:gd name="T67" fmla="*/ 996 h 1030"/>
                  <a:gd name="T68" fmla="*/ 522 w 1285"/>
                  <a:gd name="T69" fmla="*/ 1013 h 1030"/>
                  <a:gd name="T70" fmla="*/ 455 w 1285"/>
                  <a:gd name="T71" fmla="*/ 1026 h 1030"/>
                  <a:gd name="T72" fmla="*/ 390 w 1285"/>
                  <a:gd name="T73" fmla="*/ 1030 h 1030"/>
                  <a:gd name="T74" fmla="*/ 327 w 1285"/>
                  <a:gd name="T75" fmla="*/ 1030 h 1030"/>
                  <a:gd name="T76" fmla="*/ 269 w 1285"/>
                  <a:gd name="T77" fmla="*/ 1026 h 1030"/>
                  <a:gd name="T78" fmla="*/ 214 w 1285"/>
                  <a:gd name="T79" fmla="*/ 1013 h 1030"/>
                  <a:gd name="T80" fmla="*/ 165 w 1285"/>
                  <a:gd name="T81" fmla="*/ 996 h 1030"/>
                  <a:gd name="T82" fmla="*/ 121 w 1285"/>
                  <a:gd name="T83" fmla="*/ 972 h 1030"/>
                  <a:gd name="T84" fmla="*/ 85 w 1285"/>
                  <a:gd name="T85" fmla="*/ 944 h 1030"/>
                  <a:gd name="T86" fmla="*/ 52 w 1285"/>
                  <a:gd name="T87" fmla="*/ 909 h 1030"/>
                  <a:gd name="T88" fmla="*/ 28 w 1285"/>
                  <a:gd name="T89" fmla="*/ 873 h 1030"/>
                  <a:gd name="T90" fmla="*/ 13 w 1285"/>
                  <a:gd name="T91" fmla="*/ 829 h 1030"/>
                  <a:gd name="T92" fmla="*/ 2 w 1285"/>
                  <a:gd name="T93" fmla="*/ 784 h 1030"/>
                  <a:gd name="T94" fmla="*/ 0 w 1285"/>
                  <a:gd name="T95" fmla="*/ 734 h 1030"/>
                  <a:gd name="T96" fmla="*/ 7 w 1285"/>
                  <a:gd name="T97" fmla="*/ 683 h 1030"/>
                  <a:gd name="T98" fmla="*/ 20 w 1285"/>
                  <a:gd name="T99" fmla="*/ 629 h 1030"/>
                  <a:gd name="T100" fmla="*/ 39 w 1285"/>
                  <a:gd name="T101" fmla="*/ 572 h 1030"/>
                  <a:gd name="T102" fmla="*/ 67 w 1285"/>
                  <a:gd name="T103" fmla="*/ 516 h 1030"/>
                  <a:gd name="T104" fmla="*/ 102 w 1285"/>
                  <a:gd name="T105" fmla="*/ 462 h 1030"/>
                  <a:gd name="T106" fmla="*/ 143 w 1285"/>
                  <a:gd name="T107" fmla="*/ 406 h 1030"/>
                  <a:gd name="T108" fmla="*/ 188 w 1285"/>
                  <a:gd name="T109" fmla="*/ 352 h 1030"/>
                  <a:gd name="T110" fmla="*/ 240 w 1285"/>
                  <a:gd name="T111" fmla="*/ 300 h 1030"/>
                  <a:gd name="T112" fmla="*/ 297 w 1285"/>
                  <a:gd name="T113" fmla="*/ 251 h 1030"/>
                  <a:gd name="T114" fmla="*/ 357 w 1285"/>
                  <a:gd name="T115" fmla="*/ 205 h 1030"/>
                  <a:gd name="T116" fmla="*/ 422 w 1285"/>
                  <a:gd name="T117" fmla="*/ 162 h 103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285"/>
                  <a:gd name="T178" fmla="*/ 0 h 1030"/>
                  <a:gd name="T179" fmla="*/ 1285 w 1285"/>
                  <a:gd name="T180" fmla="*/ 1030 h 1030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285" h="1030">
                    <a:moveTo>
                      <a:pt x="422" y="162"/>
                    </a:moveTo>
                    <a:lnTo>
                      <a:pt x="487" y="123"/>
                    </a:lnTo>
                    <a:lnTo>
                      <a:pt x="556" y="89"/>
                    </a:lnTo>
                    <a:lnTo>
                      <a:pt x="626" y="61"/>
                    </a:lnTo>
                    <a:lnTo>
                      <a:pt x="695" y="37"/>
                    </a:lnTo>
                    <a:lnTo>
                      <a:pt x="764" y="18"/>
                    </a:lnTo>
                    <a:lnTo>
                      <a:pt x="831" y="7"/>
                    </a:lnTo>
                    <a:lnTo>
                      <a:pt x="896" y="0"/>
                    </a:lnTo>
                    <a:lnTo>
                      <a:pt x="959" y="0"/>
                    </a:lnTo>
                    <a:lnTo>
                      <a:pt x="1017" y="7"/>
                    </a:lnTo>
                    <a:lnTo>
                      <a:pt x="1071" y="18"/>
                    </a:lnTo>
                    <a:lnTo>
                      <a:pt x="1121" y="35"/>
                    </a:lnTo>
                    <a:lnTo>
                      <a:pt x="1164" y="59"/>
                    </a:lnTo>
                    <a:lnTo>
                      <a:pt x="1203" y="87"/>
                    </a:lnTo>
                    <a:lnTo>
                      <a:pt x="1234" y="121"/>
                    </a:lnTo>
                    <a:lnTo>
                      <a:pt x="1257" y="160"/>
                    </a:lnTo>
                    <a:lnTo>
                      <a:pt x="1275" y="201"/>
                    </a:lnTo>
                    <a:lnTo>
                      <a:pt x="1283" y="249"/>
                    </a:lnTo>
                    <a:lnTo>
                      <a:pt x="1285" y="298"/>
                    </a:lnTo>
                    <a:lnTo>
                      <a:pt x="1279" y="350"/>
                    </a:lnTo>
                    <a:lnTo>
                      <a:pt x="1266" y="404"/>
                    </a:lnTo>
                    <a:lnTo>
                      <a:pt x="1247" y="458"/>
                    </a:lnTo>
                    <a:lnTo>
                      <a:pt x="1218" y="514"/>
                    </a:lnTo>
                    <a:lnTo>
                      <a:pt x="1184" y="570"/>
                    </a:lnTo>
                    <a:lnTo>
                      <a:pt x="1145" y="624"/>
                    </a:lnTo>
                    <a:lnTo>
                      <a:pt x="1097" y="678"/>
                    </a:lnTo>
                    <a:lnTo>
                      <a:pt x="1045" y="730"/>
                    </a:lnTo>
                    <a:lnTo>
                      <a:pt x="989" y="780"/>
                    </a:lnTo>
                    <a:lnTo>
                      <a:pt x="928" y="827"/>
                    </a:lnTo>
                    <a:lnTo>
                      <a:pt x="866" y="870"/>
                    </a:lnTo>
                    <a:lnTo>
                      <a:pt x="799" y="907"/>
                    </a:lnTo>
                    <a:lnTo>
                      <a:pt x="729" y="942"/>
                    </a:lnTo>
                    <a:lnTo>
                      <a:pt x="660" y="972"/>
                    </a:lnTo>
                    <a:lnTo>
                      <a:pt x="591" y="996"/>
                    </a:lnTo>
                    <a:lnTo>
                      <a:pt x="522" y="1013"/>
                    </a:lnTo>
                    <a:lnTo>
                      <a:pt x="455" y="1026"/>
                    </a:lnTo>
                    <a:lnTo>
                      <a:pt x="390" y="1030"/>
                    </a:lnTo>
                    <a:lnTo>
                      <a:pt x="327" y="1030"/>
                    </a:lnTo>
                    <a:lnTo>
                      <a:pt x="269" y="1026"/>
                    </a:lnTo>
                    <a:lnTo>
                      <a:pt x="214" y="1013"/>
                    </a:lnTo>
                    <a:lnTo>
                      <a:pt x="165" y="996"/>
                    </a:lnTo>
                    <a:lnTo>
                      <a:pt x="121" y="972"/>
                    </a:lnTo>
                    <a:lnTo>
                      <a:pt x="85" y="944"/>
                    </a:lnTo>
                    <a:lnTo>
                      <a:pt x="52" y="909"/>
                    </a:lnTo>
                    <a:lnTo>
                      <a:pt x="28" y="873"/>
                    </a:lnTo>
                    <a:lnTo>
                      <a:pt x="13" y="829"/>
                    </a:lnTo>
                    <a:lnTo>
                      <a:pt x="2" y="784"/>
                    </a:lnTo>
                    <a:lnTo>
                      <a:pt x="0" y="734"/>
                    </a:lnTo>
                    <a:lnTo>
                      <a:pt x="7" y="683"/>
                    </a:lnTo>
                    <a:lnTo>
                      <a:pt x="20" y="629"/>
                    </a:lnTo>
                    <a:lnTo>
                      <a:pt x="39" y="572"/>
                    </a:lnTo>
                    <a:lnTo>
                      <a:pt x="67" y="516"/>
                    </a:lnTo>
                    <a:lnTo>
                      <a:pt x="102" y="462"/>
                    </a:lnTo>
                    <a:lnTo>
                      <a:pt x="143" y="406"/>
                    </a:lnTo>
                    <a:lnTo>
                      <a:pt x="188" y="352"/>
                    </a:lnTo>
                    <a:lnTo>
                      <a:pt x="240" y="300"/>
                    </a:lnTo>
                    <a:lnTo>
                      <a:pt x="297" y="251"/>
                    </a:lnTo>
                    <a:lnTo>
                      <a:pt x="357" y="205"/>
                    </a:lnTo>
                    <a:lnTo>
                      <a:pt x="422" y="16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60"/>
            <p:cNvGrpSpPr>
              <a:grpSpLocks noChangeAspect="1"/>
            </p:cNvGrpSpPr>
            <p:nvPr/>
          </p:nvGrpSpPr>
          <p:grpSpPr bwMode="auto">
            <a:xfrm>
              <a:off x="696913" y="4168775"/>
              <a:ext cx="2432050" cy="1789113"/>
              <a:chOff x="187" y="1430"/>
              <a:chExt cx="2380" cy="1751"/>
            </a:xfrm>
          </p:grpSpPr>
          <p:sp>
            <p:nvSpPr>
              <p:cNvPr id="76875" name="Rectangle 61"/>
              <p:cNvSpPr>
                <a:spLocks noChangeAspect="1" noChangeArrowheads="1"/>
              </p:cNvSpPr>
              <p:nvPr/>
            </p:nvSpPr>
            <p:spPr bwMode="auto">
              <a:xfrm>
                <a:off x="417" y="2643"/>
                <a:ext cx="11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4</a:t>
                </a:r>
                <a:endParaRPr lang="en-US" altLang="en-US" sz="1600"/>
              </a:p>
            </p:txBody>
          </p:sp>
          <p:sp>
            <p:nvSpPr>
              <p:cNvPr id="76876" name="Freeform 62"/>
              <p:cNvSpPr>
                <a:spLocks noChangeAspect="1"/>
              </p:cNvSpPr>
              <p:nvPr/>
            </p:nvSpPr>
            <p:spPr bwMode="auto">
              <a:xfrm>
                <a:off x="187" y="1430"/>
                <a:ext cx="2380" cy="1751"/>
              </a:xfrm>
              <a:custGeom>
                <a:avLst/>
                <a:gdLst>
                  <a:gd name="T0" fmla="*/ 1275 w 2380"/>
                  <a:gd name="T1" fmla="*/ 0 h 1751"/>
                  <a:gd name="T2" fmla="*/ 1474 w 2380"/>
                  <a:gd name="T3" fmla="*/ 22 h 1751"/>
                  <a:gd name="T4" fmla="*/ 1664 w 2380"/>
                  <a:gd name="T5" fmla="*/ 67 h 1751"/>
                  <a:gd name="T6" fmla="*/ 1842 w 2380"/>
                  <a:gd name="T7" fmla="*/ 136 h 1751"/>
                  <a:gd name="T8" fmla="*/ 2002 w 2380"/>
                  <a:gd name="T9" fmla="*/ 227 h 1751"/>
                  <a:gd name="T10" fmla="*/ 2138 w 2380"/>
                  <a:gd name="T11" fmla="*/ 335 h 1751"/>
                  <a:gd name="T12" fmla="*/ 2246 w 2380"/>
                  <a:gd name="T13" fmla="*/ 460 h 1751"/>
                  <a:gd name="T14" fmla="*/ 2324 w 2380"/>
                  <a:gd name="T15" fmla="*/ 596 h 1751"/>
                  <a:gd name="T16" fmla="*/ 2370 w 2380"/>
                  <a:gd name="T17" fmla="*/ 741 h 1751"/>
                  <a:gd name="T18" fmla="*/ 2380 w 2380"/>
                  <a:gd name="T19" fmla="*/ 887 h 1751"/>
                  <a:gd name="T20" fmla="*/ 2359 w 2380"/>
                  <a:gd name="T21" fmla="*/ 1036 h 1751"/>
                  <a:gd name="T22" fmla="*/ 2302 w 2380"/>
                  <a:gd name="T23" fmla="*/ 1179 h 1751"/>
                  <a:gd name="T24" fmla="*/ 2214 w 2380"/>
                  <a:gd name="T25" fmla="*/ 1313 h 1751"/>
                  <a:gd name="T26" fmla="*/ 2097 w 2380"/>
                  <a:gd name="T27" fmla="*/ 1436 h 1751"/>
                  <a:gd name="T28" fmla="*/ 1954 w 2380"/>
                  <a:gd name="T29" fmla="*/ 1542 h 1751"/>
                  <a:gd name="T30" fmla="*/ 1787 w 2380"/>
                  <a:gd name="T31" fmla="*/ 1628 h 1751"/>
                  <a:gd name="T32" fmla="*/ 1606 w 2380"/>
                  <a:gd name="T33" fmla="*/ 1693 h 1751"/>
                  <a:gd name="T34" fmla="*/ 1411 w 2380"/>
                  <a:gd name="T35" fmla="*/ 1736 h 1751"/>
                  <a:gd name="T36" fmla="*/ 1210 w 2380"/>
                  <a:gd name="T37" fmla="*/ 1751 h 1751"/>
                  <a:gd name="T38" fmla="*/ 1009 w 2380"/>
                  <a:gd name="T39" fmla="*/ 1742 h 1751"/>
                  <a:gd name="T40" fmla="*/ 812 w 2380"/>
                  <a:gd name="T41" fmla="*/ 1710 h 1751"/>
                  <a:gd name="T42" fmla="*/ 626 w 2380"/>
                  <a:gd name="T43" fmla="*/ 1652 h 1751"/>
                  <a:gd name="T44" fmla="*/ 457 w 2380"/>
                  <a:gd name="T45" fmla="*/ 1572 h 1751"/>
                  <a:gd name="T46" fmla="*/ 310 w 2380"/>
                  <a:gd name="T47" fmla="*/ 1473 h 1751"/>
                  <a:gd name="T48" fmla="*/ 186 w 2380"/>
                  <a:gd name="T49" fmla="*/ 1356 h 1751"/>
                  <a:gd name="T50" fmla="*/ 93 w 2380"/>
                  <a:gd name="T51" fmla="*/ 1226 h 1751"/>
                  <a:gd name="T52" fmla="*/ 31 w 2380"/>
                  <a:gd name="T53" fmla="*/ 1084 h 1751"/>
                  <a:gd name="T54" fmla="*/ 2 w 2380"/>
                  <a:gd name="T55" fmla="*/ 937 h 1751"/>
                  <a:gd name="T56" fmla="*/ 9 w 2380"/>
                  <a:gd name="T57" fmla="*/ 788 h 1751"/>
                  <a:gd name="T58" fmla="*/ 48 w 2380"/>
                  <a:gd name="T59" fmla="*/ 643 h 1751"/>
                  <a:gd name="T60" fmla="*/ 119 w 2380"/>
                  <a:gd name="T61" fmla="*/ 503 h 1751"/>
                  <a:gd name="T62" fmla="*/ 223 w 2380"/>
                  <a:gd name="T63" fmla="*/ 374 h 1751"/>
                  <a:gd name="T64" fmla="*/ 355 w 2380"/>
                  <a:gd name="T65" fmla="*/ 259 h 1751"/>
                  <a:gd name="T66" fmla="*/ 509 w 2380"/>
                  <a:gd name="T67" fmla="*/ 164 h 1751"/>
                  <a:gd name="T68" fmla="*/ 684 w 2380"/>
                  <a:gd name="T69" fmla="*/ 86 h 1751"/>
                  <a:gd name="T70" fmla="*/ 874 w 2380"/>
                  <a:gd name="T71" fmla="*/ 35 h 1751"/>
                  <a:gd name="T72" fmla="*/ 1071 w 2380"/>
                  <a:gd name="T73" fmla="*/ 4 h 175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80"/>
                  <a:gd name="T112" fmla="*/ 0 h 1751"/>
                  <a:gd name="T113" fmla="*/ 2380 w 2380"/>
                  <a:gd name="T114" fmla="*/ 1751 h 175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80" h="1751">
                    <a:moveTo>
                      <a:pt x="1173" y="0"/>
                    </a:moveTo>
                    <a:lnTo>
                      <a:pt x="1275" y="0"/>
                    </a:lnTo>
                    <a:lnTo>
                      <a:pt x="1374" y="9"/>
                    </a:lnTo>
                    <a:lnTo>
                      <a:pt x="1474" y="22"/>
                    </a:lnTo>
                    <a:lnTo>
                      <a:pt x="1571" y="41"/>
                    </a:lnTo>
                    <a:lnTo>
                      <a:pt x="1664" y="67"/>
                    </a:lnTo>
                    <a:lnTo>
                      <a:pt x="1755" y="99"/>
                    </a:lnTo>
                    <a:lnTo>
                      <a:pt x="1842" y="136"/>
                    </a:lnTo>
                    <a:lnTo>
                      <a:pt x="1924" y="179"/>
                    </a:lnTo>
                    <a:lnTo>
                      <a:pt x="2002" y="227"/>
                    </a:lnTo>
                    <a:lnTo>
                      <a:pt x="2073" y="279"/>
                    </a:lnTo>
                    <a:lnTo>
                      <a:pt x="2138" y="335"/>
                    </a:lnTo>
                    <a:lnTo>
                      <a:pt x="2194" y="395"/>
                    </a:lnTo>
                    <a:lnTo>
                      <a:pt x="2246" y="460"/>
                    </a:lnTo>
                    <a:lnTo>
                      <a:pt x="2289" y="527"/>
                    </a:lnTo>
                    <a:lnTo>
                      <a:pt x="2324" y="596"/>
                    </a:lnTo>
                    <a:lnTo>
                      <a:pt x="2350" y="667"/>
                    </a:lnTo>
                    <a:lnTo>
                      <a:pt x="2370" y="741"/>
                    </a:lnTo>
                    <a:lnTo>
                      <a:pt x="2380" y="814"/>
                    </a:lnTo>
                    <a:lnTo>
                      <a:pt x="2380" y="887"/>
                    </a:lnTo>
                    <a:lnTo>
                      <a:pt x="2374" y="963"/>
                    </a:lnTo>
                    <a:lnTo>
                      <a:pt x="2359" y="1036"/>
                    </a:lnTo>
                    <a:lnTo>
                      <a:pt x="2335" y="1108"/>
                    </a:lnTo>
                    <a:lnTo>
                      <a:pt x="2302" y="1179"/>
                    </a:lnTo>
                    <a:lnTo>
                      <a:pt x="2261" y="1248"/>
                    </a:lnTo>
                    <a:lnTo>
                      <a:pt x="2214" y="1313"/>
                    </a:lnTo>
                    <a:lnTo>
                      <a:pt x="2160" y="1378"/>
                    </a:lnTo>
                    <a:lnTo>
                      <a:pt x="2097" y="1436"/>
                    </a:lnTo>
                    <a:lnTo>
                      <a:pt x="2028" y="1492"/>
                    </a:lnTo>
                    <a:lnTo>
                      <a:pt x="1954" y="1542"/>
                    </a:lnTo>
                    <a:lnTo>
                      <a:pt x="1872" y="1587"/>
                    </a:lnTo>
                    <a:lnTo>
                      <a:pt x="1787" y="1628"/>
                    </a:lnTo>
                    <a:lnTo>
                      <a:pt x="1699" y="1665"/>
                    </a:lnTo>
                    <a:lnTo>
                      <a:pt x="1606" y="1693"/>
                    </a:lnTo>
                    <a:lnTo>
                      <a:pt x="1508" y="1717"/>
                    </a:lnTo>
                    <a:lnTo>
                      <a:pt x="1411" y="1736"/>
                    </a:lnTo>
                    <a:lnTo>
                      <a:pt x="1309" y="1747"/>
                    </a:lnTo>
                    <a:lnTo>
                      <a:pt x="1210" y="1751"/>
                    </a:lnTo>
                    <a:lnTo>
                      <a:pt x="1108" y="1751"/>
                    </a:lnTo>
                    <a:lnTo>
                      <a:pt x="1009" y="1742"/>
                    </a:lnTo>
                    <a:lnTo>
                      <a:pt x="909" y="1730"/>
                    </a:lnTo>
                    <a:lnTo>
                      <a:pt x="812" y="1710"/>
                    </a:lnTo>
                    <a:lnTo>
                      <a:pt x="719" y="1684"/>
                    </a:lnTo>
                    <a:lnTo>
                      <a:pt x="626" y="1652"/>
                    </a:lnTo>
                    <a:lnTo>
                      <a:pt x="539" y="1615"/>
                    </a:lnTo>
                    <a:lnTo>
                      <a:pt x="457" y="1572"/>
                    </a:lnTo>
                    <a:lnTo>
                      <a:pt x="381" y="1524"/>
                    </a:lnTo>
                    <a:lnTo>
                      <a:pt x="310" y="1473"/>
                    </a:lnTo>
                    <a:lnTo>
                      <a:pt x="245" y="1416"/>
                    </a:lnTo>
                    <a:lnTo>
                      <a:pt x="186" y="1356"/>
                    </a:lnTo>
                    <a:lnTo>
                      <a:pt x="137" y="1291"/>
                    </a:lnTo>
                    <a:lnTo>
                      <a:pt x="93" y="1226"/>
                    </a:lnTo>
                    <a:lnTo>
                      <a:pt x="59" y="1155"/>
                    </a:lnTo>
                    <a:lnTo>
                      <a:pt x="31" y="1084"/>
                    </a:lnTo>
                    <a:lnTo>
                      <a:pt x="13" y="1011"/>
                    </a:lnTo>
                    <a:lnTo>
                      <a:pt x="2" y="937"/>
                    </a:lnTo>
                    <a:lnTo>
                      <a:pt x="0" y="864"/>
                    </a:lnTo>
                    <a:lnTo>
                      <a:pt x="9" y="788"/>
                    </a:lnTo>
                    <a:lnTo>
                      <a:pt x="24" y="715"/>
                    </a:lnTo>
                    <a:lnTo>
                      <a:pt x="48" y="643"/>
                    </a:lnTo>
                    <a:lnTo>
                      <a:pt x="80" y="572"/>
                    </a:lnTo>
                    <a:lnTo>
                      <a:pt x="119" y="503"/>
                    </a:lnTo>
                    <a:lnTo>
                      <a:pt x="167" y="438"/>
                    </a:lnTo>
                    <a:lnTo>
                      <a:pt x="223" y="374"/>
                    </a:lnTo>
                    <a:lnTo>
                      <a:pt x="286" y="315"/>
                    </a:lnTo>
                    <a:lnTo>
                      <a:pt x="355" y="259"/>
                    </a:lnTo>
                    <a:lnTo>
                      <a:pt x="429" y="209"/>
                    </a:lnTo>
                    <a:lnTo>
                      <a:pt x="509" y="164"/>
                    </a:lnTo>
                    <a:lnTo>
                      <a:pt x="595" y="123"/>
                    </a:lnTo>
                    <a:lnTo>
                      <a:pt x="684" y="86"/>
                    </a:lnTo>
                    <a:lnTo>
                      <a:pt x="777" y="58"/>
                    </a:lnTo>
                    <a:lnTo>
                      <a:pt x="874" y="35"/>
                    </a:lnTo>
                    <a:lnTo>
                      <a:pt x="972" y="15"/>
                    </a:lnTo>
                    <a:lnTo>
                      <a:pt x="1071" y="4"/>
                    </a:lnTo>
                    <a:lnTo>
                      <a:pt x="1173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6" name="Group 120"/>
          <p:cNvGrpSpPr/>
          <p:nvPr/>
        </p:nvGrpSpPr>
        <p:grpSpPr>
          <a:xfrm>
            <a:off x="5875338" y="1293813"/>
            <a:ext cx="2582862" cy="2287587"/>
            <a:chOff x="5875338" y="1293813"/>
            <a:chExt cx="2582862" cy="2287587"/>
          </a:xfrm>
        </p:grpSpPr>
        <p:grpSp>
          <p:nvGrpSpPr>
            <p:cNvPr id="17" name="Group 63"/>
            <p:cNvGrpSpPr>
              <a:grpSpLocks noChangeAspect="1"/>
            </p:cNvGrpSpPr>
            <p:nvPr/>
          </p:nvGrpSpPr>
          <p:grpSpPr bwMode="auto">
            <a:xfrm>
              <a:off x="6157913" y="1452563"/>
              <a:ext cx="1979612" cy="1797050"/>
              <a:chOff x="383" y="1437"/>
              <a:chExt cx="1902" cy="1727"/>
            </a:xfrm>
          </p:grpSpPr>
          <p:sp>
            <p:nvSpPr>
              <p:cNvPr id="76863" name="Freeform 64"/>
              <p:cNvSpPr>
                <a:spLocks noChangeAspect="1"/>
              </p:cNvSpPr>
              <p:nvPr/>
            </p:nvSpPr>
            <p:spPr bwMode="auto">
              <a:xfrm>
                <a:off x="974" y="211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5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5 w 87"/>
                  <a:gd name="T21" fmla="*/ 75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5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5" y="75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64" name="Freeform 65"/>
              <p:cNvSpPr>
                <a:spLocks noChangeAspect="1"/>
              </p:cNvSpPr>
              <p:nvPr/>
            </p:nvSpPr>
            <p:spPr bwMode="auto">
              <a:xfrm>
                <a:off x="1782" y="148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3 h 87"/>
                  <a:gd name="T8" fmla="*/ 45 w 87"/>
                  <a:gd name="T9" fmla="*/ 0 h 87"/>
                  <a:gd name="T10" fmla="*/ 60 w 87"/>
                  <a:gd name="T11" fmla="*/ 3 h 87"/>
                  <a:gd name="T12" fmla="*/ 74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4 w 87"/>
                  <a:gd name="T21" fmla="*/ 75 h 87"/>
                  <a:gd name="T22" fmla="*/ 60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3"/>
                    </a:lnTo>
                    <a:lnTo>
                      <a:pt x="45" y="0"/>
                    </a:lnTo>
                    <a:lnTo>
                      <a:pt x="60" y="3"/>
                    </a:lnTo>
                    <a:lnTo>
                      <a:pt x="74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4" y="75"/>
                    </a:lnTo>
                    <a:lnTo>
                      <a:pt x="60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65" name="Freeform 66"/>
              <p:cNvSpPr>
                <a:spLocks noChangeAspect="1"/>
              </p:cNvSpPr>
              <p:nvPr/>
            </p:nvSpPr>
            <p:spPr bwMode="auto">
              <a:xfrm>
                <a:off x="1193" y="2975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5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5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5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5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66" name="Freeform 67"/>
              <p:cNvSpPr>
                <a:spLocks noChangeAspect="1"/>
              </p:cNvSpPr>
              <p:nvPr/>
            </p:nvSpPr>
            <p:spPr bwMode="auto">
              <a:xfrm>
                <a:off x="383" y="1993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4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4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4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4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67" name="Freeform 68"/>
              <p:cNvSpPr>
                <a:spLocks noChangeAspect="1"/>
              </p:cNvSpPr>
              <p:nvPr/>
            </p:nvSpPr>
            <p:spPr bwMode="auto">
              <a:xfrm>
                <a:off x="1544" y="2419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5 h 87"/>
                  <a:gd name="T8" fmla="*/ 42 w 87"/>
                  <a:gd name="T9" fmla="*/ 0 h 87"/>
                  <a:gd name="T10" fmla="*/ 59 w 87"/>
                  <a:gd name="T11" fmla="*/ 5 h 87"/>
                  <a:gd name="T12" fmla="*/ 74 w 87"/>
                  <a:gd name="T13" fmla="*/ 13 h 87"/>
                  <a:gd name="T14" fmla="*/ 83 w 87"/>
                  <a:gd name="T15" fmla="*/ 28 h 87"/>
                  <a:gd name="T16" fmla="*/ 87 w 87"/>
                  <a:gd name="T17" fmla="*/ 45 h 87"/>
                  <a:gd name="T18" fmla="*/ 83 w 87"/>
                  <a:gd name="T19" fmla="*/ 62 h 87"/>
                  <a:gd name="T20" fmla="*/ 74 w 87"/>
                  <a:gd name="T21" fmla="*/ 75 h 87"/>
                  <a:gd name="T22" fmla="*/ 59 w 87"/>
                  <a:gd name="T23" fmla="*/ 85 h 87"/>
                  <a:gd name="T24" fmla="*/ 42 w 87"/>
                  <a:gd name="T25" fmla="*/ 87 h 87"/>
                  <a:gd name="T26" fmla="*/ 28 w 87"/>
                  <a:gd name="T27" fmla="*/ 85 h 87"/>
                  <a:gd name="T28" fmla="*/ 13 w 87"/>
                  <a:gd name="T29" fmla="*/ 75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5"/>
                    </a:lnTo>
                    <a:lnTo>
                      <a:pt x="42" y="0"/>
                    </a:lnTo>
                    <a:lnTo>
                      <a:pt x="59" y="5"/>
                    </a:lnTo>
                    <a:lnTo>
                      <a:pt x="74" y="13"/>
                    </a:lnTo>
                    <a:lnTo>
                      <a:pt x="83" y="28"/>
                    </a:lnTo>
                    <a:lnTo>
                      <a:pt x="87" y="45"/>
                    </a:lnTo>
                    <a:lnTo>
                      <a:pt x="83" y="62"/>
                    </a:lnTo>
                    <a:lnTo>
                      <a:pt x="74" y="75"/>
                    </a:lnTo>
                    <a:lnTo>
                      <a:pt x="59" y="85"/>
                    </a:lnTo>
                    <a:lnTo>
                      <a:pt x="42" y="87"/>
                    </a:lnTo>
                    <a:lnTo>
                      <a:pt x="28" y="85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68" name="Freeform 69"/>
              <p:cNvSpPr>
                <a:spLocks noChangeAspect="1"/>
              </p:cNvSpPr>
              <p:nvPr/>
            </p:nvSpPr>
            <p:spPr bwMode="auto">
              <a:xfrm>
                <a:off x="2018" y="2479"/>
                <a:ext cx="87" cy="87"/>
              </a:xfrm>
              <a:custGeom>
                <a:avLst/>
                <a:gdLst>
                  <a:gd name="T0" fmla="*/ 0 w 87"/>
                  <a:gd name="T1" fmla="*/ 42 h 87"/>
                  <a:gd name="T2" fmla="*/ 4 w 87"/>
                  <a:gd name="T3" fmla="*/ 25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4 w 87"/>
                  <a:gd name="T13" fmla="*/ 13 h 87"/>
                  <a:gd name="T14" fmla="*/ 85 w 87"/>
                  <a:gd name="T15" fmla="*/ 25 h 87"/>
                  <a:gd name="T16" fmla="*/ 87 w 87"/>
                  <a:gd name="T17" fmla="*/ 42 h 87"/>
                  <a:gd name="T18" fmla="*/ 85 w 87"/>
                  <a:gd name="T19" fmla="*/ 59 h 87"/>
                  <a:gd name="T20" fmla="*/ 74 w 87"/>
                  <a:gd name="T21" fmla="*/ 74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4 h 87"/>
                  <a:gd name="T30" fmla="*/ 4 w 87"/>
                  <a:gd name="T31" fmla="*/ 59 h 87"/>
                  <a:gd name="T32" fmla="*/ 0 w 87"/>
                  <a:gd name="T33" fmla="*/ 42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7"/>
                  <a:gd name="T52" fmla="*/ 0 h 87"/>
                  <a:gd name="T53" fmla="*/ 87 w 87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7" h="87">
                    <a:moveTo>
                      <a:pt x="0" y="42"/>
                    </a:moveTo>
                    <a:lnTo>
                      <a:pt x="4" y="25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4" y="13"/>
                    </a:lnTo>
                    <a:lnTo>
                      <a:pt x="85" y="25"/>
                    </a:lnTo>
                    <a:lnTo>
                      <a:pt x="87" y="42"/>
                    </a:lnTo>
                    <a:lnTo>
                      <a:pt x="85" y="59"/>
                    </a:lnTo>
                    <a:lnTo>
                      <a:pt x="74" y="74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4"/>
                    </a:lnTo>
                    <a:lnTo>
                      <a:pt x="4" y="59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69" name="Rectangle 70"/>
              <p:cNvSpPr>
                <a:spLocks noChangeAspect="1" noChangeArrowheads="1"/>
              </p:cNvSpPr>
              <p:nvPr/>
            </p:nvSpPr>
            <p:spPr bwMode="auto">
              <a:xfrm>
                <a:off x="1890" y="1437"/>
                <a:ext cx="97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76870" name="Rectangle 71"/>
              <p:cNvSpPr>
                <a:spLocks noChangeAspect="1" noChangeArrowheads="1"/>
              </p:cNvSpPr>
              <p:nvPr/>
            </p:nvSpPr>
            <p:spPr bwMode="auto">
              <a:xfrm>
                <a:off x="1089" y="2061"/>
                <a:ext cx="9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en-US" sz="1600"/>
              </a:p>
            </p:txBody>
          </p:sp>
          <p:sp>
            <p:nvSpPr>
              <p:cNvPr id="76871" name="Rectangle 72"/>
              <p:cNvSpPr>
                <a:spLocks noChangeAspect="1" noChangeArrowheads="1"/>
              </p:cNvSpPr>
              <p:nvPr/>
            </p:nvSpPr>
            <p:spPr bwMode="auto">
              <a:xfrm>
                <a:off x="1699" y="2374"/>
                <a:ext cx="9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altLang="en-US" sz="1600"/>
              </a:p>
            </p:txBody>
          </p:sp>
          <p:sp>
            <p:nvSpPr>
              <p:cNvPr id="76872" name="Rectangle 73"/>
              <p:cNvSpPr>
                <a:spLocks noChangeAspect="1" noChangeArrowheads="1"/>
              </p:cNvSpPr>
              <p:nvPr/>
            </p:nvSpPr>
            <p:spPr bwMode="auto">
              <a:xfrm>
                <a:off x="1319" y="2929"/>
                <a:ext cx="9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altLang="en-US" sz="1600"/>
              </a:p>
            </p:txBody>
          </p:sp>
          <p:sp>
            <p:nvSpPr>
              <p:cNvPr id="76873" name="Rectangle 74"/>
              <p:cNvSpPr>
                <a:spLocks noChangeAspect="1" noChangeArrowheads="1"/>
              </p:cNvSpPr>
              <p:nvPr/>
            </p:nvSpPr>
            <p:spPr bwMode="auto">
              <a:xfrm>
                <a:off x="517" y="1940"/>
                <a:ext cx="9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altLang="en-US" sz="1600"/>
              </a:p>
            </p:txBody>
          </p:sp>
          <p:sp>
            <p:nvSpPr>
              <p:cNvPr id="76874" name="Rectangle 75"/>
              <p:cNvSpPr>
                <a:spLocks noChangeAspect="1" noChangeArrowheads="1"/>
              </p:cNvSpPr>
              <p:nvPr/>
            </p:nvSpPr>
            <p:spPr bwMode="auto">
              <a:xfrm>
                <a:off x="2187" y="2429"/>
                <a:ext cx="9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altLang="en-US" sz="1600"/>
              </a:p>
            </p:txBody>
          </p:sp>
        </p:grpSp>
        <p:grpSp>
          <p:nvGrpSpPr>
            <p:cNvPr id="18" name="Group 76"/>
            <p:cNvGrpSpPr>
              <a:grpSpLocks noChangeAspect="1"/>
            </p:cNvGrpSpPr>
            <p:nvPr/>
          </p:nvGrpSpPr>
          <p:grpSpPr bwMode="auto">
            <a:xfrm>
              <a:off x="7285038" y="2360613"/>
              <a:ext cx="919162" cy="617537"/>
              <a:chOff x="1465" y="2309"/>
              <a:chExt cx="883" cy="594"/>
            </a:xfrm>
          </p:grpSpPr>
          <p:sp>
            <p:nvSpPr>
              <p:cNvPr id="76861" name="Freeform 77"/>
              <p:cNvSpPr>
                <a:spLocks noChangeAspect="1"/>
              </p:cNvSpPr>
              <p:nvPr/>
            </p:nvSpPr>
            <p:spPr bwMode="auto">
              <a:xfrm>
                <a:off x="1465" y="2309"/>
                <a:ext cx="883" cy="369"/>
              </a:xfrm>
              <a:custGeom>
                <a:avLst/>
                <a:gdLst>
                  <a:gd name="T0" fmla="*/ 442 w 883"/>
                  <a:gd name="T1" fmla="*/ 0 h 369"/>
                  <a:gd name="T2" fmla="*/ 502 w 883"/>
                  <a:gd name="T3" fmla="*/ 2 h 369"/>
                  <a:gd name="T4" fmla="*/ 562 w 883"/>
                  <a:gd name="T5" fmla="*/ 7 h 369"/>
                  <a:gd name="T6" fmla="*/ 619 w 883"/>
                  <a:gd name="T7" fmla="*/ 15 h 369"/>
                  <a:gd name="T8" fmla="*/ 672 w 883"/>
                  <a:gd name="T9" fmla="*/ 28 h 369"/>
                  <a:gd name="T10" fmla="*/ 721 w 883"/>
                  <a:gd name="T11" fmla="*/ 43 h 369"/>
                  <a:gd name="T12" fmla="*/ 766 w 883"/>
                  <a:gd name="T13" fmla="*/ 60 h 369"/>
                  <a:gd name="T14" fmla="*/ 804 w 883"/>
                  <a:gd name="T15" fmla="*/ 79 h 369"/>
                  <a:gd name="T16" fmla="*/ 836 w 883"/>
                  <a:gd name="T17" fmla="*/ 100 h 369"/>
                  <a:gd name="T18" fmla="*/ 859 w 883"/>
                  <a:gd name="T19" fmla="*/ 123 h 369"/>
                  <a:gd name="T20" fmla="*/ 876 w 883"/>
                  <a:gd name="T21" fmla="*/ 147 h 369"/>
                  <a:gd name="T22" fmla="*/ 883 w 883"/>
                  <a:gd name="T23" fmla="*/ 172 h 369"/>
                  <a:gd name="T24" fmla="*/ 883 w 883"/>
                  <a:gd name="T25" fmla="*/ 197 h 369"/>
                  <a:gd name="T26" fmla="*/ 876 w 883"/>
                  <a:gd name="T27" fmla="*/ 223 h 369"/>
                  <a:gd name="T28" fmla="*/ 859 w 883"/>
                  <a:gd name="T29" fmla="*/ 246 h 369"/>
                  <a:gd name="T30" fmla="*/ 836 w 883"/>
                  <a:gd name="T31" fmla="*/ 270 h 369"/>
                  <a:gd name="T32" fmla="*/ 804 w 883"/>
                  <a:gd name="T33" fmla="*/ 291 h 369"/>
                  <a:gd name="T34" fmla="*/ 766 w 883"/>
                  <a:gd name="T35" fmla="*/ 310 h 369"/>
                  <a:gd name="T36" fmla="*/ 721 w 883"/>
                  <a:gd name="T37" fmla="*/ 327 h 369"/>
                  <a:gd name="T38" fmla="*/ 672 w 883"/>
                  <a:gd name="T39" fmla="*/ 342 h 369"/>
                  <a:gd name="T40" fmla="*/ 619 w 883"/>
                  <a:gd name="T41" fmla="*/ 354 h 369"/>
                  <a:gd name="T42" fmla="*/ 562 w 883"/>
                  <a:gd name="T43" fmla="*/ 363 h 369"/>
                  <a:gd name="T44" fmla="*/ 502 w 883"/>
                  <a:gd name="T45" fmla="*/ 367 h 369"/>
                  <a:gd name="T46" fmla="*/ 442 w 883"/>
                  <a:gd name="T47" fmla="*/ 369 h 369"/>
                  <a:gd name="T48" fmla="*/ 381 w 883"/>
                  <a:gd name="T49" fmla="*/ 367 h 369"/>
                  <a:gd name="T50" fmla="*/ 323 w 883"/>
                  <a:gd name="T51" fmla="*/ 363 h 369"/>
                  <a:gd name="T52" fmla="*/ 266 w 883"/>
                  <a:gd name="T53" fmla="*/ 354 h 369"/>
                  <a:gd name="T54" fmla="*/ 213 w 883"/>
                  <a:gd name="T55" fmla="*/ 342 h 369"/>
                  <a:gd name="T56" fmla="*/ 162 w 883"/>
                  <a:gd name="T57" fmla="*/ 327 h 369"/>
                  <a:gd name="T58" fmla="*/ 119 w 883"/>
                  <a:gd name="T59" fmla="*/ 310 h 369"/>
                  <a:gd name="T60" fmla="*/ 81 w 883"/>
                  <a:gd name="T61" fmla="*/ 291 h 369"/>
                  <a:gd name="T62" fmla="*/ 49 w 883"/>
                  <a:gd name="T63" fmla="*/ 270 h 369"/>
                  <a:gd name="T64" fmla="*/ 26 w 883"/>
                  <a:gd name="T65" fmla="*/ 246 h 369"/>
                  <a:gd name="T66" fmla="*/ 9 w 883"/>
                  <a:gd name="T67" fmla="*/ 223 h 369"/>
                  <a:gd name="T68" fmla="*/ 0 w 883"/>
                  <a:gd name="T69" fmla="*/ 197 h 369"/>
                  <a:gd name="T70" fmla="*/ 0 w 883"/>
                  <a:gd name="T71" fmla="*/ 172 h 369"/>
                  <a:gd name="T72" fmla="*/ 9 w 883"/>
                  <a:gd name="T73" fmla="*/ 147 h 369"/>
                  <a:gd name="T74" fmla="*/ 26 w 883"/>
                  <a:gd name="T75" fmla="*/ 123 h 369"/>
                  <a:gd name="T76" fmla="*/ 49 w 883"/>
                  <a:gd name="T77" fmla="*/ 100 h 369"/>
                  <a:gd name="T78" fmla="*/ 81 w 883"/>
                  <a:gd name="T79" fmla="*/ 79 h 369"/>
                  <a:gd name="T80" fmla="*/ 119 w 883"/>
                  <a:gd name="T81" fmla="*/ 60 h 369"/>
                  <a:gd name="T82" fmla="*/ 162 w 883"/>
                  <a:gd name="T83" fmla="*/ 43 h 369"/>
                  <a:gd name="T84" fmla="*/ 213 w 883"/>
                  <a:gd name="T85" fmla="*/ 28 h 369"/>
                  <a:gd name="T86" fmla="*/ 266 w 883"/>
                  <a:gd name="T87" fmla="*/ 15 h 369"/>
                  <a:gd name="T88" fmla="*/ 323 w 883"/>
                  <a:gd name="T89" fmla="*/ 7 h 369"/>
                  <a:gd name="T90" fmla="*/ 381 w 883"/>
                  <a:gd name="T91" fmla="*/ 2 h 369"/>
                  <a:gd name="T92" fmla="*/ 442 w 883"/>
                  <a:gd name="T93" fmla="*/ 0 h 36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83"/>
                  <a:gd name="T142" fmla="*/ 0 h 369"/>
                  <a:gd name="T143" fmla="*/ 883 w 883"/>
                  <a:gd name="T144" fmla="*/ 369 h 369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83" h="369">
                    <a:moveTo>
                      <a:pt x="442" y="0"/>
                    </a:moveTo>
                    <a:lnTo>
                      <a:pt x="502" y="2"/>
                    </a:lnTo>
                    <a:lnTo>
                      <a:pt x="562" y="7"/>
                    </a:lnTo>
                    <a:lnTo>
                      <a:pt x="619" y="15"/>
                    </a:lnTo>
                    <a:lnTo>
                      <a:pt x="672" y="28"/>
                    </a:lnTo>
                    <a:lnTo>
                      <a:pt x="721" y="43"/>
                    </a:lnTo>
                    <a:lnTo>
                      <a:pt x="766" y="60"/>
                    </a:lnTo>
                    <a:lnTo>
                      <a:pt x="804" y="79"/>
                    </a:lnTo>
                    <a:lnTo>
                      <a:pt x="836" y="100"/>
                    </a:lnTo>
                    <a:lnTo>
                      <a:pt x="859" y="123"/>
                    </a:lnTo>
                    <a:lnTo>
                      <a:pt x="876" y="147"/>
                    </a:lnTo>
                    <a:lnTo>
                      <a:pt x="883" y="172"/>
                    </a:lnTo>
                    <a:lnTo>
                      <a:pt x="883" y="197"/>
                    </a:lnTo>
                    <a:lnTo>
                      <a:pt x="876" y="223"/>
                    </a:lnTo>
                    <a:lnTo>
                      <a:pt x="859" y="246"/>
                    </a:lnTo>
                    <a:lnTo>
                      <a:pt x="836" y="270"/>
                    </a:lnTo>
                    <a:lnTo>
                      <a:pt x="804" y="291"/>
                    </a:lnTo>
                    <a:lnTo>
                      <a:pt x="766" y="310"/>
                    </a:lnTo>
                    <a:lnTo>
                      <a:pt x="721" y="327"/>
                    </a:lnTo>
                    <a:lnTo>
                      <a:pt x="672" y="342"/>
                    </a:lnTo>
                    <a:lnTo>
                      <a:pt x="619" y="354"/>
                    </a:lnTo>
                    <a:lnTo>
                      <a:pt x="562" y="363"/>
                    </a:lnTo>
                    <a:lnTo>
                      <a:pt x="502" y="367"/>
                    </a:lnTo>
                    <a:lnTo>
                      <a:pt x="442" y="369"/>
                    </a:lnTo>
                    <a:lnTo>
                      <a:pt x="381" y="367"/>
                    </a:lnTo>
                    <a:lnTo>
                      <a:pt x="323" y="363"/>
                    </a:lnTo>
                    <a:lnTo>
                      <a:pt x="266" y="354"/>
                    </a:lnTo>
                    <a:lnTo>
                      <a:pt x="213" y="342"/>
                    </a:lnTo>
                    <a:lnTo>
                      <a:pt x="162" y="327"/>
                    </a:lnTo>
                    <a:lnTo>
                      <a:pt x="119" y="310"/>
                    </a:lnTo>
                    <a:lnTo>
                      <a:pt x="81" y="291"/>
                    </a:lnTo>
                    <a:lnTo>
                      <a:pt x="49" y="270"/>
                    </a:lnTo>
                    <a:lnTo>
                      <a:pt x="26" y="246"/>
                    </a:lnTo>
                    <a:lnTo>
                      <a:pt x="9" y="223"/>
                    </a:lnTo>
                    <a:lnTo>
                      <a:pt x="0" y="197"/>
                    </a:lnTo>
                    <a:lnTo>
                      <a:pt x="0" y="172"/>
                    </a:lnTo>
                    <a:lnTo>
                      <a:pt x="9" y="147"/>
                    </a:lnTo>
                    <a:lnTo>
                      <a:pt x="26" y="123"/>
                    </a:lnTo>
                    <a:lnTo>
                      <a:pt x="49" y="100"/>
                    </a:lnTo>
                    <a:lnTo>
                      <a:pt x="81" y="79"/>
                    </a:lnTo>
                    <a:lnTo>
                      <a:pt x="119" y="60"/>
                    </a:lnTo>
                    <a:lnTo>
                      <a:pt x="162" y="43"/>
                    </a:lnTo>
                    <a:lnTo>
                      <a:pt x="213" y="28"/>
                    </a:lnTo>
                    <a:lnTo>
                      <a:pt x="266" y="15"/>
                    </a:lnTo>
                    <a:lnTo>
                      <a:pt x="323" y="7"/>
                    </a:lnTo>
                    <a:lnTo>
                      <a:pt x="381" y="2"/>
                    </a:lnTo>
                    <a:lnTo>
                      <a:pt x="442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62" name="Rectangle 78"/>
              <p:cNvSpPr>
                <a:spLocks noChangeAspect="1" noChangeArrowheads="1"/>
              </p:cNvSpPr>
              <p:nvPr/>
            </p:nvSpPr>
            <p:spPr bwMode="auto">
              <a:xfrm>
                <a:off x="1831" y="2668"/>
                <a:ext cx="10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1</a:t>
                </a:r>
                <a:endParaRPr lang="en-US" altLang="en-US" sz="1600"/>
              </a:p>
            </p:txBody>
          </p:sp>
        </p:grpSp>
        <p:grpSp>
          <p:nvGrpSpPr>
            <p:cNvPr id="19" name="Group 79"/>
            <p:cNvGrpSpPr>
              <a:grpSpLocks noChangeAspect="1"/>
            </p:cNvGrpSpPr>
            <p:nvPr/>
          </p:nvGrpSpPr>
          <p:grpSpPr bwMode="auto">
            <a:xfrm>
              <a:off x="6100763" y="1730375"/>
              <a:ext cx="1036637" cy="584200"/>
              <a:chOff x="328" y="1704"/>
              <a:chExt cx="995" cy="561"/>
            </a:xfrm>
          </p:grpSpPr>
          <p:sp>
            <p:nvSpPr>
              <p:cNvPr id="76859" name="Freeform 80"/>
              <p:cNvSpPr>
                <a:spLocks noChangeAspect="1"/>
              </p:cNvSpPr>
              <p:nvPr/>
            </p:nvSpPr>
            <p:spPr bwMode="auto">
              <a:xfrm>
                <a:off x="328" y="1881"/>
                <a:ext cx="995" cy="384"/>
              </a:xfrm>
              <a:custGeom>
                <a:avLst/>
                <a:gdLst>
                  <a:gd name="T0" fmla="*/ 514 w 995"/>
                  <a:gd name="T1" fmla="*/ 4 h 384"/>
                  <a:gd name="T2" fmla="*/ 576 w 995"/>
                  <a:gd name="T3" fmla="*/ 10 h 384"/>
                  <a:gd name="T4" fmla="*/ 638 w 995"/>
                  <a:gd name="T5" fmla="*/ 21 h 384"/>
                  <a:gd name="T6" fmla="*/ 695 w 995"/>
                  <a:gd name="T7" fmla="*/ 34 h 384"/>
                  <a:gd name="T8" fmla="*/ 752 w 995"/>
                  <a:gd name="T9" fmla="*/ 49 h 384"/>
                  <a:gd name="T10" fmla="*/ 803 w 995"/>
                  <a:gd name="T11" fmla="*/ 66 h 384"/>
                  <a:gd name="T12" fmla="*/ 850 w 995"/>
                  <a:gd name="T13" fmla="*/ 85 h 384"/>
                  <a:gd name="T14" fmla="*/ 891 w 995"/>
                  <a:gd name="T15" fmla="*/ 106 h 384"/>
                  <a:gd name="T16" fmla="*/ 927 w 995"/>
                  <a:gd name="T17" fmla="*/ 127 h 384"/>
                  <a:gd name="T18" fmla="*/ 954 w 995"/>
                  <a:gd name="T19" fmla="*/ 150 h 384"/>
                  <a:gd name="T20" fmla="*/ 976 w 995"/>
                  <a:gd name="T21" fmla="*/ 176 h 384"/>
                  <a:gd name="T22" fmla="*/ 988 w 995"/>
                  <a:gd name="T23" fmla="*/ 199 h 384"/>
                  <a:gd name="T24" fmla="*/ 995 w 995"/>
                  <a:gd name="T25" fmla="*/ 222 h 384"/>
                  <a:gd name="T26" fmla="*/ 993 w 995"/>
                  <a:gd name="T27" fmla="*/ 248 h 384"/>
                  <a:gd name="T28" fmla="*/ 982 w 995"/>
                  <a:gd name="T29" fmla="*/ 269 h 384"/>
                  <a:gd name="T30" fmla="*/ 965 w 995"/>
                  <a:gd name="T31" fmla="*/ 290 h 384"/>
                  <a:gd name="T32" fmla="*/ 940 w 995"/>
                  <a:gd name="T33" fmla="*/ 312 h 384"/>
                  <a:gd name="T34" fmla="*/ 908 w 995"/>
                  <a:gd name="T35" fmla="*/ 329 h 384"/>
                  <a:gd name="T36" fmla="*/ 869 w 995"/>
                  <a:gd name="T37" fmla="*/ 345 h 384"/>
                  <a:gd name="T38" fmla="*/ 827 w 995"/>
                  <a:gd name="T39" fmla="*/ 358 h 384"/>
                  <a:gd name="T40" fmla="*/ 776 w 995"/>
                  <a:gd name="T41" fmla="*/ 369 h 384"/>
                  <a:gd name="T42" fmla="*/ 723 w 995"/>
                  <a:gd name="T43" fmla="*/ 377 h 384"/>
                  <a:gd name="T44" fmla="*/ 665 w 995"/>
                  <a:gd name="T45" fmla="*/ 382 h 384"/>
                  <a:gd name="T46" fmla="*/ 606 w 995"/>
                  <a:gd name="T47" fmla="*/ 384 h 384"/>
                  <a:gd name="T48" fmla="*/ 544 w 995"/>
                  <a:gd name="T49" fmla="*/ 384 h 384"/>
                  <a:gd name="T50" fmla="*/ 480 w 995"/>
                  <a:gd name="T51" fmla="*/ 379 h 384"/>
                  <a:gd name="T52" fmla="*/ 419 w 995"/>
                  <a:gd name="T53" fmla="*/ 373 h 384"/>
                  <a:gd name="T54" fmla="*/ 357 w 995"/>
                  <a:gd name="T55" fmla="*/ 362 h 384"/>
                  <a:gd name="T56" fmla="*/ 300 w 995"/>
                  <a:gd name="T57" fmla="*/ 350 h 384"/>
                  <a:gd name="T58" fmla="*/ 242 w 995"/>
                  <a:gd name="T59" fmla="*/ 335 h 384"/>
                  <a:gd name="T60" fmla="*/ 191 w 995"/>
                  <a:gd name="T61" fmla="*/ 318 h 384"/>
                  <a:gd name="T62" fmla="*/ 144 w 995"/>
                  <a:gd name="T63" fmla="*/ 299 h 384"/>
                  <a:gd name="T64" fmla="*/ 104 w 995"/>
                  <a:gd name="T65" fmla="*/ 278 h 384"/>
                  <a:gd name="T66" fmla="*/ 68 w 995"/>
                  <a:gd name="T67" fmla="*/ 256 h 384"/>
                  <a:gd name="T68" fmla="*/ 40 w 995"/>
                  <a:gd name="T69" fmla="*/ 233 h 384"/>
                  <a:gd name="T70" fmla="*/ 19 w 995"/>
                  <a:gd name="T71" fmla="*/ 208 h 384"/>
                  <a:gd name="T72" fmla="*/ 6 w 995"/>
                  <a:gd name="T73" fmla="*/ 184 h 384"/>
                  <a:gd name="T74" fmla="*/ 0 w 995"/>
                  <a:gd name="T75" fmla="*/ 161 h 384"/>
                  <a:gd name="T76" fmla="*/ 2 w 995"/>
                  <a:gd name="T77" fmla="*/ 138 h 384"/>
                  <a:gd name="T78" fmla="*/ 13 w 995"/>
                  <a:gd name="T79" fmla="*/ 114 h 384"/>
                  <a:gd name="T80" fmla="*/ 30 w 995"/>
                  <a:gd name="T81" fmla="*/ 93 h 384"/>
                  <a:gd name="T82" fmla="*/ 55 w 995"/>
                  <a:gd name="T83" fmla="*/ 72 h 384"/>
                  <a:gd name="T84" fmla="*/ 87 w 995"/>
                  <a:gd name="T85" fmla="*/ 55 h 384"/>
                  <a:gd name="T86" fmla="*/ 125 w 995"/>
                  <a:gd name="T87" fmla="*/ 38 h 384"/>
                  <a:gd name="T88" fmla="*/ 168 w 995"/>
                  <a:gd name="T89" fmla="*/ 25 h 384"/>
                  <a:gd name="T90" fmla="*/ 219 w 995"/>
                  <a:gd name="T91" fmla="*/ 15 h 384"/>
                  <a:gd name="T92" fmla="*/ 272 w 995"/>
                  <a:gd name="T93" fmla="*/ 6 h 384"/>
                  <a:gd name="T94" fmla="*/ 329 w 995"/>
                  <a:gd name="T95" fmla="*/ 2 h 384"/>
                  <a:gd name="T96" fmla="*/ 389 w 995"/>
                  <a:gd name="T97" fmla="*/ 0 h 384"/>
                  <a:gd name="T98" fmla="*/ 450 w 995"/>
                  <a:gd name="T99" fmla="*/ 0 h 384"/>
                  <a:gd name="T100" fmla="*/ 514 w 995"/>
                  <a:gd name="T101" fmla="*/ 4 h 38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995"/>
                  <a:gd name="T154" fmla="*/ 0 h 384"/>
                  <a:gd name="T155" fmla="*/ 995 w 995"/>
                  <a:gd name="T156" fmla="*/ 384 h 38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995" h="384">
                    <a:moveTo>
                      <a:pt x="514" y="4"/>
                    </a:moveTo>
                    <a:lnTo>
                      <a:pt x="576" y="10"/>
                    </a:lnTo>
                    <a:lnTo>
                      <a:pt x="638" y="21"/>
                    </a:lnTo>
                    <a:lnTo>
                      <a:pt x="695" y="34"/>
                    </a:lnTo>
                    <a:lnTo>
                      <a:pt x="752" y="49"/>
                    </a:lnTo>
                    <a:lnTo>
                      <a:pt x="803" y="66"/>
                    </a:lnTo>
                    <a:lnTo>
                      <a:pt x="850" y="85"/>
                    </a:lnTo>
                    <a:lnTo>
                      <a:pt x="891" y="106"/>
                    </a:lnTo>
                    <a:lnTo>
                      <a:pt x="927" y="127"/>
                    </a:lnTo>
                    <a:lnTo>
                      <a:pt x="954" y="150"/>
                    </a:lnTo>
                    <a:lnTo>
                      <a:pt x="976" y="176"/>
                    </a:lnTo>
                    <a:lnTo>
                      <a:pt x="988" y="199"/>
                    </a:lnTo>
                    <a:lnTo>
                      <a:pt x="995" y="222"/>
                    </a:lnTo>
                    <a:lnTo>
                      <a:pt x="993" y="248"/>
                    </a:lnTo>
                    <a:lnTo>
                      <a:pt x="982" y="269"/>
                    </a:lnTo>
                    <a:lnTo>
                      <a:pt x="965" y="290"/>
                    </a:lnTo>
                    <a:lnTo>
                      <a:pt x="940" y="312"/>
                    </a:lnTo>
                    <a:lnTo>
                      <a:pt x="908" y="329"/>
                    </a:lnTo>
                    <a:lnTo>
                      <a:pt x="869" y="345"/>
                    </a:lnTo>
                    <a:lnTo>
                      <a:pt x="827" y="358"/>
                    </a:lnTo>
                    <a:lnTo>
                      <a:pt x="776" y="369"/>
                    </a:lnTo>
                    <a:lnTo>
                      <a:pt x="723" y="377"/>
                    </a:lnTo>
                    <a:lnTo>
                      <a:pt x="665" y="382"/>
                    </a:lnTo>
                    <a:lnTo>
                      <a:pt x="606" y="384"/>
                    </a:lnTo>
                    <a:lnTo>
                      <a:pt x="544" y="384"/>
                    </a:lnTo>
                    <a:lnTo>
                      <a:pt x="480" y="379"/>
                    </a:lnTo>
                    <a:lnTo>
                      <a:pt x="419" y="373"/>
                    </a:lnTo>
                    <a:lnTo>
                      <a:pt x="357" y="362"/>
                    </a:lnTo>
                    <a:lnTo>
                      <a:pt x="300" y="350"/>
                    </a:lnTo>
                    <a:lnTo>
                      <a:pt x="242" y="335"/>
                    </a:lnTo>
                    <a:lnTo>
                      <a:pt x="191" y="318"/>
                    </a:lnTo>
                    <a:lnTo>
                      <a:pt x="144" y="299"/>
                    </a:lnTo>
                    <a:lnTo>
                      <a:pt x="104" y="278"/>
                    </a:lnTo>
                    <a:lnTo>
                      <a:pt x="68" y="256"/>
                    </a:lnTo>
                    <a:lnTo>
                      <a:pt x="40" y="233"/>
                    </a:lnTo>
                    <a:lnTo>
                      <a:pt x="19" y="208"/>
                    </a:lnTo>
                    <a:lnTo>
                      <a:pt x="6" y="184"/>
                    </a:lnTo>
                    <a:lnTo>
                      <a:pt x="0" y="161"/>
                    </a:lnTo>
                    <a:lnTo>
                      <a:pt x="2" y="138"/>
                    </a:lnTo>
                    <a:lnTo>
                      <a:pt x="13" y="114"/>
                    </a:lnTo>
                    <a:lnTo>
                      <a:pt x="30" y="93"/>
                    </a:lnTo>
                    <a:lnTo>
                      <a:pt x="55" y="72"/>
                    </a:lnTo>
                    <a:lnTo>
                      <a:pt x="87" y="55"/>
                    </a:lnTo>
                    <a:lnTo>
                      <a:pt x="125" y="38"/>
                    </a:lnTo>
                    <a:lnTo>
                      <a:pt x="168" y="25"/>
                    </a:lnTo>
                    <a:lnTo>
                      <a:pt x="219" y="15"/>
                    </a:lnTo>
                    <a:lnTo>
                      <a:pt x="272" y="6"/>
                    </a:lnTo>
                    <a:lnTo>
                      <a:pt x="329" y="2"/>
                    </a:lnTo>
                    <a:lnTo>
                      <a:pt x="389" y="0"/>
                    </a:lnTo>
                    <a:lnTo>
                      <a:pt x="450" y="0"/>
                    </a:lnTo>
                    <a:lnTo>
                      <a:pt x="514" y="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60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854" y="1704"/>
                <a:ext cx="10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2</a:t>
                </a:r>
                <a:endParaRPr lang="en-US" altLang="en-US" sz="1600"/>
              </a:p>
            </p:txBody>
          </p:sp>
        </p:grpSp>
        <p:grpSp>
          <p:nvGrpSpPr>
            <p:cNvPr id="20" name="Group 82"/>
            <p:cNvGrpSpPr>
              <a:grpSpLocks noChangeAspect="1"/>
            </p:cNvGrpSpPr>
            <p:nvPr/>
          </p:nvGrpSpPr>
          <p:grpSpPr bwMode="auto">
            <a:xfrm>
              <a:off x="5875338" y="1293813"/>
              <a:ext cx="2582862" cy="2287587"/>
              <a:chOff x="111" y="1285"/>
              <a:chExt cx="2481" cy="2197"/>
            </a:xfrm>
          </p:grpSpPr>
          <p:sp>
            <p:nvSpPr>
              <p:cNvPr id="76857" name="Rectangle 83"/>
              <p:cNvSpPr>
                <a:spLocks noChangeAspect="1" noChangeArrowheads="1"/>
              </p:cNvSpPr>
              <p:nvPr/>
            </p:nvSpPr>
            <p:spPr bwMode="auto">
              <a:xfrm>
                <a:off x="2484" y="1704"/>
                <a:ext cx="10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5</a:t>
                </a:r>
                <a:endParaRPr lang="en-US" altLang="en-US" sz="1600"/>
              </a:p>
            </p:txBody>
          </p:sp>
          <p:sp>
            <p:nvSpPr>
              <p:cNvPr id="76858" name="Freeform 84"/>
              <p:cNvSpPr>
                <a:spLocks noChangeAspect="1"/>
              </p:cNvSpPr>
              <p:nvPr/>
            </p:nvSpPr>
            <p:spPr bwMode="auto">
              <a:xfrm>
                <a:off x="111" y="1285"/>
                <a:ext cx="2479" cy="2197"/>
              </a:xfrm>
              <a:custGeom>
                <a:avLst/>
                <a:gdLst>
                  <a:gd name="T0" fmla="*/ 1339 w 2479"/>
                  <a:gd name="T1" fmla="*/ 2 h 2197"/>
                  <a:gd name="T2" fmla="*/ 1541 w 2479"/>
                  <a:gd name="T3" fmla="*/ 32 h 2197"/>
                  <a:gd name="T4" fmla="*/ 1735 w 2479"/>
                  <a:gd name="T5" fmla="*/ 91 h 2197"/>
                  <a:gd name="T6" fmla="*/ 1916 w 2479"/>
                  <a:gd name="T7" fmla="*/ 178 h 2197"/>
                  <a:gd name="T8" fmla="*/ 2077 w 2479"/>
                  <a:gd name="T9" fmla="*/ 288 h 2197"/>
                  <a:gd name="T10" fmla="*/ 2215 w 2479"/>
                  <a:gd name="T11" fmla="*/ 422 h 2197"/>
                  <a:gd name="T12" fmla="*/ 2328 w 2479"/>
                  <a:gd name="T13" fmla="*/ 572 h 2197"/>
                  <a:gd name="T14" fmla="*/ 2411 w 2479"/>
                  <a:gd name="T15" fmla="*/ 740 h 2197"/>
                  <a:gd name="T16" fmla="*/ 2462 w 2479"/>
                  <a:gd name="T17" fmla="*/ 916 h 2197"/>
                  <a:gd name="T18" fmla="*/ 2479 w 2479"/>
                  <a:gd name="T19" fmla="*/ 1096 h 2197"/>
                  <a:gd name="T20" fmla="*/ 2462 w 2479"/>
                  <a:gd name="T21" fmla="*/ 1277 h 2197"/>
                  <a:gd name="T22" fmla="*/ 2411 w 2479"/>
                  <a:gd name="T23" fmla="*/ 1453 h 2197"/>
                  <a:gd name="T24" fmla="*/ 2330 w 2479"/>
                  <a:gd name="T25" fmla="*/ 1620 h 2197"/>
                  <a:gd name="T26" fmla="*/ 2217 w 2479"/>
                  <a:gd name="T27" fmla="*/ 1771 h 2197"/>
                  <a:gd name="T28" fmla="*/ 2079 w 2479"/>
                  <a:gd name="T29" fmla="*/ 1904 h 2197"/>
                  <a:gd name="T30" fmla="*/ 1918 w 2479"/>
                  <a:gd name="T31" fmla="*/ 2017 h 2197"/>
                  <a:gd name="T32" fmla="*/ 1739 w 2479"/>
                  <a:gd name="T33" fmla="*/ 2104 h 2197"/>
                  <a:gd name="T34" fmla="*/ 1546 w 2479"/>
                  <a:gd name="T35" fmla="*/ 2163 h 2197"/>
                  <a:gd name="T36" fmla="*/ 1344 w 2479"/>
                  <a:gd name="T37" fmla="*/ 2193 h 2197"/>
                  <a:gd name="T38" fmla="*/ 1139 w 2479"/>
                  <a:gd name="T39" fmla="*/ 2193 h 2197"/>
                  <a:gd name="T40" fmla="*/ 938 w 2479"/>
                  <a:gd name="T41" fmla="*/ 2163 h 2197"/>
                  <a:gd name="T42" fmla="*/ 744 w 2479"/>
                  <a:gd name="T43" fmla="*/ 2106 h 2197"/>
                  <a:gd name="T44" fmla="*/ 563 w 2479"/>
                  <a:gd name="T45" fmla="*/ 2019 h 2197"/>
                  <a:gd name="T46" fmla="*/ 402 w 2479"/>
                  <a:gd name="T47" fmla="*/ 1909 h 2197"/>
                  <a:gd name="T48" fmla="*/ 264 w 2479"/>
                  <a:gd name="T49" fmla="*/ 1775 h 2197"/>
                  <a:gd name="T50" fmla="*/ 151 w 2479"/>
                  <a:gd name="T51" fmla="*/ 1622 h 2197"/>
                  <a:gd name="T52" fmla="*/ 68 w 2479"/>
                  <a:gd name="T53" fmla="*/ 1457 h 2197"/>
                  <a:gd name="T54" fmla="*/ 17 w 2479"/>
                  <a:gd name="T55" fmla="*/ 1281 h 2197"/>
                  <a:gd name="T56" fmla="*/ 0 w 2479"/>
                  <a:gd name="T57" fmla="*/ 1101 h 2197"/>
                  <a:gd name="T58" fmla="*/ 17 w 2479"/>
                  <a:gd name="T59" fmla="*/ 920 h 2197"/>
                  <a:gd name="T60" fmla="*/ 68 w 2479"/>
                  <a:gd name="T61" fmla="*/ 744 h 2197"/>
                  <a:gd name="T62" fmla="*/ 149 w 2479"/>
                  <a:gd name="T63" fmla="*/ 577 h 2197"/>
                  <a:gd name="T64" fmla="*/ 261 w 2479"/>
                  <a:gd name="T65" fmla="*/ 424 h 2197"/>
                  <a:gd name="T66" fmla="*/ 400 w 2479"/>
                  <a:gd name="T67" fmla="*/ 290 h 2197"/>
                  <a:gd name="T68" fmla="*/ 559 w 2479"/>
                  <a:gd name="T69" fmla="*/ 180 h 2197"/>
                  <a:gd name="T70" fmla="*/ 740 w 2479"/>
                  <a:gd name="T71" fmla="*/ 93 h 2197"/>
                  <a:gd name="T72" fmla="*/ 933 w 2479"/>
                  <a:gd name="T73" fmla="*/ 34 h 2197"/>
                  <a:gd name="T74" fmla="*/ 1135 w 2479"/>
                  <a:gd name="T75" fmla="*/ 4 h 219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79"/>
                  <a:gd name="T115" fmla="*/ 0 h 2197"/>
                  <a:gd name="T116" fmla="*/ 2479 w 2479"/>
                  <a:gd name="T117" fmla="*/ 2197 h 219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79" h="2197">
                    <a:moveTo>
                      <a:pt x="1237" y="0"/>
                    </a:moveTo>
                    <a:lnTo>
                      <a:pt x="1339" y="2"/>
                    </a:lnTo>
                    <a:lnTo>
                      <a:pt x="1441" y="15"/>
                    </a:lnTo>
                    <a:lnTo>
                      <a:pt x="1541" y="32"/>
                    </a:lnTo>
                    <a:lnTo>
                      <a:pt x="1639" y="59"/>
                    </a:lnTo>
                    <a:lnTo>
                      <a:pt x="1735" y="91"/>
                    </a:lnTo>
                    <a:lnTo>
                      <a:pt x="1826" y="131"/>
                    </a:lnTo>
                    <a:lnTo>
                      <a:pt x="1916" y="178"/>
                    </a:lnTo>
                    <a:lnTo>
                      <a:pt x="1998" y="229"/>
                    </a:lnTo>
                    <a:lnTo>
                      <a:pt x="2077" y="288"/>
                    </a:lnTo>
                    <a:lnTo>
                      <a:pt x="2149" y="352"/>
                    </a:lnTo>
                    <a:lnTo>
                      <a:pt x="2215" y="422"/>
                    </a:lnTo>
                    <a:lnTo>
                      <a:pt x="2275" y="496"/>
                    </a:lnTo>
                    <a:lnTo>
                      <a:pt x="2328" y="572"/>
                    </a:lnTo>
                    <a:lnTo>
                      <a:pt x="2373" y="655"/>
                    </a:lnTo>
                    <a:lnTo>
                      <a:pt x="2411" y="740"/>
                    </a:lnTo>
                    <a:lnTo>
                      <a:pt x="2441" y="827"/>
                    </a:lnTo>
                    <a:lnTo>
                      <a:pt x="2462" y="916"/>
                    </a:lnTo>
                    <a:lnTo>
                      <a:pt x="2475" y="1005"/>
                    </a:lnTo>
                    <a:lnTo>
                      <a:pt x="2479" y="1096"/>
                    </a:lnTo>
                    <a:lnTo>
                      <a:pt x="2475" y="1188"/>
                    </a:lnTo>
                    <a:lnTo>
                      <a:pt x="2462" y="1277"/>
                    </a:lnTo>
                    <a:lnTo>
                      <a:pt x="2441" y="1366"/>
                    </a:lnTo>
                    <a:lnTo>
                      <a:pt x="2411" y="1453"/>
                    </a:lnTo>
                    <a:lnTo>
                      <a:pt x="2375" y="1537"/>
                    </a:lnTo>
                    <a:lnTo>
                      <a:pt x="2330" y="1620"/>
                    </a:lnTo>
                    <a:lnTo>
                      <a:pt x="2277" y="1697"/>
                    </a:lnTo>
                    <a:lnTo>
                      <a:pt x="2217" y="1771"/>
                    </a:lnTo>
                    <a:lnTo>
                      <a:pt x="2152" y="1841"/>
                    </a:lnTo>
                    <a:lnTo>
                      <a:pt x="2079" y="1904"/>
                    </a:lnTo>
                    <a:lnTo>
                      <a:pt x="2003" y="1964"/>
                    </a:lnTo>
                    <a:lnTo>
                      <a:pt x="1918" y="2017"/>
                    </a:lnTo>
                    <a:lnTo>
                      <a:pt x="1830" y="2063"/>
                    </a:lnTo>
                    <a:lnTo>
                      <a:pt x="1739" y="2104"/>
                    </a:lnTo>
                    <a:lnTo>
                      <a:pt x="1643" y="2136"/>
                    </a:lnTo>
                    <a:lnTo>
                      <a:pt x="1546" y="2163"/>
                    </a:lnTo>
                    <a:lnTo>
                      <a:pt x="1446" y="2182"/>
                    </a:lnTo>
                    <a:lnTo>
                      <a:pt x="1344" y="2193"/>
                    </a:lnTo>
                    <a:lnTo>
                      <a:pt x="1242" y="2197"/>
                    </a:lnTo>
                    <a:lnTo>
                      <a:pt x="1139" y="2193"/>
                    </a:lnTo>
                    <a:lnTo>
                      <a:pt x="1037" y="2182"/>
                    </a:lnTo>
                    <a:lnTo>
                      <a:pt x="938" y="2163"/>
                    </a:lnTo>
                    <a:lnTo>
                      <a:pt x="840" y="2138"/>
                    </a:lnTo>
                    <a:lnTo>
                      <a:pt x="744" y="2106"/>
                    </a:lnTo>
                    <a:lnTo>
                      <a:pt x="650" y="2066"/>
                    </a:lnTo>
                    <a:lnTo>
                      <a:pt x="563" y="2019"/>
                    </a:lnTo>
                    <a:lnTo>
                      <a:pt x="480" y="1966"/>
                    </a:lnTo>
                    <a:lnTo>
                      <a:pt x="402" y="1909"/>
                    </a:lnTo>
                    <a:lnTo>
                      <a:pt x="329" y="1843"/>
                    </a:lnTo>
                    <a:lnTo>
                      <a:pt x="264" y="1775"/>
                    </a:lnTo>
                    <a:lnTo>
                      <a:pt x="204" y="1701"/>
                    </a:lnTo>
                    <a:lnTo>
                      <a:pt x="151" y="1622"/>
                    </a:lnTo>
                    <a:lnTo>
                      <a:pt x="106" y="1542"/>
                    </a:lnTo>
                    <a:lnTo>
                      <a:pt x="68" y="1457"/>
                    </a:lnTo>
                    <a:lnTo>
                      <a:pt x="38" y="1370"/>
                    </a:lnTo>
                    <a:lnTo>
                      <a:pt x="17" y="1281"/>
                    </a:lnTo>
                    <a:lnTo>
                      <a:pt x="4" y="1192"/>
                    </a:lnTo>
                    <a:lnTo>
                      <a:pt x="0" y="1101"/>
                    </a:lnTo>
                    <a:lnTo>
                      <a:pt x="4" y="1009"/>
                    </a:lnTo>
                    <a:lnTo>
                      <a:pt x="17" y="920"/>
                    </a:lnTo>
                    <a:lnTo>
                      <a:pt x="38" y="831"/>
                    </a:lnTo>
                    <a:lnTo>
                      <a:pt x="68" y="744"/>
                    </a:lnTo>
                    <a:lnTo>
                      <a:pt x="104" y="659"/>
                    </a:lnTo>
                    <a:lnTo>
                      <a:pt x="149" y="577"/>
                    </a:lnTo>
                    <a:lnTo>
                      <a:pt x="202" y="498"/>
                    </a:lnTo>
                    <a:lnTo>
                      <a:pt x="261" y="424"/>
                    </a:lnTo>
                    <a:lnTo>
                      <a:pt x="327" y="356"/>
                    </a:lnTo>
                    <a:lnTo>
                      <a:pt x="400" y="290"/>
                    </a:lnTo>
                    <a:lnTo>
                      <a:pt x="476" y="233"/>
                    </a:lnTo>
                    <a:lnTo>
                      <a:pt x="559" y="180"/>
                    </a:lnTo>
                    <a:lnTo>
                      <a:pt x="648" y="133"/>
                    </a:lnTo>
                    <a:lnTo>
                      <a:pt x="740" y="93"/>
                    </a:lnTo>
                    <a:lnTo>
                      <a:pt x="835" y="59"/>
                    </a:lnTo>
                    <a:lnTo>
                      <a:pt x="933" y="34"/>
                    </a:lnTo>
                    <a:lnTo>
                      <a:pt x="1033" y="15"/>
                    </a:lnTo>
                    <a:lnTo>
                      <a:pt x="1135" y="4"/>
                    </a:lnTo>
                    <a:lnTo>
                      <a:pt x="123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85"/>
            <p:cNvGrpSpPr>
              <a:grpSpLocks noChangeAspect="1"/>
            </p:cNvGrpSpPr>
            <p:nvPr/>
          </p:nvGrpSpPr>
          <p:grpSpPr bwMode="auto">
            <a:xfrm>
              <a:off x="6873875" y="2211388"/>
              <a:ext cx="1416050" cy="1084262"/>
              <a:chOff x="1070" y="2167"/>
              <a:chExt cx="1361" cy="1041"/>
            </a:xfrm>
          </p:grpSpPr>
          <p:sp>
            <p:nvSpPr>
              <p:cNvPr id="76855" name="Rectangle 86"/>
              <p:cNvSpPr>
                <a:spLocks noChangeAspect="1" noChangeArrowheads="1"/>
              </p:cNvSpPr>
              <p:nvPr/>
            </p:nvSpPr>
            <p:spPr bwMode="auto">
              <a:xfrm>
                <a:off x="1070" y="2560"/>
                <a:ext cx="10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3</a:t>
                </a:r>
                <a:endParaRPr lang="en-US" altLang="en-US" sz="1600"/>
              </a:p>
            </p:txBody>
          </p:sp>
          <p:sp>
            <p:nvSpPr>
              <p:cNvPr id="76856" name="Freeform 87"/>
              <p:cNvSpPr>
                <a:spLocks noChangeAspect="1"/>
              </p:cNvSpPr>
              <p:nvPr/>
            </p:nvSpPr>
            <p:spPr bwMode="auto">
              <a:xfrm>
                <a:off x="1114" y="2167"/>
                <a:ext cx="1317" cy="1041"/>
              </a:xfrm>
              <a:custGeom>
                <a:avLst/>
                <a:gdLst>
                  <a:gd name="T0" fmla="*/ 441 w 1317"/>
                  <a:gd name="T1" fmla="*/ 174 h 1041"/>
                  <a:gd name="T2" fmla="*/ 506 w 1317"/>
                  <a:gd name="T3" fmla="*/ 134 h 1041"/>
                  <a:gd name="T4" fmla="*/ 574 w 1317"/>
                  <a:gd name="T5" fmla="*/ 100 h 1041"/>
                  <a:gd name="T6" fmla="*/ 643 w 1317"/>
                  <a:gd name="T7" fmla="*/ 70 h 1041"/>
                  <a:gd name="T8" fmla="*/ 711 w 1317"/>
                  <a:gd name="T9" fmla="*/ 47 h 1041"/>
                  <a:gd name="T10" fmla="*/ 781 w 1317"/>
                  <a:gd name="T11" fmla="*/ 26 h 1041"/>
                  <a:gd name="T12" fmla="*/ 847 w 1317"/>
                  <a:gd name="T13" fmla="*/ 13 h 1041"/>
                  <a:gd name="T14" fmla="*/ 910 w 1317"/>
                  <a:gd name="T15" fmla="*/ 4 h 1041"/>
                  <a:gd name="T16" fmla="*/ 974 w 1317"/>
                  <a:gd name="T17" fmla="*/ 0 h 1041"/>
                  <a:gd name="T18" fmla="*/ 1032 w 1317"/>
                  <a:gd name="T19" fmla="*/ 4 h 1041"/>
                  <a:gd name="T20" fmla="*/ 1087 w 1317"/>
                  <a:gd name="T21" fmla="*/ 13 h 1041"/>
                  <a:gd name="T22" fmla="*/ 1136 w 1317"/>
                  <a:gd name="T23" fmla="*/ 26 h 1041"/>
                  <a:gd name="T24" fmla="*/ 1180 w 1317"/>
                  <a:gd name="T25" fmla="*/ 45 h 1041"/>
                  <a:gd name="T26" fmla="*/ 1219 w 1317"/>
                  <a:gd name="T27" fmla="*/ 70 h 1041"/>
                  <a:gd name="T28" fmla="*/ 1253 w 1317"/>
                  <a:gd name="T29" fmla="*/ 100 h 1041"/>
                  <a:gd name="T30" fmla="*/ 1278 w 1317"/>
                  <a:gd name="T31" fmla="*/ 134 h 1041"/>
                  <a:gd name="T32" fmla="*/ 1297 w 1317"/>
                  <a:gd name="T33" fmla="*/ 172 h 1041"/>
                  <a:gd name="T34" fmla="*/ 1310 w 1317"/>
                  <a:gd name="T35" fmla="*/ 214 h 1041"/>
                  <a:gd name="T36" fmla="*/ 1317 w 1317"/>
                  <a:gd name="T37" fmla="*/ 261 h 1041"/>
                  <a:gd name="T38" fmla="*/ 1314 w 1317"/>
                  <a:gd name="T39" fmla="*/ 310 h 1041"/>
                  <a:gd name="T40" fmla="*/ 1304 w 1317"/>
                  <a:gd name="T41" fmla="*/ 359 h 1041"/>
                  <a:gd name="T42" fmla="*/ 1289 w 1317"/>
                  <a:gd name="T43" fmla="*/ 412 h 1041"/>
                  <a:gd name="T44" fmla="*/ 1265 w 1317"/>
                  <a:gd name="T45" fmla="*/ 467 h 1041"/>
                  <a:gd name="T46" fmla="*/ 1236 w 1317"/>
                  <a:gd name="T47" fmla="*/ 520 h 1041"/>
                  <a:gd name="T48" fmla="*/ 1200 w 1317"/>
                  <a:gd name="T49" fmla="*/ 575 h 1041"/>
                  <a:gd name="T50" fmla="*/ 1157 w 1317"/>
                  <a:gd name="T51" fmla="*/ 628 h 1041"/>
                  <a:gd name="T52" fmla="*/ 1110 w 1317"/>
                  <a:gd name="T53" fmla="*/ 681 h 1041"/>
                  <a:gd name="T54" fmla="*/ 1057 w 1317"/>
                  <a:gd name="T55" fmla="*/ 732 h 1041"/>
                  <a:gd name="T56" fmla="*/ 1000 w 1317"/>
                  <a:gd name="T57" fmla="*/ 781 h 1041"/>
                  <a:gd name="T58" fmla="*/ 940 w 1317"/>
                  <a:gd name="T59" fmla="*/ 825 h 1041"/>
                  <a:gd name="T60" fmla="*/ 876 w 1317"/>
                  <a:gd name="T61" fmla="*/ 868 h 1041"/>
                  <a:gd name="T62" fmla="*/ 810 w 1317"/>
                  <a:gd name="T63" fmla="*/ 908 h 1041"/>
                  <a:gd name="T64" fmla="*/ 742 w 1317"/>
                  <a:gd name="T65" fmla="*/ 942 h 1041"/>
                  <a:gd name="T66" fmla="*/ 674 w 1317"/>
                  <a:gd name="T67" fmla="*/ 971 h 1041"/>
                  <a:gd name="T68" fmla="*/ 604 w 1317"/>
                  <a:gd name="T69" fmla="*/ 995 h 1041"/>
                  <a:gd name="T70" fmla="*/ 536 w 1317"/>
                  <a:gd name="T71" fmla="*/ 1016 h 1041"/>
                  <a:gd name="T72" fmla="*/ 470 w 1317"/>
                  <a:gd name="T73" fmla="*/ 1029 h 1041"/>
                  <a:gd name="T74" fmla="*/ 404 w 1317"/>
                  <a:gd name="T75" fmla="*/ 1037 h 1041"/>
                  <a:gd name="T76" fmla="*/ 343 w 1317"/>
                  <a:gd name="T77" fmla="*/ 1041 h 1041"/>
                  <a:gd name="T78" fmla="*/ 283 w 1317"/>
                  <a:gd name="T79" fmla="*/ 1037 h 1041"/>
                  <a:gd name="T80" fmla="*/ 230 w 1317"/>
                  <a:gd name="T81" fmla="*/ 1029 h 1041"/>
                  <a:gd name="T82" fmla="*/ 179 w 1317"/>
                  <a:gd name="T83" fmla="*/ 1016 h 1041"/>
                  <a:gd name="T84" fmla="*/ 134 w 1317"/>
                  <a:gd name="T85" fmla="*/ 997 h 1041"/>
                  <a:gd name="T86" fmla="*/ 96 w 1317"/>
                  <a:gd name="T87" fmla="*/ 971 h 1041"/>
                  <a:gd name="T88" fmla="*/ 64 w 1317"/>
                  <a:gd name="T89" fmla="*/ 942 h 1041"/>
                  <a:gd name="T90" fmla="*/ 37 w 1317"/>
                  <a:gd name="T91" fmla="*/ 908 h 1041"/>
                  <a:gd name="T92" fmla="*/ 17 w 1317"/>
                  <a:gd name="T93" fmla="*/ 870 h 1041"/>
                  <a:gd name="T94" fmla="*/ 7 w 1317"/>
                  <a:gd name="T95" fmla="*/ 827 h 1041"/>
                  <a:gd name="T96" fmla="*/ 0 w 1317"/>
                  <a:gd name="T97" fmla="*/ 781 h 1041"/>
                  <a:gd name="T98" fmla="*/ 3 w 1317"/>
                  <a:gd name="T99" fmla="*/ 732 h 1041"/>
                  <a:gd name="T100" fmla="*/ 11 w 1317"/>
                  <a:gd name="T101" fmla="*/ 681 h 1041"/>
                  <a:gd name="T102" fmla="*/ 28 w 1317"/>
                  <a:gd name="T103" fmla="*/ 630 h 1041"/>
                  <a:gd name="T104" fmla="*/ 51 w 1317"/>
                  <a:gd name="T105" fmla="*/ 575 h 1041"/>
                  <a:gd name="T106" fmla="*/ 81 w 1317"/>
                  <a:gd name="T107" fmla="*/ 522 h 1041"/>
                  <a:gd name="T108" fmla="*/ 117 w 1317"/>
                  <a:gd name="T109" fmla="*/ 467 h 1041"/>
                  <a:gd name="T110" fmla="*/ 160 w 1317"/>
                  <a:gd name="T111" fmla="*/ 414 h 1041"/>
                  <a:gd name="T112" fmla="*/ 207 w 1317"/>
                  <a:gd name="T113" fmla="*/ 361 h 1041"/>
                  <a:gd name="T114" fmla="*/ 260 w 1317"/>
                  <a:gd name="T115" fmla="*/ 310 h 1041"/>
                  <a:gd name="T116" fmla="*/ 315 w 1317"/>
                  <a:gd name="T117" fmla="*/ 261 h 1041"/>
                  <a:gd name="T118" fmla="*/ 377 w 1317"/>
                  <a:gd name="T119" fmla="*/ 216 h 1041"/>
                  <a:gd name="T120" fmla="*/ 441 w 1317"/>
                  <a:gd name="T121" fmla="*/ 174 h 104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317"/>
                  <a:gd name="T184" fmla="*/ 0 h 1041"/>
                  <a:gd name="T185" fmla="*/ 1317 w 1317"/>
                  <a:gd name="T186" fmla="*/ 1041 h 1041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317" h="1041">
                    <a:moveTo>
                      <a:pt x="441" y="174"/>
                    </a:moveTo>
                    <a:lnTo>
                      <a:pt x="506" y="134"/>
                    </a:lnTo>
                    <a:lnTo>
                      <a:pt x="574" y="100"/>
                    </a:lnTo>
                    <a:lnTo>
                      <a:pt x="643" y="70"/>
                    </a:lnTo>
                    <a:lnTo>
                      <a:pt x="711" y="47"/>
                    </a:lnTo>
                    <a:lnTo>
                      <a:pt x="781" y="26"/>
                    </a:lnTo>
                    <a:lnTo>
                      <a:pt x="847" y="13"/>
                    </a:lnTo>
                    <a:lnTo>
                      <a:pt x="910" y="4"/>
                    </a:lnTo>
                    <a:lnTo>
                      <a:pt x="974" y="0"/>
                    </a:lnTo>
                    <a:lnTo>
                      <a:pt x="1032" y="4"/>
                    </a:lnTo>
                    <a:lnTo>
                      <a:pt x="1087" y="13"/>
                    </a:lnTo>
                    <a:lnTo>
                      <a:pt x="1136" y="26"/>
                    </a:lnTo>
                    <a:lnTo>
                      <a:pt x="1180" y="45"/>
                    </a:lnTo>
                    <a:lnTo>
                      <a:pt x="1219" y="70"/>
                    </a:lnTo>
                    <a:lnTo>
                      <a:pt x="1253" y="100"/>
                    </a:lnTo>
                    <a:lnTo>
                      <a:pt x="1278" y="134"/>
                    </a:lnTo>
                    <a:lnTo>
                      <a:pt x="1297" y="172"/>
                    </a:lnTo>
                    <a:lnTo>
                      <a:pt x="1310" y="214"/>
                    </a:lnTo>
                    <a:lnTo>
                      <a:pt x="1317" y="261"/>
                    </a:lnTo>
                    <a:lnTo>
                      <a:pt x="1314" y="310"/>
                    </a:lnTo>
                    <a:lnTo>
                      <a:pt x="1304" y="359"/>
                    </a:lnTo>
                    <a:lnTo>
                      <a:pt x="1289" y="412"/>
                    </a:lnTo>
                    <a:lnTo>
                      <a:pt x="1265" y="467"/>
                    </a:lnTo>
                    <a:lnTo>
                      <a:pt x="1236" y="520"/>
                    </a:lnTo>
                    <a:lnTo>
                      <a:pt x="1200" y="575"/>
                    </a:lnTo>
                    <a:lnTo>
                      <a:pt x="1157" y="628"/>
                    </a:lnTo>
                    <a:lnTo>
                      <a:pt x="1110" y="681"/>
                    </a:lnTo>
                    <a:lnTo>
                      <a:pt x="1057" y="732"/>
                    </a:lnTo>
                    <a:lnTo>
                      <a:pt x="1000" y="781"/>
                    </a:lnTo>
                    <a:lnTo>
                      <a:pt x="940" y="825"/>
                    </a:lnTo>
                    <a:lnTo>
                      <a:pt x="876" y="868"/>
                    </a:lnTo>
                    <a:lnTo>
                      <a:pt x="810" y="908"/>
                    </a:lnTo>
                    <a:lnTo>
                      <a:pt x="742" y="942"/>
                    </a:lnTo>
                    <a:lnTo>
                      <a:pt x="674" y="971"/>
                    </a:lnTo>
                    <a:lnTo>
                      <a:pt x="604" y="995"/>
                    </a:lnTo>
                    <a:lnTo>
                      <a:pt x="536" y="1016"/>
                    </a:lnTo>
                    <a:lnTo>
                      <a:pt x="470" y="1029"/>
                    </a:lnTo>
                    <a:lnTo>
                      <a:pt x="404" y="1037"/>
                    </a:lnTo>
                    <a:lnTo>
                      <a:pt x="343" y="1041"/>
                    </a:lnTo>
                    <a:lnTo>
                      <a:pt x="283" y="1037"/>
                    </a:lnTo>
                    <a:lnTo>
                      <a:pt x="230" y="1029"/>
                    </a:lnTo>
                    <a:lnTo>
                      <a:pt x="179" y="1016"/>
                    </a:lnTo>
                    <a:lnTo>
                      <a:pt x="134" y="997"/>
                    </a:lnTo>
                    <a:lnTo>
                      <a:pt x="96" y="971"/>
                    </a:lnTo>
                    <a:lnTo>
                      <a:pt x="64" y="942"/>
                    </a:lnTo>
                    <a:lnTo>
                      <a:pt x="37" y="908"/>
                    </a:lnTo>
                    <a:lnTo>
                      <a:pt x="17" y="870"/>
                    </a:lnTo>
                    <a:lnTo>
                      <a:pt x="7" y="827"/>
                    </a:lnTo>
                    <a:lnTo>
                      <a:pt x="0" y="781"/>
                    </a:lnTo>
                    <a:lnTo>
                      <a:pt x="3" y="732"/>
                    </a:lnTo>
                    <a:lnTo>
                      <a:pt x="11" y="681"/>
                    </a:lnTo>
                    <a:lnTo>
                      <a:pt x="28" y="630"/>
                    </a:lnTo>
                    <a:lnTo>
                      <a:pt x="51" y="575"/>
                    </a:lnTo>
                    <a:lnTo>
                      <a:pt x="81" y="522"/>
                    </a:lnTo>
                    <a:lnTo>
                      <a:pt x="117" y="467"/>
                    </a:lnTo>
                    <a:lnTo>
                      <a:pt x="160" y="414"/>
                    </a:lnTo>
                    <a:lnTo>
                      <a:pt x="207" y="361"/>
                    </a:lnTo>
                    <a:lnTo>
                      <a:pt x="260" y="310"/>
                    </a:lnTo>
                    <a:lnTo>
                      <a:pt x="315" y="261"/>
                    </a:lnTo>
                    <a:lnTo>
                      <a:pt x="377" y="216"/>
                    </a:lnTo>
                    <a:lnTo>
                      <a:pt x="441" y="17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88"/>
            <p:cNvGrpSpPr>
              <a:grpSpLocks noChangeAspect="1"/>
            </p:cNvGrpSpPr>
            <p:nvPr/>
          </p:nvGrpSpPr>
          <p:grpSpPr bwMode="auto">
            <a:xfrm>
              <a:off x="6043613" y="1384300"/>
              <a:ext cx="1905000" cy="996950"/>
              <a:chOff x="272" y="1372"/>
              <a:chExt cx="1831" cy="958"/>
            </a:xfrm>
          </p:grpSpPr>
          <p:sp>
            <p:nvSpPr>
              <p:cNvPr id="76853" name="Rectangle 89"/>
              <p:cNvSpPr>
                <a:spLocks noChangeAspect="1" noChangeArrowheads="1"/>
              </p:cNvSpPr>
              <p:nvPr/>
            </p:nvSpPr>
            <p:spPr bwMode="auto">
              <a:xfrm>
                <a:off x="1165" y="1380"/>
                <a:ext cx="10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4</a:t>
                </a:r>
                <a:endParaRPr lang="en-US" altLang="en-US" sz="1600"/>
              </a:p>
            </p:txBody>
          </p:sp>
          <p:sp>
            <p:nvSpPr>
              <p:cNvPr id="76854" name="Freeform 90"/>
              <p:cNvSpPr>
                <a:spLocks noChangeAspect="1"/>
              </p:cNvSpPr>
              <p:nvPr/>
            </p:nvSpPr>
            <p:spPr bwMode="auto">
              <a:xfrm>
                <a:off x="272" y="1372"/>
                <a:ext cx="1831" cy="958"/>
              </a:xfrm>
              <a:custGeom>
                <a:avLst/>
                <a:gdLst>
                  <a:gd name="T0" fmla="*/ 906 w 1831"/>
                  <a:gd name="T1" fmla="*/ 25 h 958"/>
                  <a:gd name="T2" fmla="*/ 1081 w 1831"/>
                  <a:gd name="T3" fmla="*/ 4 h 958"/>
                  <a:gd name="T4" fmla="*/ 1246 w 1831"/>
                  <a:gd name="T5" fmla="*/ 0 h 958"/>
                  <a:gd name="T6" fmla="*/ 1404 w 1831"/>
                  <a:gd name="T7" fmla="*/ 13 h 958"/>
                  <a:gd name="T8" fmla="*/ 1542 w 1831"/>
                  <a:gd name="T9" fmla="*/ 42 h 958"/>
                  <a:gd name="T10" fmla="*/ 1657 w 1831"/>
                  <a:gd name="T11" fmla="*/ 87 h 958"/>
                  <a:gd name="T12" fmla="*/ 1744 w 1831"/>
                  <a:gd name="T13" fmla="*/ 146 h 958"/>
                  <a:gd name="T14" fmla="*/ 1803 w 1831"/>
                  <a:gd name="T15" fmla="*/ 218 h 958"/>
                  <a:gd name="T16" fmla="*/ 1829 w 1831"/>
                  <a:gd name="T17" fmla="*/ 299 h 958"/>
                  <a:gd name="T18" fmla="*/ 1823 w 1831"/>
                  <a:gd name="T19" fmla="*/ 388 h 958"/>
                  <a:gd name="T20" fmla="*/ 1784 w 1831"/>
                  <a:gd name="T21" fmla="*/ 477 h 958"/>
                  <a:gd name="T22" fmla="*/ 1714 w 1831"/>
                  <a:gd name="T23" fmla="*/ 568 h 958"/>
                  <a:gd name="T24" fmla="*/ 1614 w 1831"/>
                  <a:gd name="T25" fmla="*/ 657 h 958"/>
                  <a:gd name="T26" fmla="*/ 1489 w 1831"/>
                  <a:gd name="T27" fmla="*/ 738 h 958"/>
                  <a:gd name="T28" fmla="*/ 1344 w 1831"/>
                  <a:gd name="T29" fmla="*/ 810 h 958"/>
                  <a:gd name="T30" fmla="*/ 1183 w 1831"/>
                  <a:gd name="T31" fmla="*/ 869 h 958"/>
                  <a:gd name="T32" fmla="*/ 1010 w 1831"/>
                  <a:gd name="T33" fmla="*/ 914 h 958"/>
                  <a:gd name="T34" fmla="*/ 838 w 1831"/>
                  <a:gd name="T35" fmla="*/ 946 h 958"/>
                  <a:gd name="T36" fmla="*/ 666 w 1831"/>
                  <a:gd name="T37" fmla="*/ 958 h 958"/>
                  <a:gd name="T38" fmla="*/ 504 w 1831"/>
                  <a:gd name="T39" fmla="*/ 954 h 958"/>
                  <a:gd name="T40" fmla="*/ 356 w 1831"/>
                  <a:gd name="T41" fmla="*/ 933 h 958"/>
                  <a:gd name="T42" fmla="*/ 228 w 1831"/>
                  <a:gd name="T43" fmla="*/ 895 h 958"/>
                  <a:gd name="T44" fmla="*/ 126 w 1831"/>
                  <a:gd name="T45" fmla="*/ 842 h 958"/>
                  <a:gd name="T46" fmla="*/ 51 w 1831"/>
                  <a:gd name="T47" fmla="*/ 776 h 958"/>
                  <a:gd name="T48" fmla="*/ 9 w 1831"/>
                  <a:gd name="T49" fmla="*/ 700 h 958"/>
                  <a:gd name="T50" fmla="*/ 0 w 1831"/>
                  <a:gd name="T51" fmla="*/ 615 h 958"/>
                  <a:gd name="T52" fmla="*/ 22 w 1831"/>
                  <a:gd name="T53" fmla="*/ 524 h 958"/>
                  <a:gd name="T54" fmla="*/ 77 w 1831"/>
                  <a:gd name="T55" fmla="*/ 432 h 958"/>
                  <a:gd name="T56" fmla="*/ 164 w 1831"/>
                  <a:gd name="T57" fmla="*/ 343 h 958"/>
                  <a:gd name="T58" fmla="*/ 277 w 1831"/>
                  <a:gd name="T59" fmla="*/ 259 h 958"/>
                  <a:gd name="T60" fmla="*/ 413 w 1831"/>
                  <a:gd name="T61" fmla="*/ 182 h 958"/>
                  <a:gd name="T62" fmla="*/ 566 w 1831"/>
                  <a:gd name="T63" fmla="*/ 116 h 958"/>
                  <a:gd name="T64" fmla="*/ 732 w 1831"/>
                  <a:gd name="T65" fmla="*/ 63 h 95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31"/>
                  <a:gd name="T100" fmla="*/ 0 h 958"/>
                  <a:gd name="T101" fmla="*/ 1831 w 1831"/>
                  <a:gd name="T102" fmla="*/ 958 h 95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31" h="958">
                    <a:moveTo>
                      <a:pt x="819" y="42"/>
                    </a:moveTo>
                    <a:lnTo>
                      <a:pt x="906" y="25"/>
                    </a:lnTo>
                    <a:lnTo>
                      <a:pt x="993" y="13"/>
                    </a:lnTo>
                    <a:lnTo>
                      <a:pt x="1081" y="4"/>
                    </a:lnTo>
                    <a:lnTo>
                      <a:pt x="1166" y="0"/>
                    </a:lnTo>
                    <a:lnTo>
                      <a:pt x="1246" y="0"/>
                    </a:lnTo>
                    <a:lnTo>
                      <a:pt x="1327" y="4"/>
                    </a:lnTo>
                    <a:lnTo>
                      <a:pt x="1404" y="13"/>
                    </a:lnTo>
                    <a:lnTo>
                      <a:pt x="1474" y="25"/>
                    </a:lnTo>
                    <a:lnTo>
                      <a:pt x="1542" y="42"/>
                    </a:lnTo>
                    <a:lnTo>
                      <a:pt x="1601" y="63"/>
                    </a:lnTo>
                    <a:lnTo>
                      <a:pt x="1657" y="87"/>
                    </a:lnTo>
                    <a:lnTo>
                      <a:pt x="1704" y="116"/>
                    </a:lnTo>
                    <a:lnTo>
                      <a:pt x="1744" y="146"/>
                    </a:lnTo>
                    <a:lnTo>
                      <a:pt x="1778" y="182"/>
                    </a:lnTo>
                    <a:lnTo>
                      <a:pt x="1803" y="218"/>
                    </a:lnTo>
                    <a:lnTo>
                      <a:pt x="1820" y="259"/>
                    </a:lnTo>
                    <a:lnTo>
                      <a:pt x="1829" y="299"/>
                    </a:lnTo>
                    <a:lnTo>
                      <a:pt x="1831" y="343"/>
                    </a:lnTo>
                    <a:lnTo>
                      <a:pt x="1823" y="388"/>
                    </a:lnTo>
                    <a:lnTo>
                      <a:pt x="1808" y="432"/>
                    </a:lnTo>
                    <a:lnTo>
                      <a:pt x="1784" y="477"/>
                    </a:lnTo>
                    <a:lnTo>
                      <a:pt x="1752" y="524"/>
                    </a:lnTo>
                    <a:lnTo>
                      <a:pt x="1714" y="568"/>
                    </a:lnTo>
                    <a:lnTo>
                      <a:pt x="1667" y="613"/>
                    </a:lnTo>
                    <a:lnTo>
                      <a:pt x="1614" y="657"/>
                    </a:lnTo>
                    <a:lnTo>
                      <a:pt x="1555" y="698"/>
                    </a:lnTo>
                    <a:lnTo>
                      <a:pt x="1489" y="738"/>
                    </a:lnTo>
                    <a:lnTo>
                      <a:pt x="1419" y="774"/>
                    </a:lnTo>
                    <a:lnTo>
                      <a:pt x="1344" y="810"/>
                    </a:lnTo>
                    <a:lnTo>
                      <a:pt x="1263" y="842"/>
                    </a:lnTo>
                    <a:lnTo>
                      <a:pt x="1183" y="869"/>
                    </a:lnTo>
                    <a:lnTo>
                      <a:pt x="1098" y="895"/>
                    </a:lnTo>
                    <a:lnTo>
                      <a:pt x="1010" y="914"/>
                    </a:lnTo>
                    <a:lnTo>
                      <a:pt x="925" y="931"/>
                    </a:lnTo>
                    <a:lnTo>
                      <a:pt x="838" y="946"/>
                    </a:lnTo>
                    <a:lnTo>
                      <a:pt x="751" y="954"/>
                    </a:lnTo>
                    <a:lnTo>
                      <a:pt x="666" y="958"/>
                    </a:lnTo>
                    <a:lnTo>
                      <a:pt x="583" y="958"/>
                    </a:lnTo>
                    <a:lnTo>
                      <a:pt x="504" y="954"/>
                    </a:lnTo>
                    <a:lnTo>
                      <a:pt x="428" y="946"/>
                    </a:lnTo>
                    <a:lnTo>
                      <a:pt x="356" y="933"/>
                    </a:lnTo>
                    <a:lnTo>
                      <a:pt x="290" y="916"/>
                    </a:lnTo>
                    <a:lnTo>
                      <a:pt x="228" y="895"/>
                    </a:lnTo>
                    <a:lnTo>
                      <a:pt x="175" y="869"/>
                    </a:lnTo>
                    <a:lnTo>
                      <a:pt x="126" y="842"/>
                    </a:lnTo>
                    <a:lnTo>
                      <a:pt x="86" y="810"/>
                    </a:lnTo>
                    <a:lnTo>
                      <a:pt x="51" y="776"/>
                    </a:lnTo>
                    <a:lnTo>
                      <a:pt x="26" y="738"/>
                    </a:lnTo>
                    <a:lnTo>
                      <a:pt x="9" y="700"/>
                    </a:lnTo>
                    <a:lnTo>
                      <a:pt x="0" y="657"/>
                    </a:lnTo>
                    <a:lnTo>
                      <a:pt x="0" y="615"/>
                    </a:lnTo>
                    <a:lnTo>
                      <a:pt x="7" y="570"/>
                    </a:lnTo>
                    <a:lnTo>
                      <a:pt x="22" y="524"/>
                    </a:lnTo>
                    <a:lnTo>
                      <a:pt x="47" y="479"/>
                    </a:lnTo>
                    <a:lnTo>
                      <a:pt x="77" y="432"/>
                    </a:lnTo>
                    <a:lnTo>
                      <a:pt x="117" y="388"/>
                    </a:lnTo>
                    <a:lnTo>
                      <a:pt x="164" y="343"/>
                    </a:lnTo>
                    <a:lnTo>
                      <a:pt x="217" y="301"/>
                    </a:lnTo>
                    <a:lnTo>
                      <a:pt x="277" y="259"/>
                    </a:lnTo>
                    <a:lnTo>
                      <a:pt x="341" y="220"/>
                    </a:lnTo>
                    <a:lnTo>
                      <a:pt x="413" y="182"/>
                    </a:lnTo>
                    <a:lnTo>
                      <a:pt x="487" y="148"/>
                    </a:lnTo>
                    <a:lnTo>
                      <a:pt x="566" y="116"/>
                    </a:lnTo>
                    <a:lnTo>
                      <a:pt x="649" y="89"/>
                    </a:lnTo>
                    <a:lnTo>
                      <a:pt x="732" y="63"/>
                    </a:lnTo>
                    <a:lnTo>
                      <a:pt x="819" y="4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3" name="Group 122"/>
          <p:cNvGrpSpPr/>
          <p:nvPr/>
        </p:nvGrpSpPr>
        <p:grpSpPr>
          <a:xfrm>
            <a:off x="723900" y="1216025"/>
            <a:ext cx="2628900" cy="2289175"/>
            <a:chOff x="723900" y="1216025"/>
            <a:chExt cx="2595563" cy="2289175"/>
          </a:xfrm>
        </p:grpSpPr>
        <p:grpSp>
          <p:nvGrpSpPr>
            <p:cNvPr id="24" name="Group 91"/>
            <p:cNvGrpSpPr>
              <a:grpSpLocks noChangeAspect="1"/>
            </p:cNvGrpSpPr>
            <p:nvPr/>
          </p:nvGrpSpPr>
          <p:grpSpPr bwMode="auto">
            <a:xfrm>
              <a:off x="1009650" y="1362075"/>
              <a:ext cx="1990725" cy="1806575"/>
              <a:chOff x="471" y="1117"/>
              <a:chExt cx="1935" cy="1755"/>
            </a:xfrm>
          </p:grpSpPr>
          <p:sp>
            <p:nvSpPr>
              <p:cNvPr id="76841" name="Freeform 92"/>
              <p:cNvSpPr>
                <a:spLocks noChangeAspect="1"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7"/>
                  <a:gd name="T53" fmla="*/ 89 w 89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42" name="Freeform 93"/>
              <p:cNvSpPr>
                <a:spLocks noChangeAspect="1"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6"/>
                  <a:gd name="T53" fmla="*/ 89 w 89"/>
                  <a:gd name="T54" fmla="*/ 86 h 8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43" name="Freeform 94"/>
              <p:cNvSpPr>
                <a:spLocks noChangeAspect="1"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8"/>
                  <a:gd name="T53" fmla="*/ 89 w 89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44" name="Freeform 95"/>
              <p:cNvSpPr>
                <a:spLocks noChangeAspect="1"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8"/>
                  <a:gd name="T52" fmla="*/ 0 h 88"/>
                  <a:gd name="T53" fmla="*/ 88 w 88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45" name="Freeform 96"/>
              <p:cNvSpPr>
                <a:spLocks noChangeAspect="1"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8"/>
                  <a:gd name="T52" fmla="*/ 0 h 88"/>
                  <a:gd name="T53" fmla="*/ 88 w 88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46" name="Freeform 97"/>
              <p:cNvSpPr>
                <a:spLocks noChangeAspect="1"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9"/>
                  <a:gd name="T52" fmla="*/ 0 h 89"/>
                  <a:gd name="T53" fmla="*/ 89 w 89"/>
                  <a:gd name="T54" fmla="*/ 89 h 8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47" name="Rectangle 98"/>
              <p:cNvSpPr>
                <a:spLocks noChangeAspect="1" noChangeArrowheads="1"/>
              </p:cNvSpPr>
              <p:nvPr/>
            </p:nvSpPr>
            <p:spPr bwMode="auto">
              <a:xfrm>
                <a:off x="2033" y="1117"/>
                <a:ext cx="98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76848" name="Rectangle 99"/>
              <p:cNvSpPr>
                <a:spLocks noChangeAspect="1" noChangeArrowheads="1"/>
              </p:cNvSpPr>
              <p:nvPr/>
            </p:nvSpPr>
            <p:spPr bwMode="auto">
              <a:xfrm>
                <a:off x="1256" y="1765"/>
                <a:ext cx="99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altLang="en-US" sz="1600"/>
              </a:p>
            </p:txBody>
          </p:sp>
          <p:sp>
            <p:nvSpPr>
              <p:cNvPr id="76849" name="Rectangle 100"/>
              <p:cNvSpPr>
                <a:spLocks noChangeAspect="1" noChangeArrowheads="1"/>
              </p:cNvSpPr>
              <p:nvPr/>
            </p:nvSpPr>
            <p:spPr bwMode="auto">
              <a:xfrm>
                <a:off x="1810" y="2069"/>
                <a:ext cx="99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altLang="en-US" sz="1600"/>
              </a:p>
            </p:txBody>
          </p:sp>
          <p:sp>
            <p:nvSpPr>
              <p:cNvPr id="76850" name="Rectangle 101"/>
              <p:cNvSpPr>
                <a:spLocks noChangeAspect="1" noChangeArrowheads="1"/>
              </p:cNvSpPr>
              <p:nvPr/>
            </p:nvSpPr>
            <p:spPr bwMode="auto">
              <a:xfrm>
                <a:off x="1422" y="2635"/>
                <a:ext cx="98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altLang="en-US" sz="1600"/>
              </a:p>
            </p:txBody>
          </p:sp>
          <p:sp>
            <p:nvSpPr>
              <p:cNvPr id="76851" name="Rectangle 102"/>
              <p:cNvSpPr>
                <a:spLocks noChangeAspect="1" noChangeArrowheads="1"/>
              </p:cNvSpPr>
              <p:nvPr/>
            </p:nvSpPr>
            <p:spPr bwMode="auto">
              <a:xfrm>
                <a:off x="648" y="1626"/>
                <a:ext cx="99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altLang="en-US" sz="1600"/>
              </a:p>
            </p:txBody>
          </p:sp>
          <p:sp>
            <p:nvSpPr>
              <p:cNvPr id="76852" name="Rectangle 103"/>
              <p:cNvSpPr>
                <a:spLocks noChangeAspect="1" noChangeArrowheads="1"/>
              </p:cNvSpPr>
              <p:nvPr/>
            </p:nvSpPr>
            <p:spPr bwMode="auto">
              <a:xfrm>
                <a:off x="2307" y="2126"/>
                <a:ext cx="99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altLang="en-US" sz="1600"/>
              </a:p>
            </p:txBody>
          </p:sp>
        </p:grpSp>
        <p:grpSp>
          <p:nvGrpSpPr>
            <p:cNvPr id="25" name="Group 104"/>
            <p:cNvGrpSpPr>
              <a:grpSpLocks noChangeAspect="1"/>
            </p:cNvGrpSpPr>
            <p:nvPr/>
          </p:nvGrpSpPr>
          <p:grpSpPr bwMode="auto">
            <a:xfrm>
              <a:off x="2141538" y="2070100"/>
              <a:ext cx="923925" cy="592138"/>
              <a:chOff x="1572" y="1805"/>
              <a:chExt cx="897" cy="575"/>
            </a:xfrm>
          </p:grpSpPr>
          <p:sp>
            <p:nvSpPr>
              <p:cNvPr id="76839" name="Freeform 105"/>
              <p:cNvSpPr>
                <a:spLocks noChangeAspect="1"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97"/>
                  <a:gd name="T142" fmla="*/ 0 h 375"/>
                  <a:gd name="T143" fmla="*/ 897 w 897"/>
                  <a:gd name="T144" fmla="*/ 375 h 375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40" name="Rectangle 106"/>
              <p:cNvSpPr>
                <a:spLocks noChangeAspect="1" noChangeArrowheads="1"/>
              </p:cNvSpPr>
              <p:nvPr/>
            </p:nvSpPr>
            <p:spPr bwMode="auto">
              <a:xfrm>
                <a:off x="1943" y="1805"/>
                <a:ext cx="110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1</a:t>
                </a:r>
                <a:endParaRPr lang="en-US" altLang="en-US" sz="1600"/>
              </a:p>
            </p:txBody>
          </p:sp>
        </p:grpSp>
        <p:grpSp>
          <p:nvGrpSpPr>
            <p:cNvPr id="26" name="Group 107"/>
            <p:cNvGrpSpPr>
              <a:grpSpLocks noChangeAspect="1"/>
            </p:cNvGrpSpPr>
            <p:nvPr/>
          </p:nvGrpSpPr>
          <p:grpSpPr bwMode="auto">
            <a:xfrm>
              <a:off x="865188" y="1825625"/>
              <a:ext cx="1125537" cy="742950"/>
              <a:chOff x="332" y="1568"/>
              <a:chExt cx="1093" cy="721"/>
            </a:xfrm>
          </p:grpSpPr>
          <p:sp>
            <p:nvSpPr>
              <p:cNvPr id="76837" name="Freeform 108"/>
              <p:cNvSpPr>
                <a:spLocks noChangeAspect="1"/>
              </p:cNvSpPr>
              <p:nvPr/>
            </p:nvSpPr>
            <p:spPr bwMode="auto">
              <a:xfrm>
                <a:off x="332" y="1568"/>
                <a:ext cx="1093" cy="497"/>
              </a:xfrm>
              <a:custGeom>
                <a:avLst/>
                <a:gdLst>
                  <a:gd name="T0" fmla="*/ 547 w 1093"/>
                  <a:gd name="T1" fmla="*/ 0 h 497"/>
                  <a:gd name="T2" fmla="*/ 615 w 1093"/>
                  <a:gd name="T3" fmla="*/ 3 h 497"/>
                  <a:gd name="T4" fmla="*/ 684 w 1093"/>
                  <a:gd name="T5" fmla="*/ 7 h 497"/>
                  <a:gd name="T6" fmla="*/ 749 w 1093"/>
                  <a:gd name="T7" fmla="*/ 18 h 497"/>
                  <a:gd name="T8" fmla="*/ 811 w 1093"/>
                  <a:gd name="T9" fmla="*/ 31 h 497"/>
                  <a:gd name="T10" fmla="*/ 868 w 1093"/>
                  <a:gd name="T11" fmla="*/ 48 h 497"/>
                  <a:gd name="T12" fmla="*/ 922 w 1093"/>
                  <a:gd name="T13" fmla="*/ 67 h 497"/>
                  <a:gd name="T14" fmla="*/ 969 w 1093"/>
                  <a:gd name="T15" fmla="*/ 91 h 497"/>
                  <a:gd name="T16" fmla="*/ 1008 w 1093"/>
                  <a:gd name="T17" fmla="*/ 115 h 497"/>
                  <a:gd name="T18" fmla="*/ 1043 w 1093"/>
                  <a:gd name="T19" fmla="*/ 143 h 497"/>
                  <a:gd name="T20" fmla="*/ 1067 w 1093"/>
                  <a:gd name="T21" fmla="*/ 171 h 497"/>
                  <a:gd name="T22" fmla="*/ 1084 w 1093"/>
                  <a:gd name="T23" fmla="*/ 201 h 497"/>
                  <a:gd name="T24" fmla="*/ 1093 w 1093"/>
                  <a:gd name="T25" fmla="*/ 234 h 497"/>
                  <a:gd name="T26" fmla="*/ 1093 w 1093"/>
                  <a:gd name="T27" fmla="*/ 264 h 497"/>
                  <a:gd name="T28" fmla="*/ 1084 w 1093"/>
                  <a:gd name="T29" fmla="*/ 294 h 497"/>
                  <a:gd name="T30" fmla="*/ 1067 w 1093"/>
                  <a:gd name="T31" fmla="*/ 324 h 497"/>
                  <a:gd name="T32" fmla="*/ 1043 w 1093"/>
                  <a:gd name="T33" fmla="*/ 354 h 497"/>
                  <a:gd name="T34" fmla="*/ 1008 w 1093"/>
                  <a:gd name="T35" fmla="*/ 383 h 497"/>
                  <a:gd name="T36" fmla="*/ 969 w 1093"/>
                  <a:gd name="T37" fmla="*/ 406 h 497"/>
                  <a:gd name="T38" fmla="*/ 922 w 1093"/>
                  <a:gd name="T39" fmla="*/ 430 h 497"/>
                  <a:gd name="T40" fmla="*/ 868 w 1093"/>
                  <a:gd name="T41" fmla="*/ 449 h 497"/>
                  <a:gd name="T42" fmla="*/ 811 w 1093"/>
                  <a:gd name="T43" fmla="*/ 467 h 497"/>
                  <a:gd name="T44" fmla="*/ 749 w 1093"/>
                  <a:gd name="T45" fmla="*/ 480 h 497"/>
                  <a:gd name="T46" fmla="*/ 684 w 1093"/>
                  <a:gd name="T47" fmla="*/ 488 h 497"/>
                  <a:gd name="T48" fmla="*/ 615 w 1093"/>
                  <a:gd name="T49" fmla="*/ 495 h 497"/>
                  <a:gd name="T50" fmla="*/ 547 w 1093"/>
                  <a:gd name="T51" fmla="*/ 497 h 497"/>
                  <a:gd name="T52" fmla="*/ 478 w 1093"/>
                  <a:gd name="T53" fmla="*/ 495 h 497"/>
                  <a:gd name="T54" fmla="*/ 411 w 1093"/>
                  <a:gd name="T55" fmla="*/ 488 h 497"/>
                  <a:gd name="T56" fmla="*/ 346 w 1093"/>
                  <a:gd name="T57" fmla="*/ 480 h 497"/>
                  <a:gd name="T58" fmla="*/ 284 w 1093"/>
                  <a:gd name="T59" fmla="*/ 467 h 497"/>
                  <a:gd name="T60" fmla="*/ 225 w 1093"/>
                  <a:gd name="T61" fmla="*/ 449 h 497"/>
                  <a:gd name="T62" fmla="*/ 173 w 1093"/>
                  <a:gd name="T63" fmla="*/ 430 h 497"/>
                  <a:gd name="T64" fmla="*/ 126 w 1093"/>
                  <a:gd name="T65" fmla="*/ 406 h 497"/>
                  <a:gd name="T66" fmla="*/ 85 w 1093"/>
                  <a:gd name="T67" fmla="*/ 383 h 497"/>
                  <a:gd name="T68" fmla="*/ 52 w 1093"/>
                  <a:gd name="T69" fmla="*/ 354 h 497"/>
                  <a:gd name="T70" fmla="*/ 26 w 1093"/>
                  <a:gd name="T71" fmla="*/ 324 h 497"/>
                  <a:gd name="T72" fmla="*/ 9 w 1093"/>
                  <a:gd name="T73" fmla="*/ 294 h 497"/>
                  <a:gd name="T74" fmla="*/ 0 w 1093"/>
                  <a:gd name="T75" fmla="*/ 264 h 497"/>
                  <a:gd name="T76" fmla="*/ 0 w 1093"/>
                  <a:gd name="T77" fmla="*/ 234 h 497"/>
                  <a:gd name="T78" fmla="*/ 9 w 1093"/>
                  <a:gd name="T79" fmla="*/ 201 h 497"/>
                  <a:gd name="T80" fmla="*/ 26 w 1093"/>
                  <a:gd name="T81" fmla="*/ 171 h 497"/>
                  <a:gd name="T82" fmla="*/ 52 w 1093"/>
                  <a:gd name="T83" fmla="*/ 143 h 497"/>
                  <a:gd name="T84" fmla="*/ 85 w 1093"/>
                  <a:gd name="T85" fmla="*/ 115 h 497"/>
                  <a:gd name="T86" fmla="*/ 126 w 1093"/>
                  <a:gd name="T87" fmla="*/ 91 h 497"/>
                  <a:gd name="T88" fmla="*/ 173 w 1093"/>
                  <a:gd name="T89" fmla="*/ 67 h 497"/>
                  <a:gd name="T90" fmla="*/ 225 w 1093"/>
                  <a:gd name="T91" fmla="*/ 48 h 497"/>
                  <a:gd name="T92" fmla="*/ 284 w 1093"/>
                  <a:gd name="T93" fmla="*/ 31 h 497"/>
                  <a:gd name="T94" fmla="*/ 346 w 1093"/>
                  <a:gd name="T95" fmla="*/ 18 h 497"/>
                  <a:gd name="T96" fmla="*/ 411 w 1093"/>
                  <a:gd name="T97" fmla="*/ 7 h 497"/>
                  <a:gd name="T98" fmla="*/ 478 w 1093"/>
                  <a:gd name="T99" fmla="*/ 3 h 497"/>
                  <a:gd name="T100" fmla="*/ 547 w 1093"/>
                  <a:gd name="T101" fmla="*/ 0 h 49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093"/>
                  <a:gd name="T154" fmla="*/ 0 h 497"/>
                  <a:gd name="T155" fmla="*/ 1093 w 1093"/>
                  <a:gd name="T156" fmla="*/ 497 h 497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093" h="497">
                    <a:moveTo>
                      <a:pt x="547" y="0"/>
                    </a:moveTo>
                    <a:lnTo>
                      <a:pt x="615" y="3"/>
                    </a:lnTo>
                    <a:lnTo>
                      <a:pt x="684" y="7"/>
                    </a:lnTo>
                    <a:lnTo>
                      <a:pt x="749" y="18"/>
                    </a:lnTo>
                    <a:lnTo>
                      <a:pt x="811" y="31"/>
                    </a:lnTo>
                    <a:lnTo>
                      <a:pt x="868" y="48"/>
                    </a:lnTo>
                    <a:lnTo>
                      <a:pt x="922" y="67"/>
                    </a:lnTo>
                    <a:lnTo>
                      <a:pt x="969" y="91"/>
                    </a:lnTo>
                    <a:lnTo>
                      <a:pt x="1008" y="115"/>
                    </a:lnTo>
                    <a:lnTo>
                      <a:pt x="1043" y="143"/>
                    </a:lnTo>
                    <a:lnTo>
                      <a:pt x="1067" y="171"/>
                    </a:lnTo>
                    <a:lnTo>
                      <a:pt x="1084" y="201"/>
                    </a:lnTo>
                    <a:lnTo>
                      <a:pt x="1093" y="234"/>
                    </a:lnTo>
                    <a:lnTo>
                      <a:pt x="1093" y="264"/>
                    </a:lnTo>
                    <a:lnTo>
                      <a:pt x="1084" y="294"/>
                    </a:lnTo>
                    <a:lnTo>
                      <a:pt x="1067" y="324"/>
                    </a:lnTo>
                    <a:lnTo>
                      <a:pt x="1043" y="354"/>
                    </a:lnTo>
                    <a:lnTo>
                      <a:pt x="1008" y="383"/>
                    </a:lnTo>
                    <a:lnTo>
                      <a:pt x="969" y="406"/>
                    </a:lnTo>
                    <a:lnTo>
                      <a:pt x="922" y="430"/>
                    </a:lnTo>
                    <a:lnTo>
                      <a:pt x="868" y="449"/>
                    </a:lnTo>
                    <a:lnTo>
                      <a:pt x="811" y="467"/>
                    </a:lnTo>
                    <a:lnTo>
                      <a:pt x="749" y="480"/>
                    </a:lnTo>
                    <a:lnTo>
                      <a:pt x="684" y="488"/>
                    </a:lnTo>
                    <a:lnTo>
                      <a:pt x="615" y="495"/>
                    </a:lnTo>
                    <a:lnTo>
                      <a:pt x="547" y="497"/>
                    </a:lnTo>
                    <a:lnTo>
                      <a:pt x="478" y="495"/>
                    </a:lnTo>
                    <a:lnTo>
                      <a:pt x="411" y="488"/>
                    </a:lnTo>
                    <a:lnTo>
                      <a:pt x="346" y="480"/>
                    </a:lnTo>
                    <a:lnTo>
                      <a:pt x="284" y="467"/>
                    </a:lnTo>
                    <a:lnTo>
                      <a:pt x="225" y="449"/>
                    </a:lnTo>
                    <a:lnTo>
                      <a:pt x="173" y="430"/>
                    </a:lnTo>
                    <a:lnTo>
                      <a:pt x="126" y="406"/>
                    </a:lnTo>
                    <a:lnTo>
                      <a:pt x="85" y="383"/>
                    </a:lnTo>
                    <a:lnTo>
                      <a:pt x="52" y="354"/>
                    </a:lnTo>
                    <a:lnTo>
                      <a:pt x="26" y="324"/>
                    </a:lnTo>
                    <a:lnTo>
                      <a:pt x="9" y="294"/>
                    </a:lnTo>
                    <a:lnTo>
                      <a:pt x="0" y="264"/>
                    </a:lnTo>
                    <a:lnTo>
                      <a:pt x="0" y="234"/>
                    </a:lnTo>
                    <a:lnTo>
                      <a:pt x="9" y="201"/>
                    </a:lnTo>
                    <a:lnTo>
                      <a:pt x="26" y="171"/>
                    </a:lnTo>
                    <a:lnTo>
                      <a:pt x="52" y="143"/>
                    </a:lnTo>
                    <a:lnTo>
                      <a:pt x="85" y="115"/>
                    </a:lnTo>
                    <a:lnTo>
                      <a:pt x="126" y="91"/>
                    </a:lnTo>
                    <a:lnTo>
                      <a:pt x="173" y="67"/>
                    </a:lnTo>
                    <a:lnTo>
                      <a:pt x="225" y="48"/>
                    </a:lnTo>
                    <a:lnTo>
                      <a:pt x="284" y="31"/>
                    </a:lnTo>
                    <a:lnTo>
                      <a:pt x="346" y="18"/>
                    </a:lnTo>
                    <a:lnTo>
                      <a:pt x="411" y="7"/>
                    </a:lnTo>
                    <a:lnTo>
                      <a:pt x="478" y="3"/>
                    </a:lnTo>
                    <a:lnTo>
                      <a:pt x="54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38" name="Rectangle 109"/>
              <p:cNvSpPr>
                <a:spLocks noChangeAspect="1" noChangeArrowheads="1"/>
              </p:cNvSpPr>
              <p:nvPr/>
            </p:nvSpPr>
            <p:spPr bwMode="auto">
              <a:xfrm>
                <a:off x="949" y="2052"/>
                <a:ext cx="109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2</a:t>
                </a:r>
                <a:endParaRPr lang="en-US" altLang="en-US" sz="1600"/>
              </a:p>
            </p:txBody>
          </p:sp>
        </p:grpSp>
        <p:grpSp>
          <p:nvGrpSpPr>
            <p:cNvPr id="27" name="Group 110"/>
            <p:cNvGrpSpPr>
              <a:grpSpLocks noChangeAspect="1"/>
            </p:cNvGrpSpPr>
            <p:nvPr/>
          </p:nvGrpSpPr>
          <p:grpSpPr bwMode="auto">
            <a:xfrm>
              <a:off x="812800" y="1555750"/>
              <a:ext cx="2382838" cy="1358900"/>
              <a:chOff x="280" y="1305"/>
              <a:chExt cx="2315" cy="1321"/>
            </a:xfrm>
          </p:grpSpPr>
          <p:sp>
            <p:nvSpPr>
              <p:cNvPr id="76835" name="Freeform 111"/>
              <p:cNvSpPr>
                <a:spLocks noChangeAspect="1"/>
              </p:cNvSpPr>
              <p:nvPr/>
            </p:nvSpPr>
            <p:spPr bwMode="auto">
              <a:xfrm>
                <a:off x="280" y="1314"/>
                <a:ext cx="2315" cy="1312"/>
              </a:xfrm>
              <a:custGeom>
                <a:avLst/>
                <a:gdLst>
                  <a:gd name="T0" fmla="*/ 1326 w 2315"/>
                  <a:gd name="T1" fmla="*/ 23 h 1312"/>
                  <a:gd name="T2" fmla="*/ 1519 w 2315"/>
                  <a:gd name="T3" fmla="*/ 64 h 1312"/>
                  <a:gd name="T4" fmla="*/ 1698 w 2315"/>
                  <a:gd name="T5" fmla="*/ 121 h 1312"/>
                  <a:gd name="T6" fmla="*/ 1865 w 2315"/>
                  <a:gd name="T7" fmla="*/ 194 h 1312"/>
                  <a:gd name="T8" fmla="*/ 2008 w 2315"/>
                  <a:gd name="T9" fmla="*/ 278 h 1312"/>
                  <a:gd name="T10" fmla="*/ 2129 w 2315"/>
                  <a:gd name="T11" fmla="*/ 375 h 1312"/>
                  <a:gd name="T12" fmla="*/ 2222 w 2315"/>
                  <a:gd name="T13" fmla="*/ 479 h 1312"/>
                  <a:gd name="T14" fmla="*/ 2282 w 2315"/>
                  <a:gd name="T15" fmla="*/ 589 h 1312"/>
                  <a:gd name="T16" fmla="*/ 2313 w 2315"/>
                  <a:gd name="T17" fmla="*/ 699 h 1312"/>
                  <a:gd name="T18" fmla="*/ 2308 w 2315"/>
                  <a:gd name="T19" fmla="*/ 809 h 1312"/>
                  <a:gd name="T20" fmla="*/ 2272 w 2315"/>
                  <a:gd name="T21" fmla="*/ 915 h 1312"/>
                  <a:gd name="T22" fmla="*/ 2202 w 2315"/>
                  <a:gd name="T23" fmla="*/ 1014 h 1312"/>
                  <a:gd name="T24" fmla="*/ 2105 w 2315"/>
                  <a:gd name="T25" fmla="*/ 1101 h 1312"/>
                  <a:gd name="T26" fmla="*/ 1977 w 2315"/>
                  <a:gd name="T27" fmla="*/ 1176 h 1312"/>
                  <a:gd name="T28" fmla="*/ 1828 w 2315"/>
                  <a:gd name="T29" fmla="*/ 1237 h 1312"/>
                  <a:gd name="T30" fmla="*/ 1659 w 2315"/>
                  <a:gd name="T31" fmla="*/ 1280 h 1312"/>
                  <a:gd name="T32" fmla="*/ 1476 w 2315"/>
                  <a:gd name="T33" fmla="*/ 1306 h 1312"/>
                  <a:gd name="T34" fmla="*/ 1283 w 2315"/>
                  <a:gd name="T35" fmla="*/ 1312 h 1312"/>
                  <a:gd name="T36" fmla="*/ 1086 w 2315"/>
                  <a:gd name="T37" fmla="*/ 1299 h 1312"/>
                  <a:gd name="T38" fmla="*/ 894 w 2315"/>
                  <a:gd name="T39" fmla="*/ 1269 h 1312"/>
                  <a:gd name="T40" fmla="*/ 705 w 2315"/>
                  <a:gd name="T41" fmla="*/ 1220 h 1312"/>
                  <a:gd name="T42" fmla="*/ 532 w 2315"/>
                  <a:gd name="T43" fmla="*/ 1155 h 1312"/>
                  <a:gd name="T44" fmla="*/ 377 w 2315"/>
                  <a:gd name="T45" fmla="*/ 1077 h 1312"/>
                  <a:gd name="T46" fmla="*/ 245 w 2315"/>
                  <a:gd name="T47" fmla="*/ 984 h 1312"/>
                  <a:gd name="T48" fmla="*/ 137 w 2315"/>
                  <a:gd name="T49" fmla="*/ 885 h 1312"/>
                  <a:gd name="T50" fmla="*/ 61 w 2315"/>
                  <a:gd name="T51" fmla="*/ 777 h 1312"/>
                  <a:gd name="T52" fmla="*/ 13 w 2315"/>
                  <a:gd name="T53" fmla="*/ 667 h 1312"/>
                  <a:gd name="T54" fmla="*/ 0 w 2315"/>
                  <a:gd name="T55" fmla="*/ 555 h 1312"/>
                  <a:gd name="T56" fmla="*/ 22 w 2315"/>
                  <a:gd name="T57" fmla="*/ 447 h 1312"/>
                  <a:gd name="T58" fmla="*/ 74 w 2315"/>
                  <a:gd name="T59" fmla="*/ 345 h 1312"/>
                  <a:gd name="T60" fmla="*/ 158 w 2315"/>
                  <a:gd name="T61" fmla="*/ 252 h 1312"/>
                  <a:gd name="T62" fmla="*/ 273 w 2315"/>
                  <a:gd name="T63" fmla="*/ 170 h 1312"/>
                  <a:gd name="T64" fmla="*/ 411 w 2315"/>
                  <a:gd name="T65" fmla="*/ 103 h 1312"/>
                  <a:gd name="T66" fmla="*/ 571 w 2315"/>
                  <a:gd name="T67" fmla="*/ 49 h 1312"/>
                  <a:gd name="T68" fmla="*/ 747 w 2315"/>
                  <a:gd name="T69" fmla="*/ 17 h 1312"/>
                  <a:gd name="T70" fmla="*/ 937 w 2315"/>
                  <a:gd name="T71" fmla="*/ 0 h 1312"/>
                  <a:gd name="T72" fmla="*/ 1132 w 2315"/>
                  <a:gd name="T73" fmla="*/ 2 h 131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15"/>
                  <a:gd name="T112" fmla="*/ 0 h 1312"/>
                  <a:gd name="T113" fmla="*/ 2315 w 2315"/>
                  <a:gd name="T114" fmla="*/ 1312 h 131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15" h="1312">
                    <a:moveTo>
                      <a:pt x="1229" y="10"/>
                    </a:moveTo>
                    <a:lnTo>
                      <a:pt x="1326" y="23"/>
                    </a:lnTo>
                    <a:lnTo>
                      <a:pt x="1424" y="43"/>
                    </a:lnTo>
                    <a:lnTo>
                      <a:pt x="1519" y="64"/>
                    </a:lnTo>
                    <a:lnTo>
                      <a:pt x="1610" y="90"/>
                    </a:lnTo>
                    <a:lnTo>
                      <a:pt x="1698" y="121"/>
                    </a:lnTo>
                    <a:lnTo>
                      <a:pt x="1783" y="155"/>
                    </a:lnTo>
                    <a:lnTo>
                      <a:pt x="1865" y="194"/>
                    </a:lnTo>
                    <a:lnTo>
                      <a:pt x="1938" y="235"/>
                    </a:lnTo>
                    <a:lnTo>
                      <a:pt x="2008" y="278"/>
                    </a:lnTo>
                    <a:lnTo>
                      <a:pt x="2073" y="326"/>
                    </a:lnTo>
                    <a:lnTo>
                      <a:pt x="2129" y="375"/>
                    </a:lnTo>
                    <a:lnTo>
                      <a:pt x="2179" y="425"/>
                    </a:lnTo>
                    <a:lnTo>
                      <a:pt x="2222" y="479"/>
                    </a:lnTo>
                    <a:lnTo>
                      <a:pt x="2256" y="533"/>
                    </a:lnTo>
                    <a:lnTo>
                      <a:pt x="2282" y="589"/>
                    </a:lnTo>
                    <a:lnTo>
                      <a:pt x="2302" y="643"/>
                    </a:lnTo>
                    <a:lnTo>
                      <a:pt x="2313" y="699"/>
                    </a:lnTo>
                    <a:lnTo>
                      <a:pt x="2315" y="755"/>
                    </a:lnTo>
                    <a:lnTo>
                      <a:pt x="2308" y="809"/>
                    </a:lnTo>
                    <a:lnTo>
                      <a:pt x="2295" y="863"/>
                    </a:lnTo>
                    <a:lnTo>
                      <a:pt x="2272" y="915"/>
                    </a:lnTo>
                    <a:lnTo>
                      <a:pt x="2241" y="965"/>
                    </a:lnTo>
                    <a:lnTo>
                      <a:pt x="2202" y="1014"/>
                    </a:lnTo>
                    <a:lnTo>
                      <a:pt x="2157" y="1060"/>
                    </a:lnTo>
                    <a:lnTo>
                      <a:pt x="2105" y="1101"/>
                    </a:lnTo>
                    <a:lnTo>
                      <a:pt x="2044" y="1140"/>
                    </a:lnTo>
                    <a:lnTo>
                      <a:pt x="1977" y="1176"/>
                    </a:lnTo>
                    <a:lnTo>
                      <a:pt x="1906" y="1209"/>
                    </a:lnTo>
                    <a:lnTo>
                      <a:pt x="1828" y="1237"/>
                    </a:lnTo>
                    <a:lnTo>
                      <a:pt x="1746" y="1261"/>
                    </a:lnTo>
                    <a:lnTo>
                      <a:pt x="1659" y="1280"/>
                    </a:lnTo>
                    <a:lnTo>
                      <a:pt x="1569" y="1295"/>
                    </a:lnTo>
                    <a:lnTo>
                      <a:pt x="1476" y="1306"/>
                    </a:lnTo>
                    <a:lnTo>
                      <a:pt x="1380" y="1310"/>
                    </a:lnTo>
                    <a:lnTo>
                      <a:pt x="1283" y="1312"/>
                    </a:lnTo>
                    <a:lnTo>
                      <a:pt x="1186" y="1308"/>
                    </a:lnTo>
                    <a:lnTo>
                      <a:pt x="1086" y="1299"/>
                    </a:lnTo>
                    <a:lnTo>
                      <a:pt x="989" y="1286"/>
                    </a:lnTo>
                    <a:lnTo>
                      <a:pt x="894" y="1269"/>
                    </a:lnTo>
                    <a:lnTo>
                      <a:pt x="798" y="1245"/>
                    </a:lnTo>
                    <a:lnTo>
                      <a:pt x="705" y="1220"/>
                    </a:lnTo>
                    <a:lnTo>
                      <a:pt x="617" y="1189"/>
                    </a:lnTo>
                    <a:lnTo>
                      <a:pt x="532" y="1155"/>
                    </a:lnTo>
                    <a:lnTo>
                      <a:pt x="452" y="1118"/>
                    </a:lnTo>
                    <a:lnTo>
                      <a:pt x="377" y="1077"/>
                    </a:lnTo>
                    <a:lnTo>
                      <a:pt x="307" y="1032"/>
                    </a:lnTo>
                    <a:lnTo>
                      <a:pt x="245" y="984"/>
                    </a:lnTo>
                    <a:lnTo>
                      <a:pt x="186" y="937"/>
                    </a:lnTo>
                    <a:lnTo>
                      <a:pt x="137" y="885"/>
                    </a:lnTo>
                    <a:lnTo>
                      <a:pt x="95" y="831"/>
                    </a:lnTo>
                    <a:lnTo>
                      <a:pt x="61" y="777"/>
                    </a:lnTo>
                    <a:lnTo>
                      <a:pt x="33" y="723"/>
                    </a:lnTo>
                    <a:lnTo>
                      <a:pt x="13" y="667"/>
                    </a:lnTo>
                    <a:lnTo>
                      <a:pt x="5" y="611"/>
                    </a:lnTo>
                    <a:lnTo>
                      <a:pt x="0" y="555"/>
                    </a:lnTo>
                    <a:lnTo>
                      <a:pt x="7" y="501"/>
                    </a:lnTo>
                    <a:lnTo>
                      <a:pt x="22" y="447"/>
                    </a:lnTo>
                    <a:lnTo>
                      <a:pt x="44" y="395"/>
                    </a:lnTo>
                    <a:lnTo>
                      <a:pt x="74" y="345"/>
                    </a:lnTo>
                    <a:lnTo>
                      <a:pt x="113" y="298"/>
                    </a:lnTo>
                    <a:lnTo>
                      <a:pt x="158" y="252"/>
                    </a:lnTo>
                    <a:lnTo>
                      <a:pt x="212" y="209"/>
                    </a:lnTo>
                    <a:lnTo>
                      <a:pt x="273" y="170"/>
                    </a:lnTo>
                    <a:lnTo>
                      <a:pt x="338" y="133"/>
                    </a:lnTo>
                    <a:lnTo>
                      <a:pt x="411" y="103"/>
                    </a:lnTo>
                    <a:lnTo>
                      <a:pt x="489" y="75"/>
                    </a:lnTo>
                    <a:lnTo>
                      <a:pt x="571" y="49"/>
                    </a:lnTo>
                    <a:lnTo>
                      <a:pt x="658" y="30"/>
                    </a:lnTo>
                    <a:lnTo>
                      <a:pt x="747" y="17"/>
                    </a:lnTo>
                    <a:lnTo>
                      <a:pt x="840" y="6"/>
                    </a:lnTo>
                    <a:lnTo>
                      <a:pt x="937" y="0"/>
                    </a:lnTo>
                    <a:lnTo>
                      <a:pt x="1034" y="0"/>
                    </a:lnTo>
                    <a:lnTo>
                      <a:pt x="1132" y="2"/>
                    </a:lnTo>
                    <a:lnTo>
                      <a:pt x="1229" y="1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36" name="Rectangle 112"/>
              <p:cNvSpPr>
                <a:spLocks noChangeAspect="1" noChangeArrowheads="1"/>
              </p:cNvSpPr>
              <p:nvPr/>
            </p:nvSpPr>
            <p:spPr bwMode="auto">
              <a:xfrm>
                <a:off x="1390" y="1305"/>
                <a:ext cx="110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3</a:t>
                </a:r>
                <a:endParaRPr lang="en-US" altLang="en-US" sz="1600"/>
              </a:p>
            </p:txBody>
          </p:sp>
        </p:grpSp>
        <p:grpSp>
          <p:nvGrpSpPr>
            <p:cNvPr id="28" name="Group 113"/>
            <p:cNvGrpSpPr>
              <a:grpSpLocks noChangeAspect="1"/>
            </p:cNvGrpSpPr>
            <p:nvPr/>
          </p:nvGrpSpPr>
          <p:grpSpPr bwMode="auto">
            <a:xfrm>
              <a:off x="771525" y="1477963"/>
              <a:ext cx="2462213" cy="1887537"/>
              <a:chOff x="241" y="1229"/>
              <a:chExt cx="2391" cy="1834"/>
            </a:xfrm>
          </p:grpSpPr>
          <p:sp>
            <p:nvSpPr>
              <p:cNvPr id="76833" name="Freeform 114"/>
              <p:cNvSpPr>
                <a:spLocks noChangeAspect="1"/>
              </p:cNvSpPr>
              <p:nvPr/>
            </p:nvSpPr>
            <p:spPr bwMode="auto">
              <a:xfrm>
                <a:off x="241" y="1229"/>
                <a:ext cx="2391" cy="1611"/>
              </a:xfrm>
              <a:custGeom>
                <a:avLst/>
                <a:gdLst>
                  <a:gd name="T0" fmla="*/ 1385 w 2391"/>
                  <a:gd name="T1" fmla="*/ 24 h 1611"/>
                  <a:gd name="T2" fmla="*/ 1582 w 2391"/>
                  <a:gd name="T3" fmla="*/ 69 h 1611"/>
                  <a:gd name="T4" fmla="*/ 1768 w 2391"/>
                  <a:gd name="T5" fmla="*/ 136 h 1611"/>
                  <a:gd name="T6" fmla="*/ 1936 w 2391"/>
                  <a:gd name="T7" fmla="*/ 221 h 1611"/>
                  <a:gd name="T8" fmla="*/ 2083 w 2391"/>
                  <a:gd name="T9" fmla="*/ 322 h 1611"/>
                  <a:gd name="T10" fmla="*/ 2207 w 2391"/>
                  <a:gd name="T11" fmla="*/ 439 h 1611"/>
                  <a:gd name="T12" fmla="*/ 2300 w 2391"/>
                  <a:gd name="T13" fmla="*/ 566 h 1611"/>
                  <a:gd name="T14" fmla="*/ 2360 w 2391"/>
                  <a:gd name="T15" fmla="*/ 698 h 1611"/>
                  <a:gd name="T16" fmla="*/ 2388 w 2391"/>
                  <a:gd name="T17" fmla="*/ 836 h 1611"/>
                  <a:gd name="T18" fmla="*/ 2382 w 2391"/>
                  <a:gd name="T19" fmla="*/ 970 h 1611"/>
                  <a:gd name="T20" fmla="*/ 2343 w 2391"/>
                  <a:gd name="T21" fmla="*/ 1102 h 1611"/>
                  <a:gd name="T22" fmla="*/ 2270 w 2391"/>
                  <a:gd name="T23" fmla="*/ 1225 h 1611"/>
                  <a:gd name="T24" fmla="*/ 2166 w 2391"/>
                  <a:gd name="T25" fmla="*/ 1335 h 1611"/>
                  <a:gd name="T26" fmla="*/ 2032 w 2391"/>
                  <a:gd name="T27" fmla="*/ 1430 h 1611"/>
                  <a:gd name="T28" fmla="*/ 1876 w 2391"/>
                  <a:gd name="T29" fmla="*/ 1508 h 1611"/>
                  <a:gd name="T30" fmla="*/ 1701 w 2391"/>
                  <a:gd name="T31" fmla="*/ 1564 h 1611"/>
                  <a:gd name="T32" fmla="*/ 1510 w 2391"/>
                  <a:gd name="T33" fmla="*/ 1598 h 1611"/>
                  <a:gd name="T34" fmla="*/ 1311 w 2391"/>
                  <a:gd name="T35" fmla="*/ 1611 h 1611"/>
                  <a:gd name="T36" fmla="*/ 1108 w 2391"/>
                  <a:gd name="T37" fmla="*/ 1600 h 1611"/>
                  <a:gd name="T38" fmla="*/ 907 w 2391"/>
                  <a:gd name="T39" fmla="*/ 1568 h 1611"/>
                  <a:gd name="T40" fmla="*/ 716 w 2391"/>
                  <a:gd name="T41" fmla="*/ 1512 h 1611"/>
                  <a:gd name="T42" fmla="*/ 537 w 2391"/>
                  <a:gd name="T43" fmla="*/ 1436 h 1611"/>
                  <a:gd name="T44" fmla="*/ 379 w 2391"/>
                  <a:gd name="T45" fmla="*/ 1341 h 1611"/>
                  <a:gd name="T46" fmla="*/ 243 w 2391"/>
                  <a:gd name="T47" fmla="*/ 1233 h 1611"/>
                  <a:gd name="T48" fmla="*/ 134 w 2391"/>
                  <a:gd name="T49" fmla="*/ 1110 h 1611"/>
                  <a:gd name="T50" fmla="*/ 57 w 2391"/>
                  <a:gd name="T51" fmla="*/ 981 h 1611"/>
                  <a:gd name="T52" fmla="*/ 11 w 2391"/>
                  <a:gd name="T53" fmla="*/ 845 h 1611"/>
                  <a:gd name="T54" fmla="*/ 0 w 2391"/>
                  <a:gd name="T55" fmla="*/ 709 h 1611"/>
                  <a:gd name="T56" fmla="*/ 24 w 2391"/>
                  <a:gd name="T57" fmla="*/ 575 h 1611"/>
                  <a:gd name="T58" fmla="*/ 83 w 2391"/>
                  <a:gd name="T59" fmla="*/ 447 h 1611"/>
                  <a:gd name="T60" fmla="*/ 171 w 2391"/>
                  <a:gd name="T61" fmla="*/ 331 h 1611"/>
                  <a:gd name="T62" fmla="*/ 290 w 2391"/>
                  <a:gd name="T63" fmla="*/ 227 h 1611"/>
                  <a:gd name="T64" fmla="*/ 435 w 2391"/>
                  <a:gd name="T65" fmla="*/ 141 h 1611"/>
                  <a:gd name="T66" fmla="*/ 602 w 2391"/>
                  <a:gd name="T67" fmla="*/ 74 h 1611"/>
                  <a:gd name="T68" fmla="*/ 786 w 2391"/>
                  <a:gd name="T69" fmla="*/ 28 h 1611"/>
                  <a:gd name="T70" fmla="*/ 980 w 2391"/>
                  <a:gd name="T71" fmla="*/ 3 h 1611"/>
                  <a:gd name="T72" fmla="*/ 1181 w 2391"/>
                  <a:gd name="T73" fmla="*/ 3 h 161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91"/>
                  <a:gd name="T112" fmla="*/ 0 h 1611"/>
                  <a:gd name="T113" fmla="*/ 2391 w 2391"/>
                  <a:gd name="T114" fmla="*/ 1611 h 161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91" h="1611">
                    <a:moveTo>
                      <a:pt x="1283" y="11"/>
                    </a:moveTo>
                    <a:lnTo>
                      <a:pt x="1385" y="24"/>
                    </a:lnTo>
                    <a:lnTo>
                      <a:pt x="1484" y="46"/>
                    </a:lnTo>
                    <a:lnTo>
                      <a:pt x="1582" y="69"/>
                    </a:lnTo>
                    <a:lnTo>
                      <a:pt x="1675" y="100"/>
                    </a:lnTo>
                    <a:lnTo>
                      <a:pt x="1768" y="136"/>
                    </a:lnTo>
                    <a:lnTo>
                      <a:pt x="1854" y="175"/>
                    </a:lnTo>
                    <a:lnTo>
                      <a:pt x="1936" y="221"/>
                    </a:lnTo>
                    <a:lnTo>
                      <a:pt x="2012" y="270"/>
                    </a:lnTo>
                    <a:lnTo>
                      <a:pt x="2083" y="322"/>
                    </a:lnTo>
                    <a:lnTo>
                      <a:pt x="2148" y="380"/>
                    </a:lnTo>
                    <a:lnTo>
                      <a:pt x="2207" y="439"/>
                    </a:lnTo>
                    <a:lnTo>
                      <a:pt x="2257" y="501"/>
                    </a:lnTo>
                    <a:lnTo>
                      <a:pt x="2300" y="566"/>
                    </a:lnTo>
                    <a:lnTo>
                      <a:pt x="2334" y="631"/>
                    </a:lnTo>
                    <a:lnTo>
                      <a:pt x="2360" y="698"/>
                    </a:lnTo>
                    <a:lnTo>
                      <a:pt x="2380" y="767"/>
                    </a:lnTo>
                    <a:lnTo>
                      <a:pt x="2388" y="836"/>
                    </a:lnTo>
                    <a:lnTo>
                      <a:pt x="2391" y="903"/>
                    </a:lnTo>
                    <a:lnTo>
                      <a:pt x="2382" y="970"/>
                    </a:lnTo>
                    <a:lnTo>
                      <a:pt x="2367" y="1037"/>
                    </a:lnTo>
                    <a:lnTo>
                      <a:pt x="2343" y="1102"/>
                    </a:lnTo>
                    <a:lnTo>
                      <a:pt x="2311" y="1164"/>
                    </a:lnTo>
                    <a:lnTo>
                      <a:pt x="2270" y="1225"/>
                    </a:lnTo>
                    <a:lnTo>
                      <a:pt x="2220" y="1281"/>
                    </a:lnTo>
                    <a:lnTo>
                      <a:pt x="2166" y="1335"/>
                    </a:lnTo>
                    <a:lnTo>
                      <a:pt x="2101" y="1384"/>
                    </a:lnTo>
                    <a:lnTo>
                      <a:pt x="2032" y="1430"/>
                    </a:lnTo>
                    <a:lnTo>
                      <a:pt x="1958" y="1471"/>
                    </a:lnTo>
                    <a:lnTo>
                      <a:pt x="1876" y="1508"/>
                    </a:lnTo>
                    <a:lnTo>
                      <a:pt x="1789" y="1538"/>
                    </a:lnTo>
                    <a:lnTo>
                      <a:pt x="1701" y="1564"/>
                    </a:lnTo>
                    <a:lnTo>
                      <a:pt x="1608" y="1585"/>
                    </a:lnTo>
                    <a:lnTo>
                      <a:pt x="1510" y="1598"/>
                    </a:lnTo>
                    <a:lnTo>
                      <a:pt x="1411" y="1609"/>
                    </a:lnTo>
                    <a:lnTo>
                      <a:pt x="1311" y="1611"/>
                    </a:lnTo>
                    <a:lnTo>
                      <a:pt x="1210" y="1609"/>
                    </a:lnTo>
                    <a:lnTo>
                      <a:pt x="1108" y="1600"/>
                    </a:lnTo>
                    <a:lnTo>
                      <a:pt x="1006" y="1587"/>
                    </a:lnTo>
                    <a:lnTo>
                      <a:pt x="907" y="1568"/>
                    </a:lnTo>
                    <a:lnTo>
                      <a:pt x="809" y="1542"/>
                    </a:lnTo>
                    <a:lnTo>
                      <a:pt x="716" y="1512"/>
                    </a:lnTo>
                    <a:lnTo>
                      <a:pt x="626" y="1475"/>
                    </a:lnTo>
                    <a:lnTo>
                      <a:pt x="537" y="1436"/>
                    </a:lnTo>
                    <a:lnTo>
                      <a:pt x="455" y="1391"/>
                    </a:lnTo>
                    <a:lnTo>
                      <a:pt x="379" y="1341"/>
                    </a:lnTo>
                    <a:lnTo>
                      <a:pt x="308" y="1289"/>
                    </a:lnTo>
                    <a:lnTo>
                      <a:pt x="243" y="1233"/>
                    </a:lnTo>
                    <a:lnTo>
                      <a:pt x="184" y="1173"/>
                    </a:lnTo>
                    <a:lnTo>
                      <a:pt x="134" y="1110"/>
                    </a:lnTo>
                    <a:lnTo>
                      <a:pt x="91" y="1045"/>
                    </a:lnTo>
                    <a:lnTo>
                      <a:pt x="57" y="981"/>
                    </a:lnTo>
                    <a:lnTo>
                      <a:pt x="31" y="914"/>
                    </a:lnTo>
                    <a:lnTo>
                      <a:pt x="11" y="845"/>
                    </a:lnTo>
                    <a:lnTo>
                      <a:pt x="3" y="776"/>
                    </a:lnTo>
                    <a:lnTo>
                      <a:pt x="0" y="709"/>
                    </a:lnTo>
                    <a:lnTo>
                      <a:pt x="9" y="642"/>
                    </a:lnTo>
                    <a:lnTo>
                      <a:pt x="24" y="575"/>
                    </a:lnTo>
                    <a:lnTo>
                      <a:pt x="48" y="510"/>
                    </a:lnTo>
                    <a:lnTo>
                      <a:pt x="83" y="447"/>
                    </a:lnTo>
                    <a:lnTo>
                      <a:pt x="121" y="387"/>
                    </a:lnTo>
                    <a:lnTo>
                      <a:pt x="171" y="331"/>
                    </a:lnTo>
                    <a:lnTo>
                      <a:pt x="227" y="277"/>
                    </a:lnTo>
                    <a:lnTo>
                      <a:pt x="290" y="227"/>
                    </a:lnTo>
                    <a:lnTo>
                      <a:pt x="359" y="182"/>
                    </a:lnTo>
                    <a:lnTo>
                      <a:pt x="435" y="141"/>
                    </a:lnTo>
                    <a:lnTo>
                      <a:pt x="515" y="104"/>
                    </a:lnTo>
                    <a:lnTo>
                      <a:pt x="602" y="74"/>
                    </a:lnTo>
                    <a:lnTo>
                      <a:pt x="690" y="48"/>
                    </a:lnTo>
                    <a:lnTo>
                      <a:pt x="786" y="28"/>
                    </a:lnTo>
                    <a:lnTo>
                      <a:pt x="881" y="13"/>
                    </a:lnTo>
                    <a:lnTo>
                      <a:pt x="980" y="3"/>
                    </a:lnTo>
                    <a:lnTo>
                      <a:pt x="1082" y="0"/>
                    </a:lnTo>
                    <a:lnTo>
                      <a:pt x="1181" y="3"/>
                    </a:lnTo>
                    <a:lnTo>
                      <a:pt x="1283" y="11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34" name="Rectangle 115"/>
              <p:cNvSpPr>
                <a:spLocks noChangeAspect="1" noChangeArrowheads="1"/>
              </p:cNvSpPr>
              <p:nvPr/>
            </p:nvSpPr>
            <p:spPr bwMode="auto">
              <a:xfrm>
                <a:off x="1238" y="2826"/>
                <a:ext cx="110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4</a:t>
                </a:r>
                <a:endParaRPr lang="en-US" altLang="en-US" sz="1600"/>
              </a:p>
            </p:txBody>
          </p:sp>
        </p:grpSp>
        <p:grpSp>
          <p:nvGrpSpPr>
            <p:cNvPr id="29" name="Group 116"/>
            <p:cNvGrpSpPr>
              <a:grpSpLocks noChangeAspect="1"/>
            </p:cNvGrpSpPr>
            <p:nvPr/>
          </p:nvGrpSpPr>
          <p:grpSpPr bwMode="auto">
            <a:xfrm>
              <a:off x="723900" y="1216025"/>
              <a:ext cx="2595563" cy="2289175"/>
              <a:chOff x="194" y="975"/>
              <a:chExt cx="2522" cy="2224"/>
            </a:xfrm>
          </p:grpSpPr>
          <p:sp>
            <p:nvSpPr>
              <p:cNvPr id="76831" name="Rectangle 117"/>
              <p:cNvSpPr>
                <a:spLocks noChangeAspect="1" noChangeArrowheads="1"/>
              </p:cNvSpPr>
              <p:nvPr/>
            </p:nvSpPr>
            <p:spPr bwMode="auto">
              <a:xfrm>
                <a:off x="2138" y="975"/>
                <a:ext cx="10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FF0000"/>
                    </a:solidFill>
                  </a:rPr>
                  <a:t>5</a:t>
                </a:r>
                <a:endParaRPr lang="en-US" altLang="en-US" sz="1600"/>
              </a:p>
            </p:txBody>
          </p:sp>
          <p:sp>
            <p:nvSpPr>
              <p:cNvPr id="76832" name="Freeform 118"/>
              <p:cNvSpPr>
                <a:spLocks noChangeAspect="1"/>
              </p:cNvSpPr>
              <p:nvPr/>
            </p:nvSpPr>
            <p:spPr bwMode="auto">
              <a:xfrm>
                <a:off x="194" y="988"/>
                <a:ext cx="2522" cy="2211"/>
              </a:xfrm>
              <a:custGeom>
                <a:avLst/>
                <a:gdLst>
                  <a:gd name="T0" fmla="*/ 1363 w 2522"/>
                  <a:gd name="T1" fmla="*/ 4 h 2211"/>
                  <a:gd name="T2" fmla="*/ 1568 w 2522"/>
                  <a:gd name="T3" fmla="*/ 34 h 2211"/>
                  <a:gd name="T4" fmla="*/ 1765 w 2522"/>
                  <a:gd name="T5" fmla="*/ 92 h 2211"/>
                  <a:gd name="T6" fmla="*/ 1949 w 2522"/>
                  <a:gd name="T7" fmla="*/ 179 h 2211"/>
                  <a:gd name="T8" fmla="*/ 2113 w 2522"/>
                  <a:gd name="T9" fmla="*/ 291 h 2211"/>
                  <a:gd name="T10" fmla="*/ 2254 w 2522"/>
                  <a:gd name="T11" fmla="*/ 425 h 2211"/>
                  <a:gd name="T12" fmla="*/ 2368 w 2522"/>
                  <a:gd name="T13" fmla="*/ 578 h 2211"/>
                  <a:gd name="T14" fmla="*/ 2453 w 2522"/>
                  <a:gd name="T15" fmla="*/ 744 h 2211"/>
                  <a:gd name="T16" fmla="*/ 2505 w 2522"/>
                  <a:gd name="T17" fmla="*/ 922 h 2211"/>
                  <a:gd name="T18" fmla="*/ 2522 w 2522"/>
                  <a:gd name="T19" fmla="*/ 1103 h 2211"/>
                  <a:gd name="T20" fmla="*/ 2505 w 2522"/>
                  <a:gd name="T21" fmla="*/ 1284 h 2211"/>
                  <a:gd name="T22" fmla="*/ 2453 w 2522"/>
                  <a:gd name="T23" fmla="*/ 1461 h 2211"/>
                  <a:gd name="T24" fmla="*/ 2371 w 2522"/>
                  <a:gd name="T25" fmla="*/ 1630 h 2211"/>
                  <a:gd name="T26" fmla="*/ 2256 w 2522"/>
                  <a:gd name="T27" fmla="*/ 1783 h 2211"/>
                  <a:gd name="T28" fmla="*/ 2115 w 2522"/>
                  <a:gd name="T29" fmla="*/ 1917 h 2211"/>
                  <a:gd name="T30" fmla="*/ 1951 w 2522"/>
                  <a:gd name="T31" fmla="*/ 2029 h 2211"/>
                  <a:gd name="T32" fmla="*/ 1769 w 2522"/>
                  <a:gd name="T33" fmla="*/ 2118 h 2211"/>
                  <a:gd name="T34" fmla="*/ 1572 w 2522"/>
                  <a:gd name="T35" fmla="*/ 2176 h 2211"/>
                  <a:gd name="T36" fmla="*/ 1367 w 2522"/>
                  <a:gd name="T37" fmla="*/ 2206 h 2211"/>
                  <a:gd name="T38" fmla="*/ 1159 w 2522"/>
                  <a:gd name="T39" fmla="*/ 2206 h 2211"/>
                  <a:gd name="T40" fmla="*/ 954 w 2522"/>
                  <a:gd name="T41" fmla="*/ 2178 h 2211"/>
                  <a:gd name="T42" fmla="*/ 755 w 2522"/>
                  <a:gd name="T43" fmla="*/ 2118 h 2211"/>
                  <a:gd name="T44" fmla="*/ 573 w 2522"/>
                  <a:gd name="T45" fmla="*/ 2031 h 2211"/>
                  <a:gd name="T46" fmla="*/ 409 w 2522"/>
                  <a:gd name="T47" fmla="*/ 1919 h 2211"/>
                  <a:gd name="T48" fmla="*/ 266 w 2522"/>
                  <a:gd name="T49" fmla="*/ 1785 h 2211"/>
                  <a:gd name="T50" fmla="*/ 151 w 2522"/>
                  <a:gd name="T51" fmla="*/ 1634 h 2211"/>
                  <a:gd name="T52" fmla="*/ 69 w 2522"/>
                  <a:gd name="T53" fmla="*/ 1466 h 2211"/>
                  <a:gd name="T54" fmla="*/ 17 w 2522"/>
                  <a:gd name="T55" fmla="*/ 1289 h 2211"/>
                  <a:gd name="T56" fmla="*/ 0 w 2522"/>
                  <a:gd name="T57" fmla="*/ 1107 h 2211"/>
                  <a:gd name="T58" fmla="*/ 17 w 2522"/>
                  <a:gd name="T59" fmla="*/ 926 h 2211"/>
                  <a:gd name="T60" fmla="*/ 67 w 2522"/>
                  <a:gd name="T61" fmla="*/ 749 h 2211"/>
                  <a:gd name="T62" fmla="*/ 151 w 2522"/>
                  <a:gd name="T63" fmla="*/ 580 h 2211"/>
                  <a:gd name="T64" fmla="*/ 264 w 2522"/>
                  <a:gd name="T65" fmla="*/ 429 h 2211"/>
                  <a:gd name="T66" fmla="*/ 404 w 2522"/>
                  <a:gd name="T67" fmla="*/ 293 h 2211"/>
                  <a:gd name="T68" fmla="*/ 569 w 2522"/>
                  <a:gd name="T69" fmla="*/ 181 h 2211"/>
                  <a:gd name="T70" fmla="*/ 753 w 2522"/>
                  <a:gd name="T71" fmla="*/ 95 h 2211"/>
                  <a:gd name="T72" fmla="*/ 949 w 2522"/>
                  <a:gd name="T73" fmla="*/ 34 h 2211"/>
                  <a:gd name="T74" fmla="*/ 1155 w 2522"/>
                  <a:gd name="T75" fmla="*/ 4 h 221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522"/>
                  <a:gd name="T115" fmla="*/ 0 h 2211"/>
                  <a:gd name="T116" fmla="*/ 2522 w 2522"/>
                  <a:gd name="T117" fmla="*/ 2211 h 2211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522" h="2211">
                    <a:moveTo>
                      <a:pt x="1259" y="0"/>
                    </a:moveTo>
                    <a:lnTo>
                      <a:pt x="1363" y="4"/>
                    </a:lnTo>
                    <a:lnTo>
                      <a:pt x="1466" y="15"/>
                    </a:lnTo>
                    <a:lnTo>
                      <a:pt x="1568" y="34"/>
                    </a:lnTo>
                    <a:lnTo>
                      <a:pt x="1668" y="60"/>
                    </a:lnTo>
                    <a:lnTo>
                      <a:pt x="1765" y="92"/>
                    </a:lnTo>
                    <a:lnTo>
                      <a:pt x="1858" y="131"/>
                    </a:lnTo>
                    <a:lnTo>
                      <a:pt x="1949" y="179"/>
                    </a:lnTo>
                    <a:lnTo>
                      <a:pt x="2033" y="233"/>
                    </a:lnTo>
                    <a:lnTo>
                      <a:pt x="2113" y="291"/>
                    </a:lnTo>
                    <a:lnTo>
                      <a:pt x="2187" y="356"/>
                    </a:lnTo>
                    <a:lnTo>
                      <a:pt x="2254" y="425"/>
                    </a:lnTo>
                    <a:lnTo>
                      <a:pt x="2314" y="498"/>
                    </a:lnTo>
                    <a:lnTo>
                      <a:pt x="2368" y="578"/>
                    </a:lnTo>
                    <a:lnTo>
                      <a:pt x="2414" y="660"/>
                    </a:lnTo>
                    <a:lnTo>
                      <a:pt x="2453" y="744"/>
                    </a:lnTo>
                    <a:lnTo>
                      <a:pt x="2483" y="831"/>
                    </a:lnTo>
                    <a:lnTo>
                      <a:pt x="2505" y="922"/>
                    </a:lnTo>
                    <a:lnTo>
                      <a:pt x="2518" y="1012"/>
                    </a:lnTo>
                    <a:lnTo>
                      <a:pt x="2522" y="1103"/>
                    </a:lnTo>
                    <a:lnTo>
                      <a:pt x="2518" y="1194"/>
                    </a:lnTo>
                    <a:lnTo>
                      <a:pt x="2505" y="1284"/>
                    </a:lnTo>
                    <a:lnTo>
                      <a:pt x="2483" y="1375"/>
                    </a:lnTo>
                    <a:lnTo>
                      <a:pt x="2453" y="1461"/>
                    </a:lnTo>
                    <a:lnTo>
                      <a:pt x="2416" y="1548"/>
                    </a:lnTo>
                    <a:lnTo>
                      <a:pt x="2371" y="1630"/>
                    </a:lnTo>
                    <a:lnTo>
                      <a:pt x="2317" y="1707"/>
                    </a:lnTo>
                    <a:lnTo>
                      <a:pt x="2256" y="1783"/>
                    </a:lnTo>
                    <a:lnTo>
                      <a:pt x="2189" y="1852"/>
                    </a:lnTo>
                    <a:lnTo>
                      <a:pt x="2115" y="1917"/>
                    </a:lnTo>
                    <a:lnTo>
                      <a:pt x="2037" y="1975"/>
                    </a:lnTo>
                    <a:lnTo>
                      <a:pt x="1951" y="2029"/>
                    </a:lnTo>
                    <a:lnTo>
                      <a:pt x="1862" y="2077"/>
                    </a:lnTo>
                    <a:lnTo>
                      <a:pt x="1769" y="2118"/>
                    </a:lnTo>
                    <a:lnTo>
                      <a:pt x="1672" y="2150"/>
                    </a:lnTo>
                    <a:lnTo>
                      <a:pt x="1572" y="2176"/>
                    </a:lnTo>
                    <a:lnTo>
                      <a:pt x="1471" y="2195"/>
                    </a:lnTo>
                    <a:lnTo>
                      <a:pt x="1367" y="2206"/>
                    </a:lnTo>
                    <a:lnTo>
                      <a:pt x="1263" y="2211"/>
                    </a:lnTo>
                    <a:lnTo>
                      <a:pt x="1159" y="2206"/>
                    </a:lnTo>
                    <a:lnTo>
                      <a:pt x="1055" y="2195"/>
                    </a:lnTo>
                    <a:lnTo>
                      <a:pt x="954" y="2178"/>
                    </a:lnTo>
                    <a:lnTo>
                      <a:pt x="852" y="2152"/>
                    </a:lnTo>
                    <a:lnTo>
                      <a:pt x="755" y="2118"/>
                    </a:lnTo>
                    <a:lnTo>
                      <a:pt x="662" y="2079"/>
                    </a:lnTo>
                    <a:lnTo>
                      <a:pt x="573" y="2031"/>
                    </a:lnTo>
                    <a:lnTo>
                      <a:pt x="486" y="1980"/>
                    </a:lnTo>
                    <a:lnTo>
                      <a:pt x="409" y="1919"/>
                    </a:lnTo>
                    <a:lnTo>
                      <a:pt x="333" y="1856"/>
                    </a:lnTo>
                    <a:lnTo>
                      <a:pt x="266" y="1785"/>
                    </a:lnTo>
                    <a:lnTo>
                      <a:pt x="205" y="1712"/>
                    </a:lnTo>
                    <a:lnTo>
                      <a:pt x="151" y="1634"/>
                    </a:lnTo>
                    <a:lnTo>
                      <a:pt x="106" y="1552"/>
                    </a:lnTo>
                    <a:lnTo>
                      <a:pt x="69" y="1466"/>
                    </a:lnTo>
                    <a:lnTo>
                      <a:pt x="39" y="1379"/>
                    </a:lnTo>
                    <a:lnTo>
                      <a:pt x="17" y="1289"/>
                    </a:lnTo>
                    <a:lnTo>
                      <a:pt x="4" y="1198"/>
                    </a:lnTo>
                    <a:lnTo>
                      <a:pt x="0" y="1107"/>
                    </a:lnTo>
                    <a:lnTo>
                      <a:pt x="4" y="1017"/>
                    </a:lnTo>
                    <a:lnTo>
                      <a:pt x="17" y="926"/>
                    </a:lnTo>
                    <a:lnTo>
                      <a:pt x="37" y="835"/>
                    </a:lnTo>
                    <a:lnTo>
                      <a:pt x="67" y="749"/>
                    </a:lnTo>
                    <a:lnTo>
                      <a:pt x="106" y="662"/>
                    </a:lnTo>
                    <a:lnTo>
                      <a:pt x="151" y="580"/>
                    </a:lnTo>
                    <a:lnTo>
                      <a:pt x="203" y="503"/>
                    </a:lnTo>
                    <a:lnTo>
                      <a:pt x="264" y="429"/>
                    </a:lnTo>
                    <a:lnTo>
                      <a:pt x="331" y="358"/>
                    </a:lnTo>
                    <a:lnTo>
                      <a:pt x="404" y="293"/>
                    </a:lnTo>
                    <a:lnTo>
                      <a:pt x="484" y="235"/>
                    </a:lnTo>
                    <a:lnTo>
                      <a:pt x="569" y="181"/>
                    </a:lnTo>
                    <a:lnTo>
                      <a:pt x="660" y="133"/>
                    </a:lnTo>
                    <a:lnTo>
                      <a:pt x="753" y="95"/>
                    </a:lnTo>
                    <a:lnTo>
                      <a:pt x="850" y="60"/>
                    </a:lnTo>
                    <a:lnTo>
                      <a:pt x="949" y="34"/>
                    </a:lnTo>
                    <a:lnTo>
                      <a:pt x="1051" y="15"/>
                    </a:lnTo>
                    <a:lnTo>
                      <a:pt x="1155" y="4"/>
                    </a:lnTo>
                    <a:lnTo>
                      <a:pt x="1259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24" name="Slide Number Placeholder 1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83</a:t>
            </a:fld>
            <a:endParaRPr lang="en-US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Material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400050">
              <a:lnSpc>
                <a:spcPct val="90000"/>
              </a:lnSpc>
            </a:pPr>
            <a:r>
              <a:rPr lang="en-US" sz="2400" dirty="0"/>
              <a:t>Class Lecture</a:t>
            </a:r>
          </a:p>
          <a:p>
            <a:pPr marL="400050">
              <a:lnSpc>
                <a:spcPct val="90000"/>
              </a:lnSpc>
            </a:pPr>
            <a:r>
              <a:rPr lang="en-US" sz="2400" dirty="0"/>
              <a:t>Text Book: (J. Han et al.) Chapter 10</a:t>
            </a:r>
          </a:p>
          <a:p>
            <a:r>
              <a:rPr lang="en-US" sz="2000" dirty="0"/>
              <a:t>Text Book: (V. Kumar et al.) Chapter 7</a:t>
            </a:r>
          </a:p>
          <a:p>
            <a:endParaRPr lang="en-US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Acknowledgements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19263"/>
            <a:ext cx="8229600" cy="3690937"/>
          </a:xfrm>
        </p:spPr>
        <p:txBody>
          <a:bodyPr/>
          <a:lstStyle/>
          <a:p>
            <a:pPr lvl="1" eaLnBrk="1" hangingPunct="1"/>
            <a:r>
              <a:rPr lang="en-US" sz="2600" dirty="0" err="1"/>
              <a:t>Jiawei</a:t>
            </a:r>
            <a:r>
              <a:rPr lang="en-US" sz="2600" dirty="0"/>
              <a:t> Han (UIUC)  (CS412)</a:t>
            </a:r>
          </a:p>
          <a:p>
            <a:pPr lvl="1" eaLnBrk="1" hangingPunct="1"/>
            <a:r>
              <a:rPr lang="en-US" dirty="0" err="1"/>
              <a:t>Vipin</a:t>
            </a:r>
            <a:r>
              <a:rPr lang="en-US" dirty="0"/>
              <a:t> Kumar et al. (University of Minnesota)</a:t>
            </a:r>
            <a:endParaRPr lang="en-US" sz="2600" dirty="0"/>
          </a:p>
          <a:p>
            <a:pPr lvl="1" eaLnBrk="1" hangingPunct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3214</TotalTime>
  <Words>7565</Words>
  <Application>Microsoft Office PowerPoint</Application>
  <PresentationFormat>On-screen Show (4:3)</PresentationFormat>
  <Paragraphs>1260</Paragraphs>
  <Slides>85</Slides>
  <Notes>46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85</vt:i4>
      </vt:variant>
    </vt:vector>
  </HeadingPairs>
  <TitlesOfParts>
    <vt:vector size="102" baseType="lpstr">
      <vt:lpstr>Gulim</vt:lpstr>
      <vt:lpstr>SimSun</vt:lpstr>
      <vt:lpstr>Arial</vt:lpstr>
      <vt:lpstr>Calibri</vt:lpstr>
      <vt:lpstr>Cambria Math</vt:lpstr>
      <vt:lpstr>Monotype Sorts</vt:lpstr>
      <vt:lpstr>Symbol</vt:lpstr>
      <vt:lpstr>Tahoma</vt:lpstr>
      <vt:lpstr>Times New Roman</vt:lpstr>
      <vt:lpstr>Wingdings</vt:lpstr>
      <vt:lpstr>Wingdings 2</vt:lpstr>
      <vt:lpstr>Network</vt:lpstr>
      <vt:lpstr>Document</vt:lpstr>
      <vt:lpstr>VISIO</vt:lpstr>
      <vt:lpstr>Bitmap Image</vt:lpstr>
      <vt:lpstr>Equation</vt:lpstr>
      <vt:lpstr>Visio</vt:lpstr>
      <vt:lpstr>Data Mining (CSE 6506)  Clustering-1 </vt:lpstr>
      <vt:lpstr>What is Cluster Analysis?</vt:lpstr>
      <vt:lpstr>Applications of Cluster Analysis</vt:lpstr>
      <vt:lpstr>What is not Cluster Analysis?</vt:lpstr>
      <vt:lpstr>Cluster can be Ambiguous</vt:lpstr>
      <vt:lpstr>Types of Clusterings</vt:lpstr>
      <vt:lpstr>Partitional Clustering</vt:lpstr>
      <vt:lpstr>Hierarchical Clustering</vt:lpstr>
      <vt:lpstr>Other Distinctions Between Sets of Clusters</vt:lpstr>
      <vt:lpstr>Types of Clusters</vt:lpstr>
      <vt:lpstr>Types of Clusters: Well-Separated</vt:lpstr>
      <vt:lpstr>Types of Clusters: Center-Based</vt:lpstr>
      <vt:lpstr>Types of Clusters: Contiguity-Based</vt:lpstr>
      <vt:lpstr>Types of Clusters: Density-Based</vt:lpstr>
      <vt:lpstr>Types of Clusters: Conceptual Clusters</vt:lpstr>
      <vt:lpstr>Characteristics of Cluster Data </vt:lpstr>
      <vt:lpstr>Main Clustering Algorithms</vt:lpstr>
      <vt:lpstr>K-means Clustering</vt:lpstr>
      <vt:lpstr>Example of K-means Clustering</vt:lpstr>
      <vt:lpstr>Example of K-means Clustering</vt:lpstr>
      <vt:lpstr>K-means Clustering – Details</vt:lpstr>
      <vt:lpstr>Evaluating K-means Clusters</vt:lpstr>
      <vt:lpstr>Two different K-means Clusterings</vt:lpstr>
      <vt:lpstr>Limitations of K-means</vt:lpstr>
      <vt:lpstr>Limitations of K-means: Differing Sizes</vt:lpstr>
      <vt:lpstr>Limitations of K-means: Differing Density</vt:lpstr>
      <vt:lpstr>Limitations of K-means: Non-globular Shapes</vt:lpstr>
      <vt:lpstr>Overcoming K-means Limitations</vt:lpstr>
      <vt:lpstr>Overcoming K-means Limitations</vt:lpstr>
      <vt:lpstr>Overcoming K-means Limitations</vt:lpstr>
      <vt:lpstr>Importance of Choosing Initial Centroids</vt:lpstr>
      <vt:lpstr>Importance of Choosing Initial Centroids</vt:lpstr>
      <vt:lpstr>Importance of Choosing Initial Centroids …</vt:lpstr>
      <vt:lpstr>Importance of Choosing Initial Centroids …</vt:lpstr>
      <vt:lpstr>Problems with Selecting Initial Points</vt:lpstr>
      <vt:lpstr>Solutions to Initial Centroids Problem</vt:lpstr>
      <vt:lpstr>Empty Clusters</vt:lpstr>
      <vt:lpstr>Handling Empty Clusters</vt:lpstr>
      <vt:lpstr>Updating Centers Incrementally</vt:lpstr>
      <vt:lpstr>Pre-processing and Post-processing</vt:lpstr>
      <vt:lpstr>Bisecting K-means</vt:lpstr>
      <vt:lpstr>PowerPoint Presentation</vt:lpstr>
      <vt:lpstr>PowerPoint Presentation</vt:lpstr>
      <vt:lpstr>PowerPoint Presentation</vt:lpstr>
      <vt:lpstr>PAM</vt:lpstr>
      <vt:lpstr>PowerPoint Presentation</vt:lpstr>
      <vt:lpstr>Example of PAM</vt:lpstr>
      <vt:lpstr>Example of PAM (Contd.)</vt:lpstr>
      <vt:lpstr>Example of PAM</vt:lpstr>
      <vt:lpstr>PowerPoint Presentation</vt:lpstr>
      <vt:lpstr>PowerPoint Presentation</vt:lpstr>
      <vt:lpstr>PowerPoint Presentation</vt:lpstr>
      <vt:lpstr>Hierarchical Clustering </vt:lpstr>
      <vt:lpstr>Strengths of Hierarchical Clustering</vt:lpstr>
      <vt:lpstr>Hierarchical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Define Inter-Cluster Distance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Agglomerative Clustering </vt:lpstr>
      <vt:lpstr>Starting Situation </vt:lpstr>
      <vt:lpstr>Intermediate Situation</vt:lpstr>
      <vt:lpstr>Intermediate Situation</vt:lpstr>
      <vt:lpstr>After Merging</vt:lpstr>
      <vt:lpstr>MIN or Single Link </vt:lpstr>
      <vt:lpstr>Hierarchical Clustering: MIN</vt:lpstr>
      <vt:lpstr>Strength of MIN</vt:lpstr>
      <vt:lpstr>Limitations of MIN</vt:lpstr>
      <vt:lpstr>MAX or Complete Linkage</vt:lpstr>
      <vt:lpstr>Hierarchical Clustering: MAX (Complete link)</vt:lpstr>
      <vt:lpstr>Strength of MAX</vt:lpstr>
      <vt:lpstr>Limitations of MAX</vt:lpstr>
      <vt:lpstr>Group Average</vt:lpstr>
      <vt:lpstr>Hierarchical Clustering: Group Average</vt:lpstr>
      <vt:lpstr>Hierarchical Clustering: Group Average</vt:lpstr>
      <vt:lpstr>Cluster Similarity: Ward’s Method</vt:lpstr>
      <vt:lpstr>Hierarchical Clustering: Comparison</vt:lpstr>
      <vt:lpstr>Reading Material</vt:lpstr>
      <vt:lpstr>Acknowledgements</vt:lpstr>
    </vt:vector>
  </TitlesOfParts>
  <Company>Orion Research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COVERAGE IN HETEROGENEOUS SENSOR NETWORK</dc:title>
  <dc:creator>Orion</dc:creator>
  <cp:lastModifiedBy>Md Manirujjaman</cp:lastModifiedBy>
  <cp:revision>136</cp:revision>
  <dcterms:created xsi:type="dcterms:W3CDTF">2006-11-09T03:30:31Z</dcterms:created>
  <dcterms:modified xsi:type="dcterms:W3CDTF">2026-03-25T17:41:14Z</dcterms:modified>
</cp:coreProperties>
</file>