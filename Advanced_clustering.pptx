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38"/>
  </p:notesMasterIdLst>
  <p:handoutMasterIdLst>
    <p:handoutMasterId r:id="rId39"/>
  </p:handoutMasterIdLst>
  <p:sldIdLst>
    <p:sldId id="518" r:id="rId2"/>
    <p:sldId id="397" r:id="rId3"/>
    <p:sldId id="398" r:id="rId4"/>
    <p:sldId id="399" r:id="rId5"/>
    <p:sldId id="400" r:id="rId6"/>
    <p:sldId id="446" r:id="rId7"/>
    <p:sldId id="447" r:id="rId8"/>
    <p:sldId id="509" r:id="rId9"/>
    <p:sldId id="448" r:id="rId10"/>
    <p:sldId id="510" r:id="rId11"/>
    <p:sldId id="512" r:id="rId12"/>
    <p:sldId id="517" r:id="rId13"/>
    <p:sldId id="513" r:id="rId14"/>
    <p:sldId id="514" r:id="rId15"/>
    <p:sldId id="515" r:id="rId16"/>
    <p:sldId id="511" r:id="rId17"/>
    <p:sldId id="449" r:id="rId18"/>
    <p:sldId id="451" r:id="rId19"/>
    <p:sldId id="519" r:id="rId20"/>
    <p:sldId id="520" r:id="rId21"/>
    <p:sldId id="453" r:id="rId22"/>
    <p:sldId id="454" r:id="rId23"/>
    <p:sldId id="457" r:id="rId24"/>
    <p:sldId id="458" r:id="rId25"/>
    <p:sldId id="459" r:id="rId26"/>
    <p:sldId id="460" r:id="rId27"/>
    <p:sldId id="461" r:id="rId28"/>
    <p:sldId id="472" r:id="rId29"/>
    <p:sldId id="473" r:id="rId30"/>
    <p:sldId id="474" r:id="rId31"/>
    <p:sldId id="495" r:id="rId32"/>
    <p:sldId id="463" r:id="rId33"/>
    <p:sldId id="497" r:id="rId34"/>
    <p:sldId id="498" r:id="rId35"/>
    <p:sldId id="470" r:id="rId36"/>
    <p:sldId id="321" r:id="rId37"/>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4" autoAdjust="0"/>
    <p:restoredTop sz="55948" autoAdjust="0"/>
  </p:normalViewPr>
  <p:slideViewPr>
    <p:cSldViewPr>
      <p:cViewPr varScale="1">
        <p:scale>
          <a:sx n="46" d="100"/>
          <a:sy n="46" d="100"/>
        </p:scale>
        <p:origin x="2515"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8851"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8852"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8853"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F9EFEA9-66BC-4174-926C-F8093975A336}"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pPr>
              <a:defRPr/>
            </a:pPr>
            <a:fld id="{1BD0B02A-F0B0-4301-8903-DF68581631A0}" type="datetimeFigureOut">
              <a:rPr lang="en-US"/>
              <a:pPr>
                <a:defRPr/>
              </a:pPr>
              <a:t>3/25/2026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pPr>
              <a:defRPr/>
            </a:pPr>
            <a:fld id="{C6A44F01-B7E3-454B-9683-8F374F9D0B7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normAutofit fontScale="92500" lnSpcReduction="10000"/>
              </a:bodyPr>
              <a:lstStyle/>
              <a:p>
                <a:r>
                  <a:rPr lang="en-US" b="1" dirty="0"/>
                  <a:t>How it actually works</a:t>
                </a:r>
              </a:p>
              <a:p>
                <a:r>
                  <a:rPr lang="en-US" dirty="0"/>
                  <a:t>Start with </a:t>
                </a:r>
                <a:r>
                  <a:rPr lang="en-US" b="1" dirty="0"/>
                  <a:t>just one point</a:t>
                </a:r>
                <a:r>
                  <a:rPr lang="en-US" dirty="0"/>
                  <a:t> in the tree</a:t>
                </a:r>
              </a:p>
              <a:p>
                <a:r>
                  <a:rPr lang="en-US" dirty="0"/>
                  <a:t>Now many points are still </a:t>
                </a:r>
                <a:r>
                  <a:rPr lang="en-US" b="1" dirty="0"/>
                  <a:t>outside</a:t>
                </a:r>
                <a:r>
                  <a:rPr lang="en-US" dirty="0"/>
                  <a:t> the tree</a:t>
                </a:r>
              </a:p>
              <a:p>
                <a:r>
                  <a:rPr lang="en-US" dirty="0"/>
                  <a:t>Find the </a:t>
                </a:r>
                <a:r>
                  <a:rPr lang="en-US" b="1" dirty="0"/>
                  <a:t>closest point outside the tree</a:t>
                </a:r>
                <a:r>
                  <a:rPr lang="en-US" dirty="0"/>
                  <a:t> to </a:t>
                </a:r>
                <a:r>
                  <a:rPr lang="en-US" b="1" dirty="0"/>
                  <a:t>any point already inside the tree</a:t>
                </a:r>
                <a:endParaRPr lang="en-US" dirty="0"/>
              </a:p>
              <a:p>
                <a:r>
                  <a:rPr lang="en-US" dirty="0"/>
                  <a:t>Add that point and connect it with an edge</a:t>
                </a:r>
              </a:p>
              <a:p>
                <a:r>
                  <a:rPr lang="en-US" dirty="0"/>
                  <a:t>Repeat until </a:t>
                </a:r>
                <a:r>
                  <a:rPr lang="en-US" b="1" dirty="0"/>
                  <a:t>all points are included</a:t>
                </a:r>
                <a:endParaRPr lang="en-US" dirty="0"/>
              </a:p>
              <a:p>
                <a:r>
                  <a:rPr lang="en-US" dirty="0"/>
                  <a:t>So when the slide says:</a:t>
                </a:r>
              </a:p>
              <a:p>
                <a:r>
                  <a:rPr lang="en-US" dirty="0"/>
                  <a:t>find the closest pair </a:t>
                </a:r>
                <a14:m>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𝑝</m:t>
                        </m:r>
                      </m:e>
                      <m:e>
                        <m:r>
                          <a:rPr lang="ar-AE" sz="1200" i="1" kern="1200">
                            <a:solidFill>
                              <a:schemeClr val="tx1"/>
                            </a:solidFill>
                            <a:latin typeface="Cambria Math" panose="02040503050406030204" pitchFamily="18" charset="0"/>
                            <a:ea typeface="+mn-ea"/>
                            <a:cs typeface="+mn-cs"/>
                          </a:rPr>
                          <m:t>𝑞</m:t>
                        </m:r>
                      </m:e>
                    </m:d>
                  </m:oMath>
                </a14:m>
                <a:r>
                  <a:rPr lang="en-US" dirty="0"/>
                  <a:t>such that </a:t>
                </a:r>
                <a14:m>
                  <m:oMath xmlns:m="http://schemas.openxmlformats.org/officeDocument/2006/math">
                    <m:r>
                      <a:rPr lang="en-US" sz="1200" i="1" kern="1200">
                        <a:solidFill>
                          <a:schemeClr val="tx1"/>
                        </a:solidFill>
                        <a:latin typeface="Cambria Math" panose="02040503050406030204" pitchFamily="18" charset="0"/>
                        <a:ea typeface="+mn-ea"/>
                        <a:cs typeface="+mn-cs"/>
                      </a:rPr>
                      <m:t>𝑝</m:t>
                    </m:r>
                  </m:oMath>
                </a14:m>
                <a:r>
                  <a:rPr lang="en-US" dirty="0"/>
                  <a:t>is in the current tree but </a:t>
                </a:r>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is not</a:t>
                </a:r>
              </a:p>
              <a:p>
                <a:r>
                  <a:rPr lang="en-US" dirty="0"/>
                  <a:t>it means:</a:t>
                </a:r>
              </a:p>
              <a:p>
                <a14:m>
                  <m:oMath xmlns:m="http://schemas.openxmlformats.org/officeDocument/2006/math">
                    <m:r>
                      <a:rPr lang="en-US" sz="1200" i="1" kern="1200">
                        <a:solidFill>
                          <a:schemeClr val="tx1"/>
                        </a:solidFill>
                        <a:latin typeface="Cambria Math" panose="02040503050406030204" pitchFamily="18" charset="0"/>
                        <a:ea typeface="+mn-ea"/>
                        <a:cs typeface="+mn-cs"/>
                      </a:rPr>
                      <m:t>𝑝</m:t>
                    </m:r>
                  </m:oMath>
                </a14:m>
                <a:r>
                  <a:rPr lang="en-US" dirty="0"/>
                  <a:t>= a point already in the partially built tree</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a point not added yet</a:t>
                </a:r>
              </a:p>
              <a:p>
                <a:r>
                  <a:rPr lang="en-US" b="1" dirty="0"/>
                  <a:t>Then clustering part</a:t>
                </a:r>
              </a:p>
              <a:p>
                <a:r>
                  <a:rPr lang="en-US" dirty="0"/>
                  <a:t>After the full MST is built, you </a:t>
                </a:r>
                <a:r>
                  <a:rPr lang="en-US" b="1" dirty="0"/>
                  <a:t>cut the longest edge(s)</a:t>
                </a:r>
                <a:r>
                  <a:rPr lang="en-US" dirty="0"/>
                  <a:t> to get separate clusters.</a:t>
                </a:r>
              </a:p>
              <a:p>
                <a:endParaRPr lang="en-US" dirty="0"/>
              </a:p>
              <a:p>
                <a:endParaRPr lang="en-US" dirty="0"/>
              </a:p>
              <a:p>
                <a:r>
                  <a:rPr lang="en-US" b="1" dirty="0"/>
                  <a:t>🔸 Summary (Easy to Remember)</a:t>
                </a:r>
              </a:p>
              <a:p>
                <a:r>
                  <a:rPr lang="en-US" dirty="0"/>
                  <a:t>Build tree by connecting </a:t>
                </a:r>
                <a:r>
                  <a:rPr lang="en-US" b="1" dirty="0"/>
                  <a:t>nearest points</a:t>
                </a:r>
                <a:r>
                  <a:rPr lang="en-US" dirty="0"/>
                  <a:t> </a:t>
                </a:r>
              </a:p>
              <a:p>
                <a:r>
                  <a:rPr lang="en-US" dirty="0"/>
                  <a:t>No loops allowed </a:t>
                </a:r>
              </a:p>
              <a:p>
                <a:r>
                  <a:rPr lang="en-US" dirty="0"/>
                  <a:t>Covers all points </a:t>
                </a:r>
              </a:p>
              <a:p>
                <a:r>
                  <a:rPr lang="en-US" b="1" dirty="0"/>
                  <a:t>Cut longest edges → clusters</a:t>
                </a:r>
                <a:endParaRPr lang="en-US" dirty="0"/>
              </a:p>
              <a:p>
                <a:endParaRPr lang="en-US" dirty="0"/>
              </a:p>
            </p:txBody>
          </p:sp>
        </mc:Choice>
        <mc:Fallback>
          <p:sp>
            <p:nvSpPr>
              <p:cNvPr id="3" name="Notes Placeholder 2"/>
              <p:cNvSpPr>
                <a:spLocks noGrp="1"/>
              </p:cNvSpPr>
              <p:nvPr>
                <p:ph type="body" idx="1"/>
              </p:nvPr>
            </p:nvSpPr>
            <p:spPr/>
            <p:txBody>
              <a:bodyPr>
                <a:normAutofit fontScale="92500" lnSpcReduction="10000"/>
              </a:bodyPr>
              <a:lstStyle/>
              <a:p>
                <a:r>
                  <a:rPr lang="en-US" b="1" dirty="0"/>
                  <a:t>How it actually works</a:t>
                </a:r>
              </a:p>
              <a:p>
                <a:r>
                  <a:rPr lang="en-US" dirty="0"/>
                  <a:t>Start with </a:t>
                </a:r>
                <a:r>
                  <a:rPr lang="en-US" b="1" dirty="0"/>
                  <a:t>just one point</a:t>
                </a:r>
                <a:r>
                  <a:rPr lang="en-US" dirty="0"/>
                  <a:t> in the tree</a:t>
                </a:r>
              </a:p>
              <a:p>
                <a:r>
                  <a:rPr lang="en-US" dirty="0"/>
                  <a:t>Now many points are still </a:t>
                </a:r>
                <a:r>
                  <a:rPr lang="en-US" b="1" dirty="0"/>
                  <a:t>outside</a:t>
                </a:r>
                <a:r>
                  <a:rPr lang="en-US" dirty="0"/>
                  <a:t> the tree</a:t>
                </a:r>
              </a:p>
              <a:p>
                <a:r>
                  <a:rPr lang="en-US" dirty="0"/>
                  <a:t>Find the </a:t>
                </a:r>
                <a:r>
                  <a:rPr lang="en-US" b="1" dirty="0"/>
                  <a:t>closest point outside the tree</a:t>
                </a:r>
                <a:r>
                  <a:rPr lang="en-US" dirty="0"/>
                  <a:t> to </a:t>
                </a:r>
                <a:r>
                  <a:rPr lang="en-US" b="1" dirty="0"/>
                  <a:t>any point already inside the tree</a:t>
                </a:r>
                <a:endParaRPr lang="en-US" dirty="0"/>
              </a:p>
              <a:p>
                <a:r>
                  <a:rPr lang="en-US" dirty="0"/>
                  <a:t>Add that point and connect it with an edge</a:t>
                </a:r>
              </a:p>
              <a:p>
                <a:r>
                  <a:rPr lang="en-US" dirty="0"/>
                  <a:t>Repeat until </a:t>
                </a:r>
                <a:r>
                  <a:rPr lang="en-US" b="1" dirty="0"/>
                  <a:t>all points are included</a:t>
                </a:r>
                <a:endParaRPr lang="en-US" dirty="0"/>
              </a:p>
              <a:p>
                <a:r>
                  <a:rPr lang="en-US" dirty="0"/>
                  <a:t>So when the slide says:</a:t>
                </a:r>
              </a:p>
              <a:p>
                <a:r>
                  <a:rPr lang="en-US" dirty="0"/>
                  <a:t>find the closest pair </a:t>
                </a:r>
                <a:r>
                  <a:rPr lang="ar-AE" sz="1200" i="0" kern="1200">
                    <a:solidFill>
                      <a:schemeClr val="tx1"/>
                    </a:solidFill>
                    <a:latin typeface="Cambria Math" panose="02040503050406030204" pitchFamily="18" charset="0"/>
                    <a:ea typeface="+mn-ea"/>
                    <a:cs typeface="+mn-cs"/>
                  </a:rPr>
                  <a:t>(𝑝ⓜ,𝑞)</a:t>
                </a:r>
                <a:r>
                  <a:rPr lang="en-US" dirty="0"/>
                  <a:t>such that </a:t>
                </a:r>
                <a:r>
                  <a:rPr lang="en-US" sz="1200" i="0" kern="1200">
                    <a:solidFill>
                      <a:schemeClr val="tx1"/>
                    </a:solidFill>
                    <a:latin typeface="Cambria Math" panose="02040503050406030204" pitchFamily="18" charset="0"/>
                    <a:ea typeface="+mn-ea"/>
                    <a:cs typeface="+mn-cs"/>
                  </a:rPr>
                  <a:t>𝑝</a:t>
                </a:r>
                <a:r>
                  <a:rPr lang="en-US" dirty="0"/>
                  <a:t>is in the current tree but </a:t>
                </a:r>
                <a:r>
                  <a:rPr lang="en-US" sz="1200" i="0" kern="1200">
                    <a:solidFill>
                      <a:schemeClr val="tx1"/>
                    </a:solidFill>
                    <a:latin typeface="Cambria Math" panose="02040503050406030204" pitchFamily="18" charset="0"/>
                    <a:ea typeface="+mn-ea"/>
                    <a:cs typeface="+mn-cs"/>
                  </a:rPr>
                  <a:t>𝑞</a:t>
                </a:r>
                <a:r>
                  <a:rPr lang="en-US" dirty="0"/>
                  <a:t>is not</a:t>
                </a:r>
              </a:p>
              <a:p>
                <a:r>
                  <a:rPr lang="en-US" dirty="0"/>
                  <a:t>it means:</a:t>
                </a:r>
              </a:p>
              <a:p>
                <a:r>
                  <a:rPr lang="en-US" sz="1200" i="0" kern="1200">
                    <a:solidFill>
                      <a:schemeClr val="tx1"/>
                    </a:solidFill>
                    <a:latin typeface="Cambria Math" panose="02040503050406030204" pitchFamily="18" charset="0"/>
                    <a:ea typeface="+mn-ea"/>
                    <a:cs typeface="+mn-cs"/>
                  </a:rPr>
                  <a:t>𝑝</a:t>
                </a:r>
                <a:r>
                  <a:rPr lang="en-US" dirty="0"/>
                  <a:t>= a point already in the partially built tree</a:t>
                </a:r>
              </a:p>
              <a:p>
                <a:r>
                  <a:rPr lang="en-US" sz="1200" i="0" kern="1200">
                    <a:solidFill>
                      <a:schemeClr val="tx1"/>
                    </a:solidFill>
                    <a:latin typeface="Cambria Math" panose="02040503050406030204" pitchFamily="18" charset="0"/>
                    <a:ea typeface="+mn-ea"/>
                    <a:cs typeface="+mn-cs"/>
                  </a:rPr>
                  <a:t>𝑞</a:t>
                </a:r>
                <a:r>
                  <a:rPr lang="en-US" dirty="0"/>
                  <a:t>= a point not added yet</a:t>
                </a:r>
              </a:p>
              <a:p>
                <a:r>
                  <a:rPr lang="en-US" b="1" dirty="0"/>
                  <a:t>Then clustering part</a:t>
                </a:r>
              </a:p>
              <a:p>
                <a:r>
                  <a:rPr lang="en-US" dirty="0"/>
                  <a:t>After the full MST is built, you </a:t>
                </a:r>
                <a:r>
                  <a:rPr lang="en-US" b="1" dirty="0"/>
                  <a:t>cut the longest edge(s)</a:t>
                </a:r>
                <a:r>
                  <a:rPr lang="en-US" dirty="0"/>
                  <a:t> to get separate clusters.</a:t>
                </a:r>
              </a:p>
              <a:p>
                <a:endParaRPr lang="en-US" dirty="0"/>
              </a:p>
              <a:p>
                <a:endParaRPr lang="en-US" dirty="0"/>
              </a:p>
              <a:p>
                <a:r>
                  <a:rPr lang="en-US" b="1" dirty="0"/>
                  <a:t>🔸 Summary (Easy to Remember)</a:t>
                </a:r>
              </a:p>
              <a:p>
                <a:r>
                  <a:rPr lang="en-US" dirty="0"/>
                  <a:t>Build tree by connecting </a:t>
                </a:r>
                <a:r>
                  <a:rPr lang="en-US" b="1" dirty="0"/>
                  <a:t>nearest points</a:t>
                </a:r>
                <a:r>
                  <a:rPr lang="en-US" dirty="0"/>
                  <a:t> </a:t>
                </a:r>
              </a:p>
              <a:p>
                <a:r>
                  <a:rPr lang="en-US" dirty="0"/>
                  <a:t>No loops allowed </a:t>
                </a:r>
              </a:p>
              <a:p>
                <a:r>
                  <a:rPr lang="en-US" dirty="0"/>
                  <a:t>Covers all points </a:t>
                </a:r>
              </a:p>
              <a:p>
                <a:r>
                  <a:rPr lang="en-US" b="1" dirty="0"/>
                  <a:t>Cut longest edges → clusters</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2</a:t>
            </a:fld>
            <a:endParaRPr lang="en-US"/>
          </a:p>
        </p:txBody>
      </p:sp>
    </p:spTree>
    <p:extLst>
      <p:ext uri="{BB962C8B-B14F-4D97-AF65-F5344CB8AC3E}">
        <p14:creationId xmlns:p14="http://schemas.microsoft.com/office/powerpoint/2010/main" val="3358942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Hierarchical Clustering: Time and Space Requirements</a:t>
                </a:r>
              </a:p>
              <a:p>
                <a:r>
                  <a:rPr lang="en-US" b="1" dirty="0"/>
                  <a:t>Space complexity = </a:t>
                </a:r>
                <a14:m>
                  <m:oMath xmlns:m="http://schemas.openxmlformats.org/officeDocument/2006/math">
                    <m:r>
                      <a:rPr lang="en-US" sz="1200" i="1" kern="1200">
                        <a:solidFill>
                          <a:schemeClr val="tx1"/>
                        </a:solidFill>
                        <a:latin typeface="Cambria Math" panose="02040503050406030204" pitchFamily="18" charset="0"/>
                        <a:ea typeface="+mn-ea"/>
                        <a:cs typeface="+mn-cs"/>
                      </a:rPr>
                      <m:t>𝑂</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𝑁</m:t>
                            </m:r>
                          </m:e>
                          <m:sup>
                            <m:r>
                              <a:rPr lang="ar-AE" sz="1200" i="0" kern="1200">
                                <a:solidFill>
                                  <a:schemeClr val="tx1"/>
                                </a:solidFill>
                                <a:latin typeface="Cambria Math" panose="02040503050406030204" pitchFamily="18" charset="0"/>
                                <a:ea typeface="+mn-ea"/>
                                <a:cs typeface="+mn-cs"/>
                              </a:rPr>
                              <m:t>2</m:t>
                            </m:r>
                          </m:sup>
                        </m:sSup>
                      </m:e>
                    </m:d>
                  </m:oMath>
                </a14:m>
                <a:br>
                  <a:rPr lang="ar-AE" dirty="0"/>
                </a:br>
                <a:r>
                  <a:rPr lang="en-US" dirty="0"/>
                  <a:t>because it stores the </a:t>
                </a:r>
                <a:r>
                  <a:rPr lang="en-US" b="1" dirty="0"/>
                  <a:t>proximity (distance) matrix</a:t>
                </a:r>
                <a:r>
                  <a:rPr lang="en-US" dirty="0"/>
                  <a:t> for all pairs of points.</a:t>
                </a:r>
              </a:p>
              <a:p>
                <a:r>
                  <a:rPr lang="en-US" b="1" dirty="0"/>
                  <a:t>Time complexity = </a:t>
                </a:r>
                <a14:m>
                  <m:oMath xmlns:m="http://schemas.openxmlformats.org/officeDocument/2006/math">
                    <m:r>
                      <a:rPr lang="en-US" sz="1200" i="1" kern="1200">
                        <a:solidFill>
                          <a:schemeClr val="tx1"/>
                        </a:solidFill>
                        <a:latin typeface="Cambria Math" panose="02040503050406030204" pitchFamily="18" charset="0"/>
                        <a:ea typeface="+mn-ea"/>
                        <a:cs typeface="+mn-cs"/>
                      </a:rPr>
                      <m:t>𝑂</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𝑁</m:t>
                            </m:r>
                          </m:e>
                          <m:sup>
                            <m:r>
                              <a:rPr lang="ar-AE" sz="1200" i="0" kern="1200">
                                <a:solidFill>
                                  <a:schemeClr val="tx1"/>
                                </a:solidFill>
                                <a:latin typeface="Cambria Math" panose="02040503050406030204" pitchFamily="18" charset="0"/>
                                <a:ea typeface="+mn-ea"/>
                                <a:cs typeface="+mn-cs"/>
                              </a:rPr>
                              <m:t>3</m:t>
                            </m:r>
                          </m:sup>
                        </m:sSup>
                      </m:e>
                    </m:d>
                  </m:oMath>
                </a14:m>
                <a:r>
                  <a:rPr lang="en-US" dirty="0"/>
                  <a:t>in many cases</a:t>
                </a:r>
                <a:br>
                  <a:rPr lang="en-US" dirty="0"/>
                </a:br>
                <a:r>
                  <a:rPr lang="en-US" dirty="0"/>
                  <a:t>because at each step it must </a:t>
                </a:r>
                <a:r>
                  <a:rPr lang="en-US" b="1" dirty="0"/>
                  <a:t>search and update</a:t>
                </a:r>
                <a:r>
                  <a:rPr lang="en-US" dirty="0"/>
                  <a:t> that matrix again.</a:t>
                </a:r>
              </a:p>
              <a:p>
                <a:r>
                  <a:rPr lang="en-US" dirty="0"/>
                  <a:t>Here, </a:t>
                </a:r>
                <a14:m>
                  <m:oMath xmlns:m="http://schemas.openxmlformats.org/officeDocument/2006/math">
                    <m:r>
                      <a:rPr lang="en-US" sz="1200" i="1" kern="1200">
                        <a:solidFill>
                          <a:schemeClr val="tx1"/>
                        </a:solidFill>
                        <a:latin typeface="Cambria Math" panose="02040503050406030204" pitchFamily="18" charset="0"/>
                        <a:ea typeface="+mn-ea"/>
                        <a:cs typeface="+mn-cs"/>
                      </a:rPr>
                      <m:t>𝑁</m:t>
                    </m:r>
                  </m:oMath>
                </a14:m>
                <a:r>
                  <a:rPr lang="en-US" dirty="0"/>
                  <a:t>= number of data points.</a:t>
                </a:r>
              </a:p>
              <a:p>
                <a:r>
                  <a:rPr lang="en-US" dirty="0"/>
                  <a:t>Hierarchical clustering can become </a:t>
                </a:r>
                <a:r>
                  <a:rPr lang="en-US" b="1" dirty="0"/>
                  <a:t>slow and memory-heavy</a:t>
                </a:r>
                <a:r>
                  <a:rPr lang="en-US" dirty="0"/>
                  <a:t> when the dataset is large.</a:t>
                </a:r>
              </a:p>
            </p:txBody>
          </p:sp>
        </mc:Choice>
        <mc:Fallback xmlns="">
          <p:sp>
            <p:nvSpPr>
              <p:cNvPr id="3" name="Notes Placeholder 2"/>
              <p:cNvSpPr>
                <a:spLocks noGrp="1"/>
              </p:cNvSpPr>
              <p:nvPr>
                <p:ph type="body" idx="1"/>
              </p:nvPr>
            </p:nvSpPr>
            <p:spPr/>
            <p:txBody>
              <a:bodyPr/>
              <a:lstStyle/>
              <a:p>
                <a:r>
                  <a:rPr lang="en-US" b="1" dirty="0"/>
                  <a:t>Hierarchical Clustering: Time and Space Requirements</a:t>
                </a:r>
              </a:p>
              <a:p>
                <a:r>
                  <a:rPr lang="en-US" b="1" dirty="0"/>
                  <a:t>Space complexity = </a:t>
                </a:r>
                <a:r>
                  <a:rPr lang="en-US" sz="1200" i="0" kern="1200">
                    <a:solidFill>
                      <a:schemeClr val="tx1"/>
                    </a:solidFill>
                    <a:latin typeface="+mn-lt"/>
                    <a:ea typeface="+mn-ea"/>
                    <a:cs typeface="+mn-cs"/>
                  </a:rPr>
                  <a:t>𝑂</a:t>
                </a:r>
                <a:r>
                  <a:rPr lang="ar-AE" sz="1200" i="0" kern="1200">
                    <a:solidFill>
                      <a:schemeClr val="tx1"/>
                    </a:solidFill>
                    <a:latin typeface="+mn-lt"/>
                    <a:ea typeface="+mn-ea"/>
                    <a:cs typeface="+mn-cs"/>
                  </a:rPr>
                  <a:t>(𝑁^2 )</a:t>
                </a:r>
                <a:br>
                  <a:rPr lang="ar-AE" dirty="0"/>
                </a:br>
                <a:r>
                  <a:rPr lang="en-US" dirty="0"/>
                  <a:t>because it stores the </a:t>
                </a:r>
                <a:r>
                  <a:rPr lang="en-US" b="1" dirty="0"/>
                  <a:t>proximity (distance) matrix</a:t>
                </a:r>
                <a:r>
                  <a:rPr lang="en-US" dirty="0"/>
                  <a:t> for all pairs of points.</a:t>
                </a:r>
              </a:p>
              <a:p>
                <a:r>
                  <a:rPr lang="en-US" b="1" dirty="0"/>
                  <a:t>Time complexity = </a:t>
                </a:r>
                <a:r>
                  <a:rPr lang="en-US" sz="1200" i="0" kern="1200">
                    <a:solidFill>
                      <a:schemeClr val="tx1"/>
                    </a:solidFill>
                    <a:latin typeface="+mn-lt"/>
                    <a:ea typeface="+mn-ea"/>
                    <a:cs typeface="+mn-cs"/>
                  </a:rPr>
                  <a:t>𝑂</a:t>
                </a:r>
                <a:r>
                  <a:rPr lang="ar-AE" sz="1200" i="0" kern="1200">
                    <a:solidFill>
                      <a:schemeClr val="tx1"/>
                    </a:solidFill>
                    <a:latin typeface="+mn-lt"/>
                    <a:ea typeface="+mn-ea"/>
                    <a:cs typeface="+mn-cs"/>
                  </a:rPr>
                  <a:t>(𝑁^3 )</a:t>
                </a:r>
                <a:r>
                  <a:rPr lang="en-US" dirty="0"/>
                  <a:t>in many cases</a:t>
                </a:r>
                <a:br>
                  <a:rPr lang="en-US" dirty="0"/>
                </a:br>
                <a:r>
                  <a:rPr lang="en-US" dirty="0"/>
                  <a:t>because at each step it must </a:t>
                </a:r>
                <a:r>
                  <a:rPr lang="en-US" b="1" dirty="0"/>
                  <a:t>search and update</a:t>
                </a:r>
                <a:r>
                  <a:rPr lang="en-US" dirty="0"/>
                  <a:t> that matrix again.</a:t>
                </a:r>
              </a:p>
              <a:p>
                <a:r>
                  <a:rPr lang="en-US" dirty="0"/>
                  <a:t>Here, </a:t>
                </a:r>
                <a:r>
                  <a:rPr lang="en-US" sz="1200" i="0" kern="1200">
                    <a:solidFill>
                      <a:schemeClr val="tx1"/>
                    </a:solidFill>
                    <a:latin typeface="+mn-lt"/>
                    <a:ea typeface="+mn-ea"/>
                    <a:cs typeface="+mn-cs"/>
                  </a:rPr>
                  <a:t>𝑁</a:t>
                </a:r>
                <a:r>
                  <a:rPr lang="en-US" dirty="0"/>
                  <a:t>= number of data points.</a:t>
                </a:r>
              </a:p>
              <a:p>
                <a:r>
                  <a:rPr lang="en-US" dirty="0"/>
                  <a:t>Hierarchical clustering can become </a:t>
                </a:r>
                <a:r>
                  <a:rPr lang="en-US" b="1" dirty="0"/>
                  <a:t>slow and memory-heavy</a:t>
                </a:r>
                <a:r>
                  <a:rPr lang="en-US" dirty="0"/>
                  <a:t> when the dataset is large.</a:t>
                </a:r>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a:t>
            </a:fld>
            <a:endParaRPr lang="en-US"/>
          </a:p>
        </p:txBody>
      </p:sp>
    </p:spTree>
    <p:extLst>
      <p:ext uri="{BB962C8B-B14F-4D97-AF65-F5344CB8AC3E}">
        <p14:creationId xmlns:p14="http://schemas.microsoft.com/office/powerpoint/2010/main" val="1883965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Problems and Limitations of Hierarchical Clustering</a:t>
            </a:r>
            <a:endParaRPr lang="en-US" dirty="0"/>
          </a:p>
          <a:p>
            <a:r>
              <a:rPr lang="en-US" dirty="0"/>
              <a:t>Once two clusters are merged, the decision cannot be changed.</a:t>
            </a:r>
          </a:p>
          <a:p>
            <a:r>
              <a:rPr lang="en-US" dirty="0"/>
              <a:t>It does not directly optimize one global objective function.</a:t>
            </a:r>
          </a:p>
          <a:p>
            <a:r>
              <a:rPr lang="en-US" dirty="0"/>
              <a:t>It is sensitive to noise and outliers.</a:t>
            </a:r>
          </a:p>
          <a:p>
            <a:r>
              <a:rPr lang="en-US" dirty="0"/>
              <a:t>It has trouble with clusters of different sizes and irregular shapes.</a:t>
            </a:r>
          </a:p>
          <a:p>
            <a:r>
              <a:rPr lang="en-US" dirty="0"/>
              <a:t>It may split large clusters incorrectly.</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5</a:t>
            </a:fld>
            <a:endParaRPr lang="en-US"/>
          </a:p>
        </p:txBody>
      </p:sp>
    </p:spTree>
    <p:extLst>
      <p:ext uri="{BB962C8B-B14F-4D97-AF65-F5344CB8AC3E}">
        <p14:creationId xmlns:p14="http://schemas.microsoft.com/office/powerpoint/2010/main" val="603616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A13F865C-EDA8-4846-B440-4EC065931A51}" type="slidenum">
              <a:rPr lang="en-US" altLang="zh-CN" smtClean="0"/>
              <a:pPr/>
              <a:t>6</a:t>
            </a:fld>
            <a:endParaRPr lang="en-US" altLang="zh-CN"/>
          </a:p>
        </p:txBody>
      </p:sp>
      <p:sp>
        <p:nvSpPr>
          <p:cNvPr id="2" name="Notes Placeholder 1">
            <a:extLst>
              <a:ext uri="{FF2B5EF4-FFF2-40B4-BE49-F238E27FC236}">
                <a16:creationId xmlns:a16="http://schemas.microsoft.com/office/drawing/2014/main" id="{ACA2431E-5EC0-BA71-2A22-FAF3573A6C54}"/>
              </a:ext>
            </a:extLst>
          </p:cNvPr>
          <p:cNvSpPr>
            <a:spLocks noGrp="1"/>
          </p:cNvSpPr>
          <p:nvPr>
            <p:ph type="body" idx="1"/>
          </p:nvPr>
        </p:nvSpPr>
        <p:spPr/>
        <p:txBody>
          <a:bodyPr/>
          <a:lstStyle/>
          <a:p>
            <a:r>
              <a:rPr lang="en-US" b="1" dirty="0"/>
              <a:t>Extensions to Hierarchical Clustering</a:t>
            </a:r>
            <a:endParaRPr lang="en-US" dirty="0"/>
          </a:p>
          <a:p>
            <a:r>
              <a:rPr lang="en-US" dirty="0"/>
              <a:t>Agglomerative hierarchical clustering has two main problems:</a:t>
            </a:r>
          </a:p>
          <a:p>
            <a:pPr lvl="1"/>
            <a:r>
              <a:rPr lang="en-US" dirty="0"/>
              <a:t>it cannot undo previous merge decisions</a:t>
            </a:r>
          </a:p>
          <a:p>
            <a:pPr lvl="1"/>
            <a:r>
              <a:rPr lang="en-US" dirty="0"/>
              <a:t>it does not scale well for large datasets</a:t>
            </a:r>
          </a:p>
          <a:p>
            <a:r>
              <a:rPr lang="en-US" dirty="0"/>
              <a:t>To improve this, some methods combine hierarchical and distance-based clustering.</a:t>
            </a:r>
          </a:p>
          <a:p>
            <a:r>
              <a:rPr lang="en-US" b="1" dirty="0"/>
              <a:t>BIRCH (1996):</a:t>
            </a:r>
            <a:r>
              <a:rPr lang="en-US" dirty="0"/>
              <a:t> uses a CF-tree and updates sub-clusters step by step.</a:t>
            </a:r>
          </a:p>
          <a:p>
            <a:r>
              <a:rPr lang="en-US" b="1" dirty="0"/>
              <a:t>CHAMELEON (1999):</a:t>
            </a:r>
            <a:r>
              <a:rPr lang="en-US" dirty="0"/>
              <a:t> uses dynamic modeling for hierarchical clustering.</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7EE9D618-4631-44FD-AA1A-97FBA184C99D}" type="slidenum">
              <a:rPr lang="en-US" altLang="zh-CN" smtClean="0"/>
              <a:pPr/>
              <a:t>7</a:t>
            </a:fld>
            <a:endParaRPr lang="en-US" altLang="zh-CN"/>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r>
              <a:rPr lang="en-US" b="1" dirty="0"/>
              <a:t>BIRCH (Balanced Iterative Reducing and Clustering Using Hierarchies)</a:t>
            </a:r>
            <a:r>
              <a:rPr lang="en-US" dirty="0"/>
              <a:t> is a hierarchical clustering method proposed by </a:t>
            </a:r>
            <a:r>
              <a:rPr lang="en-US" b="1" dirty="0"/>
              <a:t>Zhang, Ramakrishnan, and </a:t>
            </a:r>
            <a:r>
              <a:rPr lang="en-US" b="1" dirty="0" err="1"/>
              <a:t>Livny</a:t>
            </a:r>
            <a:r>
              <a:rPr lang="en-US" b="1" dirty="0"/>
              <a:t> in 1996</a:t>
            </a:r>
            <a:r>
              <a:rPr lang="en-US" dirty="0"/>
              <a:t>.</a:t>
            </a:r>
          </a:p>
          <a:p>
            <a:r>
              <a:rPr lang="en-US" dirty="0"/>
              <a:t>It incrementally builds a </a:t>
            </a:r>
            <a:r>
              <a:rPr lang="en-US" b="1" dirty="0"/>
              <a:t>CF-tree (Clustering Feature tree)</a:t>
            </a:r>
            <a:r>
              <a:rPr lang="en-US" dirty="0"/>
              <a:t>, which is a hierarchical structure for multiphase clustering.</a:t>
            </a:r>
          </a:p>
          <a:p>
            <a:r>
              <a:rPr lang="en-US" b="1" dirty="0"/>
              <a:t>Phase 1:</a:t>
            </a:r>
            <a:r>
              <a:rPr lang="en-US" dirty="0"/>
              <a:t> scan the database to build an initial in-memory CF-tree, which compresses the data while trying to preserve the original clustering structure.</a:t>
            </a:r>
          </a:p>
          <a:p>
            <a:r>
              <a:rPr lang="en-US" b="1" dirty="0"/>
              <a:t>Phase 2:</a:t>
            </a:r>
            <a:r>
              <a:rPr lang="en-US" dirty="0"/>
              <a:t> apply any clustering algorithm on the leaf nodes of the CF-tree.</a:t>
            </a:r>
          </a:p>
          <a:p>
            <a:r>
              <a:rPr lang="en-US" dirty="0"/>
              <a:t>BIRCH </a:t>
            </a:r>
            <a:r>
              <a:rPr lang="en-US" b="1" dirty="0"/>
              <a:t>scales linearly</a:t>
            </a:r>
            <a:r>
              <a:rPr lang="en-US" dirty="0"/>
              <a:t>, so it can find a good clustering with one scan and improve it with a few extra scans.</a:t>
            </a:r>
          </a:p>
          <a:p>
            <a:r>
              <a:rPr lang="en-US" b="1" dirty="0"/>
              <a:t>Weakness:</a:t>
            </a:r>
            <a:r>
              <a:rPr lang="en-US" dirty="0"/>
              <a:t> it mainly handles numeric data and is sensitive to the order of input records.</a:t>
            </a:r>
          </a:p>
          <a:p>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A5C67001-F32C-4843-9C23-454B3D57BE43}" type="slidenum">
              <a:rPr lang="en-US" altLang="zh-CN" smtClean="0"/>
              <a:pPr/>
              <a:t>9</a:t>
            </a:fld>
            <a:endParaRPr lang="en-US" altLang="zh-CN"/>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r>
              <a:rPr lang="en-US" b="1" dirty="0"/>
              <a:t>Clustering Feature (CF) in BIRCH</a:t>
            </a:r>
            <a:r>
              <a:rPr lang="en-US" dirty="0"/>
              <a:t> is a compact summary of a cluster, written as </a:t>
            </a:r>
            <a:r>
              <a:rPr lang="en-US" b="1" dirty="0"/>
              <a:t>CF = (N, LS, SS)</a:t>
            </a:r>
            <a:r>
              <a:rPr lang="en-US" dirty="0"/>
              <a:t>. Here, </a:t>
            </a:r>
            <a:r>
              <a:rPr lang="en-US" b="1" dirty="0"/>
              <a:t>N</a:t>
            </a:r>
            <a:r>
              <a:rPr lang="en-US" dirty="0"/>
              <a:t> means the number of data points, </a:t>
            </a:r>
            <a:r>
              <a:rPr lang="en-US" b="1" dirty="0"/>
              <a:t>LS</a:t>
            </a:r>
            <a:r>
              <a:rPr lang="en-US" dirty="0"/>
              <a:t> means the sum of all point coordinates, and </a:t>
            </a:r>
            <a:r>
              <a:rPr lang="en-US" b="1" dirty="0"/>
              <a:t>SS</a:t>
            </a:r>
            <a:r>
              <a:rPr lang="en-US" dirty="0"/>
              <a:t> means the sum of the squared coordinates. For example, if the points are </a:t>
            </a:r>
            <a:r>
              <a:rPr lang="en-US" b="1" dirty="0"/>
              <a:t>(3,4), (2,6), (4,5), (4,7), (3,8)</a:t>
            </a:r>
            <a:r>
              <a:rPr lang="en-US" dirty="0"/>
              <a:t>, then </a:t>
            </a:r>
            <a:r>
              <a:rPr lang="en-US" b="1" dirty="0"/>
              <a:t>N = 5</a:t>
            </a:r>
            <a:r>
              <a:rPr lang="en-US" dirty="0"/>
              <a:t>, </a:t>
            </a:r>
            <a:r>
              <a:rPr lang="en-US" b="1" dirty="0"/>
              <a:t>LS = (16,30)</a:t>
            </a:r>
            <a:r>
              <a:rPr lang="en-US" dirty="0"/>
              <a:t>, and </a:t>
            </a:r>
            <a:r>
              <a:rPr lang="en-US" b="1" dirty="0"/>
              <a:t>SS = (54,190)</a:t>
            </a:r>
            <a:r>
              <a:rPr lang="en-US" dirty="0"/>
              <a:t>. So, the CF becomes </a:t>
            </a:r>
            <a:r>
              <a:rPr lang="en-US" b="1" dirty="0"/>
              <a:t>(5, (16,30), (54,190))</a:t>
            </a:r>
            <a:r>
              <a:rPr lang="en-US" dirty="0"/>
              <a:t>. This helps BIRCH store a cluster in a short form instead of keeping all points separately, which saves memory and makes clustering faster.</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CF Tree Parameters</a:t>
            </a:r>
            <a:endParaRPr lang="en-US" dirty="0"/>
          </a:p>
          <a:p>
            <a:r>
              <a:rPr lang="en-US" dirty="0"/>
              <a:t>A </a:t>
            </a:r>
            <a:r>
              <a:rPr lang="en-US" b="1" dirty="0"/>
              <a:t>CF tree</a:t>
            </a:r>
            <a:r>
              <a:rPr lang="en-US" dirty="0"/>
              <a:t> has some important parameters to control its structure.</a:t>
            </a:r>
          </a:p>
          <a:p>
            <a:r>
              <a:rPr lang="en-US" b="1" dirty="0"/>
              <a:t>B</a:t>
            </a:r>
            <a:r>
              <a:rPr lang="en-US" dirty="0"/>
              <a:t> = maximum number of CF entries in an </a:t>
            </a:r>
            <a:r>
              <a:rPr lang="en-US" b="1" dirty="0"/>
              <a:t>internal node</a:t>
            </a:r>
            <a:r>
              <a:rPr lang="en-US" dirty="0"/>
              <a:t>.</a:t>
            </a:r>
            <a:br>
              <a:rPr lang="en-US" dirty="0"/>
            </a:br>
            <a:r>
              <a:rPr lang="en-US" dirty="0"/>
              <a:t>It is the </a:t>
            </a:r>
            <a:r>
              <a:rPr lang="en-US" b="1" dirty="0"/>
              <a:t>branching factor</a:t>
            </a:r>
            <a:r>
              <a:rPr lang="en-US" dirty="0"/>
              <a:t>, meaning how many child nodes an internal node can have.</a:t>
            </a:r>
          </a:p>
          <a:p>
            <a:r>
              <a:rPr lang="en-US" b="1" dirty="0"/>
              <a:t>L</a:t>
            </a:r>
            <a:r>
              <a:rPr lang="en-US" dirty="0"/>
              <a:t> = maximum number of CF entries in a </a:t>
            </a:r>
            <a:r>
              <a:rPr lang="en-US" b="1" dirty="0"/>
              <a:t>leaf node</a:t>
            </a:r>
            <a:r>
              <a:rPr lang="en-US" dirty="0"/>
              <a:t>.</a:t>
            </a:r>
            <a:br>
              <a:rPr lang="en-US" dirty="0"/>
            </a:br>
            <a:r>
              <a:rPr lang="en-US" dirty="0"/>
              <a:t>It shows how many cluster summaries a leaf node can store.</a:t>
            </a:r>
          </a:p>
          <a:p>
            <a:r>
              <a:rPr lang="en-US" b="1" dirty="0"/>
              <a:t>T</a:t>
            </a:r>
            <a:r>
              <a:rPr lang="en-US" dirty="0"/>
              <a:t> = </a:t>
            </a:r>
            <a:r>
              <a:rPr lang="en-US" b="1" dirty="0"/>
              <a:t>threshold</a:t>
            </a:r>
            <a:r>
              <a:rPr lang="en-US" dirty="0"/>
              <a:t> for points inside one CF in a leaf node.</a:t>
            </a:r>
            <a:br>
              <a:rPr lang="en-US" dirty="0"/>
            </a:br>
            <a:r>
              <a:rPr lang="en-US" dirty="0"/>
              <a:t>It limits how far the sample points can spread within that cluster.</a:t>
            </a:r>
          </a:p>
          <a:p>
            <a:r>
              <a:rPr lang="en-US" dirty="0"/>
              <a:t>So, </a:t>
            </a:r>
            <a:r>
              <a:rPr lang="en-US" b="1" dirty="0"/>
              <a:t>T controls cluster size</a:t>
            </a:r>
            <a:r>
              <a:rPr lang="en-US" dirty="0"/>
              <a:t>, while </a:t>
            </a:r>
            <a:r>
              <a:rPr lang="en-US" b="1" dirty="0"/>
              <a:t>B and L control tree size and shape</a:t>
            </a:r>
            <a:r>
              <a:rPr lang="en-US" dirty="0"/>
              <a:t>.</a:t>
            </a:r>
          </a:p>
          <a:p>
            <a:r>
              <a:rPr lang="en-US" dirty="0"/>
              <a:t>In a CF tree, a </a:t>
            </a:r>
            <a:r>
              <a:rPr lang="en-US" b="1" dirty="0"/>
              <a:t>parent CF</a:t>
            </a:r>
            <a:r>
              <a:rPr lang="en-US" dirty="0"/>
              <a:t> is formed by adding the CFs of its child nodes.</a:t>
            </a:r>
          </a:p>
          <a:p>
            <a:r>
              <a:rPr lang="en-US" dirty="0"/>
              <a:t>If two child CFs are combined:</a:t>
            </a:r>
          </a:p>
          <a:p>
            <a:pPr lvl="1"/>
            <a:r>
              <a:rPr lang="en-US" b="1" dirty="0"/>
              <a:t>N = N1 + N2</a:t>
            </a:r>
            <a:endParaRPr lang="en-US" dirty="0"/>
          </a:p>
          <a:p>
            <a:pPr lvl="1"/>
            <a:r>
              <a:rPr lang="en-US" b="1" dirty="0"/>
              <a:t>LS = LS1 + LS2</a:t>
            </a:r>
            <a:endParaRPr lang="en-US" dirty="0"/>
          </a:p>
          <a:p>
            <a:pPr lvl="1"/>
            <a:r>
              <a:rPr lang="en-US" b="1" dirty="0"/>
              <a:t>SS = SS1 + SS2</a:t>
            </a:r>
            <a:endParaRPr lang="en-US" dirty="0"/>
          </a:p>
          <a:p>
            <a:r>
              <a:rPr lang="en-US" dirty="0"/>
              <a:t>This makes the CF tree a compact and efficient summary of the dataset.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10</a:t>
            </a:fld>
            <a:endParaRPr lang="en-US"/>
          </a:p>
        </p:txBody>
      </p:sp>
    </p:spTree>
    <p:extLst>
      <p:ext uri="{BB962C8B-B14F-4D97-AF65-F5344CB8AC3E}">
        <p14:creationId xmlns:p14="http://schemas.microsoft.com/office/powerpoint/2010/main" val="1067996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Insertion in CF Tree</a:t>
            </a:r>
            <a:endParaRPr lang="en-US" dirty="0"/>
          </a:p>
          <a:p>
            <a:r>
              <a:rPr lang="en-US" dirty="0"/>
              <a:t>First, BIRCH finds the </a:t>
            </a:r>
            <a:r>
              <a:rPr lang="en-US" b="1" dirty="0"/>
              <a:t>closest leaf node</a:t>
            </a:r>
            <a:r>
              <a:rPr lang="en-US" dirty="0"/>
              <a:t> and the </a:t>
            </a:r>
            <a:r>
              <a:rPr lang="en-US" b="1" dirty="0"/>
              <a:t>closest CF entry</a:t>
            </a:r>
            <a:r>
              <a:rPr lang="en-US" dirty="0"/>
              <a:t> for the new data point.</a:t>
            </a:r>
          </a:p>
          <a:p>
            <a:r>
              <a:rPr lang="en-US" dirty="0"/>
              <a:t>Then it tries to add the new point into that CF.</a:t>
            </a:r>
          </a:p>
          <a:p>
            <a:r>
              <a:rPr lang="en-US" dirty="0"/>
              <a:t>If the cluster still stays within the </a:t>
            </a:r>
            <a:r>
              <a:rPr lang="en-US" b="1" dirty="0"/>
              <a:t>threshold T</a:t>
            </a:r>
            <a:r>
              <a:rPr lang="en-US" dirty="0"/>
              <a:t>, the CF values on the path are updated, and the insertion stops.</a:t>
            </a:r>
          </a:p>
          <a:p>
            <a:r>
              <a:rPr lang="en-US" dirty="0"/>
              <a:t>If the threshold is not satisfied, BIRCH checks whether there is space in the leaf node.</a:t>
            </a:r>
          </a:p>
          <a:p>
            <a:r>
              <a:rPr lang="en-US" dirty="0"/>
              <a:t>If the leaf node has space (</a:t>
            </a:r>
            <a:r>
              <a:rPr lang="en-US" b="1" dirty="0"/>
              <a:t>less than L entries</a:t>
            </a:r>
            <a:r>
              <a:rPr lang="en-US" dirty="0"/>
              <a:t>), a </a:t>
            </a:r>
            <a:r>
              <a:rPr lang="en-US" b="1" dirty="0"/>
              <a:t>new CF entry</a:t>
            </a:r>
            <a:r>
              <a:rPr lang="en-US" dirty="0"/>
              <a:t> is created for the new point.</a:t>
            </a:r>
          </a:p>
          <a:p>
            <a:r>
              <a:rPr lang="en-US" dirty="0"/>
              <a:t>If the leaf node is already full, the leaf node is </a:t>
            </a:r>
            <a:r>
              <a:rPr lang="en-US" b="1" dirty="0"/>
              <a:t>split into two new leaf nodes</a:t>
            </a:r>
            <a:r>
              <a:rPr lang="en-US" dirty="0"/>
              <a:t>.</a:t>
            </a:r>
          </a:p>
          <a:p>
            <a:r>
              <a:rPr lang="en-US" dirty="0"/>
              <a:t>During splitting, the two farthest CF entries are chosen first, and the other entries are assigned based on distance.</a:t>
            </a:r>
          </a:p>
          <a:p>
            <a:r>
              <a:rPr lang="en-US" dirty="0"/>
              <a:t>After that, BIRCH checks the </a:t>
            </a:r>
            <a:r>
              <a:rPr lang="en-US" b="1" dirty="0"/>
              <a:t>parent node</a:t>
            </a:r>
            <a:r>
              <a:rPr lang="en-US" dirty="0"/>
              <a:t>.</a:t>
            </a:r>
          </a:p>
          <a:p>
            <a:r>
              <a:rPr lang="en-US" dirty="0"/>
              <a:t>If the parent also becomes full, it is split too.</a:t>
            </a:r>
          </a:p>
          <a:p>
            <a:r>
              <a:rPr lang="en-US" dirty="0"/>
              <a:t>So, insertion in a CF tree means: </a:t>
            </a:r>
            <a:r>
              <a:rPr lang="en-US" b="1" dirty="0"/>
              <a:t>find closest place, insert if possible, otherwise create new entry or split nodes</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11</a:t>
            </a:fld>
            <a:endParaRPr lang="en-US"/>
          </a:p>
        </p:txBody>
      </p:sp>
    </p:spTree>
    <p:extLst>
      <p:ext uri="{BB962C8B-B14F-4D97-AF65-F5344CB8AC3E}">
        <p14:creationId xmlns:p14="http://schemas.microsoft.com/office/powerpoint/2010/main" val="2380639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in CF Tree (B=3, L=3)</a:t>
            </a:r>
          </a:p>
          <a:p>
            <a:r>
              <a:rPr lang="en-US" dirty="0"/>
              <a:t>Here, </a:t>
            </a:r>
            <a:r>
              <a:rPr lang="en-US" b="1" dirty="0"/>
              <a:t>L = 3</a:t>
            </a:r>
            <a:r>
              <a:rPr lang="en-US" dirty="0"/>
              <a:t>, so each </a:t>
            </a:r>
            <a:r>
              <a:rPr lang="en-US" b="1" dirty="0"/>
              <a:t>leaf node</a:t>
            </a:r>
            <a:r>
              <a:rPr lang="en-US" dirty="0"/>
              <a:t> can store at most </a:t>
            </a:r>
            <a:r>
              <a:rPr lang="en-US" b="1" dirty="0"/>
              <a:t>3 CF entries</a:t>
            </a:r>
            <a:r>
              <a:rPr lang="en-US" dirty="0"/>
              <a:t>.</a:t>
            </a:r>
          </a:p>
          <a:p>
            <a:r>
              <a:rPr lang="en-US" b="1" dirty="0"/>
              <a:t>LN1</a:t>
            </a:r>
            <a:r>
              <a:rPr lang="en-US" dirty="0"/>
              <a:t> already has </a:t>
            </a:r>
            <a:r>
              <a:rPr lang="en-US" b="1" dirty="0"/>
              <a:t>3 CFs</a:t>
            </a:r>
            <a:r>
              <a:rPr lang="en-US" dirty="0"/>
              <a:t>: </a:t>
            </a:r>
            <a:r>
              <a:rPr lang="en-US" b="1" dirty="0"/>
              <a:t>sc1, sc2, sc3</a:t>
            </a:r>
            <a:r>
              <a:rPr lang="en-US" dirty="0"/>
              <a:t>.</a:t>
            </a:r>
          </a:p>
          <a:p>
            <a:r>
              <a:rPr lang="en-US" dirty="0"/>
              <a:t>A new sample point comes, and it is closest to </a:t>
            </a:r>
            <a:r>
              <a:rPr lang="en-US" b="1" dirty="0"/>
              <a:t>LN1</a:t>
            </a:r>
            <a:r>
              <a:rPr lang="en-US" dirty="0"/>
              <a:t>.</a:t>
            </a:r>
          </a:p>
          <a:p>
            <a:r>
              <a:rPr lang="en-US" dirty="0"/>
              <a:t>But this new point does </a:t>
            </a:r>
            <a:r>
              <a:rPr lang="en-US" b="1" dirty="0"/>
              <a:t>not fit inside</a:t>
            </a:r>
            <a:r>
              <a:rPr lang="en-US" dirty="0"/>
              <a:t> any existing CF in LN1.</a:t>
            </a:r>
          </a:p>
          <a:p>
            <a:r>
              <a:rPr lang="en-US" dirty="0"/>
              <a:t>So, it needs a </a:t>
            </a:r>
            <a:r>
              <a:rPr lang="en-US" b="1" dirty="0"/>
              <a:t>new CF</a:t>
            </a:r>
            <a:r>
              <a:rPr lang="en-US" dirty="0"/>
              <a:t>, called </a:t>
            </a:r>
            <a:r>
              <a:rPr lang="en-US" b="1" dirty="0"/>
              <a:t>sc8</a:t>
            </a:r>
            <a:r>
              <a:rPr lang="en-US" dirty="0"/>
              <a:t>.</a:t>
            </a:r>
          </a:p>
          <a:p>
            <a:r>
              <a:rPr lang="en-US" dirty="0"/>
              <a:t>Problem: LN1 is already full, because it already has 3 CFs.</a:t>
            </a:r>
          </a:p>
          <a:p>
            <a:r>
              <a:rPr lang="en-US" dirty="0"/>
              <a:t>So, </a:t>
            </a:r>
            <a:r>
              <a:rPr lang="en-US" b="1" dirty="0"/>
              <a:t>LN1 must be split into two new leaf nodes</a:t>
            </a:r>
            <a:r>
              <a:rPr lang="en-US" dirty="0"/>
              <a:t>.</a:t>
            </a:r>
          </a:p>
          <a:p>
            <a:r>
              <a:rPr lang="en-US" b="1" dirty="0"/>
              <a:t>Main idea:</a:t>
            </a:r>
          </a:p>
          <a:p>
            <a:r>
              <a:rPr lang="en-US" dirty="0"/>
              <a:t>A split happens when:</a:t>
            </a:r>
          </a:p>
          <a:p>
            <a:r>
              <a:rPr lang="en-US" dirty="0"/>
              <a:t>the point cannot be added to an existing CF, and</a:t>
            </a:r>
          </a:p>
          <a:p>
            <a:r>
              <a:rPr lang="en-US" dirty="0"/>
              <a:t>the leaf node has no free space for a new CF.</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13</a:t>
            </a:fld>
            <a:endParaRPr lang="en-US"/>
          </a:p>
        </p:txBody>
      </p:sp>
    </p:spTree>
    <p:extLst>
      <p:ext uri="{BB962C8B-B14F-4D97-AF65-F5344CB8AC3E}">
        <p14:creationId xmlns:p14="http://schemas.microsoft.com/office/powerpoint/2010/main" val="1817757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the leaf node is split</a:t>
            </a:r>
          </a:p>
          <a:p>
            <a:r>
              <a:rPr lang="en-US" dirty="0"/>
              <a:t>To split LN1, BIRCH first finds the </a:t>
            </a:r>
            <a:r>
              <a:rPr lang="en-US" b="1" dirty="0"/>
              <a:t>two farthest CFs</a:t>
            </a:r>
            <a:r>
              <a:rPr lang="en-US" dirty="0"/>
              <a:t> inside LN1.</a:t>
            </a:r>
          </a:p>
          <a:p>
            <a:r>
              <a:rPr lang="en-US" dirty="0"/>
              <a:t>These two farthest CFs are used as the </a:t>
            </a:r>
            <a:r>
              <a:rPr lang="en-US" b="1" dirty="0"/>
              <a:t>seeds</a:t>
            </a:r>
            <a:r>
              <a:rPr lang="en-US" dirty="0"/>
              <a:t> of two new leaf nodes.</a:t>
            </a:r>
          </a:p>
          <a:p>
            <a:r>
              <a:rPr lang="en-US" dirty="0"/>
              <a:t>Then the other CFs and the new CF </a:t>
            </a:r>
            <a:r>
              <a:rPr lang="en-US" b="1" dirty="0"/>
              <a:t>sc8</a:t>
            </a:r>
            <a:r>
              <a:rPr lang="en-US" dirty="0"/>
              <a:t> are assigned to the nearer seed.</a:t>
            </a:r>
          </a:p>
          <a:p>
            <a:r>
              <a:rPr lang="en-US" dirty="0"/>
              <a:t>As a result, </a:t>
            </a:r>
            <a:r>
              <a:rPr lang="en-US" b="1" dirty="0"/>
              <a:t>LN1 is divided into two new leaf nodes</a:t>
            </a:r>
            <a:r>
              <a:rPr lang="en-US" dirty="0"/>
              <a:t>: </a:t>
            </a:r>
            <a:r>
              <a:rPr lang="en-US" b="1" dirty="0"/>
              <a:t>LN1′</a:t>
            </a:r>
            <a:r>
              <a:rPr lang="en-US" dirty="0"/>
              <a:t> and </a:t>
            </a:r>
            <a:r>
              <a:rPr lang="en-US" b="1" dirty="0"/>
              <a:t>LN1″</a:t>
            </a:r>
            <a:r>
              <a:rPr lang="en-US" dirty="0"/>
              <a:t>.</a:t>
            </a:r>
          </a:p>
          <a:p>
            <a:r>
              <a:rPr lang="en-US" b="1" dirty="0"/>
              <a:t>Main idea:</a:t>
            </a:r>
          </a:p>
          <a:p>
            <a:r>
              <a:rPr lang="en-US" dirty="0"/>
              <a:t>Split means:</a:t>
            </a:r>
          </a:p>
          <a:p>
            <a:r>
              <a:rPr lang="en-US" dirty="0"/>
              <a:t>choose two farthest groups first</a:t>
            </a:r>
          </a:p>
          <a:p>
            <a:r>
              <a:rPr lang="en-US" dirty="0"/>
              <a:t>then distribute the remaining groups based on distance</a:t>
            </a:r>
          </a:p>
          <a:p>
            <a:r>
              <a:rPr lang="en-US" dirty="0"/>
              <a:t>So after splitting, one old leaf node becomes </a:t>
            </a:r>
            <a:r>
              <a:rPr lang="en-US" b="1" dirty="0"/>
              <a:t>two smaller leaf nodes</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14</a:t>
            </a:fld>
            <a:endParaRPr lang="en-US"/>
          </a:p>
        </p:txBody>
      </p:sp>
    </p:spTree>
    <p:extLst>
      <p:ext uri="{BB962C8B-B14F-4D97-AF65-F5344CB8AC3E}">
        <p14:creationId xmlns:p14="http://schemas.microsoft.com/office/powerpoint/2010/main" val="1040700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the split goes upward</a:t>
            </a:r>
          </a:p>
          <a:p>
            <a:r>
              <a:rPr lang="en-US" dirty="0"/>
              <a:t>After splitting LN1, the </a:t>
            </a:r>
            <a:r>
              <a:rPr lang="en-US" b="1" dirty="0"/>
              <a:t>root</a:t>
            </a:r>
            <a:r>
              <a:rPr lang="en-US" dirty="0"/>
              <a:t> has to store one more child.</a:t>
            </a:r>
          </a:p>
          <a:p>
            <a:r>
              <a:rPr lang="en-US" dirty="0"/>
              <a:t>But here </a:t>
            </a:r>
            <a:r>
              <a:rPr lang="en-US" b="1" dirty="0"/>
              <a:t>B = 3</a:t>
            </a:r>
            <a:r>
              <a:rPr lang="en-US" dirty="0"/>
              <a:t>, so an </a:t>
            </a:r>
            <a:r>
              <a:rPr lang="en-US" b="1" dirty="0"/>
              <a:t>internal node/root can have at most 3 children</a:t>
            </a:r>
            <a:r>
              <a:rPr lang="en-US" dirty="0"/>
              <a:t>.</a:t>
            </a:r>
          </a:p>
          <a:p>
            <a:r>
              <a:rPr lang="en-US" dirty="0"/>
              <a:t>If the root already has 3 children, adding one more will exceed the limit.</a:t>
            </a:r>
          </a:p>
          <a:p>
            <a:r>
              <a:rPr lang="en-US" dirty="0"/>
              <a:t>So, the </a:t>
            </a:r>
            <a:r>
              <a:rPr lang="en-US" b="1" dirty="0"/>
              <a:t>root also splits</a:t>
            </a:r>
            <a:r>
              <a:rPr lang="en-US" dirty="0"/>
              <a:t>.</a:t>
            </a:r>
          </a:p>
          <a:p>
            <a:r>
              <a:rPr lang="en-US" dirty="0"/>
              <a:t>When the root splits, the </a:t>
            </a:r>
            <a:r>
              <a:rPr lang="en-US" b="1" dirty="0"/>
              <a:t>height of the CF tree increases by 1</a:t>
            </a:r>
            <a:r>
              <a:rPr lang="en-US" dirty="0"/>
              <a:t>.</a:t>
            </a:r>
          </a:p>
          <a:p>
            <a:r>
              <a:rPr lang="en-US" b="1" dirty="0"/>
              <a:t>Main idea:</a:t>
            </a:r>
          </a:p>
          <a:p>
            <a:r>
              <a:rPr lang="en-US" dirty="0"/>
              <a:t>Sometimes a leaf split causes a </a:t>
            </a:r>
            <a:r>
              <a:rPr lang="en-US" b="1" dirty="0"/>
              <a:t>parent split</a:t>
            </a:r>
            <a:r>
              <a:rPr lang="en-US" dirty="0"/>
              <a:t>, and that can continue upward.</a:t>
            </a:r>
            <a:br>
              <a:rPr lang="en-US" dirty="0"/>
            </a:br>
            <a:r>
              <a:rPr lang="en-US" dirty="0"/>
              <a:t>This is called </a:t>
            </a:r>
            <a:r>
              <a:rPr lang="en-US" b="1" dirty="0"/>
              <a:t>split propagation</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15</a:t>
            </a:fld>
            <a:endParaRPr lang="en-US"/>
          </a:p>
        </p:txBody>
      </p:sp>
    </p:spTree>
    <p:extLst>
      <p:ext uri="{BB962C8B-B14F-4D97-AF65-F5344CB8AC3E}">
        <p14:creationId xmlns:p14="http://schemas.microsoft.com/office/powerpoint/2010/main" val="1967222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C9C61FDD-B377-4A54-8681-232E867253BA}" type="slidenum">
              <a:rPr lang="en-US" altLang="zh-CN" smtClean="0"/>
              <a:pPr/>
              <a:t>16</a:t>
            </a:fld>
            <a:endParaRPr lang="en-US" altLang="zh-CN"/>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r>
              <a:rPr lang="en-US" b="1" dirty="0"/>
              <a:t>Upper levels</a:t>
            </a:r>
            <a:r>
              <a:rPr lang="en-US" dirty="0"/>
              <a:t> store summaries and pointers</a:t>
            </a:r>
          </a:p>
          <a:p>
            <a:r>
              <a:rPr lang="en-US" b="1" dirty="0"/>
              <a:t>Leaf nodes</a:t>
            </a:r>
            <a:r>
              <a:rPr lang="en-US" dirty="0"/>
              <a:t> store final cluster summaries</a:t>
            </a:r>
          </a:p>
          <a:p>
            <a:r>
              <a:rPr lang="en-US" dirty="0"/>
              <a:t>leaf nodes are linked together for easy access</a:t>
            </a:r>
          </a:p>
          <a:p>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7EE9D618-4631-44FD-AA1A-97FBA184C99D}" type="slidenum">
              <a:rPr lang="en-US" altLang="zh-CN" smtClean="0"/>
              <a:pPr/>
              <a:t>17</a:t>
            </a:fld>
            <a:endParaRPr lang="en-US" altLang="zh-CN"/>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r>
              <a:rPr lang="en-US" b="1" dirty="0"/>
              <a:t>CF-Tree in BIRCH</a:t>
            </a:r>
          </a:p>
          <a:p>
            <a:r>
              <a:rPr lang="en-US" dirty="0"/>
              <a:t>A </a:t>
            </a:r>
            <a:r>
              <a:rPr lang="en-US" b="1" dirty="0"/>
              <a:t>Clustering Feature (CF)</a:t>
            </a:r>
            <a:r>
              <a:rPr lang="en-US" dirty="0"/>
              <a:t> is a compact summary of a subcluster.</a:t>
            </a:r>
          </a:p>
          <a:p>
            <a:r>
              <a:rPr lang="en-US" dirty="0"/>
              <a:t>It stores important statistical information of the cluster and uses memory efficiently.</a:t>
            </a:r>
          </a:p>
          <a:p>
            <a:r>
              <a:rPr lang="en-US" dirty="0"/>
              <a:t>A </a:t>
            </a:r>
            <a:r>
              <a:rPr lang="en-US" b="1" dirty="0"/>
              <a:t>CF-tree</a:t>
            </a:r>
            <a:r>
              <a:rPr lang="en-US" dirty="0"/>
              <a:t> is a </a:t>
            </a:r>
            <a:r>
              <a:rPr lang="en-US" b="1" dirty="0"/>
              <a:t>height-balanced tree</a:t>
            </a:r>
            <a:r>
              <a:rPr lang="en-US" dirty="0"/>
              <a:t> used in BIRCH for hierarchical clustering.</a:t>
            </a:r>
          </a:p>
          <a:p>
            <a:r>
              <a:rPr lang="en-US" dirty="0"/>
              <a:t>It stores clustering features instead of storing all data points directly.</a:t>
            </a:r>
          </a:p>
          <a:p>
            <a:r>
              <a:rPr lang="en-US" dirty="0"/>
              <a:t>In a CF-tree, </a:t>
            </a:r>
            <a:r>
              <a:rPr lang="en-US" b="1" dirty="0"/>
              <a:t>non-leaf nodes</a:t>
            </a:r>
            <a:r>
              <a:rPr lang="en-US" dirty="0"/>
              <a:t> have child nodes.</a:t>
            </a:r>
          </a:p>
          <a:p>
            <a:r>
              <a:rPr lang="en-US" dirty="0"/>
              <a:t>These non-leaf nodes store the </a:t>
            </a:r>
            <a:r>
              <a:rPr lang="en-US" b="1" dirty="0"/>
              <a:t>sum of the CFs of their children</a:t>
            </a:r>
            <a:r>
              <a:rPr lang="en-US" dirty="0"/>
              <a:t>.</a:t>
            </a:r>
          </a:p>
          <a:p>
            <a:r>
              <a:rPr lang="en-US" dirty="0"/>
              <a:t>A CF-tree has two main parameters:</a:t>
            </a:r>
          </a:p>
          <a:p>
            <a:pPr lvl="1"/>
            <a:r>
              <a:rPr lang="en-US" b="1" dirty="0"/>
              <a:t>Branching factor (B):</a:t>
            </a:r>
            <a:r>
              <a:rPr lang="en-US" dirty="0"/>
              <a:t> maximum number of children of a non-leaf node</a:t>
            </a:r>
          </a:p>
          <a:p>
            <a:pPr lvl="1"/>
            <a:r>
              <a:rPr lang="en-US" b="1" dirty="0"/>
              <a:t>Threshold (L):</a:t>
            </a:r>
            <a:r>
              <a:rPr lang="en-US" dirty="0"/>
              <a:t> maximum diameter or size of subclusters stored in leaf nodes</a:t>
            </a:r>
          </a:p>
          <a:p>
            <a:r>
              <a:rPr lang="en-US" b="1" dirty="0"/>
              <a:t>Main idea</a:t>
            </a:r>
          </a:p>
          <a:p>
            <a:r>
              <a:rPr lang="en-US" dirty="0"/>
              <a:t>A CF-tree summarizes large datasets in a compact tree form, so clustering becomes faster and more memory-efficient.</a:t>
            </a:r>
          </a:p>
          <a:p>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B6CBF4A3-EA5D-4CEC-81B2-BE4DC2BC32F0}" type="slidenum">
              <a:rPr lang="en-US" altLang="zh-CN" smtClean="0"/>
              <a:pPr/>
              <a:t>18</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r>
              <a:rPr lang="en-US" b="1" dirty="0"/>
              <a:t>BIRCH Algorithm</a:t>
            </a:r>
          </a:p>
          <a:p>
            <a:r>
              <a:rPr lang="en-US" dirty="0"/>
              <a:t>BIRCH uses </a:t>
            </a:r>
            <a:r>
              <a:rPr lang="en-US" b="1" dirty="0"/>
              <a:t>cluster diameter</a:t>
            </a:r>
            <a:r>
              <a:rPr lang="en-US" dirty="0"/>
              <a:t> to check how spread out a cluster is.</a:t>
            </a:r>
          </a:p>
          <a:p>
            <a:r>
              <a:rPr lang="en-US" dirty="0"/>
              <a:t>For each new data point, it finds the </a:t>
            </a:r>
            <a:r>
              <a:rPr lang="en-US" b="1" dirty="0"/>
              <a:t>closest leaf entry</a:t>
            </a:r>
            <a:r>
              <a:rPr lang="en-US" dirty="0"/>
              <a:t> in the CF-tree.</a:t>
            </a:r>
          </a:p>
          <a:p>
            <a:r>
              <a:rPr lang="en-US" dirty="0"/>
              <a:t>Then it adds the point to that leaf entry and updates the </a:t>
            </a:r>
            <a:r>
              <a:rPr lang="en-US" b="1" dirty="0"/>
              <a:t>CF values</a:t>
            </a:r>
            <a:r>
              <a:rPr lang="en-US" dirty="0"/>
              <a:t>.</a:t>
            </a:r>
          </a:p>
          <a:p>
            <a:r>
              <a:rPr lang="en-US" dirty="0"/>
              <a:t>If the cluster diameter becomes larger than the allowed maximum, the </a:t>
            </a:r>
            <a:r>
              <a:rPr lang="en-US" b="1" dirty="0"/>
              <a:t>leaf node is split</a:t>
            </a:r>
            <a:r>
              <a:rPr lang="en-US" dirty="0"/>
              <a:t>.</a:t>
            </a:r>
          </a:p>
          <a:p>
            <a:r>
              <a:rPr lang="en-US" dirty="0"/>
              <a:t>If needed, the </a:t>
            </a:r>
            <a:r>
              <a:rPr lang="en-US" b="1" dirty="0"/>
              <a:t>parent nodes may also split</a:t>
            </a:r>
            <a:r>
              <a:rPr lang="en-US" dirty="0"/>
              <a:t>.</a:t>
            </a:r>
          </a:p>
          <a:p>
            <a:r>
              <a:rPr lang="en-US" dirty="0"/>
              <a:t>The algorithm is efficient and works in about </a:t>
            </a:r>
            <a:r>
              <a:rPr lang="en-US" b="1" dirty="0"/>
              <a:t>O(n)</a:t>
            </a:r>
            <a:r>
              <a:rPr lang="en-US" dirty="0"/>
              <a:t> time for scanning data.</a:t>
            </a:r>
          </a:p>
          <a:p>
            <a:r>
              <a:rPr lang="en-US" b="1" dirty="0"/>
              <a:t>Weaknesses</a:t>
            </a:r>
          </a:p>
          <a:p>
            <a:r>
              <a:rPr lang="en-US" dirty="0"/>
              <a:t>It is </a:t>
            </a:r>
            <a:r>
              <a:rPr lang="en-US" b="1" dirty="0"/>
              <a:t>sensitive to the insertion order</a:t>
            </a:r>
            <a:r>
              <a:rPr lang="en-US" dirty="0"/>
              <a:t> of data points.</a:t>
            </a:r>
          </a:p>
          <a:p>
            <a:r>
              <a:rPr lang="en-US" dirty="0"/>
              <a:t>Because leaf size is fixed, the clusters may not always be fully natural.</a:t>
            </a:r>
          </a:p>
          <a:p>
            <a:r>
              <a:rPr lang="en-US" dirty="0"/>
              <a:t>Since it uses radius and diameter, it usually prefers </a:t>
            </a:r>
            <a:r>
              <a:rPr lang="en-US" b="1" dirty="0"/>
              <a:t>spherical clusters</a:t>
            </a:r>
            <a:r>
              <a:rPr lang="en-US" dirty="0"/>
              <a:t>.</a:t>
            </a:r>
          </a:p>
          <a:p>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B29824D6-339B-4446-8523-1BE3F8E904E8}" type="slidenum">
              <a:rPr lang="en-US" altLang="zh-CN" smtClean="0"/>
              <a:pPr/>
              <a:t>19</a:t>
            </a:fld>
            <a:endParaRPr lang="en-US" altLang="zh-CN"/>
          </a:p>
        </p:txBody>
      </p:sp>
      <p:sp>
        <p:nvSpPr>
          <p:cNvPr id="2" name="Notes Placeholder 1">
            <a:extLst>
              <a:ext uri="{FF2B5EF4-FFF2-40B4-BE49-F238E27FC236}">
                <a16:creationId xmlns:a16="http://schemas.microsoft.com/office/drawing/2014/main" id="{F506C10D-9B0B-06CD-6B8A-C30F5AE7C935}"/>
              </a:ext>
            </a:extLst>
          </p:cNvPr>
          <p:cNvSpPr>
            <a:spLocks noGrp="1"/>
          </p:cNvSpPr>
          <p:nvPr>
            <p:ph type="body" idx="1"/>
          </p:nvPr>
        </p:nvSpPr>
        <p:spPr/>
        <p:txBody>
          <a:bodyPr/>
          <a:lstStyle/>
          <a:p>
            <a:r>
              <a:rPr lang="en-US" b="1" dirty="0"/>
              <a:t>CHAMELEON (1999)</a:t>
            </a:r>
          </a:p>
          <a:p>
            <a:r>
              <a:rPr lang="en-US" dirty="0"/>
              <a:t>CHAMELEON is a </a:t>
            </a:r>
            <a:r>
              <a:rPr lang="en-US" b="1" dirty="0"/>
              <a:t>graph-based hierarchical clustering algorithm</a:t>
            </a:r>
            <a:r>
              <a:rPr lang="en-US" dirty="0"/>
              <a:t> proposed by </a:t>
            </a:r>
            <a:r>
              <a:rPr lang="en-US" b="1" dirty="0" err="1"/>
              <a:t>Karypis</a:t>
            </a:r>
            <a:r>
              <a:rPr lang="en-US" b="1" dirty="0"/>
              <a:t>, Han, and Kumar</a:t>
            </a:r>
            <a:r>
              <a:rPr lang="en-US" dirty="0"/>
              <a:t> in </a:t>
            </a:r>
            <a:r>
              <a:rPr lang="en-US" b="1" dirty="0"/>
              <a:t>1999</a:t>
            </a:r>
            <a:r>
              <a:rPr lang="en-US" dirty="0"/>
              <a:t>.</a:t>
            </a:r>
          </a:p>
          <a:p>
            <a:r>
              <a:rPr lang="en-US" dirty="0"/>
              <a:t>It uses a </a:t>
            </a:r>
            <a:r>
              <a:rPr lang="en-US" b="1" dirty="0"/>
              <a:t>dynamic model</a:t>
            </a:r>
            <a:r>
              <a:rPr lang="en-US" dirty="0"/>
              <a:t> to measure similarity between clusters.</a:t>
            </a:r>
          </a:p>
          <a:p>
            <a:r>
              <a:rPr lang="en-US" dirty="0"/>
              <a:t>Two clusters are merged only when their </a:t>
            </a:r>
            <a:r>
              <a:rPr lang="en-US" b="1" dirty="0"/>
              <a:t>interconnectivity</a:t>
            </a:r>
            <a:r>
              <a:rPr lang="en-US" dirty="0"/>
              <a:t> and </a:t>
            </a:r>
            <a:r>
              <a:rPr lang="en-US" b="1" dirty="0"/>
              <a:t>closeness (proximity)</a:t>
            </a:r>
            <a:r>
              <a:rPr lang="en-US" dirty="0"/>
              <a:t> are high </a:t>
            </a:r>
            <a:r>
              <a:rPr lang="en-US" b="1" dirty="0"/>
              <a:t>relative to their internal structure</a:t>
            </a:r>
            <a:r>
              <a:rPr lang="en-US" dirty="0"/>
              <a:t>.</a:t>
            </a:r>
          </a:p>
          <a:p>
            <a:r>
              <a:rPr lang="en-US" dirty="0"/>
              <a:t>So, CHAMELEON does not merge clusters only based on distance. It also checks how strongly the points inside the clusters are connected.</a:t>
            </a:r>
          </a:p>
          <a:p>
            <a:r>
              <a:rPr lang="en-US" b="1" dirty="0"/>
              <a:t>Two phases of CHAMELEON</a:t>
            </a:r>
          </a:p>
          <a:p>
            <a:r>
              <a:rPr lang="en-US" b="1" dirty="0"/>
              <a:t>Graph partitioning phase:</a:t>
            </a:r>
            <a:br>
              <a:rPr lang="en-US" dirty="0"/>
            </a:br>
            <a:r>
              <a:rPr lang="en-US" dirty="0"/>
              <a:t>First, the dataset is divided into many small sub-clusters.</a:t>
            </a:r>
          </a:p>
          <a:p>
            <a:r>
              <a:rPr lang="en-US" b="1" dirty="0"/>
              <a:t>Agglomerative hierarchical phase:</a:t>
            </a:r>
            <a:br>
              <a:rPr lang="en-US" dirty="0"/>
            </a:br>
            <a:r>
              <a:rPr lang="en-US" dirty="0"/>
              <a:t>Then, these small sub-clusters are repeatedly merged to form the real final clusters.</a:t>
            </a:r>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8CC3A452-4C14-40AF-91F1-37F8B0FC300D}" type="slidenum">
              <a:rPr lang="en-US" altLang="zh-CN" smtClean="0"/>
              <a:pPr/>
              <a:t>20</a:t>
            </a:fld>
            <a:endParaRPr lang="en-US" altLang="zh-CN"/>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r>
              <a:rPr lang="en-US" b="1" dirty="0"/>
              <a:t>Overall Framework of CHAMELEON</a:t>
            </a:r>
          </a:p>
          <a:p>
            <a:r>
              <a:rPr lang="en-US" b="1" dirty="0"/>
              <a:t>1. Build a K-NN sparse graph</a:t>
            </a:r>
          </a:p>
          <a:p>
            <a:r>
              <a:rPr lang="en-US" dirty="0"/>
              <a:t>First, the dataset is converted into a </a:t>
            </a:r>
            <a:r>
              <a:rPr lang="en-US" b="1" dirty="0"/>
              <a:t>K-nearest neighbor (K-NN) graph</a:t>
            </a:r>
            <a:r>
              <a:rPr lang="en-US" dirty="0"/>
              <a:t>.</a:t>
            </a:r>
          </a:p>
          <a:p>
            <a:r>
              <a:rPr lang="en-US" dirty="0"/>
              <a:t>Two points are connected if one point is among the </a:t>
            </a:r>
            <a:r>
              <a:rPr lang="en-US" b="1" dirty="0"/>
              <a:t>k nearest neighbors</a:t>
            </a:r>
            <a:r>
              <a:rPr lang="en-US" dirty="0"/>
              <a:t> of the other.</a:t>
            </a:r>
          </a:p>
          <a:p>
            <a:r>
              <a:rPr lang="en-US" dirty="0"/>
              <a:t>This creates a </a:t>
            </a:r>
            <a:r>
              <a:rPr lang="en-US" b="1" dirty="0"/>
              <a:t>sparse graph</a:t>
            </a:r>
            <a:r>
              <a:rPr lang="en-US" dirty="0"/>
              <a:t>, so only important nearby connections are kept.</a:t>
            </a:r>
          </a:p>
          <a:p>
            <a:r>
              <a:rPr lang="en-US" b="1" dirty="0"/>
              <a:t>2. Partition the graph</a:t>
            </a:r>
          </a:p>
          <a:p>
            <a:r>
              <a:rPr lang="en-US" dirty="0"/>
              <a:t>Next, the large graph is divided into many </a:t>
            </a:r>
            <a:r>
              <a:rPr lang="en-US" b="1" dirty="0"/>
              <a:t>small sub-clusters</a:t>
            </a:r>
            <a:r>
              <a:rPr lang="en-US" dirty="0"/>
              <a:t>.</a:t>
            </a:r>
          </a:p>
          <a:p>
            <a:r>
              <a:rPr lang="en-US" dirty="0"/>
              <a:t>This is the </a:t>
            </a:r>
            <a:r>
              <a:rPr lang="en-US" b="1" dirty="0"/>
              <a:t>first phase</a:t>
            </a:r>
            <a:r>
              <a:rPr lang="en-US" dirty="0"/>
              <a:t> of CHAMELEON.</a:t>
            </a:r>
          </a:p>
          <a:p>
            <a:r>
              <a:rPr lang="en-US" b="1" dirty="0"/>
              <a:t>3. Merge the partitions</a:t>
            </a:r>
          </a:p>
          <a:p>
            <a:r>
              <a:rPr lang="en-US" dirty="0"/>
              <a:t>Then CHAMELEON starts merging those small sub-clusters.</a:t>
            </a:r>
          </a:p>
          <a:p>
            <a:r>
              <a:rPr lang="en-US" dirty="0"/>
              <a:t>But it does not merge them only by distance.</a:t>
            </a:r>
          </a:p>
          <a:p>
            <a:r>
              <a:rPr lang="en-US" b="1" dirty="0"/>
              <a:t>4. Check two conditions before merging</a:t>
            </a:r>
          </a:p>
          <a:p>
            <a:r>
              <a:rPr lang="en-US" dirty="0"/>
              <a:t>CHAMELEON checks:</a:t>
            </a:r>
          </a:p>
          <a:p>
            <a:r>
              <a:rPr lang="en-US" b="1" dirty="0"/>
              <a:t>Relative interconnectivity</a:t>
            </a:r>
            <a:br>
              <a:rPr lang="en-US" dirty="0"/>
            </a:br>
            <a:r>
              <a:rPr lang="en-US" dirty="0"/>
              <a:t>= how strongly two clusters are connected compared to how strongly points are connected inside each cluster.</a:t>
            </a:r>
          </a:p>
          <a:p>
            <a:r>
              <a:rPr lang="en-US" b="1" dirty="0"/>
              <a:t>Relative closeness</a:t>
            </a:r>
            <a:br>
              <a:rPr lang="en-US" dirty="0"/>
            </a:br>
            <a:r>
              <a:rPr lang="en-US" dirty="0"/>
              <a:t>= how close two clusters are compared to the closeness of points inside each cluster.</a:t>
            </a:r>
          </a:p>
          <a:p>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KNN Graphs and Interconnectivity</a:t>
                </a:r>
              </a:p>
              <a:p>
                <a:r>
                  <a:rPr lang="en-US" dirty="0"/>
                  <a:t>A </a:t>
                </a:r>
                <a:r>
                  <a:rPr lang="en-US" b="1" dirty="0"/>
                  <a:t>KNN graph</a:t>
                </a:r>
                <a:r>
                  <a:rPr lang="en-US" dirty="0"/>
                  <a:t> connects each data point to its </a:t>
                </a:r>
                <a:r>
                  <a:rPr lang="en-US" b="1" dirty="0"/>
                  <a:t>k nearest neighbors</a:t>
                </a:r>
                <a:r>
                  <a:rPr lang="en-US" dirty="0"/>
                  <a:t>.</a:t>
                </a:r>
              </a:p>
              <a:p>
                <a:r>
                  <a:rPr lang="en-US" dirty="0"/>
                  <a:t>When </a:t>
                </a:r>
                <a:r>
                  <a:rPr lang="en-US" b="1" dirty="0"/>
                  <a:t>k increases</a:t>
                </a:r>
                <a:r>
                  <a:rPr lang="en-US" dirty="0"/>
                  <a:t>, more edges are added, so the graph becomes more connected.</a:t>
                </a:r>
              </a:p>
              <a:p>
                <a:r>
                  <a:rPr lang="en-US" b="1" dirty="0"/>
                  <a:t>Interconnectivity between two clusters</a:t>
                </a:r>
              </a:p>
              <a:p>
                <a:r>
                  <a:rPr lang="en-US" dirty="0"/>
                  <a:t>The </a:t>
                </a:r>
                <a:r>
                  <a:rPr lang="en-US" b="1" dirty="0"/>
                  <a:t>absolute interconnectivity</a:t>
                </a:r>
                <a:r>
                  <a:rPr lang="en-US" dirty="0"/>
                  <a:t> between two clusters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𝐶</m:t>
                        </m:r>
                      </m:e>
                      <m:sub>
                        <m:r>
                          <a:rPr lang="ar-AE" sz="1200" i="1" kern="1200">
                            <a:solidFill>
                              <a:schemeClr val="tx1"/>
                            </a:solidFill>
                            <a:latin typeface="Cambria Math" panose="02040503050406030204" pitchFamily="18" charset="0"/>
                            <a:ea typeface="+mn-ea"/>
                            <a:cs typeface="+mn-cs"/>
                          </a:rPr>
                          <m:t>𝑖</m:t>
                        </m:r>
                      </m:sub>
                    </m:sSub>
                  </m:oMath>
                </a14:m>
                <a:r>
                  <a:rPr lang="en-US"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𝐶</m:t>
                        </m:r>
                      </m:e>
                      <m:sub>
                        <m:r>
                          <a:rPr lang="ar-AE" sz="1200" i="1" kern="1200">
                            <a:solidFill>
                              <a:schemeClr val="tx1"/>
                            </a:solidFill>
                            <a:latin typeface="Cambria Math" panose="02040503050406030204" pitchFamily="18" charset="0"/>
                            <a:ea typeface="+mn-ea"/>
                            <a:cs typeface="+mn-cs"/>
                          </a:rPr>
                          <m:t>𝑗</m:t>
                        </m:r>
                      </m:sub>
                    </m:sSub>
                  </m:oMath>
                </a14:m>
                <a:r>
                  <a:rPr lang="en-US" dirty="0"/>
                  <a:t>means the </a:t>
                </a:r>
                <a:r>
                  <a:rPr lang="en-US" b="1" dirty="0"/>
                  <a:t>total weight of the edges</a:t>
                </a:r>
                <a:r>
                  <a:rPr lang="en-US" dirty="0"/>
                  <a:t> that connect points of one cluster to the other.</a:t>
                </a:r>
              </a:p>
              <a:p>
                <a:r>
                  <a:rPr lang="en-US" b="1" dirty="0"/>
                  <a:t>Internal interconnectivity of one cluster</a:t>
                </a:r>
              </a:p>
              <a:p>
                <a:r>
                  <a:rPr lang="en-US" dirty="0"/>
                  <a:t>The </a:t>
                </a:r>
                <a:r>
                  <a:rPr lang="en-US" b="1" dirty="0"/>
                  <a:t>internal interconnectivity</a:t>
                </a:r>
                <a:r>
                  <a:rPr lang="en-US" dirty="0"/>
                  <a:t> of a cluster means how strongly the points inside that cluster are connected.</a:t>
                </a:r>
              </a:p>
              <a:p>
                <a:r>
                  <a:rPr lang="en-US" dirty="0"/>
                  <a:t>It is measured using the </a:t>
                </a:r>
                <a:r>
                  <a:rPr lang="en-US" b="1" dirty="0"/>
                  <a:t>min-cut bisector</a:t>
                </a:r>
                <a:r>
                  <a:rPr lang="en-US" dirty="0"/>
                  <a:t>, which splits the cluster into two nearly equal parts.</a:t>
                </a:r>
              </a:p>
              <a:p>
                <a:r>
                  <a:rPr lang="en-US" b="1" dirty="0"/>
                  <a:t>Relative Interconnectivity (RI)</a:t>
                </a:r>
              </a:p>
              <a:p>
                <a:r>
                  <a:rPr lang="en-US" b="1" dirty="0"/>
                  <a:t>RI</a:t>
                </a:r>
                <a:r>
                  <a:rPr lang="en-US" dirty="0"/>
                  <a:t> compares the connection between two clusters with the internal connection inside those clusters.</a:t>
                </a:r>
              </a:p>
              <a:p>
                <a:r>
                  <a:rPr lang="en-US" dirty="0"/>
                  <a:t>If RI is high, it means the two clusters are strongly connected and may be good candidates to merge.</a:t>
                </a:r>
              </a:p>
              <a:p>
                <a:endParaRPr lang="en-US" dirty="0"/>
              </a:p>
            </p:txBody>
          </p:sp>
        </mc:Choice>
        <mc:Fallback xmlns="">
          <p:sp>
            <p:nvSpPr>
              <p:cNvPr id="3" name="Notes Placeholder 2"/>
              <p:cNvSpPr>
                <a:spLocks noGrp="1"/>
              </p:cNvSpPr>
              <p:nvPr>
                <p:ph type="body" idx="1"/>
              </p:nvPr>
            </p:nvSpPr>
            <p:spPr/>
            <p:txBody>
              <a:bodyPr/>
              <a:lstStyle/>
              <a:p>
                <a:r>
                  <a:rPr lang="en-US" b="1" dirty="0"/>
                  <a:t>KNN Graphs and Interconnectivity</a:t>
                </a:r>
              </a:p>
              <a:p>
                <a:r>
                  <a:rPr lang="en-US" dirty="0"/>
                  <a:t>A </a:t>
                </a:r>
                <a:r>
                  <a:rPr lang="en-US" b="1" dirty="0"/>
                  <a:t>KNN graph</a:t>
                </a:r>
                <a:r>
                  <a:rPr lang="en-US" dirty="0"/>
                  <a:t> connects each data point to its </a:t>
                </a:r>
                <a:r>
                  <a:rPr lang="en-US" b="1" dirty="0"/>
                  <a:t>k nearest neighbors</a:t>
                </a:r>
                <a:r>
                  <a:rPr lang="en-US" dirty="0"/>
                  <a:t>.</a:t>
                </a:r>
              </a:p>
              <a:p>
                <a:r>
                  <a:rPr lang="en-US" dirty="0"/>
                  <a:t>When </a:t>
                </a:r>
                <a:r>
                  <a:rPr lang="en-US" b="1" dirty="0"/>
                  <a:t>k increases</a:t>
                </a:r>
                <a:r>
                  <a:rPr lang="en-US" dirty="0"/>
                  <a:t>, more edges are added, so the graph becomes more connected.</a:t>
                </a:r>
              </a:p>
              <a:p>
                <a:r>
                  <a:rPr lang="en-US" b="1" dirty="0"/>
                  <a:t>Interconnectivity between two clusters</a:t>
                </a:r>
              </a:p>
              <a:p>
                <a:r>
                  <a:rPr lang="en-US" dirty="0"/>
                  <a:t>The </a:t>
                </a:r>
                <a:r>
                  <a:rPr lang="en-US" b="1" dirty="0"/>
                  <a:t>absolute interconnectivity</a:t>
                </a:r>
                <a:r>
                  <a:rPr lang="en-US" dirty="0"/>
                  <a:t> between two clusters </a:t>
                </a:r>
                <a:r>
                  <a:rPr lang="ar-AE" sz="1200" i="0" kern="1200">
                    <a:solidFill>
                      <a:schemeClr val="tx1"/>
                    </a:solidFill>
                    <a:latin typeface="+mn-lt"/>
                    <a:ea typeface="+mn-ea"/>
                    <a:cs typeface="+mn-cs"/>
                  </a:rPr>
                  <a:t>𝐶_𝑖</a:t>
                </a:r>
                <a:r>
                  <a:rPr lang="en-US" dirty="0"/>
                  <a:t>and </a:t>
                </a:r>
                <a:r>
                  <a:rPr lang="ar-AE" sz="1200" i="0" kern="1200">
                    <a:solidFill>
                      <a:schemeClr val="tx1"/>
                    </a:solidFill>
                    <a:latin typeface="+mn-lt"/>
                    <a:ea typeface="+mn-ea"/>
                    <a:cs typeface="+mn-cs"/>
                  </a:rPr>
                  <a:t>𝐶_𝑗</a:t>
                </a:r>
                <a:r>
                  <a:rPr lang="en-US" dirty="0"/>
                  <a:t>means the </a:t>
                </a:r>
                <a:r>
                  <a:rPr lang="en-US" b="1" dirty="0"/>
                  <a:t>total weight of the edges</a:t>
                </a:r>
                <a:r>
                  <a:rPr lang="en-US" dirty="0"/>
                  <a:t> that connect points of one cluster to the other.</a:t>
                </a:r>
              </a:p>
              <a:p>
                <a:r>
                  <a:rPr lang="en-US" b="1" dirty="0"/>
                  <a:t>Internal interconnectivity of one cluster</a:t>
                </a:r>
              </a:p>
              <a:p>
                <a:r>
                  <a:rPr lang="en-US" dirty="0"/>
                  <a:t>The </a:t>
                </a:r>
                <a:r>
                  <a:rPr lang="en-US" b="1" dirty="0"/>
                  <a:t>internal interconnectivity</a:t>
                </a:r>
                <a:r>
                  <a:rPr lang="en-US" dirty="0"/>
                  <a:t> of a cluster means how strongly the points inside that cluster are connected.</a:t>
                </a:r>
              </a:p>
              <a:p>
                <a:r>
                  <a:rPr lang="en-US" dirty="0"/>
                  <a:t>It is measured using the </a:t>
                </a:r>
                <a:r>
                  <a:rPr lang="en-US" b="1" dirty="0"/>
                  <a:t>min-cut bisector</a:t>
                </a:r>
                <a:r>
                  <a:rPr lang="en-US" dirty="0"/>
                  <a:t>, which splits the cluster into two nearly equal parts.</a:t>
                </a:r>
              </a:p>
              <a:p>
                <a:r>
                  <a:rPr lang="en-US" b="1" dirty="0"/>
                  <a:t>Relative Interconnectivity (RI)</a:t>
                </a:r>
              </a:p>
              <a:p>
                <a:r>
                  <a:rPr lang="en-US" b="1" dirty="0"/>
                  <a:t>RI</a:t>
                </a:r>
                <a:r>
                  <a:rPr lang="en-US" dirty="0"/>
                  <a:t> compares the connection between two clusters with the internal connection inside those clusters.</a:t>
                </a:r>
              </a:p>
              <a:p>
                <a:r>
                  <a:rPr lang="en-US" dirty="0"/>
                  <a:t>If RI is high, it means the two clusters are strongly connected and may be good candidates to merge.</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21</a:t>
            </a:fld>
            <a:endParaRPr lang="en-US"/>
          </a:p>
        </p:txBody>
      </p:sp>
    </p:spTree>
    <p:extLst>
      <p:ext uri="{BB962C8B-B14F-4D97-AF65-F5344CB8AC3E}">
        <p14:creationId xmlns:p14="http://schemas.microsoft.com/office/powerpoint/2010/main" val="4176459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Relative Closeness and Merge of Sub-Clusters</a:t>
            </a:r>
          </a:p>
          <a:p>
            <a:r>
              <a:rPr lang="en-US" b="1" dirty="0"/>
              <a:t>Relative Closeness (RC)</a:t>
            </a:r>
            <a:r>
              <a:rPr lang="en-US" dirty="0"/>
              <a:t> measures how close two clusters are compared to how close the points are inside each cluster.</a:t>
            </a:r>
          </a:p>
          <a:p>
            <a:r>
              <a:rPr lang="en-US" dirty="0"/>
              <a:t>It uses the </a:t>
            </a:r>
            <a:r>
              <a:rPr lang="en-US" b="1" dirty="0"/>
              <a:t>average weight of edges</a:t>
            </a:r>
            <a:r>
              <a:rPr lang="en-US" dirty="0"/>
              <a:t> between two clusters and compares it with the </a:t>
            </a:r>
            <a:r>
              <a:rPr lang="en-US" b="1" dirty="0"/>
              <a:t>average internal edge weights</a:t>
            </a:r>
            <a:r>
              <a:rPr lang="en-US" dirty="0"/>
              <a:t> of those clusters.</a:t>
            </a:r>
          </a:p>
          <a:p>
            <a:r>
              <a:rPr lang="en-US" dirty="0"/>
              <a:t>So, RC tells us whether two clusters are close enough to be merged in a meaningful way.</a:t>
            </a:r>
          </a:p>
          <a:p>
            <a:r>
              <a:rPr lang="en-US" b="1" dirty="0"/>
              <a:t>Merging rule in CHAMELEON</a:t>
            </a:r>
          </a:p>
          <a:p>
            <a:r>
              <a:rPr lang="en-US" dirty="0"/>
              <a:t>Two sub-clusters are merged only if both:</a:t>
            </a:r>
          </a:p>
          <a:p>
            <a:pPr lvl="1"/>
            <a:r>
              <a:rPr lang="en-US" b="1" dirty="0"/>
              <a:t>RI (Relative Interconnectivity)</a:t>
            </a:r>
            <a:r>
              <a:rPr lang="en-US" dirty="0"/>
              <a:t> is high</a:t>
            </a:r>
          </a:p>
          <a:p>
            <a:pPr lvl="1"/>
            <a:r>
              <a:rPr lang="en-US" b="1" dirty="0"/>
              <a:t>RC (Relative Closeness)</a:t>
            </a:r>
            <a:r>
              <a:rPr lang="en-US" dirty="0"/>
              <a:t> is high</a:t>
            </a:r>
          </a:p>
          <a:p>
            <a:r>
              <a:rPr lang="en-US" dirty="0"/>
              <a:t>Usually, the algorithm merges the pair of clusters that gives the </a:t>
            </a:r>
            <a:r>
              <a:rPr lang="en-US" b="1" dirty="0"/>
              <a:t>best combined RI and RC value</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22</a:t>
            </a:fld>
            <a:endParaRPr lang="en-US"/>
          </a:p>
        </p:txBody>
      </p:sp>
    </p:spTree>
    <p:extLst>
      <p:ext uri="{BB962C8B-B14F-4D97-AF65-F5344CB8AC3E}">
        <p14:creationId xmlns:p14="http://schemas.microsoft.com/office/powerpoint/2010/main" val="3014040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852EE0C4-C082-4146-8AFD-7638CC12213A}" type="slidenum">
              <a:rPr lang="en-US" altLang="zh-CN" smtClean="0"/>
              <a:pPr/>
              <a:t>23</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r>
              <a:rPr lang="en-US" b="1" dirty="0"/>
              <a:t>Density-Based Clustering Methods</a:t>
            </a:r>
          </a:p>
          <a:p>
            <a:r>
              <a:rPr lang="en-US" dirty="0"/>
              <a:t>Density-based clustering groups data points based on </a:t>
            </a:r>
            <a:r>
              <a:rPr lang="en-US" b="1" dirty="0"/>
              <a:t>high-density regions</a:t>
            </a:r>
            <a:r>
              <a:rPr lang="en-US" dirty="0"/>
              <a:t>.</a:t>
            </a:r>
          </a:p>
          <a:p>
            <a:r>
              <a:rPr lang="en-US" dirty="0"/>
              <a:t>Points that are </a:t>
            </a:r>
            <a:r>
              <a:rPr lang="en-US" b="1" dirty="0"/>
              <a:t>density-connected</a:t>
            </a:r>
            <a:r>
              <a:rPr lang="en-US" dirty="0"/>
              <a:t> are placed in the same cluster.</a:t>
            </a:r>
          </a:p>
          <a:p>
            <a:r>
              <a:rPr lang="en-US" b="1" dirty="0"/>
              <a:t>Main features</a:t>
            </a:r>
          </a:p>
          <a:p>
            <a:r>
              <a:rPr lang="en-US" dirty="0"/>
              <a:t>It can find clusters of </a:t>
            </a:r>
            <a:r>
              <a:rPr lang="en-US" b="1" dirty="0"/>
              <a:t>arbitrary shape</a:t>
            </a:r>
            <a:r>
              <a:rPr lang="en-US" dirty="0"/>
              <a:t>.</a:t>
            </a:r>
          </a:p>
          <a:p>
            <a:r>
              <a:rPr lang="en-US" dirty="0"/>
              <a:t>It can </a:t>
            </a:r>
            <a:r>
              <a:rPr lang="en-US" b="1" dirty="0"/>
              <a:t>handle noise and outliers</a:t>
            </a:r>
            <a:r>
              <a:rPr lang="en-US" dirty="0"/>
              <a:t>.</a:t>
            </a:r>
          </a:p>
          <a:p>
            <a:r>
              <a:rPr lang="en-US" dirty="0"/>
              <a:t>It often works with </a:t>
            </a:r>
            <a:r>
              <a:rPr lang="en-US" b="1" dirty="0"/>
              <a:t>one scan</a:t>
            </a:r>
            <a:r>
              <a:rPr lang="en-US" dirty="0"/>
              <a:t> of the data.</a:t>
            </a:r>
          </a:p>
          <a:p>
            <a:r>
              <a:rPr lang="en-US" dirty="0"/>
              <a:t>It needs </a:t>
            </a:r>
            <a:r>
              <a:rPr lang="en-US" b="1" dirty="0"/>
              <a:t>density parameters</a:t>
            </a:r>
            <a:r>
              <a:rPr lang="en-US" dirty="0"/>
              <a:t> to decide when to stop or form clusters.</a:t>
            </a:r>
          </a:p>
          <a:p>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ECFA69D2-AB07-4B50-8C92-5C542CD440C2}" type="slidenum">
              <a:rPr lang="en-US" altLang="zh-CN" smtClean="0"/>
              <a:pPr/>
              <a:t>24</a:t>
            </a:fld>
            <a:endParaRPr lang="en-US" altLang="zh-CN"/>
          </a:p>
        </p:txBody>
      </p:sp>
      <p:sp>
        <p:nvSpPr>
          <p:cNvPr id="148483"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48484" name="Rectangle 3"/>
              <p:cNvSpPr>
                <a:spLocks noGrp="1" noChangeArrowheads="1"/>
              </p:cNvSpPr>
              <p:nvPr>
                <p:ph type="body" idx="1"/>
              </p:nvPr>
            </p:nvSpPr>
            <p:spPr>
              <a:noFill/>
              <a:ln/>
            </p:spPr>
            <p:txBody>
              <a:bodyPr/>
              <a:lstStyle/>
              <a:p>
                <a:r>
                  <a:rPr lang="en-US" b="1" dirty="0"/>
                  <a:t>Density-Based Clustering: Basic Concepts</a:t>
                </a:r>
              </a:p>
              <a:p>
                <a:r>
                  <a:rPr lang="en-US" dirty="0"/>
                  <a:t>Density-based clustering mainly uses </a:t>
                </a:r>
                <a:r>
                  <a:rPr lang="en-US" b="1" dirty="0"/>
                  <a:t>two parameters</a:t>
                </a:r>
                <a:r>
                  <a:rPr lang="en-US" dirty="0"/>
                  <a:t>:</a:t>
                </a:r>
              </a:p>
              <a:p>
                <a:pPr lvl="1"/>
                <a:r>
                  <a:rPr lang="en-US" b="1" dirty="0"/>
                  <a:t>Eps (</a:t>
                </a:r>
                <a:r>
                  <a:rPr lang="el-GR" b="1" dirty="0"/>
                  <a:t>ε):</a:t>
                </a:r>
                <a:r>
                  <a:rPr lang="el-GR" dirty="0"/>
                  <a:t> </a:t>
                </a:r>
                <a:r>
                  <a:rPr lang="en-US" dirty="0"/>
                  <a:t>the maximum radius of the neighborhood</a:t>
                </a:r>
              </a:p>
              <a:p>
                <a:pPr lvl="1"/>
                <a:r>
                  <a:rPr lang="en-US" b="1" dirty="0" err="1"/>
                  <a:t>MinPts</a:t>
                </a:r>
                <a:r>
                  <a:rPr lang="en-US" b="1" dirty="0"/>
                  <a:t>:</a:t>
                </a:r>
                <a:r>
                  <a:rPr lang="en-US" dirty="0"/>
                  <a:t> the minimum number of points required inside that neighborhood</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𝑁</m:t>
                        </m:r>
                      </m:e>
                      <m:sub>
                        <m:r>
                          <a:rPr lang="ar-AE" sz="1200" i="1" kern="1200">
                            <a:solidFill>
                              <a:schemeClr val="tx1"/>
                            </a:solidFill>
                            <a:latin typeface="Cambria Math" panose="02040503050406030204" pitchFamily="18" charset="0"/>
                            <a:ea typeface="+mn-ea"/>
                            <a:cs typeface="+mn-cs"/>
                          </a:rPr>
                          <m:t>𝐸𝑝𝑠</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𝑞</m:t>
                        </m:r>
                      </m:e>
                    </m:d>
                  </m:oMath>
                </a14:m>
                <a:r>
                  <a:rPr lang="en-US" dirty="0"/>
                  <a:t>means the set of points whose distance from point </a:t>
                </a:r>
                <a:r>
                  <a:rPr lang="en-US" b="1" dirty="0"/>
                  <a:t>q</a:t>
                </a:r>
                <a:r>
                  <a:rPr lang="en-US" dirty="0"/>
                  <a:t> is less than or equal to </a:t>
                </a:r>
                <a:r>
                  <a:rPr lang="en-US" b="1" dirty="0"/>
                  <a:t>Eps</a:t>
                </a:r>
                <a:r>
                  <a:rPr lang="en-US" dirty="0"/>
                  <a:t>.</a:t>
                </a:r>
                <a:br>
                  <a:rPr lang="en-US" dirty="0"/>
                </a:br>
                <a:r>
                  <a:rPr lang="en-US" dirty="0"/>
                  <a:t>So, these are the neighbors of </a:t>
                </a:r>
                <a:r>
                  <a:rPr lang="en-US" b="1" dirty="0"/>
                  <a:t>q</a:t>
                </a:r>
                <a:r>
                  <a:rPr lang="en-US" dirty="0"/>
                  <a:t> within radius </a:t>
                </a:r>
                <a:r>
                  <a:rPr lang="en-US" b="1" dirty="0"/>
                  <a:t>Eps</a:t>
                </a:r>
                <a:r>
                  <a:rPr lang="en-US" dirty="0"/>
                  <a:t>.</a:t>
                </a:r>
              </a:p>
              <a:p>
                <a:r>
                  <a:rPr lang="en-US" b="1" dirty="0"/>
                  <a:t>Directly density-reachable</a:t>
                </a:r>
              </a:p>
              <a:p>
                <a:r>
                  <a:rPr lang="en-US" dirty="0"/>
                  <a:t>A point </a:t>
                </a:r>
                <a:r>
                  <a:rPr lang="en-US" b="1" dirty="0"/>
                  <a:t>p</a:t>
                </a:r>
                <a:r>
                  <a:rPr lang="en-US" dirty="0"/>
                  <a:t> is directly density-reachable from point </a:t>
                </a:r>
                <a:r>
                  <a:rPr lang="en-US" b="1" dirty="0"/>
                  <a:t>q</a:t>
                </a:r>
                <a:r>
                  <a:rPr lang="en-US" dirty="0"/>
                  <a:t> if:</a:t>
                </a:r>
              </a:p>
              <a:p>
                <a:r>
                  <a:rPr lang="en-US" b="1" dirty="0"/>
                  <a:t>p is inside the Eps-neighborhood of q</a:t>
                </a:r>
                <a:r>
                  <a:rPr lang="en-US" dirty="0"/>
                  <a:t>, and</a:t>
                </a:r>
              </a:p>
              <a:p>
                <a:r>
                  <a:rPr lang="en-US" b="1" dirty="0"/>
                  <a:t>q is a core point</a:t>
                </a:r>
                <a:endParaRPr lang="en-US" dirty="0"/>
              </a:p>
              <a:p>
                <a:r>
                  <a:rPr lang="en-US" b="1" dirty="0"/>
                  <a:t>Core point condition</a:t>
                </a:r>
              </a:p>
              <a:p>
                <a:r>
                  <a:rPr lang="en-US" dirty="0"/>
                  <a:t>A point </a:t>
                </a:r>
                <a:r>
                  <a:rPr lang="en-US" b="1" dirty="0"/>
                  <a:t>q</a:t>
                </a:r>
                <a:r>
                  <a:rPr lang="en-US" dirty="0"/>
                  <a:t> is a </a:t>
                </a:r>
                <a:r>
                  <a:rPr lang="en-US" b="1" dirty="0"/>
                  <a:t>core point</a:t>
                </a:r>
                <a:r>
                  <a:rPr lang="en-US" dirty="0"/>
                  <a:t> if:</a:t>
                </a:r>
              </a:p>
              <a:p>
                <a:pPr/>
                <a14:m>
                  <m:oMathPara xmlns:m="http://schemas.openxmlformats.org/officeDocument/2006/math">
                    <m:oMathParaPr>
                      <m:jc m:val="centerGroup"/>
                    </m:oMathParaPr>
                    <m:oMath xmlns:m="http://schemas.openxmlformats.org/officeDocument/2006/math">
                      <m:r>
                        <a:rPr lang="en-US" sz="120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𝑁</m:t>
                          </m:r>
                        </m:e>
                        <m:sub>
                          <m:r>
                            <a:rPr lang="ar-AE" sz="1200" i="1" kern="1200">
                              <a:solidFill>
                                <a:schemeClr val="tx1"/>
                              </a:solidFill>
                              <a:latin typeface="Cambria Math" panose="02040503050406030204" pitchFamily="18" charset="0"/>
                              <a:ea typeface="+mn-ea"/>
                              <a:cs typeface="+mn-cs"/>
                            </a:rPr>
                            <m:t>𝐸𝑝𝑠</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𝑞</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𝑀𝑖𝑛𝑃𝑡𝑠</m:t>
                      </m:r>
                    </m:oMath>
                  </m:oMathPara>
                </a14:m>
                <a:endParaRPr lang="ar-AE" dirty="0"/>
              </a:p>
              <a:p>
                <a:r>
                  <a:rPr lang="en-US" dirty="0"/>
                  <a:t>That means the neighborhood of </a:t>
                </a:r>
                <a:r>
                  <a:rPr lang="en-US" b="1" dirty="0"/>
                  <a:t>q</a:t>
                </a:r>
                <a:r>
                  <a:rPr lang="en-US" dirty="0"/>
                  <a:t> contains at least </a:t>
                </a:r>
                <a:r>
                  <a:rPr lang="en-US" b="1" dirty="0" err="1"/>
                  <a:t>MinPts</a:t>
                </a:r>
                <a:r>
                  <a:rPr lang="en-US" dirty="0"/>
                  <a:t> points.</a:t>
                </a:r>
              </a:p>
              <a:p>
                <a:endParaRPr lang="zh-CN" altLang="zh-CN" dirty="0"/>
              </a:p>
            </p:txBody>
          </p:sp>
        </mc:Choice>
        <mc:Fallback xmlns="">
          <p:sp>
            <p:nvSpPr>
              <p:cNvPr id="148484" name="Rectangle 3"/>
              <p:cNvSpPr>
                <a:spLocks noGrp="1" noChangeArrowheads="1"/>
              </p:cNvSpPr>
              <p:nvPr>
                <p:ph type="body" idx="1"/>
              </p:nvPr>
            </p:nvSpPr>
            <p:spPr>
              <a:noFill/>
              <a:ln/>
            </p:spPr>
            <p:txBody>
              <a:bodyPr/>
              <a:lstStyle/>
              <a:p>
                <a:r>
                  <a:rPr lang="en-US" b="1" dirty="0"/>
                  <a:t>Density-Based Clustering: Basic Concepts</a:t>
                </a:r>
              </a:p>
              <a:p>
                <a:r>
                  <a:rPr lang="en-US" dirty="0"/>
                  <a:t>Density-based clustering mainly uses </a:t>
                </a:r>
                <a:r>
                  <a:rPr lang="en-US" b="1" dirty="0"/>
                  <a:t>two parameters</a:t>
                </a:r>
                <a:r>
                  <a:rPr lang="en-US" dirty="0"/>
                  <a:t>:</a:t>
                </a:r>
              </a:p>
              <a:p>
                <a:pPr lvl="1"/>
                <a:r>
                  <a:rPr lang="en-US" b="1" dirty="0"/>
                  <a:t>Eps (</a:t>
                </a:r>
                <a:r>
                  <a:rPr lang="el-GR" b="1" dirty="0"/>
                  <a:t>ε):</a:t>
                </a:r>
                <a:r>
                  <a:rPr lang="el-GR" dirty="0"/>
                  <a:t> </a:t>
                </a:r>
                <a:r>
                  <a:rPr lang="en-US" dirty="0"/>
                  <a:t>the maximum radius of the neighborhood</a:t>
                </a:r>
              </a:p>
              <a:p>
                <a:pPr lvl="1"/>
                <a:r>
                  <a:rPr lang="en-US" b="1" dirty="0" err="1"/>
                  <a:t>MinPts</a:t>
                </a:r>
                <a:r>
                  <a:rPr lang="en-US" b="1" dirty="0"/>
                  <a:t>:</a:t>
                </a:r>
                <a:r>
                  <a:rPr lang="en-US" dirty="0"/>
                  <a:t> the minimum number of points required inside that neighborhood</a:t>
                </a:r>
              </a:p>
              <a:p>
                <a:r>
                  <a:rPr lang="ar-AE" sz="1200" i="0" kern="1200">
                    <a:solidFill>
                      <a:schemeClr val="tx1"/>
                    </a:solidFill>
                    <a:latin typeface="+mn-lt"/>
                    <a:ea typeface="+mn-ea"/>
                    <a:cs typeface="+mn-cs"/>
                  </a:rPr>
                  <a:t>𝑁_𝐸𝑝𝑠 (𝑞)</a:t>
                </a:r>
                <a:r>
                  <a:rPr lang="en-US" dirty="0"/>
                  <a:t>means the set of points whose distance from point </a:t>
                </a:r>
                <a:r>
                  <a:rPr lang="en-US" b="1" dirty="0"/>
                  <a:t>q</a:t>
                </a:r>
                <a:r>
                  <a:rPr lang="en-US" dirty="0"/>
                  <a:t> is less than or equal to </a:t>
                </a:r>
                <a:r>
                  <a:rPr lang="en-US" b="1" dirty="0"/>
                  <a:t>Eps</a:t>
                </a:r>
                <a:r>
                  <a:rPr lang="en-US" dirty="0"/>
                  <a:t>.</a:t>
                </a:r>
                <a:br>
                  <a:rPr lang="en-US" dirty="0"/>
                </a:br>
                <a:r>
                  <a:rPr lang="en-US" dirty="0"/>
                  <a:t>So, these are the neighbors of </a:t>
                </a:r>
                <a:r>
                  <a:rPr lang="en-US" b="1" dirty="0"/>
                  <a:t>q</a:t>
                </a:r>
                <a:r>
                  <a:rPr lang="en-US" dirty="0"/>
                  <a:t> within radius </a:t>
                </a:r>
                <a:r>
                  <a:rPr lang="en-US" b="1" dirty="0"/>
                  <a:t>Eps</a:t>
                </a:r>
                <a:r>
                  <a:rPr lang="en-US" dirty="0"/>
                  <a:t>.</a:t>
                </a:r>
              </a:p>
              <a:p>
                <a:r>
                  <a:rPr lang="en-US" b="1" dirty="0"/>
                  <a:t>Directly density-reachable</a:t>
                </a:r>
              </a:p>
              <a:p>
                <a:r>
                  <a:rPr lang="en-US" dirty="0"/>
                  <a:t>A point </a:t>
                </a:r>
                <a:r>
                  <a:rPr lang="en-US" b="1" dirty="0"/>
                  <a:t>p</a:t>
                </a:r>
                <a:r>
                  <a:rPr lang="en-US" dirty="0"/>
                  <a:t> is directly density-reachable from point </a:t>
                </a:r>
                <a:r>
                  <a:rPr lang="en-US" b="1" dirty="0"/>
                  <a:t>q</a:t>
                </a:r>
                <a:r>
                  <a:rPr lang="en-US" dirty="0"/>
                  <a:t> if:</a:t>
                </a:r>
              </a:p>
              <a:p>
                <a:r>
                  <a:rPr lang="en-US" b="1" dirty="0"/>
                  <a:t>p is inside the Eps-neighborhood of q</a:t>
                </a:r>
                <a:r>
                  <a:rPr lang="en-US" dirty="0"/>
                  <a:t>, and</a:t>
                </a:r>
              </a:p>
              <a:p>
                <a:r>
                  <a:rPr lang="en-US" b="1" dirty="0"/>
                  <a:t>q is a core point</a:t>
                </a:r>
                <a:endParaRPr lang="en-US" dirty="0"/>
              </a:p>
              <a:p>
                <a:r>
                  <a:rPr lang="en-US" b="1" dirty="0"/>
                  <a:t>Core point condition</a:t>
                </a:r>
              </a:p>
              <a:p>
                <a:r>
                  <a:rPr lang="en-US" dirty="0"/>
                  <a:t>A point </a:t>
                </a:r>
                <a:r>
                  <a:rPr lang="en-US" b="1" dirty="0"/>
                  <a:t>q</a:t>
                </a:r>
                <a:r>
                  <a:rPr lang="en-US" dirty="0"/>
                  <a:t> is a </a:t>
                </a:r>
                <a:r>
                  <a:rPr lang="en-US" b="1" dirty="0"/>
                  <a:t>core point</a:t>
                </a:r>
                <a:r>
                  <a:rPr lang="en-US" dirty="0"/>
                  <a:t> if:</a:t>
                </a:r>
              </a:p>
              <a:p>
                <a:r>
                  <a:rPr lang="en-US" sz="1200" i="0" kern="1200">
                    <a:solidFill>
                      <a:schemeClr val="tx1"/>
                    </a:solidFill>
                    <a:latin typeface="+mn-lt"/>
                    <a:ea typeface="+mn-ea"/>
                    <a:cs typeface="+mn-cs"/>
                  </a:rPr>
                  <a:t>∣</a:t>
                </a:r>
                <a:r>
                  <a:rPr lang="ar-AE" sz="1200" i="0" kern="1200">
                    <a:solidFill>
                      <a:schemeClr val="tx1"/>
                    </a:solidFill>
                    <a:latin typeface="+mn-lt"/>
                    <a:ea typeface="+mn-ea"/>
                    <a:cs typeface="+mn-cs"/>
                  </a:rPr>
                  <a:t>𝑁_𝐸𝑝𝑠 (𝑞)∣≥𝑀𝑖𝑛𝑃𝑡𝑠</a:t>
                </a:r>
                <a:endParaRPr lang="ar-AE" dirty="0"/>
              </a:p>
              <a:p>
                <a:r>
                  <a:rPr lang="en-US" dirty="0"/>
                  <a:t>That means the neighborhood of </a:t>
                </a:r>
                <a:r>
                  <a:rPr lang="en-US" b="1" dirty="0"/>
                  <a:t>q</a:t>
                </a:r>
                <a:r>
                  <a:rPr lang="en-US" dirty="0"/>
                  <a:t> contains at least </a:t>
                </a:r>
                <a:r>
                  <a:rPr lang="en-US" b="1" dirty="0" err="1"/>
                  <a:t>MinPts</a:t>
                </a:r>
                <a:r>
                  <a:rPr lang="en-US" dirty="0"/>
                  <a:t> points.</a:t>
                </a:r>
              </a:p>
              <a:p>
                <a:endParaRPr lang="zh-CN" altLang="zh-CN" dirty="0"/>
              </a:p>
            </p:txBody>
          </p:sp>
        </mc:Fallback>
      </mc:AlternateContent>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AD3E08D2-8AC7-451F-82AB-8FDE17331586}" type="slidenum">
              <a:rPr lang="en-US" altLang="zh-CN" smtClean="0"/>
              <a:pPr/>
              <a:t>25</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p:spPr>
        <p:txBody>
          <a:bodyPr/>
          <a:lstStyle/>
          <a:p>
            <a:r>
              <a:rPr lang="en-US" b="1" dirty="0"/>
              <a:t>Density-reachable</a:t>
            </a:r>
          </a:p>
          <a:p>
            <a:r>
              <a:rPr lang="en-US" dirty="0"/>
              <a:t>A point </a:t>
            </a:r>
            <a:r>
              <a:rPr lang="en-US" b="1" dirty="0"/>
              <a:t>p</a:t>
            </a:r>
            <a:r>
              <a:rPr lang="en-US" dirty="0"/>
              <a:t> is density-reachable from point </a:t>
            </a:r>
            <a:r>
              <a:rPr lang="en-US" b="1" dirty="0"/>
              <a:t>q</a:t>
            </a:r>
            <a:r>
              <a:rPr lang="en-US" dirty="0"/>
              <a:t> if we can go from </a:t>
            </a:r>
            <a:r>
              <a:rPr lang="en-US" b="1" dirty="0"/>
              <a:t>q</a:t>
            </a:r>
            <a:r>
              <a:rPr lang="en-US" dirty="0"/>
              <a:t> to </a:t>
            </a:r>
            <a:r>
              <a:rPr lang="en-US" b="1" dirty="0"/>
              <a:t>p</a:t>
            </a:r>
            <a:r>
              <a:rPr lang="en-US" dirty="0"/>
              <a:t> through a chain of nearby points.</a:t>
            </a:r>
          </a:p>
          <a:p>
            <a:r>
              <a:rPr lang="en-US" dirty="0"/>
              <a:t>In this chain, each next point must be </a:t>
            </a:r>
            <a:r>
              <a:rPr lang="en-US" b="1" dirty="0"/>
              <a:t>directly density-reachable</a:t>
            </a:r>
            <a:r>
              <a:rPr lang="en-US" dirty="0"/>
              <a:t> from the previous one.</a:t>
            </a:r>
          </a:p>
          <a:p>
            <a:r>
              <a:rPr lang="en-US" dirty="0"/>
              <a:t>So, even if </a:t>
            </a:r>
            <a:r>
              <a:rPr lang="en-US" b="1" dirty="0"/>
              <a:t>p</a:t>
            </a:r>
            <a:r>
              <a:rPr lang="en-US" dirty="0"/>
              <a:t> is not directly close to </a:t>
            </a:r>
            <a:r>
              <a:rPr lang="en-US" b="1" dirty="0"/>
              <a:t>q</a:t>
            </a:r>
            <a:r>
              <a:rPr lang="en-US" dirty="0"/>
              <a:t>, it can still belong to the same cluster through connected dense neighbors.</a:t>
            </a:r>
          </a:p>
          <a:p>
            <a:r>
              <a:rPr lang="en-US" b="1" dirty="0"/>
              <a:t>Density-connected</a:t>
            </a:r>
          </a:p>
          <a:p>
            <a:r>
              <a:rPr lang="en-US" dirty="0"/>
              <a:t>A point </a:t>
            </a:r>
            <a:r>
              <a:rPr lang="en-US" b="1" dirty="0"/>
              <a:t>p</a:t>
            </a:r>
            <a:r>
              <a:rPr lang="en-US" dirty="0"/>
              <a:t> is density-connected to point </a:t>
            </a:r>
            <a:r>
              <a:rPr lang="en-US" b="1" dirty="0"/>
              <a:t>q</a:t>
            </a:r>
            <a:r>
              <a:rPr lang="en-US" dirty="0"/>
              <a:t> if there is another point </a:t>
            </a:r>
            <a:r>
              <a:rPr lang="en-US" b="1" dirty="0"/>
              <a:t>o</a:t>
            </a:r>
            <a:r>
              <a:rPr lang="en-US" dirty="0"/>
              <a:t> from which </a:t>
            </a:r>
            <a:r>
              <a:rPr lang="en-US" b="1" dirty="0"/>
              <a:t>both p and q are density-reachable</a:t>
            </a:r>
            <a:r>
              <a:rPr lang="en-US" dirty="0"/>
              <a:t>.</a:t>
            </a:r>
          </a:p>
          <a:p>
            <a:r>
              <a:rPr lang="en-US" dirty="0"/>
              <a:t>This means </a:t>
            </a:r>
            <a:r>
              <a:rPr lang="en-US" b="1" dirty="0"/>
              <a:t>p and q belong to the same dense region</a:t>
            </a:r>
            <a:r>
              <a:rPr lang="en-US" dirty="0"/>
              <a:t>, even if they are not directly connected to each other.</a:t>
            </a:r>
          </a:p>
          <a:p>
            <a:r>
              <a:rPr lang="en-US" b="1" dirty="0"/>
              <a:t>Main idea</a:t>
            </a:r>
          </a:p>
          <a:p>
            <a:r>
              <a:rPr lang="en-US" b="1" dirty="0"/>
              <a:t>Density-reachable</a:t>
            </a:r>
            <a:r>
              <a:rPr lang="en-US" dirty="0"/>
              <a:t> means one point can be reached through a chain of dense neighbors.</a:t>
            </a:r>
          </a:p>
          <a:p>
            <a:r>
              <a:rPr lang="en-US" b="1" dirty="0"/>
              <a:t>Density-connected</a:t>
            </a:r>
            <a:r>
              <a:rPr lang="en-US" dirty="0"/>
              <a:t> means two points are connected through the same dense region, so they belong to the same cluster.</a:t>
            </a:r>
          </a:p>
          <a:p>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45680262-4401-4859-A754-DB95E7904FFE}" type="slidenum">
              <a:rPr lang="en-US" altLang="zh-CN" smtClean="0"/>
              <a:pPr/>
              <a:t>26</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p:spPr>
        <p:txBody>
          <a:bodyPr/>
          <a:lstStyle/>
          <a:p>
            <a:r>
              <a:rPr lang="en-US" b="1" dirty="0"/>
              <a:t>DBSCAN</a:t>
            </a:r>
          </a:p>
          <a:p>
            <a:r>
              <a:rPr lang="en-US" b="1" dirty="0"/>
              <a:t>DBSCAN</a:t>
            </a:r>
            <a:r>
              <a:rPr lang="en-US" dirty="0"/>
              <a:t> stands for </a:t>
            </a:r>
            <a:r>
              <a:rPr lang="en-US" b="1" dirty="0"/>
              <a:t>Density-Based Spatial Clustering of Applications with Noise</a:t>
            </a:r>
            <a:r>
              <a:rPr lang="en-US" dirty="0"/>
              <a:t>.</a:t>
            </a:r>
          </a:p>
          <a:p>
            <a:r>
              <a:rPr lang="en-US" dirty="0"/>
              <a:t>It is a </a:t>
            </a:r>
            <a:r>
              <a:rPr lang="en-US" b="1" dirty="0"/>
              <a:t>density-based clustering algorithm</a:t>
            </a:r>
            <a:r>
              <a:rPr lang="en-US" dirty="0"/>
              <a:t>.</a:t>
            </a:r>
          </a:p>
          <a:p>
            <a:r>
              <a:rPr lang="en-US" dirty="0"/>
              <a:t>In DBSCAN, a cluster is defined as the </a:t>
            </a:r>
            <a:r>
              <a:rPr lang="en-US" b="1" dirty="0"/>
              <a:t>largest group of density-connected points</a:t>
            </a:r>
            <a:r>
              <a:rPr lang="en-US" dirty="0"/>
              <a:t>.</a:t>
            </a:r>
          </a:p>
          <a:p>
            <a:r>
              <a:rPr lang="en-US" dirty="0"/>
              <a:t>It can discover clusters of </a:t>
            </a:r>
            <a:r>
              <a:rPr lang="en-US" b="1" dirty="0"/>
              <a:t>arbitrary shape</a:t>
            </a:r>
            <a:r>
              <a:rPr lang="en-US" dirty="0"/>
              <a:t>, not only round clusters.</a:t>
            </a:r>
          </a:p>
          <a:p>
            <a:r>
              <a:rPr lang="en-US" dirty="0"/>
              <a:t>It can also identify </a:t>
            </a:r>
            <a:r>
              <a:rPr lang="en-US" b="1" dirty="0"/>
              <a:t>noise or outliers</a:t>
            </a:r>
            <a:r>
              <a:rPr lang="en-US" dirty="0"/>
              <a:t>.</a:t>
            </a:r>
          </a:p>
          <a:p>
            <a:r>
              <a:rPr lang="en-US" b="1" dirty="0"/>
              <a:t>Types of points in DBSCAN</a:t>
            </a:r>
          </a:p>
          <a:p>
            <a:r>
              <a:rPr lang="en-US" b="1" dirty="0"/>
              <a:t>Core point:</a:t>
            </a:r>
            <a:r>
              <a:rPr lang="en-US" dirty="0"/>
              <a:t> a point that has at least </a:t>
            </a:r>
            <a:r>
              <a:rPr lang="en-US" b="1" dirty="0" err="1"/>
              <a:t>MinPts</a:t>
            </a:r>
            <a:r>
              <a:rPr lang="en-US" dirty="0"/>
              <a:t> points within distance </a:t>
            </a:r>
            <a:r>
              <a:rPr lang="en-US" b="1" dirty="0"/>
              <a:t>Eps</a:t>
            </a:r>
            <a:r>
              <a:rPr lang="en-US" dirty="0"/>
              <a:t>.</a:t>
            </a:r>
          </a:p>
          <a:p>
            <a:r>
              <a:rPr lang="en-US" b="1" dirty="0"/>
              <a:t>Border point:</a:t>
            </a:r>
            <a:r>
              <a:rPr lang="en-US" dirty="0"/>
              <a:t> a point that is close to a core point but does not itself have enough neighbors to be a core point.</a:t>
            </a:r>
          </a:p>
          <a:p>
            <a:r>
              <a:rPr lang="en-US" b="1" dirty="0"/>
              <a:t>Outlier (noise):</a:t>
            </a:r>
            <a:r>
              <a:rPr lang="en-US" dirty="0"/>
              <a:t> a point that does not belong to any cluster.</a:t>
            </a:r>
          </a:p>
          <a:p>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4DC61E1D-4B4E-4226-8555-B2CFFB179A80}" type="slidenum">
              <a:rPr lang="en-US" altLang="zh-CN" smtClean="0"/>
              <a:pPr/>
              <a:t>27</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p:spPr>
        <p:txBody>
          <a:bodyPr/>
          <a:lstStyle/>
          <a:p>
            <a:r>
              <a:rPr lang="en-US" b="1" dirty="0"/>
              <a:t>DBSCAN Algorithm</a:t>
            </a:r>
          </a:p>
          <a:p>
            <a:r>
              <a:rPr lang="en-US" dirty="0"/>
              <a:t>First, DBSCAN selects any point </a:t>
            </a:r>
            <a:r>
              <a:rPr lang="en-US" b="1" dirty="0"/>
              <a:t>p</a:t>
            </a:r>
            <a:r>
              <a:rPr lang="en-US" dirty="0"/>
              <a:t>.</a:t>
            </a:r>
          </a:p>
          <a:p>
            <a:r>
              <a:rPr lang="en-US" dirty="0"/>
              <a:t>If </a:t>
            </a:r>
            <a:r>
              <a:rPr lang="en-US" b="1" dirty="0"/>
              <a:t>p is a core point</a:t>
            </a:r>
            <a:r>
              <a:rPr lang="en-US" dirty="0"/>
              <a:t>, a new cluster is created.</a:t>
            </a:r>
          </a:p>
          <a:p>
            <a:pPr lvl="1"/>
            <a:r>
              <a:rPr lang="en-US" dirty="0"/>
              <a:t>Then DBSCAN finds all points that are </a:t>
            </a:r>
            <a:r>
              <a:rPr lang="en-US" b="1" dirty="0"/>
              <a:t>density-reachable</a:t>
            </a:r>
            <a:r>
              <a:rPr lang="en-US" dirty="0"/>
              <a:t> from </a:t>
            </a:r>
            <a:r>
              <a:rPr lang="en-US" b="1" dirty="0"/>
              <a:t>p</a:t>
            </a:r>
            <a:r>
              <a:rPr lang="en-US" dirty="0"/>
              <a:t>.</a:t>
            </a:r>
          </a:p>
          <a:p>
            <a:pPr lvl="1"/>
            <a:r>
              <a:rPr lang="en-US" dirty="0"/>
              <a:t>All those reachable points are added to the same cluster.</a:t>
            </a:r>
          </a:p>
          <a:p>
            <a:r>
              <a:rPr lang="en-US" dirty="0"/>
              <a:t>If </a:t>
            </a:r>
            <a:r>
              <a:rPr lang="en-US" b="1" dirty="0"/>
              <a:t>p is a border point</a:t>
            </a:r>
            <a:r>
              <a:rPr lang="en-US" dirty="0"/>
              <a:t>, it does not start a new cluster.</a:t>
            </a:r>
          </a:p>
          <a:p>
            <a:r>
              <a:rPr lang="en-US" dirty="0"/>
              <a:t>If </a:t>
            </a:r>
            <a:r>
              <a:rPr lang="en-US" b="1" dirty="0"/>
              <a:t>p is an outlier</a:t>
            </a:r>
            <a:r>
              <a:rPr lang="en-US" dirty="0"/>
              <a:t>, DBSCAN ignores it for clustering and moves to the next point.</a:t>
            </a:r>
          </a:p>
          <a:p>
            <a:r>
              <a:rPr lang="en-US" dirty="0"/>
              <a:t>This process continues until </a:t>
            </a:r>
            <a:r>
              <a:rPr lang="en-US" b="1" dirty="0"/>
              <a:t>all points are checked</a:t>
            </a:r>
            <a:r>
              <a:rPr lang="en-US" dirty="0"/>
              <a:t>.</a:t>
            </a:r>
          </a:p>
          <a:p>
            <a:r>
              <a:rPr lang="en-US" b="1" dirty="0"/>
              <a:t>Complexity</a:t>
            </a:r>
          </a:p>
          <a:p>
            <a:r>
              <a:rPr lang="en-US" dirty="0"/>
              <a:t>If a </a:t>
            </a:r>
            <a:r>
              <a:rPr lang="en-US" b="1" dirty="0"/>
              <a:t>spatial index</a:t>
            </a:r>
            <a:r>
              <a:rPr lang="en-US" dirty="0"/>
              <a:t> is used, DBSCAN works in about </a:t>
            </a:r>
            <a:r>
              <a:rPr lang="en-US" b="1" dirty="0"/>
              <a:t>O(n log n)</a:t>
            </a:r>
            <a:r>
              <a:rPr lang="en-US" dirty="0"/>
              <a:t>.</a:t>
            </a:r>
          </a:p>
          <a:p>
            <a:r>
              <a:rPr lang="en-US" dirty="0"/>
              <a:t>Otherwise, its complexity is </a:t>
            </a:r>
            <a:r>
              <a:rPr lang="en-US" b="1" dirty="0"/>
              <a:t>O(n²)</a:t>
            </a:r>
            <a:r>
              <a:rPr lang="en-US" dirty="0"/>
              <a:t>.</a:t>
            </a:r>
          </a:p>
          <a:p>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6A44F01-B7E3-454B-9683-8F374F9D0B78}" type="slidenum">
              <a:rPr lang="en-US" smtClean="0"/>
              <a:pPr>
                <a:defRPr/>
              </a:pPr>
              <a:t>28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Determining Eps and </a:t>
            </a:r>
            <a:r>
              <a:rPr lang="en-US" b="1" dirty="0" err="1"/>
              <a:t>MinPts</a:t>
            </a:r>
            <a:r>
              <a:rPr lang="en-US" b="1" dirty="0"/>
              <a:t> in DBSCAN</a:t>
            </a:r>
          </a:p>
          <a:p>
            <a:r>
              <a:rPr lang="en-US" dirty="0"/>
              <a:t>The idea is that points inside a cluster usually have their </a:t>
            </a:r>
            <a:r>
              <a:rPr lang="en-US" b="1" dirty="0"/>
              <a:t>k-</a:t>
            </a:r>
            <a:r>
              <a:rPr lang="en-US" b="1" dirty="0" err="1"/>
              <a:t>th</a:t>
            </a:r>
            <a:r>
              <a:rPr lang="en-US" b="1" dirty="0"/>
              <a:t> nearest neighbor at a similar distance</a:t>
            </a:r>
            <a:r>
              <a:rPr lang="en-US" dirty="0"/>
              <a:t>.</a:t>
            </a:r>
          </a:p>
          <a:p>
            <a:r>
              <a:rPr lang="en-US" dirty="0"/>
              <a:t>But </a:t>
            </a:r>
            <a:r>
              <a:rPr lang="en-US" b="1" dirty="0"/>
              <a:t>noise points</a:t>
            </a:r>
            <a:r>
              <a:rPr lang="en-US" dirty="0"/>
              <a:t> usually have their </a:t>
            </a:r>
            <a:r>
              <a:rPr lang="en-US" b="1" dirty="0"/>
              <a:t>k-</a:t>
            </a:r>
            <a:r>
              <a:rPr lang="en-US" b="1" dirty="0" err="1"/>
              <a:t>th</a:t>
            </a:r>
            <a:r>
              <a:rPr lang="en-US" b="1" dirty="0"/>
              <a:t> nearest neighbor much farther away</a:t>
            </a:r>
            <a:r>
              <a:rPr lang="en-US" dirty="0"/>
              <a:t>.</a:t>
            </a:r>
          </a:p>
          <a:p>
            <a:r>
              <a:rPr lang="en-US" b="1" dirty="0"/>
              <a:t>How to choose</a:t>
            </a:r>
          </a:p>
          <a:p>
            <a:r>
              <a:rPr lang="en-US" dirty="0"/>
              <a:t>First, choose a value of </a:t>
            </a:r>
            <a:r>
              <a:rPr lang="en-US" b="1" dirty="0"/>
              <a:t>k</a:t>
            </a:r>
            <a:r>
              <a:rPr lang="en-US" dirty="0"/>
              <a:t>. Usually, </a:t>
            </a:r>
            <a:r>
              <a:rPr lang="en-US" b="1" dirty="0"/>
              <a:t>k = </a:t>
            </a:r>
            <a:r>
              <a:rPr lang="en-US" b="1" dirty="0" err="1"/>
              <a:t>MinPts</a:t>
            </a:r>
            <a:r>
              <a:rPr lang="en-US" dirty="0"/>
              <a:t>.</a:t>
            </a:r>
          </a:p>
          <a:p>
            <a:r>
              <a:rPr lang="en-US" dirty="0"/>
              <a:t>Then, for every point, compute the distance to its </a:t>
            </a:r>
            <a:r>
              <a:rPr lang="en-US" b="1" dirty="0"/>
              <a:t>k-</a:t>
            </a:r>
            <a:r>
              <a:rPr lang="en-US" b="1" dirty="0" err="1"/>
              <a:t>th</a:t>
            </a:r>
            <a:r>
              <a:rPr lang="en-US" b="1" dirty="0"/>
              <a:t> nearest neighbor</a:t>
            </a:r>
            <a:r>
              <a:rPr lang="en-US" dirty="0"/>
              <a:t>.</a:t>
            </a:r>
          </a:p>
          <a:p>
            <a:r>
              <a:rPr lang="en-US" dirty="0"/>
              <a:t>Sort these distances in increasing order and plot them.</a:t>
            </a:r>
          </a:p>
          <a:p>
            <a:r>
              <a:rPr lang="en-US" b="1" dirty="0"/>
              <a:t>How to find Eps</a:t>
            </a:r>
          </a:p>
          <a:p>
            <a:r>
              <a:rPr lang="en-US" dirty="0"/>
              <a:t>In the sorted </a:t>
            </a:r>
            <a:r>
              <a:rPr lang="en-US" b="1" dirty="0"/>
              <a:t>k-distance graph</a:t>
            </a:r>
            <a:r>
              <a:rPr lang="en-US" dirty="0"/>
              <a:t>, look for the point where the curve starts to rise sharply.</a:t>
            </a:r>
          </a:p>
          <a:p>
            <a:r>
              <a:rPr lang="en-US" dirty="0"/>
              <a:t>This bend is called the </a:t>
            </a:r>
            <a:r>
              <a:rPr lang="en-US" b="1" dirty="0"/>
              <a:t>knee</a:t>
            </a:r>
            <a:r>
              <a:rPr lang="en-US" dirty="0"/>
              <a:t> or </a:t>
            </a:r>
            <a:r>
              <a:rPr lang="en-US" b="1" dirty="0"/>
              <a:t>elbow</a:t>
            </a:r>
            <a:r>
              <a:rPr lang="en-US" dirty="0"/>
              <a:t>.</a:t>
            </a:r>
          </a:p>
          <a:p>
            <a:r>
              <a:rPr lang="en-US" dirty="0"/>
              <a:t>The distance value at that point is chosen as </a:t>
            </a:r>
            <a:r>
              <a:rPr lang="en-US" b="1" dirty="0"/>
              <a:t>Eps</a:t>
            </a:r>
            <a:r>
              <a:rPr lang="en-US" dirty="0"/>
              <a:t>.</a:t>
            </a:r>
          </a:p>
          <a:p>
            <a:r>
              <a:rPr lang="en-US" b="1" dirty="0"/>
              <a:t>How to find </a:t>
            </a:r>
            <a:r>
              <a:rPr lang="en-US" b="1" dirty="0" err="1"/>
              <a:t>MinPts</a:t>
            </a:r>
            <a:endParaRPr lang="en-US" b="1" dirty="0"/>
          </a:p>
          <a:p>
            <a:r>
              <a:rPr lang="en-US" b="1" dirty="0" err="1"/>
              <a:t>MinPts</a:t>
            </a:r>
            <a:r>
              <a:rPr lang="en-US" dirty="0"/>
              <a:t> is often chosen first based on the data dimension or experience.</a:t>
            </a:r>
          </a:p>
          <a:p>
            <a:r>
              <a:rPr lang="en-US" dirty="0"/>
              <a:t>Then the </a:t>
            </a:r>
            <a:r>
              <a:rPr lang="en-US" b="1" dirty="0"/>
              <a:t>k-distance plot</a:t>
            </a:r>
            <a:r>
              <a:rPr lang="en-US" dirty="0"/>
              <a:t> helps estimate a good </a:t>
            </a:r>
            <a:r>
              <a:rPr lang="en-US" b="1" dirty="0"/>
              <a:t>Eps</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31</a:t>
            </a:fld>
            <a:endParaRPr lang="en-US"/>
          </a:p>
        </p:txBody>
      </p:sp>
    </p:spTree>
    <p:extLst>
      <p:ext uri="{BB962C8B-B14F-4D97-AF65-F5344CB8AC3E}">
        <p14:creationId xmlns:p14="http://schemas.microsoft.com/office/powerpoint/2010/main" val="2913884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0EC614FA-7D2D-465B-B72D-D47FA762F762}" type="slidenum">
              <a:rPr lang="en-US" altLang="zh-CN" smtClean="0"/>
              <a:pPr/>
              <a:t>32</a:t>
            </a:fld>
            <a:endParaRPr lang="en-US" altLang="zh-CN"/>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txBox="1">
            <a:spLocks noGrp="1" noChangeArrowheads="1"/>
          </p:cNvSpPr>
          <p:nvPr/>
        </p:nvSpPr>
        <p:spPr bwMode="auto">
          <a:xfrm>
            <a:off x="3971925" y="8831263"/>
            <a:ext cx="3038475" cy="465137"/>
          </a:xfrm>
          <a:prstGeom prst="rect">
            <a:avLst/>
          </a:prstGeom>
          <a:noFill/>
          <a:ln w="9525">
            <a:noFill/>
            <a:miter lim="800000"/>
            <a:headEnd/>
            <a:tailEnd/>
          </a:ln>
        </p:spPr>
        <p:txBody>
          <a:bodyPr lIns="92833" tIns="46417" rIns="92833" bIns="46417" anchor="b"/>
          <a:lstStyle/>
          <a:p>
            <a:pPr algn="r" defTabSz="928688" eaLnBrk="0" hangingPunct="0"/>
            <a:fld id="{36B99F25-0D66-44CE-9E76-680EFC8C4358}" type="slidenum">
              <a:rPr lang="en-US" sz="1200">
                <a:latin typeface="Times New Roman" pitchFamily="18" charset="0"/>
              </a:rPr>
              <a:pPr algn="r" defTabSz="928688" eaLnBrk="0" hangingPunct="0"/>
              <a:t>33</a:t>
            </a:fld>
            <a:endParaRPr lang="en-US" sz="1200">
              <a:latin typeface="Times New Roman" pitchFamily="18" charset="0"/>
            </a:endParaRPr>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p:spPr>
        <p:txBody>
          <a:bodyPr/>
          <a:lstStyle/>
          <a:p>
            <a:r>
              <a:rPr lang="en-US" b="1" dirty="0"/>
              <a:t>Grid-Based Clustering Method</a:t>
            </a:r>
          </a:p>
          <a:p>
            <a:r>
              <a:rPr lang="en-US" dirty="0"/>
              <a:t>First, divide the data space into a set of </a:t>
            </a:r>
            <a:r>
              <a:rPr lang="en-US" b="1" dirty="0"/>
              <a:t>grid cells</a:t>
            </a:r>
            <a:r>
              <a:rPr lang="en-US" dirty="0"/>
              <a:t>.</a:t>
            </a:r>
          </a:p>
          <a:p>
            <a:r>
              <a:rPr lang="en-US" dirty="0"/>
              <a:t>Then assign each data point to its correct </a:t>
            </a:r>
            <a:r>
              <a:rPr lang="en-US" b="1" dirty="0"/>
              <a:t>grid cell</a:t>
            </a:r>
            <a:r>
              <a:rPr lang="en-US" dirty="0"/>
              <a:t> and calculate the </a:t>
            </a:r>
            <a:r>
              <a:rPr lang="en-US" b="1" dirty="0"/>
              <a:t>density</a:t>
            </a:r>
            <a:r>
              <a:rPr lang="en-US" dirty="0"/>
              <a:t> of each cell.</a:t>
            </a:r>
          </a:p>
          <a:p>
            <a:r>
              <a:rPr lang="en-US" dirty="0"/>
              <a:t>Remove the cells whose density is below a chosen </a:t>
            </a:r>
            <a:r>
              <a:rPr lang="en-US" b="1" dirty="0"/>
              <a:t>threshold T</a:t>
            </a:r>
            <a:r>
              <a:rPr lang="en-US" dirty="0"/>
              <a:t>.</a:t>
            </a:r>
          </a:p>
          <a:p>
            <a:r>
              <a:rPr lang="en-US" dirty="0"/>
              <a:t>Finally, form clusters by joining </a:t>
            </a:r>
            <a:r>
              <a:rPr lang="en-US" b="1" dirty="0"/>
              <a:t>adjacent dense cells</a:t>
            </a:r>
            <a:r>
              <a:rPr lang="en-US" dirty="0"/>
              <a:t>.</a:t>
            </a:r>
          </a:p>
          <a:p>
            <a:r>
              <a:rPr lang="en-US" b="1" dirty="0"/>
              <a:t>Main idea</a:t>
            </a:r>
          </a:p>
          <a:p>
            <a:r>
              <a:rPr lang="en-US" dirty="0"/>
              <a:t>Grid-based clustering does not cluster points directly. It first groups points into cells, keeps only dense cells, and forms clusters from neighboring dense cells.</a:t>
            </a:r>
          </a:p>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txBox="1">
            <a:spLocks noGrp="1" noChangeArrowheads="1"/>
          </p:cNvSpPr>
          <p:nvPr/>
        </p:nvSpPr>
        <p:spPr bwMode="auto">
          <a:xfrm>
            <a:off x="3971925" y="8831263"/>
            <a:ext cx="3038475" cy="465137"/>
          </a:xfrm>
          <a:prstGeom prst="rect">
            <a:avLst/>
          </a:prstGeom>
          <a:noFill/>
          <a:ln w="9525">
            <a:noFill/>
            <a:miter lim="800000"/>
            <a:headEnd/>
            <a:tailEnd/>
          </a:ln>
        </p:spPr>
        <p:txBody>
          <a:bodyPr lIns="92833" tIns="46417" rIns="92833" bIns="46417" anchor="b"/>
          <a:lstStyle/>
          <a:p>
            <a:pPr algn="r" defTabSz="928688" eaLnBrk="0" hangingPunct="0"/>
            <a:fld id="{3C5278EE-D929-44DB-B6D8-1579628D6CE5}" type="slidenum">
              <a:rPr lang="en-US" sz="1200">
                <a:latin typeface="Times New Roman" pitchFamily="18" charset="0"/>
              </a:rPr>
              <a:pPr algn="r" defTabSz="928688" eaLnBrk="0" hangingPunct="0"/>
              <a:t>34</a:t>
            </a:fld>
            <a:endParaRPr lang="en-US" sz="1200">
              <a:latin typeface="Times New Roman" pitchFamily="18"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r>
              <a:rPr lang="en-US" b="1" dirty="0"/>
              <a:t>Strength and Weakness</a:t>
            </a:r>
          </a:p>
          <a:p>
            <a:r>
              <a:rPr lang="en-US" b="1" dirty="0"/>
              <a:t>Strengths</a:t>
            </a:r>
          </a:p>
          <a:p>
            <a:r>
              <a:rPr lang="en-US" dirty="0"/>
              <a:t>It can automatically find </a:t>
            </a:r>
            <a:r>
              <a:rPr lang="en-US" b="1" dirty="0"/>
              <a:t>high-density subspaces</a:t>
            </a:r>
            <a:r>
              <a:rPr lang="en-US" dirty="0"/>
              <a:t> in high-dimensional data.</a:t>
            </a:r>
          </a:p>
          <a:p>
            <a:r>
              <a:rPr lang="en-US" dirty="0"/>
              <a:t>It is </a:t>
            </a:r>
            <a:r>
              <a:rPr lang="en-US" b="1" dirty="0"/>
              <a:t>not sensitive to the input order</a:t>
            </a:r>
            <a:r>
              <a:rPr lang="en-US" dirty="0"/>
              <a:t> of records.</a:t>
            </a:r>
          </a:p>
          <a:p>
            <a:r>
              <a:rPr lang="en-US" dirty="0"/>
              <a:t>It does not assume any fixed data distribution.</a:t>
            </a:r>
          </a:p>
          <a:p>
            <a:r>
              <a:rPr lang="en-US" dirty="0"/>
              <a:t>It scales </a:t>
            </a:r>
            <a:r>
              <a:rPr lang="en-US" b="1" dirty="0"/>
              <a:t>linearly</a:t>
            </a:r>
            <a:r>
              <a:rPr lang="en-US" dirty="0"/>
              <a:t> with input size, so it is good for large datasets.</a:t>
            </a:r>
          </a:p>
          <a:p>
            <a:r>
              <a:rPr lang="en-US" dirty="0"/>
              <a:t>It also works well when the number of dimensions increases.</a:t>
            </a:r>
          </a:p>
          <a:p>
            <a:r>
              <a:rPr lang="en-US" b="1" dirty="0"/>
              <a:t>Weakness</a:t>
            </a:r>
          </a:p>
          <a:p>
            <a:r>
              <a:rPr lang="en-US"/>
              <a:t>Because the method is simple, the </a:t>
            </a:r>
            <a:r>
              <a:rPr lang="en-US" b="1"/>
              <a:t>clustering accuracy may decrease</a:t>
            </a:r>
            <a:r>
              <a:rPr lang="en-US"/>
              <a:t> in some cases.</a:t>
            </a:r>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177155" name="Notes Placeholder 2"/>
          <p:cNvSpPr>
            <a:spLocks noGrp="1"/>
          </p:cNvSpPr>
          <p:nvPr>
            <p:ph type="body" idx="1"/>
          </p:nvPr>
        </p:nvSpPr>
        <p:spPr>
          <a:noFill/>
          <a:ln/>
        </p:spPr>
        <p:txBody>
          <a:bodyPr/>
          <a:lstStyle/>
          <a:p>
            <a:endParaRPr lang="zh-CN" altLang="zh-CN"/>
          </a:p>
        </p:txBody>
      </p:sp>
      <p:sp>
        <p:nvSpPr>
          <p:cNvPr id="177156" name="Slide Number Placeholder 3"/>
          <p:cNvSpPr>
            <a:spLocks noGrp="1"/>
          </p:cNvSpPr>
          <p:nvPr>
            <p:ph type="sldNum" sz="quarter" idx="5"/>
          </p:nvPr>
        </p:nvSpPr>
        <p:spPr>
          <a:noFill/>
        </p:spPr>
        <p:txBody>
          <a:bodyPr/>
          <a:lstStyle/>
          <a:p>
            <a:fld id="{BCF0642A-8CB1-4D90-BA37-2C2257A0C426}" type="slidenum">
              <a:rPr lang="en-US" altLang="zh-CN" smtClean="0"/>
              <a:pPr/>
              <a:t>35</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645D3131-574A-4C83-B42B-C2C7F6201AAC}" type="slidenum">
              <a:rPr lang="en-US" smtClean="0"/>
              <a:pPr/>
              <a:t>36</a:t>
            </a:fld>
            <a:endParaRPr lang="en-US"/>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p>
        </p:txBody>
      </p:sp>
      <p:sp>
        <p:nvSpPr>
          <p:cNvPr id="2048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048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p:cNvSpPr>
            <a:spLocks noGrp="1" noChangeArrowheads="1"/>
          </p:cNvSpPr>
          <p:nvPr>
            <p:ph type="sldNum" sz="quarter" idx="12"/>
          </p:nvPr>
        </p:nvSpPr>
        <p:spPr/>
        <p:txBody>
          <a:bodyPr/>
          <a:lstStyle>
            <a:lvl1pPr>
              <a:defRPr/>
            </a:lvl1pPr>
          </a:lstStyle>
          <a:p>
            <a:pPr>
              <a:defRPr/>
            </a:pPr>
            <a:fld id="{DBFF085F-0862-4687-969E-A113ED526F73}"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D3D212DC-59E6-444E-AD7D-AB217D4E4668}"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411DB46-EA3B-4771-84A7-EF2A89089F6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E7C7241A-14B4-47C9-97AA-E825931DEA7A}"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E75899CB-E299-4B2F-A5FF-BAA7A44558A6}"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DC454605-094D-467A-98B4-485DD38572BC}"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pPr>
              <a:defRPr/>
            </a:pPr>
            <a:fld id="{E32456F1-5FD4-4074-A7F5-122F6C81D70D}"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08169C9D-9F2F-431A-8109-7CE4B4AFDF93}"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C89D69A7-3DB0-47C4-8AB7-03B3E235F1F1}"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375A3F1-4B91-4C91-96E0-C7B24072A8E6}"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C97256C4-D2FC-483B-A9EE-73C10A4B54BD}"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A94D61D0-5A32-4214-9618-E7413E4A3991}"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p>
        </p:txBody>
      </p:sp>
      <p:sp>
        <p:nvSpPr>
          <p:cNvPr id="7171"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172"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46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en-US"/>
          </a:p>
        </p:txBody>
      </p:sp>
      <p:sp>
        <p:nvSpPr>
          <p:cNvPr id="1946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en-US"/>
          </a:p>
        </p:txBody>
      </p:sp>
      <p:sp>
        <p:nvSpPr>
          <p:cNvPr id="1946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716607F1-F5B4-40CE-9840-A0B6A98E7C97}" type="slidenum">
              <a:rPr lang="en-US" altLang="en-US"/>
              <a:pPr>
                <a:defRPr/>
              </a:pPr>
              <a:t>‹#›</a:t>
            </a:fld>
            <a:endParaRPr lang="en-US" altLang="en-US"/>
          </a:p>
        </p:txBody>
      </p:sp>
      <p:grpSp>
        <p:nvGrpSpPr>
          <p:cNvPr id="7176" name="Group 8"/>
          <p:cNvGrpSpPr>
            <a:grpSpLocks/>
          </p:cNvGrpSpPr>
          <p:nvPr/>
        </p:nvGrpSpPr>
        <p:grpSpPr bwMode="auto">
          <a:xfrm>
            <a:off x="8153400" y="152400"/>
            <a:ext cx="792163" cy="1295400"/>
            <a:chOff x="5136" y="960"/>
            <a:chExt cx="528" cy="864"/>
          </a:xfrm>
        </p:grpSpPr>
        <p:sp>
          <p:nvSpPr>
            <p:cNvPr id="19465"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6"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7" name="Oval 11"/>
            <p:cNvSpPr>
              <a:spLocks noChangeArrowheads="1"/>
            </p:cNvSpPr>
            <p:nvPr/>
          </p:nvSpPr>
          <p:spPr bwMode="auto">
            <a:xfrm>
              <a:off x="5360" y="960"/>
              <a:ext cx="76"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8" name="Oval 12"/>
            <p:cNvSpPr>
              <a:spLocks noChangeArrowheads="1"/>
            </p:cNvSpPr>
            <p:nvPr/>
          </p:nvSpPr>
          <p:spPr bwMode="auto">
            <a:xfrm>
              <a:off x="5136" y="1072"/>
              <a:ext cx="80"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69" name="Oval 13"/>
            <p:cNvSpPr>
              <a:spLocks noChangeArrowheads="1"/>
            </p:cNvSpPr>
            <p:nvPr/>
          </p:nvSpPr>
          <p:spPr bwMode="auto">
            <a:xfrm>
              <a:off x="5248" y="1072"/>
              <a:ext cx="79"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0" name="Oval 14"/>
            <p:cNvSpPr>
              <a:spLocks noChangeArrowheads="1"/>
            </p:cNvSpPr>
            <p:nvPr/>
          </p:nvSpPr>
          <p:spPr bwMode="auto">
            <a:xfrm>
              <a:off x="5360" y="1072"/>
              <a:ext cx="76"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1" name="Oval 15"/>
            <p:cNvSpPr>
              <a:spLocks noChangeArrowheads="1"/>
            </p:cNvSpPr>
            <p:nvPr/>
          </p:nvSpPr>
          <p:spPr bwMode="auto">
            <a:xfrm>
              <a:off x="5472" y="1072"/>
              <a:ext cx="73" cy="77"/>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2" name="Oval 16"/>
            <p:cNvSpPr>
              <a:spLocks noChangeArrowheads="1"/>
            </p:cNvSpPr>
            <p:nvPr/>
          </p:nvSpPr>
          <p:spPr bwMode="auto">
            <a:xfrm>
              <a:off x="5136" y="1184"/>
              <a:ext cx="80"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3" name="Oval 17"/>
            <p:cNvSpPr>
              <a:spLocks noChangeArrowheads="1"/>
            </p:cNvSpPr>
            <p:nvPr/>
          </p:nvSpPr>
          <p:spPr bwMode="auto">
            <a:xfrm>
              <a:off x="5248" y="1184"/>
              <a:ext cx="79"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4" name="Oval 18"/>
            <p:cNvSpPr>
              <a:spLocks noChangeArrowheads="1"/>
            </p:cNvSpPr>
            <p:nvPr/>
          </p:nvSpPr>
          <p:spPr bwMode="auto">
            <a:xfrm>
              <a:off x="5360" y="1184"/>
              <a:ext cx="76"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5" name="Oval 19"/>
            <p:cNvSpPr>
              <a:spLocks noChangeArrowheads="1"/>
            </p:cNvSpPr>
            <p:nvPr/>
          </p:nvSpPr>
          <p:spPr bwMode="auto">
            <a:xfrm>
              <a:off x="5472" y="1184"/>
              <a:ext cx="73"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6" name="Oval 20"/>
            <p:cNvSpPr>
              <a:spLocks noChangeArrowheads="1"/>
            </p:cNvSpPr>
            <p:nvPr/>
          </p:nvSpPr>
          <p:spPr bwMode="auto">
            <a:xfrm>
              <a:off x="5584" y="1184"/>
              <a:ext cx="80" cy="73"/>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77"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78"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9" name="Oval 23"/>
            <p:cNvSpPr>
              <a:spLocks noChangeArrowheads="1"/>
            </p:cNvSpPr>
            <p:nvPr/>
          </p:nvSpPr>
          <p:spPr bwMode="auto">
            <a:xfrm>
              <a:off x="5360" y="1296"/>
              <a:ext cx="76"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0" name="Oval 24"/>
            <p:cNvSpPr>
              <a:spLocks noChangeArrowheads="1"/>
            </p:cNvSpPr>
            <p:nvPr/>
          </p:nvSpPr>
          <p:spPr bwMode="auto">
            <a:xfrm>
              <a:off x="5472" y="1296"/>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1"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2"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3" name="Oval 27"/>
            <p:cNvSpPr>
              <a:spLocks noChangeArrowheads="1"/>
            </p:cNvSpPr>
            <p:nvPr/>
          </p:nvSpPr>
          <p:spPr bwMode="auto">
            <a:xfrm>
              <a:off x="5360" y="1408"/>
              <a:ext cx="76"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4" name="Oval 28"/>
            <p:cNvSpPr>
              <a:spLocks noChangeArrowheads="1"/>
            </p:cNvSpPr>
            <p:nvPr/>
          </p:nvSpPr>
          <p:spPr bwMode="auto">
            <a:xfrm>
              <a:off x="5472" y="1408"/>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5"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86"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7"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8" name="Oval 32"/>
            <p:cNvSpPr>
              <a:spLocks noChangeArrowheads="1"/>
            </p:cNvSpPr>
            <p:nvPr/>
          </p:nvSpPr>
          <p:spPr bwMode="auto">
            <a:xfrm>
              <a:off x="5360" y="1520"/>
              <a:ext cx="76"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9" name="Oval 33"/>
            <p:cNvSpPr>
              <a:spLocks noChangeArrowheads="1"/>
            </p:cNvSpPr>
            <p:nvPr/>
          </p:nvSpPr>
          <p:spPr bwMode="auto">
            <a:xfrm>
              <a:off x="5472" y="1520"/>
              <a:ext cx="73" cy="79"/>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0" name="Oval 34"/>
            <p:cNvSpPr>
              <a:spLocks noChangeArrowheads="1"/>
            </p:cNvSpPr>
            <p:nvPr/>
          </p:nvSpPr>
          <p:spPr bwMode="auto">
            <a:xfrm>
              <a:off x="5136" y="1632"/>
              <a:ext cx="80"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1" name="Oval 35"/>
            <p:cNvSpPr>
              <a:spLocks noChangeArrowheads="1"/>
            </p:cNvSpPr>
            <p:nvPr/>
          </p:nvSpPr>
          <p:spPr bwMode="auto">
            <a:xfrm>
              <a:off x="5248" y="1632"/>
              <a:ext cx="79"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2" name="Oval 36"/>
            <p:cNvSpPr>
              <a:spLocks noChangeArrowheads="1"/>
            </p:cNvSpPr>
            <p:nvPr/>
          </p:nvSpPr>
          <p:spPr bwMode="auto">
            <a:xfrm>
              <a:off x="5360" y="1632"/>
              <a:ext cx="76"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3" name="Oval 37"/>
            <p:cNvSpPr>
              <a:spLocks noChangeArrowheads="1"/>
            </p:cNvSpPr>
            <p:nvPr/>
          </p:nvSpPr>
          <p:spPr bwMode="auto">
            <a:xfrm>
              <a:off x="5472" y="1632"/>
              <a:ext cx="73"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4"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5" name="Oval 39"/>
            <p:cNvSpPr>
              <a:spLocks noChangeArrowheads="1"/>
            </p:cNvSpPr>
            <p:nvPr/>
          </p:nvSpPr>
          <p:spPr bwMode="auto">
            <a:xfrm>
              <a:off x="5472" y="1744"/>
              <a:ext cx="73" cy="80"/>
            </a:xfrm>
            <a:prstGeom prst="ellipse">
              <a:avLst/>
            </a:prstGeom>
            <a:solidFill>
              <a:schemeClr val="folHlink"/>
            </a:solidFill>
            <a:ln w="9525">
              <a:noFill/>
              <a:round/>
              <a:headEnd/>
              <a:tailEnd/>
            </a:ln>
            <a:effectLst/>
          </p:spPr>
          <p:txBody>
            <a:bodyPr wrap="none" anchor="ct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823"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oleObject" Target="../embeddings/oleObject6.bin"/><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315913" y="990600"/>
            <a:ext cx="6781800" cy="1066800"/>
          </a:xfrm>
        </p:spPr>
        <p:txBody>
          <a:bodyPr/>
          <a:lstStyle/>
          <a:p>
            <a:pPr algn="ctr" eaLnBrk="1" hangingPunct="1"/>
            <a:r>
              <a:rPr lang="en-US" sz="2800" dirty="0"/>
              <a:t>Data Mining (CSE 6506)</a:t>
            </a:r>
            <a:br>
              <a:rPr lang="en-US" sz="2800" dirty="0"/>
            </a:br>
            <a:br>
              <a:rPr lang="en-US" sz="2800" dirty="0"/>
            </a:br>
            <a:endParaRPr lang="en-US" sz="2800" b="0" dirty="0"/>
          </a:p>
        </p:txBody>
      </p:sp>
      <p:sp>
        <p:nvSpPr>
          <p:cNvPr id="14339" name="Rectangle 3"/>
          <p:cNvSpPr>
            <a:spLocks noGrp="1" noChangeArrowheads="1"/>
          </p:cNvSpPr>
          <p:nvPr>
            <p:ph type="subTitle" idx="1"/>
          </p:nvPr>
        </p:nvSpPr>
        <p:spPr/>
        <p:txBody>
          <a:bodyPr/>
          <a:lstStyle/>
          <a:p>
            <a:pPr algn="ctr" eaLnBrk="1" hangingPunct="1">
              <a:lnSpc>
                <a:spcPct val="90000"/>
              </a:lnSpc>
            </a:pPr>
            <a:r>
              <a:rPr lang="en-US" sz="2400"/>
              <a:t>Mahmuda</a:t>
            </a:r>
            <a:r>
              <a:rPr lang="en-US" sz="2400" dirty="0"/>
              <a:t> </a:t>
            </a:r>
            <a:r>
              <a:rPr lang="en-US" sz="2400" dirty="0" err="1"/>
              <a:t>Naznin</a:t>
            </a:r>
            <a:endParaRPr lang="en-US" sz="2400" dirty="0"/>
          </a:p>
          <a:p>
            <a:pPr algn="ctr" eaLnBrk="1" hangingPunct="1">
              <a:lnSpc>
                <a:spcPct val="90000"/>
              </a:lnSpc>
            </a:pPr>
            <a:r>
              <a:rPr lang="en-US" sz="2400" dirty="0"/>
              <a:t>Department of Computer Science Engineering, BUET </a:t>
            </a:r>
            <a:br>
              <a:rPr lang="en-US" sz="2400" dirty="0"/>
            </a:br>
            <a:endParaRPr lang="en-US" sz="2400" dirty="0"/>
          </a:p>
          <a:p>
            <a:pPr algn="ctr" eaLnBrk="1" hangingPunct="1">
              <a:lnSpc>
                <a:spcPct val="90000"/>
              </a:lnSpc>
            </a:pPr>
            <a:br>
              <a:rPr lang="en-US" sz="2400" dirty="0"/>
            </a:br>
            <a:endParaRPr lang="en-US" sz="2400" dirty="0"/>
          </a:p>
        </p:txBody>
      </p:sp>
      <p:sp>
        <p:nvSpPr>
          <p:cNvPr id="5" name="Rectangle 2"/>
          <p:cNvSpPr txBox="1">
            <a:spLocks noChangeArrowheads="1"/>
          </p:cNvSpPr>
          <p:nvPr/>
        </p:nvSpPr>
        <p:spPr bwMode="auto">
          <a:xfrm>
            <a:off x="457200" y="1905000"/>
            <a:ext cx="6781800" cy="609600"/>
          </a:xfrm>
          <a:prstGeom prst="rect">
            <a:avLst/>
          </a:prstGeom>
          <a:solidFill>
            <a:schemeClr val="bg1">
              <a:lumMod val="85000"/>
            </a:schemeClr>
          </a:solidFill>
          <a:ln w="9525">
            <a:noFill/>
            <a:miter lim="800000"/>
            <a:headEnd/>
            <a:tailEnd/>
          </a:ln>
        </p:spPr>
        <p:txBody>
          <a:bodyPr vert="horz" wrap="square" lIns="91440" tIns="45720" rIns="91440" bIns="45720" numCol="1" anchor="b" anchorCtr="0" compatLnSpc="1">
            <a:prstTxWarp prst="textNoShape">
              <a:avLst/>
            </a:prstTxWarp>
          </a:bodyPr>
          <a:lstStyle/>
          <a:p>
            <a:pPr lvl="0" algn="ctr"/>
            <a:r>
              <a:rPr kumimoji="0" lang="en-US" sz="2800" b="1" i="0" u="none" strike="noStrike" kern="0" cap="none" spc="0" normalizeH="0" baseline="0" noProof="0" dirty="0">
                <a:ln>
                  <a:noFill/>
                </a:ln>
                <a:solidFill>
                  <a:schemeClr val="tx2"/>
                </a:solidFill>
                <a:effectLst/>
                <a:uLnTx/>
                <a:uFillTx/>
                <a:latin typeface="+mj-lt"/>
                <a:ea typeface="+mj-ea"/>
                <a:cs typeface="+mj-cs"/>
              </a:rPr>
              <a:t>Clustering-2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dirty="0"/>
              <a:t>MST: Divisive Hierarchical Clustering</a:t>
            </a:r>
          </a:p>
        </p:txBody>
      </p:sp>
      <p:sp>
        <p:nvSpPr>
          <p:cNvPr id="77827" name="Rectangle 3"/>
          <p:cNvSpPr>
            <a:spLocks noGrp="1" noChangeArrowheads="1"/>
          </p:cNvSpPr>
          <p:nvPr>
            <p:ph type="body" idx="1"/>
          </p:nvPr>
        </p:nvSpPr>
        <p:spPr/>
        <p:txBody>
          <a:bodyPr/>
          <a:lstStyle/>
          <a:p>
            <a:r>
              <a:rPr lang="en-US" altLang="en-US" dirty="0"/>
              <a:t>Build MST (Minimum Spanning Tree)</a:t>
            </a:r>
          </a:p>
          <a:p>
            <a:pPr lvl="1"/>
            <a:r>
              <a:rPr lang="en-US" altLang="en-US" sz="2000" dirty="0"/>
              <a:t>Start with a tree that consists of any point</a:t>
            </a:r>
          </a:p>
          <a:p>
            <a:pPr lvl="1"/>
            <a:r>
              <a:rPr lang="en-US" altLang="en-US" sz="2000" dirty="0"/>
              <a:t>In successive steps, look for the closest pair of points (p, q)  such that one point (p) is in the current tree but the other (q) is not</a:t>
            </a:r>
          </a:p>
          <a:p>
            <a:pPr lvl="1"/>
            <a:r>
              <a:rPr lang="en-US" altLang="en-US" sz="2000" dirty="0"/>
              <a:t>Add q to the tree and put an edge between p and q</a:t>
            </a:r>
          </a:p>
        </p:txBody>
      </p:sp>
      <p:pic>
        <p:nvPicPr>
          <p:cNvPr id="77828"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t="2956" b="2489"/>
          <a:stretch>
            <a:fillRect/>
          </a:stretch>
        </p:blipFill>
        <p:spPr>
          <a:xfrm>
            <a:off x="107950" y="3267075"/>
            <a:ext cx="4311650" cy="3057525"/>
          </a:xfrm>
          <a:noFill/>
        </p:spPr>
      </p:pic>
      <p:pic>
        <p:nvPicPr>
          <p:cNvPr id="77829" name="Picture 5"/>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l="13063" t="4977" r="14153" b="2956"/>
          <a:stretch>
            <a:fillRect/>
          </a:stretch>
        </p:blipFill>
        <p:spPr>
          <a:xfrm>
            <a:off x="4572000" y="3332163"/>
            <a:ext cx="3962400" cy="2992437"/>
          </a:xfrm>
          <a:noFill/>
        </p:spPr>
      </p:pic>
      <p:sp>
        <p:nvSpPr>
          <p:cNvPr id="6" name="Slide Number Placeholder 5"/>
          <p:cNvSpPr>
            <a:spLocks noGrp="1"/>
          </p:cNvSpPr>
          <p:nvPr>
            <p:ph type="sldNum" sz="quarter" idx="12"/>
          </p:nvPr>
        </p:nvSpPr>
        <p:spPr/>
        <p:txBody>
          <a:bodyPr/>
          <a:lstStyle/>
          <a:p>
            <a:pPr>
              <a:defRPr/>
            </a:pPr>
            <a:fld id="{D3D212DC-59E6-444E-AD7D-AB217D4E4668}" type="slidenum">
              <a:rPr lang="en-US" altLang="en-US" smtClean="0"/>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en-US"/>
              <a:t>MST: Divisive Hierarchical Clustering</a:t>
            </a:r>
          </a:p>
        </p:txBody>
      </p:sp>
      <p:sp>
        <p:nvSpPr>
          <p:cNvPr id="78851" name="Rectangle 3"/>
          <p:cNvSpPr>
            <a:spLocks noGrp="1" noChangeArrowheads="1"/>
          </p:cNvSpPr>
          <p:nvPr>
            <p:ph type="body" idx="1"/>
          </p:nvPr>
        </p:nvSpPr>
        <p:spPr/>
        <p:txBody>
          <a:bodyPr/>
          <a:lstStyle/>
          <a:p>
            <a:r>
              <a:rPr lang="en-US" altLang="en-US"/>
              <a:t>Use MST for constructing hierarchy of clusters</a:t>
            </a:r>
          </a:p>
        </p:txBody>
      </p:sp>
      <p:pic>
        <p:nvPicPr>
          <p:cNvPr id="78852" name="Picture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40110" y="2819400"/>
            <a:ext cx="8534400" cy="2111375"/>
          </a:xfrm>
          <a:noFill/>
        </p:spPr>
      </p:pic>
      <p:sp>
        <p:nvSpPr>
          <p:cNvPr id="5" name="Slide Number Placeholder 4"/>
          <p:cNvSpPr>
            <a:spLocks noGrp="1"/>
          </p:cNvSpPr>
          <p:nvPr>
            <p:ph type="sldNum" sz="quarter" idx="12"/>
          </p:nvPr>
        </p:nvSpPr>
        <p:spPr/>
        <p:txBody>
          <a:bodyPr/>
          <a:lstStyle/>
          <a:p>
            <a:pPr>
              <a:defRPr/>
            </a:pPr>
            <a:fld id="{D3D212DC-59E6-444E-AD7D-AB217D4E4668}"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57200" y="533400"/>
            <a:ext cx="7543800" cy="884238"/>
          </a:xfrm>
        </p:spPr>
        <p:txBody>
          <a:bodyPr/>
          <a:lstStyle/>
          <a:p>
            <a:r>
              <a:rPr lang="en-US" altLang="en-US" sz="3200" dirty="0"/>
              <a:t>Hierarchical Clustering:  Time and Space requirements</a:t>
            </a:r>
          </a:p>
        </p:txBody>
      </p:sp>
      <p:sp>
        <p:nvSpPr>
          <p:cNvPr id="79875" name="Rectangle 3"/>
          <p:cNvSpPr>
            <a:spLocks noGrp="1" noChangeArrowheads="1"/>
          </p:cNvSpPr>
          <p:nvPr>
            <p:ph type="body" idx="1"/>
          </p:nvPr>
        </p:nvSpPr>
        <p:spPr/>
        <p:txBody>
          <a:bodyPr/>
          <a:lstStyle/>
          <a:p>
            <a:r>
              <a:rPr lang="en-US" altLang="en-US"/>
              <a:t>O(N</a:t>
            </a:r>
            <a:r>
              <a:rPr lang="en-US" altLang="en-US" baseline="30000"/>
              <a:t>2</a:t>
            </a:r>
            <a:r>
              <a:rPr lang="en-US" altLang="en-US"/>
              <a:t>) space since it uses the proximity matrix.  </a:t>
            </a:r>
          </a:p>
          <a:p>
            <a:pPr lvl="1"/>
            <a:r>
              <a:rPr lang="en-US" altLang="en-US"/>
              <a:t>N is the number of points.</a:t>
            </a:r>
          </a:p>
          <a:p>
            <a:pPr lvl="1"/>
            <a:endParaRPr lang="en-US" altLang="en-US"/>
          </a:p>
          <a:p>
            <a:r>
              <a:rPr lang="en-US" altLang="en-US"/>
              <a:t>O(N</a:t>
            </a:r>
            <a:r>
              <a:rPr lang="en-US" altLang="en-US" baseline="30000"/>
              <a:t>3</a:t>
            </a:r>
            <a:r>
              <a:rPr lang="en-US" altLang="en-US"/>
              <a:t>) time in many cases</a:t>
            </a:r>
          </a:p>
          <a:p>
            <a:pPr lvl="1"/>
            <a:r>
              <a:rPr lang="en-US" altLang="en-US"/>
              <a:t>There are N steps and at each step the size, N</a:t>
            </a:r>
            <a:r>
              <a:rPr lang="en-US" altLang="en-US" baseline="30000"/>
              <a:t>2</a:t>
            </a:r>
            <a:r>
              <a:rPr lang="en-US" altLang="en-US"/>
              <a:t>, proximity matrix must be updated and searched</a:t>
            </a:r>
          </a:p>
          <a:p>
            <a:pPr lvl="1"/>
            <a:r>
              <a:rPr lang="en-US" altLang="en-US"/>
              <a:t>Complexity can be reduced to O(N</a:t>
            </a:r>
            <a:r>
              <a:rPr lang="en-US" altLang="en-US" baseline="30000"/>
              <a:t>2</a:t>
            </a:r>
            <a:r>
              <a:rPr lang="en-US" altLang="en-US"/>
              <a:t> log(N) ) time with some cleverness</a:t>
            </a:r>
          </a:p>
          <a:p>
            <a:endParaRPr lang="en-US" altLang="en-US"/>
          </a:p>
          <a:p>
            <a:pPr lvl="1"/>
            <a:endParaRPr lang="en-US" altLang="en-US"/>
          </a:p>
          <a:p>
            <a:endParaRPr lang="en-US" altLang="en-US"/>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228600" y="533400"/>
            <a:ext cx="8001000" cy="427038"/>
          </a:xfrm>
        </p:spPr>
        <p:txBody>
          <a:bodyPr/>
          <a:lstStyle/>
          <a:p>
            <a:r>
              <a:rPr lang="en-US" altLang="en-US" sz="3200" dirty="0"/>
              <a:t>Problems and Limitations</a:t>
            </a:r>
          </a:p>
        </p:txBody>
      </p:sp>
      <p:sp>
        <p:nvSpPr>
          <p:cNvPr id="80899" name="Rectangle 3"/>
          <p:cNvSpPr>
            <a:spLocks noGrp="1" noChangeArrowheads="1"/>
          </p:cNvSpPr>
          <p:nvPr>
            <p:ph type="body" idx="1"/>
          </p:nvPr>
        </p:nvSpPr>
        <p:spPr>
          <a:xfrm>
            <a:off x="457200" y="1143000"/>
            <a:ext cx="8229600" cy="4411662"/>
          </a:xfrm>
        </p:spPr>
        <p:txBody>
          <a:bodyPr/>
          <a:lstStyle/>
          <a:p>
            <a:r>
              <a:rPr lang="en-US" altLang="en-US" dirty="0"/>
              <a:t>Once a decision is made to combine two clusters, it cannot be undone</a:t>
            </a:r>
          </a:p>
          <a:p>
            <a:pPr lvl="4"/>
            <a:endParaRPr lang="en-US" altLang="en-US" dirty="0"/>
          </a:p>
          <a:p>
            <a:r>
              <a:rPr lang="en-US" altLang="en-US" dirty="0"/>
              <a:t>No global objective function is directly minimized</a:t>
            </a:r>
          </a:p>
          <a:p>
            <a:pPr lvl="4"/>
            <a:endParaRPr lang="en-US" altLang="en-US" dirty="0"/>
          </a:p>
          <a:p>
            <a:r>
              <a:rPr lang="en-US" altLang="en-US" dirty="0"/>
              <a:t>Different schemes have problems with one or more of the following:</a:t>
            </a:r>
          </a:p>
          <a:p>
            <a:pPr lvl="1"/>
            <a:r>
              <a:rPr lang="en-US" altLang="en-US" dirty="0"/>
              <a:t>Sensitivity to noise and outliers</a:t>
            </a:r>
          </a:p>
          <a:p>
            <a:pPr lvl="1"/>
            <a:r>
              <a:rPr lang="en-US" altLang="en-US" dirty="0"/>
              <a:t>Difficulty handling clusters of different sizes and non-globular shapes</a:t>
            </a:r>
          </a:p>
          <a:p>
            <a:pPr lvl="1"/>
            <a:r>
              <a:rPr lang="en-US" altLang="en-US" dirty="0"/>
              <a:t>Breaking large clusters</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Extensions to Hierarchical Clustering</a:t>
            </a:r>
          </a:p>
        </p:txBody>
      </p:sp>
      <p:sp>
        <p:nvSpPr>
          <p:cNvPr id="39939" name="Rectangle 3"/>
          <p:cNvSpPr>
            <a:spLocks noGrp="1" noChangeArrowheads="1"/>
          </p:cNvSpPr>
          <p:nvPr>
            <p:ph type="body" idx="1"/>
          </p:nvPr>
        </p:nvSpPr>
        <p:spPr>
          <a:xfrm>
            <a:off x="304800" y="1219200"/>
            <a:ext cx="8534400" cy="5181600"/>
          </a:xfrm>
        </p:spPr>
        <p:txBody>
          <a:bodyPr lIns="92075" tIns="46038" rIns="92075" bIns="46038">
            <a:normAutofit lnSpcReduction="10000"/>
          </a:bodyPr>
          <a:lstStyle/>
          <a:p>
            <a:pPr eaLnBrk="1" hangingPunct="1">
              <a:lnSpc>
                <a:spcPct val="150000"/>
              </a:lnSpc>
            </a:pPr>
            <a:r>
              <a:rPr lang="en-US" altLang="zh-CN" sz="2400" dirty="0">
                <a:ea typeface="SimSun" pitchFamily="2" charset="-122"/>
              </a:rPr>
              <a:t>Major weakness of agglomerative clustering methods</a:t>
            </a:r>
          </a:p>
          <a:p>
            <a:pPr lvl="1" eaLnBrk="1" hangingPunct="1">
              <a:lnSpc>
                <a:spcPct val="150000"/>
              </a:lnSpc>
            </a:pPr>
            <a:r>
              <a:rPr lang="en-US" altLang="zh-CN" sz="2400" u="sng" dirty="0">
                <a:ea typeface="SimSun" pitchFamily="2" charset="-122"/>
              </a:rPr>
              <a:t>Can never undo what was done previously</a:t>
            </a:r>
          </a:p>
          <a:p>
            <a:pPr lvl="1" eaLnBrk="1" hangingPunct="1">
              <a:lnSpc>
                <a:spcPct val="150000"/>
              </a:lnSpc>
            </a:pPr>
            <a:r>
              <a:rPr lang="en-US" altLang="zh-CN" sz="2400" u="sng" dirty="0">
                <a:ea typeface="SimSun" pitchFamily="2" charset="-122"/>
              </a:rPr>
              <a:t>Do not scale well</a:t>
            </a:r>
            <a:r>
              <a:rPr lang="en-US" altLang="zh-CN" sz="2400" dirty="0">
                <a:ea typeface="SimSun" pitchFamily="2" charset="-122"/>
              </a:rPr>
              <a:t>: time complexity of </a:t>
            </a:r>
            <a:r>
              <a:rPr lang="en-US" altLang="zh-CN" sz="2400" dirty="0">
                <a:solidFill>
                  <a:srgbClr val="FF0000"/>
                </a:solidFill>
                <a:ea typeface="SimSun" pitchFamily="2" charset="-122"/>
              </a:rPr>
              <a:t>at least </a:t>
            </a:r>
            <a:r>
              <a:rPr lang="en-US" altLang="zh-CN" sz="2400" i="1" dirty="0">
                <a:solidFill>
                  <a:srgbClr val="FF0000"/>
                </a:solidFill>
                <a:ea typeface="SimSun" pitchFamily="2" charset="-122"/>
              </a:rPr>
              <a:t>O</a:t>
            </a:r>
            <a:r>
              <a:rPr lang="en-US" altLang="zh-CN" sz="2400" dirty="0">
                <a:solidFill>
                  <a:srgbClr val="FF0000"/>
                </a:solidFill>
                <a:ea typeface="SimSun" pitchFamily="2" charset="-122"/>
              </a:rPr>
              <a:t>(</a:t>
            </a:r>
            <a:r>
              <a:rPr lang="en-US" altLang="zh-CN" sz="2400" i="1" dirty="0">
                <a:solidFill>
                  <a:srgbClr val="FF0000"/>
                </a:solidFill>
                <a:ea typeface="SimSun" pitchFamily="2" charset="-122"/>
              </a:rPr>
              <a:t>n</a:t>
            </a:r>
            <a:r>
              <a:rPr lang="en-US" altLang="zh-CN" sz="2400" i="1" baseline="30000" dirty="0">
                <a:solidFill>
                  <a:srgbClr val="FF0000"/>
                </a:solidFill>
                <a:ea typeface="SimSun" pitchFamily="2" charset="-122"/>
              </a:rPr>
              <a:t>2</a:t>
            </a:r>
            <a:r>
              <a:rPr lang="en-US" altLang="zh-CN" sz="2400" dirty="0">
                <a:solidFill>
                  <a:srgbClr val="FF0000"/>
                </a:solidFill>
                <a:ea typeface="SimSun" pitchFamily="2" charset="-122"/>
              </a:rPr>
              <a:t>), </a:t>
            </a:r>
            <a:r>
              <a:rPr lang="en-US" altLang="zh-CN" sz="2400" dirty="0">
                <a:ea typeface="SimSun" pitchFamily="2" charset="-122"/>
              </a:rPr>
              <a:t>where </a:t>
            </a:r>
            <a:r>
              <a:rPr lang="en-US" altLang="zh-CN" sz="2400" i="1" dirty="0">
                <a:ea typeface="SimSun" pitchFamily="2" charset="-122"/>
              </a:rPr>
              <a:t>n</a:t>
            </a:r>
            <a:r>
              <a:rPr lang="en-US" altLang="zh-CN" sz="2400" dirty="0">
                <a:ea typeface="SimSun" pitchFamily="2" charset="-122"/>
              </a:rPr>
              <a:t> is the number of total objects</a:t>
            </a:r>
          </a:p>
          <a:p>
            <a:pPr eaLnBrk="1" hangingPunct="1">
              <a:lnSpc>
                <a:spcPct val="150000"/>
              </a:lnSpc>
            </a:pPr>
            <a:r>
              <a:rPr lang="en-US" altLang="zh-CN" sz="2400" dirty="0">
                <a:ea typeface="SimSun" pitchFamily="2" charset="-122"/>
              </a:rPr>
              <a:t>Integration of hierarchical &amp; distance-based clustering</a:t>
            </a:r>
          </a:p>
          <a:p>
            <a:pPr lvl="1" eaLnBrk="1" hangingPunct="1">
              <a:lnSpc>
                <a:spcPct val="150000"/>
              </a:lnSpc>
            </a:pPr>
            <a:r>
              <a:rPr lang="en-US" altLang="zh-CN" sz="2400" u="sng" dirty="0">
                <a:ea typeface="SimSun" pitchFamily="2" charset="-122"/>
              </a:rPr>
              <a:t>BIRCH (1996)</a:t>
            </a:r>
            <a:r>
              <a:rPr lang="en-US" altLang="zh-CN" sz="2400" dirty="0">
                <a:ea typeface="SimSun" pitchFamily="2" charset="-122"/>
              </a:rPr>
              <a:t>: uses CF-tree and incrementally adjusts the quality of sub-clusters</a:t>
            </a:r>
            <a:endParaRPr lang="en-US" altLang="zh-CN" sz="2400" u="sng" dirty="0">
              <a:ea typeface="SimSun" pitchFamily="2" charset="-122"/>
            </a:endParaRPr>
          </a:p>
          <a:p>
            <a:pPr lvl="1" eaLnBrk="1" hangingPunct="1">
              <a:lnSpc>
                <a:spcPct val="150000"/>
              </a:lnSpc>
            </a:pPr>
            <a:r>
              <a:rPr lang="en-US" altLang="zh-CN" sz="2400" u="sng" dirty="0">
                <a:ea typeface="SimSun" pitchFamily="2" charset="-122"/>
              </a:rPr>
              <a:t>CHAMELEON (1999)</a:t>
            </a:r>
            <a:r>
              <a:rPr lang="en-US" altLang="zh-CN" sz="2400" dirty="0">
                <a:ea typeface="SimSun" pitchFamily="2" charset="-122"/>
              </a:rPr>
              <a:t>: hierarchical clustering using dynamic modeling</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Autofit/>
          </a:bodyPr>
          <a:lstStyle/>
          <a:p>
            <a:r>
              <a:rPr lang="en-US" altLang="zh-CN" sz="3600" dirty="0">
                <a:solidFill>
                  <a:schemeClr val="tx2"/>
                </a:solidFill>
                <a:latin typeface="+mj-lt"/>
                <a:ea typeface="SimSun" pitchFamily="2" charset="-122"/>
              </a:rPr>
              <a:t>BIRCH (Balanced Iterative Reducing and Clustering Using Hierarchies)</a:t>
            </a:r>
          </a:p>
        </p:txBody>
      </p:sp>
      <p:sp>
        <p:nvSpPr>
          <p:cNvPr id="40963" name="Rectangle 3"/>
          <p:cNvSpPr>
            <a:spLocks noGrp="1" noChangeArrowheads="1"/>
          </p:cNvSpPr>
          <p:nvPr>
            <p:ph type="body" idx="1"/>
          </p:nvPr>
        </p:nvSpPr>
        <p:spPr>
          <a:xfrm>
            <a:off x="304800" y="1447800"/>
            <a:ext cx="8610600" cy="5181600"/>
          </a:xfrm>
        </p:spPr>
        <p:txBody>
          <a:bodyPr>
            <a:noAutofit/>
          </a:bodyPr>
          <a:lstStyle/>
          <a:p>
            <a:pPr eaLnBrk="1" hangingPunct="1">
              <a:lnSpc>
                <a:spcPct val="110000"/>
              </a:lnSpc>
              <a:spcBef>
                <a:spcPct val="50000"/>
              </a:spcBef>
            </a:pPr>
            <a:r>
              <a:rPr lang="en-US" altLang="zh-CN" sz="2200" dirty="0">
                <a:ea typeface="SimSun" pitchFamily="2" charset="-122"/>
              </a:rPr>
              <a:t>Zhang, </a:t>
            </a:r>
            <a:r>
              <a:rPr lang="en-US" altLang="zh-CN" sz="2200" dirty="0" err="1">
                <a:ea typeface="SimSun" pitchFamily="2" charset="-122"/>
              </a:rPr>
              <a:t>Ramakrishnan</a:t>
            </a:r>
            <a:r>
              <a:rPr lang="en-US" altLang="zh-CN" sz="2200" dirty="0">
                <a:ea typeface="SimSun" pitchFamily="2" charset="-122"/>
              </a:rPr>
              <a:t> &amp; </a:t>
            </a:r>
            <a:r>
              <a:rPr lang="en-US" altLang="zh-CN" sz="2200" dirty="0" err="1">
                <a:ea typeface="SimSun" pitchFamily="2" charset="-122"/>
              </a:rPr>
              <a:t>Livny</a:t>
            </a:r>
            <a:r>
              <a:rPr lang="en-US" altLang="zh-CN" sz="2200" dirty="0">
                <a:ea typeface="SimSun" pitchFamily="2" charset="-122"/>
              </a:rPr>
              <a:t>, SIGMOD’96</a:t>
            </a:r>
          </a:p>
          <a:p>
            <a:pPr eaLnBrk="1" hangingPunct="1">
              <a:lnSpc>
                <a:spcPct val="110000"/>
              </a:lnSpc>
              <a:spcBef>
                <a:spcPct val="50000"/>
              </a:spcBef>
            </a:pPr>
            <a:r>
              <a:rPr lang="en-US" altLang="zh-CN" sz="2200" dirty="0">
                <a:ea typeface="SimSun" pitchFamily="2" charset="-122"/>
              </a:rPr>
              <a:t>Incrementally construct a </a:t>
            </a:r>
            <a:r>
              <a:rPr lang="en-US" altLang="zh-CN" sz="2200" i="1" dirty="0">
                <a:solidFill>
                  <a:srgbClr val="FF0000"/>
                </a:solidFill>
                <a:ea typeface="SimSun" pitchFamily="2" charset="-122"/>
              </a:rPr>
              <a:t>CF (Clustering Feature) tree</a:t>
            </a:r>
            <a:r>
              <a:rPr lang="en-US" altLang="zh-CN" sz="2200" dirty="0">
                <a:ea typeface="SimSun" pitchFamily="2" charset="-122"/>
              </a:rPr>
              <a:t>, a hierarchical data structure for multiphase clustering</a:t>
            </a:r>
          </a:p>
          <a:p>
            <a:pPr lvl="1" eaLnBrk="1" hangingPunct="1">
              <a:lnSpc>
                <a:spcPct val="110000"/>
              </a:lnSpc>
              <a:spcBef>
                <a:spcPct val="50000"/>
              </a:spcBef>
            </a:pPr>
            <a:r>
              <a:rPr lang="en-US" altLang="zh-CN" sz="2200" dirty="0">
                <a:ea typeface="SimSun" pitchFamily="2" charset="-122"/>
              </a:rPr>
              <a:t>Phase 1: scan DB to build an initial in-memory CF tree (a multi-level compression of the data that tries to preserve the inherent clustering structure of the data)  </a:t>
            </a:r>
          </a:p>
          <a:p>
            <a:pPr lvl="1" eaLnBrk="1" hangingPunct="1">
              <a:lnSpc>
                <a:spcPct val="110000"/>
              </a:lnSpc>
              <a:spcBef>
                <a:spcPct val="50000"/>
              </a:spcBef>
            </a:pPr>
            <a:r>
              <a:rPr lang="en-US" altLang="zh-CN" sz="2200" dirty="0">
                <a:ea typeface="SimSun" pitchFamily="2" charset="-122"/>
              </a:rPr>
              <a:t>Phase 2: use an arbitrary clustering algorithm to cluster the leaf nodes of the CF-tree </a:t>
            </a:r>
            <a:endParaRPr lang="en-US" altLang="zh-CN" sz="2200" i="1" dirty="0">
              <a:ea typeface="SimSun" pitchFamily="2" charset="-122"/>
            </a:endParaRPr>
          </a:p>
          <a:p>
            <a:pPr eaLnBrk="1" hangingPunct="1">
              <a:lnSpc>
                <a:spcPct val="110000"/>
              </a:lnSpc>
              <a:spcBef>
                <a:spcPct val="50000"/>
              </a:spcBef>
            </a:pPr>
            <a:r>
              <a:rPr lang="en-US" altLang="zh-CN" sz="2200" i="1" dirty="0">
                <a:ea typeface="SimSun" pitchFamily="2" charset="-122"/>
              </a:rPr>
              <a:t>Scales linearly</a:t>
            </a:r>
            <a:r>
              <a:rPr lang="en-US" altLang="zh-CN" sz="2200" dirty="0">
                <a:ea typeface="SimSun" pitchFamily="2" charset="-122"/>
              </a:rPr>
              <a:t>: finds a good clustering with a single scan and improves the quality with a few additional scans</a:t>
            </a:r>
          </a:p>
          <a:p>
            <a:pPr eaLnBrk="1" hangingPunct="1">
              <a:lnSpc>
                <a:spcPct val="110000"/>
              </a:lnSpc>
              <a:spcBef>
                <a:spcPct val="50000"/>
              </a:spcBef>
            </a:pPr>
            <a:r>
              <a:rPr lang="en-US" altLang="zh-CN" sz="2200" i="1" dirty="0">
                <a:ea typeface="SimSun" pitchFamily="2" charset="-122"/>
              </a:rPr>
              <a:t>Weakness:</a:t>
            </a:r>
            <a:r>
              <a:rPr lang="en-US" altLang="zh-CN" sz="2200" dirty="0">
                <a:ea typeface="SimSun" pitchFamily="2" charset="-122"/>
              </a:rPr>
              <a:t> handles only numeric data, and sensitive to the order of the data record</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543800" cy="808038"/>
          </a:xfrm>
        </p:spPr>
        <p:txBody>
          <a:bodyPr/>
          <a:lstStyle/>
          <a:p>
            <a:r>
              <a:rPr lang="en-US" dirty="0"/>
              <a:t>CF Tree</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8</a:t>
            </a:fld>
            <a:endParaRPr lang="en-US" altLang="en-US"/>
          </a:p>
        </p:txBody>
      </p:sp>
      <p:pic>
        <p:nvPicPr>
          <p:cNvPr id="5" name="Picture 4" descr="Image for post"/>
          <p:cNvPicPr/>
          <p:nvPr/>
        </p:nvPicPr>
        <p:blipFill>
          <a:blip r:embed="rId2"/>
          <a:srcRect/>
          <a:stretch>
            <a:fillRect/>
          </a:stretch>
        </p:blipFill>
        <p:spPr bwMode="auto">
          <a:xfrm>
            <a:off x="2133600" y="914400"/>
            <a:ext cx="6553200" cy="4267200"/>
          </a:xfrm>
          <a:prstGeom prst="rect">
            <a:avLst/>
          </a:prstGeom>
          <a:noFill/>
          <a:ln w="9525">
            <a:noFill/>
            <a:miter lim="800000"/>
            <a:headEnd/>
            <a:tailEnd/>
          </a:ln>
        </p:spPr>
      </p:pic>
      <p:sp>
        <p:nvSpPr>
          <p:cNvPr id="6" name="TextBox 5"/>
          <p:cNvSpPr txBox="1"/>
          <p:nvPr/>
        </p:nvSpPr>
        <p:spPr>
          <a:xfrm>
            <a:off x="533400" y="5410200"/>
            <a:ext cx="8458200" cy="923330"/>
          </a:xfrm>
          <a:prstGeom prst="rect">
            <a:avLst/>
          </a:prstGeom>
          <a:noFill/>
        </p:spPr>
        <p:txBody>
          <a:bodyPr wrap="square" rtlCol="0">
            <a:spAutoFit/>
          </a:bodyPr>
          <a:lstStyle/>
          <a:p>
            <a:r>
              <a:rPr lang="en-US" dirty="0"/>
              <a:t>Each node including leaf nodes has several CFs, and the CFs of internal nodes have pointers to child nodes, and all leaf nodes are linked by a doubly linked list.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Clustering Feature Vector in BIRCH</a:t>
            </a:r>
            <a:endParaRPr lang="en-US" altLang="zh-CN" sz="2400" b="1" dirty="0">
              <a:solidFill>
                <a:schemeClr val="tx2"/>
              </a:solidFill>
              <a:latin typeface="+mj-lt"/>
              <a:ea typeface="SimSun" pitchFamily="2" charset="-122"/>
            </a:endParaRPr>
          </a:p>
        </p:txBody>
      </p:sp>
      <p:sp>
        <p:nvSpPr>
          <p:cNvPr id="41987" name="Text Box 4"/>
          <p:cNvSpPr txBox="1">
            <a:spLocks noChangeArrowheads="1"/>
          </p:cNvSpPr>
          <p:nvPr/>
        </p:nvSpPr>
        <p:spPr bwMode="auto">
          <a:xfrm>
            <a:off x="304800" y="1371600"/>
            <a:ext cx="5943600" cy="2647950"/>
          </a:xfrm>
          <a:prstGeom prst="rect">
            <a:avLst/>
          </a:prstGeom>
          <a:noFill/>
          <a:ln w="9525">
            <a:noFill/>
            <a:miter lim="800000"/>
            <a:headEnd/>
            <a:tailEnd/>
          </a:ln>
        </p:spPr>
        <p:txBody>
          <a:bodyPr>
            <a:spAutoFit/>
          </a:bodyPr>
          <a:lstStyle/>
          <a:p>
            <a:pPr eaLnBrk="0" hangingPunct="0">
              <a:spcBef>
                <a:spcPct val="50000"/>
              </a:spcBef>
            </a:pPr>
            <a:r>
              <a:rPr lang="en-US" altLang="zh-CN" b="1" dirty="0">
                <a:latin typeface="Times New Roman" pitchFamily="18" charset="0"/>
                <a:ea typeface="SimSun" pitchFamily="2" charset="-122"/>
              </a:rPr>
              <a:t>Clustering Feature (CF):</a:t>
            </a:r>
            <a:r>
              <a:rPr lang="en-US" altLang="zh-CN" dirty="0">
                <a:latin typeface="Times New Roman" pitchFamily="18" charset="0"/>
                <a:ea typeface="SimSun" pitchFamily="2" charset="-122"/>
              </a:rPr>
              <a:t>  </a:t>
            </a:r>
            <a:r>
              <a:rPr lang="en-US" altLang="zh-CN" b="1" i="1" dirty="0">
                <a:latin typeface="Times New Roman" pitchFamily="18" charset="0"/>
                <a:ea typeface="SimSun" pitchFamily="2" charset="-122"/>
              </a:rPr>
              <a:t>CF = (N, LS, SS)</a:t>
            </a:r>
            <a:endParaRPr lang="en-US" altLang="zh-CN" dirty="0">
              <a:latin typeface="Times New Roman" pitchFamily="18" charset="0"/>
              <a:ea typeface="SimSun" pitchFamily="2" charset="-122"/>
            </a:endParaRPr>
          </a:p>
          <a:p>
            <a:pPr eaLnBrk="0" hangingPunct="0">
              <a:spcBef>
                <a:spcPct val="50000"/>
              </a:spcBef>
            </a:pPr>
            <a:r>
              <a:rPr lang="en-US" altLang="zh-CN" i="1" dirty="0">
                <a:latin typeface="Times New Roman" pitchFamily="18" charset="0"/>
                <a:ea typeface="SimSun" pitchFamily="2" charset="-122"/>
              </a:rPr>
              <a:t>N</a:t>
            </a:r>
            <a:r>
              <a:rPr lang="en-US" altLang="zh-CN" dirty="0">
                <a:latin typeface="Times New Roman" pitchFamily="18" charset="0"/>
                <a:ea typeface="SimSun" pitchFamily="2" charset="-122"/>
              </a:rPr>
              <a:t>: </a:t>
            </a:r>
            <a:r>
              <a:rPr lang="en-US" altLang="zh-CN" b="1" dirty="0">
                <a:latin typeface="Times New Roman" pitchFamily="18" charset="0"/>
                <a:ea typeface="SimSun" pitchFamily="2" charset="-122"/>
              </a:rPr>
              <a:t>Number of data points</a:t>
            </a:r>
          </a:p>
          <a:p>
            <a:pPr eaLnBrk="0" hangingPunct="0">
              <a:spcBef>
                <a:spcPct val="50000"/>
              </a:spcBef>
            </a:pPr>
            <a:r>
              <a:rPr lang="en-US" altLang="zh-CN" i="1" dirty="0">
                <a:latin typeface="Times New Roman" pitchFamily="18" charset="0"/>
                <a:ea typeface="SimSun" pitchFamily="2" charset="-122"/>
              </a:rPr>
              <a:t>LS: linear sum of N points:</a:t>
            </a:r>
            <a:endParaRPr lang="en-US" altLang="zh-CN" i="1" baseline="-25000" dirty="0">
              <a:latin typeface="Times New Roman" pitchFamily="18" charset="0"/>
              <a:ea typeface="SimSun" pitchFamily="2" charset="-122"/>
              <a:sym typeface="Symbol" pitchFamily="18" charset="2"/>
            </a:endParaRPr>
          </a:p>
          <a:p>
            <a:pPr eaLnBrk="0" hangingPunct="0">
              <a:spcBef>
                <a:spcPct val="50000"/>
              </a:spcBef>
            </a:pPr>
            <a:endParaRPr lang="en-US" altLang="zh-CN" i="1" dirty="0">
              <a:latin typeface="Times New Roman" pitchFamily="18" charset="0"/>
              <a:ea typeface="SimSun" pitchFamily="2" charset="-122"/>
            </a:endParaRPr>
          </a:p>
          <a:p>
            <a:pPr eaLnBrk="0" hangingPunct="0">
              <a:spcBef>
                <a:spcPct val="50000"/>
              </a:spcBef>
            </a:pPr>
            <a:r>
              <a:rPr lang="en-US" altLang="zh-CN" i="1" dirty="0">
                <a:latin typeface="Times New Roman" pitchFamily="18" charset="0"/>
                <a:ea typeface="SimSun" pitchFamily="2" charset="-122"/>
              </a:rPr>
              <a:t>SS: square sum of N points</a:t>
            </a:r>
            <a:endParaRPr lang="en-US" altLang="zh-CN" i="1" baseline="-25000" dirty="0">
              <a:latin typeface="Times New Roman" pitchFamily="18" charset="0"/>
              <a:ea typeface="SimSun" pitchFamily="2" charset="-122"/>
              <a:sym typeface="Symbol" pitchFamily="18" charset="2"/>
            </a:endParaRPr>
          </a:p>
        </p:txBody>
      </p:sp>
      <p:graphicFrame>
        <p:nvGraphicFramePr>
          <p:cNvPr id="41988" name="Object 0"/>
          <p:cNvGraphicFramePr>
            <a:graphicFrameLocks noChangeAspect="1"/>
          </p:cNvGraphicFramePr>
          <p:nvPr/>
        </p:nvGraphicFramePr>
        <p:xfrm>
          <a:off x="3352800" y="4078288"/>
          <a:ext cx="2209800" cy="2017712"/>
        </p:xfrm>
        <a:graphic>
          <a:graphicData uri="http://schemas.openxmlformats.org/presentationml/2006/ole">
            <mc:AlternateContent xmlns:mc="http://schemas.openxmlformats.org/markup-compatibility/2006">
              <mc:Choice xmlns:v="urn:schemas-microsoft-com:vml" Requires="v">
                <p:oleObj name="Worksheet" r:id="rId3" imgW="2598840" imgH="2452680" progId="Excel.Sheet.8">
                  <p:embed/>
                </p:oleObj>
              </mc:Choice>
              <mc:Fallback>
                <p:oleObj name="Worksheet" r:id="rId3" imgW="2598840" imgH="2452680" progId="Excel.Sheet.8">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078288"/>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9" name="Oval 9"/>
          <p:cNvSpPr>
            <a:spLocks noChangeArrowheads="1"/>
          </p:cNvSpPr>
          <p:nvPr/>
        </p:nvSpPr>
        <p:spPr bwMode="auto">
          <a:xfrm>
            <a:off x="3886200" y="4383088"/>
            <a:ext cx="609600" cy="990600"/>
          </a:xfrm>
          <a:prstGeom prst="ellipse">
            <a:avLst/>
          </a:prstGeom>
          <a:noFill/>
          <a:ln w="28575">
            <a:solidFill>
              <a:schemeClr val="tx1"/>
            </a:solidFill>
            <a:prstDash val="lgDash"/>
            <a:round/>
            <a:headEnd/>
            <a:tailEnd/>
          </a:ln>
        </p:spPr>
        <p:txBody>
          <a:bodyPr anchor="ctr">
            <a:spAutoFit/>
          </a:bodyPr>
          <a:lstStyle/>
          <a:p>
            <a:endParaRPr lang="zh-CN" altLang="zh-CN">
              <a:ea typeface="SimSun" pitchFamily="2" charset="-122"/>
            </a:endParaRPr>
          </a:p>
        </p:txBody>
      </p:sp>
      <p:sp>
        <p:nvSpPr>
          <p:cNvPr id="41990" name="Oval 10"/>
          <p:cNvSpPr>
            <a:spLocks noChangeArrowheads="1"/>
          </p:cNvSpPr>
          <p:nvPr/>
        </p:nvSpPr>
        <p:spPr bwMode="auto">
          <a:xfrm>
            <a:off x="4495800" y="4916488"/>
            <a:ext cx="762000" cy="762000"/>
          </a:xfrm>
          <a:prstGeom prst="ellipse">
            <a:avLst/>
          </a:prstGeom>
          <a:noFill/>
          <a:ln w="28575">
            <a:solidFill>
              <a:schemeClr val="tx1"/>
            </a:solidFill>
            <a:prstDash val="lgDash"/>
            <a:round/>
            <a:headEnd/>
            <a:tailEnd/>
          </a:ln>
        </p:spPr>
        <p:txBody>
          <a:bodyPr anchor="ctr">
            <a:spAutoFit/>
          </a:bodyPr>
          <a:lstStyle/>
          <a:p>
            <a:endParaRPr lang="zh-CN" altLang="zh-CN">
              <a:ea typeface="SimSun" pitchFamily="2" charset="-122"/>
            </a:endParaRPr>
          </a:p>
        </p:txBody>
      </p:sp>
      <p:sp>
        <p:nvSpPr>
          <p:cNvPr id="41991" name="AutoShape 11"/>
          <p:cNvSpPr>
            <a:spLocks/>
          </p:cNvSpPr>
          <p:nvPr/>
        </p:nvSpPr>
        <p:spPr bwMode="auto">
          <a:xfrm>
            <a:off x="5562600" y="3367088"/>
            <a:ext cx="3429000" cy="485775"/>
          </a:xfrm>
          <a:prstGeom prst="borderCallout2">
            <a:avLst>
              <a:gd name="adj1" fmla="val 23528"/>
              <a:gd name="adj2" fmla="val -2222"/>
              <a:gd name="adj3" fmla="val 23528"/>
              <a:gd name="adj4" fmla="val -20417"/>
              <a:gd name="adj5" fmla="val 212417"/>
              <a:gd name="adj6" fmla="val -39306"/>
            </a:avLst>
          </a:prstGeom>
          <a:noFill/>
          <a:ln w="28575">
            <a:solidFill>
              <a:schemeClr val="tx1"/>
            </a:solidFill>
            <a:miter lim="800000"/>
            <a:headEnd/>
            <a:tailEnd type="triangle" w="med" len="med"/>
          </a:ln>
        </p:spPr>
        <p:txBody>
          <a:bodyPr>
            <a:spAutoFit/>
          </a:bodyPr>
          <a:lstStyle/>
          <a:p>
            <a:pPr eaLnBrk="0" hangingPunct="0">
              <a:spcBef>
                <a:spcPct val="50000"/>
              </a:spcBef>
            </a:pPr>
            <a:r>
              <a:rPr lang="en-US" altLang="zh-CN">
                <a:latin typeface="Times New Roman" pitchFamily="18" charset="0"/>
                <a:ea typeface="SimSun" pitchFamily="2" charset="-122"/>
              </a:rPr>
              <a:t>CF = (5, (16,30),(54,190))</a:t>
            </a:r>
          </a:p>
        </p:txBody>
      </p:sp>
      <p:sp>
        <p:nvSpPr>
          <p:cNvPr id="41992" name="Text Box 12"/>
          <p:cNvSpPr txBox="1">
            <a:spLocks noChangeArrowheads="1"/>
          </p:cNvSpPr>
          <p:nvPr/>
        </p:nvSpPr>
        <p:spPr bwMode="auto">
          <a:xfrm>
            <a:off x="6477000" y="4178300"/>
            <a:ext cx="990600" cy="1917700"/>
          </a:xfrm>
          <a:prstGeom prst="rect">
            <a:avLst/>
          </a:prstGeom>
          <a:noFill/>
          <a:ln w="9525">
            <a:noFill/>
            <a:miter lim="800000"/>
            <a:headEnd/>
            <a:tailEnd/>
          </a:ln>
        </p:spPr>
        <p:txBody>
          <a:bodyPr>
            <a:spAutoFit/>
          </a:bodyPr>
          <a:lstStyle/>
          <a:p>
            <a:pPr eaLnBrk="0" hangingPunct="0">
              <a:lnSpc>
                <a:spcPct val="60000"/>
              </a:lnSpc>
              <a:spcBef>
                <a:spcPct val="50000"/>
              </a:spcBef>
            </a:pPr>
            <a:r>
              <a:rPr lang="zh-CN" altLang="en-US" dirty="0">
                <a:latin typeface="Times New Roman" pitchFamily="18" charset="0"/>
                <a:ea typeface="SimSun" pitchFamily="2" charset="-122"/>
              </a:rPr>
              <a:t>(3,4)</a:t>
            </a:r>
          </a:p>
          <a:p>
            <a:pPr eaLnBrk="0" hangingPunct="0">
              <a:lnSpc>
                <a:spcPct val="60000"/>
              </a:lnSpc>
              <a:spcBef>
                <a:spcPct val="50000"/>
              </a:spcBef>
            </a:pPr>
            <a:r>
              <a:rPr lang="zh-CN" altLang="en-US" dirty="0">
                <a:latin typeface="Times New Roman" pitchFamily="18" charset="0"/>
                <a:ea typeface="SimSun" pitchFamily="2" charset="-122"/>
              </a:rPr>
              <a:t>(2,6)</a:t>
            </a:r>
          </a:p>
          <a:p>
            <a:pPr eaLnBrk="0" hangingPunct="0">
              <a:lnSpc>
                <a:spcPct val="60000"/>
              </a:lnSpc>
              <a:spcBef>
                <a:spcPct val="50000"/>
              </a:spcBef>
            </a:pPr>
            <a:r>
              <a:rPr lang="zh-CN" altLang="en-US" dirty="0">
                <a:latin typeface="Times New Roman" pitchFamily="18" charset="0"/>
                <a:ea typeface="SimSun" pitchFamily="2" charset="-122"/>
              </a:rPr>
              <a:t>(4,5)</a:t>
            </a:r>
          </a:p>
          <a:p>
            <a:pPr eaLnBrk="0" hangingPunct="0">
              <a:lnSpc>
                <a:spcPct val="60000"/>
              </a:lnSpc>
              <a:spcBef>
                <a:spcPct val="50000"/>
              </a:spcBef>
            </a:pPr>
            <a:r>
              <a:rPr lang="zh-CN" altLang="en-US" dirty="0">
                <a:latin typeface="Times New Roman" pitchFamily="18" charset="0"/>
                <a:ea typeface="SimSun" pitchFamily="2" charset="-122"/>
              </a:rPr>
              <a:t>(4,7)</a:t>
            </a:r>
          </a:p>
          <a:p>
            <a:pPr eaLnBrk="0" hangingPunct="0">
              <a:lnSpc>
                <a:spcPct val="60000"/>
              </a:lnSpc>
              <a:spcBef>
                <a:spcPct val="50000"/>
              </a:spcBef>
            </a:pPr>
            <a:r>
              <a:rPr lang="zh-CN" altLang="en-US" dirty="0">
                <a:latin typeface="Times New Roman" pitchFamily="18" charset="0"/>
                <a:ea typeface="SimSun" pitchFamily="2" charset="-122"/>
              </a:rPr>
              <a:t>(3,8)</a:t>
            </a:r>
          </a:p>
        </p:txBody>
      </p:sp>
      <p:graphicFrame>
        <p:nvGraphicFramePr>
          <p:cNvPr id="41993" name="Object 1"/>
          <p:cNvGraphicFramePr>
            <a:graphicFrameLocks noChangeAspect="1"/>
          </p:cNvGraphicFramePr>
          <p:nvPr/>
        </p:nvGraphicFramePr>
        <p:xfrm>
          <a:off x="2819400" y="1981200"/>
          <a:ext cx="1028700" cy="838200"/>
        </p:xfrm>
        <a:graphic>
          <a:graphicData uri="http://schemas.openxmlformats.org/presentationml/2006/ole">
            <mc:AlternateContent xmlns:mc="http://schemas.openxmlformats.org/markup-compatibility/2006">
              <mc:Choice xmlns:v="urn:schemas-microsoft-com:vml" Requires="v">
                <p:oleObj name="Equation" r:id="rId5" imgW="342751" imgH="380835" progId="Equation.3">
                  <p:embed/>
                </p:oleObj>
              </mc:Choice>
              <mc:Fallback>
                <p:oleObj name="Equation" r:id="rId5" imgW="342751" imgH="380835"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1981200"/>
                        <a:ext cx="10287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94" name="Object 2"/>
          <p:cNvGraphicFramePr>
            <a:graphicFrameLocks noChangeAspect="1"/>
          </p:cNvGraphicFramePr>
          <p:nvPr/>
        </p:nvGraphicFramePr>
        <p:xfrm>
          <a:off x="2819400" y="2781300"/>
          <a:ext cx="1181100" cy="838200"/>
        </p:xfrm>
        <a:graphic>
          <a:graphicData uri="http://schemas.openxmlformats.org/presentationml/2006/ole">
            <mc:AlternateContent xmlns:mc="http://schemas.openxmlformats.org/markup-compatibility/2006">
              <mc:Choice xmlns:v="urn:schemas-microsoft-com:vml" Requires="v">
                <p:oleObj name="Equation" r:id="rId7" imgW="393529" imgH="380835" progId="Equation.3">
                  <p:embed/>
                </p:oleObj>
              </mc:Choice>
              <mc:Fallback>
                <p:oleObj name="Equation" r:id="rId7" imgW="393529" imgH="380835"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2781300"/>
                        <a:ext cx="11811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2"/>
          </p:nvPr>
        </p:nvSpPr>
        <p:spPr/>
        <p:txBody>
          <a:bodyPr/>
          <a:lstStyle/>
          <a:p>
            <a:pPr>
              <a:defRPr/>
            </a:pPr>
            <a:fld id="{AE613613-FD62-4FDA-8444-F94981C0198F}" type="slidenum">
              <a:rPr lang="en-US" smtClean="0"/>
              <a:pPr>
                <a:defRPr/>
              </a:pPr>
              <a:t>9</a:t>
            </a:fld>
            <a:endParaRPr lang="en-US"/>
          </a:p>
        </p:txBody>
      </p:sp>
      <p:sp>
        <p:nvSpPr>
          <p:cNvPr id="15" name="TextBox 14"/>
          <p:cNvSpPr txBox="1"/>
          <p:nvPr/>
        </p:nvSpPr>
        <p:spPr>
          <a:xfrm>
            <a:off x="4876800" y="1219200"/>
            <a:ext cx="4267200" cy="2215991"/>
          </a:xfrm>
          <a:prstGeom prst="rect">
            <a:avLst/>
          </a:prstGeom>
          <a:noFill/>
        </p:spPr>
        <p:txBody>
          <a:bodyPr wrap="square" rtlCol="0">
            <a:spAutoFit/>
          </a:bodyPr>
          <a:lstStyle/>
          <a:p>
            <a:pPr lvl="0"/>
            <a:r>
              <a:rPr lang="en-US" sz="2000" i="1" dirty="0"/>
              <a:t>LS</a:t>
            </a:r>
            <a:r>
              <a:rPr lang="en-US" sz="2000" dirty="0"/>
              <a:t> represents the </a:t>
            </a:r>
            <a:r>
              <a:rPr lang="en-US" sz="2000" b="1" dirty="0"/>
              <a:t>vector sum</a:t>
            </a:r>
            <a:r>
              <a:rPr lang="en-US" sz="2000" dirty="0"/>
              <a:t> of the feature dimensions of the sample points in the CF</a:t>
            </a:r>
          </a:p>
          <a:p>
            <a:pPr lvl="0"/>
            <a:r>
              <a:rPr lang="en-US" sz="2000" i="1" dirty="0"/>
              <a:t>SS</a:t>
            </a:r>
            <a:r>
              <a:rPr lang="en-US" sz="2000" dirty="0"/>
              <a:t> represents the </a:t>
            </a:r>
            <a:r>
              <a:rPr lang="en-US" sz="2000" b="1" dirty="0"/>
              <a:t>square</a:t>
            </a:r>
            <a:r>
              <a:rPr lang="en-US" sz="2000" dirty="0"/>
              <a:t> of the feature dimensions of the sample points in the CF.</a:t>
            </a:r>
          </a:p>
          <a:p>
            <a:endParaRPr lang="en-US" dirty="0"/>
          </a:p>
        </p:txBody>
      </p:sp>
      <p:sp>
        <p:nvSpPr>
          <p:cNvPr id="16" name="TextBox 15"/>
          <p:cNvSpPr txBox="1"/>
          <p:nvPr/>
        </p:nvSpPr>
        <p:spPr>
          <a:xfrm>
            <a:off x="304800" y="4114800"/>
            <a:ext cx="2895600" cy="1754326"/>
          </a:xfrm>
          <a:prstGeom prst="rect">
            <a:avLst/>
          </a:prstGeom>
          <a:noFill/>
        </p:spPr>
        <p:txBody>
          <a:bodyPr wrap="square" rtlCol="0">
            <a:spAutoFit/>
          </a:bodyPr>
          <a:lstStyle/>
          <a:p>
            <a:r>
              <a:rPr lang="en-US" dirty="0"/>
              <a:t>LS=(3+2+4+4+3), (4+6+5+7+8)</a:t>
            </a:r>
          </a:p>
          <a:p>
            <a:endParaRPr lang="en-US" dirty="0"/>
          </a:p>
          <a:p>
            <a:r>
              <a:rPr lang="en-US" dirty="0"/>
              <a:t>SS=(3</a:t>
            </a:r>
            <a:r>
              <a:rPr lang="en-US" baseline="30000" dirty="0"/>
              <a:t>2</a:t>
            </a:r>
            <a:r>
              <a:rPr lang="en-US" dirty="0"/>
              <a:t>+2</a:t>
            </a:r>
            <a:r>
              <a:rPr lang="en-US" baseline="30000" dirty="0"/>
              <a:t>2</a:t>
            </a:r>
            <a:r>
              <a:rPr lang="en-US" dirty="0"/>
              <a:t>+4</a:t>
            </a:r>
            <a:r>
              <a:rPr lang="en-US" baseline="30000" dirty="0"/>
              <a:t>2</a:t>
            </a:r>
            <a:r>
              <a:rPr lang="en-US" dirty="0"/>
              <a:t>+4</a:t>
            </a:r>
            <a:r>
              <a:rPr lang="en-US" baseline="30000" dirty="0"/>
              <a:t>2</a:t>
            </a:r>
            <a:r>
              <a:rPr lang="en-US" dirty="0"/>
              <a:t>+3</a:t>
            </a:r>
            <a:r>
              <a:rPr lang="en-US" baseline="30000" dirty="0"/>
              <a:t>2</a:t>
            </a:r>
            <a:r>
              <a:rPr lang="en-US" dirty="0"/>
              <a:t>), (4</a:t>
            </a:r>
            <a:r>
              <a:rPr lang="en-US" baseline="30000" dirty="0"/>
              <a:t>2</a:t>
            </a:r>
            <a:r>
              <a:rPr lang="en-US" dirty="0"/>
              <a:t>+6</a:t>
            </a:r>
            <a:r>
              <a:rPr lang="en-US" baseline="30000" dirty="0"/>
              <a:t>2</a:t>
            </a:r>
            <a:r>
              <a:rPr lang="en-US" dirty="0"/>
              <a:t>+5</a:t>
            </a:r>
            <a:r>
              <a:rPr lang="en-US" baseline="30000" dirty="0"/>
              <a:t>2</a:t>
            </a:r>
            <a:r>
              <a:rPr lang="en-US" dirty="0"/>
              <a:t>+7</a:t>
            </a:r>
            <a:r>
              <a:rPr lang="en-US" baseline="30000" dirty="0"/>
              <a:t>2</a:t>
            </a:r>
            <a:r>
              <a:rPr lang="en-US" dirty="0"/>
              <a:t>+8</a:t>
            </a:r>
            <a:r>
              <a:rPr lang="en-US" baseline="30000" dirty="0"/>
              <a:t>2</a:t>
            </a:r>
            <a:r>
              <a:rPr lang="en-US" dirty="0"/>
              <a:t>)</a:t>
            </a:r>
          </a:p>
          <a:p>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543800" cy="731838"/>
          </a:xfrm>
        </p:spPr>
        <p:txBody>
          <a:bodyPr/>
          <a:lstStyle/>
          <a:p>
            <a:r>
              <a:rPr lang="en-US" dirty="0"/>
              <a:t>CF Tree</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10</a:t>
            </a:fld>
            <a:endParaRPr lang="en-US" altLang="en-US"/>
          </a:p>
        </p:txBody>
      </p:sp>
      <p:sp>
        <p:nvSpPr>
          <p:cNvPr id="5" name="TextBox 4"/>
          <p:cNvSpPr txBox="1"/>
          <p:nvPr/>
        </p:nvSpPr>
        <p:spPr>
          <a:xfrm>
            <a:off x="381000" y="1143001"/>
            <a:ext cx="7696200" cy="5601533"/>
          </a:xfrm>
          <a:prstGeom prst="rect">
            <a:avLst/>
          </a:prstGeom>
          <a:noFill/>
        </p:spPr>
        <p:txBody>
          <a:bodyPr wrap="square" rtlCol="0">
            <a:spAutoFit/>
          </a:bodyPr>
          <a:lstStyle/>
          <a:p>
            <a:r>
              <a:rPr lang="en-US" sz="2000" dirty="0"/>
              <a:t>For CF Tree, we generally have several important parameters,</a:t>
            </a:r>
          </a:p>
          <a:p>
            <a:pPr lvl="0"/>
            <a:endParaRPr lang="en-US" sz="2000" dirty="0"/>
          </a:p>
          <a:p>
            <a:pPr lvl="0"/>
            <a:r>
              <a:rPr lang="en-US" sz="2000" dirty="0"/>
              <a:t>The first parameter is the </a:t>
            </a:r>
            <a:r>
              <a:rPr lang="en-US" sz="2000" b="1" i="1" dirty="0"/>
              <a:t>maximum CF number B</a:t>
            </a:r>
            <a:r>
              <a:rPr lang="en-US" sz="2000" dirty="0"/>
              <a:t> of each internal node (number of children/branching factor)</a:t>
            </a:r>
          </a:p>
          <a:p>
            <a:pPr lvl="0"/>
            <a:endParaRPr lang="en-US" sz="2000" dirty="0"/>
          </a:p>
          <a:p>
            <a:pPr lvl="0"/>
            <a:r>
              <a:rPr lang="en-US" sz="2000" dirty="0"/>
              <a:t>The second parameter is the</a:t>
            </a:r>
            <a:r>
              <a:rPr lang="en-US" sz="2000" b="1" i="1" dirty="0"/>
              <a:t> maximum CF number L</a:t>
            </a:r>
            <a:r>
              <a:rPr lang="en-US" sz="2000" dirty="0"/>
              <a:t> of each leaf node (number of members in leave node/diameter of the cluster)</a:t>
            </a:r>
          </a:p>
          <a:p>
            <a:pPr lvl="0"/>
            <a:endParaRPr lang="en-US" sz="2000" dirty="0"/>
          </a:p>
          <a:p>
            <a:pPr lvl="0"/>
            <a:r>
              <a:rPr lang="en-US" sz="2000" dirty="0"/>
              <a:t>The third parameter is for the </a:t>
            </a:r>
            <a:r>
              <a:rPr lang="en-US" sz="2000" b="1" i="1" dirty="0"/>
              <a:t>sample points in a CF in the leaf node</a:t>
            </a:r>
            <a:r>
              <a:rPr lang="en-US" sz="2000" dirty="0"/>
              <a:t>. It is the maximum sample radius </a:t>
            </a:r>
            <a:r>
              <a:rPr lang="en-US" sz="2000" b="1" i="1" dirty="0"/>
              <a:t>threshold T</a:t>
            </a:r>
            <a:r>
              <a:rPr lang="en-US" sz="2000" dirty="0"/>
              <a:t> of each CF in the leaf node. That is to say, all sample points in this CF must be in the radius In a hyper-sphere less than T.</a:t>
            </a:r>
          </a:p>
          <a:p>
            <a:pPr lvl="0"/>
            <a:endParaRPr lang="en-US" sz="2000" dirty="0"/>
          </a:p>
          <a:p>
            <a:pPr lvl="0"/>
            <a:r>
              <a:rPr lang="en-US" sz="2000" dirty="0"/>
              <a:t>CF(Parent) = CF1(Child1)+CF2(Child2)</a:t>
            </a:r>
          </a:p>
          <a:p>
            <a:r>
              <a:rPr lang="en-US" sz="2000" dirty="0"/>
              <a:t>N=N1+N2     LS=LS1+LS2   SS=SS1+SS2</a:t>
            </a:r>
          </a:p>
          <a:p>
            <a:endParaRPr lang="en-US" sz="2000" dirty="0"/>
          </a:p>
          <a:p>
            <a:endParaRPr lang="en-US" sz="2000"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639762"/>
          </a:xfrm>
        </p:spPr>
        <p:txBody>
          <a:bodyPr/>
          <a:lstStyle/>
          <a:p>
            <a:r>
              <a:rPr lang="en-US" dirty="0"/>
              <a:t>Insertion of CF Tree</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11</a:t>
            </a:fld>
            <a:endParaRPr lang="en-US" altLang="en-US"/>
          </a:p>
        </p:txBody>
      </p:sp>
      <p:sp>
        <p:nvSpPr>
          <p:cNvPr id="5" name="TextBox 4"/>
          <p:cNvSpPr txBox="1"/>
          <p:nvPr/>
        </p:nvSpPr>
        <p:spPr>
          <a:xfrm>
            <a:off x="228600" y="914400"/>
            <a:ext cx="8686800" cy="5632311"/>
          </a:xfrm>
          <a:prstGeom prst="rect">
            <a:avLst/>
          </a:prstGeom>
          <a:noFill/>
        </p:spPr>
        <p:txBody>
          <a:bodyPr wrap="square" rtlCol="0">
            <a:spAutoFit/>
          </a:bodyPr>
          <a:lstStyle/>
          <a:p>
            <a:r>
              <a:rPr lang="en-US" dirty="0"/>
              <a:t> </a:t>
            </a:r>
          </a:p>
          <a:p>
            <a:pPr lvl="0"/>
            <a:r>
              <a:rPr lang="en-US" dirty="0"/>
              <a:t>1. Find the </a:t>
            </a:r>
            <a:r>
              <a:rPr lang="en-US" b="1" dirty="0"/>
              <a:t>leaf node</a:t>
            </a:r>
            <a:r>
              <a:rPr lang="en-US" dirty="0"/>
              <a:t> closest to the new sample and the </a:t>
            </a:r>
            <a:r>
              <a:rPr lang="en-US" b="1" dirty="0"/>
              <a:t>closest CF node </a:t>
            </a:r>
            <a:r>
              <a:rPr lang="en-US" dirty="0"/>
              <a:t>in the leaf node from the root node</a:t>
            </a:r>
          </a:p>
          <a:p>
            <a:pPr lvl="0"/>
            <a:endParaRPr lang="en-US" dirty="0"/>
          </a:p>
          <a:p>
            <a:pPr lvl="0"/>
            <a:r>
              <a:rPr lang="en-US" dirty="0"/>
              <a:t>2. After the new sample is added, if the radius of the hyper-sphere corresponding to this CF node still satisfies the </a:t>
            </a:r>
            <a:r>
              <a:rPr lang="en-US" b="1" i="1" dirty="0"/>
              <a:t>threshold T</a:t>
            </a:r>
            <a:r>
              <a:rPr lang="en-US" dirty="0"/>
              <a:t>, </a:t>
            </a:r>
            <a:r>
              <a:rPr lang="en-US" b="1" dirty="0"/>
              <a:t>then all the CF triplets on the path are updated, and the insertion ends.  </a:t>
            </a:r>
            <a:r>
              <a:rPr lang="en-US" dirty="0"/>
              <a:t>Otherwise, go to 3.</a:t>
            </a:r>
          </a:p>
          <a:p>
            <a:pPr lvl="0"/>
            <a:endParaRPr lang="en-US" dirty="0"/>
          </a:p>
          <a:p>
            <a:pPr lvl="0"/>
            <a:r>
              <a:rPr lang="en-US" dirty="0"/>
              <a:t>3. If the number of CF nodes of the current leaf node is less than the threshold </a:t>
            </a:r>
            <a:r>
              <a:rPr lang="en-US" b="1" i="1" dirty="0"/>
              <a:t>L</a:t>
            </a:r>
            <a:r>
              <a:rPr lang="en-US" dirty="0"/>
              <a:t>, create a new CF node, put in a new sample and the new CF node into this leaf node, update all CF triplets on the path, and insertion Ends. Otherwise, go to 4</a:t>
            </a:r>
          </a:p>
          <a:p>
            <a:pPr lvl="0"/>
            <a:endParaRPr lang="en-US" dirty="0"/>
          </a:p>
          <a:p>
            <a:pPr lvl="0"/>
            <a:r>
              <a:rPr lang="en-US" dirty="0"/>
              <a:t>4. Divide the current leaf node into two new leaf nodes, select the two CF </a:t>
            </a:r>
            <a:r>
              <a:rPr lang="en-US" dirty="0" err="1"/>
              <a:t>tuples</a:t>
            </a:r>
            <a:r>
              <a:rPr lang="en-US" dirty="0"/>
              <a:t> with the farthest hyper-sphere among all CF </a:t>
            </a:r>
            <a:r>
              <a:rPr lang="en-US" dirty="0" err="1"/>
              <a:t>tuples</a:t>
            </a:r>
            <a:r>
              <a:rPr lang="en-US" dirty="0"/>
              <a:t> in the old leaf node, and distribute as the first CF node of the two new leaf nodes. Put other </a:t>
            </a:r>
            <a:r>
              <a:rPr lang="en-US" dirty="0" err="1"/>
              <a:t>tuples</a:t>
            </a:r>
            <a:r>
              <a:rPr lang="en-US" dirty="0"/>
              <a:t> and new sample </a:t>
            </a:r>
            <a:r>
              <a:rPr lang="en-US" dirty="0" err="1"/>
              <a:t>tuples</a:t>
            </a:r>
            <a:r>
              <a:rPr lang="en-US" dirty="0"/>
              <a:t> into corresponding leaf nodes according to the principle of distance.</a:t>
            </a:r>
          </a:p>
          <a:p>
            <a:pPr lvl="0"/>
            <a:endParaRPr lang="en-US" dirty="0"/>
          </a:p>
          <a:p>
            <a:pPr lvl="0"/>
            <a:r>
              <a:rPr lang="en-US" dirty="0"/>
              <a:t>5. In turn, check whether the parent node is also to be split. If it needs to be split in the same way as the leaf node.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543800" cy="655638"/>
          </a:xfrm>
        </p:spPr>
        <p:txBody>
          <a:bodyPr/>
          <a:lstStyle/>
          <a:p>
            <a:r>
              <a:rPr lang="en-US" dirty="0"/>
              <a:t>CF Tree insertion (L=2)</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12</a:t>
            </a:fld>
            <a:endParaRPr lang="en-US" altLang="en-US"/>
          </a:p>
        </p:txBody>
      </p:sp>
      <p:pic>
        <p:nvPicPr>
          <p:cNvPr id="5" name="Picture 4" descr="Image for post"/>
          <p:cNvPicPr/>
          <p:nvPr/>
        </p:nvPicPr>
        <p:blipFill>
          <a:blip r:embed="rId2"/>
          <a:srcRect/>
          <a:stretch>
            <a:fillRect/>
          </a:stretch>
        </p:blipFill>
        <p:spPr bwMode="auto">
          <a:xfrm>
            <a:off x="3733800" y="4191000"/>
            <a:ext cx="2743200" cy="2466481"/>
          </a:xfrm>
          <a:prstGeom prst="rect">
            <a:avLst/>
          </a:prstGeom>
          <a:noFill/>
          <a:ln w="9525">
            <a:noFill/>
            <a:miter lim="800000"/>
            <a:headEnd/>
            <a:tailEnd/>
          </a:ln>
        </p:spPr>
      </p:pic>
      <p:pic>
        <p:nvPicPr>
          <p:cNvPr id="6" name="Picture 5" descr="Image for post"/>
          <p:cNvPicPr/>
          <p:nvPr/>
        </p:nvPicPr>
        <p:blipFill>
          <a:blip r:embed="rId3"/>
          <a:srcRect/>
          <a:stretch>
            <a:fillRect/>
          </a:stretch>
        </p:blipFill>
        <p:spPr bwMode="auto">
          <a:xfrm>
            <a:off x="533400" y="4267200"/>
            <a:ext cx="2534497" cy="2412827"/>
          </a:xfrm>
          <a:prstGeom prst="rect">
            <a:avLst/>
          </a:prstGeom>
          <a:noFill/>
          <a:ln w="9525">
            <a:noFill/>
            <a:miter lim="800000"/>
            <a:headEnd/>
            <a:tailEnd/>
          </a:ln>
        </p:spPr>
      </p:pic>
      <p:pic>
        <p:nvPicPr>
          <p:cNvPr id="7" name="Picture 6" descr="Image for post"/>
          <p:cNvPicPr/>
          <p:nvPr/>
        </p:nvPicPr>
        <p:blipFill>
          <a:blip r:embed="rId4"/>
          <a:srcRect/>
          <a:stretch>
            <a:fillRect/>
          </a:stretch>
        </p:blipFill>
        <p:spPr bwMode="auto">
          <a:xfrm>
            <a:off x="457200" y="1524000"/>
            <a:ext cx="2702560" cy="2343785"/>
          </a:xfrm>
          <a:prstGeom prst="rect">
            <a:avLst/>
          </a:prstGeom>
          <a:noFill/>
          <a:ln w="9525">
            <a:noFill/>
            <a:miter lim="800000"/>
            <a:headEnd/>
            <a:tailEnd/>
          </a:ln>
        </p:spPr>
      </p:pic>
      <p:pic>
        <p:nvPicPr>
          <p:cNvPr id="8" name="Picture 7" descr="Image for post"/>
          <p:cNvPicPr/>
          <p:nvPr/>
        </p:nvPicPr>
        <p:blipFill>
          <a:blip r:embed="rId5"/>
          <a:srcRect/>
          <a:stretch>
            <a:fillRect/>
          </a:stretch>
        </p:blipFill>
        <p:spPr bwMode="auto">
          <a:xfrm>
            <a:off x="3657600" y="1447800"/>
            <a:ext cx="2858135" cy="257365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543800" cy="884238"/>
          </a:xfrm>
        </p:spPr>
        <p:txBody>
          <a:bodyPr/>
          <a:lstStyle/>
          <a:p>
            <a:r>
              <a:rPr lang="en-US" dirty="0"/>
              <a:t>Split in CF Tree (B=3, L=3)</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13</a:t>
            </a:fld>
            <a:endParaRPr lang="en-US" altLang="en-US"/>
          </a:p>
        </p:txBody>
      </p:sp>
      <p:pic>
        <p:nvPicPr>
          <p:cNvPr id="5" name="Picture 4" descr="Image for post"/>
          <p:cNvPicPr/>
          <p:nvPr/>
        </p:nvPicPr>
        <p:blipFill>
          <a:blip r:embed="rId3"/>
          <a:srcRect/>
          <a:stretch>
            <a:fillRect/>
          </a:stretch>
        </p:blipFill>
        <p:spPr bwMode="auto">
          <a:xfrm>
            <a:off x="1828800" y="3886200"/>
            <a:ext cx="5638800" cy="2819400"/>
          </a:xfrm>
          <a:prstGeom prst="rect">
            <a:avLst/>
          </a:prstGeom>
          <a:noFill/>
          <a:ln w="9525">
            <a:noFill/>
            <a:miter lim="800000"/>
            <a:headEnd/>
            <a:tailEnd/>
          </a:ln>
        </p:spPr>
      </p:pic>
      <p:sp>
        <p:nvSpPr>
          <p:cNvPr id="6" name="TextBox 5"/>
          <p:cNvSpPr txBox="1"/>
          <p:nvPr/>
        </p:nvSpPr>
        <p:spPr>
          <a:xfrm>
            <a:off x="609600" y="1066800"/>
            <a:ext cx="7620000" cy="3139321"/>
          </a:xfrm>
          <a:prstGeom prst="rect">
            <a:avLst/>
          </a:prstGeom>
          <a:noFill/>
        </p:spPr>
        <p:txBody>
          <a:bodyPr wrap="square" rtlCol="0">
            <a:spAutoFit/>
          </a:bodyPr>
          <a:lstStyle/>
          <a:p>
            <a:r>
              <a:rPr lang="en-US" dirty="0"/>
              <a:t>The leaf node </a:t>
            </a:r>
            <a:r>
              <a:rPr lang="en-US" i="1" dirty="0"/>
              <a:t>LN1 has three CFs</a:t>
            </a:r>
            <a:r>
              <a:rPr lang="en-US" dirty="0"/>
              <a:t>, and LN2 and LN3 each have </a:t>
            </a:r>
            <a:r>
              <a:rPr lang="en-US" i="1" dirty="0"/>
              <a:t>two CFs.</a:t>
            </a:r>
          </a:p>
          <a:p>
            <a:r>
              <a:rPr lang="en-US" dirty="0"/>
              <a:t>The maximum CF number of our leaf nodes is L = 3. At this time a new sample point is coming, we find that it is closest to the LN1 node, so we start to judge whether it is within the super sphere corresponding to the three CFs of sc1, sc2, sc3</a:t>
            </a:r>
          </a:p>
          <a:p>
            <a:r>
              <a:rPr lang="en-US" dirty="0"/>
              <a:t>But, unfortunately, it is not, so it needs to create a </a:t>
            </a:r>
            <a:r>
              <a:rPr lang="en-US" b="1" dirty="0"/>
              <a:t>new CF,</a:t>
            </a:r>
            <a:r>
              <a:rPr lang="en-US" dirty="0"/>
              <a:t> </a:t>
            </a:r>
            <a:r>
              <a:rPr lang="en-US" i="1" dirty="0">
                <a:solidFill>
                  <a:srgbClr val="FF0000"/>
                </a:solidFill>
              </a:rPr>
              <a:t>sc8</a:t>
            </a:r>
            <a:r>
              <a:rPr lang="en-US" dirty="0"/>
              <a:t>, to accommodate it. The problem is that  L = 3, which means that the number of CFs of LN1 has reached the maximum value, and </a:t>
            </a:r>
            <a:r>
              <a:rPr lang="en-US" i="1" dirty="0">
                <a:solidFill>
                  <a:srgbClr val="FF0000"/>
                </a:solidFill>
              </a:rPr>
              <a:t>no new CF </a:t>
            </a:r>
            <a:r>
              <a:rPr lang="en-US" dirty="0"/>
              <a:t>can be created. </a:t>
            </a:r>
          </a:p>
          <a:p>
            <a:r>
              <a:rPr lang="en-US" b="1" i="1" dirty="0"/>
              <a:t>At this point, it is necessary to split the LN1 leaf node into two.</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543800" cy="731838"/>
          </a:xfrm>
        </p:spPr>
        <p:txBody>
          <a:bodyPr/>
          <a:lstStyle/>
          <a:p>
            <a:r>
              <a:rPr lang="en-US" dirty="0"/>
              <a:t>CF Tree</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14</a:t>
            </a:fld>
            <a:endParaRPr lang="en-US" altLang="en-US"/>
          </a:p>
        </p:txBody>
      </p:sp>
      <p:pic>
        <p:nvPicPr>
          <p:cNvPr id="5" name="Picture 4" descr="Image for post"/>
          <p:cNvPicPr/>
          <p:nvPr/>
        </p:nvPicPr>
        <p:blipFill>
          <a:blip r:embed="rId3"/>
          <a:srcRect/>
          <a:stretch>
            <a:fillRect/>
          </a:stretch>
        </p:blipFill>
        <p:spPr bwMode="auto">
          <a:xfrm>
            <a:off x="381000" y="2438400"/>
            <a:ext cx="4495800" cy="3276600"/>
          </a:xfrm>
          <a:prstGeom prst="rect">
            <a:avLst/>
          </a:prstGeom>
          <a:noFill/>
          <a:ln w="9525">
            <a:noFill/>
            <a:miter lim="800000"/>
            <a:headEnd/>
            <a:tailEnd/>
          </a:ln>
        </p:spPr>
      </p:pic>
      <p:sp>
        <p:nvSpPr>
          <p:cNvPr id="7" name="TextBox 6"/>
          <p:cNvSpPr txBox="1"/>
          <p:nvPr/>
        </p:nvSpPr>
        <p:spPr>
          <a:xfrm>
            <a:off x="457200" y="1066800"/>
            <a:ext cx="7162800" cy="1477328"/>
          </a:xfrm>
          <a:prstGeom prst="rect">
            <a:avLst/>
          </a:prstGeom>
          <a:noFill/>
        </p:spPr>
        <p:txBody>
          <a:bodyPr wrap="square" rtlCol="0">
            <a:spAutoFit/>
          </a:bodyPr>
          <a:lstStyle/>
          <a:p>
            <a:pPr lvl="0"/>
            <a:r>
              <a:rPr lang="en-US" dirty="0"/>
              <a:t>We will find the two furthest CFs in all CF </a:t>
            </a:r>
            <a:r>
              <a:rPr lang="en-US" dirty="0" err="1"/>
              <a:t>tuples</a:t>
            </a:r>
            <a:r>
              <a:rPr lang="en-US" dirty="0"/>
              <a:t> in LN1 as seed CFs of these two new leaf nodes, and then we will save all sc1, sc2, sc3 in the LN1 node, and the new </a:t>
            </a:r>
            <a:r>
              <a:rPr lang="en-US" dirty="0" err="1"/>
              <a:t>tuple</a:t>
            </a:r>
            <a:r>
              <a:rPr lang="en-US" dirty="0"/>
              <a:t> sc8 of the new sample point </a:t>
            </a:r>
            <a:r>
              <a:rPr lang="en-US" i="1" dirty="0">
                <a:solidFill>
                  <a:srgbClr val="FF0000"/>
                </a:solidFill>
              </a:rPr>
              <a:t>Divide it into two new leaf nodes.</a:t>
            </a:r>
          </a:p>
          <a:p>
            <a:endParaRPr lang="en-US" dirty="0"/>
          </a:p>
        </p:txBody>
      </p:sp>
      <p:pic>
        <p:nvPicPr>
          <p:cNvPr id="6" name="Picture 5" descr="Image for post"/>
          <p:cNvPicPr/>
          <p:nvPr/>
        </p:nvPicPr>
        <p:blipFill>
          <a:blip r:embed="rId4"/>
          <a:srcRect/>
          <a:stretch>
            <a:fillRect/>
          </a:stretch>
        </p:blipFill>
        <p:spPr bwMode="auto">
          <a:xfrm>
            <a:off x="5029200" y="2438400"/>
            <a:ext cx="3810000" cy="32004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543800" cy="960438"/>
          </a:xfrm>
        </p:spPr>
        <p:txBody>
          <a:bodyPr/>
          <a:lstStyle/>
          <a:p>
            <a:r>
              <a:rPr lang="en-US" dirty="0"/>
              <a:t>CF Tree</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15</a:t>
            </a:fld>
            <a:endParaRPr lang="en-US" altLang="en-US"/>
          </a:p>
        </p:txBody>
      </p:sp>
      <p:pic>
        <p:nvPicPr>
          <p:cNvPr id="6" name="Picture 5" descr="Image for post"/>
          <p:cNvPicPr/>
          <p:nvPr/>
        </p:nvPicPr>
        <p:blipFill>
          <a:blip r:embed="rId3"/>
          <a:srcRect/>
          <a:stretch>
            <a:fillRect/>
          </a:stretch>
        </p:blipFill>
        <p:spPr bwMode="auto">
          <a:xfrm>
            <a:off x="1371600" y="3276600"/>
            <a:ext cx="5789718" cy="3102402"/>
          </a:xfrm>
          <a:prstGeom prst="rect">
            <a:avLst/>
          </a:prstGeom>
          <a:noFill/>
          <a:ln w="9525">
            <a:noFill/>
            <a:miter lim="800000"/>
            <a:headEnd/>
            <a:tailEnd/>
          </a:ln>
        </p:spPr>
      </p:pic>
      <p:sp>
        <p:nvSpPr>
          <p:cNvPr id="7" name="TextBox 6"/>
          <p:cNvSpPr txBox="1"/>
          <p:nvPr/>
        </p:nvSpPr>
        <p:spPr>
          <a:xfrm>
            <a:off x="838200" y="1295400"/>
            <a:ext cx="7162800" cy="1754326"/>
          </a:xfrm>
          <a:prstGeom prst="rect">
            <a:avLst/>
          </a:prstGeom>
          <a:noFill/>
        </p:spPr>
        <p:txBody>
          <a:bodyPr wrap="square" rtlCol="0">
            <a:spAutoFit/>
          </a:bodyPr>
          <a:lstStyle/>
          <a:p>
            <a:pPr lvl="0"/>
            <a:r>
              <a:rPr lang="en-US" dirty="0"/>
              <a:t>If the maximum </a:t>
            </a:r>
            <a:r>
              <a:rPr lang="en-US" i="1" dirty="0">
                <a:solidFill>
                  <a:srgbClr val="FF0000"/>
                </a:solidFill>
              </a:rPr>
              <a:t>CF number</a:t>
            </a:r>
            <a:r>
              <a:rPr lang="en-US" dirty="0"/>
              <a:t> of our internal nodes </a:t>
            </a:r>
            <a:r>
              <a:rPr lang="en-US" b="1" dirty="0"/>
              <a:t>B = 3</a:t>
            </a:r>
            <a:r>
              <a:rPr lang="en-US" dirty="0"/>
              <a:t>, then splitting the leaf node into two will cause the maximum CF number of the root node to be exceeded, that is to say, our root node will now also split, the split method and The leaf nodes are split, and the split CF Tree is as follows: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The CF Tree Structure</a:t>
            </a:r>
            <a:endParaRPr lang="en-US" altLang="zh-CN" sz="2400" b="1" dirty="0">
              <a:solidFill>
                <a:schemeClr val="tx2"/>
              </a:solidFill>
              <a:latin typeface="+mj-lt"/>
              <a:ea typeface="SimSun" pitchFamily="2" charset="-122"/>
            </a:endParaRPr>
          </a:p>
        </p:txBody>
      </p:sp>
      <p:grpSp>
        <p:nvGrpSpPr>
          <p:cNvPr id="2" name="Group 3"/>
          <p:cNvGrpSpPr>
            <a:grpSpLocks/>
          </p:cNvGrpSpPr>
          <p:nvPr/>
        </p:nvGrpSpPr>
        <p:grpSpPr bwMode="auto">
          <a:xfrm>
            <a:off x="1828800" y="1295400"/>
            <a:ext cx="4953000" cy="914400"/>
            <a:chOff x="1152" y="816"/>
            <a:chExt cx="3120" cy="576"/>
          </a:xfrm>
        </p:grpSpPr>
        <p:sp>
          <p:nvSpPr>
            <p:cNvPr id="44103" name="Line 4"/>
            <p:cNvSpPr>
              <a:spLocks noChangeShapeType="1"/>
            </p:cNvSpPr>
            <p:nvPr/>
          </p:nvSpPr>
          <p:spPr bwMode="auto">
            <a:xfrm>
              <a:off x="2187" y="816"/>
              <a:ext cx="0" cy="57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104" name="Rectangle 5"/>
            <p:cNvSpPr>
              <a:spLocks noChangeArrowheads="1"/>
            </p:cNvSpPr>
            <p:nvPr/>
          </p:nvSpPr>
          <p:spPr bwMode="auto">
            <a:xfrm>
              <a:off x="1156" y="820"/>
              <a:ext cx="3016" cy="568"/>
            </a:xfrm>
            <a:prstGeom prst="rect">
              <a:avLst/>
            </a:prstGeom>
            <a:noFill/>
            <a:ln w="12700">
              <a:solidFill>
                <a:schemeClr val="tx1"/>
              </a:solidFill>
              <a:miter lim="800000"/>
              <a:headEnd/>
              <a:tailEnd/>
            </a:ln>
          </p:spPr>
          <p:txBody>
            <a:bodyPr wrap="none" anchor="ctr"/>
            <a:lstStyle/>
            <a:p>
              <a:endParaRPr lang="zh-CN" altLang="zh-CN">
                <a:ea typeface="SimSun" pitchFamily="2" charset="-122"/>
              </a:endParaRPr>
            </a:p>
          </p:txBody>
        </p:sp>
        <p:sp>
          <p:nvSpPr>
            <p:cNvPr id="44105" name="Line 6"/>
            <p:cNvSpPr>
              <a:spLocks noChangeShapeType="1"/>
            </p:cNvSpPr>
            <p:nvPr/>
          </p:nvSpPr>
          <p:spPr bwMode="auto">
            <a:xfrm>
              <a:off x="1670" y="816"/>
              <a:ext cx="0" cy="57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106" name="Line 7"/>
            <p:cNvSpPr>
              <a:spLocks noChangeShapeType="1"/>
            </p:cNvSpPr>
            <p:nvPr/>
          </p:nvSpPr>
          <p:spPr bwMode="auto">
            <a:xfrm>
              <a:off x="3570" y="816"/>
              <a:ext cx="0" cy="57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107" name="Line 8"/>
            <p:cNvSpPr>
              <a:spLocks noChangeShapeType="1"/>
            </p:cNvSpPr>
            <p:nvPr/>
          </p:nvSpPr>
          <p:spPr bwMode="auto">
            <a:xfrm>
              <a:off x="2708" y="816"/>
              <a:ext cx="0" cy="57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108" name="Line 9"/>
            <p:cNvSpPr>
              <a:spLocks noChangeShapeType="1"/>
            </p:cNvSpPr>
            <p:nvPr/>
          </p:nvSpPr>
          <p:spPr bwMode="auto">
            <a:xfrm>
              <a:off x="1152" y="1104"/>
              <a:ext cx="1728" cy="0"/>
            </a:xfrm>
            <a:prstGeom prst="line">
              <a:avLst/>
            </a:prstGeom>
            <a:noFill/>
            <a:ln w="12700">
              <a:solidFill>
                <a:schemeClr val="tx1"/>
              </a:solidFill>
              <a:prstDash val="lgDash"/>
              <a:round/>
              <a:headEnd type="none" w="sm" len="sm"/>
              <a:tailEnd type="none" w="sm" len="sm"/>
            </a:ln>
          </p:spPr>
          <p:txBody>
            <a:bodyPr wrap="none" anchor="ctr"/>
            <a:lstStyle/>
            <a:p>
              <a:endParaRPr lang="en-US"/>
            </a:p>
          </p:txBody>
        </p:sp>
        <p:sp>
          <p:nvSpPr>
            <p:cNvPr id="44109" name="Line 10"/>
            <p:cNvSpPr>
              <a:spLocks noChangeShapeType="1"/>
            </p:cNvSpPr>
            <p:nvPr/>
          </p:nvSpPr>
          <p:spPr bwMode="auto">
            <a:xfrm>
              <a:off x="3408" y="1104"/>
              <a:ext cx="768" cy="0"/>
            </a:xfrm>
            <a:prstGeom prst="line">
              <a:avLst/>
            </a:prstGeom>
            <a:noFill/>
            <a:ln w="12700">
              <a:solidFill>
                <a:schemeClr val="tx1"/>
              </a:solidFill>
              <a:prstDash val="lgDash"/>
              <a:round/>
              <a:headEnd type="none" w="sm" len="sm"/>
              <a:tailEnd type="none" w="sm" len="sm"/>
            </a:ln>
          </p:spPr>
          <p:txBody>
            <a:bodyPr wrap="none" anchor="ctr"/>
            <a:lstStyle/>
            <a:p>
              <a:endParaRPr lang="en-US"/>
            </a:p>
          </p:txBody>
        </p:sp>
        <p:sp>
          <p:nvSpPr>
            <p:cNvPr id="44110" name="Rectangle 11"/>
            <p:cNvSpPr>
              <a:spLocks noChangeArrowheads="1"/>
            </p:cNvSpPr>
            <p:nvPr/>
          </p:nvSpPr>
          <p:spPr bwMode="auto">
            <a:xfrm>
              <a:off x="1200" y="816"/>
              <a:ext cx="432"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1</a:t>
              </a:r>
            </a:p>
          </p:txBody>
        </p:sp>
        <p:sp>
          <p:nvSpPr>
            <p:cNvPr id="44111" name="Rectangle 12"/>
            <p:cNvSpPr>
              <a:spLocks noChangeArrowheads="1"/>
            </p:cNvSpPr>
            <p:nvPr/>
          </p:nvSpPr>
          <p:spPr bwMode="auto">
            <a:xfrm>
              <a:off x="1200" y="1152"/>
              <a:ext cx="576" cy="231"/>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1</a:t>
              </a:r>
            </a:p>
          </p:txBody>
        </p:sp>
        <p:sp>
          <p:nvSpPr>
            <p:cNvPr id="44112" name="Rectangle 13"/>
            <p:cNvSpPr>
              <a:spLocks noChangeArrowheads="1"/>
            </p:cNvSpPr>
            <p:nvPr/>
          </p:nvSpPr>
          <p:spPr bwMode="auto">
            <a:xfrm>
              <a:off x="2208" y="816"/>
              <a:ext cx="432"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3</a:t>
              </a:r>
            </a:p>
          </p:txBody>
        </p:sp>
        <p:sp>
          <p:nvSpPr>
            <p:cNvPr id="44113" name="Rectangle 14"/>
            <p:cNvSpPr>
              <a:spLocks noChangeArrowheads="1"/>
            </p:cNvSpPr>
            <p:nvPr/>
          </p:nvSpPr>
          <p:spPr bwMode="auto">
            <a:xfrm>
              <a:off x="2208" y="1152"/>
              <a:ext cx="576" cy="231"/>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3</a:t>
              </a:r>
            </a:p>
          </p:txBody>
        </p:sp>
        <p:sp>
          <p:nvSpPr>
            <p:cNvPr id="44114" name="Rectangle 15"/>
            <p:cNvSpPr>
              <a:spLocks noChangeArrowheads="1"/>
            </p:cNvSpPr>
            <p:nvPr/>
          </p:nvSpPr>
          <p:spPr bwMode="auto">
            <a:xfrm>
              <a:off x="1728" y="816"/>
              <a:ext cx="432"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2</a:t>
              </a:r>
            </a:p>
          </p:txBody>
        </p:sp>
        <p:sp>
          <p:nvSpPr>
            <p:cNvPr id="44115" name="Rectangle 16"/>
            <p:cNvSpPr>
              <a:spLocks noChangeArrowheads="1"/>
            </p:cNvSpPr>
            <p:nvPr/>
          </p:nvSpPr>
          <p:spPr bwMode="auto">
            <a:xfrm>
              <a:off x="1728" y="1152"/>
              <a:ext cx="576" cy="231"/>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2</a:t>
              </a:r>
            </a:p>
          </p:txBody>
        </p:sp>
        <p:sp>
          <p:nvSpPr>
            <p:cNvPr id="44116" name="Rectangle 17"/>
            <p:cNvSpPr>
              <a:spLocks noChangeArrowheads="1"/>
            </p:cNvSpPr>
            <p:nvPr/>
          </p:nvSpPr>
          <p:spPr bwMode="auto">
            <a:xfrm>
              <a:off x="3696" y="816"/>
              <a:ext cx="432"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6</a:t>
              </a:r>
            </a:p>
          </p:txBody>
        </p:sp>
        <p:sp>
          <p:nvSpPr>
            <p:cNvPr id="44117" name="Rectangle 18"/>
            <p:cNvSpPr>
              <a:spLocks noChangeArrowheads="1"/>
            </p:cNvSpPr>
            <p:nvPr/>
          </p:nvSpPr>
          <p:spPr bwMode="auto">
            <a:xfrm>
              <a:off x="3696" y="1152"/>
              <a:ext cx="576" cy="231"/>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6</a:t>
              </a:r>
            </a:p>
          </p:txBody>
        </p:sp>
      </p:grpSp>
      <p:sp>
        <p:nvSpPr>
          <p:cNvPr id="44036" name="Line 19"/>
          <p:cNvSpPr>
            <a:spLocks noChangeShapeType="1"/>
          </p:cNvSpPr>
          <p:nvPr/>
        </p:nvSpPr>
        <p:spPr bwMode="auto">
          <a:xfrm>
            <a:off x="2557463" y="3276600"/>
            <a:ext cx="0" cy="914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37" name="Rectangle 20"/>
          <p:cNvSpPr>
            <a:spLocks noChangeArrowheads="1"/>
          </p:cNvSpPr>
          <p:nvPr/>
        </p:nvSpPr>
        <p:spPr bwMode="auto">
          <a:xfrm>
            <a:off x="920750" y="3282950"/>
            <a:ext cx="4787900" cy="901700"/>
          </a:xfrm>
          <a:prstGeom prst="rect">
            <a:avLst/>
          </a:prstGeom>
          <a:noFill/>
          <a:ln w="12700">
            <a:solidFill>
              <a:schemeClr val="tx1"/>
            </a:solidFill>
            <a:miter lim="800000"/>
            <a:headEnd/>
            <a:tailEnd/>
          </a:ln>
        </p:spPr>
        <p:txBody>
          <a:bodyPr wrap="none" anchor="ctr"/>
          <a:lstStyle/>
          <a:p>
            <a:endParaRPr lang="zh-CN" altLang="zh-CN">
              <a:ea typeface="SimSun" pitchFamily="2" charset="-122"/>
            </a:endParaRPr>
          </a:p>
        </p:txBody>
      </p:sp>
      <p:sp>
        <p:nvSpPr>
          <p:cNvPr id="44038" name="Line 21"/>
          <p:cNvSpPr>
            <a:spLocks noChangeShapeType="1"/>
          </p:cNvSpPr>
          <p:nvPr/>
        </p:nvSpPr>
        <p:spPr bwMode="auto">
          <a:xfrm>
            <a:off x="1736725" y="3276600"/>
            <a:ext cx="0" cy="914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39" name="Line 22"/>
          <p:cNvSpPr>
            <a:spLocks noChangeShapeType="1"/>
          </p:cNvSpPr>
          <p:nvPr/>
        </p:nvSpPr>
        <p:spPr bwMode="auto">
          <a:xfrm>
            <a:off x="4752975" y="3276600"/>
            <a:ext cx="0" cy="914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40" name="Line 23"/>
          <p:cNvSpPr>
            <a:spLocks noChangeShapeType="1"/>
          </p:cNvSpPr>
          <p:nvPr/>
        </p:nvSpPr>
        <p:spPr bwMode="auto">
          <a:xfrm>
            <a:off x="3384550" y="3276600"/>
            <a:ext cx="0" cy="914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41" name="Line 24"/>
          <p:cNvSpPr>
            <a:spLocks noChangeShapeType="1"/>
          </p:cNvSpPr>
          <p:nvPr/>
        </p:nvSpPr>
        <p:spPr bwMode="auto">
          <a:xfrm>
            <a:off x="914400" y="3733800"/>
            <a:ext cx="2743200" cy="0"/>
          </a:xfrm>
          <a:prstGeom prst="line">
            <a:avLst/>
          </a:prstGeom>
          <a:noFill/>
          <a:ln w="12700">
            <a:solidFill>
              <a:schemeClr val="tx1"/>
            </a:solidFill>
            <a:prstDash val="lgDash"/>
            <a:round/>
            <a:headEnd type="none" w="sm" len="sm"/>
            <a:tailEnd type="none" w="sm" len="sm"/>
          </a:ln>
        </p:spPr>
        <p:txBody>
          <a:bodyPr wrap="none" anchor="ctr"/>
          <a:lstStyle/>
          <a:p>
            <a:endParaRPr lang="en-US"/>
          </a:p>
        </p:txBody>
      </p:sp>
      <p:sp>
        <p:nvSpPr>
          <p:cNvPr id="44042" name="Line 25"/>
          <p:cNvSpPr>
            <a:spLocks noChangeShapeType="1"/>
          </p:cNvSpPr>
          <p:nvPr/>
        </p:nvSpPr>
        <p:spPr bwMode="auto">
          <a:xfrm>
            <a:off x="4495800" y="3733800"/>
            <a:ext cx="1219200" cy="0"/>
          </a:xfrm>
          <a:prstGeom prst="line">
            <a:avLst/>
          </a:prstGeom>
          <a:noFill/>
          <a:ln w="12700">
            <a:solidFill>
              <a:schemeClr val="tx1"/>
            </a:solidFill>
            <a:prstDash val="lgDash"/>
            <a:round/>
            <a:headEnd type="none" w="sm" len="sm"/>
            <a:tailEnd type="none" w="sm" len="sm"/>
          </a:ln>
        </p:spPr>
        <p:txBody>
          <a:bodyPr wrap="none" anchor="ctr"/>
          <a:lstStyle/>
          <a:p>
            <a:endParaRPr lang="en-US"/>
          </a:p>
        </p:txBody>
      </p:sp>
      <p:sp>
        <p:nvSpPr>
          <p:cNvPr id="44043" name="Rectangle 26"/>
          <p:cNvSpPr>
            <a:spLocks noChangeArrowheads="1"/>
          </p:cNvSpPr>
          <p:nvPr/>
        </p:nvSpPr>
        <p:spPr bwMode="auto">
          <a:xfrm>
            <a:off x="990600" y="32766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1</a:t>
            </a:r>
          </a:p>
        </p:txBody>
      </p:sp>
      <p:sp>
        <p:nvSpPr>
          <p:cNvPr id="44044" name="Rectangle 27"/>
          <p:cNvSpPr>
            <a:spLocks noChangeArrowheads="1"/>
          </p:cNvSpPr>
          <p:nvPr/>
        </p:nvSpPr>
        <p:spPr bwMode="auto">
          <a:xfrm>
            <a:off x="990600" y="3810000"/>
            <a:ext cx="914400" cy="366713"/>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1</a:t>
            </a:r>
          </a:p>
        </p:txBody>
      </p:sp>
      <p:sp>
        <p:nvSpPr>
          <p:cNvPr id="44045" name="Rectangle 28"/>
          <p:cNvSpPr>
            <a:spLocks noChangeArrowheads="1"/>
          </p:cNvSpPr>
          <p:nvPr/>
        </p:nvSpPr>
        <p:spPr bwMode="auto">
          <a:xfrm>
            <a:off x="2590800" y="32766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3</a:t>
            </a:r>
          </a:p>
        </p:txBody>
      </p:sp>
      <p:sp>
        <p:nvSpPr>
          <p:cNvPr id="44046" name="Rectangle 29"/>
          <p:cNvSpPr>
            <a:spLocks noChangeArrowheads="1"/>
          </p:cNvSpPr>
          <p:nvPr/>
        </p:nvSpPr>
        <p:spPr bwMode="auto">
          <a:xfrm>
            <a:off x="2590800" y="3810000"/>
            <a:ext cx="914400" cy="366713"/>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3</a:t>
            </a:r>
          </a:p>
        </p:txBody>
      </p:sp>
      <p:sp>
        <p:nvSpPr>
          <p:cNvPr id="44047" name="Rectangle 30"/>
          <p:cNvSpPr>
            <a:spLocks noChangeArrowheads="1"/>
          </p:cNvSpPr>
          <p:nvPr/>
        </p:nvSpPr>
        <p:spPr bwMode="auto">
          <a:xfrm>
            <a:off x="1828800" y="32766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2</a:t>
            </a:r>
          </a:p>
        </p:txBody>
      </p:sp>
      <p:sp>
        <p:nvSpPr>
          <p:cNvPr id="44048" name="Rectangle 31"/>
          <p:cNvSpPr>
            <a:spLocks noChangeArrowheads="1"/>
          </p:cNvSpPr>
          <p:nvPr/>
        </p:nvSpPr>
        <p:spPr bwMode="auto">
          <a:xfrm>
            <a:off x="1828800" y="3810000"/>
            <a:ext cx="914400" cy="366713"/>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2</a:t>
            </a:r>
          </a:p>
        </p:txBody>
      </p:sp>
      <p:sp>
        <p:nvSpPr>
          <p:cNvPr id="44049" name="Rectangle 32"/>
          <p:cNvSpPr>
            <a:spLocks noChangeArrowheads="1"/>
          </p:cNvSpPr>
          <p:nvPr/>
        </p:nvSpPr>
        <p:spPr bwMode="auto">
          <a:xfrm>
            <a:off x="4953000" y="32766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5</a:t>
            </a:r>
          </a:p>
        </p:txBody>
      </p:sp>
      <p:sp>
        <p:nvSpPr>
          <p:cNvPr id="44050" name="Rectangle 33"/>
          <p:cNvSpPr>
            <a:spLocks noChangeArrowheads="1"/>
          </p:cNvSpPr>
          <p:nvPr/>
        </p:nvSpPr>
        <p:spPr bwMode="auto">
          <a:xfrm>
            <a:off x="4953000" y="3810000"/>
            <a:ext cx="914400" cy="366713"/>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child</a:t>
            </a:r>
            <a:r>
              <a:rPr lang="en-US" altLang="zh-CN" baseline="-25000">
                <a:latin typeface="Times New Roman" pitchFamily="18" charset="0"/>
                <a:ea typeface="SimSun" pitchFamily="2" charset="-122"/>
              </a:rPr>
              <a:t>5</a:t>
            </a:r>
          </a:p>
        </p:txBody>
      </p:sp>
      <p:sp>
        <p:nvSpPr>
          <p:cNvPr id="44051" name="Line 34"/>
          <p:cNvSpPr>
            <a:spLocks noChangeShapeType="1"/>
          </p:cNvSpPr>
          <p:nvPr/>
        </p:nvSpPr>
        <p:spPr bwMode="auto">
          <a:xfrm flipH="1">
            <a:off x="1295400" y="2209800"/>
            <a:ext cx="990600" cy="106680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52" name="Line 35"/>
          <p:cNvSpPr>
            <a:spLocks noChangeShapeType="1"/>
          </p:cNvSpPr>
          <p:nvPr/>
        </p:nvSpPr>
        <p:spPr bwMode="auto">
          <a:xfrm>
            <a:off x="3048000" y="2209800"/>
            <a:ext cx="4191000" cy="99060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53" name="Line 36"/>
          <p:cNvSpPr>
            <a:spLocks noChangeShapeType="1"/>
          </p:cNvSpPr>
          <p:nvPr/>
        </p:nvSpPr>
        <p:spPr bwMode="auto">
          <a:xfrm>
            <a:off x="3733800" y="2209800"/>
            <a:ext cx="5029200" cy="99060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54" name="Rectangle 37"/>
          <p:cNvSpPr>
            <a:spLocks noChangeArrowheads="1"/>
          </p:cNvSpPr>
          <p:nvPr/>
        </p:nvSpPr>
        <p:spPr bwMode="auto">
          <a:xfrm>
            <a:off x="311150" y="5035550"/>
            <a:ext cx="3797300" cy="596900"/>
          </a:xfrm>
          <a:prstGeom prst="rect">
            <a:avLst/>
          </a:prstGeom>
          <a:noFill/>
          <a:ln w="12700">
            <a:solidFill>
              <a:schemeClr val="tx1"/>
            </a:solidFill>
            <a:miter lim="800000"/>
            <a:headEnd/>
            <a:tailEnd/>
          </a:ln>
        </p:spPr>
        <p:txBody>
          <a:bodyPr wrap="none" anchor="ctr"/>
          <a:lstStyle/>
          <a:p>
            <a:endParaRPr lang="zh-CN" altLang="zh-CN">
              <a:ea typeface="SimSun" pitchFamily="2" charset="-122"/>
            </a:endParaRPr>
          </a:p>
        </p:txBody>
      </p:sp>
      <p:sp>
        <p:nvSpPr>
          <p:cNvPr id="44055" name="Rectangle 38"/>
          <p:cNvSpPr>
            <a:spLocks noChangeArrowheads="1"/>
          </p:cNvSpPr>
          <p:nvPr/>
        </p:nvSpPr>
        <p:spPr bwMode="auto">
          <a:xfrm>
            <a:off x="9906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1</a:t>
            </a:r>
          </a:p>
        </p:txBody>
      </p:sp>
      <p:sp>
        <p:nvSpPr>
          <p:cNvPr id="44056" name="Line 39"/>
          <p:cNvSpPr>
            <a:spLocks noChangeShapeType="1"/>
          </p:cNvSpPr>
          <p:nvPr/>
        </p:nvSpPr>
        <p:spPr bwMode="auto">
          <a:xfrm>
            <a:off x="9906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57" name="Rectangle 40"/>
          <p:cNvSpPr>
            <a:spLocks noChangeArrowheads="1"/>
          </p:cNvSpPr>
          <p:nvPr/>
        </p:nvSpPr>
        <p:spPr bwMode="auto">
          <a:xfrm>
            <a:off x="16002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2</a:t>
            </a:r>
          </a:p>
        </p:txBody>
      </p:sp>
      <p:sp>
        <p:nvSpPr>
          <p:cNvPr id="44058" name="Line 41"/>
          <p:cNvSpPr>
            <a:spLocks noChangeShapeType="1"/>
          </p:cNvSpPr>
          <p:nvPr/>
        </p:nvSpPr>
        <p:spPr bwMode="auto">
          <a:xfrm>
            <a:off x="16002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59" name="Rectangle 42"/>
          <p:cNvSpPr>
            <a:spLocks noChangeArrowheads="1"/>
          </p:cNvSpPr>
          <p:nvPr/>
        </p:nvSpPr>
        <p:spPr bwMode="auto">
          <a:xfrm>
            <a:off x="28194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dirty="0">
                <a:latin typeface="Times New Roman" pitchFamily="18" charset="0"/>
                <a:ea typeface="SimSun" pitchFamily="2" charset="-122"/>
              </a:rPr>
              <a:t>CF</a:t>
            </a:r>
            <a:r>
              <a:rPr lang="en-US" altLang="zh-CN" baseline="-25000" dirty="0">
                <a:latin typeface="Times New Roman" pitchFamily="18" charset="0"/>
                <a:ea typeface="SimSun" pitchFamily="2" charset="-122"/>
              </a:rPr>
              <a:t>6</a:t>
            </a:r>
          </a:p>
        </p:txBody>
      </p:sp>
      <p:sp>
        <p:nvSpPr>
          <p:cNvPr id="44060" name="Line 43"/>
          <p:cNvSpPr>
            <a:spLocks noChangeShapeType="1"/>
          </p:cNvSpPr>
          <p:nvPr/>
        </p:nvSpPr>
        <p:spPr bwMode="auto">
          <a:xfrm>
            <a:off x="28194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61" name="Line 44"/>
          <p:cNvSpPr>
            <a:spLocks noChangeShapeType="1"/>
          </p:cNvSpPr>
          <p:nvPr/>
        </p:nvSpPr>
        <p:spPr bwMode="auto">
          <a:xfrm>
            <a:off x="22098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62" name="Line 45"/>
          <p:cNvSpPr>
            <a:spLocks noChangeShapeType="1"/>
          </p:cNvSpPr>
          <p:nvPr/>
        </p:nvSpPr>
        <p:spPr bwMode="auto">
          <a:xfrm>
            <a:off x="34290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63" name="Line 46"/>
          <p:cNvSpPr>
            <a:spLocks noChangeShapeType="1"/>
          </p:cNvSpPr>
          <p:nvPr/>
        </p:nvSpPr>
        <p:spPr bwMode="auto">
          <a:xfrm>
            <a:off x="2362200" y="5334000"/>
            <a:ext cx="304800" cy="0"/>
          </a:xfrm>
          <a:prstGeom prst="line">
            <a:avLst/>
          </a:prstGeom>
          <a:noFill/>
          <a:ln w="25400">
            <a:solidFill>
              <a:schemeClr val="tx1"/>
            </a:solidFill>
            <a:prstDash val="sysDot"/>
            <a:round/>
            <a:headEnd type="none" w="sm" len="sm"/>
            <a:tailEnd type="none" w="sm" len="sm"/>
          </a:ln>
        </p:spPr>
        <p:txBody>
          <a:bodyPr wrap="none" anchor="ctr"/>
          <a:lstStyle/>
          <a:p>
            <a:endParaRPr lang="en-US"/>
          </a:p>
        </p:txBody>
      </p:sp>
      <p:sp>
        <p:nvSpPr>
          <p:cNvPr id="44064" name="Rectangle 47"/>
          <p:cNvSpPr>
            <a:spLocks noChangeArrowheads="1"/>
          </p:cNvSpPr>
          <p:nvPr/>
        </p:nvSpPr>
        <p:spPr bwMode="auto">
          <a:xfrm>
            <a:off x="381000" y="5105400"/>
            <a:ext cx="685800" cy="396875"/>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sz="2000">
                <a:latin typeface="Times New Roman" pitchFamily="18" charset="0"/>
                <a:ea typeface="SimSun" pitchFamily="2" charset="-122"/>
              </a:rPr>
              <a:t>prev</a:t>
            </a:r>
          </a:p>
        </p:txBody>
      </p:sp>
      <p:sp>
        <p:nvSpPr>
          <p:cNvPr id="44065" name="Rectangle 48"/>
          <p:cNvSpPr>
            <a:spLocks noChangeArrowheads="1"/>
          </p:cNvSpPr>
          <p:nvPr/>
        </p:nvSpPr>
        <p:spPr bwMode="auto">
          <a:xfrm>
            <a:off x="3429000" y="5105400"/>
            <a:ext cx="685800" cy="396875"/>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sz="2000">
                <a:latin typeface="Times New Roman" pitchFamily="18" charset="0"/>
                <a:ea typeface="SimSun" pitchFamily="2" charset="-122"/>
              </a:rPr>
              <a:t>next</a:t>
            </a:r>
          </a:p>
        </p:txBody>
      </p:sp>
      <p:sp>
        <p:nvSpPr>
          <p:cNvPr id="44066" name="Line 49"/>
          <p:cNvSpPr>
            <a:spLocks noChangeShapeType="1"/>
          </p:cNvSpPr>
          <p:nvPr/>
        </p:nvSpPr>
        <p:spPr bwMode="auto">
          <a:xfrm flipH="1">
            <a:off x="914400" y="4191000"/>
            <a:ext cx="381000" cy="83820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67" name="Rectangle 50"/>
          <p:cNvSpPr>
            <a:spLocks noChangeArrowheads="1"/>
          </p:cNvSpPr>
          <p:nvPr/>
        </p:nvSpPr>
        <p:spPr bwMode="auto">
          <a:xfrm>
            <a:off x="4730750" y="5035550"/>
            <a:ext cx="3797300" cy="596900"/>
          </a:xfrm>
          <a:prstGeom prst="rect">
            <a:avLst/>
          </a:prstGeom>
          <a:noFill/>
          <a:ln w="12700">
            <a:solidFill>
              <a:schemeClr val="tx1"/>
            </a:solidFill>
            <a:miter lim="800000"/>
            <a:headEnd/>
            <a:tailEnd/>
          </a:ln>
        </p:spPr>
        <p:txBody>
          <a:bodyPr wrap="none" anchor="ctr"/>
          <a:lstStyle/>
          <a:p>
            <a:endParaRPr lang="zh-CN" altLang="zh-CN">
              <a:ea typeface="SimSun" pitchFamily="2" charset="-122"/>
            </a:endParaRPr>
          </a:p>
        </p:txBody>
      </p:sp>
      <p:sp>
        <p:nvSpPr>
          <p:cNvPr id="44068" name="Rectangle 51"/>
          <p:cNvSpPr>
            <a:spLocks noChangeArrowheads="1"/>
          </p:cNvSpPr>
          <p:nvPr/>
        </p:nvSpPr>
        <p:spPr bwMode="auto">
          <a:xfrm>
            <a:off x="54102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1</a:t>
            </a:r>
          </a:p>
        </p:txBody>
      </p:sp>
      <p:sp>
        <p:nvSpPr>
          <p:cNvPr id="44069" name="Line 52"/>
          <p:cNvSpPr>
            <a:spLocks noChangeShapeType="1"/>
          </p:cNvSpPr>
          <p:nvPr/>
        </p:nvSpPr>
        <p:spPr bwMode="auto">
          <a:xfrm>
            <a:off x="54102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70" name="Rectangle 53"/>
          <p:cNvSpPr>
            <a:spLocks noChangeArrowheads="1"/>
          </p:cNvSpPr>
          <p:nvPr/>
        </p:nvSpPr>
        <p:spPr bwMode="auto">
          <a:xfrm>
            <a:off x="60198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2</a:t>
            </a:r>
          </a:p>
        </p:txBody>
      </p:sp>
      <p:sp>
        <p:nvSpPr>
          <p:cNvPr id="44071" name="Line 54"/>
          <p:cNvSpPr>
            <a:spLocks noChangeShapeType="1"/>
          </p:cNvSpPr>
          <p:nvPr/>
        </p:nvSpPr>
        <p:spPr bwMode="auto">
          <a:xfrm>
            <a:off x="60198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72" name="Rectangle 55"/>
          <p:cNvSpPr>
            <a:spLocks noChangeArrowheads="1"/>
          </p:cNvSpPr>
          <p:nvPr/>
        </p:nvSpPr>
        <p:spPr bwMode="auto">
          <a:xfrm>
            <a:off x="7239000" y="5105400"/>
            <a:ext cx="685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CF</a:t>
            </a:r>
            <a:r>
              <a:rPr lang="en-US" altLang="zh-CN" baseline="-25000">
                <a:latin typeface="Times New Roman" pitchFamily="18" charset="0"/>
                <a:ea typeface="SimSun" pitchFamily="2" charset="-122"/>
              </a:rPr>
              <a:t>4</a:t>
            </a:r>
          </a:p>
        </p:txBody>
      </p:sp>
      <p:sp>
        <p:nvSpPr>
          <p:cNvPr id="44073" name="Line 56"/>
          <p:cNvSpPr>
            <a:spLocks noChangeShapeType="1"/>
          </p:cNvSpPr>
          <p:nvPr/>
        </p:nvSpPr>
        <p:spPr bwMode="auto">
          <a:xfrm>
            <a:off x="72390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74" name="Line 57"/>
          <p:cNvSpPr>
            <a:spLocks noChangeShapeType="1"/>
          </p:cNvSpPr>
          <p:nvPr/>
        </p:nvSpPr>
        <p:spPr bwMode="auto">
          <a:xfrm>
            <a:off x="66294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75" name="Line 58"/>
          <p:cNvSpPr>
            <a:spLocks noChangeShapeType="1"/>
          </p:cNvSpPr>
          <p:nvPr/>
        </p:nvSpPr>
        <p:spPr bwMode="auto">
          <a:xfrm>
            <a:off x="7848600" y="5029200"/>
            <a:ext cx="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44076" name="Line 59"/>
          <p:cNvSpPr>
            <a:spLocks noChangeShapeType="1"/>
          </p:cNvSpPr>
          <p:nvPr/>
        </p:nvSpPr>
        <p:spPr bwMode="auto">
          <a:xfrm>
            <a:off x="6781800" y="5334000"/>
            <a:ext cx="304800" cy="0"/>
          </a:xfrm>
          <a:prstGeom prst="line">
            <a:avLst/>
          </a:prstGeom>
          <a:noFill/>
          <a:ln w="25400">
            <a:solidFill>
              <a:schemeClr val="tx1"/>
            </a:solidFill>
            <a:prstDash val="sysDot"/>
            <a:round/>
            <a:headEnd type="none" w="sm" len="sm"/>
            <a:tailEnd type="none" w="sm" len="sm"/>
          </a:ln>
        </p:spPr>
        <p:txBody>
          <a:bodyPr wrap="none" anchor="ctr"/>
          <a:lstStyle/>
          <a:p>
            <a:endParaRPr lang="en-US"/>
          </a:p>
        </p:txBody>
      </p:sp>
      <p:sp>
        <p:nvSpPr>
          <p:cNvPr id="44077" name="Rectangle 60"/>
          <p:cNvSpPr>
            <a:spLocks noChangeArrowheads="1"/>
          </p:cNvSpPr>
          <p:nvPr/>
        </p:nvSpPr>
        <p:spPr bwMode="auto">
          <a:xfrm>
            <a:off x="4800600" y="5105400"/>
            <a:ext cx="685800" cy="396875"/>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sz="2000">
                <a:latin typeface="Times New Roman" pitchFamily="18" charset="0"/>
                <a:ea typeface="SimSun" pitchFamily="2" charset="-122"/>
              </a:rPr>
              <a:t>prev</a:t>
            </a:r>
          </a:p>
        </p:txBody>
      </p:sp>
      <p:sp>
        <p:nvSpPr>
          <p:cNvPr id="44078" name="Rectangle 61"/>
          <p:cNvSpPr>
            <a:spLocks noChangeArrowheads="1"/>
          </p:cNvSpPr>
          <p:nvPr/>
        </p:nvSpPr>
        <p:spPr bwMode="auto">
          <a:xfrm>
            <a:off x="7848600" y="5105400"/>
            <a:ext cx="685800" cy="396875"/>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sz="2000">
                <a:latin typeface="Times New Roman" pitchFamily="18" charset="0"/>
                <a:ea typeface="SimSun" pitchFamily="2" charset="-122"/>
              </a:rPr>
              <a:t>next</a:t>
            </a:r>
          </a:p>
        </p:txBody>
      </p:sp>
      <p:sp>
        <p:nvSpPr>
          <p:cNvPr id="44079" name="Line 62"/>
          <p:cNvSpPr>
            <a:spLocks noChangeShapeType="1"/>
          </p:cNvSpPr>
          <p:nvPr/>
        </p:nvSpPr>
        <p:spPr bwMode="auto">
          <a:xfrm>
            <a:off x="2133600" y="4191000"/>
            <a:ext cx="4800600" cy="83820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80" name="Line 63"/>
          <p:cNvSpPr>
            <a:spLocks noChangeShapeType="1"/>
          </p:cNvSpPr>
          <p:nvPr/>
        </p:nvSpPr>
        <p:spPr bwMode="auto">
          <a:xfrm flipH="1">
            <a:off x="4114800" y="5181600"/>
            <a:ext cx="609600"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81" name="Line 64"/>
          <p:cNvSpPr>
            <a:spLocks noChangeShapeType="1"/>
          </p:cNvSpPr>
          <p:nvPr/>
        </p:nvSpPr>
        <p:spPr bwMode="auto">
          <a:xfrm>
            <a:off x="4114800" y="5486400"/>
            <a:ext cx="609600"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82" name="Line 65"/>
          <p:cNvSpPr>
            <a:spLocks noChangeShapeType="1"/>
          </p:cNvSpPr>
          <p:nvPr/>
        </p:nvSpPr>
        <p:spPr bwMode="auto">
          <a:xfrm>
            <a:off x="8534400" y="5562600"/>
            <a:ext cx="381000"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83" name="Line 66"/>
          <p:cNvSpPr>
            <a:spLocks noChangeShapeType="1"/>
          </p:cNvSpPr>
          <p:nvPr/>
        </p:nvSpPr>
        <p:spPr bwMode="auto">
          <a:xfrm flipH="1">
            <a:off x="8534400" y="5334000"/>
            <a:ext cx="381000"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44084" name="Rectangle 67"/>
          <p:cNvSpPr>
            <a:spLocks noChangeArrowheads="1"/>
          </p:cNvSpPr>
          <p:nvPr/>
        </p:nvSpPr>
        <p:spPr bwMode="auto">
          <a:xfrm>
            <a:off x="304800" y="1371600"/>
            <a:ext cx="1066800" cy="785472"/>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dirty="0">
                <a:latin typeface="Times New Roman" pitchFamily="18" charset="0"/>
                <a:ea typeface="SimSun" pitchFamily="2" charset="-122"/>
              </a:rPr>
              <a:t>B = 6</a:t>
            </a:r>
          </a:p>
          <a:p>
            <a:pPr eaLnBrk="0" hangingPunct="0">
              <a:spcBef>
                <a:spcPct val="50000"/>
              </a:spcBef>
            </a:pPr>
            <a:r>
              <a:rPr lang="en-US" altLang="zh-CN" dirty="0">
                <a:latin typeface="Times New Roman" pitchFamily="18" charset="0"/>
                <a:ea typeface="SimSun" pitchFamily="2" charset="-122"/>
              </a:rPr>
              <a:t>L = 7</a:t>
            </a:r>
          </a:p>
        </p:txBody>
      </p:sp>
      <p:sp>
        <p:nvSpPr>
          <p:cNvPr id="44085" name="Line 68"/>
          <p:cNvSpPr>
            <a:spLocks noChangeShapeType="1"/>
          </p:cNvSpPr>
          <p:nvPr/>
        </p:nvSpPr>
        <p:spPr bwMode="auto">
          <a:xfrm>
            <a:off x="3962400" y="3733800"/>
            <a:ext cx="304800" cy="0"/>
          </a:xfrm>
          <a:prstGeom prst="line">
            <a:avLst/>
          </a:prstGeom>
          <a:noFill/>
          <a:ln w="25400">
            <a:solidFill>
              <a:schemeClr val="tx1"/>
            </a:solidFill>
            <a:prstDash val="sysDot"/>
            <a:round/>
            <a:headEnd type="none" w="sm" len="sm"/>
            <a:tailEnd type="none" w="sm" len="sm"/>
          </a:ln>
        </p:spPr>
        <p:txBody>
          <a:bodyPr wrap="none" anchor="ctr"/>
          <a:lstStyle/>
          <a:p>
            <a:endParaRPr lang="en-US"/>
          </a:p>
        </p:txBody>
      </p:sp>
      <p:sp>
        <p:nvSpPr>
          <p:cNvPr id="44086" name="Line 69"/>
          <p:cNvSpPr>
            <a:spLocks noChangeShapeType="1"/>
          </p:cNvSpPr>
          <p:nvPr/>
        </p:nvSpPr>
        <p:spPr bwMode="auto">
          <a:xfrm>
            <a:off x="4876800" y="1752600"/>
            <a:ext cx="304800" cy="0"/>
          </a:xfrm>
          <a:prstGeom prst="line">
            <a:avLst/>
          </a:prstGeom>
          <a:noFill/>
          <a:ln w="25400">
            <a:solidFill>
              <a:schemeClr val="tx1"/>
            </a:solidFill>
            <a:prstDash val="sysDot"/>
            <a:round/>
            <a:headEnd type="none" w="sm" len="sm"/>
            <a:tailEnd type="none" w="sm" len="sm"/>
          </a:ln>
        </p:spPr>
        <p:txBody>
          <a:bodyPr wrap="none" anchor="ctr"/>
          <a:lstStyle/>
          <a:p>
            <a:endParaRPr lang="en-US"/>
          </a:p>
        </p:txBody>
      </p:sp>
      <p:sp>
        <p:nvSpPr>
          <p:cNvPr id="44087" name="Line 70"/>
          <p:cNvSpPr>
            <a:spLocks noChangeShapeType="1"/>
          </p:cNvSpPr>
          <p:nvPr/>
        </p:nvSpPr>
        <p:spPr bwMode="auto">
          <a:xfrm>
            <a:off x="7391400" y="3733800"/>
            <a:ext cx="838200" cy="0"/>
          </a:xfrm>
          <a:prstGeom prst="line">
            <a:avLst/>
          </a:prstGeom>
          <a:noFill/>
          <a:ln w="25400">
            <a:solidFill>
              <a:schemeClr val="tx1"/>
            </a:solidFill>
            <a:prstDash val="sysDot"/>
            <a:round/>
            <a:headEnd type="none" w="sm" len="sm"/>
            <a:tailEnd type="none" w="sm" len="sm"/>
          </a:ln>
        </p:spPr>
        <p:txBody>
          <a:bodyPr wrap="none" anchor="ctr"/>
          <a:lstStyle/>
          <a:p>
            <a:endParaRPr lang="en-US"/>
          </a:p>
        </p:txBody>
      </p:sp>
      <p:sp>
        <p:nvSpPr>
          <p:cNvPr id="44088" name="Rectangle 71"/>
          <p:cNvSpPr>
            <a:spLocks noChangeArrowheads="1"/>
          </p:cNvSpPr>
          <p:nvPr/>
        </p:nvSpPr>
        <p:spPr bwMode="auto">
          <a:xfrm>
            <a:off x="3733800" y="762000"/>
            <a:ext cx="9906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Root</a:t>
            </a:r>
          </a:p>
        </p:txBody>
      </p:sp>
      <p:sp>
        <p:nvSpPr>
          <p:cNvPr id="44089" name="Rectangle 72"/>
          <p:cNvSpPr>
            <a:spLocks noChangeArrowheads="1"/>
          </p:cNvSpPr>
          <p:nvPr/>
        </p:nvSpPr>
        <p:spPr bwMode="auto">
          <a:xfrm>
            <a:off x="2438400" y="2819400"/>
            <a:ext cx="19812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Non-leaf node</a:t>
            </a:r>
          </a:p>
        </p:txBody>
      </p:sp>
      <p:sp>
        <p:nvSpPr>
          <p:cNvPr id="44090" name="Rectangle 73"/>
          <p:cNvSpPr>
            <a:spLocks noChangeArrowheads="1"/>
          </p:cNvSpPr>
          <p:nvPr/>
        </p:nvSpPr>
        <p:spPr bwMode="auto">
          <a:xfrm>
            <a:off x="2362200" y="4572000"/>
            <a:ext cx="1447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Leaf node</a:t>
            </a:r>
          </a:p>
        </p:txBody>
      </p:sp>
      <p:sp>
        <p:nvSpPr>
          <p:cNvPr id="44091" name="Rectangle 74"/>
          <p:cNvSpPr>
            <a:spLocks noChangeArrowheads="1"/>
          </p:cNvSpPr>
          <p:nvPr/>
        </p:nvSpPr>
        <p:spPr bwMode="auto">
          <a:xfrm>
            <a:off x="7010400" y="4572000"/>
            <a:ext cx="14478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Leaf node</a:t>
            </a:r>
          </a:p>
        </p:txBody>
      </p:sp>
      <p:grpSp>
        <p:nvGrpSpPr>
          <p:cNvPr id="3" name="Group 75"/>
          <p:cNvGrpSpPr>
            <a:grpSpLocks/>
          </p:cNvGrpSpPr>
          <p:nvPr/>
        </p:nvGrpSpPr>
        <p:grpSpPr bwMode="auto">
          <a:xfrm>
            <a:off x="920750" y="5949950"/>
            <a:ext cx="749300" cy="749300"/>
            <a:chOff x="580" y="3748"/>
            <a:chExt cx="472" cy="472"/>
          </a:xfrm>
        </p:grpSpPr>
        <p:sp>
          <p:nvSpPr>
            <p:cNvPr id="44095" name="Oval 76"/>
            <p:cNvSpPr>
              <a:spLocks noChangeArrowheads="1"/>
            </p:cNvSpPr>
            <p:nvPr/>
          </p:nvSpPr>
          <p:spPr bwMode="auto">
            <a:xfrm>
              <a:off x="724" y="3892"/>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096" name="Oval 77"/>
            <p:cNvSpPr>
              <a:spLocks noChangeArrowheads="1"/>
            </p:cNvSpPr>
            <p:nvPr/>
          </p:nvSpPr>
          <p:spPr bwMode="auto">
            <a:xfrm>
              <a:off x="820" y="3988"/>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097" name="Oval 78"/>
            <p:cNvSpPr>
              <a:spLocks noChangeArrowheads="1"/>
            </p:cNvSpPr>
            <p:nvPr/>
          </p:nvSpPr>
          <p:spPr bwMode="auto">
            <a:xfrm>
              <a:off x="820" y="3892"/>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098" name="Oval 79"/>
            <p:cNvSpPr>
              <a:spLocks noChangeArrowheads="1"/>
            </p:cNvSpPr>
            <p:nvPr/>
          </p:nvSpPr>
          <p:spPr bwMode="auto">
            <a:xfrm>
              <a:off x="676" y="4084"/>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099" name="Oval 80"/>
            <p:cNvSpPr>
              <a:spLocks noChangeArrowheads="1"/>
            </p:cNvSpPr>
            <p:nvPr/>
          </p:nvSpPr>
          <p:spPr bwMode="auto">
            <a:xfrm>
              <a:off x="676" y="3988"/>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100" name="Oval 81"/>
            <p:cNvSpPr>
              <a:spLocks noChangeArrowheads="1"/>
            </p:cNvSpPr>
            <p:nvPr/>
          </p:nvSpPr>
          <p:spPr bwMode="auto">
            <a:xfrm>
              <a:off x="772" y="4036"/>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101" name="Oval 82"/>
            <p:cNvSpPr>
              <a:spLocks noChangeArrowheads="1"/>
            </p:cNvSpPr>
            <p:nvPr/>
          </p:nvSpPr>
          <p:spPr bwMode="auto">
            <a:xfrm>
              <a:off x="916" y="4084"/>
              <a:ext cx="40" cy="40"/>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44102" name="Oval 83"/>
            <p:cNvSpPr>
              <a:spLocks noChangeArrowheads="1"/>
            </p:cNvSpPr>
            <p:nvPr/>
          </p:nvSpPr>
          <p:spPr bwMode="auto">
            <a:xfrm>
              <a:off x="580" y="3748"/>
              <a:ext cx="472" cy="472"/>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grpSp>
      <p:sp>
        <p:nvSpPr>
          <p:cNvPr id="44093" name="Line 84"/>
          <p:cNvSpPr>
            <a:spLocks noChangeShapeType="1"/>
          </p:cNvSpPr>
          <p:nvPr/>
        </p:nvSpPr>
        <p:spPr bwMode="auto">
          <a:xfrm>
            <a:off x="1295400" y="5715000"/>
            <a:ext cx="0" cy="15240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87" name="Slide Number Placeholder 86"/>
          <p:cNvSpPr>
            <a:spLocks noGrp="1"/>
          </p:cNvSpPr>
          <p:nvPr>
            <p:ph type="sldNum" sz="quarter" idx="11"/>
          </p:nvPr>
        </p:nvSpPr>
        <p:spPr/>
        <p:txBody>
          <a:bodyPr/>
          <a:lstStyle/>
          <a:p>
            <a:pPr>
              <a:defRPr/>
            </a:pPr>
            <a:fld id="{4635AE12-246C-49B1-92D7-252397D611F1}" type="slidenum">
              <a:rPr lang="en-US" smtClean="0"/>
              <a:pPr>
                <a:defRPr/>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228600" y="914400"/>
            <a:ext cx="8610600" cy="5791200"/>
          </a:xfrm>
        </p:spPr>
        <p:txBody>
          <a:bodyPr>
            <a:noAutofit/>
          </a:bodyPr>
          <a:lstStyle/>
          <a:p>
            <a:pPr>
              <a:lnSpc>
                <a:spcPct val="80000"/>
              </a:lnSpc>
              <a:spcBef>
                <a:spcPct val="50000"/>
              </a:spcBef>
            </a:pPr>
            <a:r>
              <a:rPr lang="en-US" altLang="zh-CN" sz="2400" dirty="0">
                <a:ea typeface="SimSun" pitchFamily="2" charset="-122"/>
              </a:rPr>
              <a:t>Clustering Feature: </a:t>
            </a:r>
          </a:p>
          <a:p>
            <a:pPr lvl="1">
              <a:lnSpc>
                <a:spcPct val="80000"/>
              </a:lnSpc>
              <a:spcBef>
                <a:spcPct val="50000"/>
              </a:spcBef>
            </a:pPr>
            <a:r>
              <a:rPr lang="en-US" altLang="zh-CN" sz="2400" dirty="0">
                <a:ea typeface="SimSun" pitchFamily="2" charset="-122"/>
              </a:rPr>
              <a:t>Summary of the statistics for a given </a:t>
            </a:r>
            <a:r>
              <a:rPr lang="en-US" altLang="zh-CN" sz="2400" dirty="0" err="1">
                <a:ea typeface="SimSun" pitchFamily="2" charset="-122"/>
              </a:rPr>
              <a:t>subcluster</a:t>
            </a:r>
            <a:r>
              <a:rPr lang="en-US" altLang="zh-CN" sz="2400" dirty="0">
                <a:ea typeface="SimSun" pitchFamily="2" charset="-122"/>
              </a:rPr>
              <a:t>: the 0-th, 1st, and 2nd moments of the </a:t>
            </a:r>
            <a:r>
              <a:rPr lang="en-US" altLang="zh-CN" sz="2400" dirty="0" err="1">
                <a:ea typeface="SimSun" pitchFamily="2" charset="-122"/>
              </a:rPr>
              <a:t>subcluster</a:t>
            </a:r>
            <a:r>
              <a:rPr lang="en-US" altLang="zh-CN" sz="2400" dirty="0">
                <a:ea typeface="SimSun" pitchFamily="2" charset="-122"/>
              </a:rPr>
              <a:t> from the statistical point of view</a:t>
            </a:r>
          </a:p>
          <a:p>
            <a:pPr lvl="1">
              <a:lnSpc>
                <a:spcPct val="80000"/>
              </a:lnSpc>
              <a:spcBef>
                <a:spcPct val="50000"/>
              </a:spcBef>
            </a:pPr>
            <a:r>
              <a:rPr lang="en-US" altLang="zh-CN" sz="2400" dirty="0">
                <a:ea typeface="SimSun" pitchFamily="2" charset="-122"/>
              </a:rPr>
              <a:t>Registers crucial measurements for computing cluster and utilizes storage efficiently</a:t>
            </a:r>
            <a:endParaRPr lang="en-US" altLang="ko-KR" sz="2400" dirty="0">
              <a:ea typeface="Gulim" pitchFamily="34" charset="-127"/>
            </a:endParaRPr>
          </a:p>
          <a:p>
            <a:pPr>
              <a:lnSpc>
                <a:spcPct val="80000"/>
              </a:lnSpc>
              <a:spcBef>
                <a:spcPct val="50000"/>
              </a:spcBef>
              <a:buClrTx/>
              <a:buSzPct val="65000"/>
              <a:buBlip>
                <a:blip r:embed="rId3"/>
              </a:buBlip>
            </a:pPr>
            <a:r>
              <a:rPr lang="en-US" altLang="ko-KR" sz="2400" dirty="0">
                <a:ea typeface="Gulim" pitchFamily="34" charset="-127"/>
              </a:rPr>
              <a:t>A CF tree is a height-balanced tree that stores the clustering features for a hierarchical clustering </a:t>
            </a:r>
          </a:p>
          <a:p>
            <a:pPr lvl="1">
              <a:lnSpc>
                <a:spcPct val="80000"/>
              </a:lnSpc>
              <a:spcBef>
                <a:spcPct val="50000"/>
              </a:spcBef>
            </a:pPr>
            <a:r>
              <a:rPr lang="en-US" altLang="ko-KR" sz="2400" dirty="0">
                <a:ea typeface="Gulim" pitchFamily="34" charset="-127"/>
              </a:rPr>
              <a:t>A non-leaf node in a tree has descendants or “children”</a:t>
            </a:r>
          </a:p>
          <a:p>
            <a:pPr lvl="1">
              <a:lnSpc>
                <a:spcPct val="80000"/>
              </a:lnSpc>
              <a:spcBef>
                <a:spcPct val="50000"/>
              </a:spcBef>
            </a:pPr>
            <a:r>
              <a:rPr lang="en-US" altLang="ko-KR" sz="2400" dirty="0">
                <a:ea typeface="Gulim" pitchFamily="34" charset="-127"/>
              </a:rPr>
              <a:t>The non-leaf nodes store sums of the CFs of their children</a:t>
            </a:r>
          </a:p>
          <a:p>
            <a:pPr>
              <a:lnSpc>
                <a:spcPct val="80000"/>
              </a:lnSpc>
              <a:spcBef>
                <a:spcPct val="50000"/>
              </a:spcBef>
            </a:pPr>
            <a:r>
              <a:rPr lang="en-US" altLang="ko-KR" sz="2400" dirty="0">
                <a:ea typeface="Gulim" pitchFamily="34" charset="-127"/>
              </a:rPr>
              <a:t>A CF tree has two parameters</a:t>
            </a:r>
          </a:p>
          <a:p>
            <a:pPr lvl="1">
              <a:lnSpc>
                <a:spcPct val="80000"/>
              </a:lnSpc>
              <a:spcBef>
                <a:spcPct val="50000"/>
              </a:spcBef>
            </a:pPr>
            <a:r>
              <a:rPr lang="en-US" altLang="ko-KR" sz="2400" dirty="0">
                <a:ea typeface="Gulim" pitchFamily="34" charset="-127"/>
              </a:rPr>
              <a:t>Branching factor  B : max # of children</a:t>
            </a:r>
          </a:p>
          <a:p>
            <a:pPr lvl="1">
              <a:lnSpc>
                <a:spcPct val="80000"/>
              </a:lnSpc>
              <a:spcBef>
                <a:spcPct val="50000"/>
              </a:spcBef>
            </a:pPr>
            <a:r>
              <a:rPr lang="en-US" altLang="ko-KR" sz="2400" dirty="0">
                <a:ea typeface="Gulim" pitchFamily="34" charset="-127"/>
              </a:rPr>
              <a:t>Threshold L: max diameter of sub-clusters stored at the leaf nodes</a:t>
            </a:r>
          </a:p>
        </p:txBody>
      </p:sp>
      <p:sp>
        <p:nvSpPr>
          <p:cNvPr id="4"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CF-Tree in BIRCH</a:t>
            </a:r>
            <a:endParaRPr lang="en-US" altLang="zh-CN" sz="2400" b="1" dirty="0">
              <a:solidFill>
                <a:schemeClr val="tx2"/>
              </a:solidFill>
              <a:latin typeface="+mj-lt"/>
              <a:ea typeface="SimSun" pitchFamily="2" charset="-122"/>
            </a:endParaRP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a:xfrm>
            <a:off x="381000" y="1066800"/>
            <a:ext cx="8610600" cy="5257800"/>
          </a:xfrm>
        </p:spPr>
        <p:txBody>
          <a:bodyPr/>
          <a:lstStyle/>
          <a:p>
            <a:pPr eaLnBrk="1" hangingPunct="1"/>
            <a:r>
              <a:rPr lang="en-US" altLang="zh-CN" sz="2200" dirty="0">
                <a:ea typeface="SimSun" pitchFamily="2" charset="-122"/>
              </a:rPr>
              <a:t>Cluster Diameter</a:t>
            </a:r>
          </a:p>
          <a:p>
            <a:pPr eaLnBrk="1" hangingPunct="1"/>
            <a:endParaRPr lang="en-US" altLang="zh-CN" sz="2000" dirty="0">
              <a:ea typeface="SimSun" pitchFamily="2" charset="-122"/>
            </a:endParaRPr>
          </a:p>
          <a:p>
            <a:pPr eaLnBrk="1" hangingPunct="1"/>
            <a:endParaRPr lang="en-US" altLang="zh-CN" sz="2000" dirty="0">
              <a:ea typeface="SimSun" pitchFamily="2" charset="-122"/>
            </a:endParaRPr>
          </a:p>
          <a:p>
            <a:pPr eaLnBrk="1" hangingPunct="1"/>
            <a:r>
              <a:rPr lang="en-US" altLang="zh-CN" sz="2200" dirty="0">
                <a:ea typeface="SimSun" pitchFamily="2" charset="-122"/>
              </a:rPr>
              <a:t>For each point in the input</a:t>
            </a:r>
          </a:p>
          <a:p>
            <a:pPr lvl="1" eaLnBrk="1" hangingPunct="1"/>
            <a:r>
              <a:rPr lang="en-US" altLang="zh-CN" sz="2200" dirty="0">
                <a:ea typeface="SimSun" pitchFamily="2" charset="-122"/>
              </a:rPr>
              <a:t>Find closest leaf entry</a:t>
            </a:r>
          </a:p>
          <a:p>
            <a:pPr lvl="1" eaLnBrk="1" hangingPunct="1"/>
            <a:r>
              <a:rPr lang="en-US" altLang="zh-CN" sz="2200" dirty="0">
                <a:ea typeface="SimSun" pitchFamily="2" charset="-122"/>
              </a:rPr>
              <a:t>Add point to leaf entry and update CF </a:t>
            </a:r>
          </a:p>
          <a:p>
            <a:pPr lvl="1" eaLnBrk="1" hangingPunct="1"/>
            <a:r>
              <a:rPr lang="en-US" altLang="zh-CN" sz="2200" dirty="0">
                <a:ea typeface="SimSun" pitchFamily="2" charset="-122"/>
              </a:rPr>
              <a:t>If entry diameter &gt; </a:t>
            </a:r>
            <a:r>
              <a:rPr lang="en-US" altLang="zh-CN" sz="2200" dirty="0" err="1">
                <a:ea typeface="SimSun" pitchFamily="2" charset="-122"/>
              </a:rPr>
              <a:t>max_diameter</a:t>
            </a:r>
            <a:r>
              <a:rPr lang="en-US" altLang="zh-CN" sz="2200" dirty="0">
                <a:ea typeface="SimSun" pitchFamily="2" charset="-122"/>
              </a:rPr>
              <a:t>, then split leaf, and possibly parents</a:t>
            </a:r>
          </a:p>
          <a:p>
            <a:pPr eaLnBrk="1" hangingPunct="1"/>
            <a:r>
              <a:rPr lang="en-US" altLang="zh-CN" sz="2200" dirty="0">
                <a:ea typeface="SimSun" pitchFamily="2" charset="-122"/>
              </a:rPr>
              <a:t>Algorithm is O(n)</a:t>
            </a:r>
          </a:p>
          <a:p>
            <a:pPr eaLnBrk="1" hangingPunct="1"/>
            <a:r>
              <a:rPr lang="en-US" altLang="zh-CN" sz="2200" b="1" i="1" dirty="0">
                <a:ea typeface="SimSun" pitchFamily="2" charset="-122"/>
              </a:rPr>
              <a:t>Weakness</a:t>
            </a:r>
          </a:p>
          <a:p>
            <a:pPr lvl="1" eaLnBrk="1" hangingPunct="1"/>
            <a:r>
              <a:rPr lang="en-US" altLang="zh-CN" sz="2200" dirty="0">
                <a:ea typeface="SimSun" pitchFamily="2" charset="-122"/>
              </a:rPr>
              <a:t>Sensitive to insertion order of data points</a:t>
            </a:r>
          </a:p>
          <a:p>
            <a:pPr lvl="1" eaLnBrk="1" hangingPunct="1"/>
            <a:r>
              <a:rPr lang="en-US" altLang="zh-CN" sz="2200" dirty="0">
                <a:ea typeface="SimSun" pitchFamily="2" charset="-122"/>
              </a:rPr>
              <a:t>Since we fix the size of leaf nodes, so clusters may not be so natural</a:t>
            </a:r>
          </a:p>
          <a:p>
            <a:pPr lvl="1" eaLnBrk="1" hangingPunct="1"/>
            <a:r>
              <a:rPr lang="en-US" altLang="zh-CN" sz="2200" dirty="0">
                <a:ea typeface="SimSun" pitchFamily="2" charset="-122"/>
              </a:rPr>
              <a:t>Clusters tend to be spherical given the radius and diameter measures</a:t>
            </a:r>
          </a:p>
        </p:txBody>
      </p:sp>
      <p:graphicFrame>
        <p:nvGraphicFramePr>
          <p:cNvPr id="45060" name="Object 4"/>
          <p:cNvGraphicFramePr>
            <a:graphicFrameLocks noChangeAspect="1"/>
          </p:cNvGraphicFramePr>
          <p:nvPr/>
        </p:nvGraphicFramePr>
        <p:xfrm>
          <a:off x="3276600" y="1371600"/>
          <a:ext cx="3771900" cy="938213"/>
        </p:xfrm>
        <a:graphic>
          <a:graphicData uri="http://schemas.openxmlformats.org/presentationml/2006/ole">
            <mc:AlternateContent xmlns:mc="http://schemas.openxmlformats.org/markup-compatibility/2006">
              <mc:Choice xmlns:v="urn:schemas-microsoft-com:vml" Requires="v">
                <p:oleObj name="Equation" r:id="rId3" imgW="1459866" imgH="495085" progId="Equation.3">
                  <p:embed/>
                </p:oleObj>
              </mc:Choice>
              <mc:Fallback>
                <p:oleObj name="Equation" r:id="rId3" imgW="1459866" imgH="49508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371600"/>
                        <a:ext cx="3771900"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BIRCH Algorithm</a:t>
            </a:r>
            <a:endParaRPr lang="en-US" altLang="zh-CN" sz="2400" b="1" dirty="0">
              <a:solidFill>
                <a:schemeClr val="tx2"/>
              </a:solidFill>
              <a:latin typeface="+mj-lt"/>
              <a:ea typeface="SimSun" pitchFamily="2" charset="-122"/>
            </a:endParaRPr>
          </a:p>
        </p:txBody>
      </p:sp>
      <p:sp>
        <p:nvSpPr>
          <p:cNvPr id="7" name="Slide Number Placeholder 6"/>
          <p:cNvSpPr>
            <a:spLocks noGrp="1"/>
          </p:cNvSpPr>
          <p:nvPr>
            <p:ph type="sldNum" sz="quarter" idx="11"/>
          </p:nvPr>
        </p:nvSpPr>
        <p:spPr/>
        <p:txBody>
          <a:bodyPr/>
          <a:lstStyle/>
          <a:p>
            <a:pPr>
              <a:defRPr/>
            </a:pPr>
            <a:fld id="{4635AE12-246C-49B1-92D7-252397D611F1}" type="slidenum">
              <a:rPr lang="en-US" smtClean="0"/>
              <a:pPr>
                <a:defRPr/>
              </a:pPr>
              <a:t>18</a:t>
            </a:fld>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Autofit/>
          </a:bodyPr>
          <a:lstStyle/>
          <a:p>
            <a:r>
              <a:rPr lang="en-US" altLang="zh-CN" sz="3600" dirty="0">
                <a:solidFill>
                  <a:schemeClr val="tx2"/>
                </a:solidFill>
                <a:latin typeface="+mj-lt"/>
                <a:ea typeface="SimSun" pitchFamily="2" charset="-122"/>
              </a:rPr>
              <a:t>CHAMELEON: Hierarchical Clustering Using Dynamic Modeling (1999)</a:t>
            </a:r>
            <a:endParaRPr lang="en-US" altLang="zh-CN" sz="3600" b="1" dirty="0">
              <a:solidFill>
                <a:schemeClr val="tx2"/>
              </a:solidFill>
              <a:latin typeface="+mj-lt"/>
              <a:ea typeface="SimSun" pitchFamily="2" charset="-122"/>
            </a:endParaRPr>
          </a:p>
        </p:txBody>
      </p:sp>
      <p:sp>
        <p:nvSpPr>
          <p:cNvPr id="46083" name="Rectangle 3"/>
          <p:cNvSpPr>
            <a:spLocks noGrp="1" noChangeArrowheads="1"/>
          </p:cNvSpPr>
          <p:nvPr>
            <p:ph type="body" idx="1"/>
          </p:nvPr>
        </p:nvSpPr>
        <p:spPr>
          <a:xfrm>
            <a:off x="228600" y="1371600"/>
            <a:ext cx="8610600" cy="5257800"/>
          </a:xfrm>
        </p:spPr>
        <p:txBody>
          <a:bodyPr lIns="92075" tIns="46038" rIns="92075" bIns="46038"/>
          <a:lstStyle/>
          <a:p>
            <a:pPr marL="457200" indent="-457200" eaLnBrk="1" hangingPunct="1">
              <a:lnSpc>
                <a:spcPct val="110000"/>
              </a:lnSpc>
            </a:pPr>
            <a:r>
              <a:rPr lang="en-US" altLang="zh-CN" sz="2400" dirty="0">
                <a:ea typeface="SimSun" pitchFamily="2" charset="-122"/>
              </a:rPr>
              <a:t>CHAMELEON: G. </a:t>
            </a:r>
            <a:r>
              <a:rPr lang="en-US" altLang="zh-CN" sz="2400" dirty="0" err="1">
                <a:ea typeface="SimSun" pitchFamily="2" charset="-122"/>
              </a:rPr>
              <a:t>Karypis</a:t>
            </a:r>
            <a:r>
              <a:rPr lang="en-US" altLang="zh-CN" sz="2400" dirty="0">
                <a:ea typeface="SimSun" pitchFamily="2" charset="-122"/>
              </a:rPr>
              <a:t>, E. H. Han, and V. Kumar, 1999 </a:t>
            </a:r>
          </a:p>
          <a:p>
            <a:pPr marL="457200" indent="-457200" eaLnBrk="1" hangingPunct="1">
              <a:lnSpc>
                <a:spcPct val="110000"/>
              </a:lnSpc>
            </a:pPr>
            <a:r>
              <a:rPr lang="en-US" altLang="zh-CN" sz="2400" dirty="0">
                <a:ea typeface="SimSun" pitchFamily="2" charset="-122"/>
              </a:rPr>
              <a:t>Measures the similarity based on a dynamic model</a:t>
            </a:r>
          </a:p>
          <a:p>
            <a:pPr marL="914400" lvl="1" indent="-457200" eaLnBrk="1" hangingPunct="1">
              <a:lnSpc>
                <a:spcPct val="110000"/>
              </a:lnSpc>
            </a:pPr>
            <a:r>
              <a:rPr lang="en-US" altLang="zh-CN" sz="2400" dirty="0">
                <a:ea typeface="SimSun" pitchFamily="2" charset="-122"/>
              </a:rPr>
              <a:t>Two clusters are merged only if the </a:t>
            </a:r>
            <a:r>
              <a:rPr lang="en-US" altLang="zh-CN" sz="2400" i="1" dirty="0">
                <a:solidFill>
                  <a:schemeClr val="hlink"/>
                </a:solidFill>
                <a:ea typeface="SimSun" pitchFamily="2" charset="-122"/>
              </a:rPr>
              <a:t>interconnectivity</a:t>
            </a:r>
            <a:r>
              <a:rPr lang="en-US" altLang="zh-CN" sz="2400" dirty="0">
                <a:solidFill>
                  <a:schemeClr val="hlink"/>
                </a:solidFill>
                <a:ea typeface="SimSun" pitchFamily="2" charset="-122"/>
              </a:rPr>
              <a:t> </a:t>
            </a:r>
            <a:r>
              <a:rPr lang="en-US" altLang="zh-CN" sz="2400" dirty="0">
                <a:ea typeface="SimSun" pitchFamily="2" charset="-122"/>
              </a:rPr>
              <a:t>and </a:t>
            </a:r>
            <a:r>
              <a:rPr lang="en-US" altLang="zh-CN" sz="2400" i="1" dirty="0">
                <a:solidFill>
                  <a:schemeClr val="hlink"/>
                </a:solidFill>
                <a:ea typeface="SimSun" pitchFamily="2" charset="-122"/>
              </a:rPr>
              <a:t>closeness (proximity)</a:t>
            </a:r>
            <a:r>
              <a:rPr lang="en-US" altLang="zh-CN" sz="2400" dirty="0">
                <a:ea typeface="SimSun" pitchFamily="2" charset="-122"/>
              </a:rPr>
              <a:t> between two clusters are high </a:t>
            </a:r>
            <a:r>
              <a:rPr lang="en-US" altLang="zh-CN" sz="2400" i="1" dirty="0">
                <a:ea typeface="SimSun" pitchFamily="2" charset="-122"/>
              </a:rPr>
              <a:t>relative to</a:t>
            </a:r>
            <a:r>
              <a:rPr lang="en-US" altLang="zh-CN" sz="2400" dirty="0">
                <a:ea typeface="SimSun" pitchFamily="2" charset="-122"/>
              </a:rPr>
              <a:t> the internal interconnectivity of the clusters and closeness of items within the clusters </a:t>
            </a:r>
          </a:p>
          <a:p>
            <a:pPr marL="457200" indent="-457200" eaLnBrk="1" hangingPunct="1">
              <a:lnSpc>
                <a:spcPct val="110000"/>
              </a:lnSpc>
            </a:pPr>
            <a:r>
              <a:rPr lang="en-US" altLang="zh-CN" sz="2400" dirty="0">
                <a:ea typeface="SimSun" pitchFamily="2" charset="-122"/>
              </a:rPr>
              <a:t>Graph-based, and a </a:t>
            </a:r>
            <a:r>
              <a:rPr lang="en-US" altLang="zh-CN" sz="2400" i="1" dirty="0">
                <a:solidFill>
                  <a:srgbClr val="FF0000"/>
                </a:solidFill>
                <a:ea typeface="SimSun" pitchFamily="2" charset="-122"/>
              </a:rPr>
              <a:t>two-phase</a:t>
            </a:r>
            <a:r>
              <a:rPr lang="en-US" altLang="zh-CN" sz="2400" dirty="0">
                <a:ea typeface="SimSun" pitchFamily="2" charset="-122"/>
              </a:rPr>
              <a:t> algorithm</a:t>
            </a:r>
          </a:p>
          <a:p>
            <a:pPr marL="914400" lvl="1" indent="-457200" eaLnBrk="1" hangingPunct="1">
              <a:lnSpc>
                <a:spcPct val="110000"/>
              </a:lnSpc>
              <a:buSzTx/>
              <a:buFont typeface="Wingdings" pitchFamily="2" charset="2"/>
              <a:buAutoNum type="arabicPeriod"/>
            </a:pPr>
            <a:r>
              <a:rPr lang="en-US" altLang="zh-CN" sz="2400" dirty="0">
                <a:ea typeface="SimSun" pitchFamily="2" charset="-122"/>
              </a:rPr>
              <a:t>Use a graph-partitioning algorithm: Cluster objects into a large number of relatively small sub-clusters</a:t>
            </a:r>
          </a:p>
          <a:p>
            <a:pPr marL="914400" lvl="1" indent="-457200" eaLnBrk="1" hangingPunct="1">
              <a:lnSpc>
                <a:spcPct val="110000"/>
              </a:lnSpc>
              <a:buSzTx/>
              <a:buFont typeface="Wingdings" pitchFamily="2" charset="2"/>
              <a:buAutoNum type="arabicPeriod"/>
            </a:pPr>
            <a:r>
              <a:rPr lang="en-US" altLang="zh-CN" sz="2400" dirty="0">
                <a:ea typeface="SimSun" pitchFamily="2" charset="-122"/>
              </a:rPr>
              <a:t>Use an </a:t>
            </a:r>
            <a:r>
              <a:rPr lang="en-US" altLang="zh-CN" sz="2400" i="1" dirty="0">
                <a:solidFill>
                  <a:srgbClr val="FF0000"/>
                </a:solidFill>
                <a:ea typeface="SimSun" pitchFamily="2" charset="-122"/>
              </a:rPr>
              <a:t>Agglomerative hierarchical clustering </a:t>
            </a:r>
            <a:r>
              <a:rPr lang="en-US" altLang="zh-CN" sz="2400" dirty="0">
                <a:ea typeface="SimSun" pitchFamily="2" charset="-122"/>
              </a:rPr>
              <a:t>algorithm: find the genuine clusters by repeatedly combining these sub-clusters</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r>
              <a:rPr lang="en-US" altLang="zh-CN" sz="3600" dirty="0">
                <a:solidFill>
                  <a:schemeClr val="tx2"/>
                </a:solidFill>
                <a:latin typeface="+mj-lt"/>
                <a:ea typeface="SimSun" pitchFamily="2" charset="-122"/>
              </a:rPr>
              <a:t>Overall Framework of CHAMELEON</a:t>
            </a:r>
            <a:endParaRPr lang="en-US" altLang="zh-CN" sz="2400" b="1" dirty="0">
              <a:solidFill>
                <a:schemeClr val="tx2"/>
              </a:solidFill>
              <a:latin typeface="+mj-lt"/>
              <a:ea typeface="SimSun" pitchFamily="2" charset="-122"/>
            </a:endParaRPr>
          </a:p>
        </p:txBody>
      </p:sp>
      <p:sp>
        <p:nvSpPr>
          <p:cNvPr id="49154" name="Rectangle 2"/>
          <p:cNvSpPr>
            <a:spLocks noGrp="1" noChangeArrowheads="1"/>
          </p:cNvSpPr>
          <p:nvPr>
            <p:ph type="body" idx="1"/>
          </p:nvPr>
        </p:nvSpPr>
        <p:spPr>
          <a:xfrm>
            <a:off x="-609600" y="6858000"/>
            <a:ext cx="8382000" cy="304800"/>
          </a:xfrm>
        </p:spPr>
        <p:txBody>
          <a:bodyPr>
            <a:normAutofit fontScale="55000" lnSpcReduction="20000"/>
          </a:bodyPr>
          <a:lstStyle/>
          <a:p>
            <a:pPr eaLnBrk="1" hangingPunct="1">
              <a:buFont typeface="Wingdings" pitchFamily="2" charset="2"/>
              <a:buNone/>
            </a:pPr>
            <a:endParaRPr lang="zh-CN" altLang="en-US">
              <a:ea typeface="SimSun" pitchFamily="2" charset="-122"/>
            </a:endParaRPr>
          </a:p>
          <a:p>
            <a:pPr eaLnBrk="1" hangingPunct="1">
              <a:buFont typeface="Wingdings" pitchFamily="2" charset="2"/>
              <a:buNone/>
            </a:pPr>
            <a:endParaRPr lang="zh-CN" altLang="en-US">
              <a:ea typeface="SimSun" pitchFamily="2" charset="-122"/>
            </a:endParaRPr>
          </a:p>
          <a:p>
            <a:pPr eaLnBrk="1" hangingPunct="1">
              <a:buFont typeface="Wingdings" pitchFamily="2" charset="2"/>
              <a:buNone/>
            </a:pPr>
            <a:endParaRPr lang="zh-CN" altLang="en-US">
              <a:ea typeface="SimSun" pitchFamily="2" charset="-122"/>
            </a:endParaRPr>
          </a:p>
        </p:txBody>
      </p:sp>
      <p:sp>
        <p:nvSpPr>
          <p:cNvPr id="49155" name="Oval 159"/>
          <p:cNvSpPr>
            <a:spLocks noChangeArrowheads="1"/>
          </p:cNvSpPr>
          <p:nvPr/>
        </p:nvSpPr>
        <p:spPr bwMode="auto">
          <a:xfrm>
            <a:off x="6019800" y="41148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157" name="AutoShape 211"/>
          <p:cNvSpPr>
            <a:spLocks noChangeArrowheads="1"/>
          </p:cNvSpPr>
          <p:nvPr/>
        </p:nvSpPr>
        <p:spPr bwMode="auto">
          <a:xfrm>
            <a:off x="76200" y="1828800"/>
            <a:ext cx="685800" cy="1066800"/>
          </a:xfrm>
          <a:prstGeom prst="flowChartMagneticDisk">
            <a:avLst/>
          </a:prstGeom>
          <a:solidFill>
            <a:srgbClr val="FFFFFF"/>
          </a:solidFill>
          <a:ln w="9525">
            <a:solidFill>
              <a:schemeClr val="tx1"/>
            </a:solidFill>
            <a:round/>
            <a:headEnd/>
            <a:tailEnd/>
          </a:ln>
        </p:spPr>
        <p:txBody>
          <a:bodyPr wrap="none" anchor="ctr"/>
          <a:lstStyle/>
          <a:p>
            <a:endParaRPr lang="zh-CN" altLang="zh-CN">
              <a:ea typeface="SimSun" pitchFamily="2" charset="-122"/>
            </a:endParaRPr>
          </a:p>
        </p:txBody>
      </p:sp>
      <p:sp>
        <p:nvSpPr>
          <p:cNvPr id="49158" name="Line 212"/>
          <p:cNvSpPr>
            <a:spLocks noChangeShapeType="1"/>
          </p:cNvSpPr>
          <p:nvPr/>
        </p:nvSpPr>
        <p:spPr bwMode="auto">
          <a:xfrm>
            <a:off x="838200" y="2362200"/>
            <a:ext cx="990600" cy="0"/>
          </a:xfrm>
          <a:prstGeom prst="line">
            <a:avLst/>
          </a:prstGeom>
          <a:noFill/>
          <a:ln w="9525">
            <a:solidFill>
              <a:schemeClr val="tx1"/>
            </a:solidFill>
            <a:round/>
            <a:headEnd/>
            <a:tailEnd type="triangle" w="med" len="med"/>
          </a:ln>
        </p:spPr>
        <p:txBody>
          <a:bodyPr/>
          <a:lstStyle/>
          <a:p>
            <a:endParaRPr lang="en-US"/>
          </a:p>
        </p:txBody>
      </p:sp>
      <p:sp>
        <p:nvSpPr>
          <p:cNvPr id="49159" name="Text Box 213"/>
          <p:cNvSpPr txBox="1">
            <a:spLocks noChangeArrowheads="1"/>
          </p:cNvSpPr>
          <p:nvPr/>
        </p:nvSpPr>
        <p:spPr bwMode="auto">
          <a:xfrm>
            <a:off x="762000" y="1524000"/>
            <a:ext cx="1752600" cy="630238"/>
          </a:xfrm>
          <a:prstGeom prst="rect">
            <a:avLst/>
          </a:prstGeom>
          <a:noFill/>
          <a:ln w="9525">
            <a:noFill/>
            <a:miter lim="800000"/>
            <a:headEnd/>
            <a:tailEnd/>
          </a:ln>
        </p:spPr>
        <p:txBody>
          <a:bodyPr>
            <a:spAutoFit/>
          </a:bodyPr>
          <a:lstStyle/>
          <a:p>
            <a:pPr eaLnBrk="0" hangingPunct="0">
              <a:spcBef>
                <a:spcPct val="50000"/>
              </a:spcBef>
            </a:pPr>
            <a:r>
              <a:rPr lang="en-US" altLang="zh-CN" sz="1400" b="1">
                <a:latin typeface="Times New Roman" pitchFamily="18" charset="0"/>
                <a:ea typeface="SimSun" pitchFamily="2" charset="-122"/>
              </a:rPr>
              <a:t>Construct (K-NN)</a:t>
            </a:r>
          </a:p>
          <a:p>
            <a:pPr eaLnBrk="0" hangingPunct="0">
              <a:spcBef>
                <a:spcPct val="50000"/>
              </a:spcBef>
            </a:pPr>
            <a:r>
              <a:rPr lang="en-US" altLang="zh-CN" sz="1400" b="1">
                <a:latin typeface="Times New Roman" pitchFamily="18" charset="0"/>
                <a:ea typeface="SimSun" pitchFamily="2" charset="-122"/>
              </a:rPr>
              <a:t>Sparse Graph</a:t>
            </a:r>
          </a:p>
        </p:txBody>
      </p:sp>
      <p:sp>
        <p:nvSpPr>
          <p:cNvPr id="49160" name="Line 214"/>
          <p:cNvSpPr>
            <a:spLocks noChangeShapeType="1"/>
          </p:cNvSpPr>
          <p:nvPr/>
        </p:nvSpPr>
        <p:spPr bwMode="auto">
          <a:xfrm>
            <a:off x="4953000" y="2438400"/>
            <a:ext cx="990600" cy="0"/>
          </a:xfrm>
          <a:prstGeom prst="line">
            <a:avLst/>
          </a:prstGeom>
          <a:noFill/>
          <a:ln w="9525">
            <a:solidFill>
              <a:schemeClr val="tx1"/>
            </a:solidFill>
            <a:round/>
            <a:headEnd/>
            <a:tailEnd type="triangle" w="med" len="med"/>
          </a:ln>
        </p:spPr>
        <p:txBody>
          <a:bodyPr/>
          <a:lstStyle/>
          <a:p>
            <a:endParaRPr lang="en-US"/>
          </a:p>
        </p:txBody>
      </p:sp>
      <p:sp>
        <p:nvSpPr>
          <p:cNvPr id="49161" name="Text Box 215"/>
          <p:cNvSpPr txBox="1">
            <a:spLocks noChangeArrowheads="1"/>
          </p:cNvSpPr>
          <p:nvPr/>
        </p:nvSpPr>
        <p:spPr bwMode="auto">
          <a:xfrm>
            <a:off x="4724400" y="1828800"/>
            <a:ext cx="1752600" cy="304800"/>
          </a:xfrm>
          <a:prstGeom prst="rect">
            <a:avLst/>
          </a:prstGeom>
          <a:noFill/>
          <a:ln w="9525">
            <a:noFill/>
            <a:miter lim="800000"/>
            <a:headEnd/>
            <a:tailEnd/>
          </a:ln>
        </p:spPr>
        <p:txBody>
          <a:bodyPr>
            <a:spAutoFit/>
          </a:bodyPr>
          <a:lstStyle/>
          <a:p>
            <a:pPr eaLnBrk="0" hangingPunct="0">
              <a:spcBef>
                <a:spcPct val="50000"/>
              </a:spcBef>
            </a:pPr>
            <a:r>
              <a:rPr lang="en-US" altLang="zh-CN" sz="1400" b="1">
                <a:latin typeface="Times New Roman" pitchFamily="18" charset="0"/>
                <a:ea typeface="SimSun" pitchFamily="2" charset="-122"/>
              </a:rPr>
              <a:t>Partition the Graph</a:t>
            </a:r>
          </a:p>
        </p:txBody>
      </p:sp>
      <p:sp>
        <p:nvSpPr>
          <p:cNvPr id="49162" name="Text Box 218"/>
          <p:cNvSpPr txBox="1">
            <a:spLocks noChangeArrowheads="1"/>
          </p:cNvSpPr>
          <p:nvPr/>
        </p:nvSpPr>
        <p:spPr bwMode="auto">
          <a:xfrm>
            <a:off x="7086600" y="4267200"/>
            <a:ext cx="1752600" cy="304800"/>
          </a:xfrm>
          <a:prstGeom prst="rect">
            <a:avLst/>
          </a:prstGeom>
          <a:noFill/>
          <a:ln w="9525">
            <a:noFill/>
            <a:miter lim="800000"/>
            <a:headEnd/>
            <a:tailEnd/>
          </a:ln>
        </p:spPr>
        <p:txBody>
          <a:bodyPr>
            <a:spAutoFit/>
          </a:bodyPr>
          <a:lstStyle/>
          <a:p>
            <a:pPr eaLnBrk="0" hangingPunct="0">
              <a:spcBef>
                <a:spcPct val="50000"/>
              </a:spcBef>
            </a:pPr>
            <a:r>
              <a:rPr lang="en-US" altLang="zh-CN" sz="1400" b="1">
                <a:latin typeface="Times New Roman" pitchFamily="18" charset="0"/>
                <a:ea typeface="SimSun" pitchFamily="2" charset="-122"/>
              </a:rPr>
              <a:t>Merge Partition</a:t>
            </a:r>
          </a:p>
        </p:txBody>
      </p:sp>
      <p:sp>
        <p:nvSpPr>
          <p:cNvPr id="49163" name="Line 219"/>
          <p:cNvSpPr>
            <a:spLocks noChangeShapeType="1"/>
          </p:cNvSpPr>
          <p:nvPr/>
        </p:nvSpPr>
        <p:spPr bwMode="auto">
          <a:xfrm>
            <a:off x="8229600" y="2438400"/>
            <a:ext cx="533400" cy="0"/>
          </a:xfrm>
          <a:prstGeom prst="line">
            <a:avLst/>
          </a:prstGeom>
          <a:noFill/>
          <a:ln w="9525">
            <a:solidFill>
              <a:schemeClr val="tx1"/>
            </a:solidFill>
            <a:round/>
            <a:headEnd/>
            <a:tailEnd type="triangle" w="med" len="med"/>
          </a:ln>
        </p:spPr>
        <p:txBody>
          <a:bodyPr/>
          <a:lstStyle/>
          <a:p>
            <a:endParaRPr lang="en-US"/>
          </a:p>
        </p:txBody>
      </p:sp>
      <p:sp>
        <p:nvSpPr>
          <p:cNvPr id="49164" name="Line 220"/>
          <p:cNvSpPr>
            <a:spLocks noChangeShapeType="1"/>
          </p:cNvSpPr>
          <p:nvPr/>
        </p:nvSpPr>
        <p:spPr bwMode="auto">
          <a:xfrm>
            <a:off x="8763000" y="2438400"/>
            <a:ext cx="0" cy="2286000"/>
          </a:xfrm>
          <a:prstGeom prst="line">
            <a:avLst/>
          </a:prstGeom>
          <a:noFill/>
          <a:ln w="9525">
            <a:solidFill>
              <a:schemeClr val="tx1"/>
            </a:solidFill>
            <a:round/>
            <a:headEnd/>
            <a:tailEnd type="triangle" w="med" len="med"/>
          </a:ln>
        </p:spPr>
        <p:txBody>
          <a:bodyPr/>
          <a:lstStyle/>
          <a:p>
            <a:endParaRPr lang="en-US"/>
          </a:p>
        </p:txBody>
      </p:sp>
      <p:sp>
        <p:nvSpPr>
          <p:cNvPr id="49165" name="Line 221"/>
          <p:cNvSpPr>
            <a:spLocks noChangeShapeType="1"/>
          </p:cNvSpPr>
          <p:nvPr/>
        </p:nvSpPr>
        <p:spPr bwMode="auto">
          <a:xfrm flipH="1">
            <a:off x="6781800" y="4648200"/>
            <a:ext cx="1981200" cy="0"/>
          </a:xfrm>
          <a:prstGeom prst="line">
            <a:avLst/>
          </a:prstGeom>
          <a:noFill/>
          <a:ln w="9525">
            <a:solidFill>
              <a:schemeClr val="tx1"/>
            </a:solidFill>
            <a:round/>
            <a:headEnd/>
            <a:tailEnd type="triangle" w="med" len="med"/>
          </a:ln>
        </p:spPr>
        <p:txBody>
          <a:bodyPr/>
          <a:lstStyle/>
          <a:p>
            <a:endParaRPr lang="en-US"/>
          </a:p>
        </p:txBody>
      </p:sp>
      <p:sp>
        <p:nvSpPr>
          <p:cNvPr id="49166" name="Text Box 222"/>
          <p:cNvSpPr txBox="1">
            <a:spLocks noChangeArrowheads="1"/>
          </p:cNvSpPr>
          <p:nvPr/>
        </p:nvSpPr>
        <p:spPr bwMode="auto">
          <a:xfrm>
            <a:off x="3429000" y="5715000"/>
            <a:ext cx="1752600" cy="304800"/>
          </a:xfrm>
          <a:prstGeom prst="rect">
            <a:avLst/>
          </a:prstGeom>
          <a:noFill/>
          <a:ln w="9525">
            <a:noFill/>
            <a:miter lim="800000"/>
            <a:headEnd/>
            <a:tailEnd/>
          </a:ln>
        </p:spPr>
        <p:txBody>
          <a:bodyPr>
            <a:spAutoFit/>
          </a:bodyPr>
          <a:lstStyle/>
          <a:p>
            <a:pPr eaLnBrk="0" hangingPunct="0">
              <a:spcBef>
                <a:spcPct val="50000"/>
              </a:spcBef>
            </a:pPr>
            <a:r>
              <a:rPr lang="en-US" altLang="zh-CN" sz="1400" b="1">
                <a:latin typeface="Times New Roman" pitchFamily="18" charset="0"/>
                <a:ea typeface="SimSun" pitchFamily="2" charset="-122"/>
              </a:rPr>
              <a:t>Final Clusters</a:t>
            </a:r>
          </a:p>
        </p:txBody>
      </p:sp>
      <p:sp>
        <p:nvSpPr>
          <p:cNvPr id="49167" name="Text Box 224"/>
          <p:cNvSpPr txBox="1">
            <a:spLocks noChangeArrowheads="1"/>
          </p:cNvSpPr>
          <p:nvPr/>
        </p:nvSpPr>
        <p:spPr bwMode="auto">
          <a:xfrm>
            <a:off x="76200" y="3048000"/>
            <a:ext cx="1752600" cy="304800"/>
          </a:xfrm>
          <a:prstGeom prst="rect">
            <a:avLst/>
          </a:prstGeom>
          <a:noFill/>
          <a:ln w="9525">
            <a:noFill/>
            <a:miter lim="800000"/>
            <a:headEnd/>
            <a:tailEnd/>
          </a:ln>
        </p:spPr>
        <p:txBody>
          <a:bodyPr>
            <a:spAutoFit/>
          </a:bodyPr>
          <a:lstStyle/>
          <a:p>
            <a:pPr eaLnBrk="0" hangingPunct="0">
              <a:spcBef>
                <a:spcPct val="50000"/>
              </a:spcBef>
            </a:pPr>
            <a:r>
              <a:rPr lang="en-US" altLang="zh-CN" sz="1400" b="1">
                <a:latin typeface="Times New Roman" pitchFamily="18" charset="0"/>
                <a:ea typeface="SimSun" pitchFamily="2" charset="-122"/>
              </a:rPr>
              <a:t>Data Set</a:t>
            </a:r>
          </a:p>
        </p:txBody>
      </p:sp>
      <p:grpSp>
        <p:nvGrpSpPr>
          <p:cNvPr id="2" name="Group 271"/>
          <p:cNvGrpSpPr>
            <a:grpSpLocks/>
          </p:cNvGrpSpPr>
          <p:nvPr/>
        </p:nvGrpSpPr>
        <p:grpSpPr bwMode="auto">
          <a:xfrm>
            <a:off x="6019800" y="1536700"/>
            <a:ext cx="2057400" cy="2184400"/>
            <a:chOff x="6019800" y="1536700"/>
            <a:chExt cx="2057400" cy="2184400"/>
          </a:xfrm>
        </p:grpSpPr>
        <p:sp>
          <p:nvSpPr>
            <p:cNvPr id="49349" name="Oval 74"/>
            <p:cNvSpPr>
              <a:spLocks noChangeArrowheads="1"/>
            </p:cNvSpPr>
            <p:nvPr/>
          </p:nvSpPr>
          <p:spPr bwMode="auto">
            <a:xfrm>
              <a:off x="6248400" y="2438400"/>
              <a:ext cx="63500" cy="63500"/>
            </a:xfrm>
            <a:prstGeom prst="ellipse">
              <a:avLst/>
            </a:prstGeom>
            <a:solidFill>
              <a:schemeClr val="accent1"/>
            </a:solidFill>
            <a:ln w="12700">
              <a:solidFill>
                <a:schemeClr val="tx1"/>
              </a:solidFill>
              <a:round/>
              <a:headEnd/>
              <a:tailEnd/>
            </a:ln>
          </p:spPr>
          <p:txBody>
            <a:bodyPr wrap="none" anchor="ctr"/>
            <a:lstStyle/>
            <a:p>
              <a:endParaRPr lang="zh-CN" altLang="zh-CN">
                <a:ea typeface="SimSun" pitchFamily="2" charset="-122"/>
              </a:endParaRPr>
            </a:p>
          </p:txBody>
        </p:sp>
        <p:grpSp>
          <p:nvGrpSpPr>
            <p:cNvPr id="3" name="Group 75"/>
            <p:cNvGrpSpPr>
              <a:grpSpLocks/>
            </p:cNvGrpSpPr>
            <p:nvPr/>
          </p:nvGrpSpPr>
          <p:grpSpPr bwMode="auto">
            <a:xfrm>
              <a:off x="6553200" y="1905000"/>
              <a:ext cx="292100" cy="533400"/>
              <a:chOff x="4128" y="1200"/>
              <a:chExt cx="184" cy="336"/>
            </a:xfrm>
          </p:grpSpPr>
          <p:sp>
            <p:nvSpPr>
              <p:cNvPr id="49414" name="Oval 76"/>
              <p:cNvSpPr>
                <a:spLocks noChangeArrowheads="1"/>
              </p:cNvSpPr>
              <p:nvPr/>
            </p:nvSpPr>
            <p:spPr bwMode="auto">
              <a:xfrm>
                <a:off x="4224" y="1200"/>
                <a:ext cx="40" cy="40"/>
              </a:xfrm>
              <a:prstGeom prst="ellipse">
                <a:avLst/>
              </a:prstGeom>
              <a:solidFill>
                <a:srgbClr val="00FF00"/>
              </a:solidFill>
              <a:ln w="12700">
                <a:solidFill>
                  <a:schemeClr val="tx1"/>
                </a:solidFill>
                <a:round/>
                <a:headEnd/>
                <a:tailEnd/>
              </a:ln>
            </p:spPr>
            <p:txBody>
              <a:bodyPr wrap="none" anchor="ctr"/>
              <a:lstStyle/>
              <a:p>
                <a:endParaRPr lang="zh-CN" altLang="zh-CN">
                  <a:ea typeface="SimSun" pitchFamily="2" charset="-122"/>
                </a:endParaRPr>
              </a:p>
            </p:txBody>
          </p:sp>
          <p:sp>
            <p:nvSpPr>
              <p:cNvPr id="49415" name="Oval 77"/>
              <p:cNvSpPr>
                <a:spLocks noChangeArrowheads="1"/>
              </p:cNvSpPr>
              <p:nvPr/>
            </p:nvSpPr>
            <p:spPr bwMode="auto">
              <a:xfrm>
                <a:off x="4128" y="1296"/>
                <a:ext cx="40" cy="40"/>
              </a:xfrm>
              <a:prstGeom prst="ellipse">
                <a:avLst/>
              </a:prstGeom>
              <a:solidFill>
                <a:srgbClr val="00FF00"/>
              </a:solidFill>
              <a:ln w="12700">
                <a:solidFill>
                  <a:schemeClr val="tx1"/>
                </a:solidFill>
                <a:round/>
                <a:headEnd/>
                <a:tailEnd/>
              </a:ln>
            </p:spPr>
            <p:txBody>
              <a:bodyPr wrap="none" anchor="ctr"/>
              <a:lstStyle/>
              <a:p>
                <a:endParaRPr lang="zh-CN" altLang="zh-CN">
                  <a:ea typeface="SimSun" pitchFamily="2" charset="-122"/>
                </a:endParaRPr>
              </a:p>
            </p:txBody>
          </p:sp>
          <p:sp>
            <p:nvSpPr>
              <p:cNvPr id="49416" name="Oval 78"/>
              <p:cNvSpPr>
                <a:spLocks noChangeArrowheads="1"/>
              </p:cNvSpPr>
              <p:nvPr/>
            </p:nvSpPr>
            <p:spPr bwMode="auto">
              <a:xfrm>
                <a:off x="4272" y="1400"/>
                <a:ext cx="40" cy="40"/>
              </a:xfrm>
              <a:prstGeom prst="ellipse">
                <a:avLst/>
              </a:prstGeom>
              <a:solidFill>
                <a:srgbClr val="00FF00"/>
              </a:solidFill>
              <a:ln w="12700">
                <a:solidFill>
                  <a:schemeClr val="tx1"/>
                </a:solidFill>
                <a:round/>
                <a:headEnd/>
                <a:tailEnd/>
              </a:ln>
            </p:spPr>
            <p:txBody>
              <a:bodyPr wrap="none" anchor="ctr"/>
              <a:lstStyle/>
              <a:p>
                <a:endParaRPr lang="zh-CN" altLang="zh-CN">
                  <a:ea typeface="SimSun" pitchFamily="2" charset="-122"/>
                </a:endParaRPr>
              </a:p>
            </p:txBody>
          </p:sp>
          <p:sp>
            <p:nvSpPr>
              <p:cNvPr id="49417" name="Line 79"/>
              <p:cNvSpPr>
                <a:spLocks noChangeShapeType="1"/>
              </p:cNvSpPr>
              <p:nvPr/>
            </p:nvSpPr>
            <p:spPr bwMode="auto">
              <a:xfrm flipV="1">
                <a:off x="4176" y="1200"/>
                <a:ext cx="96" cy="96"/>
              </a:xfrm>
              <a:prstGeom prst="line">
                <a:avLst/>
              </a:prstGeom>
              <a:noFill/>
              <a:ln w="9525">
                <a:solidFill>
                  <a:srgbClr val="00FF00"/>
                </a:solidFill>
                <a:round/>
                <a:headEnd/>
                <a:tailEnd/>
              </a:ln>
            </p:spPr>
            <p:txBody>
              <a:bodyPr/>
              <a:lstStyle/>
              <a:p>
                <a:endParaRPr lang="en-US"/>
              </a:p>
            </p:txBody>
          </p:sp>
          <p:sp>
            <p:nvSpPr>
              <p:cNvPr id="49418" name="Line 80"/>
              <p:cNvSpPr>
                <a:spLocks noChangeShapeType="1"/>
              </p:cNvSpPr>
              <p:nvPr/>
            </p:nvSpPr>
            <p:spPr bwMode="auto">
              <a:xfrm>
                <a:off x="4128" y="1344"/>
                <a:ext cx="144" cy="48"/>
              </a:xfrm>
              <a:prstGeom prst="line">
                <a:avLst/>
              </a:prstGeom>
              <a:noFill/>
              <a:ln w="9525">
                <a:solidFill>
                  <a:srgbClr val="00FF00"/>
                </a:solidFill>
                <a:round/>
                <a:headEnd/>
                <a:tailEnd/>
              </a:ln>
            </p:spPr>
            <p:txBody>
              <a:bodyPr/>
              <a:lstStyle/>
              <a:p>
                <a:endParaRPr lang="en-US"/>
              </a:p>
            </p:txBody>
          </p:sp>
          <p:sp>
            <p:nvSpPr>
              <p:cNvPr id="49419" name="Line 81"/>
              <p:cNvSpPr>
                <a:spLocks noChangeShapeType="1"/>
              </p:cNvSpPr>
              <p:nvPr/>
            </p:nvSpPr>
            <p:spPr bwMode="auto">
              <a:xfrm>
                <a:off x="4272" y="1248"/>
                <a:ext cx="0" cy="192"/>
              </a:xfrm>
              <a:prstGeom prst="line">
                <a:avLst/>
              </a:prstGeom>
              <a:noFill/>
              <a:ln w="9525">
                <a:solidFill>
                  <a:srgbClr val="00FF00"/>
                </a:solidFill>
                <a:round/>
                <a:headEnd/>
                <a:tailEnd/>
              </a:ln>
            </p:spPr>
            <p:txBody>
              <a:bodyPr/>
              <a:lstStyle/>
              <a:p>
                <a:endParaRPr lang="en-US"/>
              </a:p>
            </p:txBody>
          </p:sp>
          <p:sp>
            <p:nvSpPr>
              <p:cNvPr id="49420" name="Oval 82"/>
              <p:cNvSpPr>
                <a:spLocks noChangeArrowheads="1"/>
              </p:cNvSpPr>
              <p:nvPr/>
            </p:nvSpPr>
            <p:spPr bwMode="auto">
              <a:xfrm>
                <a:off x="4136" y="1496"/>
                <a:ext cx="40" cy="40"/>
              </a:xfrm>
              <a:prstGeom prst="ellipse">
                <a:avLst/>
              </a:prstGeom>
              <a:solidFill>
                <a:srgbClr val="00FF00"/>
              </a:solidFill>
              <a:ln w="12700">
                <a:solidFill>
                  <a:schemeClr val="tx1"/>
                </a:solidFill>
                <a:round/>
                <a:headEnd/>
                <a:tailEnd/>
              </a:ln>
            </p:spPr>
            <p:txBody>
              <a:bodyPr wrap="none" anchor="ctr"/>
              <a:lstStyle/>
              <a:p>
                <a:endParaRPr lang="zh-CN" altLang="zh-CN">
                  <a:ea typeface="SimSun" pitchFamily="2" charset="-122"/>
                </a:endParaRPr>
              </a:p>
            </p:txBody>
          </p:sp>
          <p:sp>
            <p:nvSpPr>
              <p:cNvPr id="49421" name="Line 83"/>
              <p:cNvSpPr>
                <a:spLocks noChangeShapeType="1"/>
              </p:cNvSpPr>
              <p:nvPr/>
            </p:nvSpPr>
            <p:spPr bwMode="auto">
              <a:xfrm>
                <a:off x="4128" y="1344"/>
                <a:ext cx="48" cy="192"/>
              </a:xfrm>
              <a:prstGeom prst="line">
                <a:avLst/>
              </a:prstGeom>
              <a:noFill/>
              <a:ln w="9525">
                <a:solidFill>
                  <a:srgbClr val="00FF00"/>
                </a:solidFill>
                <a:round/>
                <a:headEnd/>
                <a:tailEnd/>
              </a:ln>
            </p:spPr>
            <p:txBody>
              <a:bodyPr/>
              <a:lstStyle/>
              <a:p>
                <a:endParaRPr lang="en-US"/>
              </a:p>
            </p:txBody>
          </p:sp>
          <p:sp>
            <p:nvSpPr>
              <p:cNvPr id="49422" name="Line 84"/>
              <p:cNvSpPr>
                <a:spLocks noChangeShapeType="1"/>
              </p:cNvSpPr>
              <p:nvPr/>
            </p:nvSpPr>
            <p:spPr bwMode="auto">
              <a:xfrm flipH="1">
                <a:off x="4176" y="1440"/>
                <a:ext cx="96" cy="48"/>
              </a:xfrm>
              <a:prstGeom prst="line">
                <a:avLst/>
              </a:prstGeom>
              <a:noFill/>
              <a:ln w="9525">
                <a:solidFill>
                  <a:srgbClr val="00FF00"/>
                </a:solidFill>
                <a:round/>
                <a:headEnd/>
                <a:tailEnd/>
              </a:ln>
            </p:spPr>
            <p:txBody>
              <a:bodyPr/>
              <a:lstStyle/>
              <a:p>
                <a:endParaRPr lang="en-US"/>
              </a:p>
            </p:txBody>
          </p:sp>
        </p:grpSp>
        <p:sp>
          <p:nvSpPr>
            <p:cNvPr id="49351" name="Oval 85"/>
            <p:cNvSpPr>
              <a:spLocks noChangeArrowheads="1"/>
            </p:cNvSpPr>
            <p:nvPr/>
          </p:nvSpPr>
          <p:spPr bwMode="auto">
            <a:xfrm>
              <a:off x="6337300" y="2679700"/>
              <a:ext cx="63500" cy="63500"/>
            </a:xfrm>
            <a:prstGeom prst="ellipse">
              <a:avLst/>
            </a:prstGeom>
            <a:solidFill>
              <a:schemeClr val="accent1"/>
            </a:solidFill>
            <a:ln w="12700">
              <a:solidFill>
                <a:schemeClr val="tx1"/>
              </a:solidFill>
              <a:round/>
              <a:headEnd/>
              <a:tailEnd/>
            </a:ln>
          </p:spPr>
          <p:txBody>
            <a:bodyPr wrap="none" anchor="ctr"/>
            <a:lstStyle/>
            <a:p>
              <a:endParaRPr lang="zh-CN" altLang="zh-CN">
                <a:ea typeface="SimSun" pitchFamily="2" charset="-122"/>
              </a:endParaRPr>
            </a:p>
          </p:txBody>
        </p:sp>
        <p:sp>
          <p:nvSpPr>
            <p:cNvPr id="49352" name="Oval 86"/>
            <p:cNvSpPr>
              <a:spLocks noChangeArrowheads="1"/>
            </p:cNvSpPr>
            <p:nvPr/>
          </p:nvSpPr>
          <p:spPr bwMode="auto">
            <a:xfrm>
              <a:off x="6019800" y="2667000"/>
              <a:ext cx="63500" cy="63500"/>
            </a:xfrm>
            <a:prstGeom prst="ellipse">
              <a:avLst/>
            </a:prstGeom>
            <a:solidFill>
              <a:schemeClr val="accent1"/>
            </a:solidFill>
            <a:ln w="12700">
              <a:solidFill>
                <a:schemeClr val="tx1"/>
              </a:solidFill>
              <a:round/>
              <a:headEnd/>
              <a:tailEnd/>
            </a:ln>
          </p:spPr>
          <p:txBody>
            <a:bodyPr wrap="none" anchor="ctr"/>
            <a:lstStyle/>
            <a:p>
              <a:endParaRPr lang="zh-CN" altLang="zh-CN">
                <a:ea typeface="SimSun" pitchFamily="2" charset="-122"/>
              </a:endParaRPr>
            </a:p>
          </p:txBody>
        </p:sp>
        <p:sp>
          <p:nvSpPr>
            <p:cNvPr id="49353" name="Oval 87"/>
            <p:cNvSpPr>
              <a:spLocks noChangeArrowheads="1"/>
            </p:cNvSpPr>
            <p:nvPr/>
          </p:nvSpPr>
          <p:spPr bwMode="auto">
            <a:xfrm>
              <a:off x="6705600" y="26797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54" name="Oval 88"/>
            <p:cNvSpPr>
              <a:spLocks noChangeArrowheads="1"/>
            </p:cNvSpPr>
            <p:nvPr/>
          </p:nvSpPr>
          <p:spPr bwMode="auto">
            <a:xfrm>
              <a:off x="6489700" y="29718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55" name="Oval 89"/>
            <p:cNvSpPr>
              <a:spLocks noChangeArrowheads="1"/>
            </p:cNvSpPr>
            <p:nvPr/>
          </p:nvSpPr>
          <p:spPr bwMode="auto">
            <a:xfrm>
              <a:off x="6553200" y="32893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56" name="Oval 90"/>
            <p:cNvSpPr>
              <a:spLocks noChangeArrowheads="1"/>
            </p:cNvSpPr>
            <p:nvPr/>
          </p:nvSpPr>
          <p:spPr bwMode="auto">
            <a:xfrm>
              <a:off x="6870700" y="31242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57" name="Line 91"/>
            <p:cNvSpPr>
              <a:spLocks noChangeShapeType="1"/>
            </p:cNvSpPr>
            <p:nvPr/>
          </p:nvSpPr>
          <p:spPr bwMode="auto">
            <a:xfrm>
              <a:off x="6248400" y="2438400"/>
              <a:ext cx="152400" cy="304800"/>
            </a:xfrm>
            <a:prstGeom prst="line">
              <a:avLst/>
            </a:prstGeom>
            <a:noFill/>
            <a:ln w="9525">
              <a:solidFill>
                <a:schemeClr val="accent1"/>
              </a:solidFill>
              <a:round/>
              <a:headEnd/>
              <a:tailEnd/>
            </a:ln>
          </p:spPr>
          <p:txBody>
            <a:bodyPr/>
            <a:lstStyle/>
            <a:p>
              <a:endParaRPr lang="en-US"/>
            </a:p>
          </p:txBody>
        </p:sp>
        <p:sp>
          <p:nvSpPr>
            <p:cNvPr id="49358" name="Line 92"/>
            <p:cNvSpPr>
              <a:spLocks noChangeShapeType="1"/>
            </p:cNvSpPr>
            <p:nvPr/>
          </p:nvSpPr>
          <p:spPr bwMode="auto">
            <a:xfrm flipH="1">
              <a:off x="6019800" y="2438400"/>
              <a:ext cx="228600" cy="228600"/>
            </a:xfrm>
            <a:prstGeom prst="line">
              <a:avLst/>
            </a:prstGeom>
            <a:noFill/>
            <a:ln w="9525">
              <a:solidFill>
                <a:schemeClr val="accent1"/>
              </a:solidFill>
              <a:round/>
              <a:headEnd/>
              <a:tailEnd/>
            </a:ln>
          </p:spPr>
          <p:txBody>
            <a:bodyPr/>
            <a:lstStyle/>
            <a:p>
              <a:endParaRPr lang="en-US"/>
            </a:p>
          </p:txBody>
        </p:sp>
        <p:sp>
          <p:nvSpPr>
            <p:cNvPr id="49359" name="Line 93"/>
            <p:cNvSpPr>
              <a:spLocks noChangeShapeType="1"/>
            </p:cNvSpPr>
            <p:nvPr/>
          </p:nvSpPr>
          <p:spPr bwMode="auto">
            <a:xfrm>
              <a:off x="6019800" y="2667000"/>
              <a:ext cx="381000" cy="76200"/>
            </a:xfrm>
            <a:prstGeom prst="line">
              <a:avLst/>
            </a:prstGeom>
            <a:noFill/>
            <a:ln w="9525">
              <a:solidFill>
                <a:schemeClr val="accent1"/>
              </a:solidFill>
              <a:round/>
              <a:headEnd/>
              <a:tailEnd/>
            </a:ln>
          </p:spPr>
          <p:txBody>
            <a:bodyPr/>
            <a:lstStyle/>
            <a:p>
              <a:endParaRPr lang="en-US"/>
            </a:p>
          </p:txBody>
        </p:sp>
        <p:sp>
          <p:nvSpPr>
            <p:cNvPr id="49360" name="Oval 94"/>
            <p:cNvSpPr>
              <a:spLocks noChangeArrowheads="1"/>
            </p:cNvSpPr>
            <p:nvPr/>
          </p:nvSpPr>
          <p:spPr bwMode="auto">
            <a:xfrm>
              <a:off x="7086600" y="29718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61" name="Oval 95"/>
            <p:cNvSpPr>
              <a:spLocks noChangeArrowheads="1"/>
            </p:cNvSpPr>
            <p:nvPr/>
          </p:nvSpPr>
          <p:spPr bwMode="auto">
            <a:xfrm>
              <a:off x="7099300" y="3289300"/>
              <a:ext cx="63500" cy="63500"/>
            </a:xfrm>
            <a:prstGeom prst="ellipse">
              <a:avLst/>
            </a:prstGeom>
            <a:solidFill>
              <a:schemeClr val="tx2"/>
            </a:solidFill>
            <a:ln w="12700">
              <a:solidFill>
                <a:schemeClr val="tx1"/>
              </a:solidFill>
              <a:round/>
              <a:headEnd/>
              <a:tailEnd/>
            </a:ln>
          </p:spPr>
          <p:txBody>
            <a:bodyPr wrap="none" anchor="ctr"/>
            <a:lstStyle/>
            <a:p>
              <a:endParaRPr lang="zh-CN" altLang="zh-CN">
                <a:ea typeface="SimSun" pitchFamily="2" charset="-122"/>
              </a:endParaRPr>
            </a:p>
          </p:txBody>
        </p:sp>
        <p:sp>
          <p:nvSpPr>
            <p:cNvPr id="49362" name="Oval 96"/>
            <p:cNvSpPr>
              <a:spLocks noChangeArrowheads="1"/>
            </p:cNvSpPr>
            <p:nvPr/>
          </p:nvSpPr>
          <p:spPr bwMode="auto">
            <a:xfrm>
              <a:off x="7251700" y="1676400"/>
              <a:ext cx="63500" cy="63500"/>
            </a:xfrm>
            <a:prstGeom prst="ellipse">
              <a:avLst/>
            </a:prstGeom>
            <a:solidFill>
              <a:srgbClr val="FFFF00"/>
            </a:solidFill>
            <a:ln w="12700">
              <a:solidFill>
                <a:srgbClr val="FFFF00"/>
              </a:solidFill>
              <a:round/>
              <a:headEnd/>
              <a:tailEnd/>
            </a:ln>
          </p:spPr>
          <p:txBody>
            <a:bodyPr wrap="none" anchor="ctr"/>
            <a:lstStyle/>
            <a:p>
              <a:endParaRPr lang="zh-CN" altLang="zh-CN">
                <a:ea typeface="SimSun" pitchFamily="2" charset="-122"/>
              </a:endParaRPr>
            </a:p>
          </p:txBody>
        </p:sp>
        <p:sp>
          <p:nvSpPr>
            <p:cNvPr id="49363" name="Oval 97"/>
            <p:cNvSpPr>
              <a:spLocks noChangeArrowheads="1"/>
            </p:cNvSpPr>
            <p:nvPr/>
          </p:nvSpPr>
          <p:spPr bwMode="auto">
            <a:xfrm>
              <a:off x="7086600" y="2333625"/>
              <a:ext cx="74613" cy="762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364" name="Oval 98"/>
            <p:cNvSpPr>
              <a:spLocks noChangeArrowheads="1"/>
            </p:cNvSpPr>
            <p:nvPr/>
          </p:nvSpPr>
          <p:spPr bwMode="auto">
            <a:xfrm>
              <a:off x="7467600" y="1536700"/>
              <a:ext cx="63500" cy="63500"/>
            </a:xfrm>
            <a:prstGeom prst="ellipse">
              <a:avLst/>
            </a:prstGeom>
            <a:solidFill>
              <a:srgbClr val="FFFF00"/>
            </a:solidFill>
            <a:ln w="12700">
              <a:solidFill>
                <a:srgbClr val="FFFF00"/>
              </a:solidFill>
              <a:round/>
              <a:headEnd/>
              <a:tailEnd/>
            </a:ln>
          </p:spPr>
          <p:txBody>
            <a:bodyPr wrap="none" anchor="ctr"/>
            <a:lstStyle/>
            <a:p>
              <a:endParaRPr lang="zh-CN" altLang="zh-CN">
                <a:ea typeface="SimSun" pitchFamily="2" charset="-122"/>
              </a:endParaRPr>
            </a:p>
          </p:txBody>
        </p:sp>
        <p:sp>
          <p:nvSpPr>
            <p:cNvPr id="49365" name="Oval 99"/>
            <p:cNvSpPr>
              <a:spLocks noChangeArrowheads="1"/>
            </p:cNvSpPr>
            <p:nvPr/>
          </p:nvSpPr>
          <p:spPr bwMode="auto">
            <a:xfrm>
              <a:off x="7467600" y="1828800"/>
              <a:ext cx="63500" cy="63500"/>
            </a:xfrm>
            <a:prstGeom prst="ellipse">
              <a:avLst/>
            </a:prstGeom>
            <a:solidFill>
              <a:srgbClr val="FFFF00"/>
            </a:solidFill>
            <a:ln w="12700">
              <a:solidFill>
                <a:srgbClr val="FFFF00"/>
              </a:solidFill>
              <a:round/>
              <a:headEnd/>
              <a:tailEnd/>
            </a:ln>
          </p:spPr>
          <p:txBody>
            <a:bodyPr wrap="none" anchor="ctr"/>
            <a:lstStyle/>
            <a:p>
              <a:endParaRPr lang="zh-CN" altLang="zh-CN">
                <a:ea typeface="SimSun" pitchFamily="2" charset="-122"/>
              </a:endParaRPr>
            </a:p>
          </p:txBody>
        </p:sp>
        <p:sp>
          <p:nvSpPr>
            <p:cNvPr id="49366" name="Oval 100"/>
            <p:cNvSpPr>
              <a:spLocks noChangeArrowheads="1"/>
            </p:cNvSpPr>
            <p:nvPr/>
          </p:nvSpPr>
          <p:spPr bwMode="auto">
            <a:xfrm>
              <a:off x="7315200" y="1905000"/>
              <a:ext cx="63500" cy="63500"/>
            </a:xfrm>
            <a:prstGeom prst="ellipse">
              <a:avLst/>
            </a:prstGeom>
            <a:solidFill>
              <a:srgbClr val="FFFF00"/>
            </a:solidFill>
            <a:ln w="12700">
              <a:solidFill>
                <a:srgbClr val="FFFF00"/>
              </a:solidFill>
              <a:round/>
              <a:headEnd/>
              <a:tailEnd/>
            </a:ln>
          </p:spPr>
          <p:txBody>
            <a:bodyPr wrap="none" anchor="ctr"/>
            <a:lstStyle/>
            <a:p>
              <a:endParaRPr lang="zh-CN" altLang="zh-CN">
                <a:ea typeface="SimSun" pitchFamily="2" charset="-122"/>
              </a:endParaRPr>
            </a:p>
          </p:txBody>
        </p:sp>
        <p:sp>
          <p:nvSpPr>
            <p:cNvPr id="49367" name="Oval 101"/>
            <p:cNvSpPr>
              <a:spLocks noChangeArrowheads="1"/>
            </p:cNvSpPr>
            <p:nvPr/>
          </p:nvSpPr>
          <p:spPr bwMode="auto">
            <a:xfrm>
              <a:off x="7315200" y="2257425"/>
              <a:ext cx="74613" cy="762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368" name="Oval 102"/>
            <p:cNvSpPr>
              <a:spLocks noChangeArrowheads="1"/>
            </p:cNvSpPr>
            <p:nvPr/>
          </p:nvSpPr>
          <p:spPr bwMode="auto">
            <a:xfrm>
              <a:off x="7239000" y="2486025"/>
              <a:ext cx="74613" cy="762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369" name="Oval 103"/>
            <p:cNvSpPr>
              <a:spLocks noChangeArrowheads="1"/>
            </p:cNvSpPr>
            <p:nvPr/>
          </p:nvSpPr>
          <p:spPr bwMode="auto">
            <a:xfrm>
              <a:off x="7391400" y="2498725"/>
              <a:ext cx="74613" cy="762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370" name="Oval 104"/>
            <p:cNvSpPr>
              <a:spLocks noChangeArrowheads="1"/>
            </p:cNvSpPr>
            <p:nvPr/>
          </p:nvSpPr>
          <p:spPr bwMode="auto">
            <a:xfrm>
              <a:off x="7315200" y="2638425"/>
              <a:ext cx="74613" cy="762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371" name="Line 105"/>
            <p:cNvSpPr>
              <a:spLocks noChangeShapeType="1"/>
            </p:cNvSpPr>
            <p:nvPr/>
          </p:nvSpPr>
          <p:spPr bwMode="auto">
            <a:xfrm flipV="1">
              <a:off x="7315200" y="1600200"/>
              <a:ext cx="152400" cy="76200"/>
            </a:xfrm>
            <a:prstGeom prst="line">
              <a:avLst/>
            </a:prstGeom>
            <a:noFill/>
            <a:ln w="9525">
              <a:solidFill>
                <a:srgbClr val="FFFF00"/>
              </a:solidFill>
              <a:round/>
              <a:headEnd/>
              <a:tailEnd/>
            </a:ln>
          </p:spPr>
          <p:txBody>
            <a:bodyPr/>
            <a:lstStyle/>
            <a:p>
              <a:endParaRPr lang="en-US"/>
            </a:p>
          </p:txBody>
        </p:sp>
        <p:sp>
          <p:nvSpPr>
            <p:cNvPr id="49372" name="Line 106"/>
            <p:cNvSpPr>
              <a:spLocks noChangeShapeType="1"/>
            </p:cNvSpPr>
            <p:nvPr/>
          </p:nvSpPr>
          <p:spPr bwMode="auto">
            <a:xfrm>
              <a:off x="7315200" y="1676400"/>
              <a:ext cx="152400" cy="152400"/>
            </a:xfrm>
            <a:prstGeom prst="line">
              <a:avLst/>
            </a:prstGeom>
            <a:noFill/>
            <a:ln w="9525">
              <a:solidFill>
                <a:srgbClr val="FFFF00"/>
              </a:solidFill>
              <a:round/>
              <a:headEnd/>
              <a:tailEnd/>
            </a:ln>
          </p:spPr>
          <p:txBody>
            <a:bodyPr/>
            <a:lstStyle/>
            <a:p>
              <a:endParaRPr lang="en-US"/>
            </a:p>
          </p:txBody>
        </p:sp>
        <p:sp>
          <p:nvSpPr>
            <p:cNvPr id="49373" name="Line 107"/>
            <p:cNvSpPr>
              <a:spLocks noChangeShapeType="1"/>
            </p:cNvSpPr>
            <p:nvPr/>
          </p:nvSpPr>
          <p:spPr bwMode="auto">
            <a:xfrm>
              <a:off x="7315200" y="1676400"/>
              <a:ext cx="0" cy="228600"/>
            </a:xfrm>
            <a:prstGeom prst="line">
              <a:avLst/>
            </a:prstGeom>
            <a:noFill/>
            <a:ln w="9525">
              <a:solidFill>
                <a:srgbClr val="FFFF00"/>
              </a:solidFill>
              <a:round/>
              <a:headEnd/>
              <a:tailEnd/>
            </a:ln>
          </p:spPr>
          <p:txBody>
            <a:bodyPr/>
            <a:lstStyle/>
            <a:p>
              <a:endParaRPr lang="en-US"/>
            </a:p>
          </p:txBody>
        </p:sp>
        <p:sp>
          <p:nvSpPr>
            <p:cNvPr id="49374" name="Line 108"/>
            <p:cNvSpPr>
              <a:spLocks noChangeShapeType="1"/>
            </p:cNvSpPr>
            <p:nvPr/>
          </p:nvSpPr>
          <p:spPr bwMode="auto">
            <a:xfrm flipV="1">
              <a:off x="7315200" y="1828800"/>
              <a:ext cx="152400" cy="76200"/>
            </a:xfrm>
            <a:prstGeom prst="line">
              <a:avLst/>
            </a:prstGeom>
            <a:noFill/>
            <a:ln w="9525">
              <a:solidFill>
                <a:srgbClr val="FFFF00"/>
              </a:solidFill>
              <a:round/>
              <a:headEnd/>
              <a:tailEnd/>
            </a:ln>
          </p:spPr>
          <p:txBody>
            <a:bodyPr/>
            <a:lstStyle/>
            <a:p>
              <a:endParaRPr lang="en-US"/>
            </a:p>
          </p:txBody>
        </p:sp>
        <p:sp>
          <p:nvSpPr>
            <p:cNvPr id="49375" name="Line 109"/>
            <p:cNvSpPr>
              <a:spLocks noChangeShapeType="1"/>
            </p:cNvSpPr>
            <p:nvPr/>
          </p:nvSpPr>
          <p:spPr bwMode="auto">
            <a:xfrm>
              <a:off x="7288213" y="2498725"/>
              <a:ext cx="114300" cy="1588"/>
            </a:xfrm>
            <a:prstGeom prst="line">
              <a:avLst/>
            </a:prstGeom>
            <a:noFill/>
            <a:ln w="9525">
              <a:solidFill>
                <a:srgbClr val="FF0000"/>
              </a:solidFill>
              <a:round/>
              <a:headEnd/>
              <a:tailEnd/>
            </a:ln>
          </p:spPr>
          <p:txBody>
            <a:bodyPr/>
            <a:lstStyle/>
            <a:p>
              <a:endParaRPr lang="en-US"/>
            </a:p>
          </p:txBody>
        </p:sp>
        <p:sp>
          <p:nvSpPr>
            <p:cNvPr id="49376" name="Line 110"/>
            <p:cNvSpPr>
              <a:spLocks noChangeShapeType="1"/>
            </p:cNvSpPr>
            <p:nvPr/>
          </p:nvSpPr>
          <p:spPr bwMode="auto">
            <a:xfrm>
              <a:off x="7269163" y="2468563"/>
              <a:ext cx="57150" cy="182562"/>
            </a:xfrm>
            <a:prstGeom prst="line">
              <a:avLst/>
            </a:prstGeom>
            <a:noFill/>
            <a:ln w="9525">
              <a:solidFill>
                <a:srgbClr val="FF0000"/>
              </a:solidFill>
              <a:round/>
              <a:headEnd/>
              <a:tailEnd/>
            </a:ln>
          </p:spPr>
          <p:txBody>
            <a:bodyPr/>
            <a:lstStyle/>
            <a:p>
              <a:endParaRPr lang="en-US"/>
            </a:p>
          </p:txBody>
        </p:sp>
        <p:sp>
          <p:nvSpPr>
            <p:cNvPr id="49377" name="Line 111"/>
            <p:cNvSpPr>
              <a:spLocks noChangeShapeType="1"/>
            </p:cNvSpPr>
            <p:nvPr/>
          </p:nvSpPr>
          <p:spPr bwMode="auto">
            <a:xfrm flipV="1">
              <a:off x="7345363" y="2559050"/>
              <a:ext cx="57150" cy="92075"/>
            </a:xfrm>
            <a:prstGeom prst="line">
              <a:avLst/>
            </a:prstGeom>
            <a:noFill/>
            <a:ln w="9525">
              <a:solidFill>
                <a:srgbClr val="FF0000"/>
              </a:solidFill>
              <a:round/>
              <a:headEnd/>
              <a:tailEnd/>
            </a:ln>
          </p:spPr>
          <p:txBody>
            <a:bodyPr/>
            <a:lstStyle/>
            <a:p>
              <a:endParaRPr lang="en-US"/>
            </a:p>
          </p:txBody>
        </p:sp>
        <p:sp>
          <p:nvSpPr>
            <p:cNvPr id="49378" name="Oval 112"/>
            <p:cNvSpPr>
              <a:spLocks noChangeArrowheads="1"/>
            </p:cNvSpPr>
            <p:nvPr/>
          </p:nvSpPr>
          <p:spPr bwMode="auto">
            <a:xfrm>
              <a:off x="7785100" y="22987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379" name="Oval 113"/>
            <p:cNvSpPr>
              <a:spLocks noChangeArrowheads="1"/>
            </p:cNvSpPr>
            <p:nvPr/>
          </p:nvSpPr>
          <p:spPr bwMode="auto">
            <a:xfrm>
              <a:off x="8013700" y="23749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380" name="Oval 114"/>
            <p:cNvSpPr>
              <a:spLocks noChangeArrowheads="1"/>
            </p:cNvSpPr>
            <p:nvPr/>
          </p:nvSpPr>
          <p:spPr bwMode="auto">
            <a:xfrm>
              <a:off x="7696200" y="2971800"/>
              <a:ext cx="63500" cy="63500"/>
            </a:xfrm>
            <a:prstGeom prst="ellipse">
              <a:avLst/>
            </a:prstGeom>
            <a:solidFill>
              <a:srgbClr val="99CC00"/>
            </a:solidFill>
            <a:ln w="12700">
              <a:solidFill>
                <a:srgbClr val="99CC00"/>
              </a:solidFill>
              <a:round/>
              <a:headEnd/>
              <a:tailEnd/>
            </a:ln>
          </p:spPr>
          <p:txBody>
            <a:bodyPr wrap="none" anchor="ctr"/>
            <a:lstStyle/>
            <a:p>
              <a:endParaRPr lang="zh-CN" altLang="zh-CN">
                <a:ea typeface="SimSun" pitchFamily="2" charset="-122"/>
              </a:endParaRPr>
            </a:p>
          </p:txBody>
        </p:sp>
        <p:sp>
          <p:nvSpPr>
            <p:cNvPr id="49381" name="Oval 115"/>
            <p:cNvSpPr>
              <a:spLocks noChangeArrowheads="1"/>
            </p:cNvSpPr>
            <p:nvPr/>
          </p:nvSpPr>
          <p:spPr bwMode="auto">
            <a:xfrm>
              <a:off x="7556500" y="3200400"/>
              <a:ext cx="63500" cy="63500"/>
            </a:xfrm>
            <a:prstGeom prst="ellipse">
              <a:avLst/>
            </a:prstGeom>
            <a:solidFill>
              <a:srgbClr val="99CC00"/>
            </a:solidFill>
            <a:ln w="12700">
              <a:solidFill>
                <a:srgbClr val="99CC00"/>
              </a:solidFill>
              <a:round/>
              <a:headEnd/>
              <a:tailEnd/>
            </a:ln>
          </p:spPr>
          <p:txBody>
            <a:bodyPr wrap="none" anchor="ctr"/>
            <a:lstStyle/>
            <a:p>
              <a:endParaRPr lang="zh-CN" altLang="zh-CN">
                <a:ea typeface="SimSun" pitchFamily="2" charset="-122"/>
              </a:endParaRPr>
            </a:p>
          </p:txBody>
        </p:sp>
        <p:sp>
          <p:nvSpPr>
            <p:cNvPr id="49382" name="Oval 116"/>
            <p:cNvSpPr>
              <a:spLocks noChangeArrowheads="1"/>
            </p:cNvSpPr>
            <p:nvPr/>
          </p:nvSpPr>
          <p:spPr bwMode="auto">
            <a:xfrm>
              <a:off x="7848600" y="3200400"/>
              <a:ext cx="63500" cy="63500"/>
            </a:xfrm>
            <a:prstGeom prst="ellipse">
              <a:avLst/>
            </a:prstGeom>
            <a:solidFill>
              <a:srgbClr val="99CC00"/>
            </a:solidFill>
            <a:ln w="12700">
              <a:solidFill>
                <a:srgbClr val="99CC00"/>
              </a:solidFill>
              <a:round/>
              <a:headEnd/>
              <a:tailEnd/>
            </a:ln>
          </p:spPr>
          <p:txBody>
            <a:bodyPr wrap="none" anchor="ctr"/>
            <a:lstStyle/>
            <a:p>
              <a:endParaRPr lang="zh-CN" altLang="zh-CN">
                <a:ea typeface="SimSun" pitchFamily="2" charset="-122"/>
              </a:endParaRPr>
            </a:p>
          </p:txBody>
        </p:sp>
        <p:sp>
          <p:nvSpPr>
            <p:cNvPr id="49383" name="Oval 117"/>
            <p:cNvSpPr>
              <a:spLocks noChangeArrowheads="1"/>
            </p:cNvSpPr>
            <p:nvPr/>
          </p:nvSpPr>
          <p:spPr bwMode="auto">
            <a:xfrm>
              <a:off x="7696200" y="3441700"/>
              <a:ext cx="63500" cy="63500"/>
            </a:xfrm>
            <a:prstGeom prst="ellipse">
              <a:avLst/>
            </a:prstGeom>
            <a:solidFill>
              <a:srgbClr val="FF9900"/>
            </a:solidFill>
            <a:ln w="12700">
              <a:solidFill>
                <a:srgbClr val="FF9900"/>
              </a:solidFill>
              <a:round/>
              <a:headEnd/>
              <a:tailEnd/>
            </a:ln>
          </p:spPr>
          <p:txBody>
            <a:bodyPr wrap="none" anchor="ctr"/>
            <a:lstStyle/>
            <a:p>
              <a:endParaRPr lang="zh-CN" altLang="zh-CN">
                <a:ea typeface="SimSun" pitchFamily="2" charset="-122"/>
              </a:endParaRPr>
            </a:p>
          </p:txBody>
        </p:sp>
        <p:sp>
          <p:nvSpPr>
            <p:cNvPr id="49384" name="Oval 118"/>
            <p:cNvSpPr>
              <a:spLocks noChangeArrowheads="1"/>
            </p:cNvSpPr>
            <p:nvPr/>
          </p:nvSpPr>
          <p:spPr bwMode="auto">
            <a:xfrm>
              <a:off x="7937500" y="21336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385" name="Oval 119"/>
            <p:cNvSpPr>
              <a:spLocks noChangeArrowheads="1"/>
            </p:cNvSpPr>
            <p:nvPr/>
          </p:nvSpPr>
          <p:spPr bwMode="auto">
            <a:xfrm>
              <a:off x="7620000" y="3594100"/>
              <a:ext cx="63500" cy="63500"/>
            </a:xfrm>
            <a:prstGeom prst="ellipse">
              <a:avLst/>
            </a:prstGeom>
            <a:solidFill>
              <a:srgbClr val="FF9900"/>
            </a:solidFill>
            <a:ln w="12700">
              <a:solidFill>
                <a:srgbClr val="FF9900"/>
              </a:solidFill>
              <a:round/>
              <a:headEnd/>
              <a:tailEnd/>
            </a:ln>
          </p:spPr>
          <p:txBody>
            <a:bodyPr wrap="none" anchor="ctr"/>
            <a:lstStyle/>
            <a:p>
              <a:endParaRPr lang="zh-CN" altLang="zh-CN">
                <a:ea typeface="SimSun" pitchFamily="2" charset="-122"/>
              </a:endParaRPr>
            </a:p>
          </p:txBody>
        </p:sp>
        <p:sp>
          <p:nvSpPr>
            <p:cNvPr id="49386" name="Oval 120"/>
            <p:cNvSpPr>
              <a:spLocks noChangeArrowheads="1"/>
            </p:cNvSpPr>
            <p:nvPr/>
          </p:nvSpPr>
          <p:spPr bwMode="auto">
            <a:xfrm>
              <a:off x="7480300" y="3505200"/>
              <a:ext cx="63500" cy="63500"/>
            </a:xfrm>
            <a:prstGeom prst="ellipse">
              <a:avLst/>
            </a:prstGeom>
            <a:solidFill>
              <a:srgbClr val="FF9900"/>
            </a:solidFill>
            <a:ln w="12700">
              <a:solidFill>
                <a:srgbClr val="FF9900"/>
              </a:solidFill>
              <a:round/>
              <a:headEnd/>
              <a:tailEnd/>
            </a:ln>
          </p:spPr>
          <p:txBody>
            <a:bodyPr wrap="none" anchor="ctr"/>
            <a:lstStyle/>
            <a:p>
              <a:endParaRPr lang="zh-CN" altLang="zh-CN">
                <a:ea typeface="SimSun" pitchFamily="2" charset="-122"/>
              </a:endParaRPr>
            </a:p>
          </p:txBody>
        </p:sp>
        <p:sp>
          <p:nvSpPr>
            <p:cNvPr id="49387" name="Oval 121"/>
            <p:cNvSpPr>
              <a:spLocks noChangeArrowheads="1"/>
            </p:cNvSpPr>
            <p:nvPr/>
          </p:nvSpPr>
          <p:spPr bwMode="auto">
            <a:xfrm>
              <a:off x="7404100" y="3657600"/>
              <a:ext cx="63500" cy="63500"/>
            </a:xfrm>
            <a:prstGeom prst="ellipse">
              <a:avLst/>
            </a:prstGeom>
            <a:solidFill>
              <a:srgbClr val="FF9900"/>
            </a:solidFill>
            <a:ln w="12700">
              <a:solidFill>
                <a:srgbClr val="FF9900"/>
              </a:solidFill>
              <a:round/>
              <a:headEnd/>
              <a:tailEnd/>
            </a:ln>
          </p:spPr>
          <p:txBody>
            <a:bodyPr wrap="none" anchor="ctr"/>
            <a:lstStyle/>
            <a:p>
              <a:endParaRPr lang="zh-CN" altLang="zh-CN">
                <a:ea typeface="SimSun" pitchFamily="2" charset="-122"/>
              </a:endParaRPr>
            </a:p>
          </p:txBody>
        </p:sp>
        <p:sp>
          <p:nvSpPr>
            <p:cNvPr id="49388" name="Line 122"/>
            <p:cNvSpPr>
              <a:spLocks noChangeShapeType="1"/>
            </p:cNvSpPr>
            <p:nvPr/>
          </p:nvSpPr>
          <p:spPr bwMode="auto">
            <a:xfrm>
              <a:off x="7848600" y="2362200"/>
              <a:ext cx="228600" cy="76200"/>
            </a:xfrm>
            <a:prstGeom prst="line">
              <a:avLst/>
            </a:prstGeom>
            <a:noFill/>
            <a:ln w="9525">
              <a:solidFill>
                <a:schemeClr val="tx1"/>
              </a:solidFill>
              <a:round/>
              <a:headEnd/>
              <a:tailEnd/>
            </a:ln>
          </p:spPr>
          <p:txBody>
            <a:bodyPr/>
            <a:lstStyle/>
            <a:p>
              <a:endParaRPr lang="en-US"/>
            </a:p>
          </p:txBody>
        </p:sp>
        <p:sp>
          <p:nvSpPr>
            <p:cNvPr id="49389" name="Line 123"/>
            <p:cNvSpPr>
              <a:spLocks noChangeShapeType="1"/>
            </p:cNvSpPr>
            <p:nvPr/>
          </p:nvSpPr>
          <p:spPr bwMode="auto">
            <a:xfrm>
              <a:off x="8001000" y="2133600"/>
              <a:ext cx="76200" cy="304800"/>
            </a:xfrm>
            <a:prstGeom prst="line">
              <a:avLst/>
            </a:prstGeom>
            <a:noFill/>
            <a:ln w="9525">
              <a:solidFill>
                <a:schemeClr val="tx1"/>
              </a:solidFill>
              <a:round/>
              <a:headEnd/>
              <a:tailEnd/>
            </a:ln>
          </p:spPr>
          <p:txBody>
            <a:bodyPr/>
            <a:lstStyle/>
            <a:p>
              <a:endParaRPr lang="en-US"/>
            </a:p>
          </p:txBody>
        </p:sp>
        <p:sp>
          <p:nvSpPr>
            <p:cNvPr id="49390" name="Line 124"/>
            <p:cNvSpPr>
              <a:spLocks noChangeShapeType="1"/>
            </p:cNvSpPr>
            <p:nvPr/>
          </p:nvSpPr>
          <p:spPr bwMode="auto">
            <a:xfrm flipH="1">
              <a:off x="7467600" y="3505200"/>
              <a:ext cx="76200" cy="152400"/>
            </a:xfrm>
            <a:prstGeom prst="line">
              <a:avLst/>
            </a:prstGeom>
            <a:noFill/>
            <a:ln w="9525">
              <a:solidFill>
                <a:srgbClr val="FF9900"/>
              </a:solidFill>
              <a:round/>
              <a:headEnd/>
              <a:tailEnd/>
            </a:ln>
          </p:spPr>
          <p:txBody>
            <a:bodyPr/>
            <a:lstStyle/>
            <a:p>
              <a:endParaRPr lang="en-US"/>
            </a:p>
          </p:txBody>
        </p:sp>
        <p:sp>
          <p:nvSpPr>
            <p:cNvPr id="49391" name="Line 125"/>
            <p:cNvSpPr>
              <a:spLocks noChangeShapeType="1"/>
            </p:cNvSpPr>
            <p:nvPr/>
          </p:nvSpPr>
          <p:spPr bwMode="auto">
            <a:xfrm>
              <a:off x="6781800" y="2743200"/>
              <a:ext cx="304800" cy="228600"/>
            </a:xfrm>
            <a:prstGeom prst="line">
              <a:avLst/>
            </a:prstGeom>
            <a:noFill/>
            <a:ln w="9525">
              <a:solidFill>
                <a:schemeClr val="tx1"/>
              </a:solidFill>
              <a:round/>
              <a:headEnd/>
              <a:tailEnd/>
            </a:ln>
          </p:spPr>
          <p:txBody>
            <a:bodyPr/>
            <a:lstStyle/>
            <a:p>
              <a:endParaRPr lang="en-US"/>
            </a:p>
          </p:txBody>
        </p:sp>
        <p:sp>
          <p:nvSpPr>
            <p:cNvPr id="49392" name="Line 126"/>
            <p:cNvSpPr>
              <a:spLocks noChangeShapeType="1"/>
            </p:cNvSpPr>
            <p:nvPr/>
          </p:nvSpPr>
          <p:spPr bwMode="auto">
            <a:xfrm>
              <a:off x="6705600" y="2743200"/>
              <a:ext cx="152400" cy="381000"/>
            </a:xfrm>
            <a:prstGeom prst="line">
              <a:avLst/>
            </a:prstGeom>
            <a:noFill/>
            <a:ln w="9525">
              <a:solidFill>
                <a:schemeClr val="tx1"/>
              </a:solidFill>
              <a:round/>
              <a:headEnd/>
              <a:tailEnd/>
            </a:ln>
          </p:spPr>
          <p:txBody>
            <a:bodyPr/>
            <a:lstStyle/>
            <a:p>
              <a:endParaRPr lang="en-US"/>
            </a:p>
          </p:txBody>
        </p:sp>
        <p:sp>
          <p:nvSpPr>
            <p:cNvPr id="49393" name="Line 127"/>
            <p:cNvSpPr>
              <a:spLocks noChangeShapeType="1"/>
            </p:cNvSpPr>
            <p:nvPr/>
          </p:nvSpPr>
          <p:spPr bwMode="auto">
            <a:xfrm>
              <a:off x="6858000" y="3124200"/>
              <a:ext cx="304800" cy="228600"/>
            </a:xfrm>
            <a:prstGeom prst="line">
              <a:avLst/>
            </a:prstGeom>
            <a:noFill/>
            <a:ln w="9525">
              <a:solidFill>
                <a:schemeClr val="tx1"/>
              </a:solidFill>
              <a:round/>
              <a:headEnd/>
              <a:tailEnd/>
            </a:ln>
          </p:spPr>
          <p:txBody>
            <a:bodyPr/>
            <a:lstStyle/>
            <a:p>
              <a:endParaRPr lang="en-US"/>
            </a:p>
          </p:txBody>
        </p:sp>
        <p:sp>
          <p:nvSpPr>
            <p:cNvPr id="49394" name="Line 128"/>
            <p:cNvSpPr>
              <a:spLocks noChangeShapeType="1"/>
            </p:cNvSpPr>
            <p:nvPr/>
          </p:nvSpPr>
          <p:spPr bwMode="auto">
            <a:xfrm flipV="1">
              <a:off x="6858000" y="3048000"/>
              <a:ext cx="228600" cy="152400"/>
            </a:xfrm>
            <a:prstGeom prst="line">
              <a:avLst/>
            </a:prstGeom>
            <a:noFill/>
            <a:ln w="9525">
              <a:solidFill>
                <a:schemeClr val="tx1"/>
              </a:solidFill>
              <a:round/>
              <a:headEnd/>
              <a:tailEnd/>
            </a:ln>
          </p:spPr>
          <p:txBody>
            <a:bodyPr/>
            <a:lstStyle/>
            <a:p>
              <a:endParaRPr lang="en-US"/>
            </a:p>
          </p:txBody>
        </p:sp>
        <p:sp>
          <p:nvSpPr>
            <p:cNvPr id="49395" name="Line 129"/>
            <p:cNvSpPr>
              <a:spLocks noChangeShapeType="1"/>
            </p:cNvSpPr>
            <p:nvPr/>
          </p:nvSpPr>
          <p:spPr bwMode="auto">
            <a:xfrm flipH="1">
              <a:off x="6553200" y="2743200"/>
              <a:ext cx="152400" cy="304800"/>
            </a:xfrm>
            <a:prstGeom prst="line">
              <a:avLst/>
            </a:prstGeom>
            <a:noFill/>
            <a:ln w="9525">
              <a:solidFill>
                <a:schemeClr val="tx1"/>
              </a:solidFill>
              <a:round/>
              <a:headEnd/>
              <a:tailEnd/>
            </a:ln>
          </p:spPr>
          <p:txBody>
            <a:bodyPr/>
            <a:lstStyle/>
            <a:p>
              <a:endParaRPr lang="en-US"/>
            </a:p>
          </p:txBody>
        </p:sp>
        <p:sp>
          <p:nvSpPr>
            <p:cNvPr id="49396" name="Line 130"/>
            <p:cNvSpPr>
              <a:spLocks noChangeShapeType="1"/>
            </p:cNvSpPr>
            <p:nvPr/>
          </p:nvSpPr>
          <p:spPr bwMode="auto">
            <a:xfrm>
              <a:off x="6553200" y="3048000"/>
              <a:ext cx="0" cy="228600"/>
            </a:xfrm>
            <a:prstGeom prst="line">
              <a:avLst/>
            </a:prstGeom>
            <a:noFill/>
            <a:ln w="9525">
              <a:solidFill>
                <a:schemeClr val="tx1"/>
              </a:solidFill>
              <a:round/>
              <a:headEnd/>
              <a:tailEnd/>
            </a:ln>
          </p:spPr>
          <p:txBody>
            <a:bodyPr/>
            <a:lstStyle/>
            <a:p>
              <a:endParaRPr lang="en-US"/>
            </a:p>
          </p:txBody>
        </p:sp>
        <p:sp>
          <p:nvSpPr>
            <p:cNvPr id="49397" name="Line 131"/>
            <p:cNvSpPr>
              <a:spLocks noChangeShapeType="1"/>
            </p:cNvSpPr>
            <p:nvPr/>
          </p:nvSpPr>
          <p:spPr bwMode="auto">
            <a:xfrm>
              <a:off x="6553200" y="3352800"/>
              <a:ext cx="609600" cy="0"/>
            </a:xfrm>
            <a:prstGeom prst="line">
              <a:avLst/>
            </a:prstGeom>
            <a:noFill/>
            <a:ln w="9525">
              <a:solidFill>
                <a:schemeClr val="tx1"/>
              </a:solidFill>
              <a:round/>
              <a:headEnd/>
              <a:tailEnd/>
            </a:ln>
          </p:spPr>
          <p:txBody>
            <a:bodyPr/>
            <a:lstStyle/>
            <a:p>
              <a:endParaRPr lang="en-US"/>
            </a:p>
          </p:txBody>
        </p:sp>
        <p:sp>
          <p:nvSpPr>
            <p:cNvPr id="49398" name="Line 132"/>
            <p:cNvSpPr>
              <a:spLocks noChangeShapeType="1"/>
            </p:cNvSpPr>
            <p:nvPr/>
          </p:nvSpPr>
          <p:spPr bwMode="auto">
            <a:xfrm flipV="1">
              <a:off x="6553200" y="3200400"/>
              <a:ext cx="304800" cy="152400"/>
            </a:xfrm>
            <a:prstGeom prst="line">
              <a:avLst/>
            </a:prstGeom>
            <a:noFill/>
            <a:ln w="9525">
              <a:solidFill>
                <a:schemeClr val="tx1"/>
              </a:solidFill>
              <a:round/>
              <a:headEnd/>
              <a:tailEnd/>
            </a:ln>
          </p:spPr>
          <p:txBody>
            <a:bodyPr/>
            <a:lstStyle/>
            <a:p>
              <a:endParaRPr lang="en-US"/>
            </a:p>
          </p:txBody>
        </p:sp>
        <p:sp>
          <p:nvSpPr>
            <p:cNvPr id="49399" name="Line 133"/>
            <p:cNvSpPr>
              <a:spLocks noChangeShapeType="1"/>
            </p:cNvSpPr>
            <p:nvPr/>
          </p:nvSpPr>
          <p:spPr bwMode="auto">
            <a:xfrm>
              <a:off x="6553200" y="2971800"/>
              <a:ext cx="381000" cy="228600"/>
            </a:xfrm>
            <a:prstGeom prst="line">
              <a:avLst/>
            </a:prstGeom>
            <a:noFill/>
            <a:ln w="9525">
              <a:solidFill>
                <a:schemeClr val="tx1"/>
              </a:solidFill>
              <a:round/>
              <a:headEnd/>
              <a:tailEnd/>
            </a:ln>
          </p:spPr>
          <p:txBody>
            <a:bodyPr/>
            <a:lstStyle/>
            <a:p>
              <a:endParaRPr lang="en-US"/>
            </a:p>
          </p:txBody>
        </p:sp>
        <p:sp>
          <p:nvSpPr>
            <p:cNvPr id="49400" name="Line 216"/>
            <p:cNvSpPr>
              <a:spLocks noChangeShapeType="1"/>
            </p:cNvSpPr>
            <p:nvPr/>
          </p:nvSpPr>
          <p:spPr bwMode="auto">
            <a:xfrm flipV="1">
              <a:off x="7097713" y="2270125"/>
              <a:ext cx="228600" cy="76200"/>
            </a:xfrm>
            <a:prstGeom prst="line">
              <a:avLst/>
            </a:prstGeom>
            <a:noFill/>
            <a:ln w="9525">
              <a:solidFill>
                <a:srgbClr val="FF0000"/>
              </a:solidFill>
              <a:round/>
              <a:headEnd/>
              <a:tailEnd/>
            </a:ln>
          </p:spPr>
          <p:txBody>
            <a:bodyPr/>
            <a:lstStyle/>
            <a:p>
              <a:endParaRPr lang="en-US"/>
            </a:p>
          </p:txBody>
        </p:sp>
        <p:sp>
          <p:nvSpPr>
            <p:cNvPr id="49401" name="Line 217"/>
            <p:cNvSpPr>
              <a:spLocks noChangeShapeType="1"/>
            </p:cNvSpPr>
            <p:nvPr/>
          </p:nvSpPr>
          <p:spPr bwMode="auto">
            <a:xfrm>
              <a:off x="7097713" y="2346325"/>
              <a:ext cx="228600" cy="152400"/>
            </a:xfrm>
            <a:prstGeom prst="line">
              <a:avLst/>
            </a:prstGeom>
            <a:noFill/>
            <a:ln w="9525">
              <a:solidFill>
                <a:srgbClr val="FF0000"/>
              </a:solidFill>
              <a:round/>
              <a:headEnd/>
              <a:tailEnd/>
            </a:ln>
          </p:spPr>
          <p:txBody>
            <a:bodyPr/>
            <a:lstStyle/>
            <a:p>
              <a:endParaRPr lang="en-US"/>
            </a:p>
          </p:txBody>
        </p:sp>
        <p:sp>
          <p:nvSpPr>
            <p:cNvPr id="49402" name="Line 239"/>
            <p:cNvSpPr>
              <a:spLocks noChangeShapeType="1"/>
            </p:cNvSpPr>
            <p:nvPr/>
          </p:nvSpPr>
          <p:spPr bwMode="auto">
            <a:xfrm>
              <a:off x="7467600" y="1600200"/>
              <a:ext cx="0" cy="228600"/>
            </a:xfrm>
            <a:prstGeom prst="line">
              <a:avLst/>
            </a:prstGeom>
            <a:noFill/>
            <a:ln w="9525">
              <a:solidFill>
                <a:srgbClr val="FFFF00"/>
              </a:solidFill>
              <a:round/>
              <a:headEnd/>
              <a:tailEnd/>
            </a:ln>
          </p:spPr>
          <p:txBody>
            <a:bodyPr/>
            <a:lstStyle/>
            <a:p>
              <a:endParaRPr lang="en-US"/>
            </a:p>
          </p:txBody>
        </p:sp>
        <p:sp>
          <p:nvSpPr>
            <p:cNvPr id="49403" name="Line 240"/>
            <p:cNvSpPr>
              <a:spLocks noChangeShapeType="1"/>
            </p:cNvSpPr>
            <p:nvPr/>
          </p:nvSpPr>
          <p:spPr bwMode="auto">
            <a:xfrm flipV="1">
              <a:off x="7315200" y="2286000"/>
              <a:ext cx="0" cy="228600"/>
            </a:xfrm>
            <a:prstGeom prst="line">
              <a:avLst/>
            </a:prstGeom>
            <a:noFill/>
            <a:ln w="9525">
              <a:solidFill>
                <a:srgbClr val="FF0000"/>
              </a:solidFill>
              <a:round/>
              <a:headEnd/>
              <a:tailEnd/>
            </a:ln>
          </p:spPr>
          <p:txBody>
            <a:bodyPr/>
            <a:lstStyle/>
            <a:p>
              <a:endParaRPr lang="en-US"/>
            </a:p>
          </p:txBody>
        </p:sp>
        <p:sp>
          <p:nvSpPr>
            <p:cNvPr id="49404" name="Line 241"/>
            <p:cNvSpPr>
              <a:spLocks noChangeShapeType="1"/>
            </p:cNvSpPr>
            <p:nvPr/>
          </p:nvSpPr>
          <p:spPr bwMode="auto">
            <a:xfrm>
              <a:off x="7315200" y="2286000"/>
              <a:ext cx="76200" cy="228600"/>
            </a:xfrm>
            <a:prstGeom prst="line">
              <a:avLst/>
            </a:prstGeom>
            <a:noFill/>
            <a:ln w="9525">
              <a:solidFill>
                <a:srgbClr val="FF0000"/>
              </a:solidFill>
              <a:round/>
              <a:headEnd/>
              <a:tailEnd/>
            </a:ln>
          </p:spPr>
          <p:txBody>
            <a:bodyPr/>
            <a:lstStyle/>
            <a:p>
              <a:endParaRPr lang="en-US"/>
            </a:p>
          </p:txBody>
        </p:sp>
        <p:sp>
          <p:nvSpPr>
            <p:cNvPr id="49405" name="Line 242"/>
            <p:cNvSpPr>
              <a:spLocks noChangeShapeType="1"/>
            </p:cNvSpPr>
            <p:nvPr/>
          </p:nvSpPr>
          <p:spPr bwMode="auto">
            <a:xfrm flipV="1">
              <a:off x="7848600" y="2133600"/>
              <a:ext cx="152400" cy="228600"/>
            </a:xfrm>
            <a:prstGeom prst="line">
              <a:avLst/>
            </a:prstGeom>
            <a:noFill/>
            <a:ln w="9525">
              <a:solidFill>
                <a:schemeClr val="tx1"/>
              </a:solidFill>
              <a:round/>
              <a:headEnd/>
              <a:tailEnd/>
            </a:ln>
          </p:spPr>
          <p:txBody>
            <a:bodyPr/>
            <a:lstStyle/>
            <a:p>
              <a:endParaRPr lang="en-US"/>
            </a:p>
          </p:txBody>
        </p:sp>
        <p:sp>
          <p:nvSpPr>
            <p:cNvPr id="49406" name="Line 243"/>
            <p:cNvSpPr>
              <a:spLocks noChangeShapeType="1"/>
            </p:cNvSpPr>
            <p:nvPr/>
          </p:nvSpPr>
          <p:spPr bwMode="auto">
            <a:xfrm>
              <a:off x="7086600" y="2971800"/>
              <a:ext cx="76200" cy="381000"/>
            </a:xfrm>
            <a:prstGeom prst="line">
              <a:avLst/>
            </a:prstGeom>
            <a:noFill/>
            <a:ln w="9525">
              <a:solidFill>
                <a:schemeClr val="tx1"/>
              </a:solidFill>
              <a:round/>
              <a:headEnd/>
              <a:tailEnd/>
            </a:ln>
          </p:spPr>
          <p:txBody>
            <a:bodyPr/>
            <a:lstStyle/>
            <a:p>
              <a:endParaRPr lang="en-US"/>
            </a:p>
          </p:txBody>
        </p:sp>
        <p:sp>
          <p:nvSpPr>
            <p:cNvPr id="49407" name="Line 244"/>
            <p:cNvSpPr>
              <a:spLocks noChangeShapeType="1"/>
            </p:cNvSpPr>
            <p:nvPr/>
          </p:nvSpPr>
          <p:spPr bwMode="auto">
            <a:xfrm flipH="1">
              <a:off x="7620000" y="2971800"/>
              <a:ext cx="76200" cy="228600"/>
            </a:xfrm>
            <a:prstGeom prst="line">
              <a:avLst/>
            </a:prstGeom>
            <a:noFill/>
            <a:ln w="9525">
              <a:solidFill>
                <a:srgbClr val="99CC00"/>
              </a:solidFill>
              <a:round/>
              <a:headEnd/>
              <a:tailEnd/>
            </a:ln>
          </p:spPr>
          <p:txBody>
            <a:bodyPr/>
            <a:lstStyle/>
            <a:p>
              <a:endParaRPr lang="en-US"/>
            </a:p>
          </p:txBody>
        </p:sp>
        <p:sp>
          <p:nvSpPr>
            <p:cNvPr id="49408" name="Line 245"/>
            <p:cNvSpPr>
              <a:spLocks noChangeShapeType="1"/>
            </p:cNvSpPr>
            <p:nvPr/>
          </p:nvSpPr>
          <p:spPr bwMode="auto">
            <a:xfrm>
              <a:off x="7620000" y="3200400"/>
              <a:ext cx="228600" cy="0"/>
            </a:xfrm>
            <a:prstGeom prst="line">
              <a:avLst/>
            </a:prstGeom>
            <a:noFill/>
            <a:ln w="9525">
              <a:solidFill>
                <a:srgbClr val="99CC00"/>
              </a:solidFill>
              <a:round/>
              <a:headEnd/>
              <a:tailEnd/>
            </a:ln>
          </p:spPr>
          <p:txBody>
            <a:bodyPr/>
            <a:lstStyle/>
            <a:p>
              <a:endParaRPr lang="en-US"/>
            </a:p>
          </p:txBody>
        </p:sp>
        <p:sp>
          <p:nvSpPr>
            <p:cNvPr id="49409" name="Line 246"/>
            <p:cNvSpPr>
              <a:spLocks noChangeShapeType="1"/>
            </p:cNvSpPr>
            <p:nvPr/>
          </p:nvSpPr>
          <p:spPr bwMode="auto">
            <a:xfrm>
              <a:off x="7696200" y="2971800"/>
              <a:ext cx="152400" cy="228600"/>
            </a:xfrm>
            <a:prstGeom prst="line">
              <a:avLst/>
            </a:prstGeom>
            <a:noFill/>
            <a:ln w="9525">
              <a:solidFill>
                <a:srgbClr val="99CC00"/>
              </a:solidFill>
              <a:round/>
              <a:headEnd/>
              <a:tailEnd/>
            </a:ln>
          </p:spPr>
          <p:txBody>
            <a:bodyPr/>
            <a:lstStyle/>
            <a:p>
              <a:endParaRPr lang="en-US"/>
            </a:p>
          </p:txBody>
        </p:sp>
        <p:sp>
          <p:nvSpPr>
            <p:cNvPr id="49410" name="Line 247"/>
            <p:cNvSpPr>
              <a:spLocks noChangeShapeType="1"/>
            </p:cNvSpPr>
            <p:nvPr/>
          </p:nvSpPr>
          <p:spPr bwMode="auto">
            <a:xfrm>
              <a:off x="7543800" y="3505200"/>
              <a:ext cx="152400" cy="0"/>
            </a:xfrm>
            <a:prstGeom prst="line">
              <a:avLst/>
            </a:prstGeom>
            <a:noFill/>
            <a:ln w="9525">
              <a:solidFill>
                <a:srgbClr val="FF9900"/>
              </a:solidFill>
              <a:round/>
              <a:headEnd/>
              <a:tailEnd/>
            </a:ln>
          </p:spPr>
          <p:txBody>
            <a:bodyPr/>
            <a:lstStyle/>
            <a:p>
              <a:endParaRPr lang="en-US"/>
            </a:p>
          </p:txBody>
        </p:sp>
        <p:sp>
          <p:nvSpPr>
            <p:cNvPr id="49411" name="Line 248"/>
            <p:cNvSpPr>
              <a:spLocks noChangeShapeType="1"/>
            </p:cNvSpPr>
            <p:nvPr/>
          </p:nvSpPr>
          <p:spPr bwMode="auto">
            <a:xfrm>
              <a:off x="7467600" y="3657600"/>
              <a:ext cx="152400" cy="0"/>
            </a:xfrm>
            <a:prstGeom prst="line">
              <a:avLst/>
            </a:prstGeom>
            <a:noFill/>
            <a:ln w="9525">
              <a:solidFill>
                <a:srgbClr val="FF9900"/>
              </a:solidFill>
              <a:round/>
              <a:headEnd/>
              <a:tailEnd/>
            </a:ln>
          </p:spPr>
          <p:txBody>
            <a:bodyPr/>
            <a:lstStyle/>
            <a:p>
              <a:endParaRPr lang="en-US"/>
            </a:p>
          </p:txBody>
        </p:sp>
        <p:sp>
          <p:nvSpPr>
            <p:cNvPr id="49412" name="Line 249"/>
            <p:cNvSpPr>
              <a:spLocks noChangeShapeType="1"/>
            </p:cNvSpPr>
            <p:nvPr/>
          </p:nvSpPr>
          <p:spPr bwMode="auto">
            <a:xfrm flipV="1">
              <a:off x="7620000" y="3505200"/>
              <a:ext cx="76200" cy="152400"/>
            </a:xfrm>
            <a:prstGeom prst="line">
              <a:avLst/>
            </a:prstGeom>
            <a:noFill/>
            <a:ln w="9525">
              <a:solidFill>
                <a:srgbClr val="FF9900"/>
              </a:solidFill>
              <a:round/>
              <a:headEnd/>
              <a:tailEnd/>
            </a:ln>
          </p:spPr>
          <p:txBody>
            <a:bodyPr/>
            <a:lstStyle/>
            <a:p>
              <a:endParaRPr lang="en-US"/>
            </a:p>
          </p:txBody>
        </p:sp>
        <p:sp>
          <p:nvSpPr>
            <p:cNvPr id="49413" name="Line 256"/>
            <p:cNvSpPr>
              <a:spLocks noChangeShapeType="1"/>
            </p:cNvSpPr>
            <p:nvPr/>
          </p:nvSpPr>
          <p:spPr bwMode="auto">
            <a:xfrm flipH="1" flipV="1">
              <a:off x="7543800" y="3505200"/>
              <a:ext cx="76200" cy="152400"/>
            </a:xfrm>
            <a:prstGeom prst="line">
              <a:avLst/>
            </a:prstGeom>
            <a:noFill/>
            <a:ln w="9525">
              <a:solidFill>
                <a:srgbClr val="FF9900"/>
              </a:solidFill>
              <a:round/>
              <a:headEnd/>
              <a:tailEnd/>
            </a:ln>
          </p:spPr>
          <p:txBody>
            <a:bodyPr/>
            <a:lstStyle/>
            <a:p>
              <a:endParaRPr lang="en-US"/>
            </a:p>
          </p:txBody>
        </p:sp>
      </p:grpSp>
      <p:grpSp>
        <p:nvGrpSpPr>
          <p:cNvPr id="4" name="Group 269"/>
          <p:cNvGrpSpPr>
            <a:grpSpLocks/>
          </p:cNvGrpSpPr>
          <p:nvPr/>
        </p:nvGrpSpPr>
        <p:grpSpPr bwMode="auto">
          <a:xfrm>
            <a:off x="3581400" y="3886200"/>
            <a:ext cx="2882900" cy="2273300"/>
            <a:chOff x="3898900" y="4114800"/>
            <a:chExt cx="2882900" cy="2273300"/>
          </a:xfrm>
        </p:grpSpPr>
        <p:sp>
          <p:nvSpPr>
            <p:cNvPr id="49265" name="Oval 134"/>
            <p:cNvSpPr>
              <a:spLocks noChangeArrowheads="1"/>
            </p:cNvSpPr>
            <p:nvPr/>
          </p:nvSpPr>
          <p:spPr bwMode="auto">
            <a:xfrm>
              <a:off x="4597400" y="41148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66" name="Oval 135"/>
            <p:cNvSpPr>
              <a:spLocks noChangeArrowheads="1"/>
            </p:cNvSpPr>
            <p:nvPr/>
          </p:nvSpPr>
          <p:spPr bwMode="auto">
            <a:xfrm>
              <a:off x="4432300" y="42799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67" name="Oval 136"/>
            <p:cNvSpPr>
              <a:spLocks noChangeArrowheads="1"/>
            </p:cNvSpPr>
            <p:nvPr/>
          </p:nvSpPr>
          <p:spPr bwMode="auto">
            <a:xfrm>
              <a:off x="4660900" y="44323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68" name="Line 137"/>
            <p:cNvSpPr>
              <a:spLocks noChangeShapeType="1"/>
            </p:cNvSpPr>
            <p:nvPr/>
          </p:nvSpPr>
          <p:spPr bwMode="auto">
            <a:xfrm flipV="1">
              <a:off x="4432300" y="4114800"/>
              <a:ext cx="228600" cy="228600"/>
            </a:xfrm>
            <a:prstGeom prst="line">
              <a:avLst/>
            </a:prstGeom>
            <a:noFill/>
            <a:ln w="9525">
              <a:solidFill>
                <a:srgbClr val="FF0000"/>
              </a:solidFill>
              <a:round/>
              <a:headEnd/>
              <a:tailEnd/>
            </a:ln>
          </p:spPr>
          <p:txBody>
            <a:bodyPr/>
            <a:lstStyle/>
            <a:p>
              <a:endParaRPr lang="en-US"/>
            </a:p>
          </p:txBody>
        </p:sp>
        <p:sp>
          <p:nvSpPr>
            <p:cNvPr id="49269" name="Line 138"/>
            <p:cNvSpPr>
              <a:spLocks noChangeShapeType="1"/>
            </p:cNvSpPr>
            <p:nvPr/>
          </p:nvSpPr>
          <p:spPr bwMode="auto">
            <a:xfrm>
              <a:off x="4432300" y="4343400"/>
              <a:ext cx="228600" cy="76200"/>
            </a:xfrm>
            <a:prstGeom prst="line">
              <a:avLst/>
            </a:prstGeom>
            <a:noFill/>
            <a:ln w="9525">
              <a:solidFill>
                <a:srgbClr val="FF0000"/>
              </a:solidFill>
              <a:round/>
              <a:headEnd/>
              <a:tailEnd/>
            </a:ln>
          </p:spPr>
          <p:txBody>
            <a:bodyPr/>
            <a:lstStyle/>
            <a:p>
              <a:endParaRPr lang="en-US"/>
            </a:p>
          </p:txBody>
        </p:sp>
        <p:sp>
          <p:nvSpPr>
            <p:cNvPr id="49270" name="Line 139"/>
            <p:cNvSpPr>
              <a:spLocks noChangeShapeType="1"/>
            </p:cNvSpPr>
            <p:nvPr/>
          </p:nvSpPr>
          <p:spPr bwMode="auto">
            <a:xfrm>
              <a:off x="4660900" y="4114800"/>
              <a:ext cx="0" cy="304800"/>
            </a:xfrm>
            <a:prstGeom prst="line">
              <a:avLst/>
            </a:prstGeom>
            <a:noFill/>
            <a:ln w="9525">
              <a:solidFill>
                <a:srgbClr val="FF0000"/>
              </a:solidFill>
              <a:round/>
              <a:headEnd/>
              <a:tailEnd/>
            </a:ln>
          </p:spPr>
          <p:txBody>
            <a:bodyPr/>
            <a:lstStyle/>
            <a:p>
              <a:endParaRPr lang="en-US"/>
            </a:p>
          </p:txBody>
        </p:sp>
        <p:sp>
          <p:nvSpPr>
            <p:cNvPr id="49271" name="Oval 140"/>
            <p:cNvSpPr>
              <a:spLocks noChangeArrowheads="1"/>
            </p:cNvSpPr>
            <p:nvPr/>
          </p:nvSpPr>
          <p:spPr bwMode="auto">
            <a:xfrm>
              <a:off x="4445000" y="45847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72" name="Oval 141"/>
            <p:cNvSpPr>
              <a:spLocks noChangeArrowheads="1"/>
            </p:cNvSpPr>
            <p:nvPr/>
          </p:nvSpPr>
          <p:spPr bwMode="auto">
            <a:xfrm>
              <a:off x="4127500" y="46482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73" name="Line 142"/>
            <p:cNvSpPr>
              <a:spLocks noChangeShapeType="1"/>
            </p:cNvSpPr>
            <p:nvPr/>
          </p:nvSpPr>
          <p:spPr bwMode="auto">
            <a:xfrm flipH="1">
              <a:off x="4127500" y="4343400"/>
              <a:ext cx="304800" cy="304800"/>
            </a:xfrm>
            <a:prstGeom prst="line">
              <a:avLst/>
            </a:prstGeom>
            <a:noFill/>
            <a:ln w="9525">
              <a:solidFill>
                <a:srgbClr val="FF0000"/>
              </a:solidFill>
              <a:round/>
              <a:headEnd/>
              <a:tailEnd/>
            </a:ln>
          </p:spPr>
          <p:txBody>
            <a:bodyPr/>
            <a:lstStyle/>
            <a:p>
              <a:endParaRPr lang="en-US"/>
            </a:p>
          </p:txBody>
        </p:sp>
        <p:sp>
          <p:nvSpPr>
            <p:cNvPr id="49274" name="Line 143"/>
            <p:cNvSpPr>
              <a:spLocks noChangeShapeType="1"/>
            </p:cNvSpPr>
            <p:nvPr/>
          </p:nvSpPr>
          <p:spPr bwMode="auto">
            <a:xfrm>
              <a:off x="4432300" y="4343400"/>
              <a:ext cx="76200" cy="304800"/>
            </a:xfrm>
            <a:prstGeom prst="line">
              <a:avLst/>
            </a:prstGeom>
            <a:noFill/>
            <a:ln w="9525">
              <a:solidFill>
                <a:srgbClr val="FF0000"/>
              </a:solidFill>
              <a:round/>
              <a:headEnd/>
              <a:tailEnd/>
            </a:ln>
          </p:spPr>
          <p:txBody>
            <a:bodyPr/>
            <a:lstStyle/>
            <a:p>
              <a:endParaRPr lang="en-US"/>
            </a:p>
          </p:txBody>
        </p:sp>
        <p:sp>
          <p:nvSpPr>
            <p:cNvPr id="49275" name="Line 144"/>
            <p:cNvSpPr>
              <a:spLocks noChangeShapeType="1"/>
            </p:cNvSpPr>
            <p:nvPr/>
          </p:nvSpPr>
          <p:spPr bwMode="auto">
            <a:xfrm flipH="1">
              <a:off x="4508500" y="4495800"/>
              <a:ext cx="152400" cy="76200"/>
            </a:xfrm>
            <a:prstGeom prst="line">
              <a:avLst/>
            </a:prstGeom>
            <a:noFill/>
            <a:ln w="9525">
              <a:solidFill>
                <a:srgbClr val="FF0000"/>
              </a:solidFill>
              <a:round/>
              <a:headEnd/>
              <a:tailEnd/>
            </a:ln>
          </p:spPr>
          <p:txBody>
            <a:bodyPr/>
            <a:lstStyle/>
            <a:p>
              <a:endParaRPr lang="en-US"/>
            </a:p>
          </p:txBody>
        </p:sp>
        <p:sp>
          <p:nvSpPr>
            <p:cNvPr id="49276" name="Oval 145"/>
            <p:cNvSpPr>
              <a:spLocks noChangeArrowheads="1"/>
            </p:cNvSpPr>
            <p:nvPr/>
          </p:nvSpPr>
          <p:spPr bwMode="auto">
            <a:xfrm>
              <a:off x="4216400" y="48895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77" name="Oval 146"/>
            <p:cNvSpPr>
              <a:spLocks noChangeArrowheads="1"/>
            </p:cNvSpPr>
            <p:nvPr/>
          </p:nvSpPr>
          <p:spPr bwMode="auto">
            <a:xfrm>
              <a:off x="3898900" y="48768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78" name="Oval 147"/>
            <p:cNvSpPr>
              <a:spLocks noChangeArrowheads="1"/>
            </p:cNvSpPr>
            <p:nvPr/>
          </p:nvSpPr>
          <p:spPr bwMode="auto">
            <a:xfrm>
              <a:off x="4584700" y="48895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79" name="Oval 148"/>
            <p:cNvSpPr>
              <a:spLocks noChangeArrowheads="1"/>
            </p:cNvSpPr>
            <p:nvPr/>
          </p:nvSpPr>
          <p:spPr bwMode="auto">
            <a:xfrm>
              <a:off x="4368800" y="51816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80" name="Oval 149"/>
            <p:cNvSpPr>
              <a:spLocks noChangeArrowheads="1"/>
            </p:cNvSpPr>
            <p:nvPr/>
          </p:nvSpPr>
          <p:spPr bwMode="auto">
            <a:xfrm>
              <a:off x="4432300" y="54991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81" name="Oval 150"/>
            <p:cNvSpPr>
              <a:spLocks noChangeArrowheads="1"/>
            </p:cNvSpPr>
            <p:nvPr/>
          </p:nvSpPr>
          <p:spPr bwMode="auto">
            <a:xfrm>
              <a:off x="4749800" y="53340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82" name="Line 151"/>
            <p:cNvSpPr>
              <a:spLocks noChangeShapeType="1"/>
            </p:cNvSpPr>
            <p:nvPr/>
          </p:nvSpPr>
          <p:spPr bwMode="auto">
            <a:xfrm>
              <a:off x="4127500" y="4648200"/>
              <a:ext cx="152400" cy="304800"/>
            </a:xfrm>
            <a:prstGeom prst="line">
              <a:avLst/>
            </a:prstGeom>
            <a:noFill/>
            <a:ln w="9525">
              <a:solidFill>
                <a:srgbClr val="FF0000"/>
              </a:solidFill>
              <a:round/>
              <a:headEnd/>
              <a:tailEnd/>
            </a:ln>
          </p:spPr>
          <p:txBody>
            <a:bodyPr/>
            <a:lstStyle/>
            <a:p>
              <a:endParaRPr lang="en-US"/>
            </a:p>
          </p:txBody>
        </p:sp>
        <p:sp>
          <p:nvSpPr>
            <p:cNvPr id="49283" name="Line 152"/>
            <p:cNvSpPr>
              <a:spLocks noChangeShapeType="1"/>
            </p:cNvSpPr>
            <p:nvPr/>
          </p:nvSpPr>
          <p:spPr bwMode="auto">
            <a:xfrm flipH="1">
              <a:off x="3898900" y="4648200"/>
              <a:ext cx="228600" cy="228600"/>
            </a:xfrm>
            <a:prstGeom prst="line">
              <a:avLst/>
            </a:prstGeom>
            <a:noFill/>
            <a:ln w="9525">
              <a:solidFill>
                <a:srgbClr val="FF0000"/>
              </a:solidFill>
              <a:round/>
              <a:headEnd/>
              <a:tailEnd/>
            </a:ln>
          </p:spPr>
          <p:txBody>
            <a:bodyPr/>
            <a:lstStyle/>
            <a:p>
              <a:endParaRPr lang="en-US"/>
            </a:p>
          </p:txBody>
        </p:sp>
        <p:sp>
          <p:nvSpPr>
            <p:cNvPr id="49284" name="Line 153"/>
            <p:cNvSpPr>
              <a:spLocks noChangeShapeType="1"/>
            </p:cNvSpPr>
            <p:nvPr/>
          </p:nvSpPr>
          <p:spPr bwMode="auto">
            <a:xfrm>
              <a:off x="3898900" y="4876800"/>
              <a:ext cx="381000" cy="76200"/>
            </a:xfrm>
            <a:prstGeom prst="line">
              <a:avLst/>
            </a:prstGeom>
            <a:noFill/>
            <a:ln w="9525">
              <a:solidFill>
                <a:srgbClr val="FF0000"/>
              </a:solidFill>
              <a:round/>
              <a:headEnd/>
              <a:tailEnd/>
            </a:ln>
          </p:spPr>
          <p:txBody>
            <a:bodyPr/>
            <a:lstStyle/>
            <a:p>
              <a:endParaRPr lang="en-US"/>
            </a:p>
          </p:txBody>
        </p:sp>
        <p:sp>
          <p:nvSpPr>
            <p:cNvPr id="49285" name="Line 154"/>
            <p:cNvSpPr>
              <a:spLocks noChangeShapeType="1"/>
            </p:cNvSpPr>
            <p:nvPr/>
          </p:nvSpPr>
          <p:spPr bwMode="auto">
            <a:xfrm flipV="1">
              <a:off x="4279900" y="4572000"/>
              <a:ext cx="228600" cy="381000"/>
            </a:xfrm>
            <a:prstGeom prst="line">
              <a:avLst/>
            </a:prstGeom>
            <a:noFill/>
            <a:ln w="9525">
              <a:solidFill>
                <a:srgbClr val="FF0000"/>
              </a:solidFill>
              <a:round/>
              <a:headEnd/>
              <a:tailEnd/>
            </a:ln>
          </p:spPr>
          <p:txBody>
            <a:bodyPr/>
            <a:lstStyle/>
            <a:p>
              <a:endParaRPr lang="en-US"/>
            </a:p>
          </p:txBody>
        </p:sp>
        <p:sp>
          <p:nvSpPr>
            <p:cNvPr id="49286" name="Oval 155"/>
            <p:cNvSpPr>
              <a:spLocks noChangeArrowheads="1"/>
            </p:cNvSpPr>
            <p:nvPr/>
          </p:nvSpPr>
          <p:spPr bwMode="auto">
            <a:xfrm>
              <a:off x="4965700" y="51816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87" name="Oval 156"/>
            <p:cNvSpPr>
              <a:spLocks noChangeArrowheads="1"/>
            </p:cNvSpPr>
            <p:nvPr/>
          </p:nvSpPr>
          <p:spPr bwMode="auto">
            <a:xfrm>
              <a:off x="5029200" y="5486400"/>
              <a:ext cx="63500" cy="63500"/>
            </a:xfrm>
            <a:prstGeom prst="ellipse">
              <a:avLst/>
            </a:prstGeom>
            <a:solidFill>
              <a:srgbClr val="FF0000"/>
            </a:solidFill>
            <a:ln w="12700">
              <a:solidFill>
                <a:srgbClr val="FF0000"/>
              </a:solidFill>
              <a:round/>
              <a:headEnd/>
              <a:tailEnd/>
            </a:ln>
          </p:spPr>
          <p:txBody>
            <a:bodyPr wrap="none" anchor="ctr"/>
            <a:lstStyle/>
            <a:p>
              <a:endParaRPr lang="zh-CN" altLang="zh-CN">
                <a:ea typeface="SimSun" pitchFamily="2" charset="-122"/>
              </a:endParaRPr>
            </a:p>
          </p:txBody>
        </p:sp>
        <p:sp>
          <p:nvSpPr>
            <p:cNvPr id="49288" name="Oval 157"/>
            <p:cNvSpPr>
              <a:spLocks noChangeArrowheads="1"/>
            </p:cNvSpPr>
            <p:nvPr/>
          </p:nvSpPr>
          <p:spPr bwMode="auto">
            <a:xfrm>
              <a:off x="6032500" y="41910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89" name="Oval 158"/>
            <p:cNvSpPr>
              <a:spLocks noChangeArrowheads="1"/>
            </p:cNvSpPr>
            <p:nvPr/>
          </p:nvSpPr>
          <p:spPr bwMode="auto">
            <a:xfrm>
              <a:off x="5638800" y="48768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0" name="Oval 160"/>
            <p:cNvSpPr>
              <a:spLocks noChangeArrowheads="1"/>
            </p:cNvSpPr>
            <p:nvPr/>
          </p:nvSpPr>
          <p:spPr bwMode="auto">
            <a:xfrm>
              <a:off x="6248400" y="43434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1" name="Oval 161"/>
            <p:cNvSpPr>
              <a:spLocks noChangeArrowheads="1"/>
            </p:cNvSpPr>
            <p:nvPr/>
          </p:nvSpPr>
          <p:spPr bwMode="auto">
            <a:xfrm>
              <a:off x="6096000" y="44196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2" name="Oval 162"/>
            <p:cNvSpPr>
              <a:spLocks noChangeArrowheads="1"/>
            </p:cNvSpPr>
            <p:nvPr/>
          </p:nvSpPr>
          <p:spPr bwMode="auto">
            <a:xfrm>
              <a:off x="5867400" y="48006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3" name="Oval 163"/>
            <p:cNvSpPr>
              <a:spLocks noChangeArrowheads="1"/>
            </p:cNvSpPr>
            <p:nvPr/>
          </p:nvSpPr>
          <p:spPr bwMode="auto">
            <a:xfrm>
              <a:off x="5791200" y="50292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4" name="Oval 164"/>
            <p:cNvSpPr>
              <a:spLocks noChangeArrowheads="1"/>
            </p:cNvSpPr>
            <p:nvPr/>
          </p:nvSpPr>
          <p:spPr bwMode="auto">
            <a:xfrm>
              <a:off x="5943600" y="50419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5" name="Oval 165"/>
            <p:cNvSpPr>
              <a:spLocks noChangeArrowheads="1"/>
            </p:cNvSpPr>
            <p:nvPr/>
          </p:nvSpPr>
          <p:spPr bwMode="auto">
            <a:xfrm>
              <a:off x="5803900" y="51816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296" name="Line 166"/>
            <p:cNvSpPr>
              <a:spLocks noChangeShapeType="1"/>
            </p:cNvSpPr>
            <p:nvPr/>
          </p:nvSpPr>
          <p:spPr bwMode="auto">
            <a:xfrm flipV="1">
              <a:off x="5715000" y="4191000"/>
              <a:ext cx="381000" cy="685800"/>
            </a:xfrm>
            <a:prstGeom prst="line">
              <a:avLst/>
            </a:prstGeom>
            <a:noFill/>
            <a:ln w="9525">
              <a:solidFill>
                <a:schemeClr val="tx2"/>
              </a:solidFill>
              <a:round/>
              <a:headEnd/>
              <a:tailEnd/>
            </a:ln>
          </p:spPr>
          <p:txBody>
            <a:bodyPr/>
            <a:lstStyle/>
            <a:p>
              <a:endParaRPr lang="en-US"/>
            </a:p>
          </p:txBody>
        </p:sp>
        <p:sp>
          <p:nvSpPr>
            <p:cNvPr id="49297" name="Line 167"/>
            <p:cNvSpPr>
              <a:spLocks noChangeShapeType="1"/>
            </p:cNvSpPr>
            <p:nvPr/>
          </p:nvSpPr>
          <p:spPr bwMode="auto">
            <a:xfrm flipV="1">
              <a:off x="6096000" y="4114800"/>
              <a:ext cx="152400" cy="76200"/>
            </a:xfrm>
            <a:prstGeom prst="line">
              <a:avLst/>
            </a:prstGeom>
            <a:noFill/>
            <a:ln w="9525">
              <a:solidFill>
                <a:schemeClr val="tx2"/>
              </a:solidFill>
              <a:round/>
              <a:headEnd/>
              <a:tailEnd/>
            </a:ln>
          </p:spPr>
          <p:txBody>
            <a:bodyPr/>
            <a:lstStyle/>
            <a:p>
              <a:endParaRPr lang="en-US"/>
            </a:p>
          </p:txBody>
        </p:sp>
        <p:sp>
          <p:nvSpPr>
            <p:cNvPr id="49298" name="Line 168"/>
            <p:cNvSpPr>
              <a:spLocks noChangeShapeType="1"/>
            </p:cNvSpPr>
            <p:nvPr/>
          </p:nvSpPr>
          <p:spPr bwMode="auto">
            <a:xfrm>
              <a:off x="6096000" y="4191000"/>
              <a:ext cx="152400" cy="152400"/>
            </a:xfrm>
            <a:prstGeom prst="line">
              <a:avLst/>
            </a:prstGeom>
            <a:noFill/>
            <a:ln w="9525">
              <a:solidFill>
                <a:schemeClr val="tx2"/>
              </a:solidFill>
              <a:round/>
              <a:headEnd/>
              <a:tailEnd/>
            </a:ln>
          </p:spPr>
          <p:txBody>
            <a:bodyPr/>
            <a:lstStyle/>
            <a:p>
              <a:endParaRPr lang="en-US"/>
            </a:p>
          </p:txBody>
        </p:sp>
        <p:sp>
          <p:nvSpPr>
            <p:cNvPr id="49299" name="Line 169"/>
            <p:cNvSpPr>
              <a:spLocks noChangeShapeType="1"/>
            </p:cNvSpPr>
            <p:nvPr/>
          </p:nvSpPr>
          <p:spPr bwMode="auto">
            <a:xfrm>
              <a:off x="6096000" y="4191000"/>
              <a:ext cx="0" cy="228600"/>
            </a:xfrm>
            <a:prstGeom prst="line">
              <a:avLst/>
            </a:prstGeom>
            <a:noFill/>
            <a:ln w="9525">
              <a:solidFill>
                <a:schemeClr val="tx2"/>
              </a:solidFill>
              <a:round/>
              <a:headEnd/>
              <a:tailEnd/>
            </a:ln>
          </p:spPr>
          <p:txBody>
            <a:bodyPr/>
            <a:lstStyle/>
            <a:p>
              <a:endParaRPr lang="en-US"/>
            </a:p>
          </p:txBody>
        </p:sp>
        <p:sp>
          <p:nvSpPr>
            <p:cNvPr id="49300" name="Line 170"/>
            <p:cNvSpPr>
              <a:spLocks noChangeShapeType="1"/>
            </p:cNvSpPr>
            <p:nvPr/>
          </p:nvSpPr>
          <p:spPr bwMode="auto">
            <a:xfrm flipV="1">
              <a:off x="6096000" y="4343400"/>
              <a:ext cx="152400" cy="76200"/>
            </a:xfrm>
            <a:prstGeom prst="line">
              <a:avLst/>
            </a:prstGeom>
            <a:noFill/>
            <a:ln w="9525">
              <a:solidFill>
                <a:schemeClr val="tx2"/>
              </a:solidFill>
              <a:round/>
              <a:headEnd/>
              <a:tailEnd/>
            </a:ln>
          </p:spPr>
          <p:txBody>
            <a:bodyPr/>
            <a:lstStyle/>
            <a:p>
              <a:endParaRPr lang="en-US"/>
            </a:p>
          </p:txBody>
        </p:sp>
        <p:sp>
          <p:nvSpPr>
            <p:cNvPr id="49301" name="Line 171"/>
            <p:cNvSpPr>
              <a:spLocks noChangeShapeType="1"/>
            </p:cNvSpPr>
            <p:nvPr/>
          </p:nvSpPr>
          <p:spPr bwMode="auto">
            <a:xfrm>
              <a:off x="5867400" y="4800600"/>
              <a:ext cx="76200" cy="304800"/>
            </a:xfrm>
            <a:prstGeom prst="line">
              <a:avLst/>
            </a:prstGeom>
            <a:noFill/>
            <a:ln w="9525">
              <a:solidFill>
                <a:schemeClr val="tx2"/>
              </a:solidFill>
              <a:round/>
              <a:headEnd/>
              <a:tailEnd/>
            </a:ln>
          </p:spPr>
          <p:txBody>
            <a:bodyPr/>
            <a:lstStyle/>
            <a:p>
              <a:endParaRPr lang="en-US"/>
            </a:p>
          </p:txBody>
        </p:sp>
        <p:sp>
          <p:nvSpPr>
            <p:cNvPr id="49302" name="Line 172"/>
            <p:cNvSpPr>
              <a:spLocks noChangeShapeType="1"/>
            </p:cNvSpPr>
            <p:nvPr/>
          </p:nvSpPr>
          <p:spPr bwMode="auto">
            <a:xfrm>
              <a:off x="5791200" y="5029200"/>
              <a:ext cx="76200" cy="152400"/>
            </a:xfrm>
            <a:prstGeom prst="line">
              <a:avLst/>
            </a:prstGeom>
            <a:noFill/>
            <a:ln w="9525">
              <a:solidFill>
                <a:schemeClr val="tx2"/>
              </a:solidFill>
              <a:round/>
              <a:headEnd/>
              <a:tailEnd/>
            </a:ln>
          </p:spPr>
          <p:txBody>
            <a:bodyPr/>
            <a:lstStyle/>
            <a:p>
              <a:endParaRPr lang="en-US"/>
            </a:p>
          </p:txBody>
        </p:sp>
        <p:sp>
          <p:nvSpPr>
            <p:cNvPr id="49303" name="Line 173"/>
            <p:cNvSpPr>
              <a:spLocks noChangeShapeType="1"/>
            </p:cNvSpPr>
            <p:nvPr/>
          </p:nvSpPr>
          <p:spPr bwMode="auto">
            <a:xfrm flipV="1">
              <a:off x="5867400" y="5105400"/>
              <a:ext cx="76200" cy="76200"/>
            </a:xfrm>
            <a:prstGeom prst="line">
              <a:avLst/>
            </a:prstGeom>
            <a:noFill/>
            <a:ln w="9525">
              <a:solidFill>
                <a:schemeClr val="tx2"/>
              </a:solidFill>
              <a:round/>
              <a:headEnd/>
              <a:tailEnd/>
            </a:ln>
          </p:spPr>
          <p:txBody>
            <a:bodyPr/>
            <a:lstStyle/>
            <a:p>
              <a:endParaRPr lang="en-US"/>
            </a:p>
          </p:txBody>
        </p:sp>
        <p:sp>
          <p:nvSpPr>
            <p:cNvPr id="49304" name="Oval 174"/>
            <p:cNvSpPr>
              <a:spLocks noChangeArrowheads="1"/>
            </p:cNvSpPr>
            <p:nvPr/>
          </p:nvSpPr>
          <p:spPr bwMode="auto">
            <a:xfrm>
              <a:off x="6489700" y="48895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305" name="Oval 175"/>
            <p:cNvSpPr>
              <a:spLocks noChangeArrowheads="1"/>
            </p:cNvSpPr>
            <p:nvPr/>
          </p:nvSpPr>
          <p:spPr bwMode="auto">
            <a:xfrm>
              <a:off x="6718300" y="49657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306" name="Oval 176"/>
            <p:cNvSpPr>
              <a:spLocks noChangeArrowheads="1"/>
            </p:cNvSpPr>
            <p:nvPr/>
          </p:nvSpPr>
          <p:spPr bwMode="auto">
            <a:xfrm>
              <a:off x="5715000" y="56388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07" name="Oval 177"/>
            <p:cNvSpPr>
              <a:spLocks noChangeArrowheads="1"/>
            </p:cNvSpPr>
            <p:nvPr/>
          </p:nvSpPr>
          <p:spPr bwMode="auto">
            <a:xfrm>
              <a:off x="5638800" y="57912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08" name="Oval 178"/>
            <p:cNvSpPr>
              <a:spLocks noChangeArrowheads="1"/>
            </p:cNvSpPr>
            <p:nvPr/>
          </p:nvSpPr>
          <p:spPr bwMode="auto">
            <a:xfrm>
              <a:off x="5867400" y="58674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09" name="Oval 179"/>
            <p:cNvSpPr>
              <a:spLocks noChangeArrowheads="1"/>
            </p:cNvSpPr>
            <p:nvPr/>
          </p:nvSpPr>
          <p:spPr bwMode="auto">
            <a:xfrm>
              <a:off x="5715000" y="60960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10" name="Oval 180"/>
            <p:cNvSpPr>
              <a:spLocks noChangeArrowheads="1"/>
            </p:cNvSpPr>
            <p:nvPr/>
          </p:nvSpPr>
          <p:spPr bwMode="auto">
            <a:xfrm>
              <a:off x="6642100" y="4724400"/>
              <a:ext cx="63500" cy="63500"/>
            </a:xfrm>
            <a:prstGeom prst="ellipse">
              <a:avLst/>
            </a:prstGeom>
            <a:solidFill>
              <a:schemeClr val="tx2"/>
            </a:solidFill>
            <a:ln w="12700">
              <a:solidFill>
                <a:schemeClr val="tx2"/>
              </a:solidFill>
              <a:round/>
              <a:headEnd/>
              <a:tailEnd/>
            </a:ln>
          </p:spPr>
          <p:txBody>
            <a:bodyPr wrap="none" anchor="ctr"/>
            <a:lstStyle/>
            <a:p>
              <a:endParaRPr lang="zh-CN" altLang="zh-CN">
                <a:ea typeface="SimSun" pitchFamily="2" charset="-122"/>
              </a:endParaRPr>
            </a:p>
          </p:txBody>
        </p:sp>
        <p:sp>
          <p:nvSpPr>
            <p:cNvPr id="49311" name="Oval 181"/>
            <p:cNvSpPr>
              <a:spLocks noChangeArrowheads="1"/>
            </p:cNvSpPr>
            <p:nvPr/>
          </p:nvSpPr>
          <p:spPr bwMode="auto">
            <a:xfrm>
              <a:off x="5638800" y="62611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12" name="Oval 182"/>
            <p:cNvSpPr>
              <a:spLocks noChangeArrowheads="1"/>
            </p:cNvSpPr>
            <p:nvPr/>
          </p:nvSpPr>
          <p:spPr bwMode="auto">
            <a:xfrm>
              <a:off x="5499100" y="61722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13" name="Oval 183"/>
            <p:cNvSpPr>
              <a:spLocks noChangeArrowheads="1"/>
            </p:cNvSpPr>
            <p:nvPr/>
          </p:nvSpPr>
          <p:spPr bwMode="auto">
            <a:xfrm>
              <a:off x="5486400" y="6324600"/>
              <a:ext cx="63500" cy="63500"/>
            </a:xfrm>
            <a:prstGeom prst="ellipse">
              <a:avLst/>
            </a:prstGeom>
            <a:solidFill>
              <a:srgbClr val="00FF00"/>
            </a:solidFill>
            <a:ln w="12700">
              <a:solidFill>
                <a:srgbClr val="00FF00"/>
              </a:solidFill>
              <a:round/>
              <a:headEnd/>
              <a:tailEnd/>
            </a:ln>
          </p:spPr>
          <p:txBody>
            <a:bodyPr wrap="none" anchor="ctr"/>
            <a:lstStyle/>
            <a:p>
              <a:endParaRPr lang="zh-CN" altLang="zh-CN">
                <a:ea typeface="SimSun" pitchFamily="2" charset="-122"/>
              </a:endParaRPr>
            </a:p>
          </p:txBody>
        </p:sp>
        <p:sp>
          <p:nvSpPr>
            <p:cNvPr id="49314" name="Line 184"/>
            <p:cNvSpPr>
              <a:spLocks noChangeShapeType="1"/>
            </p:cNvSpPr>
            <p:nvPr/>
          </p:nvSpPr>
          <p:spPr bwMode="auto">
            <a:xfrm>
              <a:off x="6553200" y="4953000"/>
              <a:ext cx="228600" cy="76200"/>
            </a:xfrm>
            <a:prstGeom prst="line">
              <a:avLst/>
            </a:prstGeom>
            <a:noFill/>
            <a:ln w="9525">
              <a:solidFill>
                <a:schemeClr val="tx2"/>
              </a:solidFill>
              <a:round/>
              <a:headEnd/>
              <a:tailEnd/>
            </a:ln>
          </p:spPr>
          <p:txBody>
            <a:bodyPr/>
            <a:lstStyle/>
            <a:p>
              <a:endParaRPr lang="en-US"/>
            </a:p>
          </p:txBody>
        </p:sp>
        <p:sp>
          <p:nvSpPr>
            <p:cNvPr id="49315" name="Line 185"/>
            <p:cNvSpPr>
              <a:spLocks noChangeShapeType="1"/>
            </p:cNvSpPr>
            <p:nvPr/>
          </p:nvSpPr>
          <p:spPr bwMode="auto">
            <a:xfrm>
              <a:off x="6705600" y="4724400"/>
              <a:ext cx="76200" cy="304800"/>
            </a:xfrm>
            <a:prstGeom prst="line">
              <a:avLst/>
            </a:prstGeom>
            <a:noFill/>
            <a:ln w="9525">
              <a:solidFill>
                <a:schemeClr val="tx2"/>
              </a:solidFill>
              <a:round/>
              <a:headEnd/>
              <a:tailEnd/>
            </a:ln>
          </p:spPr>
          <p:txBody>
            <a:bodyPr/>
            <a:lstStyle/>
            <a:p>
              <a:endParaRPr lang="en-US"/>
            </a:p>
          </p:txBody>
        </p:sp>
        <p:sp>
          <p:nvSpPr>
            <p:cNvPr id="49316" name="Line 186"/>
            <p:cNvSpPr>
              <a:spLocks noChangeShapeType="1"/>
            </p:cNvSpPr>
            <p:nvPr/>
          </p:nvSpPr>
          <p:spPr bwMode="auto">
            <a:xfrm>
              <a:off x="6248400" y="4343400"/>
              <a:ext cx="457200" cy="381000"/>
            </a:xfrm>
            <a:prstGeom prst="line">
              <a:avLst/>
            </a:prstGeom>
            <a:noFill/>
            <a:ln w="9525">
              <a:solidFill>
                <a:schemeClr val="tx2"/>
              </a:solidFill>
              <a:round/>
              <a:headEnd/>
              <a:tailEnd/>
            </a:ln>
          </p:spPr>
          <p:txBody>
            <a:bodyPr/>
            <a:lstStyle/>
            <a:p>
              <a:endParaRPr lang="en-US"/>
            </a:p>
          </p:txBody>
        </p:sp>
        <p:sp>
          <p:nvSpPr>
            <p:cNvPr id="49317" name="Line 187"/>
            <p:cNvSpPr>
              <a:spLocks noChangeShapeType="1"/>
            </p:cNvSpPr>
            <p:nvPr/>
          </p:nvSpPr>
          <p:spPr bwMode="auto">
            <a:xfrm>
              <a:off x="6096000" y="4419600"/>
              <a:ext cx="609600" cy="304800"/>
            </a:xfrm>
            <a:prstGeom prst="line">
              <a:avLst/>
            </a:prstGeom>
            <a:noFill/>
            <a:ln w="9525">
              <a:solidFill>
                <a:schemeClr val="tx2"/>
              </a:solidFill>
              <a:round/>
              <a:headEnd/>
              <a:tailEnd/>
            </a:ln>
          </p:spPr>
          <p:txBody>
            <a:bodyPr/>
            <a:lstStyle/>
            <a:p>
              <a:endParaRPr lang="en-US"/>
            </a:p>
          </p:txBody>
        </p:sp>
        <p:sp>
          <p:nvSpPr>
            <p:cNvPr id="49318" name="Line 188"/>
            <p:cNvSpPr>
              <a:spLocks noChangeShapeType="1"/>
            </p:cNvSpPr>
            <p:nvPr/>
          </p:nvSpPr>
          <p:spPr bwMode="auto">
            <a:xfrm>
              <a:off x="5638800" y="5867400"/>
              <a:ext cx="228600" cy="0"/>
            </a:xfrm>
            <a:prstGeom prst="line">
              <a:avLst/>
            </a:prstGeom>
            <a:noFill/>
            <a:ln w="9525">
              <a:solidFill>
                <a:srgbClr val="00FF00"/>
              </a:solidFill>
              <a:round/>
              <a:headEnd/>
              <a:tailEnd/>
            </a:ln>
          </p:spPr>
          <p:txBody>
            <a:bodyPr/>
            <a:lstStyle/>
            <a:p>
              <a:endParaRPr lang="en-US"/>
            </a:p>
          </p:txBody>
        </p:sp>
        <p:sp>
          <p:nvSpPr>
            <p:cNvPr id="49319" name="Line 189"/>
            <p:cNvSpPr>
              <a:spLocks noChangeShapeType="1"/>
            </p:cNvSpPr>
            <p:nvPr/>
          </p:nvSpPr>
          <p:spPr bwMode="auto">
            <a:xfrm flipH="1">
              <a:off x="5562600" y="5791200"/>
              <a:ext cx="76200" cy="381000"/>
            </a:xfrm>
            <a:prstGeom prst="line">
              <a:avLst/>
            </a:prstGeom>
            <a:noFill/>
            <a:ln w="9525">
              <a:solidFill>
                <a:srgbClr val="00FF00"/>
              </a:solidFill>
              <a:round/>
              <a:headEnd/>
              <a:tailEnd/>
            </a:ln>
          </p:spPr>
          <p:txBody>
            <a:bodyPr/>
            <a:lstStyle/>
            <a:p>
              <a:endParaRPr lang="en-US"/>
            </a:p>
          </p:txBody>
        </p:sp>
        <p:sp>
          <p:nvSpPr>
            <p:cNvPr id="49320" name="Line 190"/>
            <p:cNvSpPr>
              <a:spLocks noChangeShapeType="1"/>
            </p:cNvSpPr>
            <p:nvPr/>
          </p:nvSpPr>
          <p:spPr bwMode="auto">
            <a:xfrm>
              <a:off x="5638800" y="5791200"/>
              <a:ext cx="76200" cy="304800"/>
            </a:xfrm>
            <a:prstGeom prst="line">
              <a:avLst/>
            </a:prstGeom>
            <a:noFill/>
            <a:ln w="9525">
              <a:solidFill>
                <a:srgbClr val="00FF00"/>
              </a:solidFill>
              <a:round/>
              <a:headEnd/>
              <a:tailEnd/>
            </a:ln>
          </p:spPr>
          <p:txBody>
            <a:bodyPr/>
            <a:lstStyle/>
            <a:p>
              <a:endParaRPr lang="en-US"/>
            </a:p>
          </p:txBody>
        </p:sp>
        <p:sp>
          <p:nvSpPr>
            <p:cNvPr id="49321" name="Line 191"/>
            <p:cNvSpPr>
              <a:spLocks noChangeShapeType="1"/>
            </p:cNvSpPr>
            <p:nvPr/>
          </p:nvSpPr>
          <p:spPr bwMode="auto">
            <a:xfrm flipH="1">
              <a:off x="5715000" y="5867400"/>
              <a:ext cx="152400" cy="304800"/>
            </a:xfrm>
            <a:prstGeom prst="line">
              <a:avLst/>
            </a:prstGeom>
            <a:noFill/>
            <a:ln w="9525">
              <a:solidFill>
                <a:srgbClr val="00FF00"/>
              </a:solidFill>
              <a:round/>
              <a:headEnd/>
              <a:tailEnd/>
            </a:ln>
          </p:spPr>
          <p:txBody>
            <a:bodyPr/>
            <a:lstStyle/>
            <a:p>
              <a:endParaRPr lang="en-US"/>
            </a:p>
          </p:txBody>
        </p:sp>
        <p:sp>
          <p:nvSpPr>
            <p:cNvPr id="49322" name="Line 192"/>
            <p:cNvSpPr>
              <a:spLocks noChangeShapeType="1"/>
            </p:cNvSpPr>
            <p:nvPr/>
          </p:nvSpPr>
          <p:spPr bwMode="auto">
            <a:xfrm>
              <a:off x="5562600" y="6172200"/>
              <a:ext cx="152400" cy="0"/>
            </a:xfrm>
            <a:prstGeom prst="line">
              <a:avLst/>
            </a:prstGeom>
            <a:noFill/>
            <a:ln w="9525">
              <a:solidFill>
                <a:srgbClr val="00FF00"/>
              </a:solidFill>
              <a:round/>
              <a:headEnd/>
              <a:tailEnd/>
            </a:ln>
          </p:spPr>
          <p:txBody>
            <a:bodyPr/>
            <a:lstStyle/>
            <a:p>
              <a:endParaRPr lang="en-US"/>
            </a:p>
          </p:txBody>
        </p:sp>
        <p:sp>
          <p:nvSpPr>
            <p:cNvPr id="49323" name="Line 193"/>
            <p:cNvSpPr>
              <a:spLocks noChangeShapeType="1"/>
            </p:cNvSpPr>
            <p:nvPr/>
          </p:nvSpPr>
          <p:spPr bwMode="auto">
            <a:xfrm flipH="1">
              <a:off x="5486400" y="6172200"/>
              <a:ext cx="76200" cy="152400"/>
            </a:xfrm>
            <a:prstGeom prst="line">
              <a:avLst/>
            </a:prstGeom>
            <a:noFill/>
            <a:ln w="9525">
              <a:solidFill>
                <a:srgbClr val="00FF00"/>
              </a:solidFill>
              <a:round/>
              <a:headEnd/>
              <a:tailEnd/>
            </a:ln>
          </p:spPr>
          <p:txBody>
            <a:bodyPr/>
            <a:lstStyle/>
            <a:p>
              <a:endParaRPr lang="en-US"/>
            </a:p>
          </p:txBody>
        </p:sp>
        <p:sp>
          <p:nvSpPr>
            <p:cNvPr id="49324" name="Line 194"/>
            <p:cNvSpPr>
              <a:spLocks noChangeShapeType="1"/>
            </p:cNvSpPr>
            <p:nvPr/>
          </p:nvSpPr>
          <p:spPr bwMode="auto">
            <a:xfrm flipH="1">
              <a:off x="5638800" y="6096000"/>
              <a:ext cx="152400" cy="228600"/>
            </a:xfrm>
            <a:prstGeom prst="line">
              <a:avLst/>
            </a:prstGeom>
            <a:noFill/>
            <a:ln w="9525">
              <a:solidFill>
                <a:srgbClr val="00FF00"/>
              </a:solidFill>
              <a:round/>
              <a:headEnd/>
              <a:tailEnd/>
            </a:ln>
          </p:spPr>
          <p:txBody>
            <a:bodyPr/>
            <a:lstStyle/>
            <a:p>
              <a:endParaRPr lang="en-US"/>
            </a:p>
          </p:txBody>
        </p:sp>
        <p:sp>
          <p:nvSpPr>
            <p:cNvPr id="49325" name="Line 195"/>
            <p:cNvSpPr>
              <a:spLocks noChangeShapeType="1"/>
            </p:cNvSpPr>
            <p:nvPr/>
          </p:nvSpPr>
          <p:spPr bwMode="auto">
            <a:xfrm>
              <a:off x="5486400" y="6324600"/>
              <a:ext cx="228600" cy="0"/>
            </a:xfrm>
            <a:prstGeom prst="line">
              <a:avLst/>
            </a:prstGeom>
            <a:noFill/>
            <a:ln w="9525">
              <a:solidFill>
                <a:srgbClr val="00FF00"/>
              </a:solidFill>
              <a:round/>
              <a:headEnd/>
              <a:tailEnd/>
            </a:ln>
          </p:spPr>
          <p:txBody>
            <a:bodyPr/>
            <a:lstStyle/>
            <a:p>
              <a:endParaRPr lang="en-US"/>
            </a:p>
          </p:txBody>
        </p:sp>
        <p:sp>
          <p:nvSpPr>
            <p:cNvPr id="49326" name="Line 196"/>
            <p:cNvSpPr>
              <a:spLocks noChangeShapeType="1"/>
            </p:cNvSpPr>
            <p:nvPr/>
          </p:nvSpPr>
          <p:spPr bwMode="auto">
            <a:xfrm>
              <a:off x="4508500" y="4572000"/>
              <a:ext cx="76200" cy="304800"/>
            </a:xfrm>
            <a:prstGeom prst="line">
              <a:avLst/>
            </a:prstGeom>
            <a:noFill/>
            <a:ln w="9525">
              <a:solidFill>
                <a:srgbClr val="FF0000"/>
              </a:solidFill>
              <a:round/>
              <a:headEnd/>
              <a:tailEnd/>
            </a:ln>
          </p:spPr>
          <p:txBody>
            <a:bodyPr/>
            <a:lstStyle/>
            <a:p>
              <a:endParaRPr lang="en-US"/>
            </a:p>
          </p:txBody>
        </p:sp>
        <p:sp>
          <p:nvSpPr>
            <p:cNvPr id="49327" name="Line 197"/>
            <p:cNvSpPr>
              <a:spLocks noChangeShapeType="1"/>
            </p:cNvSpPr>
            <p:nvPr/>
          </p:nvSpPr>
          <p:spPr bwMode="auto">
            <a:xfrm>
              <a:off x="4660900" y="4953000"/>
              <a:ext cx="304800" cy="228600"/>
            </a:xfrm>
            <a:prstGeom prst="line">
              <a:avLst/>
            </a:prstGeom>
            <a:noFill/>
            <a:ln w="9525">
              <a:solidFill>
                <a:srgbClr val="FF0000"/>
              </a:solidFill>
              <a:round/>
              <a:headEnd/>
              <a:tailEnd/>
            </a:ln>
          </p:spPr>
          <p:txBody>
            <a:bodyPr/>
            <a:lstStyle/>
            <a:p>
              <a:endParaRPr lang="en-US"/>
            </a:p>
          </p:txBody>
        </p:sp>
        <p:sp>
          <p:nvSpPr>
            <p:cNvPr id="49328" name="Line 198"/>
            <p:cNvSpPr>
              <a:spLocks noChangeShapeType="1"/>
            </p:cNvSpPr>
            <p:nvPr/>
          </p:nvSpPr>
          <p:spPr bwMode="auto">
            <a:xfrm>
              <a:off x="4584700" y="4953000"/>
              <a:ext cx="152400" cy="381000"/>
            </a:xfrm>
            <a:prstGeom prst="line">
              <a:avLst/>
            </a:prstGeom>
            <a:noFill/>
            <a:ln w="9525">
              <a:solidFill>
                <a:srgbClr val="FF0000"/>
              </a:solidFill>
              <a:round/>
              <a:headEnd/>
              <a:tailEnd/>
            </a:ln>
          </p:spPr>
          <p:txBody>
            <a:bodyPr/>
            <a:lstStyle/>
            <a:p>
              <a:endParaRPr lang="en-US"/>
            </a:p>
          </p:txBody>
        </p:sp>
        <p:sp>
          <p:nvSpPr>
            <p:cNvPr id="49329" name="Line 199"/>
            <p:cNvSpPr>
              <a:spLocks noChangeShapeType="1"/>
            </p:cNvSpPr>
            <p:nvPr/>
          </p:nvSpPr>
          <p:spPr bwMode="auto">
            <a:xfrm>
              <a:off x="4737100" y="5334000"/>
              <a:ext cx="304800" cy="228600"/>
            </a:xfrm>
            <a:prstGeom prst="line">
              <a:avLst/>
            </a:prstGeom>
            <a:noFill/>
            <a:ln w="9525">
              <a:solidFill>
                <a:srgbClr val="FF0000"/>
              </a:solidFill>
              <a:round/>
              <a:headEnd/>
              <a:tailEnd/>
            </a:ln>
          </p:spPr>
          <p:txBody>
            <a:bodyPr/>
            <a:lstStyle/>
            <a:p>
              <a:endParaRPr lang="en-US"/>
            </a:p>
          </p:txBody>
        </p:sp>
        <p:sp>
          <p:nvSpPr>
            <p:cNvPr id="49330" name="Line 200"/>
            <p:cNvSpPr>
              <a:spLocks noChangeShapeType="1"/>
            </p:cNvSpPr>
            <p:nvPr/>
          </p:nvSpPr>
          <p:spPr bwMode="auto">
            <a:xfrm flipV="1">
              <a:off x="4737100" y="5257800"/>
              <a:ext cx="228600" cy="152400"/>
            </a:xfrm>
            <a:prstGeom prst="line">
              <a:avLst/>
            </a:prstGeom>
            <a:noFill/>
            <a:ln w="9525">
              <a:solidFill>
                <a:srgbClr val="FF0000"/>
              </a:solidFill>
              <a:round/>
              <a:headEnd/>
              <a:tailEnd/>
            </a:ln>
          </p:spPr>
          <p:txBody>
            <a:bodyPr/>
            <a:lstStyle/>
            <a:p>
              <a:endParaRPr lang="en-US"/>
            </a:p>
          </p:txBody>
        </p:sp>
        <p:sp>
          <p:nvSpPr>
            <p:cNvPr id="49331" name="Line 201"/>
            <p:cNvSpPr>
              <a:spLocks noChangeShapeType="1"/>
            </p:cNvSpPr>
            <p:nvPr/>
          </p:nvSpPr>
          <p:spPr bwMode="auto">
            <a:xfrm>
              <a:off x="4279900" y="4953000"/>
              <a:ext cx="152400" cy="304800"/>
            </a:xfrm>
            <a:prstGeom prst="line">
              <a:avLst/>
            </a:prstGeom>
            <a:noFill/>
            <a:ln w="9525">
              <a:solidFill>
                <a:srgbClr val="FF0000"/>
              </a:solidFill>
              <a:round/>
              <a:headEnd/>
              <a:tailEnd/>
            </a:ln>
          </p:spPr>
          <p:txBody>
            <a:bodyPr/>
            <a:lstStyle/>
            <a:p>
              <a:endParaRPr lang="en-US"/>
            </a:p>
          </p:txBody>
        </p:sp>
        <p:sp>
          <p:nvSpPr>
            <p:cNvPr id="49332" name="Line 202"/>
            <p:cNvSpPr>
              <a:spLocks noChangeShapeType="1"/>
            </p:cNvSpPr>
            <p:nvPr/>
          </p:nvSpPr>
          <p:spPr bwMode="auto">
            <a:xfrm flipH="1">
              <a:off x="4432300" y="4953000"/>
              <a:ext cx="152400" cy="304800"/>
            </a:xfrm>
            <a:prstGeom prst="line">
              <a:avLst/>
            </a:prstGeom>
            <a:noFill/>
            <a:ln w="9525">
              <a:solidFill>
                <a:srgbClr val="FF0000"/>
              </a:solidFill>
              <a:round/>
              <a:headEnd/>
              <a:tailEnd/>
            </a:ln>
          </p:spPr>
          <p:txBody>
            <a:bodyPr/>
            <a:lstStyle/>
            <a:p>
              <a:endParaRPr lang="en-US"/>
            </a:p>
          </p:txBody>
        </p:sp>
        <p:sp>
          <p:nvSpPr>
            <p:cNvPr id="49333" name="Line 203"/>
            <p:cNvSpPr>
              <a:spLocks noChangeShapeType="1"/>
            </p:cNvSpPr>
            <p:nvPr/>
          </p:nvSpPr>
          <p:spPr bwMode="auto">
            <a:xfrm>
              <a:off x="4432300" y="5257800"/>
              <a:ext cx="0" cy="228600"/>
            </a:xfrm>
            <a:prstGeom prst="line">
              <a:avLst/>
            </a:prstGeom>
            <a:noFill/>
            <a:ln w="9525">
              <a:solidFill>
                <a:srgbClr val="FF0000"/>
              </a:solidFill>
              <a:round/>
              <a:headEnd/>
              <a:tailEnd/>
            </a:ln>
          </p:spPr>
          <p:txBody>
            <a:bodyPr/>
            <a:lstStyle/>
            <a:p>
              <a:endParaRPr lang="en-US"/>
            </a:p>
          </p:txBody>
        </p:sp>
        <p:sp>
          <p:nvSpPr>
            <p:cNvPr id="49334" name="Line 204"/>
            <p:cNvSpPr>
              <a:spLocks noChangeShapeType="1"/>
            </p:cNvSpPr>
            <p:nvPr/>
          </p:nvSpPr>
          <p:spPr bwMode="auto">
            <a:xfrm>
              <a:off x="4432300" y="5562600"/>
              <a:ext cx="609600" cy="0"/>
            </a:xfrm>
            <a:prstGeom prst="line">
              <a:avLst/>
            </a:prstGeom>
            <a:noFill/>
            <a:ln w="9525">
              <a:solidFill>
                <a:srgbClr val="FF0000"/>
              </a:solidFill>
              <a:round/>
              <a:headEnd/>
              <a:tailEnd/>
            </a:ln>
          </p:spPr>
          <p:txBody>
            <a:bodyPr/>
            <a:lstStyle/>
            <a:p>
              <a:endParaRPr lang="en-US"/>
            </a:p>
          </p:txBody>
        </p:sp>
        <p:sp>
          <p:nvSpPr>
            <p:cNvPr id="49335" name="Line 205"/>
            <p:cNvSpPr>
              <a:spLocks noChangeShapeType="1"/>
            </p:cNvSpPr>
            <p:nvPr/>
          </p:nvSpPr>
          <p:spPr bwMode="auto">
            <a:xfrm flipV="1">
              <a:off x="4432300" y="5410200"/>
              <a:ext cx="304800" cy="152400"/>
            </a:xfrm>
            <a:prstGeom prst="line">
              <a:avLst/>
            </a:prstGeom>
            <a:noFill/>
            <a:ln w="9525">
              <a:solidFill>
                <a:srgbClr val="FF0000"/>
              </a:solidFill>
              <a:round/>
              <a:headEnd/>
              <a:tailEnd/>
            </a:ln>
          </p:spPr>
          <p:txBody>
            <a:bodyPr/>
            <a:lstStyle/>
            <a:p>
              <a:endParaRPr lang="en-US"/>
            </a:p>
          </p:txBody>
        </p:sp>
        <p:sp>
          <p:nvSpPr>
            <p:cNvPr id="49336" name="Line 206"/>
            <p:cNvSpPr>
              <a:spLocks noChangeShapeType="1"/>
            </p:cNvSpPr>
            <p:nvPr/>
          </p:nvSpPr>
          <p:spPr bwMode="auto">
            <a:xfrm>
              <a:off x="5562600" y="6172200"/>
              <a:ext cx="152400" cy="152400"/>
            </a:xfrm>
            <a:prstGeom prst="line">
              <a:avLst/>
            </a:prstGeom>
            <a:noFill/>
            <a:ln w="9525">
              <a:solidFill>
                <a:srgbClr val="00FF00"/>
              </a:solidFill>
              <a:round/>
              <a:headEnd/>
              <a:tailEnd/>
            </a:ln>
          </p:spPr>
          <p:txBody>
            <a:bodyPr/>
            <a:lstStyle/>
            <a:p>
              <a:endParaRPr lang="en-US"/>
            </a:p>
          </p:txBody>
        </p:sp>
        <p:sp>
          <p:nvSpPr>
            <p:cNvPr id="49337" name="Line 207"/>
            <p:cNvSpPr>
              <a:spLocks noChangeShapeType="1"/>
            </p:cNvSpPr>
            <p:nvPr/>
          </p:nvSpPr>
          <p:spPr bwMode="auto">
            <a:xfrm flipV="1">
              <a:off x="6019800" y="4953000"/>
              <a:ext cx="533400" cy="152400"/>
            </a:xfrm>
            <a:prstGeom prst="line">
              <a:avLst/>
            </a:prstGeom>
            <a:noFill/>
            <a:ln w="9525">
              <a:solidFill>
                <a:schemeClr val="tx2"/>
              </a:solidFill>
              <a:round/>
              <a:headEnd/>
              <a:tailEnd/>
            </a:ln>
          </p:spPr>
          <p:txBody>
            <a:bodyPr/>
            <a:lstStyle/>
            <a:p>
              <a:endParaRPr lang="en-US"/>
            </a:p>
          </p:txBody>
        </p:sp>
        <p:sp>
          <p:nvSpPr>
            <p:cNvPr id="49338" name="Line 208"/>
            <p:cNvSpPr>
              <a:spLocks noChangeShapeType="1"/>
            </p:cNvSpPr>
            <p:nvPr/>
          </p:nvSpPr>
          <p:spPr bwMode="auto">
            <a:xfrm>
              <a:off x="4432300" y="5181600"/>
              <a:ext cx="381000" cy="228600"/>
            </a:xfrm>
            <a:prstGeom prst="line">
              <a:avLst/>
            </a:prstGeom>
            <a:noFill/>
            <a:ln w="9525">
              <a:solidFill>
                <a:srgbClr val="FF0000"/>
              </a:solidFill>
              <a:round/>
              <a:headEnd/>
              <a:tailEnd/>
            </a:ln>
          </p:spPr>
          <p:txBody>
            <a:bodyPr/>
            <a:lstStyle/>
            <a:p>
              <a:endParaRPr lang="en-US"/>
            </a:p>
          </p:txBody>
        </p:sp>
        <p:sp>
          <p:nvSpPr>
            <p:cNvPr id="49339" name="Line 209"/>
            <p:cNvSpPr>
              <a:spLocks noChangeShapeType="1"/>
            </p:cNvSpPr>
            <p:nvPr/>
          </p:nvSpPr>
          <p:spPr bwMode="auto">
            <a:xfrm flipH="1">
              <a:off x="5867400" y="4419600"/>
              <a:ext cx="228600" cy="381000"/>
            </a:xfrm>
            <a:prstGeom prst="line">
              <a:avLst/>
            </a:prstGeom>
            <a:noFill/>
            <a:ln w="9525">
              <a:solidFill>
                <a:schemeClr val="tx2"/>
              </a:solidFill>
              <a:round/>
              <a:headEnd/>
              <a:tailEnd/>
            </a:ln>
          </p:spPr>
          <p:txBody>
            <a:bodyPr/>
            <a:lstStyle/>
            <a:p>
              <a:endParaRPr lang="en-US"/>
            </a:p>
          </p:txBody>
        </p:sp>
        <p:sp>
          <p:nvSpPr>
            <p:cNvPr id="49340" name="Line 250"/>
            <p:cNvSpPr>
              <a:spLocks noChangeShapeType="1"/>
            </p:cNvSpPr>
            <p:nvPr/>
          </p:nvSpPr>
          <p:spPr bwMode="auto">
            <a:xfrm>
              <a:off x="6248400" y="4114800"/>
              <a:ext cx="0" cy="228600"/>
            </a:xfrm>
            <a:prstGeom prst="line">
              <a:avLst/>
            </a:prstGeom>
            <a:noFill/>
            <a:ln w="9525">
              <a:solidFill>
                <a:schemeClr val="tx2"/>
              </a:solidFill>
              <a:round/>
              <a:headEnd/>
              <a:tailEnd/>
            </a:ln>
          </p:spPr>
          <p:txBody>
            <a:bodyPr/>
            <a:lstStyle/>
            <a:p>
              <a:endParaRPr lang="en-US"/>
            </a:p>
          </p:txBody>
        </p:sp>
        <p:sp>
          <p:nvSpPr>
            <p:cNvPr id="49341" name="Line 251"/>
            <p:cNvSpPr>
              <a:spLocks noChangeShapeType="1"/>
            </p:cNvSpPr>
            <p:nvPr/>
          </p:nvSpPr>
          <p:spPr bwMode="auto">
            <a:xfrm flipV="1">
              <a:off x="5715000" y="4800600"/>
              <a:ext cx="152400" cy="76200"/>
            </a:xfrm>
            <a:prstGeom prst="line">
              <a:avLst/>
            </a:prstGeom>
            <a:noFill/>
            <a:ln w="9525">
              <a:solidFill>
                <a:schemeClr val="tx2"/>
              </a:solidFill>
              <a:round/>
              <a:headEnd/>
              <a:tailEnd/>
            </a:ln>
          </p:spPr>
          <p:txBody>
            <a:bodyPr/>
            <a:lstStyle/>
            <a:p>
              <a:endParaRPr lang="en-US"/>
            </a:p>
          </p:txBody>
        </p:sp>
        <p:sp>
          <p:nvSpPr>
            <p:cNvPr id="49342" name="Line 252"/>
            <p:cNvSpPr>
              <a:spLocks noChangeShapeType="1"/>
            </p:cNvSpPr>
            <p:nvPr/>
          </p:nvSpPr>
          <p:spPr bwMode="auto">
            <a:xfrm>
              <a:off x="5791200" y="5029200"/>
              <a:ext cx="152400" cy="76200"/>
            </a:xfrm>
            <a:prstGeom prst="line">
              <a:avLst/>
            </a:prstGeom>
            <a:noFill/>
            <a:ln w="9525">
              <a:solidFill>
                <a:schemeClr val="tx2"/>
              </a:solidFill>
              <a:round/>
              <a:headEnd/>
              <a:tailEnd/>
            </a:ln>
          </p:spPr>
          <p:txBody>
            <a:bodyPr/>
            <a:lstStyle/>
            <a:p>
              <a:endParaRPr lang="en-US"/>
            </a:p>
          </p:txBody>
        </p:sp>
        <p:sp>
          <p:nvSpPr>
            <p:cNvPr id="49343" name="Line 253"/>
            <p:cNvSpPr>
              <a:spLocks noChangeShapeType="1"/>
            </p:cNvSpPr>
            <p:nvPr/>
          </p:nvSpPr>
          <p:spPr bwMode="auto">
            <a:xfrm>
              <a:off x="5638800" y="4876800"/>
              <a:ext cx="152400" cy="152400"/>
            </a:xfrm>
            <a:prstGeom prst="line">
              <a:avLst/>
            </a:prstGeom>
            <a:noFill/>
            <a:ln w="9525">
              <a:solidFill>
                <a:schemeClr val="tx2"/>
              </a:solidFill>
              <a:round/>
              <a:headEnd/>
              <a:tailEnd/>
            </a:ln>
          </p:spPr>
          <p:txBody>
            <a:bodyPr/>
            <a:lstStyle/>
            <a:p>
              <a:endParaRPr lang="en-US"/>
            </a:p>
          </p:txBody>
        </p:sp>
        <p:sp>
          <p:nvSpPr>
            <p:cNvPr id="49344" name="Line 254"/>
            <p:cNvSpPr>
              <a:spLocks noChangeShapeType="1"/>
            </p:cNvSpPr>
            <p:nvPr/>
          </p:nvSpPr>
          <p:spPr bwMode="auto">
            <a:xfrm flipV="1">
              <a:off x="5791200" y="4876800"/>
              <a:ext cx="76200" cy="152400"/>
            </a:xfrm>
            <a:prstGeom prst="line">
              <a:avLst/>
            </a:prstGeom>
            <a:noFill/>
            <a:ln w="9525">
              <a:solidFill>
                <a:schemeClr val="tx2"/>
              </a:solidFill>
              <a:round/>
              <a:headEnd/>
              <a:tailEnd/>
            </a:ln>
          </p:spPr>
          <p:txBody>
            <a:bodyPr/>
            <a:lstStyle/>
            <a:p>
              <a:endParaRPr lang="en-US"/>
            </a:p>
          </p:txBody>
        </p:sp>
        <p:sp>
          <p:nvSpPr>
            <p:cNvPr id="49345" name="Line 255"/>
            <p:cNvSpPr>
              <a:spLocks noChangeShapeType="1"/>
            </p:cNvSpPr>
            <p:nvPr/>
          </p:nvSpPr>
          <p:spPr bwMode="auto">
            <a:xfrm flipV="1">
              <a:off x="5029200" y="5257800"/>
              <a:ext cx="0" cy="228600"/>
            </a:xfrm>
            <a:prstGeom prst="line">
              <a:avLst/>
            </a:prstGeom>
            <a:noFill/>
            <a:ln w="9525">
              <a:solidFill>
                <a:srgbClr val="FF0000"/>
              </a:solidFill>
              <a:round/>
              <a:headEnd/>
              <a:tailEnd/>
            </a:ln>
          </p:spPr>
          <p:txBody>
            <a:bodyPr/>
            <a:lstStyle/>
            <a:p>
              <a:endParaRPr lang="en-US"/>
            </a:p>
          </p:txBody>
        </p:sp>
        <p:sp>
          <p:nvSpPr>
            <p:cNvPr id="49346" name="Line 257"/>
            <p:cNvSpPr>
              <a:spLocks noChangeShapeType="1"/>
            </p:cNvSpPr>
            <p:nvPr/>
          </p:nvSpPr>
          <p:spPr bwMode="auto">
            <a:xfrm flipV="1">
              <a:off x="6553200" y="4724400"/>
              <a:ext cx="152400" cy="228600"/>
            </a:xfrm>
            <a:prstGeom prst="line">
              <a:avLst/>
            </a:prstGeom>
            <a:noFill/>
            <a:ln w="9525">
              <a:solidFill>
                <a:schemeClr val="tx2"/>
              </a:solidFill>
              <a:round/>
              <a:headEnd/>
              <a:tailEnd/>
            </a:ln>
          </p:spPr>
          <p:txBody>
            <a:bodyPr/>
            <a:lstStyle/>
            <a:p>
              <a:endParaRPr lang="en-US"/>
            </a:p>
          </p:txBody>
        </p:sp>
        <p:sp>
          <p:nvSpPr>
            <p:cNvPr id="49347" name="Line 258"/>
            <p:cNvSpPr>
              <a:spLocks noChangeShapeType="1"/>
            </p:cNvSpPr>
            <p:nvPr/>
          </p:nvSpPr>
          <p:spPr bwMode="auto">
            <a:xfrm flipH="1">
              <a:off x="5638800" y="5638800"/>
              <a:ext cx="76200" cy="228600"/>
            </a:xfrm>
            <a:prstGeom prst="line">
              <a:avLst/>
            </a:prstGeom>
            <a:noFill/>
            <a:ln w="9525">
              <a:solidFill>
                <a:srgbClr val="00FF00"/>
              </a:solidFill>
              <a:round/>
              <a:headEnd/>
              <a:tailEnd/>
            </a:ln>
          </p:spPr>
          <p:txBody>
            <a:bodyPr/>
            <a:lstStyle/>
            <a:p>
              <a:endParaRPr lang="en-US"/>
            </a:p>
          </p:txBody>
        </p:sp>
        <p:sp>
          <p:nvSpPr>
            <p:cNvPr id="49348" name="Line 259"/>
            <p:cNvSpPr>
              <a:spLocks noChangeShapeType="1"/>
            </p:cNvSpPr>
            <p:nvPr/>
          </p:nvSpPr>
          <p:spPr bwMode="auto">
            <a:xfrm>
              <a:off x="5715000" y="5638800"/>
              <a:ext cx="152400" cy="228600"/>
            </a:xfrm>
            <a:prstGeom prst="line">
              <a:avLst/>
            </a:prstGeom>
            <a:noFill/>
            <a:ln w="9525">
              <a:solidFill>
                <a:srgbClr val="00FF00"/>
              </a:solidFill>
              <a:round/>
              <a:headEnd/>
              <a:tailEnd/>
            </a:ln>
          </p:spPr>
          <p:txBody>
            <a:bodyPr/>
            <a:lstStyle/>
            <a:p>
              <a:endParaRPr lang="en-US"/>
            </a:p>
          </p:txBody>
        </p:sp>
      </p:grpSp>
      <p:grpSp>
        <p:nvGrpSpPr>
          <p:cNvPr id="5" name="Group 270"/>
          <p:cNvGrpSpPr>
            <a:grpSpLocks/>
          </p:cNvGrpSpPr>
          <p:nvPr/>
        </p:nvGrpSpPr>
        <p:grpSpPr bwMode="auto">
          <a:xfrm>
            <a:off x="1905000" y="1689100"/>
            <a:ext cx="2895600" cy="2336800"/>
            <a:chOff x="1905000" y="1689100"/>
            <a:chExt cx="2895600" cy="2336800"/>
          </a:xfrm>
        </p:grpSpPr>
        <p:sp>
          <p:nvSpPr>
            <p:cNvPr id="49174" name="Oval 3"/>
            <p:cNvSpPr>
              <a:spLocks noChangeArrowheads="1"/>
            </p:cNvSpPr>
            <p:nvPr/>
          </p:nvSpPr>
          <p:spPr bwMode="auto">
            <a:xfrm>
              <a:off x="2603500" y="17526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75" name="Oval 4"/>
            <p:cNvSpPr>
              <a:spLocks noChangeArrowheads="1"/>
            </p:cNvSpPr>
            <p:nvPr/>
          </p:nvSpPr>
          <p:spPr bwMode="auto">
            <a:xfrm>
              <a:off x="2438400" y="19177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76" name="Oval 5"/>
            <p:cNvSpPr>
              <a:spLocks noChangeArrowheads="1"/>
            </p:cNvSpPr>
            <p:nvPr/>
          </p:nvSpPr>
          <p:spPr bwMode="auto">
            <a:xfrm>
              <a:off x="2667000" y="20701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77" name="Line 6"/>
            <p:cNvSpPr>
              <a:spLocks noChangeShapeType="1"/>
            </p:cNvSpPr>
            <p:nvPr/>
          </p:nvSpPr>
          <p:spPr bwMode="auto">
            <a:xfrm flipV="1">
              <a:off x="2438400" y="1752600"/>
              <a:ext cx="228600" cy="228600"/>
            </a:xfrm>
            <a:prstGeom prst="line">
              <a:avLst/>
            </a:prstGeom>
            <a:noFill/>
            <a:ln w="9525">
              <a:solidFill>
                <a:schemeClr val="tx1"/>
              </a:solidFill>
              <a:round/>
              <a:headEnd/>
              <a:tailEnd/>
            </a:ln>
          </p:spPr>
          <p:txBody>
            <a:bodyPr/>
            <a:lstStyle/>
            <a:p>
              <a:endParaRPr lang="en-US"/>
            </a:p>
          </p:txBody>
        </p:sp>
        <p:sp>
          <p:nvSpPr>
            <p:cNvPr id="49178" name="Oval 7"/>
            <p:cNvSpPr>
              <a:spLocks noChangeArrowheads="1"/>
            </p:cNvSpPr>
            <p:nvPr/>
          </p:nvSpPr>
          <p:spPr bwMode="auto">
            <a:xfrm>
              <a:off x="2451100" y="22225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79" name="Oval 8"/>
            <p:cNvSpPr>
              <a:spLocks noChangeArrowheads="1"/>
            </p:cNvSpPr>
            <p:nvPr/>
          </p:nvSpPr>
          <p:spPr bwMode="auto">
            <a:xfrm>
              <a:off x="2133600" y="22860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0" name="Line 9"/>
            <p:cNvSpPr>
              <a:spLocks noChangeShapeType="1"/>
            </p:cNvSpPr>
            <p:nvPr/>
          </p:nvSpPr>
          <p:spPr bwMode="auto">
            <a:xfrm flipH="1">
              <a:off x="2133600" y="1981200"/>
              <a:ext cx="304800" cy="304800"/>
            </a:xfrm>
            <a:prstGeom prst="line">
              <a:avLst/>
            </a:prstGeom>
            <a:noFill/>
            <a:ln w="9525">
              <a:solidFill>
                <a:schemeClr val="tx1"/>
              </a:solidFill>
              <a:round/>
              <a:headEnd/>
              <a:tailEnd/>
            </a:ln>
          </p:spPr>
          <p:txBody>
            <a:bodyPr/>
            <a:lstStyle/>
            <a:p>
              <a:endParaRPr lang="en-US"/>
            </a:p>
          </p:txBody>
        </p:sp>
        <p:sp>
          <p:nvSpPr>
            <p:cNvPr id="49181" name="Line 10"/>
            <p:cNvSpPr>
              <a:spLocks noChangeShapeType="1"/>
            </p:cNvSpPr>
            <p:nvPr/>
          </p:nvSpPr>
          <p:spPr bwMode="auto">
            <a:xfrm>
              <a:off x="2438400" y="1981200"/>
              <a:ext cx="76200" cy="304800"/>
            </a:xfrm>
            <a:prstGeom prst="line">
              <a:avLst/>
            </a:prstGeom>
            <a:noFill/>
            <a:ln w="9525">
              <a:solidFill>
                <a:schemeClr val="tx1"/>
              </a:solidFill>
              <a:round/>
              <a:headEnd/>
              <a:tailEnd/>
            </a:ln>
          </p:spPr>
          <p:txBody>
            <a:bodyPr/>
            <a:lstStyle/>
            <a:p>
              <a:endParaRPr lang="en-US"/>
            </a:p>
          </p:txBody>
        </p:sp>
        <p:sp>
          <p:nvSpPr>
            <p:cNvPr id="49182" name="Line 11"/>
            <p:cNvSpPr>
              <a:spLocks noChangeShapeType="1"/>
            </p:cNvSpPr>
            <p:nvPr/>
          </p:nvSpPr>
          <p:spPr bwMode="auto">
            <a:xfrm flipH="1">
              <a:off x="2514600" y="2133600"/>
              <a:ext cx="152400" cy="76200"/>
            </a:xfrm>
            <a:prstGeom prst="line">
              <a:avLst/>
            </a:prstGeom>
            <a:noFill/>
            <a:ln w="9525">
              <a:solidFill>
                <a:schemeClr val="tx1"/>
              </a:solidFill>
              <a:round/>
              <a:headEnd/>
              <a:tailEnd/>
            </a:ln>
          </p:spPr>
          <p:txBody>
            <a:bodyPr/>
            <a:lstStyle/>
            <a:p>
              <a:endParaRPr lang="en-US"/>
            </a:p>
          </p:txBody>
        </p:sp>
        <p:sp>
          <p:nvSpPr>
            <p:cNvPr id="49183" name="Oval 12"/>
            <p:cNvSpPr>
              <a:spLocks noChangeArrowheads="1"/>
            </p:cNvSpPr>
            <p:nvPr/>
          </p:nvSpPr>
          <p:spPr bwMode="auto">
            <a:xfrm>
              <a:off x="2222500" y="25273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4" name="Oval 13"/>
            <p:cNvSpPr>
              <a:spLocks noChangeArrowheads="1"/>
            </p:cNvSpPr>
            <p:nvPr/>
          </p:nvSpPr>
          <p:spPr bwMode="auto">
            <a:xfrm>
              <a:off x="1905000" y="25146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5" name="Oval 14"/>
            <p:cNvSpPr>
              <a:spLocks noChangeArrowheads="1"/>
            </p:cNvSpPr>
            <p:nvPr/>
          </p:nvSpPr>
          <p:spPr bwMode="auto">
            <a:xfrm>
              <a:off x="2590800" y="25273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6" name="Oval 15"/>
            <p:cNvSpPr>
              <a:spLocks noChangeArrowheads="1"/>
            </p:cNvSpPr>
            <p:nvPr/>
          </p:nvSpPr>
          <p:spPr bwMode="auto">
            <a:xfrm>
              <a:off x="2374900" y="2819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7" name="Oval 16"/>
            <p:cNvSpPr>
              <a:spLocks noChangeArrowheads="1"/>
            </p:cNvSpPr>
            <p:nvPr/>
          </p:nvSpPr>
          <p:spPr bwMode="auto">
            <a:xfrm>
              <a:off x="2438400" y="31369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8" name="Oval 17"/>
            <p:cNvSpPr>
              <a:spLocks noChangeArrowheads="1"/>
            </p:cNvSpPr>
            <p:nvPr/>
          </p:nvSpPr>
          <p:spPr bwMode="auto">
            <a:xfrm>
              <a:off x="2755900" y="29718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89" name="Line 18"/>
            <p:cNvSpPr>
              <a:spLocks noChangeShapeType="1"/>
            </p:cNvSpPr>
            <p:nvPr/>
          </p:nvSpPr>
          <p:spPr bwMode="auto">
            <a:xfrm>
              <a:off x="2133600" y="2286000"/>
              <a:ext cx="152400" cy="304800"/>
            </a:xfrm>
            <a:prstGeom prst="line">
              <a:avLst/>
            </a:prstGeom>
            <a:noFill/>
            <a:ln w="9525">
              <a:solidFill>
                <a:schemeClr val="tx1"/>
              </a:solidFill>
              <a:round/>
              <a:headEnd/>
              <a:tailEnd/>
            </a:ln>
          </p:spPr>
          <p:txBody>
            <a:bodyPr/>
            <a:lstStyle/>
            <a:p>
              <a:endParaRPr lang="en-US"/>
            </a:p>
          </p:txBody>
        </p:sp>
        <p:sp>
          <p:nvSpPr>
            <p:cNvPr id="49190" name="Line 19"/>
            <p:cNvSpPr>
              <a:spLocks noChangeShapeType="1"/>
            </p:cNvSpPr>
            <p:nvPr/>
          </p:nvSpPr>
          <p:spPr bwMode="auto">
            <a:xfrm flipH="1">
              <a:off x="1905000" y="2286000"/>
              <a:ext cx="228600" cy="228600"/>
            </a:xfrm>
            <a:prstGeom prst="line">
              <a:avLst/>
            </a:prstGeom>
            <a:noFill/>
            <a:ln w="9525">
              <a:solidFill>
                <a:schemeClr val="tx1"/>
              </a:solidFill>
              <a:round/>
              <a:headEnd/>
              <a:tailEnd/>
            </a:ln>
          </p:spPr>
          <p:txBody>
            <a:bodyPr/>
            <a:lstStyle/>
            <a:p>
              <a:endParaRPr lang="en-US"/>
            </a:p>
          </p:txBody>
        </p:sp>
        <p:sp>
          <p:nvSpPr>
            <p:cNvPr id="49191" name="Line 20"/>
            <p:cNvSpPr>
              <a:spLocks noChangeShapeType="1"/>
            </p:cNvSpPr>
            <p:nvPr/>
          </p:nvSpPr>
          <p:spPr bwMode="auto">
            <a:xfrm>
              <a:off x="1905000" y="2514600"/>
              <a:ext cx="381000" cy="76200"/>
            </a:xfrm>
            <a:prstGeom prst="line">
              <a:avLst/>
            </a:prstGeom>
            <a:noFill/>
            <a:ln w="9525">
              <a:solidFill>
                <a:schemeClr val="tx1"/>
              </a:solidFill>
              <a:round/>
              <a:headEnd/>
              <a:tailEnd/>
            </a:ln>
          </p:spPr>
          <p:txBody>
            <a:bodyPr/>
            <a:lstStyle/>
            <a:p>
              <a:endParaRPr lang="en-US"/>
            </a:p>
          </p:txBody>
        </p:sp>
        <p:sp>
          <p:nvSpPr>
            <p:cNvPr id="49192" name="Line 21"/>
            <p:cNvSpPr>
              <a:spLocks noChangeShapeType="1"/>
            </p:cNvSpPr>
            <p:nvPr/>
          </p:nvSpPr>
          <p:spPr bwMode="auto">
            <a:xfrm flipV="1">
              <a:off x="2286000" y="2209800"/>
              <a:ext cx="228600" cy="381000"/>
            </a:xfrm>
            <a:prstGeom prst="line">
              <a:avLst/>
            </a:prstGeom>
            <a:noFill/>
            <a:ln w="9525">
              <a:solidFill>
                <a:schemeClr val="tx1"/>
              </a:solidFill>
              <a:round/>
              <a:headEnd/>
              <a:tailEnd/>
            </a:ln>
          </p:spPr>
          <p:txBody>
            <a:bodyPr/>
            <a:lstStyle/>
            <a:p>
              <a:endParaRPr lang="en-US"/>
            </a:p>
          </p:txBody>
        </p:sp>
        <p:sp>
          <p:nvSpPr>
            <p:cNvPr id="49193" name="Oval 22"/>
            <p:cNvSpPr>
              <a:spLocks noChangeArrowheads="1"/>
            </p:cNvSpPr>
            <p:nvPr/>
          </p:nvSpPr>
          <p:spPr bwMode="auto">
            <a:xfrm>
              <a:off x="2971800" y="2819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4" name="Oval 23"/>
            <p:cNvSpPr>
              <a:spLocks noChangeArrowheads="1"/>
            </p:cNvSpPr>
            <p:nvPr/>
          </p:nvSpPr>
          <p:spPr bwMode="auto">
            <a:xfrm>
              <a:off x="3048000" y="31369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5" name="Oval 24"/>
            <p:cNvSpPr>
              <a:spLocks noChangeArrowheads="1"/>
            </p:cNvSpPr>
            <p:nvPr/>
          </p:nvSpPr>
          <p:spPr bwMode="auto">
            <a:xfrm>
              <a:off x="4051300" y="18288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6" name="Oval 25"/>
            <p:cNvSpPr>
              <a:spLocks noChangeArrowheads="1"/>
            </p:cNvSpPr>
            <p:nvPr/>
          </p:nvSpPr>
          <p:spPr bwMode="auto">
            <a:xfrm>
              <a:off x="3657600" y="25146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7" name="Oval 26"/>
            <p:cNvSpPr>
              <a:spLocks noChangeArrowheads="1"/>
            </p:cNvSpPr>
            <p:nvPr/>
          </p:nvSpPr>
          <p:spPr bwMode="auto">
            <a:xfrm>
              <a:off x="4267200" y="16891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8" name="Oval 27"/>
            <p:cNvSpPr>
              <a:spLocks noChangeArrowheads="1"/>
            </p:cNvSpPr>
            <p:nvPr/>
          </p:nvSpPr>
          <p:spPr bwMode="auto">
            <a:xfrm>
              <a:off x="4267200" y="19812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199" name="Oval 28"/>
            <p:cNvSpPr>
              <a:spLocks noChangeArrowheads="1"/>
            </p:cNvSpPr>
            <p:nvPr/>
          </p:nvSpPr>
          <p:spPr bwMode="auto">
            <a:xfrm>
              <a:off x="4114800" y="2057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00" name="Oval 29"/>
            <p:cNvSpPr>
              <a:spLocks noChangeArrowheads="1"/>
            </p:cNvSpPr>
            <p:nvPr/>
          </p:nvSpPr>
          <p:spPr bwMode="auto">
            <a:xfrm>
              <a:off x="3822700" y="2438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01" name="Oval 30"/>
            <p:cNvSpPr>
              <a:spLocks noChangeArrowheads="1"/>
            </p:cNvSpPr>
            <p:nvPr/>
          </p:nvSpPr>
          <p:spPr bwMode="auto">
            <a:xfrm>
              <a:off x="3810000" y="26670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02" name="Oval 31"/>
            <p:cNvSpPr>
              <a:spLocks noChangeArrowheads="1"/>
            </p:cNvSpPr>
            <p:nvPr/>
          </p:nvSpPr>
          <p:spPr bwMode="auto">
            <a:xfrm>
              <a:off x="3975100" y="27432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03" name="Oval 32"/>
            <p:cNvSpPr>
              <a:spLocks noChangeArrowheads="1"/>
            </p:cNvSpPr>
            <p:nvPr/>
          </p:nvSpPr>
          <p:spPr bwMode="auto">
            <a:xfrm>
              <a:off x="3886200" y="2819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04" name="Line 33"/>
            <p:cNvSpPr>
              <a:spLocks noChangeShapeType="1"/>
            </p:cNvSpPr>
            <p:nvPr/>
          </p:nvSpPr>
          <p:spPr bwMode="auto">
            <a:xfrm flipV="1">
              <a:off x="3048000" y="2514600"/>
              <a:ext cx="685800" cy="304800"/>
            </a:xfrm>
            <a:prstGeom prst="line">
              <a:avLst/>
            </a:prstGeom>
            <a:noFill/>
            <a:ln w="9525">
              <a:solidFill>
                <a:schemeClr val="tx1"/>
              </a:solidFill>
              <a:round/>
              <a:headEnd/>
              <a:tailEnd/>
            </a:ln>
          </p:spPr>
          <p:txBody>
            <a:bodyPr/>
            <a:lstStyle/>
            <a:p>
              <a:endParaRPr lang="en-US"/>
            </a:p>
          </p:txBody>
        </p:sp>
        <p:sp>
          <p:nvSpPr>
            <p:cNvPr id="49205" name="Line 34"/>
            <p:cNvSpPr>
              <a:spLocks noChangeShapeType="1"/>
            </p:cNvSpPr>
            <p:nvPr/>
          </p:nvSpPr>
          <p:spPr bwMode="auto">
            <a:xfrm flipV="1">
              <a:off x="3733800" y="1828800"/>
              <a:ext cx="381000" cy="685800"/>
            </a:xfrm>
            <a:prstGeom prst="line">
              <a:avLst/>
            </a:prstGeom>
            <a:noFill/>
            <a:ln w="9525">
              <a:solidFill>
                <a:schemeClr val="tx1"/>
              </a:solidFill>
              <a:round/>
              <a:headEnd/>
              <a:tailEnd/>
            </a:ln>
          </p:spPr>
          <p:txBody>
            <a:bodyPr/>
            <a:lstStyle/>
            <a:p>
              <a:endParaRPr lang="en-US"/>
            </a:p>
          </p:txBody>
        </p:sp>
        <p:sp>
          <p:nvSpPr>
            <p:cNvPr id="49206" name="Line 35"/>
            <p:cNvSpPr>
              <a:spLocks noChangeShapeType="1"/>
            </p:cNvSpPr>
            <p:nvPr/>
          </p:nvSpPr>
          <p:spPr bwMode="auto">
            <a:xfrm flipV="1">
              <a:off x="4114800" y="1752600"/>
              <a:ext cx="152400" cy="76200"/>
            </a:xfrm>
            <a:prstGeom prst="line">
              <a:avLst/>
            </a:prstGeom>
            <a:noFill/>
            <a:ln w="9525">
              <a:solidFill>
                <a:schemeClr val="tx1"/>
              </a:solidFill>
              <a:round/>
              <a:headEnd/>
              <a:tailEnd/>
            </a:ln>
          </p:spPr>
          <p:txBody>
            <a:bodyPr/>
            <a:lstStyle/>
            <a:p>
              <a:endParaRPr lang="en-US"/>
            </a:p>
          </p:txBody>
        </p:sp>
        <p:sp>
          <p:nvSpPr>
            <p:cNvPr id="49207" name="Line 36"/>
            <p:cNvSpPr>
              <a:spLocks noChangeShapeType="1"/>
            </p:cNvSpPr>
            <p:nvPr/>
          </p:nvSpPr>
          <p:spPr bwMode="auto">
            <a:xfrm>
              <a:off x="4114800" y="1828800"/>
              <a:ext cx="152400" cy="152400"/>
            </a:xfrm>
            <a:prstGeom prst="line">
              <a:avLst/>
            </a:prstGeom>
            <a:noFill/>
            <a:ln w="9525">
              <a:solidFill>
                <a:schemeClr val="tx1"/>
              </a:solidFill>
              <a:round/>
              <a:headEnd/>
              <a:tailEnd/>
            </a:ln>
          </p:spPr>
          <p:txBody>
            <a:bodyPr/>
            <a:lstStyle/>
            <a:p>
              <a:endParaRPr lang="en-US"/>
            </a:p>
          </p:txBody>
        </p:sp>
        <p:sp>
          <p:nvSpPr>
            <p:cNvPr id="49208" name="Line 37"/>
            <p:cNvSpPr>
              <a:spLocks noChangeShapeType="1"/>
            </p:cNvSpPr>
            <p:nvPr/>
          </p:nvSpPr>
          <p:spPr bwMode="auto">
            <a:xfrm>
              <a:off x="4114800" y="1828800"/>
              <a:ext cx="0" cy="228600"/>
            </a:xfrm>
            <a:prstGeom prst="line">
              <a:avLst/>
            </a:prstGeom>
            <a:noFill/>
            <a:ln w="9525">
              <a:solidFill>
                <a:schemeClr val="tx1"/>
              </a:solidFill>
              <a:round/>
              <a:headEnd/>
              <a:tailEnd/>
            </a:ln>
          </p:spPr>
          <p:txBody>
            <a:bodyPr/>
            <a:lstStyle/>
            <a:p>
              <a:endParaRPr lang="en-US"/>
            </a:p>
          </p:txBody>
        </p:sp>
        <p:sp>
          <p:nvSpPr>
            <p:cNvPr id="49209" name="Line 38"/>
            <p:cNvSpPr>
              <a:spLocks noChangeShapeType="1"/>
            </p:cNvSpPr>
            <p:nvPr/>
          </p:nvSpPr>
          <p:spPr bwMode="auto">
            <a:xfrm flipV="1">
              <a:off x="4114800" y="1981200"/>
              <a:ext cx="152400" cy="76200"/>
            </a:xfrm>
            <a:prstGeom prst="line">
              <a:avLst/>
            </a:prstGeom>
            <a:noFill/>
            <a:ln w="9525">
              <a:solidFill>
                <a:schemeClr val="tx1"/>
              </a:solidFill>
              <a:round/>
              <a:headEnd/>
              <a:tailEnd/>
            </a:ln>
          </p:spPr>
          <p:txBody>
            <a:bodyPr/>
            <a:lstStyle/>
            <a:p>
              <a:endParaRPr lang="en-US"/>
            </a:p>
          </p:txBody>
        </p:sp>
        <p:sp>
          <p:nvSpPr>
            <p:cNvPr id="49210" name="Line 39"/>
            <p:cNvSpPr>
              <a:spLocks noChangeShapeType="1"/>
            </p:cNvSpPr>
            <p:nvPr/>
          </p:nvSpPr>
          <p:spPr bwMode="auto">
            <a:xfrm>
              <a:off x="3810000" y="2667000"/>
              <a:ext cx="76200" cy="152400"/>
            </a:xfrm>
            <a:prstGeom prst="line">
              <a:avLst/>
            </a:prstGeom>
            <a:noFill/>
            <a:ln w="9525">
              <a:solidFill>
                <a:schemeClr val="tx1"/>
              </a:solidFill>
              <a:round/>
              <a:headEnd/>
              <a:tailEnd/>
            </a:ln>
          </p:spPr>
          <p:txBody>
            <a:bodyPr/>
            <a:lstStyle/>
            <a:p>
              <a:endParaRPr lang="en-US"/>
            </a:p>
          </p:txBody>
        </p:sp>
        <p:sp>
          <p:nvSpPr>
            <p:cNvPr id="49211" name="Oval 40"/>
            <p:cNvSpPr>
              <a:spLocks noChangeArrowheads="1"/>
            </p:cNvSpPr>
            <p:nvPr/>
          </p:nvSpPr>
          <p:spPr bwMode="auto">
            <a:xfrm>
              <a:off x="4508500" y="25273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2" name="Oval 41"/>
            <p:cNvSpPr>
              <a:spLocks noChangeArrowheads="1"/>
            </p:cNvSpPr>
            <p:nvPr/>
          </p:nvSpPr>
          <p:spPr bwMode="auto">
            <a:xfrm>
              <a:off x="4737100" y="26035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3" name="Oval 42"/>
            <p:cNvSpPr>
              <a:spLocks noChangeArrowheads="1"/>
            </p:cNvSpPr>
            <p:nvPr/>
          </p:nvSpPr>
          <p:spPr bwMode="auto">
            <a:xfrm>
              <a:off x="3670300" y="32766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4" name="Oval 43"/>
            <p:cNvSpPr>
              <a:spLocks noChangeArrowheads="1"/>
            </p:cNvSpPr>
            <p:nvPr/>
          </p:nvSpPr>
          <p:spPr bwMode="auto">
            <a:xfrm>
              <a:off x="3581400" y="34290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5" name="Oval 44"/>
            <p:cNvSpPr>
              <a:spLocks noChangeArrowheads="1"/>
            </p:cNvSpPr>
            <p:nvPr/>
          </p:nvSpPr>
          <p:spPr bwMode="auto">
            <a:xfrm>
              <a:off x="3810000" y="35052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6" name="Oval 45"/>
            <p:cNvSpPr>
              <a:spLocks noChangeArrowheads="1"/>
            </p:cNvSpPr>
            <p:nvPr/>
          </p:nvSpPr>
          <p:spPr bwMode="auto">
            <a:xfrm>
              <a:off x="3657600" y="37338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7" name="Oval 46"/>
            <p:cNvSpPr>
              <a:spLocks noChangeArrowheads="1"/>
            </p:cNvSpPr>
            <p:nvPr/>
          </p:nvSpPr>
          <p:spPr bwMode="auto">
            <a:xfrm>
              <a:off x="4660900" y="23622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8" name="Oval 47"/>
            <p:cNvSpPr>
              <a:spLocks noChangeArrowheads="1"/>
            </p:cNvSpPr>
            <p:nvPr/>
          </p:nvSpPr>
          <p:spPr bwMode="auto">
            <a:xfrm>
              <a:off x="3581400" y="38989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19" name="Oval 48"/>
            <p:cNvSpPr>
              <a:spLocks noChangeArrowheads="1"/>
            </p:cNvSpPr>
            <p:nvPr/>
          </p:nvSpPr>
          <p:spPr bwMode="auto">
            <a:xfrm>
              <a:off x="3441700" y="38100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20" name="Oval 49"/>
            <p:cNvSpPr>
              <a:spLocks noChangeArrowheads="1"/>
            </p:cNvSpPr>
            <p:nvPr/>
          </p:nvSpPr>
          <p:spPr bwMode="auto">
            <a:xfrm>
              <a:off x="3365500" y="3962400"/>
              <a:ext cx="63500" cy="63500"/>
            </a:xfrm>
            <a:prstGeom prst="ellipse">
              <a:avLst/>
            </a:prstGeom>
            <a:solidFill>
              <a:schemeClr val="tx1"/>
            </a:solidFill>
            <a:ln w="12700">
              <a:solidFill>
                <a:schemeClr val="tx1"/>
              </a:solidFill>
              <a:round/>
              <a:headEnd/>
              <a:tailEnd/>
            </a:ln>
          </p:spPr>
          <p:txBody>
            <a:bodyPr wrap="none" anchor="ctr"/>
            <a:lstStyle/>
            <a:p>
              <a:endParaRPr lang="zh-CN" altLang="zh-CN">
                <a:ea typeface="SimSun" pitchFamily="2" charset="-122"/>
              </a:endParaRPr>
            </a:p>
          </p:txBody>
        </p:sp>
        <p:sp>
          <p:nvSpPr>
            <p:cNvPr id="49221" name="Line 50"/>
            <p:cNvSpPr>
              <a:spLocks noChangeShapeType="1"/>
            </p:cNvSpPr>
            <p:nvPr/>
          </p:nvSpPr>
          <p:spPr bwMode="auto">
            <a:xfrm>
              <a:off x="4572000" y="2590800"/>
              <a:ext cx="228600" cy="76200"/>
            </a:xfrm>
            <a:prstGeom prst="line">
              <a:avLst/>
            </a:prstGeom>
            <a:noFill/>
            <a:ln w="9525">
              <a:solidFill>
                <a:schemeClr val="tx1"/>
              </a:solidFill>
              <a:round/>
              <a:headEnd/>
              <a:tailEnd/>
            </a:ln>
          </p:spPr>
          <p:txBody>
            <a:bodyPr/>
            <a:lstStyle/>
            <a:p>
              <a:endParaRPr lang="en-US"/>
            </a:p>
          </p:txBody>
        </p:sp>
        <p:sp>
          <p:nvSpPr>
            <p:cNvPr id="49222" name="Line 51"/>
            <p:cNvSpPr>
              <a:spLocks noChangeShapeType="1"/>
            </p:cNvSpPr>
            <p:nvPr/>
          </p:nvSpPr>
          <p:spPr bwMode="auto">
            <a:xfrm>
              <a:off x="4724400" y="2362200"/>
              <a:ext cx="76200" cy="304800"/>
            </a:xfrm>
            <a:prstGeom prst="line">
              <a:avLst/>
            </a:prstGeom>
            <a:noFill/>
            <a:ln w="9525">
              <a:solidFill>
                <a:schemeClr val="tx1"/>
              </a:solidFill>
              <a:round/>
              <a:headEnd/>
              <a:tailEnd/>
            </a:ln>
          </p:spPr>
          <p:txBody>
            <a:bodyPr/>
            <a:lstStyle/>
            <a:p>
              <a:endParaRPr lang="en-US"/>
            </a:p>
          </p:txBody>
        </p:sp>
        <p:sp>
          <p:nvSpPr>
            <p:cNvPr id="49223" name="Line 52"/>
            <p:cNvSpPr>
              <a:spLocks noChangeShapeType="1"/>
            </p:cNvSpPr>
            <p:nvPr/>
          </p:nvSpPr>
          <p:spPr bwMode="auto">
            <a:xfrm>
              <a:off x="4267200" y="1981200"/>
              <a:ext cx="457200" cy="381000"/>
            </a:xfrm>
            <a:prstGeom prst="line">
              <a:avLst/>
            </a:prstGeom>
            <a:noFill/>
            <a:ln w="9525">
              <a:solidFill>
                <a:schemeClr val="tx1"/>
              </a:solidFill>
              <a:round/>
              <a:headEnd/>
              <a:tailEnd/>
            </a:ln>
          </p:spPr>
          <p:txBody>
            <a:bodyPr/>
            <a:lstStyle/>
            <a:p>
              <a:endParaRPr lang="en-US"/>
            </a:p>
          </p:txBody>
        </p:sp>
        <p:sp>
          <p:nvSpPr>
            <p:cNvPr id="49224" name="Line 53"/>
            <p:cNvSpPr>
              <a:spLocks noChangeShapeType="1"/>
            </p:cNvSpPr>
            <p:nvPr/>
          </p:nvSpPr>
          <p:spPr bwMode="auto">
            <a:xfrm>
              <a:off x="4114800" y="2057400"/>
              <a:ext cx="609600" cy="304800"/>
            </a:xfrm>
            <a:prstGeom prst="line">
              <a:avLst/>
            </a:prstGeom>
            <a:noFill/>
            <a:ln w="9525">
              <a:solidFill>
                <a:schemeClr val="tx1"/>
              </a:solidFill>
              <a:round/>
              <a:headEnd/>
              <a:tailEnd/>
            </a:ln>
          </p:spPr>
          <p:txBody>
            <a:bodyPr/>
            <a:lstStyle/>
            <a:p>
              <a:endParaRPr lang="en-US"/>
            </a:p>
          </p:txBody>
        </p:sp>
        <p:sp>
          <p:nvSpPr>
            <p:cNvPr id="49225" name="Line 54"/>
            <p:cNvSpPr>
              <a:spLocks noChangeShapeType="1"/>
            </p:cNvSpPr>
            <p:nvPr/>
          </p:nvSpPr>
          <p:spPr bwMode="auto">
            <a:xfrm flipV="1">
              <a:off x="3048000" y="2667000"/>
              <a:ext cx="762000" cy="152400"/>
            </a:xfrm>
            <a:prstGeom prst="line">
              <a:avLst/>
            </a:prstGeom>
            <a:noFill/>
            <a:ln w="9525">
              <a:solidFill>
                <a:schemeClr val="tx1"/>
              </a:solidFill>
              <a:round/>
              <a:headEnd/>
              <a:tailEnd/>
            </a:ln>
          </p:spPr>
          <p:txBody>
            <a:bodyPr/>
            <a:lstStyle/>
            <a:p>
              <a:endParaRPr lang="en-US"/>
            </a:p>
          </p:txBody>
        </p:sp>
        <p:sp>
          <p:nvSpPr>
            <p:cNvPr id="49226" name="Line 55"/>
            <p:cNvSpPr>
              <a:spLocks noChangeShapeType="1"/>
            </p:cNvSpPr>
            <p:nvPr/>
          </p:nvSpPr>
          <p:spPr bwMode="auto">
            <a:xfrm>
              <a:off x="3048000" y="3200400"/>
              <a:ext cx="533400" cy="228600"/>
            </a:xfrm>
            <a:prstGeom prst="line">
              <a:avLst/>
            </a:prstGeom>
            <a:noFill/>
            <a:ln w="9525">
              <a:solidFill>
                <a:schemeClr val="tx1"/>
              </a:solidFill>
              <a:round/>
              <a:headEnd/>
              <a:tailEnd/>
            </a:ln>
          </p:spPr>
          <p:txBody>
            <a:bodyPr/>
            <a:lstStyle/>
            <a:p>
              <a:endParaRPr lang="en-US"/>
            </a:p>
          </p:txBody>
        </p:sp>
        <p:sp>
          <p:nvSpPr>
            <p:cNvPr id="49227" name="Line 56"/>
            <p:cNvSpPr>
              <a:spLocks noChangeShapeType="1"/>
            </p:cNvSpPr>
            <p:nvPr/>
          </p:nvSpPr>
          <p:spPr bwMode="auto">
            <a:xfrm flipH="1">
              <a:off x="3505200" y="3429000"/>
              <a:ext cx="76200" cy="381000"/>
            </a:xfrm>
            <a:prstGeom prst="line">
              <a:avLst/>
            </a:prstGeom>
            <a:noFill/>
            <a:ln w="9525">
              <a:solidFill>
                <a:schemeClr val="tx1"/>
              </a:solidFill>
              <a:round/>
              <a:headEnd/>
              <a:tailEnd/>
            </a:ln>
          </p:spPr>
          <p:txBody>
            <a:bodyPr/>
            <a:lstStyle/>
            <a:p>
              <a:endParaRPr lang="en-US"/>
            </a:p>
          </p:txBody>
        </p:sp>
        <p:sp>
          <p:nvSpPr>
            <p:cNvPr id="49228" name="Line 57"/>
            <p:cNvSpPr>
              <a:spLocks noChangeShapeType="1"/>
            </p:cNvSpPr>
            <p:nvPr/>
          </p:nvSpPr>
          <p:spPr bwMode="auto">
            <a:xfrm>
              <a:off x="3581400" y="3429000"/>
              <a:ext cx="76200" cy="304800"/>
            </a:xfrm>
            <a:prstGeom prst="line">
              <a:avLst/>
            </a:prstGeom>
            <a:noFill/>
            <a:ln w="9525">
              <a:solidFill>
                <a:schemeClr val="tx1"/>
              </a:solidFill>
              <a:round/>
              <a:headEnd/>
              <a:tailEnd/>
            </a:ln>
          </p:spPr>
          <p:txBody>
            <a:bodyPr/>
            <a:lstStyle/>
            <a:p>
              <a:endParaRPr lang="en-US"/>
            </a:p>
          </p:txBody>
        </p:sp>
        <p:sp>
          <p:nvSpPr>
            <p:cNvPr id="49229" name="Line 58"/>
            <p:cNvSpPr>
              <a:spLocks noChangeShapeType="1"/>
            </p:cNvSpPr>
            <p:nvPr/>
          </p:nvSpPr>
          <p:spPr bwMode="auto">
            <a:xfrm flipH="1">
              <a:off x="3657600" y="3505200"/>
              <a:ext cx="152400" cy="304800"/>
            </a:xfrm>
            <a:prstGeom prst="line">
              <a:avLst/>
            </a:prstGeom>
            <a:noFill/>
            <a:ln w="9525">
              <a:solidFill>
                <a:schemeClr val="tx1"/>
              </a:solidFill>
              <a:round/>
              <a:headEnd/>
              <a:tailEnd/>
            </a:ln>
          </p:spPr>
          <p:txBody>
            <a:bodyPr/>
            <a:lstStyle/>
            <a:p>
              <a:endParaRPr lang="en-US"/>
            </a:p>
          </p:txBody>
        </p:sp>
        <p:sp>
          <p:nvSpPr>
            <p:cNvPr id="49230" name="Line 59"/>
            <p:cNvSpPr>
              <a:spLocks noChangeShapeType="1"/>
            </p:cNvSpPr>
            <p:nvPr/>
          </p:nvSpPr>
          <p:spPr bwMode="auto">
            <a:xfrm>
              <a:off x="3505200" y="3810000"/>
              <a:ext cx="152400" cy="0"/>
            </a:xfrm>
            <a:prstGeom prst="line">
              <a:avLst/>
            </a:prstGeom>
            <a:noFill/>
            <a:ln w="9525">
              <a:solidFill>
                <a:schemeClr val="tx1"/>
              </a:solidFill>
              <a:round/>
              <a:headEnd/>
              <a:tailEnd/>
            </a:ln>
          </p:spPr>
          <p:txBody>
            <a:bodyPr/>
            <a:lstStyle/>
            <a:p>
              <a:endParaRPr lang="en-US"/>
            </a:p>
          </p:txBody>
        </p:sp>
        <p:sp>
          <p:nvSpPr>
            <p:cNvPr id="49231" name="Line 60"/>
            <p:cNvSpPr>
              <a:spLocks noChangeShapeType="1"/>
            </p:cNvSpPr>
            <p:nvPr/>
          </p:nvSpPr>
          <p:spPr bwMode="auto">
            <a:xfrm flipH="1">
              <a:off x="3429000" y="3810000"/>
              <a:ext cx="76200" cy="152400"/>
            </a:xfrm>
            <a:prstGeom prst="line">
              <a:avLst/>
            </a:prstGeom>
            <a:noFill/>
            <a:ln w="9525">
              <a:solidFill>
                <a:schemeClr val="tx1"/>
              </a:solidFill>
              <a:round/>
              <a:headEnd/>
              <a:tailEnd/>
            </a:ln>
          </p:spPr>
          <p:txBody>
            <a:bodyPr/>
            <a:lstStyle/>
            <a:p>
              <a:endParaRPr lang="en-US"/>
            </a:p>
          </p:txBody>
        </p:sp>
        <p:sp>
          <p:nvSpPr>
            <p:cNvPr id="49232" name="Line 61"/>
            <p:cNvSpPr>
              <a:spLocks noChangeShapeType="1"/>
            </p:cNvSpPr>
            <p:nvPr/>
          </p:nvSpPr>
          <p:spPr bwMode="auto">
            <a:xfrm>
              <a:off x="2514600" y="2209800"/>
              <a:ext cx="76200" cy="304800"/>
            </a:xfrm>
            <a:prstGeom prst="line">
              <a:avLst/>
            </a:prstGeom>
            <a:noFill/>
            <a:ln w="9525">
              <a:solidFill>
                <a:schemeClr val="tx1"/>
              </a:solidFill>
              <a:round/>
              <a:headEnd/>
              <a:tailEnd/>
            </a:ln>
          </p:spPr>
          <p:txBody>
            <a:bodyPr/>
            <a:lstStyle/>
            <a:p>
              <a:endParaRPr lang="en-US"/>
            </a:p>
          </p:txBody>
        </p:sp>
        <p:sp>
          <p:nvSpPr>
            <p:cNvPr id="49233" name="Line 62"/>
            <p:cNvSpPr>
              <a:spLocks noChangeShapeType="1"/>
            </p:cNvSpPr>
            <p:nvPr/>
          </p:nvSpPr>
          <p:spPr bwMode="auto">
            <a:xfrm>
              <a:off x="2667000" y="2590800"/>
              <a:ext cx="304800" cy="228600"/>
            </a:xfrm>
            <a:prstGeom prst="line">
              <a:avLst/>
            </a:prstGeom>
            <a:noFill/>
            <a:ln w="9525">
              <a:solidFill>
                <a:schemeClr val="tx1"/>
              </a:solidFill>
              <a:round/>
              <a:headEnd/>
              <a:tailEnd/>
            </a:ln>
          </p:spPr>
          <p:txBody>
            <a:bodyPr/>
            <a:lstStyle/>
            <a:p>
              <a:endParaRPr lang="en-US"/>
            </a:p>
          </p:txBody>
        </p:sp>
        <p:sp>
          <p:nvSpPr>
            <p:cNvPr id="49234" name="Line 63"/>
            <p:cNvSpPr>
              <a:spLocks noChangeShapeType="1"/>
            </p:cNvSpPr>
            <p:nvPr/>
          </p:nvSpPr>
          <p:spPr bwMode="auto">
            <a:xfrm>
              <a:off x="2590800" y="2590800"/>
              <a:ext cx="152400" cy="381000"/>
            </a:xfrm>
            <a:prstGeom prst="line">
              <a:avLst/>
            </a:prstGeom>
            <a:noFill/>
            <a:ln w="9525">
              <a:solidFill>
                <a:schemeClr val="tx1"/>
              </a:solidFill>
              <a:round/>
              <a:headEnd/>
              <a:tailEnd/>
            </a:ln>
          </p:spPr>
          <p:txBody>
            <a:bodyPr/>
            <a:lstStyle/>
            <a:p>
              <a:endParaRPr lang="en-US"/>
            </a:p>
          </p:txBody>
        </p:sp>
        <p:sp>
          <p:nvSpPr>
            <p:cNvPr id="49235" name="Line 64"/>
            <p:cNvSpPr>
              <a:spLocks noChangeShapeType="1"/>
            </p:cNvSpPr>
            <p:nvPr/>
          </p:nvSpPr>
          <p:spPr bwMode="auto">
            <a:xfrm>
              <a:off x="2743200" y="2971800"/>
              <a:ext cx="304800" cy="228600"/>
            </a:xfrm>
            <a:prstGeom prst="line">
              <a:avLst/>
            </a:prstGeom>
            <a:noFill/>
            <a:ln w="9525">
              <a:solidFill>
                <a:schemeClr val="tx1"/>
              </a:solidFill>
              <a:round/>
              <a:headEnd/>
              <a:tailEnd/>
            </a:ln>
          </p:spPr>
          <p:txBody>
            <a:bodyPr/>
            <a:lstStyle/>
            <a:p>
              <a:endParaRPr lang="en-US"/>
            </a:p>
          </p:txBody>
        </p:sp>
        <p:sp>
          <p:nvSpPr>
            <p:cNvPr id="49236" name="Line 65"/>
            <p:cNvSpPr>
              <a:spLocks noChangeShapeType="1"/>
            </p:cNvSpPr>
            <p:nvPr/>
          </p:nvSpPr>
          <p:spPr bwMode="auto">
            <a:xfrm flipV="1">
              <a:off x="2743200" y="2895600"/>
              <a:ext cx="228600" cy="152400"/>
            </a:xfrm>
            <a:prstGeom prst="line">
              <a:avLst/>
            </a:prstGeom>
            <a:noFill/>
            <a:ln w="9525">
              <a:solidFill>
                <a:schemeClr val="tx1"/>
              </a:solidFill>
              <a:round/>
              <a:headEnd/>
              <a:tailEnd/>
            </a:ln>
          </p:spPr>
          <p:txBody>
            <a:bodyPr/>
            <a:lstStyle/>
            <a:p>
              <a:endParaRPr lang="en-US"/>
            </a:p>
          </p:txBody>
        </p:sp>
        <p:sp>
          <p:nvSpPr>
            <p:cNvPr id="49237" name="Line 66"/>
            <p:cNvSpPr>
              <a:spLocks noChangeShapeType="1"/>
            </p:cNvSpPr>
            <p:nvPr/>
          </p:nvSpPr>
          <p:spPr bwMode="auto">
            <a:xfrm>
              <a:off x="2286000" y="2590800"/>
              <a:ext cx="152400" cy="304800"/>
            </a:xfrm>
            <a:prstGeom prst="line">
              <a:avLst/>
            </a:prstGeom>
            <a:noFill/>
            <a:ln w="9525">
              <a:solidFill>
                <a:schemeClr val="tx1"/>
              </a:solidFill>
              <a:round/>
              <a:headEnd/>
              <a:tailEnd/>
            </a:ln>
          </p:spPr>
          <p:txBody>
            <a:bodyPr/>
            <a:lstStyle/>
            <a:p>
              <a:endParaRPr lang="en-US"/>
            </a:p>
          </p:txBody>
        </p:sp>
        <p:sp>
          <p:nvSpPr>
            <p:cNvPr id="49238" name="Line 67"/>
            <p:cNvSpPr>
              <a:spLocks noChangeShapeType="1"/>
            </p:cNvSpPr>
            <p:nvPr/>
          </p:nvSpPr>
          <p:spPr bwMode="auto">
            <a:xfrm flipH="1">
              <a:off x="2438400" y="2590800"/>
              <a:ext cx="152400" cy="304800"/>
            </a:xfrm>
            <a:prstGeom prst="line">
              <a:avLst/>
            </a:prstGeom>
            <a:noFill/>
            <a:ln w="9525">
              <a:solidFill>
                <a:schemeClr val="tx1"/>
              </a:solidFill>
              <a:round/>
              <a:headEnd/>
              <a:tailEnd/>
            </a:ln>
          </p:spPr>
          <p:txBody>
            <a:bodyPr/>
            <a:lstStyle/>
            <a:p>
              <a:endParaRPr lang="en-US"/>
            </a:p>
          </p:txBody>
        </p:sp>
        <p:sp>
          <p:nvSpPr>
            <p:cNvPr id="49239" name="Line 68"/>
            <p:cNvSpPr>
              <a:spLocks noChangeShapeType="1"/>
            </p:cNvSpPr>
            <p:nvPr/>
          </p:nvSpPr>
          <p:spPr bwMode="auto">
            <a:xfrm>
              <a:off x="2438400" y="2895600"/>
              <a:ext cx="0" cy="228600"/>
            </a:xfrm>
            <a:prstGeom prst="line">
              <a:avLst/>
            </a:prstGeom>
            <a:noFill/>
            <a:ln w="9525">
              <a:solidFill>
                <a:schemeClr val="tx1"/>
              </a:solidFill>
              <a:round/>
              <a:headEnd/>
              <a:tailEnd/>
            </a:ln>
          </p:spPr>
          <p:txBody>
            <a:bodyPr/>
            <a:lstStyle/>
            <a:p>
              <a:endParaRPr lang="en-US"/>
            </a:p>
          </p:txBody>
        </p:sp>
        <p:sp>
          <p:nvSpPr>
            <p:cNvPr id="49240" name="Line 69"/>
            <p:cNvSpPr>
              <a:spLocks noChangeShapeType="1"/>
            </p:cNvSpPr>
            <p:nvPr/>
          </p:nvSpPr>
          <p:spPr bwMode="auto">
            <a:xfrm>
              <a:off x="2438400" y="3200400"/>
              <a:ext cx="609600" cy="0"/>
            </a:xfrm>
            <a:prstGeom prst="line">
              <a:avLst/>
            </a:prstGeom>
            <a:noFill/>
            <a:ln w="9525">
              <a:solidFill>
                <a:schemeClr val="tx1"/>
              </a:solidFill>
              <a:round/>
              <a:headEnd/>
              <a:tailEnd/>
            </a:ln>
          </p:spPr>
          <p:txBody>
            <a:bodyPr/>
            <a:lstStyle/>
            <a:p>
              <a:endParaRPr lang="en-US"/>
            </a:p>
          </p:txBody>
        </p:sp>
        <p:sp>
          <p:nvSpPr>
            <p:cNvPr id="49241" name="Line 70"/>
            <p:cNvSpPr>
              <a:spLocks noChangeShapeType="1"/>
            </p:cNvSpPr>
            <p:nvPr/>
          </p:nvSpPr>
          <p:spPr bwMode="auto">
            <a:xfrm flipV="1">
              <a:off x="2438400" y="3048000"/>
              <a:ext cx="304800" cy="152400"/>
            </a:xfrm>
            <a:prstGeom prst="line">
              <a:avLst/>
            </a:prstGeom>
            <a:noFill/>
            <a:ln w="9525">
              <a:solidFill>
                <a:schemeClr val="tx1"/>
              </a:solidFill>
              <a:round/>
              <a:headEnd/>
              <a:tailEnd/>
            </a:ln>
          </p:spPr>
          <p:txBody>
            <a:bodyPr/>
            <a:lstStyle/>
            <a:p>
              <a:endParaRPr lang="en-US"/>
            </a:p>
          </p:txBody>
        </p:sp>
        <p:sp>
          <p:nvSpPr>
            <p:cNvPr id="49242" name="Line 71"/>
            <p:cNvSpPr>
              <a:spLocks noChangeShapeType="1"/>
            </p:cNvSpPr>
            <p:nvPr/>
          </p:nvSpPr>
          <p:spPr bwMode="auto">
            <a:xfrm flipV="1">
              <a:off x="4038600" y="2590800"/>
              <a:ext cx="533400" cy="152400"/>
            </a:xfrm>
            <a:prstGeom prst="line">
              <a:avLst/>
            </a:prstGeom>
            <a:noFill/>
            <a:ln w="9525">
              <a:solidFill>
                <a:schemeClr val="tx1"/>
              </a:solidFill>
              <a:round/>
              <a:headEnd/>
              <a:tailEnd/>
            </a:ln>
          </p:spPr>
          <p:txBody>
            <a:bodyPr/>
            <a:lstStyle/>
            <a:p>
              <a:endParaRPr lang="en-US"/>
            </a:p>
          </p:txBody>
        </p:sp>
        <p:sp>
          <p:nvSpPr>
            <p:cNvPr id="49243" name="Line 72"/>
            <p:cNvSpPr>
              <a:spLocks noChangeShapeType="1"/>
            </p:cNvSpPr>
            <p:nvPr/>
          </p:nvSpPr>
          <p:spPr bwMode="auto">
            <a:xfrm>
              <a:off x="2438400" y="2819400"/>
              <a:ext cx="381000" cy="228600"/>
            </a:xfrm>
            <a:prstGeom prst="line">
              <a:avLst/>
            </a:prstGeom>
            <a:noFill/>
            <a:ln w="9525">
              <a:solidFill>
                <a:schemeClr val="tx1"/>
              </a:solidFill>
              <a:round/>
              <a:headEnd/>
              <a:tailEnd/>
            </a:ln>
          </p:spPr>
          <p:txBody>
            <a:bodyPr/>
            <a:lstStyle/>
            <a:p>
              <a:endParaRPr lang="en-US"/>
            </a:p>
          </p:txBody>
        </p:sp>
        <p:sp>
          <p:nvSpPr>
            <p:cNvPr id="49244" name="Line 73"/>
            <p:cNvSpPr>
              <a:spLocks noChangeShapeType="1"/>
            </p:cNvSpPr>
            <p:nvPr/>
          </p:nvSpPr>
          <p:spPr bwMode="auto">
            <a:xfrm flipH="1">
              <a:off x="3886200" y="2057400"/>
              <a:ext cx="228600" cy="381000"/>
            </a:xfrm>
            <a:prstGeom prst="line">
              <a:avLst/>
            </a:prstGeom>
            <a:noFill/>
            <a:ln w="9525">
              <a:solidFill>
                <a:schemeClr val="tx1"/>
              </a:solidFill>
              <a:round/>
              <a:headEnd/>
              <a:tailEnd/>
            </a:ln>
          </p:spPr>
          <p:txBody>
            <a:bodyPr/>
            <a:lstStyle/>
            <a:p>
              <a:endParaRPr lang="en-US"/>
            </a:p>
          </p:txBody>
        </p:sp>
        <p:sp>
          <p:nvSpPr>
            <p:cNvPr id="49245" name="Line 223"/>
            <p:cNvSpPr>
              <a:spLocks noChangeShapeType="1"/>
            </p:cNvSpPr>
            <p:nvPr/>
          </p:nvSpPr>
          <p:spPr bwMode="auto">
            <a:xfrm>
              <a:off x="2667000" y="1752600"/>
              <a:ext cx="0" cy="381000"/>
            </a:xfrm>
            <a:prstGeom prst="line">
              <a:avLst/>
            </a:prstGeom>
            <a:noFill/>
            <a:ln w="9525">
              <a:solidFill>
                <a:schemeClr val="tx1"/>
              </a:solidFill>
              <a:round/>
              <a:headEnd/>
              <a:tailEnd/>
            </a:ln>
          </p:spPr>
          <p:txBody>
            <a:bodyPr/>
            <a:lstStyle/>
            <a:p>
              <a:endParaRPr lang="en-US"/>
            </a:p>
          </p:txBody>
        </p:sp>
        <p:sp>
          <p:nvSpPr>
            <p:cNvPr id="49246" name="Line 225"/>
            <p:cNvSpPr>
              <a:spLocks noChangeShapeType="1"/>
            </p:cNvSpPr>
            <p:nvPr/>
          </p:nvSpPr>
          <p:spPr bwMode="auto">
            <a:xfrm>
              <a:off x="2514600" y="1981200"/>
              <a:ext cx="152400" cy="152400"/>
            </a:xfrm>
            <a:prstGeom prst="line">
              <a:avLst/>
            </a:prstGeom>
            <a:noFill/>
            <a:ln w="9525">
              <a:solidFill>
                <a:schemeClr val="tx1"/>
              </a:solidFill>
              <a:round/>
              <a:headEnd/>
              <a:tailEnd/>
            </a:ln>
          </p:spPr>
          <p:txBody>
            <a:bodyPr/>
            <a:lstStyle/>
            <a:p>
              <a:endParaRPr lang="en-US"/>
            </a:p>
          </p:txBody>
        </p:sp>
        <p:sp>
          <p:nvSpPr>
            <p:cNvPr id="49247" name="Line 226"/>
            <p:cNvSpPr>
              <a:spLocks noChangeShapeType="1"/>
            </p:cNvSpPr>
            <p:nvPr/>
          </p:nvSpPr>
          <p:spPr bwMode="auto">
            <a:xfrm flipH="1">
              <a:off x="2590800" y="2133600"/>
              <a:ext cx="76200" cy="457200"/>
            </a:xfrm>
            <a:prstGeom prst="line">
              <a:avLst/>
            </a:prstGeom>
            <a:noFill/>
            <a:ln w="9525">
              <a:solidFill>
                <a:schemeClr val="tx1"/>
              </a:solidFill>
              <a:round/>
              <a:headEnd/>
              <a:tailEnd/>
            </a:ln>
          </p:spPr>
          <p:txBody>
            <a:bodyPr/>
            <a:lstStyle/>
            <a:p>
              <a:endParaRPr lang="en-US"/>
            </a:p>
          </p:txBody>
        </p:sp>
        <p:sp>
          <p:nvSpPr>
            <p:cNvPr id="49248" name="Line 227"/>
            <p:cNvSpPr>
              <a:spLocks noChangeShapeType="1"/>
            </p:cNvSpPr>
            <p:nvPr/>
          </p:nvSpPr>
          <p:spPr bwMode="auto">
            <a:xfrm>
              <a:off x="2667000" y="2057400"/>
              <a:ext cx="304800" cy="762000"/>
            </a:xfrm>
            <a:prstGeom prst="line">
              <a:avLst/>
            </a:prstGeom>
            <a:noFill/>
            <a:ln w="9525">
              <a:solidFill>
                <a:schemeClr val="tx1"/>
              </a:solidFill>
              <a:round/>
              <a:headEnd/>
              <a:tailEnd/>
            </a:ln>
          </p:spPr>
          <p:txBody>
            <a:bodyPr/>
            <a:lstStyle/>
            <a:p>
              <a:endParaRPr lang="en-US"/>
            </a:p>
          </p:txBody>
        </p:sp>
        <p:sp>
          <p:nvSpPr>
            <p:cNvPr id="49249" name="Line 228"/>
            <p:cNvSpPr>
              <a:spLocks noChangeShapeType="1"/>
            </p:cNvSpPr>
            <p:nvPr/>
          </p:nvSpPr>
          <p:spPr bwMode="auto">
            <a:xfrm>
              <a:off x="2971800" y="2819400"/>
              <a:ext cx="76200" cy="304800"/>
            </a:xfrm>
            <a:prstGeom prst="line">
              <a:avLst/>
            </a:prstGeom>
            <a:noFill/>
            <a:ln w="9525">
              <a:solidFill>
                <a:schemeClr val="tx1"/>
              </a:solidFill>
              <a:round/>
              <a:headEnd/>
              <a:tailEnd/>
            </a:ln>
          </p:spPr>
          <p:txBody>
            <a:bodyPr/>
            <a:lstStyle/>
            <a:p>
              <a:endParaRPr lang="en-US"/>
            </a:p>
          </p:txBody>
        </p:sp>
        <p:sp>
          <p:nvSpPr>
            <p:cNvPr id="49250" name="Line 229"/>
            <p:cNvSpPr>
              <a:spLocks noChangeShapeType="1"/>
            </p:cNvSpPr>
            <p:nvPr/>
          </p:nvSpPr>
          <p:spPr bwMode="auto">
            <a:xfrm>
              <a:off x="3657600" y="2514600"/>
              <a:ext cx="152400" cy="152400"/>
            </a:xfrm>
            <a:prstGeom prst="line">
              <a:avLst/>
            </a:prstGeom>
            <a:noFill/>
            <a:ln w="9525">
              <a:solidFill>
                <a:schemeClr val="tx1"/>
              </a:solidFill>
              <a:round/>
              <a:headEnd/>
              <a:tailEnd/>
            </a:ln>
          </p:spPr>
          <p:txBody>
            <a:bodyPr/>
            <a:lstStyle/>
            <a:p>
              <a:endParaRPr lang="en-US"/>
            </a:p>
          </p:txBody>
        </p:sp>
        <p:sp>
          <p:nvSpPr>
            <p:cNvPr id="49251" name="Line 230"/>
            <p:cNvSpPr>
              <a:spLocks noChangeShapeType="1"/>
            </p:cNvSpPr>
            <p:nvPr/>
          </p:nvSpPr>
          <p:spPr bwMode="auto">
            <a:xfrm flipH="1">
              <a:off x="3810000" y="2438400"/>
              <a:ext cx="76200" cy="228600"/>
            </a:xfrm>
            <a:prstGeom prst="line">
              <a:avLst/>
            </a:prstGeom>
            <a:noFill/>
            <a:ln w="9525">
              <a:solidFill>
                <a:schemeClr val="tx1"/>
              </a:solidFill>
              <a:round/>
              <a:headEnd/>
              <a:tailEnd/>
            </a:ln>
          </p:spPr>
          <p:txBody>
            <a:bodyPr/>
            <a:lstStyle/>
            <a:p>
              <a:endParaRPr lang="en-US"/>
            </a:p>
          </p:txBody>
        </p:sp>
        <p:sp>
          <p:nvSpPr>
            <p:cNvPr id="49252" name="Line 231"/>
            <p:cNvSpPr>
              <a:spLocks noChangeShapeType="1"/>
            </p:cNvSpPr>
            <p:nvPr/>
          </p:nvSpPr>
          <p:spPr bwMode="auto">
            <a:xfrm>
              <a:off x="3810000" y="2667000"/>
              <a:ext cx="152400" cy="76200"/>
            </a:xfrm>
            <a:prstGeom prst="line">
              <a:avLst/>
            </a:prstGeom>
            <a:noFill/>
            <a:ln w="9525">
              <a:solidFill>
                <a:schemeClr val="tx1"/>
              </a:solidFill>
              <a:round/>
              <a:headEnd/>
              <a:tailEnd/>
            </a:ln>
          </p:spPr>
          <p:txBody>
            <a:bodyPr/>
            <a:lstStyle/>
            <a:p>
              <a:endParaRPr lang="en-US"/>
            </a:p>
          </p:txBody>
        </p:sp>
        <p:sp>
          <p:nvSpPr>
            <p:cNvPr id="49253" name="Line 232"/>
            <p:cNvSpPr>
              <a:spLocks noChangeShapeType="1"/>
            </p:cNvSpPr>
            <p:nvPr/>
          </p:nvSpPr>
          <p:spPr bwMode="auto">
            <a:xfrm>
              <a:off x="3886200" y="2438400"/>
              <a:ext cx="76200" cy="304800"/>
            </a:xfrm>
            <a:prstGeom prst="line">
              <a:avLst/>
            </a:prstGeom>
            <a:noFill/>
            <a:ln w="9525">
              <a:solidFill>
                <a:schemeClr val="tx1"/>
              </a:solidFill>
              <a:round/>
              <a:headEnd/>
              <a:tailEnd/>
            </a:ln>
          </p:spPr>
          <p:txBody>
            <a:bodyPr/>
            <a:lstStyle/>
            <a:p>
              <a:endParaRPr lang="en-US"/>
            </a:p>
          </p:txBody>
        </p:sp>
        <p:sp>
          <p:nvSpPr>
            <p:cNvPr id="49254" name="Line 233"/>
            <p:cNvSpPr>
              <a:spLocks noChangeShapeType="1"/>
            </p:cNvSpPr>
            <p:nvPr/>
          </p:nvSpPr>
          <p:spPr bwMode="auto">
            <a:xfrm flipV="1">
              <a:off x="3886200" y="2743200"/>
              <a:ext cx="152400" cy="76200"/>
            </a:xfrm>
            <a:prstGeom prst="line">
              <a:avLst/>
            </a:prstGeom>
            <a:noFill/>
            <a:ln w="9525">
              <a:solidFill>
                <a:schemeClr val="tx1"/>
              </a:solidFill>
              <a:round/>
              <a:headEnd/>
              <a:tailEnd/>
            </a:ln>
          </p:spPr>
          <p:txBody>
            <a:bodyPr/>
            <a:lstStyle/>
            <a:p>
              <a:endParaRPr lang="en-US"/>
            </a:p>
          </p:txBody>
        </p:sp>
        <p:sp>
          <p:nvSpPr>
            <p:cNvPr id="49255" name="Line 234"/>
            <p:cNvSpPr>
              <a:spLocks noChangeShapeType="1"/>
            </p:cNvSpPr>
            <p:nvPr/>
          </p:nvSpPr>
          <p:spPr bwMode="auto">
            <a:xfrm flipH="1">
              <a:off x="3733800" y="2819400"/>
              <a:ext cx="152400" cy="457200"/>
            </a:xfrm>
            <a:prstGeom prst="line">
              <a:avLst/>
            </a:prstGeom>
            <a:noFill/>
            <a:ln w="9525">
              <a:solidFill>
                <a:schemeClr val="tx1"/>
              </a:solidFill>
              <a:round/>
              <a:headEnd/>
              <a:tailEnd/>
            </a:ln>
          </p:spPr>
          <p:txBody>
            <a:bodyPr/>
            <a:lstStyle/>
            <a:p>
              <a:endParaRPr lang="en-US"/>
            </a:p>
          </p:txBody>
        </p:sp>
        <p:sp>
          <p:nvSpPr>
            <p:cNvPr id="49256" name="Line 235"/>
            <p:cNvSpPr>
              <a:spLocks noChangeShapeType="1"/>
            </p:cNvSpPr>
            <p:nvPr/>
          </p:nvSpPr>
          <p:spPr bwMode="auto">
            <a:xfrm flipH="1">
              <a:off x="3581400" y="3276600"/>
              <a:ext cx="152400" cy="152400"/>
            </a:xfrm>
            <a:prstGeom prst="line">
              <a:avLst/>
            </a:prstGeom>
            <a:noFill/>
            <a:ln w="9525">
              <a:solidFill>
                <a:schemeClr val="tx1"/>
              </a:solidFill>
              <a:round/>
              <a:headEnd/>
              <a:tailEnd/>
            </a:ln>
          </p:spPr>
          <p:txBody>
            <a:bodyPr/>
            <a:lstStyle/>
            <a:p>
              <a:endParaRPr lang="en-US"/>
            </a:p>
          </p:txBody>
        </p:sp>
        <p:sp>
          <p:nvSpPr>
            <p:cNvPr id="49257" name="Line 236"/>
            <p:cNvSpPr>
              <a:spLocks noChangeShapeType="1"/>
            </p:cNvSpPr>
            <p:nvPr/>
          </p:nvSpPr>
          <p:spPr bwMode="auto">
            <a:xfrm>
              <a:off x="3733800" y="3276600"/>
              <a:ext cx="76200" cy="228600"/>
            </a:xfrm>
            <a:prstGeom prst="line">
              <a:avLst/>
            </a:prstGeom>
            <a:noFill/>
            <a:ln w="9525">
              <a:solidFill>
                <a:schemeClr val="tx1"/>
              </a:solidFill>
              <a:round/>
              <a:headEnd/>
              <a:tailEnd/>
            </a:ln>
          </p:spPr>
          <p:txBody>
            <a:bodyPr/>
            <a:lstStyle/>
            <a:p>
              <a:endParaRPr lang="en-US"/>
            </a:p>
          </p:txBody>
        </p:sp>
        <p:sp>
          <p:nvSpPr>
            <p:cNvPr id="49258" name="Line 237"/>
            <p:cNvSpPr>
              <a:spLocks noChangeShapeType="1"/>
            </p:cNvSpPr>
            <p:nvPr/>
          </p:nvSpPr>
          <p:spPr bwMode="auto">
            <a:xfrm flipH="1">
              <a:off x="3581400" y="3810000"/>
              <a:ext cx="76200" cy="152400"/>
            </a:xfrm>
            <a:prstGeom prst="line">
              <a:avLst/>
            </a:prstGeom>
            <a:noFill/>
            <a:ln w="9525">
              <a:solidFill>
                <a:schemeClr val="tx1"/>
              </a:solidFill>
              <a:round/>
              <a:headEnd/>
              <a:tailEnd/>
            </a:ln>
          </p:spPr>
          <p:txBody>
            <a:bodyPr/>
            <a:lstStyle/>
            <a:p>
              <a:endParaRPr lang="en-US"/>
            </a:p>
          </p:txBody>
        </p:sp>
        <p:sp>
          <p:nvSpPr>
            <p:cNvPr id="49259" name="Line 238"/>
            <p:cNvSpPr>
              <a:spLocks noChangeShapeType="1"/>
            </p:cNvSpPr>
            <p:nvPr/>
          </p:nvSpPr>
          <p:spPr bwMode="auto">
            <a:xfrm>
              <a:off x="3505200" y="3810000"/>
              <a:ext cx="76200" cy="152400"/>
            </a:xfrm>
            <a:prstGeom prst="line">
              <a:avLst/>
            </a:prstGeom>
            <a:noFill/>
            <a:ln w="9525">
              <a:solidFill>
                <a:schemeClr val="tx1"/>
              </a:solidFill>
              <a:round/>
              <a:headEnd/>
              <a:tailEnd/>
            </a:ln>
          </p:spPr>
          <p:txBody>
            <a:bodyPr/>
            <a:lstStyle/>
            <a:p>
              <a:endParaRPr lang="en-US"/>
            </a:p>
          </p:txBody>
        </p:sp>
        <p:sp>
          <p:nvSpPr>
            <p:cNvPr id="49260" name="Line 260"/>
            <p:cNvSpPr>
              <a:spLocks noChangeShapeType="1"/>
            </p:cNvSpPr>
            <p:nvPr/>
          </p:nvSpPr>
          <p:spPr bwMode="auto">
            <a:xfrm flipH="1">
              <a:off x="3733800" y="2438400"/>
              <a:ext cx="152400" cy="76200"/>
            </a:xfrm>
            <a:prstGeom prst="line">
              <a:avLst/>
            </a:prstGeom>
            <a:noFill/>
            <a:ln w="9525">
              <a:solidFill>
                <a:schemeClr val="tx1"/>
              </a:solidFill>
              <a:round/>
              <a:headEnd/>
              <a:tailEnd/>
            </a:ln>
          </p:spPr>
          <p:txBody>
            <a:bodyPr/>
            <a:lstStyle/>
            <a:p>
              <a:endParaRPr lang="en-US"/>
            </a:p>
          </p:txBody>
        </p:sp>
        <p:sp>
          <p:nvSpPr>
            <p:cNvPr id="49261" name="Line 261"/>
            <p:cNvSpPr>
              <a:spLocks noChangeShapeType="1"/>
            </p:cNvSpPr>
            <p:nvPr/>
          </p:nvSpPr>
          <p:spPr bwMode="auto">
            <a:xfrm flipH="1">
              <a:off x="4572000" y="2362200"/>
              <a:ext cx="152400" cy="228600"/>
            </a:xfrm>
            <a:prstGeom prst="line">
              <a:avLst/>
            </a:prstGeom>
            <a:noFill/>
            <a:ln w="9525">
              <a:solidFill>
                <a:schemeClr val="tx1"/>
              </a:solidFill>
              <a:round/>
              <a:headEnd/>
              <a:tailEnd/>
            </a:ln>
          </p:spPr>
          <p:txBody>
            <a:bodyPr/>
            <a:lstStyle/>
            <a:p>
              <a:endParaRPr lang="en-US"/>
            </a:p>
          </p:txBody>
        </p:sp>
        <p:sp>
          <p:nvSpPr>
            <p:cNvPr id="49262" name="Line 262"/>
            <p:cNvSpPr>
              <a:spLocks noChangeShapeType="1"/>
            </p:cNvSpPr>
            <p:nvPr/>
          </p:nvSpPr>
          <p:spPr bwMode="auto">
            <a:xfrm>
              <a:off x="3581400" y="3429000"/>
              <a:ext cx="228600" cy="76200"/>
            </a:xfrm>
            <a:prstGeom prst="line">
              <a:avLst/>
            </a:prstGeom>
            <a:noFill/>
            <a:ln w="9525">
              <a:solidFill>
                <a:schemeClr val="tx1"/>
              </a:solidFill>
              <a:round/>
              <a:headEnd/>
              <a:tailEnd/>
            </a:ln>
          </p:spPr>
          <p:txBody>
            <a:bodyPr/>
            <a:lstStyle/>
            <a:p>
              <a:endParaRPr lang="en-US"/>
            </a:p>
          </p:txBody>
        </p:sp>
        <p:sp>
          <p:nvSpPr>
            <p:cNvPr id="49263" name="Line 263"/>
            <p:cNvSpPr>
              <a:spLocks noChangeShapeType="1"/>
            </p:cNvSpPr>
            <p:nvPr/>
          </p:nvSpPr>
          <p:spPr bwMode="auto">
            <a:xfrm>
              <a:off x="3429000" y="3962400"/>
              <a:ext cx="152400" cy="0"/>
            </a:xfrm>
            <a:prstGeom prst="line">
              <a:avLst/>
            </a:prstGeom>
            <a:noFill/>
            <a:ln w="9525">
              <a:solidFill>
                <a:schemeClr val="tx1"/>
              </a:solidFill>
              <a:round/>
              <a:headEnd/>
              <a:tailEnd/>
            </a:ln>
          </p:spPr>
          <p:txBody>
            <a:bodyPr/>
            <a:lstStyle/>
            <a:p>
              <a:endParaRPr lang="en-US"/>
            </a:p>
          </p:txBody>
        </p:sp>
        <p:sp>
          <p:nvSpPr>
            <p:cNvPr id="49264" name="Line 264"/>
            <p:cNvSpPr>
              <a:spLocks noChangeShapeType="1"/>
            </p:cNvSpPr>
            <p:nvPr/>
          </p:nvSpPr>
          <p:spPr bwMode="auto">
            <a:xfrm flipV="1">
              <a:off x="4267200" y="1752600"/>
              <a:ext cx="0" cy="228600"/>
            </a:xfrm>
            <a:prstGeom prst="line">
              <a:avLst/>
            </a:prstGeom>
            <a:noFill/>
            <a:ln w="9525">
              <a:solidFill>
                <a:schemeClr val="tx1"/>
              </a:solidFill>
              <a:round/>
              <a:headEnd/>
              <a:tailEnd/>
            </a:ln>
          </p:spPr>
          <p:txBody>
            <a:bodyPr/>
            <a:lstStyle/>
            <a:p>
              <a:endParaRPr lang="en-US"/>
            </a:p>
          </p:txBody>
        </p:sp>
      </p:grpSp>
      <p:sp>
        <p:nvSpPr>
          <p:cNvPr id="49171" name="Text Box 265"/>
          <p:cNvSpPr txBox="1">
            <a:spLocks noChangeArrowheads="1"/>
          </p:cNvSpPr>
          <p:nvPr/>
        </p:nvSpPr>
        <p:spPr bwMode="auto">
          <a:xfrm>
            <a:off x="152400" y="3733800"/>
            <a:ext cx="2743200" cy="1338263"/>
          </a:xfrm>
          <a:prstGeom prst="rect">
            <a:avLst/>
          </a:prstGeom>
          <a:noFill/>
          <a:ln w="9525">
            <a:solidFill>
              <a:schemeClr val="tx1"/>
            </a:solidFill>
            <a:miter lim="800000"/>
            <a:headEnd/>
            <a:tailEnd/>
          </a:ln>
        </p:spPr>
        <p:txBody>
          <a:bodyPr>
            <a:spAutoFit/>
          </a:bodyPr>
          <a:lstStyle/>
          <a:p>
            <a:pPr eaLnBrk="0" hangingPunct="0">
              <a:spcBef>
                <a:spcPct val="50000"/>
              </a:spcBef>
            </a:pPr>
            <a:r>
              <a:rPr lang="en-US" altLang="zh-CN" b="1" dirty="0">
                <a:latin typeface="Calibri" pitchFamily="34" charset="0"/>
                <a:ea typeface="SimSun" pitchFamily="2" charset="-122"/>
              </a:rPr>
              <a:t>K-NN Graph</a:t>
            </a:r>
          </a:p>
          <a:p>
            <a:pPr marL="171450" lvl="1" eaLnBrk="0" hangingPunct="0">
              <a:spcBef>
                <a:spcPct val="50000"/>
              </a:spcBef>
            </a:pPr>
            <a:r>
              <a:rPr lang="en-US" altLang="zh-CN" dirty="0">
                <a:latin typeface="Calibri" pitchFamily="34" charset="0"/>
                <a:ea typeface="SimSun" pitchFamily="2" charset="-122"/>
              </a:rPr>
              <a:t>p and q are connected if q is among the top k closest neighbors of p</a:t>
            </a:r>
          </a:p>
        </p:txBody>
      </p:sp>
      <p:sp>
        <p:nvSpPr>
          <p:cNvPr id="49172" name="Text Box 266"/>
          <p:cNvSpPr txBox="1">
            <a:spLocks noChangeArrowheads="1"/>
          </p:cNvSpPr>
          <p:nvPr/>
        </p:nvSpPr>
        <p:spPr bwMode="auto">
          <a:xfrm>
            <a:off x="6477000" y="4894263"/>
            <a:ext cx="2819400" cy="1887537"/>
          </a:xfrm>
          <a:prstGeom prst="rect">
            <a:avLst/>
          </a:prstGeom>
          <a:noFill/>
          <a:ln w="9525">
            <a:solidFill>
              <a:schemeClr val="tx1"/>
            </a:solidFill>
            <a:miter lim="800000"/>
            <a:headEnd/>
            <a:tailEnd/>
          </a:ln>
        </p:spPr>
        <p:txBody>
          <a:bodyPr>
            <a:spAutoFit/>
          </a:bodyPr>
          <a:lstStyle/>
          <a:p>
            <a:pPr eaLnBrk="0" hangingPunct="0">
              <a:spcBef>
                <a:spcPct val="50000"/>
              </a:spcBef>
            </a:pPr>
            <a:r>
              <a:rPr lang="en-US" altLang="zh-CN" b="1">
                <a:latin typeface="Calibri" pitchFamily="34" charset="0"/>
                <a:ea typeface="SimSun" pitchFamily="2" charset="-122"/>
              </a:rPr>
              <a:t>Relative interconnectivity:  </a:t>
            </a:r>
            <a:r>
              <a:rPr lang="en-US" altLang="zh-CN">
                <a:latin typeface="Calibri" pitchFamily="34" charset="0"/>
                <a:ea typeface="SimSun" pitchFamily="2" charset="-122"/>
              </a:rPr>
              <a:t>connectivity of c</a:t>
            </a:r>
            <a:r>
              <a:rPr lang="en-US" altLang="zh-CN" baseline="-25000">
                <a:latin typeface="Calibri" pitchFamily="34" charset="0"/>
                <a:ea typeface="SimSun" pitchFamily="2" charset="-122"/>
              </a:rPr>
              <a:t>1</a:t>
            </a:r>
            <a:r>
              <a:rPr lang="en-US" altLang="zh-CN">
                <a:latin typeface="Calibri" pitchFamily="34" charset="0"/>
                <a:ea typeface="SimSun" pitchFamily="2" charset="-122"/>
              </a:rPr>
              <a:t> and c</a:t>
            </a:r>
            <a:r>
              <a:rPr lang="en-US" altLang="zh-CN" baseline="-25000">
                <a:latin typeface="Calibri" pitchFamily="34" charset="0"/>
                <a:ea typeface="SimSun" pitchFamily="2" charset="-122"/>
              </a:rPr>
              <a:t>2</a:t>
            </a:r>
            <a:r>
              <a:rPr lang="en-US" altLang="zh-CN">
                <a:latin typeface="Calibri" pitchFamily="34" charset="0"/>
                <a:ea typeface="SimSun" pitchFamily="2" charset="-122"/>
              </a:rPr>
              <a:t> over internal connectivity</a:t>
            </a:r>
          </a:p>
          <a:p>
            <a:pPr eaLnBrk="0" hangingPunct="0">
              <a:spcBef>
                <a:spcPct val="50000"/>
              </a:spcBef>
            </a:pPr>
            <a:r>
              <a:rPr lang="en-US" altLang="zh-CN" b="1">
                <a:latin typeface="Calibri" pitchFamily="34" charset="0"/>
                <a:ea typeface="SimSun" pitchFamily="2" charset="-122"/>
              </a:rPr>
              <a:t>Relative closeness: </a:t>
            </a:r>
            <a:r>
              <a:rPr lang="en-US" altLang="zh-CN">
                <a:latin typeface="Calibri" pitchFamily="34" charset="0"/>
                <a:ea typeface="SimSun" pitchFamily="2" charset="-122"/>
              </a:rPr>
              <a:t>closeness of c</a:t>
            </a:r>
            <a:r>
              <a:rPr lang="en-US" altLang="zh-CN" baseline="-25000">
                <a:latin typeface="Calibri" pitchFamily="34" charset="0"/>
                <a:ea typeface="SimSun" pitchFamily="2" charset="-122"/>
              </a:rPr>
              <a:t>1</a:t>
            </a:r>
            <a:r>
              <a:rPr lang="en-US" altLang="zh-CN">
                <a:latin typeface="Calibri" pitchFamily="34" charset="0"/>
                <a:ea typeface="SimSun" pitchFamily="2" charset="-122"/>
              </a:rPr>
              <a:t> and c</a:t>
            </a:r>
            <a:r>
              <a:rPr lang="en-US" altLang="zh-CN" baseline="-25000">
                <a:latin typeface="Calibri" pitchFamily="34" charset="0"/>
                <a:ea typeface="SimSun" pitchFamily="2" charset="-122"/>
              </a:rPr>
              <a:t>2</a:t>
            </a:r>
            <a:r>
              <a:rPr lang="en-US" altLang="zh-CN">
                <a:latin typeface="Calibri" pitchFamily="34" charset="0"/>
                <a:ea typeface="SimSun" pitchFamily="2" charset="-122"/>
              </a:rPr>
              <a:t> over internal closeness</a:t>
            </a:r>
          </a:p>
        </p:txBody>
      </p:sp>
      <p:sp>
        <p:nvSpPr>
          <p:cNvPr id="272" name="Slide Number Placeholder 271"/>
          <p:cNvSpPr>
            <a:spLocks noGrp="1"/>
          </p:cNvSpPr>
          <p:nvPr>
            <p:ph type="sldNum" sz="quarter" idx="11"/>
          </p:nvPr>
        </p:nvSpPr>
        <p:spPr/>
        <p:txBody>
          <a:bodyPr/>
          <a:lstStyle/>
          <a:p>
            <a:pPr>
              <a:defRPr/>
            </a:pPr>
            <a:fld id="{4635AE12-246C-49B1-92D7-252397D611F1}" type="slidenum">
              <a:rPr lang="en-US" smtClean="0"/>
              <a:pPr>
                <a:defRPr/>
              </a:pPr>
              <a:t>20</a:t>
            </a:fld>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0" y="152400"/>
            <a:ext cx="9144000" cy="990600"/>
          </a:xfrm>
          <a:prstGeom prst="rect">
            <a:avLst/>
          </a:prstGeom>
        </p:spPr>
        <p:txBody>
          <a:bodyPr lIns="92075" tIns="46038" rIns="92075" bIns="46038" anchor="ctr" anchorCtr="0">
            <a:noAutofit/>
          </a:bodyPr>
          <a:lstStyle/>
          <a:p>
            <a:r>
              <a:rPr lang="en-US" altLang="zh-CN" sz="3600" dirty="0">
                <a:solidFill>
                  <a:schemeClr val="tx2"/>
                </a:solidFill>
                <a:latin typeface="+mj-lt"/>
              </a:rPr>
              <a:t>KNN Graphs &amp; Interconnectivity</a:t>
            </a:r>
            <a:endParaRPr lang="en-US" altLang="zh-CN" sz="3600" b="1" dirty="0">
              <a:solidFill>
                <a:schemeClr val="tx2"/>
              </a:solidFill>
              <a:latin typeface="+mj-lt"/>
              <a:ea typeface="SimSun" pitchFamily="2" charset="-122"/>
            </a:endParaRPr>
          </a:p>
        </p:txBody>
      </p:sp>
      <p:sp>
        <p:nvSpPr>
          <p:cNvPr id="47107" name="Content Placeholder 2"/>
          <p:cNvSpPr>
            <a:spLocks noGrp="1"/>
          </p:cNvSpPr>
          <p:nvPr>
            <p:ph idx="1"/>
          </p:nvPr>
        </p:nvSpPr>
        <p:spPr>
          <a:xfrm>
            <a:off x="304800" y="1295400"/>
            <a:ext cx="8534400" cy="5105400"/>
          </a:xfrm>
        </p:spPr>
        <p:txBody>
          <a:bodyPr/>
          <a:lstStyle/>
          <a:p>
            <a:r>
              <a:rPr lang="en-US" altLang="zh-CN" sz="2400" dirty="0">
                <a:ea typeface="SimSun" pitchFamily="2" charset="-122"/>
              </a:rPr>
              <a:t>k-nearest graphs from an original data in 2D:</a:t>
            </a:r>
          </a:p>
          <a:p>
            <a:endParaRPr lang="en-US" altLang="zh-CN" sz="2400" i="1" dirty="0">
              <a:ea typeface="SimSun" pitchFamily="2" charset="-122"/>
            </a:endParaRPr>
          </a:p>
          <a:p>
            <a:endParaRPr lang="en-US" altLang="zh-CN" sz="2400" i="1" dirty="0">
              <a:ea typeface="SimSun" pitchFamily="2" charset="-122"/>
            </a:endParaRPr>
          </a:p>
          <a:p>
            <a:endParaRPr lang="en-US" altLang="zh-CN" sz="2400" i="1" dirty="0">
              <a:ea typeface="SimSun" pitchFamily="2" charset="-122"/>
            </a:endParaRPr>
          </a:p>
          <a:p>
            <a:endParaRPr lang="en-US" altLang="zh-CN" sz="2400" i="1" dirty="0">
              <a:ea typeface="SimSun" pitchFamily="2" charset="-122"/>
            </a:endParaRPr>
          </a:p>
          <a:p>
            <a:r>
              <a:rPr lang="en-US" altLang="zh-CN" sz="2400" i="1" dirty="0">
                <a:ea typeface="SimSun" pitchFamily="2" charset="-122"/>
              </a:rPr>
              <a:t>EC</a:t>
            </a:r>
            <a:r>
              <a:rPr lang="en-US" altLang="zh-CN" sz="2400" i="1" baseline="-25000" dirty="0">
                <a:ea typeface="SimSun" pitchFamily="2" charset="-122"/>
              </a:rPr>
              <a:t>{</a:t>
            </a:r>
            <a:r>
              <a:rPr lang="en-US" altLang="zh-CN" sz="2400" i="1" baseline="-25000" dirty="0" err="1">
                <a:ea typeface="SimSun" pitchFamily="2" charset="-122"/>
              </a:rPr>
              <a:t>Ci</a:t>
            </a:r>
            <a:r>
              <a:rPr lang="en-US" altLang="zh-CN" sz="2400" i="1" baseline="-25000" dirty="0">
                <a:ea typeface="SimSun" pitchFamily="2" charset="-122"/>
              </a:rPr>
              <a:t> ,</a:t>
            </a:r>
            <a:r>
              <a:rPr lang="en-US" altLang="zh-CN" sz="2400" i="1" baseline="-25000" dirty="0" err="1">
                <a:ea typeface="SimSun" pitchFamily="2" charset="-122"/>
              </a:rPr>
              <a:t>Cj</a:t>
            </a:r>
            <a:r>
              <a:rPr lang="en-US" altLang="zh-CN" sz="2400" i="1" baseline="-25000" dirty="0">
                <a:ea typeface="SimSun" pitchFamily="2" charset="-122"/>
              </a:rPr>
              <a:t> } :</a:t>
            </a:r>
            <a:r>
              <a:rPr lang="en-US" altLang="zh-CN" sz="2400" dirty="0">
                <a:ea typeface="SimSun" pitchFamily="2" charset="-122"/>
              </a:rPr>
              <a:t>The absolute inter-connectivity between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the sum </a:t>
            </a:r>
            <a:r>
              <a:rPr lang="en-US" altLang="zh-CN" sz="2400" dirty="0">
                <a:ea typeface="SimSun" pitchFamily="2" charset="-122"/>
              </a:rPr>
              <a:t>of the weight of the edges that connect vertices in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to vertices in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a:t>
            </a:r>
          </a:p>
          <a:p>
            <a:r>
              <a:rPr lang="en-US" altLang="zh-CN" sz="2400" dirty="0">
                <a:ea typeface="SimSun" pitchFamily="2" charset="-122"/>
              </a:rPr>
              <a:t>Internal inter-connectivity of a cluster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a:t>
            </a:r>
            <a:r>
              <a:rPr lang="en-US" altLang="zh-CN" sz="2400" dirty="0">
                <a:ea typeface="SimSun" pitchFamily="2" charset="-122"/>
              </a:rPr>
              <a:t>:</a:t>
            </a:r>
            <a:r>
              <a:rPr lang="en-US" altLang="zh-CN" sz="2400" i="1" dirty="0">
                <a:ea typeface="SimSun" pitchFamily="2" charset="-122"/>
              </a:rPr>
              <a:t> the size of its min-cut bisector </a:t>
            </a:r>
            <a:r>
              <a:rPr lang="en-US" altLang="zh-CN" sz="2400" i="1" dirty="0" err="1">
                <a:ea typeface="SimSun" pitchFamily="2" charset="-122"/>
              </a:rPr>
              <a:t>EC</a:t>
            </a:r>
            <a:r>
              <a:rPr lang="en-US" altLang="zh-CN" sz="2400" i="1" baseline="-25000" dirty="0" err="1">
                <a:ea typeface="SimSun" pitchFamily="2" charset="-122"/>
              </a:rPr>
              <a:t>Ci</a:t>
            </a:r>
            <a:r>
              <a:rPr lang="en-US" altLang="zh-CN" sz="2400" i="1" dirty="0">
                <a:ea typeface="SimSun" pitchFamily="2" charset="-122"/>
              </a:rPr>
              <a:t> (i.e., the weighted sum </a:t>
            </a:r>
            <a:r>
              <a:rPr lang="en-US" altLang="zh-CN" sz="2400" dirty="0">
                <a:ea typeface="SimSun" pitchFamily="2" charset="-122"/>
              </a:rPr>
              <a:t>of edges that partition the graph into two roughly equal parts)</a:t>
            </a:r>
          </a:p>
          <a:p>
            <a:r>
              <a:rPr lang="en-US" altLang="zh-CN" sz="2400" dirty="0">
                <a:ea typeface="SimSun" pitchFamily="2" charset="-122"/>
              </a:rPr>
              <a:t>Relative Inter-connectivity (RI):  </a:t>
            </a:r>
            <a:endParaRPr lang="zh-CN" altLang="en-US" sz="2400" dirty="0">
              <a:ea typeface="SimSun" pitchFamily="2" charset="-122"/>
            </a:endParaRPr>
          </a:p>
          <a:p>
            <a:endParaRPr lang="zh-CN" altLang="en-US" sz="2400" dirty="0">
              <a:ea typeface="SimSun" pitchFamily="2" charset="-122"/>
            </a:endParaRPr>
          </a:p>
        </p:txBody>
      </p:sp>
      <p:pic>
        <p:nvPicPr>
          <p:cNvPr id="47109" name="Picture 2"/>
          <p:cNvPicPr>
            <a:picLocks noChangeAspect="1" noChangeArrowheads="1"/>
          </p:cNvPicPr>
          <p:nvPr/>
        </p:nvPicPr>
        <p:blipFill>
          <a:blip r:embed="rId3" cstate="print"/>
          <a:srcRect/>
          <a:stretch>
            <a:fillRect/>
          </a:stretch>
        </p:blipFill>
        <p:spPr bwMode="auto">
          <a:xfrm>
            <a:off x="457200" y="1752600"/>
            <a:ext cx="8520113" cy="1781014"/>
          </a:xfrm>
          <a:prstGeom prst="rect">
            <a:avLst/>
          </a:prstGeom>
          <a:noFill/>
          <a:ln w="9525">
            <a:noFill/>
            <a:miter lim="800000"/>
            <a:headEnd/>
            <a:tailEnd/>
          </a:ln>
        </p:spPr>
      </p:pic>
      <p:pic>
        <p:nvPicPr>
          <p:cNvPr id="47110" name="Picture 2"/>
          <p:cNvPicPr>
            <a:picLocks noChangeAspect="1" noChangeArrowheads="1"/>
          </p:cNvPicPr>
          <p:nvPr/>
        </p:nvPicPr>
        <p:blipFill>
          <a:blip r:embed="rId4" cstate="print"/>
          <a:srcRect/>
          <a:stretch>
            <a:fillRect/>
          </a:stretch>
        </p:blipFill>
        <p:spPr bwMode="auto">
          <a:xfrm>
            <a:off x="5181600" y="5867400"/>
            <a:ext cx="3457575" cy="990600"/>
          </a:xfrm>
          <a:prstGeom prst="rect">
            <a:avLst/>
          </a:prstGeom>
          <a:noFill/>
          <a:ln w="9525">
            <a:noFill/>
            <a:miter lim="800000"/>
            <a:headEnd/>
            <a:tailEnd/>
          </a:ln>
        </p:spPr>
      </p:pic>
      <p:sp>
        <p:nvSpPr>
          <p:cNvPr id="8" name="Slide Number Placeholder 7"/>
          <p:cNvSpPr>
            <a:spLocks noGrp="1"/>
          </p:cNvSpPr>
          <p:nvPr>
            <p:ph type="sldNum" sz="quarter" idx="11"/>
          </p:nvPr>
        </p:nvSpPr>
        <p:spPr/>
        <p:txBody>
          <a:bodyPr/>
          <a:lstStyle/>
          <a:p>
            <a:pPr>
              <a:defRPr/>
            </a:pPr>
            <a:fld id="{4635AE12-246C-49B1-92D7-252397D611F1}" type="slidenum">
              <a:rPr lang="en-US" smtClean="0"/>
              <a:pPr>
                <a:defRPr/>
              </a:pPr>
              <a:t>21</a:t>
            </a:fld>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a:xfrm>
            <a:off x="0" y="152400"/>
            <a:ext cx="9144000" cy="685800"/>
          </a:xfrm>
          <a:prstGeom prst="rect">
            <a:avLst/>
          </a:prstGeom>
        </p:spPr>
        <p:txBody>
          <a:bodyPr lIns="92075" tIns="46038" rIns="92075" bIns="46038" anchor="ctr" anchorCtr="0">
            <a:normAutofit fontScale="92500"/>
          </a:bodyPr>
          <a:lstStyle/>
          <a:p>
            <a:r>
              <a:rPr lang="en-US" altLang="zh-CN" sz="3600" dirty="0">
                <a:solidFill>
                  <a:schemeClr val="tx2"/>
                </a:solidFill>
                <a:latin typeface="+mj-lt"/>
                <a:ea typeface="SimSun" pitchFamily="2" charset="-122"/>
              </a:rPr>
              <a:t>Relative Closeness &amp; Merge of Sub-Clusters</a:t>
            </a:r>
            <a:endParaRPr lang="en-US" altLang="zh-CN" sz="2400" b="1" dirty="0">
              <a:solidFill>
                <a:schemeClr val="tx2"/>
              </a:solidFill>
              <a:latin typeface="+mj-lt"/>
              <a:ea typeface="SimSun" pitchFamily="2" charset="-122"/>
            </a:endParaRPr>
          </a:p>
        </p:txBody>
      </p:sp>
      <p:sp>
        <p:nvSpPr>
          <p:cNvPr id="49155" name="Content Placeholder 2"/>
          <p:cNvSpPr>
            <a:spLocks noGrp="1"/>
          </p:cNvSpPr>
          <p:nvPr>
            <p:ph idx="1"/>
          </p:nvPr>
        </p:nvSpPr>
        <p:spPr>
          <a:xfrm>
            <a:off x="381000" y="914400"/>
            <a:ext cx="8382000" cy="5638800"/>
          </a:xfrm>
        </p:spPr>
        <p:txBody>
          <a:bodyPr/>
          <a:lstStyle/>
          <a:p>
            <a:pPr>
              <a:defRPr/>
            </a:pPr>
            <a:r>
              <a:rPr lang="en-US" altLang="zh-CN" sz="2400" b="1" dirty="0">
                <a:ea typeface="SimSun" pitchFamily="2" charset="-122"/>
              </a:rPr>
              <a:t>Relative Closeness (RC) </a:t>
            </a:r>
            <a:r>
              <a:rPr lang="en-US" altLang="zh-CN" sz="2400" dirty="0">
                <a:ea typeface="SimSun" pitchFamily="2" charset="-122"/>
              </a:rPr>
              <a:t>between a pair of clusters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 the absolute closeness </a:t>
            </a:r>
            <a:r>
              <a:rPr lang="en-US" altLang="zh-CN" sz="2400" dirty="0">
                <a:ea typeface="SimSun" pitchFamily="2" charset="-122"/>
              </a:rPr>
              <a:t>between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normalized w.r.t. the internal closeness of the two clusters </a:t>
            </a:r>
            <a:r>
              <a:rPr lang="en-US" altLang="zh-CN" sz="2400" i="1" dirty="0" err="1">
                <a:ea typeface="SimSun" pitchFamily="2" charset="-122"/>
              </a:rPr>
              <a:t>C</a:t>
            </a:r>
            <a:r>
              <a:rPr lang="en-US" altLang="zh-CN" sz="2400" i="1" baseline="-25000" dirty="0" err="1">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a:t>
            </a:r>
          </a:p>
          <a:p>
            <a:pPr>
              <a:defRPr/>
            </a:pPr>
            <a:endParaRPr lang="en-US" altLang="zh-CN" sz="2400" i="1" dirty="0">
              <a:ea typeface="SimSun" pitchFamily="2" charset="-122"/>
            </a:endParaRPr>
          </a:p>
          <a:p>
            <a:pPr>
              <a:defRPr/>
            </a:pPr>
            <a:endParaRPr lang="en-US" altLang="zh-CN" sz="2400" i="1" dirty="0">
              <a:ea typeface="SimSun" pitchFamily="2" charset="-122"/>
            </a:endParaRPr>
          </a:p>
          <a:p>
            <a:pPr marL="0" indent="0">
              <a:buFont typeface="Wingdings" pitchFamily="2" charset="2"/>
              <a:buNone/>
              <a:defRPr/>
            </a:pPr>
            <a:endParaRPr lang="en-US" altLang="zh-CN" sz="2400" i="1" dirty="0">
              <a:ea typeface="SimSun" pitchFamily="2" charset="-122"/>
            </a:endParaRPr>
          </a:p>
          <a:p>
            <a:pPr lvl="1">
              <a:defRPr/>
            </a:pPr>
            <a:r>
              <a:rPr lang="en-US" altLang="zh-CN" sz="2000" dirty="0">
                <a:ea typeface="SimSun" pitchFamily="2" charset="-122"/>
              </a:rPr>
              <a:t>             and    </a:t>
            </a:r>
            <a:r>
              <a:rPr lang="en-US" altLang="zh-CN" sz="2000" i="1" dirty="0">
                <a:ea typeface="SimSun" pitchFamily="2" charset="-122"/>
              </a:rPr>
              <a:t>          </a:t>
            </a:r>
            <a:r>
              <a:rPr lang="en-US" altLang="zh-CN" sz="2000" dirty="0">
                <a:ea typeface="SimSun" pitchFamily="2" charset="-122"/>
              </a:rPr>
              <a:t>are the average weights of the edges that belong in the min-cut bisector of clusters </a:t>
            </a:r>
            <a:r>
              <a:rPr lang="en-US" altLang="zh-CN" sz="2000" i="1" dirty="0" err="1">
                <a:ea typeface="SimSun" pitchFamily="2" charset="-122"/>
              </a:rPr>
              <a:t>C</a:t>
            </a:r>
            <a:r>
              <a:rPr lang="en-US" altLang="zh-CN" sz="2000" i="1" baseline="-25000" dirty="0" err="1">
                <a:ea typeface="SimSun" pitchFamily="2" charset="-122"/>
              </a:rPr>
              <a:t>i</a:t>
            </a:r>
            <a:r>
              <a:rPr lang="en-US" altLang="zh-CN" sz="2000" i="1" dirty="0">
                <a:ea typeface="SimSun" pitchFamily="2" charset="-122"/>
              </a:rPr>
              <a:t> and </a:t>
            </a:r>
            <a:r>
              <a:rPr lang="en-US" altLang="zh-CN" sz="2000" i="1" dirty="0" err="1">
                <a:ea typeface="SimSun" pitchFamily="2" charset="-122"/>
              </a:rPr>
              <a:t>C</a:t>
            </a:r>
            <a:r>
              <a:rPr lang="en-US" altLang="zh-CN" sz="2000" i="1" baseline="-25000" dirty="0" err="1">
                <a:ea typeface="SimSun" pitchFamily="2" charset="-122"/>
              </a:rPr>
              <a:t>j</a:t>
            </a:r>
            <a:r>
              <a:rPr lang="en-US" altLang="zh-CN" sz="2000" i="1" dirty="0">
                <a:ea typeface="SimSun" pitchFamily="2" charset="-122"/>
              </a:rPr>
              <a:t> , </a:t>
            </a:r>
            <a:r>
              <a:rPr lang="en-US" altLang="zh-CN" sz="2000" dirty="0">
                <a:ea typeface="SimSun" pitchFamily="2" charset="-122"/>
              </a:rPr>
              <a:t>respectively, and     </a:t>
            </a:r>
            <a:r>
              <a:rPr lang="en-US" altLang="zh-CN" sz="2000" i="1" dirty="0">
                <a:ea typeface="SimSun" pitchFamily="2" charset="-122"/>
              </a:rPr>
              <a:t>                    </a:t>
            </a:r>
            <a:r>
              <a:rPr lang="en-US" altLang="zh-CN" sz="2000" dirty="0">
                <a:ea typeface="SimSun" pitchFamily="2" charset="-122"/>
              </a:rPr>
              <a:t>is the average weight of the edges that connect vertices in </a:t>
            </a:r>
            <a:r>
              <a:rPr lang="en-US" altLang="zh-CN" sz="2000" i="1" dirty="0" err="1">
                <a:ea typeface="SimSun" pitchFamily="2" charset="-122"/>
              </a:rPr>
              <a:t>C</a:t>
            </a:r>
            <a:r>
              <a:rPr lang="en-US" altLang="zh-CN" sz="2000" i="1" baseline="-25000" dirty="0" err="1">
                <a:ea typeface="SimSun" pitchFamily="2" charset="-122"/>
              </a:rPr>
              <a:t>i</a:t>
            </a:r>
            <a:r>
              <a:rPr lang="en-US" altLang="zh-CN" sz="2000" i="1" dirty="0">
                <a:ea typeface="SimSun" pitchFamily="2" charset="-122"/>
              </a:rPr>
              <a:t> to vertices in </a:t>
            </a:r>
            <a:r>
              <a:rPr lang="en-US" altLang="zh-CN" sz="2000" i="1" dirty="0" err="1">
                <a:ea typeface="SimSun" pitchFamily="2" charset="-122"/>
              </a:rPr>
              <a:t>C</a:t>
            </a:r>
            <a:r>
              <a:rPr lang="en-US" altLang="zh-CN" sz="2000" i="1" baseline="-25000" dirty="0" err="1">
                <a:ea typeface="SimSun" pitchFamily="2" charset="-122"/>
              </a:rPr>
              <a:t>j</a:t>
            </a:r>
            <a:r>
              <a:rPr lang="en-US" altLang="zh-CN" sz="2000" i="1" dirty="0">
                <a:ea typeface="SimSun" pitchFamily="2" charset="-122"/>
              </a:rPr>
              <a:t> </a:t>
            </a:r>
            <a:endParaRPr lang="en-US" altLang="zh-CN" sz="2400" i="1" dirty="0">
              <a:ea typeface="SimSun" pitchFamily="2" charset="-122"/>
            </a:endParaRPr>
          </a:p>
          <a:p>
            <a:pPr>
              <a:defRPr/>
            </a:pPr>
            <a:r>
              <a:rPr lang="en-US" altLang="zh-CN" sz="2400" b="1" dirty="0">
                <a:ea typeface="SimSun" pitchFamily="2" charset="-122"/>
              </a:rPr>
              <a:t>Merge Sub-Clusters: </a:t>
            </a:r>
            <a:r>
              <a:rPr lang="en-US" altLang="zh-CN" sz="2400" dirty="0">
                <a:ea typeface="SimSun" pitchFamily="2" charset="-122"/>
              </a:rPr>
              <a:t> </a:t>
            </a:r>
          </a:p>
          <a:p>
            <a:pPr lvl="1">
              <a:defRPr/>
            </a:pPr>
            <a:r>
              <a:rPr lang="en-US" altLang="zh-CN" sz="2000" dirty="0">
                <a:ea typeface="SimSun" pitchFamily="2" charset="-122"/>
              </a:rPr>
              <a:t>Merges only those pairs of clusters whose RI and RC are both above some user-specified thresholds </a:t>
            </a:r>
            <a:endParaRPr lang="en-US" altLang="zh-CN" sz="2000" i="1" dirty="0">
              <a:ea typeface="SimSun" pitchFamily="2" charset="-122"/>
            </a:endParaRPr>
          </a:p>
          <a:p>
            <a:pPr lvl="1">
              <a:defRPr/>
            </a:pPr>
            <a:r>
              <a:rPr lang="en-US" altLang="zh-CN" sz="2000" dirty="0">
                <a:ea typeface="SimSun" pitchFamily="2" charset="-122"/>
              </a:rPr>
              <a:t>Merge those maximizing the function that combines RI and RC</a:t>
            </a:r>
          </a:p>
          <a:p>
            <a:pPr>
              <a:defRPr/>
            </a:pPr>
            <a:endParaRPr lang="zh-CN" altLang="en-US" sz="2400" b="1" dirty="0">
              <a:ea typeface="SimSun" pitchFamily="2" charset="-122"/>
            </a:endParaRPr>
          </a:p>
        </p:txBody>
      </p:sp>
      <p:pic>
        <p:nvPicPr>
          <p:cNvPr id="48133" name="Picture 1"/>
          <p:cNvPicPr>
            <a:picLocks noChangeAspect="1" noChangeArrowheads="1"/>
          </p:cNvPicPr>
          <p:nvPr/>
        </p:nvPicPr>
        <p:blipFill>
          <a:blip r:embed="rId3" cstate="print"/>
          <a:srcRect/>
          <a:stretch>
            <a:fillRect/>
          </a:stretch>
        </p:blipFill>
        <p:spPr bwMode="auto">
          <a:xfrm>
            <a:off x="1752600" y="2667000"/>
            <a:ext cx="4527550" cy="914400"/>
          </a:xfrm>
          <a:prstGeom prst="rect">
            <a:avLst/>
          </a:prstGeom>
          <a:noFill/>
          <a:ln w="9525">
            <a:noFill/>
            <a:miter lim="800000"/>
            <a:headEnd/>
            <a:tailEnd/>
          </a:ln>
        </p:spPr>
      </p:pic>
      <p:pic>
        <p:nvPicPr>
          <p:cNvPr id="48134" name="Picture 3"/>
          <p:cNvPicPr>
            <a:picLocks noChangeAspect="1" noChangeArrowheads="1"/>
          </p:cNvPicPr>
          <p:nvPr/>
        </p:nvPicPr>
        <p:blipFill>
          <a:blip r:embed="rId4" cstate="print"/>
          <a:srcRect/>
          <a:stretch>
            <a:fillRect/>
          </a:stretch>
        </p:blipFill>
        <p:spPr bwMode="auto">
          <a:xfrm>
            <a:off x="1066800" y="3810000"/>
            <a:ext cx="682625" cy="355600"/>
          </a:xfrm>
          <a:prstGeom prst="rect">
            <a:avLst/>
          </a:prstGeom>
          <a:noFill/>
          <a:ln w="9525">
            <a:noFill/>
            <a:miter lim="800000"/>
            <a:headEnd/>
            <a:tailEnd/>
          </a:ln>
        </p:spPr>
      </p:pic>
      <p:pic>
        <p:nvPicPr>
          <p:cNvPr id="48135" name="Picture 4"/>
          <p:cNvPicPr>
            <a:picLocks noChangeAspect="1" noChangeArrowheads="1"/>
          </p:cNvPicPr>
          <p:nvPr/>
        </p:nvPicPr>
        <p:blipFill>
          <a:blip r:embed="rId5" cstate="print"/>
          <a:srcRect/>
          <a:stretch>
            <a:fillRect/>
          </a:stretch>
        </p:blipFill>
        <p:spPr bwMode="auto">
          <a:xfrm>
            <a:off x="2590800" y="3810000"/>
            <a:ext cx="741363" cy="355600"/>
          </a:xfrm>
          <a:prstGeom prst="rect">
            <a:avLst/>
          </a:prstGeom>
          <a:noFill/>
          <a:ln w="9525">
            <a:noFill/>
            <a:miter lim="800000"/>
            <a:headEnd/>
            <a:tailEnd/>
          </a:ln>
        </p:spPr>
      </p:pic>
      <p:pic>
        <p:nvPicPr>
          <p:cNvPr id="48136" name="Picture 5"/>
          <p:cNvPicPr>
            <a:picLocks noChangeAspect="1" noChangeArrowheads="1"/>
          </p:cNvPicPr>
          <p:nvPr/>
        </p:nvPicPr>
        <p:blipFill>
          <a:blip r:embed="rId6" cstate="print"/>
          <a:srcRect/>
          <a:stretch>
            <a:fillRect/>
          </a:stretch>
        </p:blipFill>
        <p:spPr bwMode="auto">
          <a:xfrm>
            <a:off x="1905000" y="4419600"/>
            <a:ext cx="1066800" cy="365760"/>
          </a:xfrm>
          <a:prstGeom prst="rect">
            <a:avLst/>
          </a:prstGeom>
          <a:noFill/>
          <a:ln w="9525">
            <a:noFill/>
            <a:miter lim="800000"/>
            <a:headEnd/>
            <a:tailEnd/>
          </a:ln>
        </p:spPr>
      </p:pic>
      <p:sp>
        <p:nvSpPr>
          <p:cNvPr id="10" name="Slide Number Placeholder 9"/>
          <p:cNvSpPr>
            <a:spLocks noGrp="1"/>
          </p:cNvSpPr>
          <p:nvPr>
            <p:ph type="sldNum" sz="quarter" idx="11"/>
          </p:nvPr>
        </p:nvSpPr>
        <p:spPr/>
        <p:txBody>
          <a:bodyPr/>
          <a:lstStyle/>
          <a:p>
            <a:pPr>
              <a:defRPr/>
            </a:pPr>
            <a:fld id="{4635AE12-246C-49B1-92D7-252397D611F1}" type="slidenum">
              <a:rPr lang="en-US" smtClean="0"/>
              <a:pPr>
                <a:defRPr/>
              </a:pPr>
              <a:t>22</a:t>
            </a:fld>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Density-Based Clustering Methods</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56323" name="Rectangle 3"/>
          <p:cNvSpPr>
            <a:spLocks noGrp="1" noChangeArrowheads="1"/>
          </p:cNvSpPr>
          <p:nvPr>
            <p:ph type="body" idx="1"/>
          </p:nvPr>
        </p:nvSpPr>
        <p:spPr>
          <a:xfrm>
            <a:off x="381000" y="1371600"/>
            <a:ext cx="8534400" cy="5181600"/>
          </a:xfrm>
        </p:spPr>
        <p:txBody>
          <a:bodyPr/>
          <a:lstStyle/>
          <a:p>
            <a:pPr eaLnBrk="1" hangingPunct="1">
              <a:spcBef>
                <a:spcPct val="50000"/>
              </a:spcBef>
            </a:pPr>
            <a:r>
              <a:rPr lang="en-US" altLang="zh-CN" sz="2400" dirty="0">
                <a:ea typeface="SimSun" pitchFamily="2" charset="-122"/>
              </a:rPr>
              <a:t>Clustering based on density (local cluster criterion), such as density-connected points</a:t>
            </a:r>
          </a:p>
          <a:p>
            <a:pPr eaLnBrk="1" hangingPunct="1">
              <a:lnSpc>
                <a:spcPct val="50000"/>
              </a:lnSpc>
              <a:spcBef>
                <a:spcPct val="50000"/>
              </a:spcBef>
            </a:pPr>
            <a:r>
              <a:rPr lang="en-US" altLang="zh-CN" sz="2400" dirty="0">
                <a:ea typeface="SimSun" pitchFamily="2" charset="-122"/>
              </a:rPr>
              <a:t>Major features:</a:t>
            </a:r>
          </a:p>
          <a:p>
            <a:pPr lvl="1" eaLnBrk="1" hangingPunct="1">
              <a:lnSpc>
                <a:spcPct val="50000"/>
              </a:lnSpc>
              <a:spcBef>
                <a:spcPct val="50000"/>
              </a:spcBef>
            </a:pPr>
            <a:r>
              <a:rPr lang="en-US" altLang="zh-CN" sz="2400" dirty="0">
                <a:ea typeface="SimSun" pitchFamily="2" charset="-122"/>
              </a:rPr>
              <a:t>Discover clusters of arbitrary shape</a:t>
            </a:r>
          </a:p>
          <a:p>
            <a:pPr lvl="1" eaLnBrk="1" hangingPunct="1">
              <a:lnSpc>
                <a:spcPct val="50000"/>
              </a:lnSpc>
              <a:spcBef>
                <a:spcPct val="50000"/>
              </a:spcBef>
            </a:pPr>
            <a:r>
              <a:rPr lang="en-US" altLang="zh-CN" sz="2400" dirty="0">
                <a:ea typeface="SimSun" pitchFamily="2" charset="-122"/>
              </a:rPr>
              <a:t>Handle noise</a:t>
            </a:r>
          </a:p>
          <a:p>
            <a:pPr lvl="1" eaLnBrk="1" hangingPunct="1">
              <a:lnSpc>
                <a:spcPct val="50000"/>
              </a:lnSpc>
              <a:spcBef>
                <a:spcPct val="50000"/>
              </a:spcBef>
            </a:pPr>
            <a:r>
              <a:rPr lang="en-US" altLang="zh-CN" sz="2400" dirty="0">
                <a:ea typeface="SimSun" pitchFamily="2" charset="-122"/>
              </a:rPr>
              <a:t>One scan</a:t>
            </a:r>
          </a:p>
          <a:p>
            <a:pPr lvl="1" eaLnBrk="1" hangingPunct="1">
              <a:lnSpc>
                <a:spcPct val="50000"/>
              </a:lnSpc>
              <a:spcBef>
                <a:spcPct val="50000"/>
              </a:spcBef>
            </a:pPr>
            <a:r>
              <a:rPr lang="en-US" altLang="zh-CN" sz="2400" dirty="0">
                <a:ea typeface="SimSun" pitchFamily="2" charset="-122"/>
              </a:rPr>
              <a:t>Need density parameters as termination condition</a:t>
            </a:r>
          </a:p>
          <a:p>
            <a:pPr eaLnBrk="1" hangingPunct="1">
              <a:lnSpc>
                <a:spcPct val="90000"/>
              </a:lnSpc>
              <a:spcBef>
                <a:spcPct val="50000"/>
              </a:spcBef>
            </a:pPr>
            <a:r>
              <a:rPr lang="en-US" altLang="zh-CN" sz="2400" dirty="0">
                <a:ea typeface="SimSun" pitchFamily="2" charset="-122"/>
              </a:rPr>
              <a:t>Several interesting studies:</a:t>
            </a:r>
          </a:p>
          <a:p>
            <a:pPr lvl="1" eaLnBrk="1" hangingPunct="1"/>
            <a:r>
              <a:rPr lang="en-US" altLang="zh-CN" sz="2400" u="sng" dirty="0">
                <a:ea typeface="SimSun" pitchFamily="2" charset="-122"/>
              </a:rPr>
              <a:t>DBSCAN:</a:t>
            </a:r>
            <a:r>
              <a:rPr lang="en-US" altLang="zh-CN" sz="2400" dirty="0">
                <a:ea typeface="SimSun" pitchFamily="2" charset="-122"/>
              </a:rPr>
              <a:t> Ester et al. (KDD</a:t>
            </a:r>
            <a:r>
              <a:rPr lang="en-US" altLang="zh-CN" sz="2400" dirty="0">
                <a:latin typeface="Times New Roman" pitchFamily="18" charset="0"/>
                <a:ea typeface="SimSun" pitchFamily="2" charset="-122"/>
              </a:rPr>
              <a:t>’</a:t>
            </a:r>
            <a:r>
              <a:rPr lang="en-US" altLang="zh-CN" sz="2400" dirty="0">
                <a:ea typeface="SimSun" pitchFamily="2" charset="-122"/>
              </a:rPr>
              <a:t>96)</a:t>
            </a:r>
          </a:p>
          <a:p>
            <a:pPr lvl="1" eaLnBrk="1" hangingPunct="1"/>
            <a:r>
              <a:rPr lang="en-US" altLang="zh-CN" sz="2400" u="sng" dirty="0">
                <a:ea typeface="SimSun" pitchFamily="2" charset="-122"/>
              </a:rPr>
              <a:t>OPTICS</a:t>
            </a:r>
            <a:r>
              <a:rPr lang="en-US" altLang="zh-CN" sz="2400" dirty="0">
                <a:ea typeface="SimSun" pitchFamily="2" charset="-122"/>
              </a:rPr>
              <a:t>: </a:t>
            </a:r>
            <a:r>
              <a:rPr lang="en-US" altLang="zh-CN" sz="2400" dirty="0" err="1">
                <a:ea typeface="SimSun" pitchFamily="2" charset="-122"/>
              </a:rPr>
              <a:t>Ankerst</a:t>
            </a:r>
            <a:r>
              <a:rPr lang="en-US" altLang="zh-CN" sz="2400" dirty="0">
                <a:ea typeface="SimSun" pitchFamily="2" charset="-122"/>
              </a:rPr>
              <a:t> et al. (SIGMOD</a:t>
            </a:r>
            <a:r>
              <a:rPr lang="en-US" altLang="zh-CN" sz="2400" dirty="0">
                <a:latin typeface="Times New Roman" pitchFamily="18" charset="0"/>
                <a:ea typeface="SimSun" pitchFamily="2" charset="-122"/>
              </a:rPr>
              <a:t>’</a:t>
            </a:r>
            <a:r>
              <a:rPr lang="en-US" altLang="zh-CN" sz="2400" dirty="0">
                <a:ea typeface="SimSun" pitchFamily="2" charset="-122"/>
              </a:rPr>
              <a:t>99).</a:t>
            </a:r>
          </a:p>
          <a:p>
            <a:pPr lvl="1" eaLnBrk="1" hangingPunct="1"/>
            <a:r>
              <a:rPr lang="en-US" altLang="zh-CN" sz="2400" u="sng" dirty="0">
                <a:ea typeface="SimSun" pitchFamily="2" charset="-122"/>
              </a:rPr>
              <a:t>DENCLUE</a:t>
            </a:r>
            <a:r>
              <a:rPr lang="en-US" altLang="zh-CN" sz="2400" dirty="0">
                <a:ea typeface="SimSun" pitchFamily="2" charset="-122"/>
              </a:rPr>
              <a:t>: </a:t>
            </a:r>
            <a:r>
              <a:rPr lang="en-US" altLang="zh-CN" sz="2400" dirty="0" err="1">
                <a:ea typeface="SimSun" pitchFamily="2" charset="-122"/>
              </a:rPr>
              <a:t>Hinneburg</a:t>
            </a:r>
            <a:r>
              <a:rPr lang="en-US" altLang="zh-CN" sz="2400" dirty="0">
                <a:ea typeface="SimSun" pitchFamily="2" charset="-122"/>
              </a:rPr>
              <a:t> &amp; D. </a:t>
            </a:r>
            <a:r>
              <a:rPr lang="en-US" altLang="zh-CN" sz="2400" dirty="0" err="1">
                <a:ea typeface="SimSun" pitchFamily="2" charset="-122"/>
              </a:rPr>
              <a:t>Keim</a:t>
            </a:r>
            <a:r>
              <a:rPr lang="en-US" altLang="zh-CN" sz="2400" dirty="0">
                <a:ea typeface="SimSun" pitchFamily="2" charset="-122"/>
              </a:rPr>
              <a:t>  (KDD</a:t>
            </a:r>
            <a:r>
              <a:rPr lang="en-US" altLang="zh-CN" sz="2400" dirty="0">
                <a:latin typeface="Times New Roman" pitchFamily="18" charset="0"/>
                <a:ea typeface="SimSun" pitchFamily="2" charset="-122"/>
              </a:rPr>
              <a:t>’</a:t>
            </a:r>
            <a:r>
              <a:rPr lang="en-US" altLang="zh-CN" sz="2400" dirty="0">
                <a:ea typeface="SimSun" pitchFamily="2" charset="-122"/>
              </a:rPr>
              <a:t>98)</a:t>
            </a:r>
          </a:p>
          <a:p>
            <a:pPr lvl="1" eaLnBrk="1" hangingPunct="1"/>
            <a:r>
              <a:rPr lang="en-US" altLang="zh-CN" sz="2400" u="sng" dirty="0">
                <a:ea typeface="SimSun" pitchFamily="2" charset="-122"/>
              </a:rPr>
              <a:t>CLIQUE</a:t>
            </a:r>
            <a:r>
              <a:rPr lang="en-US" altLang="zh-CN" sz="2400" dirty="0">
                <a:ea typeface="SimSun" pitchFamily="2" charset="-122"/>
              </a:rPr>
              <a:t>: </a:t>
            </a:r>
            <a:r>
              <a:rPr lang="en-US" altLang="zh-CN" sz="2400" dirty="0" err="1">
                <a:ea typeface="SimSun" pitchFamily="2" charset="-122"/>
              </a:rPr>
              <a:t>Agrawal</a:t>
            </a:r>
            <a:r>
              <a:rPr lang="en-US" altLang="zh-CN" sz="2400" dirty="0">
                <a:ea typeface="SimSun" pitchFamily="2" charset="-122"/>
              </a:rPr>
              <a:t> et al. (SIGMOD</a:t>
            </a:r>
            <a:r>
              <a:rPr lang="en-US" altLang="zh-CN" sz="2400" dirty="0">
                <a:latin typeface="Times New Roman" pitchFamily="18" charset="0"/>
                <a:ea typeface="SimSun" pitchFamily="2" charset="-122"/>
              </a:rPr>
              <a:t>’</a:t>
            </a:r>
            <a:r>
              <a:rPr lang="en-US" altLang="zh-CN" sz="2400" dirty="0">
                <a:ea typeface="SimSun" pitchFamily="2" charset="-122"/>
              </a:rPr>
              <a:t>98) (more grid-based)</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23</a:t>
            </a:fld>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Density-Based Clustering: Basic Concepts</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57347" name="Rectangle 2051"/>
          <p:cNvSpPr>
            <a:spLocks noGrp="1" noChangeArrowheads="1"/>
          </p:cNvSpPr>
          <p:nvPr>
            <p:ph type="body" idx="1"/>
          </p:nvPr>
        </p:nvSpPr>
        <p:spPr>
          <a:xfrm>
            <a:off x="304800" y="1371600"/>
            <a:ext cx="7924800" cy="5181600"/>
          </a:xfrm>
        </p:spPr>
        <p:txBody>
          <a:bodyPr/>
          <a:lstStyle/>
          <a:p>
            <a:pPr eaLnBrk="1" hangingPunct="1">
              <a:lnSpc>
                <a:spcPct val="90000"/>
              </a:lnSpc>
              <a:spcBef>
                <a:spcPct val="50000"/>
              </a:spcBef>
            </a:pPr>
            <a:r>
              <a:rPr lang="en-US" altLang="zh-CN" sz="2400" dirty="0">
                <a:ea typeface="SimSun" pitchFamily="2" charset="-122"/>
              </a:rPr>
              <a:t>Two parameters</a:t>
            </a:r>
            <a:r>
              <a:rPr lang="en-US" altLang="zh-CN" sz="2400" i="1" dirty="0">
                <a:ea typeface="SimSun" pitchFamily="2" charset="-122"/>
              </a:rPr>
              <a:t>:</a:t>
            </a:r>
          </a:p>
          <a:p>
            <a:pPr lvl="1" eaLnBrk="1" hangingPunct="1">
              <a:lnSpc>
                <a:spcPct val="90000"/>
              </a:lnSpc>
              <a:spcBef>
                <a:spcPct val="50000"/>
              </a:spcBef>
            </a:pPr>
            <a:r>
              <a:rPr lang="en-US" altLang="zh-CN" sz="2400" i="1" dirty="0" err="1">
                <a:solidFill>
                  <a:schemeClr val="hlink"/>
                </a:solidFill>
                <a:ea typeface="SimSun" pitchFamily="2" charset="-122"/>
              </a:rPr>
              <a:t>Eps</a:t>
            </a:r>
            <a:r>
              <a:rPr lang="en-US" altLang="zh-CN" sz="2400" dirty="0">
                <a:ea typeface="SimSun" pitchFamily="2" charset="-122"/>
              </a:rPr>
              <a:t>: Maximum radius of the </a:t>
            </a:r>
            <a:r>
              <a:rPr lang="en-US" altLang="zh-CN" sz="2400" dirty="0" err="1">
                <a:ea typeface="SimSun" pitchFamily="2" charset="-122"/>
              </a:rPr>
              <a:t>neighbourhood</a:t>
            </a:r>
            <a:endParaRPr lang="en-US" altLang="zh-CN" sz="2400" dirty="0">
              <a:ea typeface="SimSun" pitchFamily="2" charset="-122"/>
            </a:endParaRPr>
          </a:p>
          <a:p>
            <a:pPr lvl="1" eaLnBrk="1" hangingPunct="1">
              <a:lnSpc>
                <a:spcPct val="90000"/>
              </a:lnSpc>
              <a:spcBef>
                <a:spcPct val="50000"/>
              </a:spcBef>
            </a:pPr>
            <a:r>
              <a:rPr lang="en-US" altLang="zh-CN" sz="2400" i="1" dirty="0" err="1">
                <a:solidFill>
                  <a:schemeClr val="hlink"/>
                </a:solidFill>
                <a:ea typeface="SimSun" pitchFamily="2" charset="-122"/>
              </a:rPr>
              <a:t>MinPts</a:t>
            </a:r>
            <a:r>
              <a:rPr lang="en-US" altLang="zh-CN" sz="2400" dirty="0">
                <a:ea typeface="SimSun" pitchFamily="2" charset="-122"/>
              </a:rPr>
              <a:t>: Minimum number of points in an </a:t>
            </a:r>
            <a:r>
              <a:rPr lang="en-US" altLang="zh-CN" sz="2400" dirty="0" err="1">
                <a:ea typeface="SimSun" pitchFamily="2" charset="-122"/>
              </a:rPr>
              <a:t>Eps-neighbourhood</a:t>
            </a:r>
            <a:r>
              <a:rPr lang="en-US" altLang="zh-CN" sz="2400" dirty="0">
                <a:ea typeface="SimSun" pitchFamily="2" charset="-122"/>
              </a:rPr>
              <a:t> of that point</a:t>
            </a:r>
          </a:p>
          <a:p>
            <a:pPr eaLnBrk="1" hangingPunct="1">
              <a:lnSpc>
                <a:spcPct val="90000"/>
              </a:lnSpc>
              <a:spcBef>
                <a:spcPct val="50000"/>
              </a:spcBef>
            </a:pPr>
            <a:r>
              <a:rPr lang="en-US" altLang="zh-CN" sz="2400" i="1" dirty="0" err="1">
                <a:ea typeface="SimSun" pitchFamily="2" charset="-122"/>
              </a:rPr>
              <a:t>N</a:t>
            </a:r>
            <a:r>
              <a:rPr lang="en-US" altLang="zh-CN" sz="2400" i="1" baseline="-25000" dirty="0" err="1">
                <a:ea typeface="SimSun" pitchFamily="2" charset="-122"/>
              </a:rPr>
              <a:t>Eps</a:t>
            </a:r>
            <a:r>
              <a:rPr lang="en-US" altLang="zh-CN" sz="2400" i="1" dirty="0">
                <a:ea typeface="SimSun" pitchFamily="2" charset="-122"/>
              </a:rPr>
              <a:t>(q)</a:t>
            </a:r>
            <a:r>
              <a:rPr lang="en-US" altLang="zh-CN" sz="2400" dirty="0">
                <a:ea typeface="SimSun" pitchFamily="2" charset="-122"/>
              </a:rPr>
              <a:t>: {p belongs to q | dist(</a:t>
            </a:r>
            <a:r>
              <a:rPr lang="en-US" altLang="zh-CN" sz="2400" dirty="0" err="1">
                <a:ea typeface="SimSun" pitchFamily="2" charset="-122"/>
              </a:rPr>
              <a:t>p,q</a:t>
            </a:r>
            <a:r>
              <a:rPr lang="en-US" altLang="zh-CN" sz="2400" dirty="0">
                <a:ea typeface="SimSun" pitchFamily="2" charset="-122"/>
              </a:rPr>
              <a:t>) ≤ </a:t>
            </a:r>
            <a:r>
              <a:rPr lang="en-US" altLang="zh-CN" sz="2400" dirty="0" err="1">
                <a:ea typeface="SimSun" pitchFamily="2" charset="-122"/>
              </a:rPr>
              <a:t>Eps</a:t>
            </a:r>
            <a:r>
              <a:rPr lang="en-US" altLang="zh-CN" sz="2400" dirty="0">
                <a:ea typeface="SimSun" pitchFamily="2" charset="-122"/>
              </a:rPr>
              <a:t>}</a:t>
            </a:r>
          </a:p>
          <a:p>
            <a:pPr eaLnBrk="1" hangingPunct="1">
              <a:lnSpc>
                <a:spcPct val="90000"/>
              </a:lnSpc>
              <a:spcBef>
                <a:spcPct val="50000"/>
              </a:spcBef>
            </a:pPr>
            <a:r>
              <a:rPr lang="en-US" altLang="zh-CN" sz="2400" dirty="0">
                <a:solidFill>
                  <a:schemeClr val="hlink"/>
                </a:solidFill>
                <a:ea typeface="SimSun" pitchFamily="2" charset="-122"/>
              </a:rPr>
              <a:t>Directly density-reachable</a:t>
            </a:r>
            <a:r>
              <a:rPr lang="en-US" altLang="zh-CN" sz="2400" dirty="0">
                <a:ea typeface="SimSun" pitchFamily="2" charset="-122"/>
              </a:rPr>
              <a:t>: A point </a:t>
            </a:r>
            <a:r>
              <a:rPr lang="en-US" altLang="zh-CN" sz="2400" i="1" dirty="0">
                <a:ea typeface="SimSun" pitchFamily="2" charset="-122"/>
              </a:rPr>
              <a:t>p</a:t>
            </a:r>
            <a:r>
              <a:rPr lang="en-US" altLang="zh-CN" sz="2400" dirty="0">
                <a:ea typeface="SimSun" pitchFamily="2" charset="-122"/>
              </a:rPr>
              <a:t> is directly density-reachable from a point </a:t>
            </a:r>
            <a:r>
              <a:rPr lang="en-US" altLang="zh-CN" sz="2400" i="1" dirty="0">
                <a:ea typeface="SimSun" pitchFamily="2" charset="-122"/>
              </a:rPr>
              <a:t>q</a:t>
            </a:r>
            <a:r>
              <a:rPr lang="en-US" altLang="zh-CN" sz="2400" dirty="0">
                <a:ea typeface="SimSun" pitchFamily="2" charset="-122"/>
              </a:rPr>
              <a:t> </a:t>
            </a:r>
            <a:r>
              <a:rPr lang="en-US" altLang="zh-CN" sz="2400" dirty="0" err="1">
                <a:ea typeface="SimSun" pitchFamily="2" charset="-122"/>
              </a:rPr>
              <a:t>w.r.t</a:t>
            </a:r>
            <a:r>
              <a:rPr lang="en-US" altLang="zh-CN" sz="2400" dirty="0">
                <a:ea typeface="SimSun" pitchFamily="2" charset="-122"/>
              </a:rPr>
              <a:t>. </a:t>
            </a:r>
            <a:r>
              <a:rPr lang="en-US" altLang="zh-CN" sz="2400" i="1" dirty="0" err="1">
                <a:ea typeface="SimSun" pitchFamily="2" charset="-122"/>
              </a:rPr>
              <a:t>Eps</a:t>
            </a:r>
            <a:r>
              <a:rPr lang="en-US" altLang="zh-CN" sz="2400" dirty="0">
                <a:ea typeface="SimSun" pitchFamily="2" charset="-122"/>
              </a:rPr>
              <a:t>, </a:t>
            </a:r>
            <a:r>
              <a:rPr lang="en-US" altLang="zh-CN" sz="2400" i="1" dirty="0" err="1">
                <a:ea typeface="SimSun" pitchFamily="2" charset="-122"/>
              </a:rPr>
              <a:t>MinPts</a:t>
            </a:r>
            <a:r>
              <a:rPr lang="en-US" altLang="zh-CN" sz="2400" dirty="0">
                <a:ea typeface="SimSun" pitchFamily="2" charset="-122"/>
              </a:rPr>
              <a:t> if 	</a:t>
            </a:r>
          </a:p>
          <a:p>
            <a:pPr lvl="1" eaLnBrk="1" hangingPunct="1">
              <a:lnSpc>
                <a:spcPct val="90000"/>
              </a:lnSpc>
              <a:spcBef>
                <a:spcPct val="50000"/>
              </a:spcBef>
            </a:pPr>
            <a:r>
              <a:rPr lang="en-US" altLang="zh-CN" sz="2400" i="1" dirty="0">
                <a:ea typeface="SimSun" pitchFamily="2" charset="-122"/>
              </a:rPr>
              <a:t>p</a:t>
            </a:r>
            <a:r>
              <a:rPr lang="en-US" altLang="zh-CN" sz="2400" dirty="0">
                <a:ea typeface="SimSun" pitchFamily="2" charset="-122"/>
              </a:rPr>
              <a:t> belongs to </a:t>
            </a:r>
            <a:r>
              <a:rPr lang="en-US" altLang="zh-CN" sz="2400" i="1" dirty="0" err="1">
                <a:ea typeface="SimSun" pitchFamily="2" charset="-122"/>
              </a:rPr>
              <a:t>N</a:t>
            </a:r>
            <a:r>
              <a:rPr lang="en-US" altLang="zh-CN" sz="2400" i="1" baseline="-25000" dirty="0" err="1">
                <a:ea typeface="SimSun" pitchFamily="2" charset="-122"/>
              </a:rPr>
              <a:t>Eps</a:t>
            </a:r>
            <a:r>
              <a:rPr lang="en-US" altLang="zh-CN" sz="2400" i="1" dirty="0">
                <a:ea typeface="SimSun" pitchFamily="2" charset="-122"/>
              </a:rPr>
              <a:t>(q)</a:t>
            </a:r>
          </a:p>
          <a:p>
            <a:pPr lvl="1" eaLnBrk="1" hangingPunct="1">
              <a:lnSpc>
                <a:spcPct val="90000"/>
              </a:lnSpc>
              <a:spcBef>
                <a:spcPct val="50000"/>
              </a:spcBef>
            </a:pPr>
            <a:r>
              <a:rPr lang="en-US" altLang="zh-CN" sz="2400" dirty="0">
                <a:ea typeface="SimSun" pitchFamily="2" charset="-122"/>
              </a:rPr>
              <a:t>core point condition:</a:t>
            </a:r>
          </a:p>
          <a:p>
            <a:pPr lvl="1" eaLnBrk="1" hangingPunct="1">
              <a:lnSpc>
                <a:spcPct val="90000"/>
              </a:lnSpc>
              <a:spcBef>
                <a:spcPct val="50000"/>
              </a:spcBef>
              <a:buFont typeface="Wingdings" pitchFamily="2" charset="2"/>
              <a:buNone/>
            </a:pPr>
            <a:r>
              <a:rPr lang="en-US" altLang="zh-CN" sz="2400" dirty="0">
                <a:ea typeface="SimSun" pitchFamily="2" charset="-122"/>
              </a:rPr>
              <a:t>              |</a:t>
            </a:r>
            <a:r>
              <a:rPr lang="en-US" altLang="zh-CN" sz="2400" i="1" dirty="0" err="1">
                <a:ea typeface="SimSun" pitchFamily="2" charset="-122"/>
              </a:rPr>
              <a:t>N</a:t>
            </a:r>
            <a:r>
              <a:rPr lang="en-US" altLang="zh-CN" sz="2400" i="1" baseline="-25000" dirty="0" err="1">
                <a:ea typeface="SimSun" pitchFamily="2" charset="-122"/>
              </a:rPr>
              <a:t>Eps</a:t>
            </a:r>
            <a:r>
              <a:rPr lang="en-US" altLang="zh-CN" sz="2400" i="1" dirty="0">
                <a:ea typeface="SimSun" pitchFamily="2" charset="-122"/>
              </a:rPr>
              <a:t> (q)</a:t>
            </a:r>
            <a:r>
              <a:rPr lang="en-US" altLang="zh-CN" sz="2400" dirty="0">
                <a:ea typeface="SimSun" pitchFamily="2" charset="-122"/>
              </a:rPr>
              <a:t>| ≥ </a:t>
            </a:r>
            <a:r>
              <a:rPr lang="en-US" altLang="zh-CN" sz="2400" i="1" dirty="0" err="1">
                <a:ea typeface="SimSun" pitchFamily="2" charset="-122"/>
              </a:rPr>
              <a:t>MinPts</a:t>
            </a:r>
            <a:r>
              <a:rPr lang="en-US" altLang="zh-CN" sz="2400" dirty="0">
                <a:ea typeface="SimSun" pitchFamily="2" charset="-122"/>
              </a:rPr>
              <a:t> </a:t>
            </a:r>
            <a:endParaRPr lang="en-US" altLang="zh-CN" sz="2400" i="1" dirty="0">
              <a:ea typeface="SimSun" pitchFamily="2" charset="-122"/>
            </a:endParaRPr>
          </a:p>
        </p:txBody>
      </p:sp>
      <p:grpSp>
        <p:nvGrpSpPr>
          <p:cNvPr id="2" name="Group 50"/>
          <p:cNvGrpSpPr>
            <a:grpSpLocks/>
          </p:cNvGrpSpPr>
          <p:nvPr/>
        </p:nvGrpSpPr>
        <p:grpSpPr bwMode="auto">
          <a:xfrm>
            <a:off x="5264150" y="4648200"/>
            <a:ext cx="3879850" cy="1663700"/>
            <a:chOff x="5264150" y="4648200"/>
            <a:chExt cx="3879850" cy="1663700"/>
          </a:xfrm>
        </p:grpSpPr>
        <p:sp>
          <p:nvSpPr>
            <p:cNvPr id="57350" name="Rectangle 2072"/>
            <p:cNvSpPr>
              <a:spLocks noChangeArrowheads="1"/>
            </p:cNvSpPr>
            <p:nvPr/>
          </p:nvSpPr>
          <p:spPr bwMode="auto">
            <a:xfrm>
              <a:off x="7315200" y="4946650"/>
              <a:ext cx="1828800" cy="10048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MinPts = 5</a:t>
              </a:r>
            </a:p>
            <a:p>
              <a:pPr eaLnBrk="0" hangingPunct="0">
                <a:spcBef>
                  <a:spcPct val="50000"/>
                </a:spcBef>
              </a:pPr>
              <a:r>
                <a:rPr lang="en-US" altLang="zh-CN">
                  <a:latin typeface="Times New Roman" pitchFamily="18" charset="0"/>
                  <a:ea typeface="SimSun" pitchFamily="2" charset="-122"/>
                </a:rPr>
                <a:t>Eps = 1 cm</a:t>
              </a:r>
            </a:p>
          </p:txBody>
        </p:sp>
        <p:grpSp>
          <p:nvGrpSpPr>
            <p:cNvPr id="3" name="Group 49"/>
            <p:cNvGrpSpPr>
              <a:grpSpLocks/>
            </p:cNvGrpSpPr>
            <p:nvPr/>
          </p:nvGrpSpPr>
          <p:grpSpPr bwMode="auto">
            <a:xfrm>
              <a:off x="5264150" y="4648200"/>
              <a:ext cx="1663700" cy="1663700"/>
              <a:chOff x="5264150" y="4648200"/>
              <a:chExt cx="1663700" cy="1663700"/>
            </a:xfrm>
          </p:grpSpPr>
          <p:sp>
            <p:nvSpPr>
              <p:cNvPr id="57352"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3"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4"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5"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6"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7"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8"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59"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7360"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1"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2" name="Oval 2064"/>
              <p:cNvSpPr>
                <a:spLocks noChangeArrowheads="1"/>
              </p:cNvSpPr>
              <p:nvPr/>
            </p:nvSpPr>
            <p:spPr bwMode="auto">
              <a:xfrm>
                <a:off x="6270625" y="52070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3"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4"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5"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6"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7367" name="Oval 2069"/>
              <p:cNvSpPr>
                <a:spLocks noChangeArrowheads="1"/>
              </p:cNvSpPr>
              <p:nvPr/>
            </p:nvSpPr>
            <p:spPr bwMode="auto">
              <a:xfrm>
                <a:off x="5487988" y="5207000"/>
                <a:ext cx="1104900" cy="1104900"/>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7368" name="Rectangle 2070"/>
              <p:cNvSpPr>
                <a:spLocks noChangeArrowheads="1"/>
              </p:cNvSpPr>
              <p:nvPr/>
            </p:nvSpPr>
            <p:spPr bwMode="auto">
              <a:xfrm>
                <a:off x="6324600" y="4946650"/>
                <a:ext cx="3810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p</a:t>
                </a:r>
              </a:p>
            </p:txBody>
          </p:sp>
          <p:sp>
            <p:nvSpPr>
              <p:cNvPr id="57369" name="Rectangle 2071"/>
              <p:cNvSpPr>
                <a:spLocks noChangeArrowheads="1"/>
              </p:cNvSpPr>
              <p:nvPr/>
            </p:nvSpPr>
            <p:spPr bwMode="auto">
              <a:xfrm>
                <a:off x="5867400" y="5715000"/>
                <a:ext cx="3810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a:latin typeface="Times New Roman" pitchFamily="18" charset="0"/>
                    <a:ea typeface="SimSun" pitchFamily="2" charset="-122"/>
                  </a:rPr>
                  <a:t>q</a:t>
                </a:r>
              </a:p>
            </p:txBody>
          </p:sp>
          <p:sp>
            <p:nvSpPr>
              <p:cNvPr id="57370"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grpSp>
      </p:grpSp>
      <p:sp>
        <p:nvSpPr>
          <p:cNvPr id="28" name="Slide Number Placeholder 27"/>
          <p:cNvSpPr>
            <a:spLocks noGrp="1"/>
          </p:cNvSpPr>
          <p:nvPr>
            <p:ph type="sldNum" sz="quarter" idx="11"/>
          </p:nvPr>
        </p:nvSpPr>
        <p:spPr/>
        <p:txBody>
          <a:bodyPr/>
          <a:lstStyle/>
          <a:p>
            <a:pPr>
              <a:defRPr/>
            </a:pPr>
            <a:fld id="{4635AE12-246C-49B1-92D7-252397D611F1}" type="slidenum">
              <a:rPr lang="en-US" smtClean="0"/>
              <a:pPr>
                <a:defRPr/>
              </a:pPr>
              <a:t>24</a:t>
            </a:fld>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Density-Reachable and Density-Connected</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58371" name="Rectangle 1027"/>
          <p:cNvSpPr>
            <a:spLocks noGrp="1" noChangeArrowheads="1"/>
          </p:cNvSpPr>
          <p:nvPr>
            <p:ph type="body" idx="1"/>
          </p:nvPr>
        </p:nvSpPr>
        <p:spPr>
          <a:xfrm>
            <a:off x="228600" y="1447800"/>
            <a:ext cx="5638800" cy="5029200"/>
          </a:xfrm>
        </p:spPr>
        <p:txBody>
          <a:bodyPr lIns="92075" tIns="46038" rIns="92075" bIns="46038"/>
          <a:lstStyle/>
          <a:p>
            <a:pPr eaLnBrk="1" hangingPunct="1">
              <a:spcBef>
                <a:spcPct val="50000"/>
              </a:spcBef>
            </a:pPr>
            <a:r>
              <a:rPr lang="en-US" altLang="zh-CN" sz="2400" dirty="0">
                <a:ea typeface="SimSun" pitchFamily="2" charset="-122"/>
              </a:rPr>
              <a:t>Density-reachable: </a:t>
            </a:r>
          </a:p>
          <a:p>
            <a:pPr lvl="1" eaLnBrk="1" hangingPunct="1">
              <a:spcBef>
                <a:spcPct val="50000"/>
              </a:spcBef>
            </a:pPr>
            <a:r>
              <a:rPr lang="en-US" altLang="zh-CN" sz="2400" dirty="0">
                <a:ea typeface="SimSun" pitchFamily="2" charset="-122"/>
              </a:rPr>
              <a:t>A point </a:t>
            </a:r>
            <a:r>
              <a:rPr lang="en-US" altLang="zh-CN" sz="2400" i="1" dirty="0">
                <a:ea typeface="SimSun" pitchFamily="2" charset="-122"/>
              </a:rPr>
              <a:t>p</a:t>
            </a:r>
            <a:r>
              <a:rPr lang="en-US" altLang="zh-CN" sz="2400" dirty="0">
                <a:ea typeface="SimSun" pitchFamily="2" charset="-122"/>
              </a:rPr>
              <a:t> is </a:t>
            </a:r>
            <a:r>
              <a:rPr lang="en-US" altLang="zh-CN" sz="2400" dirty="0">
                <a:solidFill>
                  <a:schemeClr val="hlink"/>
                </a:solidFill>
                <a:ea typeface="SimSun" pitchFamily="2" charset="-122"/>
              </a:rPr>
              <a:t>density-reachable</a:t>
            </a:r>
            <a:r>
              <a:rPr lang="en-US" altLang="zh-CN" sz="2400" dirty="0">
                <a:ea typeface="SimSun" pitchFamily="2" charset="-122"/>
              </a:rPr>
              <a:t> from a point </a:t>
            </a:r>
            <a:r>
              <a:rPr lang="en-US" altLang="zh-CN" sz="2400" i="1" dirty="0">
                <a:ea typeface="SimSun" pitchFamily="2" charset="-122"/>
              </a:rPr>
              <a:t>q</a:t>
            </a:r>
            <a:r>
              <a:rPr lang="en-US" altLang="zh-CN" sz="2400" dirty="0">
                <a:ea typeface="SimSun" pitchFamily="2" charset="-122"/>
              </a:rPr>
              <a:t> </a:t>
            </a:r>
            <a:r>
              <a:rPr lang="en-US" altLang="zh-CN" sz="2400" dirty="0" err="1">
                <a:ea typeface="SimSun" pitchFamily="2" charset="-122"/>
              </a:rPr>
              <a:t>w.r.t</a:t>
            </a:r>
            <a:r>
              <a:rPr lang="en-US" altLang="zh-CN" sz="2400" dirty="0">
                <a:ea typeface="SimSun" pitchFamily="2" charset="-122"/>
              </a:rPr>
              <a:t>. </a:t>
            </a:r>
            <a:r>
              <a:rPr lang="en-US" altLang="zh-CN" sz="2400" i="1" dirty="0" err="1">
                <a:ea typeface="SimSun" pitchFamily="2" charset="-122"/>
              </a:rPr>
              <a:t>Eps</a:t>
            </a:r>
            <a:r>
              <a:rPr lang="en-US" altLang="zh-CN" sz="2400" dirty="0">
                <a:ea typeface="SimSun" pitchFamily="2" charset="-122"/>
              </a:rPr>
              <a:t>, </a:t>
            </a:r>
            <a:r>
              <a:rPr lang="en-US" altLang="zh-CN" sz="2400" i="1" dirty="0" err="1">
                <a:ea typeface="SimSun" pitchFamily="2" charset="-122"/>
              </a:rPr>
              <a:t>MinPts</a:t>
            </a:r>
            <a:r>
              <a:rPr lang="en-US" altLang="zh-CN" sz="2400" dirty="0">
                <a:ea typeface="SimSun" pitchFamily="2" charset="-122"/>
              </a:rPr>
              <a:t> if there is a chain of points </a:t>
            </a:r>
            <a:r>
              <a:rPr lang="en-US" altLang="zh-CN" sz="2400" i="1" dirty="0">
                <a:ea typeface="SimSun" pitchFamily="2" charset="-122"/>
              </a:rPr>
              <a:t>p</a:t>
            </a:r>
            <a:r>
              <a:rPr lang="en-US" altLang="zh-CN" sz="2400" i="1" baseline="-25000" dirty="0">
                <a:ea typeface="SimSun" pitchFamily="2" charset="-122"/>
              </a:rPr>
              <a:t>1</a:t>
            </a:r>
            <a:r>
              <a:rPr lang="en-US" altLang="zh-CN" sz="2400" dirty="0">
                <a:ea typeface="SimSun" pitchFamily="2" charset="-122"/>
              </a:rPr>
              <a:t>, </a:t>
            </a:r>
            <a:r>
              <a:rPr lang="en-US" altLang="zh-CN" sz="2400" dirty="0">
                <a:latin typeface="Times New Roman" pitchFamily="18" charset="0"/>
                <a:ea typeface="SimSun" pitchFamily="2" charset="-122"/>
              </a:rPr>
              <a:t>…</a:t>
            </a:r>
            <a:r>
              <a:rPr lang="en-US" altLang="zh-CN" sz="2400" dirty="0">
                <a:ea typeface="SimSun" pitchFamily="2" charset="-122"/>
              </a:rPr>
              <a:t>, </a:t>
            </a:r>
            <a:r>
              <a:rPr lang="en-US" altLang="zh-CN" sz="2400" i="1" dirty="0" err="1">
                <a:ea typeface="SimSun" pitchFamily="2" charset="-122"/>
              </a:rPr>
              <a:t>p</a:t>
            </a:r>
            <a:r>
              <a:rPr lang="en-US" altLang="zh-CN" sz="2400" i="1" baseline="-25000" dirty="0" err="1">
                <a:ea typeface="SimSun" pitchFamily="2" charset="-122"/>
              </a:rPr>
              <a:t>n</a:t>
            </a:r>
            <a:r>
              <a:rPr lang="en-US" altLang="zh-CN" sz="2400" dirty="0">
                <a:ea typeface="SimSun" pitchFamily="2" charset="-122"/>
              </a:rPr>
              <a:t>, </a:t>
            </a:r>
            <a:r>
              <a:rPr lang="en-US" altLang="zh-CN" sz="2400" i="1" dirty="0">
                <a:ea typeface="SimSun" pitchFamily="2" charset="-122"/>
              </a:rPr>
              <a:t>p</a:t>
            </a:r>
            <a:r>
              <a:rPr lang="en-US" altLang="zh-CN" sz="2400" i="1" baseline="-25000" dirty="0">
                <a:ea typeface="SimSun" pitchFamily="2" charset="-122"/>
              </a:rPr>
              <a:t>1</a:t>
            </a:r>
            <a:r>
              <a:rPr lang="en-US" altLang="zh-CN" sz="2400" dirty="0">
                <a:ea typeface="SimSun" pitchFamily="2" charset="-122"/>
              </a:rPr>
              <a:t> = </a:t>
            </a:r>
            <a:r>
              <a:rPr lang="en-US" altLang="zh-CN" sz="2400" i="1" dirty="0">
                <a:ea typeface="SimSun" pitchFamily="2" charset="-122"/>
              </a:rPr>
              <a:t>q</a:t>
            </a:r>
            <a:r>
              <a:rPr lang="en-US" altLang="zh-CN" sz="2400" dirty="0">
                <a:ea typeface="SimSun" pitchFamily="2" charset="-122"/>
              </a:rPr>
              <a:t>, </a:t>
            </a:r>
            <a:r>
              <a:rPr lang="en-US" altLang="zh-CN" sz="2400" i="1" dirty="0" err="1">
                <a:ea typeface="SimSun" pitchFamily="2" charset="-122"/>
              </a:rPr>
              <a:t>p</a:t>
            </a:r>
            <a:r>
              <a:rPr lang="en-US" altLang="zh-CN" sz="2400" i="1" baseline="-25000" dirty="0" err="1">
                <a:ea typeface="SimSun" pitchFamily="2" charset="-122"/>
              </a:rPr>
              <a:t>n</a:t>
            </a:r>
            <a:r>
              <a:rPr lang="en-US" altLang="zh-CN" sz="2400" dirty="0">
                <a:ea typeface="SimSun" pitchFamily="2" charset="-122"/>
              </a:rPr>
              <a:t> = </a:t>
            </a:r>
            <a:r>
              <a:rPr lang="en-US" altLang="zh-CN" sz="2400" i="1" dirty="0">
                <a:ea typeface="SimSun" pitchFamily="2" charset="-122"/>
              </a:rPr>
              <a:t>p</a:t>
            </a:r>
            <a:r>
              <a:rPr lang="en-US" altLang="zh-CN" sz="2400" dirty="0">
                <a:ea typeface="SimSun" pitchFamily="2" charset="-122"/>
              </a:rPr>
              <a:t> such that </a:t>
            </a:r>
            <a:r>
              <a:rPr lang="en-US" altLang="zh-CN" sz="2400" i="1" dirty="0">
                <a:ea typeface="SimSun" pitchFamily="2" charset="-122"/>
              </a:rPr>
              <a:t>p</a:t>
            </a:r>
            <a:r>
              <a:rPr lang="en-US" altLang="zh-CN" sz="2400" i="1" baseline="-25000" dirty="0">
                <a:ea typeface="SimSun" pitchFamily="2" charset="-122"/>
              </a:rPr>
              <a:t>i+1</a:t>
            </a:r>
            <a:r>
              <a:rPr lang="en-US" altLang="zh-CN" sz="2400" dirty="0">
                <a:ea typeface="SimSun" pitchFamily="2" charset="-122"/>
              </a:rPr>
              <a:t> is directly density-reachable from </a:t>
            </a:r>
            <a:r>
              <a:rPr lang="en-US" altLang="zh-CN" sz="2400" i="1" dirty="0">
                <a:ea typeface="SimSun" pitchFamily="2" charset="-122"/>
              </a:rPr>
              <a:t>p</a:t>
            </a:r>
            <a:r>
              <a:rPr lang="en-US" altLang="zh-CN" sz="2400" i="1" baseline="-25000" dirty="0">
                <a:ea typeface="SimSun" pitchFamily="2" charset="-122"/>
              </a:rPr>
              <a:t>i</a:t>
            </a:r>
            <a:r>
              <a:rPr lang="en-US" altLang="zh-CN" sz="2400" dirty="0">
                <a:ea typeface="SimSun" pitchFamily="2" charset="-122"/>
              </a:rPr>
              <a:t>	</a:t>
            </a:r>
          </a:p>
          <a:p>
            <a:pPr eaLnBrk="1" hangingPunct="1">
              <a:spcBef>
                <a:spcPct val="50000"/>
              </a:spcBef>
            </a:pPr>
            <a:r>
              <a:rPr lang="en-US" altLang="zh-CN" sz="2400" dirty="0">
                <a:ea typeface="SimSun" pitchFamily="2" charset="-122"/>
              </a:rPr>
              <a:t>Density-connected</a:t>
            </a:r>
          </a:p>
          <a:p>
            <a:pPr lvl="1" eaLnBrk="1" hangingPunct="1">
              <a:spcBef>
                <a:spcPct val="50000"/>
              </a:spcBef>
            </a:pPr>
            <a:r>
              <a:rPr lang="en-US" altLang="zh-CN" sz="2400" dirty="0">
                <a:ea typeface="SimSun" pitchFamily="2" charset="-122"/>
              </a:rPr>
              <a:t>A point </a:t>
            </a:r>
            <a:r>
              <a:rPr lang="en-US" altLang="zh-CN" sz="2400" i="1" dirty="0">
                <a:ea typeface="SimSun" pitchFamily="2" charset="-122"/>
              </a:rPr>
              <a:t>p</a:t>
            </a:r>
            <a:r>
              <a:rPr lang="en-US" altLang="zh-CN" sz="2400" dirty="0">
                <a:ea typeface="SimSun" pitchFamily="2" charset="-122"/>
              </a:rPr>
              <a:t> is </a:t>
            </a:r>
            <a:r>
              <a:rPr lang="en-US" altLang="zh-CN" sz="2400" dirty="0">
                <a:solidFill>
                  <a:schemeClr val="hlink"/>
                </a:solidFill>
                <a:ea typeface="SimSun" pitchFamily="2" charset="-122"/>
              </a:rPr>
              <a:t>density-connected</a:t>
            </a:r>
            <a:r>
              <a:rPr lang="en-US" altLang="zh-CN" sz="2400" dirty="0">
                <a:ea typeface="SimSun" pitchFamily="2" charset="-122"/>
              </a:rPr>
              <a:t> to a point </a:t>
            </a:r>
            <a:r>
              <a:rPr lang="en-US" altLang="zh-CN" sz="2400" i="1" dirty="0">
                <a:ea typeface="SimSun" pitchFamily="2" charset="-122"/>
              </a:rPr>
              <a:t>q</a:t>
            </a:r>
            <a:r>
              <a:rPr lang="en-US" altLang="zh-CN" sz="2400" dirty="0">
                <a:ea typeface="SimSun" pitchFamily="2" charset="-122"/>
              </a:rPr>
              <a:t> </a:t>
            </a:r>
            <a:r>
              <a:rPr lang="en-US" altLang="zh-CN" sz="2400" dirty="0" err="1">
                <a:ea typeface="SimSun" pitchFamily="2" charset="-122"/>
              </a:rPr>
              <a:t>w.r.t</a:t>
            </a:r>
            <a:r>
              <a:rPr lang="en-US" altLang="zh-CN" sz="2400" dirty="0">
                <a:ea typeface="SimSun" pitchFamily="2" charset="-122"/>
              </a:rPr>
              <a:t>. </a:t>
            </a:r>
            <a:r>
              <a:rPr lang="en-US" altLang="zh-CN" sz="2400" i="1" dirty="0" err="1">
                <a:ea typeface="SimSun" pitchFamily="2" charset="-122"/>
              </a:rPr>
              <a:t>Eps</a:t>
            </a:r>
            <a:r>
              <a:rPr lang="en-US" altLang="zh-CN" sz="2400" dirty="0">
                <a:ea typeface="SimSun" pitchFamily="2" charset="-122"/>
              </a:rPr>
              <a:t>, </a:t>
            </a:r>
            <a:r>
              <a:rPr lang="en-US" altLang="zh-CN" sz="2400" i="1" dirty="0" err="1">
                <a:ea typeface="SimSun" pitchFamily="2" charset="-122"/>
              </a:rPr>
              <a:t>MinPts</a:t>
            </a:r>
            <a:r>
              <a:rPr lang="en-US" altLang="zh-CN" sz="2400" dirty="0">
                <a:ea typeface="SimSun" pitchFamily="2" charset="-122"/>
              </a:rPr>
              <a:t> if there is a point </a:t>
            </a:r>
            <a:r>
              <a:rPr lang="en-US" altLang="zh-CN" sz="2400" i="1" dirty="0">
                <a:ea typeface="SimSun" pitchFamily="2" charset="-122"/>
              </a:rPr>
              <a:t>o </a:t>
            </a:r>
            <a:r>
              <a:rPr lang="en-US" altLang="zh-CN" sz="2400" dirty="0">
                <a:ea typeface="SimSun" pitchFamily="2" charset="-122"/>
              </a:rPr>
              <a:t>such that both, </a:t>
            </a:r>
            <a:r>
              <a:rPr lang="en-US" altLang="zh-CN" sz="2400" i="1" dirty="0">
                <a:ea typeface="SimSun" pitchFamily="2" charset="-122"/>
              </a:rPr>
              <a:t>p</a:t>
            </a:r>
            <a:r>
              <a:rPr lang="en-US" altLang="zh-CN" sz="2400" dirty="0">
                <a:ea typeface="SimSun" pitchFamily="2" charset="-122"/>
              </a:rPr>
              <a:t> and </a:t>
            </a:r>
            <a:r>
              <a:rPr lang="en-US" altLang="zh-CN" sz="2400" i="1" dirty="0">
                <a:ea typeface="SimSun" pitchFamily="2" charset="-122"/>
              </a:rPr>
              <a:t>q</a:t>
            </a:r>
            <a:r>
              <a:rPr lang="en-US" altLang="zh-CN" sz="2400" dirty="0">
                <a:ea typeface="SimSun" pitchFamily="2" charset="-122"/>
              </a:rPr>
              <a:t> are density-reachable from </a:t>
            </a:r>
            <a:r>
              <a:rPr lang="en-US" altLang="zh-CN" sz="2400" i="1" dirty="0">
                <a:ea typeface="SimSun" pitchFamily="2" charset="-122"/>
              </a:rPr>
              <a:t>o</a:t>
            </a:r>
            <a:r>
              <a:rPr lang="en-US" altLang="zh-CN" sz="2400" dirty="0">
                <a:ea typeface="SimSun" pitchFamily="2" charset="-122"/>
              </a:rPr>
              <a:t> </a:t>
            </a:r>
            <a:r>
              <a:rPr lang="en-US" altLang="zh-CN" sz="2400" dirty="0" err="1">
                <a:ea typeface="SimSun" pitchFamily="2" charset="-122"/>
              </a:rPr>
              <a:t>w.r.t</a:t>
            </a:r>
            <a:r>
              <a:rPr lang="en-US" altLang="zh-CN" sz="2400" dirty="0">
                <a:ea typeface="SimSun" pitchFamily="2" charset="-122"/>
              </a:rPr>
              <a:t>. </a:t>
            </a:r>
            <a:r>
              <a:rPr lang="en-US" altLang="zh-CN" sz="2400" i="1" dirty="0" err="1">
                <a:ea typeface="SimSun" pitchFamily="2" charset="-122"/>
              </a:rPr>
              <a:t>Eps</a:t>
            </a:r>
            <a:r>
              <a:rPr lang="en-US" altLang="zh-CN" sz="2400" dirty="0">
                <a:ea typeface="SimSun" pitchFamily="2" charset="-122"/>
              </a:rPr>
              <a:t> and </a:t>
            </a:r>
            <a:r>
              <a:rPr lang="en-US" altLang="zh-CN" sz="2400" i="1" dirty="0" err="1">
                <a:ea typeface="SimSun" pitchFamily="2" charset="-122"/>
              </a:rPr>
              <a:t>MinPts</a:t>
            </a:r>
            <a:endParaRPr lang="en-US" altLang="zh-CN" sz="2400" dirty="0">
              <a:ea typeface="SimSun" pitchFamily="2" charset="-122"/>
            </a:endParaRPr>
          </a:p>
        </p:txBody>
      </p:sp>
      <p:grpSp>
        <p:nvGrpSpPr>
          <p:cNvPr id="2" name="Group 1049"/>
          <p:cNvGrpSpPr>
            <a:grpSpLocks/>
          </p:cNvGrpSpPr>
          <p:nvPr/>
        </p:nvGrpSpPr>
        <p:grpSpPr bwMode="auto">
          <a:xfrm>
            <a:off x="5867400" y="4343400"/>
            <a:ext cx="2863850" cy="1485900"/>
            <a:chOff x="3428" y="2740"/>
            <a:chExt cx="1804" cy="936"/>
          </a:xfrm>
        </p:grpSpPr>
        <p:sp>
          <p:nvSpPr>
            <p:cNvPr id="58396" name="Oval 1050"/>
            <p:cNvSpPr>
              <a:spLocks noChangeArrowheads="1"/>
            </p:cNvSpPr>
            <p:nvPr/>
          </p:nvSpPr>
          <p:spPr bwMode="auto">
            <a:xfrm>
              <a:off x="3914" y="3089"/>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97" name="Oval 1051"/>
            <p:cNvSpPr>
              <a:spLocks noChangeArrowheads="1"/>
            </p:cNvSpPr>
            <p:nvPr/>
          </p:nvSpPr>
          <p:spPr bwMode="auto">
            <a:xfrm>
              <a:off x="4126" y="3159"/>
              <a:ext cx="62"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98" name="Oval 1052"/>
            <p:cNvSpPr>
              <a:spLocks noChangeArrowheads="1"/>
            </p:cNvSpPr>
            <p:nvPr/>
          </p:nvSpPr>
          <p:spPr bwMode="auto">
            <a:xfrm>
              <a:off x="4126" y="2948"/>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99" name="Oval 1053"/>
            <p:cNvSpPr>
              <a:spLocks noChangeArrowheads="1"/>
            </p:cNvSpPr>
            <p:nvPr/>
          </p:nvSpPr>
          <p:spPr bwMode="auto">
            <a:xfrm>
              <a:off x="3844" y="3370"/>
              <a:ext cx="62"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0" name="Oval 1054"/>
            <p:cNvSpPr>
              <a:spLocks noChangeArrowheads="1"/>
            </p:cNvSpPr>
            <p:nvPr/>
          </p:nvSpPr>
          <p:spPr bwMode="auto">
            <a:xfrm>
              <a:off x="3985" y="3230"/>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1" name="Oval 1055"/>
            <p:cNvSpPr>
              <a:spLocks noChangeArrowheads="1"/>
            </p:cNvSpPr>
            <p:nvPr/>
          </p:nvSpPr>
          <p:spPr bwMode="auto">
            <a:xfrm>
              <a:off x="4129" y="3514"/>
              <a:ext cx="62"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2" name="Oval 1056"/>
            <p:cNvSpPr>
              <a:spLocks noChangeArrowheads="1"/>
            </p:cNvSpPr>
            <p:nvPr/>
          </p:nvSpPr>
          <p:spPr bwMode="auto">
            <a:xfrm>
              <a:off x="4196" y="3297"/>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3" name="Oval 1057"/>
            <p:cNvSpPr>
              <a:spLocks noChangeArrowheads="1"/>
            </p:cNvSpPr>
            <p:nvPr/>
          </p:nvSpPr>
          <p:spPr bwMode="auto">
            <a:xfrm>
              <a:off x="4196" y="2807"/>
              <a:ext cx="62"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4" name="Oval 1058"/>
            <p:cNvSpPr>
              <a:spLocks noChangeArrowheads="1"/>
            </p:cNvSpPr>
            <p:nvPr/>
          </p:nvSpPr>
          <p:spPr bwMode="auto">
            <a:xfrm>
              <a:off x="4618" y="3230"/>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5" name="Oval 1059"/>
            <p:cNvSpPr>
              <a:spLocks noChangeArrowheads="1"/>
            </p:cNvSpPr>
            <p:nvPr/>
          </p:nvSpPr>
          <p:spPr bwMode="auto">
            <a:xfrm>
              <a:off x="4478" y="2948"/>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6" name="Oval 1060"/>
            <p:cNvSpPr>
              <a:spLocks noChangeArrowheads="1"/>
            </p:cNvSpPr>
            <p:nvPr/>
          </p:nvSpPr>
          <p:spPr bwMode="auto">
            <a:xfrm>
              <a:off x="3694" y="3252"/>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7" name="Oval 1061"/>
            <p:cNvSpPr>
              <a:spLocks noChangeArrowheads="1"/>
            </p:cNvSpPr>
            <p:nvPr/>
          </p:nvSpPr>
          <p:spPr bwMode="auto">
            <a:xfrm>
              <a:off x="4266" y="3159"/>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8" name="Oval 1062"/>
            <p:cNvSpPr>
              <a:spLocks noChangeArrowheads="1"/>
            </p:cNvSpPr>
            <p:nvPr/>
          </p:nvSpPr>
          <p:spPr bwMode="auto">
            <a:xfrm>
              <a:off x="4407" y="3370"/>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09" name="Oval 1063"/>
            <p:cNvSpPr>
              <a:spLocks noChangeArrowheads="1"/>
            </p:cNvSpPr>
            <p:nvPr/>
          </p:nvSpPr>
          <p:spPr bwMode="auto">
            <a:xfrm>
              <a:off x="4759" y="3441"/>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0" name="Rectangle 1064"/>
            <p:cNvSpPr>
              <a:spLocks noChangeArrowheads="1"/>
            </p:cNvSpPr>
            <p:nvPr/>
          </p:nvSpPr>
          <p:spPr bwMode="auto">
            <a:xfrm>
              <a:off x="3504" y="2832"/>
              <a:ext cx="240"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p</a:t>
              </a:r>
            </a:p>
          </p:txBody>
        </p:sp>
        <p:sp>
          <p:nvSpPr>
            <p:cNvPr id="58411" name="Rectangle 1065"/>
            <p:cNvSpPr>
              <a:spLocks noChangeArrowheads="1"/>
            </p:cNvSpPr>
            <p:nvPr/>
          </p:nvSpPr>
          <p:spPr bwMode="auto">
            <a:xfrm>
              <a:off x="4992" y="2832"/>
              <a:ext cx="240"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q</a:t>
              </a:r>
            </a:p>
          </p:txBody>
        </p:sp>
        <p:sp>
          <p:nvSpPr>
            <p:cNvPr id="58412" name="Oval 1066"/>
            <p:cNvSpPr>
              <a:spLocks noChangeArrowheads="1"/>
            </p:cNvSpPr>
            <p:nvPr/>
          </p:nvSpPr>
          <p:spPr bwMode="auto">
            <a:xfrm>
              <a:off x="4858" y="3182"/>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3" name="Oval 1067"/>
            <p:cNvSpPr>
              <a:spLocks noChangeArrowheads="1"/>
            </p:cNvSpPr>
            <p:nvPr/>
          </p:nvSpPr>
          <p:spPr bwMode="auto">
            <a:xfrm>
              <a:off x="4506" y="3207"/>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4" name="Oval 1068"/>
            <p:cNvSpPr>
              <a:spLocks noChangeArrowheads="1"/>
            </p:cNvSpPr>
            <p:nvPr/>
          </p:nvSpPr>
          <p:spPr bwMode="auto">
            <a:xfrm>
              <a:off x="4647" y="3322"/>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5" name="Oval 1069"/>
            <p:cNvSpPr>
              <a:spLocks noChangeArrowheads="1"/>
            </p:cNvSpPr>
            <p:nvPr/>
          </p:nvSpPr>
          <p:spPr bwMode="auto">
            <a:xfrm>
              <a:off x="4954" y="2942"/>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6" name="Oval 1070"/>
            <p:cNvSpPr>
              <a:spLocks noChangeArrowheads="1"/>
            </p:cNvSpPr>
            <p:nvPr/>
          </p:nvSpPr>
          <p:spPr bwMode="auto">
            <a:xfrm>
              <a:off x="4602" y="2871"/>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7" name="Oval 1071"/>
            <p:cNvSpPr>
              <a:spLocks noChangeArrowheads="1"/>
            </p:cNvSpPr>
            <p:nvPr/>
          </p:nvSpPr>
          <p:spPr bwMode="auto">
            <a:xfrm>
              <a:off x="4791" y="3034"/>
              <a:ext cx="63"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18" name="Oval 1072"/>
            <p:cNvSpPr>
              <a:spLocks noChangeArrowheads="1"/>
            </p:cNvSpPr>
            <p:nvPr/>
          </p:nvSpPr>
          <p:spPr bwMode="auto">
            <a:xfrm>
              <a:off x="3524" y="2980"/>
              <a:ext cx="696" cy="696"/>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419" name="Oval 1073"/>
            <p:cNvSpPr>
              <a:spLocks noChangeArrowheads="1"/>
            </p:cNvSpPr>
            <p:nvPr/>
          </p:nvSpPr>
          <p:spPr bwMode="auto">
            <a:xfrm>
              <a:off x="3860" y="2932"/>
              <a:ext cx="696" cy="696"/>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420" name="Oval 1074"/>
            <p:cNvSpPr>
              <a:spLocks noChangeArrowheads="1"/>
            </p:cNvSpPr>
            <p:nvPr/>
          </p:nvSpPr>
          <p:spPr bwMode="auto">
            <a:xfrm>
              <a:off x="4244" y="2884"/>
              <a:ext cx="696" cy="696"/>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421" name="Oval 1075"/>
            <p:cNvSpPr>
              <a:spLocks noChangeArrowheads="1"/>
            </p:cNvSpPr>
            <p:nvPr/>
          </p:nvSpPr>
          <p:spPr bwMode="auto">
            <a:xfrm>
              <a:off x="4484" y="2740"/>
              <a:ext cx="696" cy="696"/>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422" name="Line 1076"/>
            <p:cNvSpPr>
              <a:spLocks noChangeShapeType="1"/>
            </p:cNvSpPr>
            <p:nvPr/>
          </p:nvSpPr>
          <p:spPr bwMode="auto">
            <a:xfrm flipV="1">
              <a:off x="3888" y="3312"/>
              <a:ext cx="288" cy="96"/>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58423" name="Line 1077"/>
            <p:cNvSpPr>
              <a:spLocks noChangeShapeType="1"/>
            </p:cNvSpPr>
            <p:nvPr/>
          </p:nvSpPr>
          <p:spPr bwMode="auto">
            <a:xfrm flipH="1">
              <a:off x="4272" y="3264"/>
              <a:ext cx="240" cy="48"/>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58424" name="Oval 1078"/>
            <p:cNvSpPr>
              <a:spLocks noChangeArrowheads="1"/>
            </p:cNvSpPr>
            <p:nvPr/>
          </p:nvSpPr>
          <p:spPr bwMode="auto">
            <a:xfrm>
              <a:off x="3818" y="2993"/>
              <a:ext cx="63"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25" name="Oval 1079"/>
            <p:cNvSpPr>
              <a:spLocks noChangeArrowheads="1"/>
            </p:cNvSpPr>
            <p:nvPr/>
          </p:nvSpPr>
          <p:spPr bwMode="auto">
            <a:xfrm>
              <a:off x="3694" y="3044"/>
              <a:ext cx="62" cy="6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26" name="Oval 1080"/>
            <p:cNvSpPr>
              <a:spLocks noChangeArrowheads="1"/>
            </p:cNvSpPr>
            <p:nvPr/>
          </p:nvSpPr>
          <p:spPr bwMode="auto">
            <a:xfrm>
              <a:off x="3860" y="2807"/>
              <a:ext cx="62" cy="6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427" name="Oval 1081"/>
            <p:cNvSpPr>
              <a:spLocks noChangeArrowheads="1"/>
            </p:cNvSpPr>
            <p:nvPr/>
          </p:nvSpPr>
          <p:spPr bwMode="auto">
            <a:xfrm>
              <a:off x="3428" y="2740"/>
              <a:ext cx="696" cy="696"/>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428" name="Line 1082"/>
            <p:cNvSpPr>
              <a:spLocks noChangeShapeType="1"/>
            </p:cNvSpPr>
            <p:nvPr/>
          </p:nvSpPr>
          <p:spPr bwMode="auto">
            <a:xfrm>
              <a:off x="3744" y="3072"/>
              <a:ext cx="96" cy="288"/>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58429" name="Line 1083"/>
            <p:cNvSpPr>
              <a:spLocks noChangeShapeType="1"/>
            </p:cNvSpPr>
            <p:nvPr/>
          </p:nvSpPr>
          <p:spPr bwMode="auto">
            <a:xfrm flipH="1">
              <a:off x="4560" y="3072"/>
              <a:ext cx="240" cy="144"/>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58430" name="Rectangle 1084"/>
            <p:cNvSpPr>
              <a:spLocks noChangeArrowheads="1"/>
            </p:cNvSpPr>
            <p:nvPr/>
          </p:nvSpPr>
          <p:spPr bwMode="auto">
            <a:xfrm>
              <a:off x="4176" y="3312"/>
              <a:ext cx="240" cy="288"/>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o</a:t>
              </a:r>
            </a:p>
          </p:txBody>
        </p:sp>
      </p:grpSp>
      <p:grpSp>
        <p:nvGrpSpPr>
          <p:cNvPr id="64" name="Group 63"/>
          <p:cNvGrpSpPr/>
          <p:nvPr/>
        </p:nvGrpSpPr>
        <p:grpSpPr>
          <a:xfrm>
            <a:off x="6370638" y="1752600"/>
            <a:ext cx="2090737" cy="1663700"/>
            <a:chOff x="6370638" y="1752600"/>
            <a:chExt cx="2090737" cy="1663700"/>
          </a:xfrm>
        </p:grpSpPr>
        <p:sp>
          <p:nvSpPr>
            <p:cNvPr id="58372" name="Oval 1028"/>
            <p:cNvSpPr>
              <a:spLocks noChangeArrowheads="1"/>
            </p:cNvSpPr>
            <p:nvPr/>
          </p:nvSpPr>
          <p:spPr bwMode="auto">
            <a:xfrm>
              <a:off x="7019925" y="2459038"/>
              <a:ext cx="100013"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3" name="Oval 1029"/>
            <p:cNvSpPr>
              <a:spLocks noChangeArrowheads="1"/>
            </p:cNvSpPr>
            <p:nvPr/>
          </p:nvSpPr>
          <p:spPr bwMode="auto">
            <a:xfrm>
              <a:off x="7356475" y="2570163"/>
              <a:ext cx="98425" cy="10001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4" name="Oval 1030"/>
            <p:cNvSpPr>
              <a:spLocks noChangeArrowheads="1"/>
            </p:cNvSpPr>
            <p:nvPr/>
          </p:nvSpPr>
          <p:spPr bwMode="auto">
            <a:xfrm>
              <a:off x="7356475" y="22352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5" name="Oval 1031"/>
            <p:cNvSpPr>
              <a:spLocks noChangeArrowheads="1"/>
            </p:cNvSpPr>
            <p:nvPr/>
          </p:nvSpPr>
          <p:spPr bwMode="auto">
            <a:xfrm>
              <a:off x="6908800" y="2905125"/>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6" name="Oval 1032"/>
            <p:cNvSpPr>
              <a:spLocks noChangeArrowheads="1"/>
            </p:cNvSpPr>
            <p:nvPr/>
          </p:nvSpPr>
          <p:spPr bwMode="auto">
            <a:xfrm>
              <a:off x="7132638" y="2682875"/>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7" name="Oval 1033"/>
            <p:cNvSpPr>
              <a:spLocks noChangeArrowheads="1"/>
            </p:cNvSpPr>
            <p:nvPr/>
          </p:nvSpPr>
          <p:spPr bwMode="auto">
            <a:xfrm>
              <a:off x="7132638" y="2905125"/>
              <a:ext cx="98425"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8" name="Oval 1034"/>
            <p:cNvSpPr>
              <a:spLocks noChangeArrowheads="1"/>
            </p:cNvSpPr>
            <p:nvPr/>
          </p:nvSpPr>
          <p:spPr bwMode="auto">
            <a:xfrm>
              <a:off x="7543800" y="30480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79" name="Oval 1035"/>
            <p:cNvSpPr>
              <a:spLocks noChangeArrowheads="1"/>
            </p:cNvSpPr>
            <p:nvPr/>
          </p:nvSpPr>
          <p:spPr bwMode="auto">
            <a:xfrm>
              <a:off x="7467600" y="2011363"/>
              <a:ext cx="98425" cy="10001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0" name="Oval 1036"/>
            <p:cNvSpPr>
              <a:spLocks noChangeArrowheads="1"/>
            </p:cNvSpPr>
            <p:nvPr/>
          </p:nvSpPr>
          <p:spPr bwMode="auto">
            <a:xfrm>
              <a:off x="8137525" y="2682875"/>
              <a:ext cx="100013"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1" name="Oval 1037"/>
            <p:cNvSpPr>
              <a:spLocks noChangeArrowheads="1"/>
            </p:cNvSpPr>
            <p:nvPr/>
          </p:nvSpPr>
          <p:spPr bwMode="auto">
            <a:xfrm>
              <a:off x="7915275" y="22352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2" name="Oval 1038"/>
            <p:cNvSpPr>
              <a:spLocks noChangeArrowheads="1"/>
            </p:cNvSpPr>
            <p:nvPr/>
          </p:nvSpPr>
          <p:spPr bwMode="auto">
            <a:xfrm>
              <a:off x="7356475" y="2794000"/>
              <a:ext cx="98425"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3" name="Oval 1039"/>
            <p:cNvSpPr>
              <a:spLocks noChangeArrowheads="1"/>
            </p:cNvSpPr>
            <p:nvPr/>
          </p:nvSpPr>
          <p:spPr bwMode="auto">
            <a:xfrm>
              <a:off x="7578725" y="2570163"/>
              <a:ext cx="100013" cy="100012"/>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4" name="Oval 1040"/>
            <p:cNvSpPr>
              <a:spLocks noChangeArrowheads="1"/>
            </p:cNvSpPr>
            <p:nvPr/>
          </p:nvSpPr>
          <p:spPr bwMode="auto">
            <a:xfrm>
              <a:off x="7802563" y="2905125"/>
              <a:ext cx="100012" cy="100013"/>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5" name="Oval 1041"/>
            <p:cNvSpPr>
              <a:spLocks noChangeArrowheads="1"/>
            </p:cNvSpPr>
            <p:nvPr/>
          </p:nvSpPr>
          <p:spPr bwMode="auto">
            <a:xfrm>
              <a:off x="8361363" y="3017838"/>
              <a:ext cx="100012" cy="98425"/>
            </a:xfrm>
            <a:prstGeom prst="ellipse">
              <a:avLst/>
            </a:prstGeom>
            <a:solidFill>
              <a:srgbClr val="CC3300"/>
            </a:solidFill>
            <a:ln w="12700">
              <a:solidFill>
                <a:schemeClr val="tx1"/>
              </a:solidFill>
              <a:round/>
              <a:headEnd/>
              <a:tailEnd/>
            </a:ln>
          </p:spPr>
          <p:txBody>
            <a:bodyPr wrap="none" anchor="ctr"/>
            <a:lstStyle/>
            <a:p>
              <a:endParaRPr lang="zh-CN" altLang="zh-CN">
                <a:ea typeface="SimSun" pitchFamily="2" charset="-122"/>
              </a:endParaRPr>
            </a:p>
          </p:txBody>
        </p:sp>
        <p:sp>
          <p:nvSpPr>
            <p:cNvPr id="58386" name="Oval 1042"/>
            <p:cNvSpPr>
              <a:spLocks noChangeArrowheads="1"/>
            </p:cNvSpPr>
            <p:nvPr/>
          </p:nvSpPr>
          <p:spPr bwMode="auto">
            <a:xfrm>
              <a:off x="6858000" y="2057400"/>
              <a:ext cx="1104900" cy="1104900"/>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387" name="Oval 1043"/>
            <p:cNvSpPr>
              <a:spLocks noChangeArrowheads="1"/>
            </p:cNvSpPr>
            <p:nvPr/>
          </p:nvSpPr>
          <p:spPr bwMode="auto">
            <a:xfrm>
              <a:off x="6370638" y="2311400"/>
              <a:ext cx="1104900" cy="1104900"/>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388" name="Rectangle 1044"/>
            <p:cNvSpPr>
              <a:spLocks noChangeArrowheads="1"/>
            </p:cNvSpPr>
            <p:nvPr/>
          </p:nvSpPr>
          <p:spPr bwMode="auto">
            <a:xfrm>
              <a:off x="7969250" y="2051050"/>
              <a:ext cx="3810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p</a:t>
              </a:r>
            </a:p>
          </p:txBody>
        </p:sp>
        <p:sp>
          <p:nvSpPr>
            <p:cNvPr id="58389" name="Rectangle 1045"/>
            <p:cNvSpPr>
              <a:spLocks noChangeArrowheads="1"/>
            </p:cNvSpPr>
            <p:nvPr/>
          </p:nvSpPr>
          <p:spPr bwMode="auto">
            <a:xfrm>
              <a:off x="6597650" y="2736850"/>
              <a:ext cx="3810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q</a:t>
              </a:r>
            </a:p>
          </p:txBody>
        </p:sp>
        <p:sp>
          <p:nvSpPr>
            <p:cNvPr id="58390" name="Oval 1046"/>
            <p:cNvSpPr>
              <a:spLocks noChangeArrowheads="1"/>
            </p:cNvSpPr>
            <p:nvPr/>
          </p:nvSpPr>
          <p:spPr bwMode="auto">
            <a:xfrm>
              <a:off x="7315200" y="1752600"/>
              <a:ext cx="1104900" cy="1104900"/>
            </a:xfrm>
            <a:prstGeom prst="ellipse">
              <a:avLst/>
            </a:prstGeom>
            <a:noFill/>
            <a:ln w="12700">
              <a:solidFill>
                <a:schemeClr val="tx1"/>
              </a:solidFill>
              <a:round/>
              <a:headEnd/>
              <a:tailEnd/>
            </a:ln>
          </p:spPr>
          <p:txBody>
            <a:bodyPr wrap="none" anchor="ctr"/>
            <a:lstStyle/>
            <a:p>
              <a:endParaRPr lang="zh-CN" altLang="zh-CN">
                <a:ea typeface="SimSun" pitchFamily="2" charset="-122"/>
              </a:endParaRPr>
            </a:p>
          </p:txBody>
        </p:sp>
        <p:sp>
          <p:nvSpPr>
            <p:cNvPr id="58391" name="Rectangle 1047"/>
            <p:cNvSpPr>
              <a:spLocks noChangeArrowheads="1"/>
            </p:cNvSpPr>
            <p:nvPr/>
          </p:nvSpPr>
          <p:spPr bwMode="auto">
            <a:xfrm>
              <a:off x="7359650" y="2508250"/>
              <a:ext cx="609600" cy="457200"/>
            </a:xfrm>
            <a:prstGeom prst="rect">
              <a:avLst/>
            </a:prstGeom>
            <a:noFill/>
            <a:ln w="9525">
              <a:noFill/>
              <a:miter lim="800000"/>
              <a:headEnd/>
              <a:tailEnd/>
            </a:ln>
          </p:spPr>
          <p:txBody>
            <a:bodyPr lIns="92075" tIns="46038" rIns="92075" bIns="46038">
              <a:spAutoFit/>
            </a:bodyPr>
            <a:lstStyle/>
            <a:p>
              <a:pPr eaLnBrk="0" hangingPunct="0">
                <a:spcBef>
                  <a:spcPct val="50000"/>
                </a:spcBef>
              </a:pPr>
              <a:r>
                <a:rPr lang="en-US" altLang="zh-CN" b="1" i="1">
                  <a:latin typeface="Times New Roman" pitchFamily="18" charset="0"/>
                  <a:ea typeface="SimSun" pitchFamily="2" charset="-122"/>
                </a:rPr>
                <a:t>p</a:t>
              </a:r>
              <a:r>
                <a:rPr lang="en-US" altLang="zh-CN" b="1" i="1" baseline="-25000">
                  <a:latin typeface="Times New Roman" pitchFamily="18" charset="0"/>
                  <a:ea typeface="SimSun" pitchFamily="2" charset="-122"/>
                </a:rPr>
                <a:t>1</a:t>
              </a:r>
            </a:p>
          </p:txBody>
        </p:sp>
        <p:sp>
          <p:nvSpPr>
            <p:cNvPr id="58392" name="Line 1048"/>
            <p:cNvSpPr>
              <a:spLocks noChangeShapeType="1"/>
            </p:cNvSpPr>
            <p:nvPr/>
          </p:nvSpPr>
          <p:spPr bwMode="auto">
            <a:xfrm flipH="1">
              <a:off x="7435850" y="2355850"/>
              <a:ext cx="457200" cy="228600"/>
            </a:xfrm>
            <a:prstGeom prst="line">
              <a:avLst/>
            </a:prstGeom>
            <a:noFill/>
            <a:ln w="25400">
              <a:solidFill>
                <a:schemeClr val="tx1"/>
              </a:solidFill>
              <a:round/>
              <a:headEnd type="stealth" w="lg" len="med"/>
              <a:tailEnd type="none" w="sm" len="sm"/>
            </a:ln>
          </p:spPr>
          <p:txBody>
            <a:bodyPr wrap="none" anchor="ctr"/>
            <a:lstStyle/>
            <a:p>
              <a:endParaRPr lang="en-US"/>
            </a:p>
          </p:txBody>
        </p:sp>
        <p:sp>
          <p:nvSpPr>
            <p:cNvPr id="58394" name="Line 1085"/>
            <p:cNvSpPr>
              <a:spLocks noChangeShapeType="1"/>
            </p:cNvSpPr>
            <p:nvPr/>
          </p:nvSpPr>
          <p:spPr bwMode="auto">
            <a:xfrm flipV="1">
              <a:off x="6934200" y="2667000"/>
              <a:ext cx="457200" cy="304800"/>
            </a:xfrm>
            <a:prstGeom prst="line">
              <a:avLst/>
            </a:prstGeom>
            <a:noFill/>
            <a:ln w="25400">
              <a:solidFill>
                <a:schemeClr val="tx1"/>
              </a:solidFill>
              <a:round/>
              <a:headEnd/>
              <a:tailEnd type="stealth" w="med" len="lg"/>
            </a:ln>
          </p:spPr>
          <p:txBody>
            <a:bodyPr wrap="none" anchor="ctr"/>
            <a:lstStyle/>
            <a:p>
              <a:endParaRPr lang="en-US"/>
            </a:p>
          </p:txBody>
        </p:sp>
      </p:grpSp>
      <p:sp>
        <p:nvSpPr>
          <p:cNvPr id="62" name="Line 1048"/>
          <p:cNvSpPr>
            <a:spLocks noChangeShapeType="1"/>
          </p:cNvSpPr>
          <p:nvPr/>
        </p:nvSpPr>
        <p:spPr bwMode="auto">
          <a:xfrm flipH="1">
            <a:off x="8108920" y="4745037"/>
            <a:ext cx="241330" cy="104947"/>
          </a:xfrm>
          <a:prstGeom prst="line">
            <a:avLst/>
          </a:prstGeom>
          <a:noFill/>
          <a:ln w="25400">
            <a:solidFill>
              <a:schemeClr val="tx1"/>
            </a:solidFill>
            <a:round/>
            <a:headEnd type="stealth" w="lg" len="med"/>
            <a:tailEnd type="none" w="sm" len="sm"/>
          </a:ln>
        </p:spPr>
        <p:txBody>
          <a:bodyPr wrap="none" anchor="ctr"/>
          <a:lstStyle/>
          <a:p>
            <a:endParaRPr lang="en-US"/>
          </a:p>
        </p:txBody>
      </p:sp>
      <p:sp>
        <p:nvSpPr>
          <p:cNvPr id="65" name="Slide Number Placeholder 64"/>
          <p:cNvSpPr>
            <a:spLocks noGrp="1"/>
          </p:cNvSpPr>
          <p:nvPr>
            <p:ph type="sldNum" sz="quarter" idx="11"/>
          </p:nvPr>
        </p:nvSpPr>
        <p:spPr/>
        <p:txBody>
          <a:bodyPr/>
          <a:lstStyle/>
          <a:p>
            <a:pPr>
              <a:defRPr/>
            </a:pPr>
            <a:fld id="{4635AE12-246C-49B1-92D7-252397D611F1}" type="slidenum">
              <a:rPr lang="en-US" smtClean="0"/>
              <a:pPr>
                <a:defRPr/>
              </a:pPr>
              <a:t>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
          <p:cNvSpPr txBox="1">
            <a:spLocks noChangeArrowheads="1"/>
          </p:cNvSpPr>
          <p:nvPr/>
        </p:nvSpPr>
        <p:spPr>
          <a:xfrm>
            <a:off x="0" y="152400"/>
            <a:ext cx="9144000" cy="990600"/>
          </a:xfrm>
          <a:prstGeom prst="rect">
            <a:avLst/>
          </a:prstGeom>
        </p:spPr>
        <p:txBody>
          <a:bodyPr lIns="92075" tIns="46038" rIns="92075" bIns="46038" anchor="ctr" anchorCtr="0">
            <a:noAutofit/>
          </a:bodyPr>
          <a:lstStyle/>
          <a:p>
            <a:pPr lvl="0" eaLnBrk="1" fontAlgn="auto" hangingPunct="1">
              <a:spcAft>
                <a:spcPts val="0"/>
              </a:spcAft>
            </a:pPr>
            <a:r>
              <a:rPr lang="en-US" altLang="zh-CN" sz="3600" dirty="0">
                <a:solidFill>
                  <a:schemeClr val="tx2"/>
                </a:solidFill>
                <a:latin typeface="+mj-lt"/>
                <a:ea typeface="SimSun" pitchFamily="2" charset="-122"/>
              </a:rPr>
              <a:t>DBSCAN: Density-Based Spatial Clustering of Applications with Noise</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59395" name="Rectangle 3"/>
          <p:cNvSpPr>
            <a:spLocks noGrp="1" noChangeArrowheads="1"/>
          </p:cNvSpPr>
          <p:nvPr>
            <p:ph type="body" idx="1"/>
          </p:nvPr>
        </p:nvSpPr>
        <p:spPr>
          <a:xfrm>
            <a:off x="228600" y="1600200"/>
            <a:ext cx="8534400" cy="5029200"/>
          </a:xfrm>
        </p:spPr>
        <p:txBody>
          <a:bodyPr/>
          <a:lstStyle/>
          <a:p>
            <a:pPr eaLnBrk="1" hangingPunct="1"/>
            <a:r>
              <a:rPr lang="en-US" altLang="zh-CN" sz="2400" dirty="0">
                <a:ea typeface="SimSun" pitchFamily="2" charset="-122"/>
              </a:rPr>
              <a:t>Relies on a </a:t>
            </a:r>
            <a:r>
              <a:rPr lang="en-US" altLang="zh-CN" sz="2400" i="1" dirty="0">
                <a:ea typeface="SimSun" pitchFamily="2" charset="-122"/>
              </a:rPr>
              <a:t>density-based</a:t>
            </a:r>
            <a:r>
              <a:rPr lang="en-US" altLang="zh-CN" sz="2400" dirty="0">
                <a:ea typeface="SimSun" pitchFamily="2" charset="-122"/>
              </a:rPr>
              <a:t> notion of cluster:  A </a:t>
            </a:r>
            <a:r>
              <a:rPr lang="en-US" altLang="zh-CN" sz="2400" i="1" dirty="0">
                <a:ea typeface="SimSun" pitchFamily="2" charset="-122"/>
              </a:rPr>
              <a:t>cluster</a:t>
            </a:r>
            <a:r>
              <a:rPr lang="en-US" altLang="zh-CN" sz="2400" dirty="0">
                <a:ea typeface="SimSun" pitchFamily="2" charset="-122"/>
              </a:rPr>
              <a:t> is defined as a maximal set of density-connected points</a:t>
            </a:r>
          </a:p>
          <a:p>
            <a:pPr eaLnBrk="1" hangingPunct="1"/>
            <a:r>
              <a:rPr lang="en-US" altLang="zh-CN" sz="2400" dirty="0">
                <a:ea typeface="SimSun" pitchFamily="2" charset="-122"/>
              </a:rPr>
              <a:t>Discovers clusters of arbitrary shape in spatial databases with noise</a:t>
            </a:r>
          </a:p>
        </p:txBody>
      </p:sp>
      <p:grpSp>
        <p:nvGrpSpPr>
          <p:cNvPr id="2" name="Group 4"/>
          <p:cNvGrpSpPr>
            <a:grpSpLocks/>
          </p:cNvGrpSpPr>
          <p:nvPr/>
        </p:nvGrpSpPr>
        <p:grpSpPr bwMode="auto">
          <a:xfrm>
            <a:off x="2057400" y="3505200"/>
            <a:ext cx="6324600" cy="2743200"/>
            <a:chOff x="672" y="1824"/>
            <a:chExt cx="4608" cy="2112"/>
          </a:xfrm>
        </p:grpSpPr>
        <p:sp>
          <p:nvSpPr>
            <p:cNvPr id="59398"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399"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0"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1"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2" name="Oval 9"/>
            <p:cNvSpPr>
              <a:spLocks noChangeArrowheads="1"/>
            </p:cNvSpPr>
            <p:nvPr/>
          </p:nvSpPr>
          <p:spPr bwMode="auto">
            <a:xfrm>
              <a:off x="2256" y="2928"/>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3"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4"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5"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6"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7"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8"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09"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0"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1"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2"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3"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4"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sp>
          <p:nvSpPr>
            <p:cNvPr id="59415" name="Rectangle 22"/>
            <p:cNvSpPr>
              <a:spLocks noChangeArrowheads="1"/>
            </p:cNvSpPr>
            <p:nvPr/>
          </p:nvSpPr>
          <p:spPr bwMode="auto">
            <a:xfrm>
              <a:off x="1392" y="1824"/>
              <a:ext cx="2448" cy="2112"/>
            </a:xfrm>
            <a:prstGeom prst="rect">
              <a:avLst/>
            </a:prstGeom>
            <a:noFill/>
            <a:ln w="9525">
              <a:solidFill>
                <a:schemeClr val="tx1"/>
              </a:solidFill>
              <a:miter lim="800000"/>
              <a:headEnd/>
              <a:tailEnd/>
            </a:ln>
          </p:spPr>
          <p:txBody>
            <a:bodyPr wrap="none" anchor="ctr"/>
            <a:lstStyle/>
            <a:p>
              <a:endParaRPr lang="zh-CN" altLang="zh-CN">
                <a:ea typeface="SimSun" pitchFamily="2" charset="-122"/>
              </a:endParaRPr>
            </a:p>
          </p:txBody>
        </p:sp>
        <p:sp>
          <p:nvSpPr>
            <p:cNvPr id="59416" name="Oval 23"/>
            <p:cNvSpPr>
              <a:spLocks noChangeArrowheads="1"/>
            </p:cNvSpPr>
            <p:nvPr/>
          </p:nvSpPr>
          <p:spPr bwMode="auto">
            <a:xfrm>
              <a:off x="1584" y="2304"/>
              <a:ext cx="576" cy="624"/>
            </a:xfrm>
            <a:prstGeom prst="ellipse">
              <a:avLst/>
            </a:prstGeom>
            <a:noFill/>
            <a:ln w="9525">
              <a:solidFill>
                <a:schemeClr val="tx1"/>
              </a:solidFill>
              <a:prstDash val="dash"/>
              <a:round/>
              <a:headEnd/>
              <a:tailEnd/>
            </a:ln>
          </p:spPr>
          <p:txBody>
            <a:bodyPr wrap="none" anchor="ctr"/>
            <a:lstStyle/>
            <a:p>
              <a:endParaRPr lang="zh-CN" altLang="zh-CN">
                <a:ea typeface="SimSun" pitchFamily="2" charset="-122"/>
              </a:endParaRPr>
            </a:p>
          </p:txBody>
        </p:sp>
        <p:sp>
          <p:nvSpPr>
            <p:cNvPr id="59417" name="Oval 24"/>
            <p:cNvSpPr>
              <a:spLocks noChangeArrowheads="1"/>
            </p:cNvSpPr>
            <p:nvPr/>
          </p:nvSpPr>
          <p:spPr bwMode="auto">
            <a:xfrm>
              <a:off x="1872" y="2880"/>
              <a:ext cx="576" cy="624"/>
            </a:xfrm>
            <a:prstGeom prst="ellipse">
              <a:avLst/>
            </a:prstGeom>
            <a:noFill/>
            <a:ln w="9525">
              <a:solidFill>
                <a:schemeClr val="tx1"/>
              </a:solidFill>
              <a:prstDash val="dash"/>
              <a:round/>
              <a:headEnd/>
              <a:tailEnd/>
            </a:ln>
          </p:spPr>
          <p:txBody>
            <a:bodyPr wrap="none" anchor="ctr"/>
            <a:lstStyle/>
            <a:p>
              <a:endParaRPr lang="zh-CN" altLang="zh-CN">
                <a:ea typeface="SimSun" pitchFamily="2" charset="-122"/>
              </a:endParaRPr>
            </a:p>
          </p:txBody>
        </p:sp>
        <p:sp>
          <p:nvSpPr>
            <p:cNvPr id="59418" name="Oval 25"/>
            <p:cNvSpPr>
              <a:spLocks noChangeArrowheads="1"/>
            </p:cNvSpPr>
            <p:nvPr/>
          </p:nvSpPr>
          <p:spPr bwMode="auto">
            <a:xfrm>
              <a:off x="2688" y="1824"/>
              <a:ext cx="576" cy="624"/>
            </a:xfrm>
            <a:prstGeom prst="ellipse">
              <a:avLst/>
            </a:prstGeom>
            <a:noFill/>
            <a:ln w="9525">
              <a:solidFill>
                <a:schemeClr val="tx1"/>
              </a:solidFill>
              <a:prstDash val="dash"/>
              <a:round/>
              <a:headEnd/>
              <a:tailEnd/>
            </a:ln>
          </p:spPr>
          <p:txBody>
            <a:bodyPr wrap="none" anchor="ctr"/>
            <a:lstStyle/>
            <a:p>
              <a:endParaRPr lang="zh-CN" altLang="zh-CN">
                <a:ea typeface="SimSun" pitchFamily="2" charset="-122"/>
              </a:endParaRPr>
            </a:p>
          </p:txBody>
        </p:sp>
        <p:sp>
          <p:nvSpPr>
            <p:cNvPr id="59419" name="AutoShape 26"/>
            <p:cNvSpPr>
              <a:spLocks/>
            </p:cNvSpPr>
            <p:nvPr/>
          </p:nvSpPr>
          <p:spPr bwMode="auto">
            <a:xfrm>
              <a:off x="1094" y="3124"/>
              <a:ext cx="576" cy="360"/>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p>
              <a:pPr eaLnBrk="0" hangingPunct="0"/>
              <a:r>
                <a:rPr lang="en-US" altLang="zh-CN">
                  <a:latin typeface="Times New Roman" pitchFamily="18" charset="0"/>
                  <a:ea typeface="SimSun" pitchFamily="2" charset="-122"/>
                </a:rPr>
                <a:t>Core</a:t>
              </a:r>
            </a:p>
          </p:txBody>
        </p:sp>
        <p:sp>
          <p:nvSpPr>
            <p:cNvPr id="59420" name="AutoShape 27"/>
            <p:cNvSpPr>
              <a:spLocks/>
            </p:cNvSpPr>
            <p:nvPr/>
          </p:nvSpPr>
          <p:spPr bwMode="auto">
            <a:xfrm>
              <a:off x="672" y="2523"/>
              <a:ext cx="817" cy="359"/>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p>
              <a:pPr eaLnBrk="0" hangingPunct="0"/>
              <a:r>
                <a:rPr lang="en-US" altLang="zh-CN">
                  <a:latin typeface="Times New Roman" pitchFamily="18" charset="0"/>
                  <a:ea typeface="SimSun" pitchFamily="2" charset="-122"/>
                </a:rPr>
                <a:t>Border</a:t>
              </a:r>
            </a:p>
          </p:txBody>
        </p:sp>
        <p:sp>
          <p:nvSpPr>
            <p:cNvPr id="59421" name="AutoShape 28"/>
            <p:cNvSpPr>
              <a:spLocks/>
            </p:cNvSpPr>
            <p:nvPr/>
          </p:nvSpPr>
          <p:spPr bwMode="auto">
            <a:xfrm>
              <a:off x="3697" y="1921"/>
              <a:ext cx="824" cy="359"/>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p>
              <a:pPr eaLnBrk="0" hangingPunct="0"/>
              <a:r>
                <a:rPr lang="en-US" altLang="zh-CN">
                  <a:latin typeface="Times New Roman" pitchFamily="18" charset="0"/>
                  <a:ea typeface="SimSun" pitchFamily="2" charset="-122"/>
                </a:rPr>
                <a:t>Outlier</a:t>
              </a:r>
            </a:p>
          </p:txBody>
        </p:sp>
        <p:sp>
          <p:nvSpPr>
            <p:cNvPr id="59422" name="Text Box 29"/>
            <p:cNvSpPr txBox="1">
              <a:spLocks noChangeArrowheads="1"/>
            </p:cNvSpPr>
            <p:nvPr/>
          </p:nvSpPr>
          <p:spPr bwMode="auto">
            <a:xfrm>
              <a:off x="4081" y="2736"/>
              <a:ext cx="1199" cy="773"/>
            </a:xfrm>
            <a:prstGeom prst="rect">
              <a:avLst/>
            </a:prstGeom>
            <a:noFill/>
            <a:ln w="9525">
              <a:noFill/>
              <a:miter lim="800000"/>
              <a:headEnd/>
              <a:tailEnd/>
            </a:ln>
          </p:spPr>
          <p:txBody>
            <a:bodyPr>
              <a:spAutoFit/>
            </a:bodyPr>
            <a:lstStyle/>
            <a:p>
              <a:pPr eaLnBrk="0" hangingPunct="0">
                <a:spcBef>
                  <a:spcPct val="50000"/>
                </a:spcBef>
              </a:pPr>
              <a:r>
                <a:rPr lang="en-US" altLang="zh-CN">
                  <a:latin typeface="Times New Roman" pitchFamily="18" charset="0"/>
                  <a:ea typeface="SimSun" pitchFamily="2" charset="-122"/>
                </a:rPr>
                <a:t>Eps = 1cm</a:t>
              </a:r>
            </a:p>
            <a:p>
              <a:pPr eaLnBrk="0" hangingPunct="0">
                <a:spcBef>
                  <a:spcPct val="50000"/>
                </a:spcBef>
              </a:pPr>
              <a:r>
                <a:rPr lang="en-US" altLang="zh-CN">
                  <a:latin typeface="Times New Roman" pitchFamily="18" charset="0"/>
                  <a:ea typeface="SimSun" pitchFamily="2" charset="-122"/>
                </a:rPr>
                <a:t>MinPts = 5</a:t>
              </a:r>
            </a:p>
          </p:txBody>
        </p:sp>
        <p:sp>
          <p:nvSpPr>
            <p:cNvPr id="59423"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p>
              <a:endParaRPr lang="zh-CN" altLang="zh-CN">
                <a:ea typeface="SimSun" pitchFamily="2" charset="-122"/>
              </a:endParaRPr>
            </a:p>
          </p:txBody>
        </p:sp>
      </p:grpSp>
      <p:sp>
        <p:nvSpPr>
          <p:cNvPr id="33" name="Slide Number Placeholder 32"/>
          <p:cNvSpPr>
            <a:spLocks noGrp="1"/>
          </p:cNvSpPr>
          <p:nvPr>
            <p:ph type="sldNum" sz="quarter" idx="11"/>
          </p:nvPr>
        </p:nvSpPr>
        <p:spPr/>
        <p:txBody>
          <a:bodyPr/>
          <a:lstStyle/>
          <a:p>
            <a:pPr>
              <a:defRPr/>
            </a:pPr>
            <a:fld id="{4635AE12-246C-49B1-92D7-252397D611F1}" type="slidenum">
              <a:rPr lang="en-US" smtClean="0"/>
              <a:pPr>
                <a:defRPr/>
              </a:pPr>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DBSCAN: The Algorithm</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60419" name="Rectangle 3"/>
          <p:cNvSpPr>
            <a:spLocks noGrp="1" noChangeArrowheads="1"/>
          </p:cNvSpPr>
          <p:nvPr>
            <p:ph type="body" idx="1"/>
          </p:nvPr>
        </p:nvSpPr>
        <p:spPr>
          <a:xfrm>
            <a:off x="304800" y="1066800"/>
            <a:ext cx="8305800" cy="5029200"/>
          </a:xfrm>
        </p:spPr>
        <p:txBody>
          <a:bodyPr>
            <a:normAutofit fontScale="85000" lnSpcReduction="10000"/>
          </a:bodyPr>
          <a:lstStyle/>
          <a:p>
            <a:pPr eaLnBrk="1" hangingPunct="1">
              <a:lnSpc>
                <a:spcPct val="120000"/>
              </a:lnSpc>
              <a:spcBef>
                <a:spcPct val="50000"/>
              </a:spcBef>
            </a:pPr>
            <a:r>
              <a:rPr lang="en-US" altLang="zh-CN" sz="2400" dirty="0">
                <a:ea typeface="SimSun" pitchFamily="2" charset="-122"/>
              </a:rPr>
              <a:t>Arbitrary select a point </a:t>
            </a:r>
            <a:r>
              <a:rPr lang="en-US" altLang="zh-CN" sz="2400" i="1" dirty="0">
                <a:ea typeface="SimSun" pitchFamily="2" charset="-122"/>
              </a:rPr>
              <a:t>p</a:t>
            </a:r>
            <a:endParaRPr lang="en-US" altLang="zh-CN" sz="2400" dirty="0">
              <a:ea typeface="SimSun" pitchFamily="2" charset="-122"/>
            </a:endParaRPr>
          </a:p>
          <a:p>
            <a:pPr>
              <a:lnSpc>
                <a:spcPct val="120000"/>
              </a:lnSpc>
              <a:spcBef>
                <a:spcPct val="50000"/>
              </a:spcBef>
            </a:pPr>
            <a:r>
              <a:rPr lang="en-US" altLang="zh-CN" sz="2400" dirty="0">
                <a:ea typeface="SimSun" pitchFamily="2" charset="-122"/>
              </a:rPr>
              <a:t>If </a:t>
            </a:r>
            <a:r>
              <a:rPr lang="en-US" altLang="zh-CN" sz="2400" i="1" dirty="0">
                <a:ea typeface="SimSun" pitchFamily="2" charset="-122"/>
              </a:rPr>
              <a:t>p</a:t>
            </a:r>
            <a:r>
              <a:rPr lang="en-US" altLang="zh-CN" sz="2400" dirty="0">
                <a:ea typeface="SimSun" pitchFamily="2" charset="-122"/>
              </a:rPr>
              <a:t> is a core point, a cluster </a:t>
            </a:r>
            <a:r>
              <a:rPr lang="en-US" altLang="zh-CN" sz="2400" i="1" dirty="0">
                <a:ea typeface="SimSun" pitchFamily="2" charset="-122"/>
              </a:rPr>
              <a:t>C</a:t>
            </a:r>
            <a:r>
              <a:rPr lang="en-US" altLang="zh-CN" sz="2400" dirty="0">
                <a:ea typeface="SimSun" pitchFamily="2" charset="-122"/>
              </a:rPr>
              <a:t> is formed</a:t>
            </a:r>
          </a:p>
          <a:p>
            <a:pPr lvl="1">
              <a:lnSpc>
                <a:spcPct val="120000"/>
              </a:lnSpc>
              <a:spcBef>
                <a:spcPct val="50000"/>
              </a:spcBef>
            </a:pPr>
            <a:r>
              <a:rPr lang="en-US" altLang="zh-CN" sz="2200" dirty="0">
                <a:ea typeface="SimSun" pitchFamily="2" charset="-122"/>
              </a:rPr>
              <a:t>Retrieve the set </a:t>
            </a:r>
            <a:r>
              <a:rPr lang="en-US" altLang="zh-CN" sz="2200" i="1" dirty="0">
                <a:ea typeface="SimSun" pitchFamily="2" charset="-122"/>
              </a:rPr>
              <a:t>N </a:t>
            </a:r>
            <a:r>
              <a:rPr lang="en-US" altLang="zh-CN" sz="2200" dirty="0">
                <a:ea typeface="SimSun" pitchFamily="2" charset="-122"/>
              </a:rPr>
              <a:t>points that are </a:t>
            </a:r>
            <a:r>
              <a:rPr lang="en-US" altLang="zh-CN" sz="2200" i="1" dirty="0">
                <a:solidFill>
                  <a:srgbClr val="FF0000"/>
                </a:solidFill>
                <a:ea typeface="SimSun" pitchFamily="2" charset="-122"/>
              </a:rPr>
              <a:t>density-reachable</a:t>
            </a:r>
            <a:r>
              <a:rPr lang="en-US" altLang="zh-CN" sz="2200" dirty="0">
                <a:ea typeface="SimSun" pitchFamily="2" charset="-122"/>
              </a:rPr>
              <a:t> from </a:t>
            </a:r>
            <a:r>
              <a:rPr lang="en-US" altLang="zh-CN" sz="2200" i="1" dirty="0">
                <a:ea typeface="SimSun" pitchFamily="2" charset="-122"/>
              </a:rPr>
              <a:t>p</a:t>
            </a:r>
            <a:r>
              <a:rPr lang="en-US" altLang="zh-CN" sz="2200" dirty="0">
                <a:ea typeface="SimSun" pitchFamily="2" charset="-122"/>
              </a:rPr>
              <a:t> </a:t>
            </a:r>
            <a:r>
              <a:rPr lang="en-US" altLang="zh-CN" sz="2200" dirty="0" err="1">
                <a:ea typeface="SimSun" pitchFamily="2" charset="-122"/>
              </a:rPr>
              <a:t>w.r.t</a:t>
            </a:r>
            <a:r>
              <a:rPr lang="en-US" altLang="zh-CN" sz="2200" dirty="0">
                <a:ea typeface="SimSun" pitchFamily="2" charset="-122"/>
              </a:rPr>
              <a:t>. </a:t>
            </a:r>
            <a:r>
              <a:rPr lang="en-US" altLang="zh-CN" sz="2200" i="1" dirty="0" err="1">
                <a:ea typeface="SimSun" pitchFamily="2" charset="-122"/>
              </a:rPr>
              <a:t>Eps</a:t>
            </a:r>
            <a:r>
              <a:rPr lang="en-US" altLang="zh-CN" sz="2200" dirty="0">
                <a:ea typeface="SimSun" pitchFamily="2" charset="-122"/>
              </a:rPr>
              <a:t> and </a:t>
            </a:r>
            <a:r>
              <a:rPr lang="en-US" altLang="zh-CN" sz="2200" i="1" dirty="0" err="1">
                <a:ea typeface="SimSun" pitchFamily="2" charset="-122"/>
              </a:rPr>
              <a:t>MinPts</a:t>
            </a:r>
            <a:r>
              <a:rPr lang="en-US" altLang="zh-CN" sz="2200" i="1" dirty="0">
                <a:ea typeface="SimSun" pitchFamily="2" charset="-122"/>
              </a:rPr>
              <a:t>.  </a:t>
            </a:r>
          </a:p>
          <a:p>
            <a:pPr lvl="1">
              <a:lnSpc>
                <a:spcPct val="120000"/>
              </a:lnSpc>
              <a:spcBef>
                <a:spcPct val="50000"/>
              </a:spcBef>
            </a:pPr>
            <a:r>
              <a:rPr lang="en-US" altLang="zh-CN" sz="2200" dirty="0">
                <a:ea typeface="SimSun" pitchFamily="2" charset="-122"/>
              </a:rPr>
              <a:t>If a point in </a:t>
            </a:r>
            <a:r>
              <a:rPr lang="en-US" altLang="zh-CN" sz="2200" i="1" dirty="0">
                <a:ea typeface="SimSun" pitchFamily="2" charset="-122"/>
              </a:rPr>
              <a:t>N i</a:t>
            </a:r>
            <a:r>
              <a:rPr lang="en-US" altLang="zh-CN" sz="2200" dirty="0">
                <a:ea typeface="SimSun" pitchFamily="2" charset="-122"/>
              </a:rPr>
              <a:t>s not assigned to any other cluster assign it to </a:t>
            </a:r>
            <a:r>
              <a:rPr lang="en-US" altLang="zh-CN" sz="2200" i="1" dirty="0">
                <a:ea typeface="SimSun" pitchFamily="2" charset="-122"/>
              </a:rPr>
              <a:t>C</a:t>
            </a:r>
            <a:endParaRPr lang="en-US" altLang="zh-CN" sz="2200" dirty="0">
              <a:ea typeface="SimSun" pitchFamily="2" charset="-122"/>
            </a:endParaRPr>
          </a:p>
          <a:p>
            <a:pPr eaLnBrk="1" hangingPunct="1">
              <a:lnSpc>
                <a:spcPct val="120000"/>
              </a:lnSpc>
              <a:spcBef>
                <a:spcPct val="50000"/>
              </a:spcBef>
            </a:pPr>
            <a:r>
              <a:rPr lang="en-US" altLang="zh-CN" sz="2400" dirty="0">
                <a:ea typeface="SimSun" pitchFamily="2" charset="-122"/>
              </a:rPr>
              <a:t>If </a:t>
            </a:r>
            <a:r>
              <a:rPr lang="en-US" altLang="zh-CN" sz="2400" i="1" dirty="0">
                <a:ea typeface="SimSun" pitchFamily="2" charset="-122"/>
              </a:rPr>
              <a:t>p</a:t>
            </a:r>
            <a:r>
              <a:rPr lang="en-US" altLang="zh-CN" sz="2400" dirty="0">
                <a:ea typeface="SimSun" pitchFamily="2" charset="-122"/>
              </a:rPr>
              <a:t> is a </a:t>
            </a:r>
            <a:r>
              <a:rPr lang="en-US" altLang="zh-CN" sz="2400" i="1" dirty="0">
                <a:solidFill>
                  <a:srgbClr val="FF0000"/>
                </a:solidFill>
                <a:ea typeface="SimSun" pitchFamily="2" charset="-122"/>
              </a:rPr>
              <a:t>border point</a:t>
            </a:r>
            <a:r>
              <a:rPr lang="en-US" altLang="zh-CN" sz="2400" dirty="0">
                <a:ea typeface="SimSun" pitchFamily="2" charset="-122"/>
              </a:rPr>
              <a:t>, no points are </a:t>
            </a:r>
            <a:r>
              <a:rPr lang="en-US" altLang="zh-CN" sz="2400" i="1" dirty="0">
                <a:solidFill>
                  <a:srgbClr val="FF0000"/>
                </a:solidFill>
                <a:ea typeface="SimSun" pitchFamily="2" charset="-122"/>
              </a:rPr>
              <a:t>density-reachable</a:t>
            </a:r>
            <a:r>
              <a:rPr lang="en-US" altLang="zh-CN" sz="2400" dirty="0">
                <a:ea typeface="SimSun" pitchFamily="2" charset="-122"/>
              </a:rPr>
              <a:t> from </a:t>
            </a:r>
            <a:r>
              <a:rPr lang="en-US" altLang="zh-CN" sz="2400" i="1" dirty="0">
                <a:ea typeface="SimSun" pitchFamily="2" charset="-122"/>
              </a:rPr>
              <a:t>p</a:t>
            </a:r>
            <a:r>
              <a:rPr lang="en-US" altLang="zh-CN" sz="2400" dirty="0">
                <a:ea typeface="SimSun" pitchFamily="2" charset="-122"/>
              </a:rPr>
              <a:t> and DBSCAN visits the next point of the database</a:t>
            </a:r>
          </a:p>
          <a:p>
            <a:pPr>
              <a:lnSpc>
                <a:spcPct val="120000"/>
              </a:lnSpc>
              <a:spcBef>
                <a:spcPct val="50000"/>
              </a:spcBef>
            </a:pPr>
            <a:r>
              <a:rPr lang="en-US" altLang="zh-CN" sz="2400" dirty="0">
                <a:ea typeface="SimSun" pitchFamily="2" charset="-122"/>
              </a:rPr>
              <a:t>If </a:t>
            </a:r>
            <a:r>
              <a:rPr lang="en-US" altLang="zh-CN" sz="2400" i="1" dirty="0">
                <a:ea typeface="SimSun" pitchFamily="2" charset="-122"/>
              </a:rPr>
              <a:t>p</a:t>
            </a:r>
            <a:r>
              <a:rPr lang="en-US" altLang="zh-CN" sz="2400" dirty="0">
                <a:ea typeface="SimSun" pitchFamily="2" charset="-122"/>
              </a:rPr>
              <a:t> is an outlier DBSCAN visits the next point of the database</a:t>
            </a:r>
          </a:p>
          <a:p>
            <a:pPr eaLnBrk="1" hangingPunct="1">
              <a:lnSpc>
                <a:spcPct val="120000"/>
              </a:lnSpc>
              <a:spcBef>
                <a:spcPct val="50000"/>
              </a:spcBef>
            </a:pPr>
            <a:r>
              <a:rPr lang="en-US" altLang="zh-CN" sz="2400" dirty="0">
                <a:ea typeface="SimSun" pitchFamily="2" charset="-122"/>
              </a:rPr>
              <a:t>Continue the process </a:t>
            </a:r>
            <a:r>
              <a:rPr lang="en-US" altLang="zh-CN" sz="2400" i="1" dirty="0">
                <a:solidFill>
                  <a:srgbClr val="FF0000"/>
                </a:solidFill>
                <a:ea typeface="SimSun" pitchFamily="2" charset="-122"/>
              </a:rPr>
              <a:t>until all of the points </a:t>
            </a:r>
            <a:r>
              <a:rPr lang="en-US" altLang="zh-CN" sz="2400" dirty="0">
                <a:ea typeface="SimSun" pitchFamily="2" charset="-122"/>
              </a:rPr>
              <a:t>have been processed</a:t>
            </a:r>
          </a:p>
          <a:p>
            <a:r>
              <a:rPr lang="en-US" altLang="zh-CN" sz="2400" b="1" i="1" dirty="0">
                <a:ea typeface="SimSun" pitchFamily="2" charset="-122"/>
              </a:rPr>
              <a:t>If a spatial index is used, the computational complexity of DBSCAN is O(</a:t>
            </a:r>
            <a:r>
              <a:rPr lang="en-US" altLang="zh-CN" sz="2400" b="1" i="1" dirty="0" err="1">
                <a:ea typeface="SimSun" pitchFamily="2" charset="-122"/>
              </a:rPr>
              <a:t>nlogn</a:t>
            </a:r>
            <a:r>
              <a:rPr lang="en-US" altLang="zh-CN" sz="2400" b="1" i="1" dirty="0">
                <a:ea typeface="SimSun" pitchFamily="2" charset="-122"/>
              </a:rPr>
              <a:t>), where n is the number of database objects. Otherwise, the complexity is O(n</a:t>
            </a:r>
            <a:r>
              <a:rPr lang="en-US" altLang="zh-CN" sz="2400" b="1" i="1" baseline="30000" dirty="0">
                <a:ea typeface="SimSun" pitchFamily="2" charset="-122"/>
              </a:rPr>
              <a:t>2</a:t>
            </a:r>
            <a:r>
              <a:rPr lang="en-US" altLang="zh-CN" sz="2400" b="1" i="1" dirty="0">
                <a:ea typeface="SimSun" pitchFamily="2" charset="-122"/>
              </a:rPr>
              <a:t>)</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27</a:t>
            </a:fld>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152400"/>
            <a:ext cx="8280400" cy="552450"/>
          </a:xfrm>
        </p:spPr>
        <p:txBody>
          <a:bodyPr/>
          <a:lstStyle/>
          <a:p>
            <a:r>
              <a:rPr lang="en-US" altLang="en-US" sz="2800"/>
              <a:t>DBSCAN: Core, Border and Noise Points</a:t>
            </a:r>
          </a:p>
        </p:txBody>
      </p:sp>
      <p:pic>
        <p:nvPicPr>
          <p:cNvPr id="849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487203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996" name="Text Box 4"/>
          <p:cNvSpPr txBox="1">
            <a:spLocks noChangeArrowheads="1"/>
          </p:cNvSpPr>
          <p:nvPr/>
        </p:nvSpPr>
        <p:spPr bwMode="auto">
          <a:xfrm>
            <a:off x="990600" y="5029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
        <p:nvSpPr>
          <p:cNvPr id="84997" name="Text Box 5"/>
          <p:cNvSpPr txBox="1">
            <a:spLocks noChangeArrowheads="1"/>
          </p:cNvSpPr>
          <p:nvPr/>
        </p:nvSpPr>
        <p:spPr bwMode="auto">
          <a:xfrm>
            <a:off x="5257800" y="5105400"/>
            <a:ext cx="2514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dirty="0"/>
              <a:t>Point types: </a:t>
            </a:r>
            <a:r>
              <a:rPr lang="en-US" altLang="en-US" sz="1800" dirty="0">
                <a:solidFill>
                  <a:srgbClr val="33CC33"/>
                </a:solidFill>
              </a:rPr>
              <a:t>core</a:t>
            </a:r>
            <a:r>
              <a:rPr lang="en-US" altLang="en-US" sz="1800" dirty="0"/>
              <a:t>, </a:t>
            </a:r>
            <a:r>
              <a:rPr lang="en-US" altLang="en-US" sz="1800" dirty="0">
                <a:solidFill>
                  <a:srgbClr val="003399"/>
                </a:solidFill>
              </a:rPr>
              <a:t>border</a:t>
            </a:r>
            <a:r>
              <a:rPr lang="en-US" altLang="en-US" sz="1800" dirty="0"/>
              <a:t> and </a:t>
            </a:r>
            <a:r>
              <a:rPr lang="en-US" altLang="en-US" sz="1800" dirty="0">
                <a:solidFill>
                  <a:srgbClr val="FF0000"/>
                </a:solidFill>
              </a:rPr>
              <a:t>noise</a:t>
            </a:r>
          </a:p>
        </p:txBody>
      </p:sp>
      <p:pic>
        <p:nvPicPr>
          <p:cNvPr id="8499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447800"/>
            <a:ext cx="487203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999" name="Text Box 7"/>
          <p:cNvSpPr txBox="1">
            <a:spLocks noChangeArrowheads="1"/>
          </p:cNvSpPr>
          <p:nvPr/>
        </p:nvSpPr>
        <p:spPr bwMode="auto">
          <a:xfrm>
            <a:off x="2743200" y="5943600"/>
            <a:ext cx="327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Eps = 10, MinPts = 4</a:t>
            </a:r>
          </a:p>
        </p:txBody>
      </p:sp>
      <p:sp>
        <p:nvSpPr>
          <p:cNvPr id="8" name="Slide Number Placeholder 7"/>
          <p:cNvSpPr>
            <a:spLocks noGrp="1"/>
          </p:cNvSpPr>
          <p:nvPr>
            <p:ph type="sldNum" sz="quarter" idx="12"/>
          </p:nvPr>
        </p:nvSpPr>
        <p:spPr/>
        <p:txBody>
          <a:bodyPr/>
          <a:lstStyle/>
          <a:p>
            <a:pPr>
              <a:defRPr/>
            </a:pPr>
            <a:fld id="{D3D212DC-59E6-444E-AD7D-AB217D4E4668}"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050"/>
          <p:cNvSpPr>
            <a:spLocks noGrp="1" noChangeArrowheads="1"/>
          </p:cNvSpPr>
          <p:nvPr>
            <p:ph type="title"/>
          </p:nvPr>
        </p:nvSpPr>
        <p:spPr>
          <a:xfrm>
            <a:off x="381000" y="152400"/>
            <a:ext cx="8280400" cy="552450"/>
          </a:xfrm>
        </p:spPr>
        <p:txBody>
          <a:bodyPr/>
          <a:lstStyle/>
          <a:p>
            <a:r>
              <a:rPr lang="en-US" altLang="en-US" sz="2800"/>
              <a:t>When DBSCAN Works Well</a:t>
            </a:r>
          </a:p>
        </p:txBody>
      </p:sp>
      <p:pic>
        <p:nvPicPr>
          <p:cNvPr id="86019" name="Picture 20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1088"/>
            <a:ext cx="487203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6020" name="Text Box 2052"/>
          <p:cNvSpPr txBox="1">
            <a:spLocks noChangeArrowheads="1"/>
          </p:cNvSpPr>
          <p:nvPr/>
        </p:nvSpPr>
        <p:spPr bwMode="auto">
          <a:xfrm>
            <a:off x="990600" y="4433888"/>
            <a:ext cx="2514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grpSp>
        <p:nvGrpSpPr>
          <p:cNvPr id="2" name="Group 2053"/>
          <p:cNvGrpSpPr>
            <a:grpSpLocks/>
          </p:cNvGrpSpPr>
          <p:nvPr/>
        </p:nvGrpSpPr>
        <p:grpSpPr bwMode="auto">
          <a:xfrm>
            <a:off x="4271963" y="1004888"/>
            <a:ext cx="4872037" cy="3871912"/>
            <a:chOff x="2691" y="633"/>
            <a:chExt cx="3069" cy="2439"/>
          </a:xfrm>
        </p:grpSpPr>
        <p:pic>
          <p:nvPicPr>
            <p:cNvPr id="86023" name="Picture 20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1" y="633"/>
              <a:ext cx="3069" cy="2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6024" name="Text Box 2055"/>
            <p:cNvSpPr txBox="1">
              <a:spLocks noChangeArrowheads="1"/>
            </p:cNvSpPr>
            <p:nvPr/>
          </p:nvSpPr>
          <p:spPr bwMode="auto">
            <a:xfrm>
              <a:off x="3312" y="2841"/>
              <a:ext cx="15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Clusters</a:t>
              </a:r>
            </a:p>
          </p:txBody>
        </p:sp>
      </p:grpSp>
      <p:sp>
        <p:nvSpPr>
          <p:cNvPr id="1653768" name="Text Box 2056"/>
          <p:cNvSpPr txBox="1">
            <a:spLocks noChangeArrowheads="1"/>
          </p:cNvSpPr>
          <p:nvPr/>
        </p:nvSpPr>
        <p:spPr bwMode="auto">
          <a:xfrm>
            <a:off x="609600" y="5392738"/>
            <a:ext cx="66294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buFontTx/>
              <a:buChar char="•"/>
            </a:pPr>
            <a:r>
              <a:rPr lang="en-US" altLang="en-US" sz="1800"/>
              <a:t> Resistant to Noise</a:t>
            </a:r>
          </a:p>
          <a:p>
            <a:pPr>
              <a:spcBef>
                <a:spcPct val="50000"/>
              </a:spcBef>
              <a:buFontTx/>
              <a:buChar char="•"/>
            </a:pPr>
            <a:r>
              <a:rPr lang="en-US" altLang="en-US" sz="1800"/>
              <a:t> Can handle clusters of different shapes and sizes</a:t>
            </a:r>
          </a:p>
        </p:txBody>
      </p:sp>
      <p:sp>
        <p:nvSpPr>
          <p:cNvPr id="9" name="Slide Number Placeholder 8"/>
          <p:cNvSpPr>
            <a:spLocks noGrp="1"/>
          </p:cNvSpPr>
          <p:nvPr>
            <p:ph type="sldNum" sz="quarter" idx="12"/>
          </p:nvPr>
        </p:nvSpPr>
        <p:spPr/>
        <p:txBody>
          <a:bodyPr/>
          <a:lstStyle/>
          <a:p>
            <a:pPr>
              <a:defRPr/>
            </a:pPr>
            <a:fld id="{D3D212DC-59E6-444E-AD7D-AB217D4E4668}" type="slidenum">
              <a:rPr lang="en-US" altLang="en-US" smtClean="0"/>
              <a:pPr>
                <a:defRPr/>
              </a:pPr>
              <a:t>29</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53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376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1000" y="152400"/>
            <a:ext cx="8280400" cy="552450"/>
          </a:xfrm>
        </p:spPr>
        <p:txBody>
          <a:bodyPr/>
          <a:lstStyle/>
          <a:p>
            <a:r>
              <a:rPr lang="en-US" altLang="en-US" sz="2800"/>
              <a:t>When DBSCAN Does NOT Work Well</a:t>
            </a:r>
          </a:p>
        </p:txBody>
      </p:sp>
      <p:sp>
        <p:nvSpPr>
          <p:cNvPr id="87043" name="Text Box 3"/>
          <p:cNvSpPr txBox="1">
            <a:spLocks noChangeArrowheads="1"/>
          </p:cNvSpPr>
          <p:nvPr/>
        </p:nvSpPr>
        <p:spPr bwMode="auto">
          <a:xfrm>
            <a:off x="1066800" y="3886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
        <p:nvSpPr>
          <p:cNvPr id="87044" name="Rectangle 4"/>
          <p:cNvSpPr>
            <a:spLocks noChangeArrowheads="1"/>
          </p:cNvSpPr>
          <p:nvPr/>
        </p:nvSpPr>
        <p:spPr bwMode="auto">
          <a:xfrm>
            <a:off x="304800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pic>
        <p:nvPicPr>
          <p:cNvPr id="87045" name="Picture 5" descr="fish_clus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30480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6"/>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aphicFrame>
        <p:nvGraphicFramePr>
          <p:cNvPr id="87047" name="Object 0"/>
          <p:cNvGraphicFramePr>
            <a:graphicFrameLocks noChangeAspect="1"/>
          </p:cNvGraphicFramePr>
          <p:nvPr/>
        </p:nvGraphicFramePr>
        <p:xfrm>
          <a:off x="4648200" y="1066800"/>
          <a:ext cx="3363913" cy="2287588"/>
        </p:xfrm>
        <a:graphic>
          <a:graphicData uri="http://schemas.openxmlformats.org/presentationml/2006/ole">
            <mc:AlternateContent xmlns:mc="http://schemas.openxmlformats.org/markup-compatibility/2006">
              <mc:Choice xmlns:v="urn:schemas-microsoft-com:vml" Requires="v">
                <p:oleObj r:id="rId3" imgW="4686706" imgH="3177815" progId="">
                  <p:embed/>
                </p:oleObj>
              </mc:Choice>
              <mc:Fallback>
                <p:oleObj r:id="rId3" imgW="4686706" imgH="3177815"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066800"/>
                        <a:ext cx="3363913" cy="228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48" name="Rectangle 8"/>
          <p:cNvSpPr>
            <a:spLocks noChangeArrowheads="1"/>
          </p:cNvSpPr>
          <p:nvPr/>
        </p:nvSpPr>
        <p:spPr bwMode="auto">
          <a:xfrm>
            <a:off x="4800600" y="33528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600" b="0">
                <a:latin typeface="Times New Roman" pitchFamily="18" charset="0"/>
                <a:cs typeface="Times New Roman" pitchFamily="18" charset="0"/>
              </a:rPr>
              <a:t>(MinPts=4, Eps=9.75).</a:t>
            </a:r>
            <a:r>
              <a:rPr lang="en-US" altLang="en-US" sz="900" b="0">
                <a:latin typeface="Times New Roman" pitchFamily="18" charset="0"/>
              </a:rPr>
              <a:t> </a:t>
            </a:r>
            <a:endParaRPr lang="en-US" altLang="en-US" sz="2400" b="0">
              <a:latin typeface="Times New Roman" pitchFamily="18" charset="0"/>
            </a:endParaRPr>
          </a:p>
        </p:txBody>
      </p:sp>
      <p:sp>
        <p:nvSpPr>
          <p:cNvPr id="87049" name="Rectangle 9"/>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aphicFrame>
        <p:nvGraphicFramePr>
          <p:cNvPr id="87050" name="Object 1"/>
          <p:cNvGraphicFramePr>
            <a:graphicFrameLocks noChangeAspect="1"/>
          </p:cNvGraphicFramePr>
          <p:nvPr/>
        </p:nvGraphicFramePr>
        <p:xfrm>
          <a:off x="4724400" y="3733800"/>
          <a:ext cx="3363913" cy="2286000"/>
        </p:xfrm>
        <a:graphic>
          <a:graphicData uri="http://schemas.openxmlformats.org/presentationml/2006/ole">
            <mc:AlternateContent xmlns:mc="http://schemas.openxmlformats.org/markup-compatibility/2006">
              <mc:Choice xmlns:v="urn:schemas-microsoft-com:vml" Requires="v">
                <p:oleObj r:id="rId5" imgW="4686706" imgH="3177815" progId="">
                  <p:embed/>
                </p:oleObj>
              </mc:Choice>
              <mc:Fallback>
                <p:oleObj r:id="rId5" imgW="4686706" imgH="3177815"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3733800"/>
                        <a:ext cx="3363913"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51" name="Rectangle 11"/>
          <p:cNvSpPr>
            <a:spLocks noChangeArrowheads="1"/>
          </p:cNvSpPr>
          <p:nvPr/>
        </p:nvSpPr>
        <p:spPr bwMode="auto">
          <a:xfrm>
            <a:off x="4724400" y="60198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600" b="0">
                <a:latin typeface="Times New Roman" pitchFamily="18" charset="0"/>
                <a:cs typeface="Times New Roman" pitchFamily="18" charset="0"/>
              </a:rPr>
              <a:t> (MinPts=4, Eps=9.92)</a:t>
            </a:r>
          </a:p>
        </p:txBody>
      </p:sp>
      <p:sp>
        <p:nvSpPr>
          <p:cNvPr id="1654796" name="Text Box 12"/>
          <p:cNvSpPr txBox="1">
            <a:spLocks noChangeArrowheads="1"/>
          </p:cNvSpPr>
          <p:nvPr/>
        </p:nvSpPr>
        <p:spPr bwMode="auto">
          <a:xfrm>
            <a:off x="304800" y="4572000"/>
            <a:ext cx="40386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buFontTx/>
              <a:buChar char="•"/>
            </a:pPr>
            <a:r>
              <a:rPr lang="en-US" altLang="en-US" sz="1800" dirty="0"/>
              <a:t> Varying densities</a:t>
            </a:r>
          </a:p>
          <a:p>
            <a:pPr>
              <a:spcBef>
                <a:spcPct val="50000"/>
              </a:spcBef>
              <a:buFontTx/>
              <a:buChar char="•"/>
            </a:pPr>
            <a:r>
              <a:rPr lang="en-US" altLang="en-US" sz="1800" dirty="0"/>
              <a:t> High-dimensional data </a:t>
            </a:r>
          </a:p>
        </p:txBody>
      </p:sp>
      <p:sp>
        <p:nvSpPr>
          <p:cNvPr id="13" name="Slide Number Placeholder 12"/>
          <p:cNvSpPr>
            <a:spLocks noGrp="1"/>
          </p:cNvSpPr>
          <p:nvPr>
            <p:ph type="sldNum" sz="quarter" idx="12"/>
          </p:nvPr>
        </p:nvSpPr>
        <p:spPr/>
        <p:txBody>
          <a:bodyPr/>
          <a:lstStyle/>
          <a:p>
            <a:pPr>
              <a:defRPr/>
            </a:pPr>
            <a:fld id="{D3D212DC-59E6-444E-AD7D-AB217D4E4668}" type="slidenum">
              <a:rPr lang="en-US" altLang="en-US" smtClean="0"/>
              <a:pPr>
                <a:defRPr/>
              </a:pPr>
              <a:t>30</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54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479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381000" y="152400"/>
            <a:ext cx="8280400" cy="552450"/>
          </a:xfrm>
        </p:spPr>
        <p:txBody>
          <a:bodyPr/>
          <a:lstStyle/>
          <a:p>
            <a:r>
              <a:rPr lang="en-US" altLang="en-US" sz="2800"/>
              <a:t>DBSCAN: Determining EPS and MinPts</a:t>
            </a:r>
          </a:p>
        </p:txBody>
      </p:sp>
      <p:sp>
        <p:nvSpPr>
          <p:cNvPr id="88067" name="Rectangle 3"/>
          <p:cNvSpPr>
            <a:spLocks noGrp="1" noChangeArrowheads="1"/>
          </p:cNvSpPr>
          <p:nvPr>
            <p:ph type="body" idx="1"/>
          </p:nvPr>
        </p:nvSpPr>
        <p:spPr>
          <a:xfrm>
            <a:off x="639763" y="1143000"/>
            <a:ext cx="8001000" cy="5181600"/>
          </a:xfrm>
          <a:noFill/>
        </p:spPr>
        <p:txBody>
          <a:bodyPr/>
          <a:lstStyle/>
          <a:p>
            <a:pPr marL="533400" indent="-533400">
              <a:lnSpc>
                <a:spcPct val="90000"/>
              </a:lnSpc>
              <a:spcBef>
                <a:spcPct val="20000"/>
              </a:spcBef>
            </a:pPr>
            <a:r>
              <a:rPr lang="en-US" altLang="en-US" sz="2400"/>
              <a:t>Idea is that for points in a cluster, their k</a:t>
            </a:r>
            <a:r>
              <a:rPr lang="en-US" altLang="en-US" sz="2400" baseline="30000"/>
              <a:t>th</a:t>
            </a:r>
            <a:r>
              <a:rPr lang="en-US" altLang="en-US" sz="2400"/>
              <a:t> nearest neighbors are at roughly the same distance</a:t>
            </a:r>
          </a:p>
          <a:p>
            <a:pPr marL="533400" indent="-533400">
              <a:lnSpc>
                <a:spcPct val="90000"/>
              </a:lnSpc>
              <a:spcBef>
                <a:spcPct val="20000"/>
              </a:spcBef>
            </a:pPr>
            <a:r>
              <a:rPr lang="en-US" altLang="en-US" sz="2400"/>
              <a:t>Noise points have the k</a:t>
            </a:r>
            <a:r>
              <a:rPr lang="en-US" altLang="en-US" sz="2400" baseline="30000"/>
              <a:t>th</a:t>
            </a:r>
            <a:r>
              <a:rPr lang="en-US" altLang="en-US" sz="2400"/>
              <a:t> nearest neighbor at farther distance</a:t>
            </a:r>
          </a:p>
          <a:p>
            <a:pPr marL="533400" indent="-533400">
              <a:lnSpc>
                <a:spcPct val="90000"/>
              </a:lnSpc>
              <a:spcBef>
                <a:spcPct val="20000"/>
              </a:spcBef>
            </a:pPr>
            <a:r>
              <a:rPr lang="en-US" altLang="en-US" sz="2400"/>
              <a:t>So, plot sorted distance of every point to its k</a:t>
            </a:r>
            <a:r>
              <a:rPr lang="en-US" altLang="en-US" sz="2400" baseline="30000"/>
              <a:t>th</a:t>
            </a:r>
            <a:r>
              <a:rPr lang="en-US" altLang="en-US" sz="2400"/>
              <a:t> nearest neighbor</a:t>
            </a:r>
            <a:endParaRPr lang="en-US" altLang="en-US"/>
          </a:p>
        </p:txBody>
      </p:sp>
      <p:pic>
        <p:nvPicPr>
          <p:cNvPr id="880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505200"/>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pPr>
              <a:defRPr/>
            </a:pPr>
            <a:fld id="{D3D212DC-59E6-444E-AD7D-AB217D4E4668}" type="slidenum">
              <a:rPr lang="en-US" altLang="en-US" smtClean="0"/>
              <a:pPr>
                <a:defRPr/>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type="body" idx="1"/>
          </p:nvPr>
        </p:nvSpPr>
        <p:spPr>
          <a:xfrm>
            <a:off x="381000" y="1524000"/>
            <a:ext cx="8066088" cy="4876800"/>
          </a:xfrm>
        </p:spPr>
        <p:txBody>
          <a:bodyPr lIns="92075" tIns="46038" rIns="92075" bIns="46038"/>
          <a:lstStyle/>
          <a:p>
            <a:pPr marL="533400" indent="-533400">
              <a:buFont typeface="Wingdings" pitchFamily="2" charset="2"/>
              <a:buAutoNum type="arabicPeriod"/>
            </a:pPr>
            <a:r>
              <a:rPr lang="en-US" dirty="0"/>
              <a:t>Define a set of grid-cells</a:t>
            </a:r>
          </a:p>
          <a:p>
            <a:pPr marL="533400" indent="-533400">
              <a:buFont typeface="Wingdings" pitchFamily="2" charset="2"/>
              <a:buAutoNum type="arabicPeriod"/>
            </a:pPr>
            <a:r>
              <a:rPr lang="en-US" dirty="0"/>
              <a:t>Assign objects to the appropriate grid cell and compute the density of each cell.</a:t>
            </a:r>
          </a:p>
          <a:p>
            <a:pPr marL="533400" indent="-533400">
              <a:buFont typeface="Wingdings" pitchFamily="2" charset="2"/>
              <a:buAutoNum type="arabicPeriod"/>
            </a:pPr>
            <a:r>
              <a:rPr lang="en-US" dirty="0"/>
              <a:t>Eliminate cells, whose density is below a certain threshold </a:t>
            </a:r>
            <a:r>
              <a:rPr lang="en-US" i="1" dirty="0">
                <a:latin typeface="Symbol" pitchFamily="18" charset="2"/>
              </a:rPr>
              <a:t>T</a:t>
            </a:r>
            <a:r>
              <a:rPr lang="en-US" dirty="0"/>
              <a:t>.</a:t>
            </a:r>
          </a:p>
          <a:p>
            <a:pPr marL="533400" indent="-533400">
              <a:buFont typeface="Wingdings" pitchFamily="2" charset="2"/>
              <a:buAutoNum type="arabicPeriod"/>
            </a:pPr>
            <a:r>
              <a:rPr lang="en-US" dirty="0"/>
              <a:t>Form clusters from contiguous (adjacent) groups of dense cells (usually minimizing a given objective function)</a:t>
            </a:r>
          </a:p>
        </p:txBody>
      </p:sp>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Grid-Based Clustering Method </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59230D6F-1119-42A3-A893-474A46EA159F}" type="slidenum">
              <a:rPr lang="en-US" sz="1200"/>
              <a:pPr algn="r"/>
              <a:t>33</a:t>
            </a:fld>
            <a:endParaRPr lang="en-US" sz="1200"/>
          </a:p>
        </p:txBody>
      </p:sp>
      <p:sp>
        <p:nvSpPr>
          <p:cNvPr id="67587" name="Text Box 2"/>
          <p:cNvSpPr txBox="1">
            <a:spLocks noChangeArrowheads="1"/>
          </p:cNvSpPr>
          <p:nvPr/>
        </p:nvSpPr>
        <p:spPr bwMode="auto">
          <a:xfrm rot="-5400000">
            <a:off x="19844" y="369094"/>
            <a:ext cx="1058862" cy="641350"/>
          </a:xfrm>
          <a:prstGeom prst="rect">
            <a:avLst/>
          </a:prstGeom>
          <a:noFill/>
          <a:ln w="9525">
            <a:noFill/>
            <a:miter lim="800000"/>
            <a:headEnd/>
            <a:tailEnd/>
          </a:ln>
        </p:spPr>
        <p:txBody>
          <a:bodyPr>
            <a:spAutoFit/>
          </a:bodyPr>
          <a:lstStyle/>
          <a:p>
            <a:pPr algn="l" eaLnBrk="0" hangingPunct="0">
              <a:spcBef>
                <a:spcPct val="50000"/>
              </a:spcBef>
            </a:pPr>
            <a:r>
              <a:rPr lang="en-US" sz="1800">
                <a:latin typeface="Times New Roman" pitchFamily="18" charset="0"/>
              </a:rPr>
              <a:t>Salary (10,000)</a:t>
            </a:r>
            <a:endParaRPr lang="en-US">
              <a:latin typeface="Times New Roman" pitchFamily="18" charset="0"/>
            </a:endParaRPr>
          </a:p>
        </p:txBody>
      </p:sp>
      <p:sp>
        <p:nvSpPr>
          <p:cNvPr id="67588" name="Rectangle 3" descr="25%"/>
          <p:cNvSpPr>
            <a:spLocks noChangeArrowheads="1"/>
          </p:cNvSpPr>
          <p:nvPr/>
        </p:nvSpPr>
        <p:spPr bwMode="auto">
          <a:xfrm>
            <a:off x="2133600" y="1066800"/>
            <a:ext cx="914400" cy="1204913"/>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589" name="Rectangle 4" descr="25%"/>
          <p:cNvSpPr>
            <a:spLocks noChangeArrowheads="1"/>
          </p:cNvSpPr>
          <p:nvPr/>
        </p:nvSpPr>
        <p:spPr bwMode="auto">
          <a:xfrm>
            <a:off x="1524000" y="762000"/>
            <a:ext cx="1219200" cy="1219200"/>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590" name="Rectangle 5"/>
          <p:cNvSpPr>
            <a:spLocks noChangeArrowheads="1"/>
          </p:cNvSpPr>
          <p:nvPr/>
        </p:nvSpPr>
        <p:spPr bwMode="auto">
          <a:xfrm>
            <a:off x="1219200" y="381000"/>
            <a:ext cx="2438400" cy="2514600"/>
          </a:xfrm>
          <a:prstGeom prst="rect">
            <a:avLst/>
          </a:prstGeom>
          <a:noFill/>
          <a:ln w="9525">
            <a:solidFill>
              <a:schemeClr val="tx1"/>
            </a:solidFill>
            <a:miter lim="800000"/>
            <a:headEnd/>
            <a:tailEnd/>
          </a:ln>
        </p:spPr>
        <p:txBody>
          <a:bodyPr anchor="ctr">
            <a:spAutoFit/>
          </a:bodyPr>
          <a:lstStyle/>
          <a:p>
            <a:endParaRPr lang="en-US"/>
          </a:p>
        </p:txBody>
      </p:sp>
      <p:sp>
        <p:nvSpPr>
          <p:cNvPr id="67591" name="Line 6"/>
          <p:cNvSpPr>
            <a:spLocks noChangeShapeType="1"/>
          </p:cNvSpPr>
          <p:nvPr/>
        </p:nvSpPr>
        <p:spPr bwMode="auto">
          <a:xfrm>
            <a:off x="24384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2" name="Line 7"/>
          <p:cNvSpPr>
            <a:spLocks noChangeShapeType="1"/>
          </p:cNvSpPr>
          <p:nvPr/>
        </p:nvSpPr>
        <p:spPr bwMode="auto">
          <a:xfrm>
            <a:off x="30480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3" name="Line 8"/>
          <p:cNvSpPr>
            <a:spLocks noChangeShapeType="1"/>
          </p:cNvSpPr>
          <p:nvPr/>
        </p:nvSpPr>
        <p:spPr bwMode="auto">
          <a:xfrm>
            <a:off x="18288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4" name="Line 9"/>
          <p:cNvSpPr>
            <a:spLocks noChangeShapeType="1"/>
          </p:cNvSpPr>
          <p:nvPr/>
        </p:nvSpPr>
        <p:spPr bwMode="auto">
          <a:xfrm>
            <a:off x="33528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5" name="Line 10"/>
          <p:cNvSpPr>
            <a:spLocks noChangeShapeType="1"/>
          </p:cNvSpPr>
          <p:nvPr/>
        </p:nvSpPr>
        <p:spPr bwMode="auto">
          <a:xfrm>
            <a:off x="27432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6" name="Line 11"/>
          <p:cNvSpPr>
            <a:spLocks noChangeShapeType="1"/>
          </p:cNvSpPr>
          <p:nvPr/>
        </p:nvSpPr>
        <p:spPr bwMode="auto">
          <a:xfrm>
            <a:off x="21336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7" name="Line 12"/>
          <p:cNvSpPr>
            <a:spLocks noChangeShapeType="1"/>
          </p:cNvSpPr>
          <p:nvPr/>
        </p:nvSpPr>
        <p:spPr bwMode="auto">
          <a:xfrm>
            <a:off x="1524000" y="381000"/>
            <a:ext cx="0" cy="2514600"/>
          </a:xfrm>
          <a:prstGeom prst="line">
            <a:avLst/>
          </a:prstGeom>
          <a:noFill/>
          <a:ln w="9525">
            <a:solidFill>
              <a:schemeClr val="tx1"/>
            </a:solidFill>
            <a:round/>
            <a:headEnd/>
            <a:tailEnd/>
          </a:ln>
        </p:spPr>
        <p:txBody>
          <a:bodyPr anchor="ctr">
            <a:spAutoFit/>
          </a:bodyPr>
          <a:lstStyle/>
          <a:p>
            <a:endParaRPr lang="en-US"/>
          </a:p>
        </p:txBody>
      </p:sp>
      <p:sp>
        <p:nvSpPr>
          <p:cNvPr id="67598" name="Line 13"/>
          <p:cNvSpPr>
            <a:spLocks noChangeShapeType="1"/>
          </p:cNvSpPr>
          <p:nvPr/>
        </p:nvSpPr>
        <p:spPr bwMode="auto">
          <a:xfrm rot="16200000" flipH="1">
            <a:off x="2439988" y="458787"/>
            <a:ext cx="0" cy="2435225"/>
          </a:xfrm>
          <a:prstGeom prst="line">
            <a:avLst/>
          </a:prstGeom>
          <a:noFill/>
          <a:ln w="9525">
            <a:solidFill>
              <a:schemeClr val="tx1"/>
            </a:solidFill>
            <a:round/>
            <a:headEnd/>
            <a:tailEnd/>
          </a:ln>
        </p:spPr>
        <p:txBody>
          <a:bodyPr anchor="ctr">
            <a:spAutoFit/>
          </a:bodyPr>
          <a:lstStyle/>
          <a:p>
            <a:endParaRPr lang="en-US"/>
          </a:p>
        </p:txBody>
      </p:sp>
      <p:sp>
        <p:nvSpPr>
          <p:cNvPr id="67599" name="Line 14"/>
          <p:cNvSpPr>
            <a:spLocks noChangeShapeType="1"/>
          </p:cNvSpPr>
          <p:nvPr/>
        </p:nvSpPr>
        <p:spPr bwMode="auto">
          <a:xfrm rot="16200000" flipH="1">
            <a:off x="2436813" y="1068387"/>
            <a:ext cx="0" cy="2435225"/>
          </a:xfrm>
          <a:prstGeom prst="line">
            <a:avLst/>
          </a:prstGeom>
          <a:noFill/>
          <a:ln w="9525">
            <a:solidFill>
              <a:schemeClr val="tx1"/>
            </a:solidFill>
            <a:round/>
            <a:headEnd/>
            <a:tailEnd/>
          </a:ln>
        </p:spPr>
        <p:txBody>
          <a:bodyPr anchor="ctr">
            <a:spAutoFit/>
          </a:bodyPr>
          <a:lstStyle/>
          <a:p>
            <a:endParaRPr lang="en-US"/>
          </a:p>
        </p:txBody>
      </p:sp>
      <p:sp>
        <p:nvSpPr>
          <p:cNvPr id="67600" name="Line 15"/>
          <p:cNvSpPr>
            <a:spLocks noChangeShapeType="1"/>
          </p:cNvSpPr>
          <p:nvPr/>
        </p:nvSpPr>
        <p:spPr bwMode="auto">
          <a:xfrm rot="16200000" flipH="1">
            <a:off x="2436813" y="153987"/>
            <a:ext cx="0" cy="2435225"/>
          </a:xfrm>
          <a:prstGeom prst="line">
            <a:avLst/>
          </a:prstGeom>
          <a:noFill/>
          <a:ln w="9525">
            <a:solidFill>
              <a:schemeClr val="tx1"/>
            </a:solidFill>
            <a:round/>
            <a:headEnd/>
            <a:tailEnd/>
          </a:ln>
        </p:spPr>
        <p:txBody>
          <a:bodyPr anchor="ctr">
            <a:spAutoFit/>
          </a:bodyPr>
          <a:lstStyle/>
          <a:p>
            <a:endParaRPr lang="en-US"/>
          </a:p>
        </p:txBody>
      </p:sp>
      <p:sp>
        <p:nvSpPr>
          <p:cNvPr id="67601" name="Line 16"/>
          <p:cNvSpPr>
            <a:spLocks noChangeShapeType="1"/>
          </p:cNvSpPr>
          <p:nvPr/>
        </p:nvSpPr>
        <p:spPr bwMode="auto">
          <a:xfrm rot="16200000" flipH="1">
            <a:off x="2436813" y="-455613"/>
            <a:ext cx="0" cy="2435225"/>
          </a:xfrm>
          <a:prstGeom prst="line">
            <a:avLst/>
          </a:prstGeom>
          <a:noFill/>
          <a:ln w="9525">
            <a:solidFill>
              <a:schemeClr val="tx1"/>
            </a:solidFill>
            <a:round/>
            <a:headEnd/>
            <a:tailEnd/>
          </a:ln>
        </p:spPr>
        <p:txBody>
          <a:bodyPr anchor="ctr">
            <a:spAutoFit/>
          </a:bodyPr>
          <a:lstStyle/>
          <a:p>
            <a:endParaRPr lang="en-US"/>
          </a:p>
        </p:txBody>
      </p:sp>
      <p:sp>
        <p:nvSpPr>
          <p:cNvPr id="67602" name="Line 17"/>
          <p:cNvSpPr>
            <a:spLocks noChangeShapeType="1"/>
          </p:cNvSpPr>
          <p:nvPr/>
        </p:nvSpPr>
        <p:spPr bwMode="auto">
          <a:xfrm rot="16200000" flipH="1">
            <a:off x="2436813" y="-150813"/>
            <a:ext cx="0" cy="2435225"/>
          </a:xfrm>
          <a:prstGeom prst="line">
            <a:avLst/>
          </a:prstGeom>
          <a:noFill/>
          <a:ln w="9525">
            <a:solidFill>
              <a:schemeClr val="tx1"/>
            </a:solidFill>
            <a:round/>
            <a:headEnd/>
            <a:tailEnd/>
          </a:ln>
        </p:spPr>
        <p:txBody>
          <a:bodyPr anchor="ctr">
            <a:spAutoFit/>
          </a:bodyPr>
          <a:lstStyle/>
          <a:p>
            <a:endParaRPr lang="en-US"/>
          </a:p>
        </p:txBody>
      </p:sp>
      <p:sp>
        <p:nvSpPr>
          <p:cNvPr id="67603" name="Line 18"/>
          <p:cNvSpPr>
            <a:spLocks noChangeShapeType="1"/>
          </p:cNvSpPr>
          <p:nvPr/>
        </p:nvSpPr>
        <p:spPr bwMode="auto">
          <a:xfrm rot="16200000" flipH="1">
            <a:off x="2436813" y="763587"/>
            <a:ext cx="0" cy="2435225"/>
          </a:xfrm>
          <a:prstGeom prst="line">
            <a:avLst/>
          </a:prstGeom>
          <a:noFill/>
          <a:ln w="9525">
            <a:solidFill>
              <a:schemeClr val="tx1"/>
            </a:solidFill>
            <a:round/>
            <a:headEnd/>
            <a:tailEnd/>
          </a:ln>
        </p:spPr>
        <p:txBody>
          <a:bodyPr anchor="ctr">
            <a:spAutoFit/>
          </a:bodyPr>
          <a:lstStyle/>
          <a:p>
            <a:endParaRPr lang="en-US"/>
          </a:p>
        </p:txBody>
      </p:sp>
      <p:sp>
        <p:nvSpPr>
          <p:cNvPr id="67604" name="Line 19"/>
          <p:cNvSpPr>
            <a:spLocks noChangeShapeType="1"/>
          </p:cNvSpPr>
          <p:nvPr/>
        </p:nvSpPr>
        <p:spPr bwMode="auto">
          <a:xfrm rot="16200000" flipH="1">
            <a:off x="2436813" y="1373187"/>
            <a:ext cx="0" cy="2435225"/>
          </a:xfrm>
          <a:prstGeom prst="line">
            <a:avLst/>
          </a:prstGeom>
          <a:noFill/>
          <a:ln w="9525">
            <a:solidFill>
              <a:schemeClr val="tx1"/>
            </a:solidFill>
            <a:round/>
            <a:headEnd/>
            <a:tailEnd/>
          </a:ln>
        </p:spPr>
        <p:txBody>
          <a:bodyPr anchor="ctr">
            <a:spAutoFit/>
          </a:bodyPr>
          <a:lstStyle/>
          <a:p>
            <a:endParaRPr lang="en-US"/>
          </a:p>
        </p:txBody>
      </p:sp>
      <p:sp>
        <p:nvSpPr>
          <p:cNvPr id="67605" name="Text Box 20"/>
          <p:cNvSpPr txBox="1">
            <a:spLocks noChangeArrowheads="1"/>
          </p:cNvSpPr>
          <p:nvPr/>
        </p:nvSpPr>
        <p:spPr bwMode="auto">
          <a:xfrm>
            <a:off x="990600" y="2895600"/>
            <a:ext cx="4127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20</a:t>
            </a:r>
            <a:endParaRPr lang="en-US">
              <a:latin typeface="Times New Roman" pitchFamily="18" charset="0"/>
            </a:endParaRPr>
          </a:p>
        </p:txBody>
      </p:sp>
      <p:sp>
        <p:nvSpPr>
          <p:cNvPr id="67606" name="Text Box 21"/>
          <p:cNvSpPr txBox="1">
            <a:spLocks noChangeArrowheads="1"/>
          </p:cNvSpPr>
          <p:nvPr/>
        </p:nvSpPr>
        <p:spPr bwMode="auto">
          <a:xfrm>
            <a:off x="1644650" y="2895600"/>
            <a:ext cx="4127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30</a:t>
            </a:r>
            <a:endParaRPr lang="en-US">
              <a:latin typeface="Times New Roman" pitchFamily="18" charset="0"/>
            </a:endParaRPr>
          </a:p>
        </p:txBody>
      </p:sp>
      <p:sp>
        <p:nvSpPr>
          <p:cNvPr id="67607" name="Text Box 22"/>
          <p:cNvSpPr txBox="1">
            <a:spLocks noChangeArrowheads="1"/>
          </p:cNvSpPr>
          <p:nvPr/>
        </p:nvSpPr>
        <p:spPr bwMode="auto">
          <a:xfrm>
            <a:off x="2254250" y="2895600"/>
            <a:ext cx="4127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40</a:t>
            </a:r>
            <a:endParaRPr lang="en-US">
              <a:latin typeface="Times New Roman" pitchFamily="18" charset="0"/>
            </a:endParaRPr>
          </a:p>
        </p:txBody>
      </p:sp>
      <p:sp>
        <p:nvSpPr>
          <p:cNvPr id="67608" name="Text Box 23"/>
          <p:cNvSpPr txBox="1">
            <a:spLocks noChangeArrowheads="1"/>
          </p:cNvSpPr>
          <p:nvPr/>
        </p:nvSpPr>
        <p:spPr bwMode="auto">
          <a:xfrm>
            <a:off x="2863850" y="2895600"/>
            <a:ext cx="4127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50</a:t>
            </a:r>
            <a:endParaRPr lang="en-US">
              <a:latin typeface="Times New Roman" pitchFamily="18" charset="0"/>
            </a:endParaRPr>
          </a:p>
        </p:txBody>
      </p:sp>
      <p:sp>
        <p:nvSpPr>
          <p:cNvPr id="67609" name="Text Box 24"/>
          <p:cNvSpPr txBox="1">
            <a:spLocks noChangeArrowheads="1"/>
          </p:cNvSpPr>
          <p:nvPr/>
        </p:nvSpPr>
        <p:spPr bwMode="auto">
          <a:xfrm>
            <a:off x="3473450" y="2895600"/>
            <a:ext cx="4127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60</a:t>
            </a:r>
            <a:endParaRPr lang="en-US">
              <a:latin typeface="Times New Roman" pitchFamily="18" charset="0"/>
            </a:endParaRPr>
          </a:p>
        </p:txBody>
      </p:sp>
      <p:sp>
        <p:nvSpPr>
          <p:cNvPr id="67610" name="Text Box 25"/>
          <p:cNvSpPr txBox="1">
            <a:spLocks noChangeArrowheads="1"/>
          </p:cNvSpPr>
          <p:nvPr/>
        </p:nvSpPr>
        <p:spPr bwMode="auto">
          <a:xfrm>
            <a:off x="3689350" y="2681288"/>
            <a:ext cx="501650" cy="366712"/>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age</a:t>
            </a:r>
            <a:endParaRPr lang="en-US">
              <a:latin typeface="Times New Roman" pitchFamily="18" charset="0"/>
            </a:endParaRPr>
          </a:p>
        </p:txBody>
      </p:sp>
      <p:sp>
        <p:nvSpPr>
          <p:cNvPr id="67611" name="Text Box 26"/>
          <p:cNvSpPr txBox="1">
            <a:spLocks noChangeArrowheads="1"/>
          </p:cNvSpPr>
          <p:nvPr/>
        </p:nvSpPr>
        <p:spPr bwMode="auto">
          <a:xfrm rot="-5400000">
            <a:off x="872332" y="1185068"/>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5</a:t>
            </a:r>
            <a:endParaRPr lang="en-US">
              <a:latin typeface="Times New Roman" pitchFamily="18" charset="0"/>
            </a:endParaRPr>
          </a:p>
        </p:txBody>
      </p:sp>
      <p:sp>
        <p:nvSpPr>
          <p:cNvPr id="67612" name="Text Box 27"/>
          <p:cNvSpPr txBox="1">
            <a:spLocks noChangeArrowheads="1"/>
          </p:cNvSpPr>
          <p:nvPr/>
        </p:nvSpPr>
        <p:spPr bwMode="auto">
          <a:xfrm rot="-5400000">
            <a:off x="872332" y="1489868"/>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4</a:t>
            </a:r>
            <a:endParaRPr lang="en-US">
              <a:latin typeface="Times New Roman" pitchFamily="18" charset="0"/>
            </a:endParaRPr>
          </a:p>
        </p:txBody>
      </p:sp>
      <p:sp>
        <p:nvSpPr>
          <p:cNvPr id="67613" name="Text Box 28"/>
          <p:cNvSpPr txBox="1">
            <a:spLocks noChangeArrowheads="1"/>
          </p:cNvSpPr>
          <p:nvPr/>
        </p:nvSpPr>
        <p:spPr bwMode="auto">
          <a:xfrm rot="-5400000">
            <a:off x="872332" y="1801018"/>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3</a:t>
            </a:r>
            <a:endParaRPr lang="en-US">
              <a:latin typeface="Times New Roman" pitchFamily="18" charset="0"/>
            </a:endParaRPr>
          </a:p>
        </p:txBody>
      </p:sp>
      <p:sp>
        <p:nvSpPr>
          <p:cNvPr id="67614" name="Text Box 29"/>
          <p:cNvSpPr txBox="1">
            <a:spLocks noChangeArrowheads="1"/>
          </p:cNvSpPr>
          <p:nvPr/>
        </p:nvSpPr>
        <p:spPr bwMode="auto">
          <a:xfrm rot="-5400000">
            <a:off x="872332" y="2404268"/>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1</a:t>
            </a:r>
            <a:endParaRPr lang="en-US">
              <a:latin typeface="Times New Roman" pitchFamily="18" charset="0"/>
            </a:endParaRPr>
          </a:p>
        </p:txBody>
      </p:sp>
      <p:sp>
        <p:nvSpPr>
          <p:cNvPr id="67615" name="Text Box 30"/>
          <p:cNvSpPr txBox="1">
            <a:spLocks noChangeArrowheads="1"/>
          </p:cNvSpPr>
          <p:nvPr/>
        </p:nvSpPr>
        <p:spPr bwMode="auto">
          <a:xfrm rot="-5400000">
            <a:off x="872332" y="2105818"/>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2</a:t>
            </a:r>
            <a:endParaRPr lang="en-US">
              <a:latin typeface="Times New Roman" pitchFamily="18" charset="0"/>
            </a:endParaRPr>
          </a:p>
        </p:txBody>
      </p:sp>
      <p:sp>
        <p:nvSpPr>
          <p:cNvPr id="67616" name="Text Box 31"/>
          <p:cNvSpPr txBox="1">
            <a:spLocks noChangeArrowheads="1"/>
          </p:cNvSpPr>
          <p:nvPr/>
        </p:nvSpPr>
        <p:spPr bwMode="auto">
          <a:xfrm rot="-5400000">
            <a:off x="886619" y="878682"/>
            <a:ext cx="298450" cy="366712"/>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6</a:t>
            </a:r>
            <a:endParaRPr lang="en-US">
              <a:latin typeface="Times New Roman" pitchFamily="18" charset="0"/>
            </a:endParaRPr>
          </a:p>
        </p:txBody>
      </p:sp>
      <p:sp>
        <p:nvSpPr>
          <p:cNvPr id="67617" name="Text Box 32"/>
          <p:cNvSpPr txBox="1">
            <a:spLocks noChangeArrowheads="1"/>
          </p:cNvSpPr>
          <p:nvPr/>
        </p:nvSpPr>
        <p:spPr bwMode="auto">
          <a:xfrm rot="-5400000">
            <a:off x="872332" y="573881"/>
            <a:ext cx="298450" cy="366713"/>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7</a:t>
            </a:r>
            <a:endParaRPr lang="en-US">
              <a:latin typeface="Times New Roman" pitchFamily="18" charset="0"/>
            </a:endParaRPr>
          </a:p>
        </p:txBody>
      </p:sp>
      <p:sp>
        <p:nvSpPr>
          <p:cNvPr id="67618" name="Text Box 33"/>
          <p:cNvSpPr txBox="1">
            <a:spLocks noChangeArrowheads="1"/>
          </p:cNvSpPr>
          <p:nvPr/>
        </p:nvSpPr>
        <p:spPr bwMode="auto">
          <a:xfrm rot="-5400000">
            <a:off x="886619" y="2699544"/>
            <a:ext cx="298450" cy="366712"/>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0</a:t>
            </a:r>
            <a:endParaRPr lang="en-US">
              <a:latin typeface="Times New Roman" pitchFamily="18" charset="0"/>
            </a:endParaRPr>
          </a:p>
        </p:txBody>
      </p:sp>
      <p:grpSp>
        <p:nvGrpSpPr>
          <p:cNvPr id="2" name="Group 34"/>
          <p:cNvGrpSpPr>
            <a:grpSpLocks/>
          </p:cNvGrpSpPr>
          <p:nvPr/>
        </p:nvGrpSpPr>
        <p:grpSpPr bwMode="auto">
          <a:xfrm>
            <a:off x="4648200" y="160338"/>
            <a:ext cx="3921125" cy="3101975"/>
            <a:chOff x="2928" y="101"/>
            <a:chExt cx="2470" cy="1954"/>
          </a:xfrm>
        </p:grpSpPr>
        <p:sp>
          <p:nvSpPr>
            <p:cNvPr id="67709" name="Rectangle 35" descr="25%"/>
            <p:cNvSpPr>
              <a:spLocks noChangeArrowheads="1"/>
            </p:cNvSpPr>
            <p:nvPr/>
          </p:nvSpPr>
          <p:spPr bwMode="auto">
            <a:xfrm>
              <a:off x="3720" y="1248"/>
              <a:ext cx="382" cy="382"/>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710" name="Rectangle 36" descr="25%"/>
            <p:cNvSpPr>
              <a:spLocks noChangeArrowheads="1"/>
            </p:cNvSpPr>
            <p:nvPr/>
          </p:nvSpPr>
          <p:spPr bwMode="auto">
            <a:xfrm>
              <a:off x="3910" y="1056"/>
              <a:ext cx="384" cy="574"/>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711" name="Rectangle 37" descr="25%"/>
            <p:cNvSpPr>
              <a:spLocks noChangeArrowheads="1"/>
            </p:cNvSpPr>
            <p:nvPr/>
          </p:nvSpPr>
          <p:spPr bwMode="auto">
            <a:xfrm>
              <a:off x="4102" y="866"/>
              <a:ext cx="384" cy="574"/>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712" name="Rectangle 38" descr="25%"/>
            <p:cNvSpPr>
              <a:spLocks noChangeArrowheads="1"/>
            </p:cNvSpPr>
            <p:nvPr/>
          </p:nvSpPr>
          <p:spPr bwMode="auto">
            <a:xfrm>
              <a:off x="4294" y="862"/>
              <a:ext cx="384" cy="574"/>
            </a:xfrm>
            <a:prstGeom prst="rect">
              <a:avLst/>
            </a:prstGeom>
            <a:pattFill prst="pct25">
              <a:fgClr>
                <a:schemeClr val="tx2"/>
              </a:fgClr>
              <a:bgClr>
                <a:srgbClr val="FFFFFF"/>
              </a:bgClr>
            </a:pattFill>
            <a:ln w="9525">
              <a:solidFill>
                <a:schemeClr val="tx1"/>
              </a:solidFill>
              <a:miter lim="800000"/>
              <a:headEnd/>
              <a:tailEnd/>
            </a:ln>
          </p:spPr>
          <p:txBody>
            <a:bodyPr anchor="ctr">
              <a:spAutoFit/>
            </a:bodyPr>
            <a:lstStyle/>
            <a:p>
              <a:endParaRPr lang="en-US"/>
            </a:p>
          </p:txBody>
        </p:sp>
        <p:sp>
          <p:nvSpPr>
            <p:cNvPr id="67713" name="Rectangle 39"/>
            <p:cNvSpPr>
              <a:spLocks noChangeArrowheads="1"/>
            </p:cNvSpPr>
            <p:nvPr/>
          </p:nvSpPr>
          <p:spPr bwMode="auto">
            <a:xfrm>
              <a:off x="3526" y="240"/>
              <a:ext cx="1536" cy="1584"/>
            </a:xfrm>
            <a:prstGeom prst="rect">
              <a:avLst/>
            </a:prstGeom>
            <a:noFill/>
            <a:ln w="9525">
              <a:solidFill>
                <a:schemeClr val="tx1"/>
              </a:solidFill>
              <a:miter lim="800000"/>
              <a:headEnd/>
              <a:tailEnd/>
            </a:ln>
          </p:spPr>
          <p:txBody>
            <a:bodyPr anchor="ctr">
              <a:spAutoFit/>
            </a:bodyPr>
            <a:lstStyle/>
            <a:p>
              <a:endParaRPr lang="en-US"/>
            </a:p>
          </p:txBody>
        </p:sp>
        <p:sp>
          <p:nvSpPr>
            <p:cNvPr id="67714" name="Line 40"/>
            <p:cNvSpPr>
              <a:spLocks noChangeShapeType="1"/>
            </p:cNvSpPr>
            <p:nvPr/>
          </p:nvSpPr>
          <p:spPr bwMode="auto">
            <a:xfrm>
              <a:off x="4294" y="240"/>
              <a:ext cx="0" cy="1584"/>
            </a:xfrm>
            <a:prstGeom prst="line">
              <a:avLst/>
            </a:prstGeom>
            <a:noFill/>
            <a:ln w="9525">
              <a:solidFill>
                <a:schemeClr val="tx1"/>
              </a:solidFill>
              <a:round/>
              <a:headEnd/>
              <a:tailEnd/>
            </a:ln>
          </p:spPr>
          <p:txBody>
            <a:bodyPr anchor="ctr">
              <a:spAutoFit/>
            </a:bodyPr>
            <a:lstStyle/>
            <a:p>
              <a:endParaRPr lang="en-US"/>
            </a:p>
          </p:txBody>
        </p:sp>
        <p:sp>
          <p:nvSpPr>
            <p:cNvPr id="67715" name="Line 41"/>
            <p:cNvSpPr>
              <a:spLocks noChangeShapeType="1"/>
            </p:cNvSpPr>
            <p:nvPr/>
          </p:nvSpPr>
          <p:spPr bwMode="auto">
            <a:xfrm>
              <a:off x="4678" y="240"/>
              <a:ext cx="0" cy="1584"/>
            </a:xfrm>
            <a:prstGeom prst="line">
              <a:avLst/>
            </a:prstGeom>
            <a:noFill/>
            <a:ln w="9525">
              <a:solidFill>
                <a:schemeClr val="tx1"/>
              </a:solidFill>
              <a:round/>
              <a:headEnd/>
              <a:tailEnd/>
            </a:ln>
          </p:spPr>
          <p:txBody>
            <a:bodyPr anchor="ctr">
              <a:spAutoFit/>
            </a:bodyPr>
            <a:lstStyle/>
            <a:p>
              <a:endParaRPr lang="en-US"/>
            </a:p>
          </p:txBody>
        </p:sp>
        <p:sp>
          <p:nvSpPr>
            <p:cNvPr id="67716" name="Line 42"/>
            <p:cNvSpPr>
              <a:spLocks noChangeShapeType="1"/>
            </p:cNvSpPr>
            <p:nvPr/>
          </p:nvSpPr>
          <p:spPr bwMode="auto">
            <a:xfrm>
              <a:off x="3910" y="240"/>
              <a:ext cx="0" cy="1584"/>
            </a:xfrm>
            <a:prstGeom prst="line">
              <a:avLst/>
            </a:prstGeom>
            <a:noFill/>
            <a:ln w="9525">
              <a:solidFill>
                <a:schemeClr val="tx1"/>
              </a:solidFill>
              <a:round/>
              <a:headEnd/>
              <a:tailEnd/>
            </a:ln>
          </p:spPr>
          <p:txBody>
            <a:bodyPr anchor="ctr">
              <a:spAutoFit/>
            </a:bodyPr>
            <a:lstStyle/>
            <a:p>
              <a:endParaRPr lang="en-US"/>
            </a:p>
          </p:txBody>
        </p:sp>
        <p:sp>
          <p:nvSpPr>
            <p:cNvPr id="67717" name="Line 43"/>
            <p:cNvSpPr>
              <a:spLocks noChangeShapeType="1"/>
            </p:cNvSpPr>
            <p:nvPr/>
          </p:nvSpPr>
          <p:spPr bwMode="auto">
            <a:xfrm>
              <a:off x="4870" y="240"/>
              <a:ext cx="0" cy="1584"/>
            </a:xfrm>
            <a:prstGeom prst="line">
              <a:avLst/>
            </a:prstGeom>
            <a:noFill/>
            <a:ln w="9525">
              <a:solidFill>
                <a:schemeClr val="tx1"/>
              </a:solidFill>
              <a:round/>
              <a:headEnd/>
              <a:tailEnd/>
            </a:ln>
          </p:spPr>
          <p:txBody>
            <a:bodyPr anchor="ctr">
              <a:spAutoFit/>
            </a:bodyPr>
            <a:lstStyle/>
            <a:p>
              <a:endParaRPr lang="en-US"/>
            </a:p>
          </p:txBody>
        </p:sp>
        <p:sp>
          <p:nvSpPr>
            <p:cNvPr id="67718" name="Line 44"/>
            <p:cNvSpPr>
              <a:spLocks noChangeShapeType="1"/>
            </p:cNvSpPr>
            <p:nvPr/>
          </p:nvSpPr>
          <p:spPr bwMode="auto">
            <a:xfrm>
              <a:off x="4486" y="240"/>
              <a:ext cx="0" cy="1584"/>
            </a:xfrm>
            <a:prstGeom prst="line">
              <a:avLst/>
            </a:prstGeom>
            <a:noFill/>
            <a:ln w="9525">
              <a:solidFill>
                <a:schemeClr val="tx1"/>
              </a:solidFill>
              <a:round/>
              <a:headEnd/>
              <a:tailEnd/>
            </a:ln>
          </p:spPr>
          <p:txBody>
            <a:bodyPr anchor="ctr">
              <a:spAutoFit/>
            </a:bodyPr>
            <a:lstStyle/>
            <a:p>
              <a:endParaRPr lang="en-US"/>
            </a:p>
          </p:txBody>
        </p:sp>
        <p:sp>
          <p:nvSpPr>
            <p:cNvPr id="67719" name="Line 45"/>
            <p:cNvSpPr>
              <a:spLocks noChangeShapeType="1"/>
            </p:cNvSpPr>
            <p:nvPr/>
          </p:nvSpPr>
          <p:spPr bwMode="auto">
            <a:xfrm>
              <a:off x="4102" y="240"/>
              <a:ext cx="0" cy="1584"/>
            </a:xfrm>
            <a:prstGeom prst="line">
              <a:avLst/>
            </a:prstGeom>
            <a:noFill/>
            <a:ln w="9525">
              <a:solidFill>
                <a:schemeClr val="tx1"/>
              </a:solidFill>
              <a:round/>
              <a:headEnd/>
              <a:tailEnd/>
            </a:ln>
          </p:spPr>
          <p:txBody>
            <a:bodyPr anchor="ctr">
              <a:spAutoFit/>
            </a:bodyPr>
            <a:lstStyle/>
            <a:p>
              <a:endParaRPr lang="en-US"/>
            </a:p>
          </p:txBody>
        </p:sp>
        <p:sp>
          <p:nvSpPr>
            <p:cNvPr id="67720" name="Line 46"/>
            <p:cNvSpPr>
              <a:spLocks noChangeShapeType="1"/>
            </p:cNvSpPr>
            <p:nvPr/>
          </p:nvSpPr>
          <p:spPr bwMode="auto">
            <a:xfrm>
              <a:off x="3718" y="240"/>
              <a:ext cx="0" cy="1584"/>
            </a:xfrm>
            <a:prstGeom prst="line">
              <a:avLst/>
            </a:prstGeom>
            <a:noFill/>
            <a:ln w="9525">
              <a:solidFill>
                <a:schemeClr val="tx1"/>
              </a:solidFill>
              <a:round/>
              <a:headEnd/>
              <a:tailEnd/>
            </a:ln>
          </p:spPr>
          <p:txBody>
            <a:bodyPr anchor="ctr">
              <a:spAutoFit/>
            </a:bodyPr>
            <a:lstStyle/>
            <a:p>
              <a:endParaRPr lang="en-US"/>
            </a:p>
          </p:txBody>
        </p:sp>
        <p:sp>
          <p:nvSpPr>
            <p:cNvPr id="67721" name="Line 47"/>
            <p:cNvSpPr>
              <a:spLocks noChangeShapeType="1"/>
            </p:cNvSpPr>
            <p:nvPr/>
          </p:nvSpPr>
          <p:spPr bwMode="auto">
            <a:xfrm rot="16200000" flipH="1">
              <a:off x="4295" y="289"/>
              <a:ext cx="0" cy="1534"/>
            </a:xfrm>
            <a:prstGeom prst="line">
              <a:avLst/>
            </a:prstGeom>
            <a:noFill/>
            <a:ln w="9525">
              <a:solidFill>
                <a:schemeClr val="tx1"/>
              </a:solidFill>
              <a:round/>
              <a:headEnd/>
              <a:tailEnd/>
            </a:ln>
          </p:spPr>
          <p:txBody>
            <a:bodyPr anchor="ctr">
              <a:spAutoFit/>
            </a:bodyPr>
            <a:lstStyle/>
            <a:p>
              <a:endParaRPr lang="en-US"/>
            </a:p>
          </p:txBody>
        </p:sp>
        <p:sp>
          <p:nvSpPr>
            <p:cNvPr id="67722" name="Line 48"/>
            <p:cNvSpPr>
              <a:spLocks noChangeShapeType="1"/>
            </p:cNvSpPr>
            <p:nvPr/>
          </p:nvSpPr>
          <p:spPr bwMode="auto">
            <a:xfrm rot="16200000" flipH="1">
              <a:off x="4293" y="673"/>
              <a:ext cx="0" cy="1534"/>
            </a:xfrm>
            <a:prstGeom prst="line">
              <a:avLst/>
            </a:prstGeom>
            <a:noFill/>
            <a:ln w="9525">
              <a:solidFill>
                <a:schemeClr val="tx1"/>
              </a:solidFill>
              <a:round/>
              <a:headEnd/>
              <a:tailEnd/>
            </a:ln>
          </p:spPr>
          <p:txBody>
            <a:bodyPr anchor="ctr">
              <a:spAutoFit/>
            </a:bodyPr>
            <a:lstStyle/>
            <a:p>
              <a:endParaRPr lang="en-US"/>
            </a:p>
          </p:txBody>
        </p:sp>
        <p:sp>
          <p:nvSpPr>
            <p:cNvPr id="67723" name="Line 49"/>
            <p:cNvSpPr>
              <a:spLocks noChangeShapeType="1"/>
            </p:cNvSpPr>
            <p:nvPr/>
          </p:nvSpPr>
          <p:spPr bwMode="auto">
            <a:xfrm rot="16200000" flipH="1">
              <a:off x="4293" y="97"/>
              <a:ext cx="0" cy="1534"/>
            </a:xfrm>
            <a:prstGeom prst="line">
              <a:avLst/>
            </a:prstGeom>
            <a:noFill/>
            <a:ln w="9525">
              <a:solidFill>
                <a:schemeClr val="tx1"/>
              </a:solidFill>
              <a:round/>
              <a:headEnd/>
              <a:tailEnd/>
            </a:ln>
          </p:spPr>
          <p:txBody>
            <a:bodyPr anchor="ctr">
              <a:spAutoFit/>
            </a:bodyPr>
            <a:lstStyle/>
            <a:p>
              <a:endParaRPr lang="en-US"/>
            </a:p>
          </p:txBody>
        </p:sp>
        <p:sp>
          <p:nvSpPr>
            <p:cNvPr id="67724" name="Line 50"/>
            <p:cNvSpPr>
              <a:spLocks noChangeShapeType="1"/>
            </p:cNvSpPr>
            <p:nvPr/>
          </p:nvSpPr>
          <p:spPr bwMode="auto">
            <a:xfrm rot="16200000" flipH="1">
              <a:off x="4293" y="-287"/>
              <a:ext cx="0" cy="1534"/>
            </a:xfrm>
            <a:prstGeom prst="line">
              <a:avLst/>
            </a:prstGeom>
            <a:noFill/>
            <a:ln w="9525">
              <a:solidFill>
                <a:schemeClr val="tx1"/>
              </a:solidFill>
              <a:round/>
              <a:headEnd/>
              <a:tailEnd/>
            </a:ln>
          </p:spPr>
          <p:txBody>
            <a:bodyPr anchor="ctr">
              <a:spAutoFit/>
            </a:bodyPr>
            <a:lstStyle/>
            <a:p>
              <a:endParaRPr lang="en-US"/>
            </a:p>
          </p:txBody>
        </p:sp>
        <p:sp>
          <p:nvSpPr>
            <p:cNvPr id="67725" name="Line 51"/>
            <p:cNvSpPr>
              <a:spLocks noChangeShapeType="1"/>
            </p:cNvSpPr>
            <p:nvPr/>
          </p:nvSpPr>
          <p:spPr bwMode="auto">
            <a:xfrm rot="16200000" flipH="1">
              <a:off x="4293" y="-95"/>
              <a:ext cx="0" cy="1534"/>
            </a:xfrm>
            <a:prstGeom prst="line">
              <a:avLst/>
            </a:prstGeom>
            <a:noFill/>
            <a:ln w="9525">
              <a:solidFill>
                <a:schemeClr val="tx1"/>
              </a:solidFill>
              <a:round/>
              <a:headEnd/>
              <a:tailEnd/>
            </a:ln>
          </p:spPr>
          <p:txBody>
            <a:bodyPr anchor="ctr">
              <a:spAutoFit/>
            </a:bodyPr>
            <a:lstStyle/>
            <a:p>
              <a:endParaRPr lang="en-US"/>
            </a:p>
          </p:txBody>
        </p:sp>
        <p:sp>
          <p:nvSpPr>
            <p:cNvPr id="67726" name="Line 52"/>
            <p:cNvSpPr>
              <a:spLocks noChangeShapeType="1"/>
            </p:cNvSpPr>
            <p:nvPr/>
          </p:nvSpPr>
          <p:spPr bwMode="auto">
            <a:xfrm rot="16200000" flipH="1">
              <a:off x="4293" y="481"/>
              <a:ext cx="0" cy="1534"/>
            </a:xfrm>
            <a:prstGeom prst="line">
              <a:avLst/>
            </a:prstGeom>
            <a:noFill/>
            <a:ln w="9525">
              <a:solidFill>
                <a:schemeClr val="tx1"/>
              </a:solidFill>
              <a:round/>
              <a:headEnd/>
              <a:tailEnd/>
            </a:ln>
          </p:spPr>
          <p:txBody>
            <a:bodyPr anchor="ctr">
              <a:spAutoFit/>
            </a:bodyPr>
            <a:lstStyle/>
            <a:p>
              <a:endParaRPr lang="en-US"/>
            </a:p>
          </p:txBody>
        </p:sp>
        <p:sp>
          <p:nvSpPr>
            <p:cNvPr id="67727" name="Line 53"/>
            <p:cNvSpPr>
              <a:spLocks noChangeShapeType="1"/>
            </p:cNvSpPr>
            <p:nvPr/>
          </p:nvSpPr>
          <p:spPr bwMode="auto">
            <a:xfrm rot="16200000" flipH="1">
              <a:off x="4293" y="865"/>
              <a:ext cx="0" cy="1534"/>
            </a:xfrm>
            <a:prstGeom prst="line">
              <a:avLst/>
            </a:prstGeom>
            <a:noFill/>
            <a:ln w="9525">
              <a:solidFill>
                <a:schemeClr val="tx1"/>
              </a:solidFill>
              <a:round/>
              <a:headEnd/>
              <a:tailEnd/>
            </a:ln>
          </p:spPr>
          <p:txBody>
            <a:bodyPr anchor="ctr">
              <a:spAutoFit/>
            </a:bodyPr>
            <a:lstStyle/>
            <a:p>
              <a:endParaRPr lang="en-US"/>
            </a:p>
          </p:txBody>
        </p:sp>
        <p:sp>
          <p:nvSpPr>
            <p:cNvPr id="67728" name="Text Box 54"/>
            <p:cNvSpPr txBox="1">
              <a:spLocks noChangeArrowheads="1"/>
            </p:cNvSpPr>
            <p:nvPr/>
          </p:nvSpPr>
          <p:spPr bwMode="auto">
            <a:xfrm>
              <a:off x="3382" y="1824"/>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20</a:t>
              </a:r>
              <a:endParaRPr lang="en-US">
                <a:latin typeface="Times New Roman" pitchFamily="18" charset="0"/>
              </a:endParaRPr>
            </a:p>
          </p:txBody>
        </p:sp>
        <p:sp>
          <p:nvSpPr>
            <p:cNvPr id="67729" name="Text Box 55"/>
            <p:cNvSpPr txBox="1">
              <a:spLocks noChangeArrowheads="1"/>
            </p:cNvSpPr>
            <p:nvPr/>
          </p:nvSpPr>
          <p:spPr bwMode="auto">
            <a:xfrm>
              <a:off x="3794" y="1824"/>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30</a:t>
              </a:r>
              <a:endParaRPr lang="en-US">
                <a:latin typeface="Times New Roman" pitchFamily="18" charset="0"/>
              </a:endParaRPr>
            </a:p>
          </p:txBody>
        </p:sp>
        <p:sp>
          <p:nvSpPr>
            <p:cNvPr id="67730" name="Text Box 56"/>
            <p:cNvSpPr txBox="1">
              <a:spLocks noChangeArrowheads="1"/>
            </p:cNvSpPr>
            <p:nvPr/>
          </p:nvSpPr>
          <p:spPr bwMode="auto">
            <a:xfrm>
              <a:off x="4178" y="1824"/>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40</a:t>
              </a:r>
              <a:endParaRPr lang="en-US">
                <a:latin typeface="Times New Roman" pitchFamily="18" charset="0"/>
              </a:endParaRPr>
            </a:p>
          </p:txBody>
        </p:sp>
        <p:sp>
          <p:nvSpPr>
            <p:cNvPr id="67731" name="Text Box 57"/>
            <p:cNvSpPr txBox="1">
              <a:spLocks noChangeArrowheads="1"/>
            </p:cNvSpPr>
            <p:nvPr/>
          </p:nvSpPr>
          <p:spPr bwMode="auto">
            <a:xfrm>
              <a:off x="4562" y="1824"/>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50</a:t>
              </a:r>
              <a:endParaRPr lang="en-US">
                <a:latin typeface="Times New Roman" pitchFamily="18" charset="0"/>
              </a:endParaRPr>
            </a:p>
          </p:txBody>
        </p:sp>
        <p:sp>
          <p:nvSpPr>
            <p:cNvPr id="67732" name="Text Box 58"/>
            <p:cNvSpPr txBox="1">
              <a:spLocks noChangeArrowheads="1"/>
            </p:cNvSpPr>
            <p:nvPr/>
          </p:nvSpPr>
          <p:spPr bwMode="auto">
            <a:xfrm>
              <a:off x="4946" y="1824"/>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60</a:t>
              </a:r>
              <a:endParaRPr lang="en-US">
                <a:latin typeface="Times New Roman" pitchFamily="18" charset="0"/>
              </a:endParaRPr>
            </a:p>
          </p:txBody>
        </p:sp>
        <p:sp>
          <p:nvSpPr>
            <p:cNvPr id="67733" name="Text Box 59"/>
            <p:cNvSpPr txBox="1">
              <a:spLocks noChangeArrowheads="1"/>
            </p:cNvSpPr>
            <p:nvPr/>
          </p:nvSpPr>
          <p:spPr bwMode="auto">
            <a:xfrm>
              <a:off x="5082" y="1689"/>
              <a:ext cx="316"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age</a:t>
              </a:r>
              <a:endParaRPr lang="en-US">
                <a:latin typeface="Times New Roman" pitchFamily="18" charset="0"/>
              </a:endParaRPr>
            </a:p>
          </p:txBody>
        </p:sp>
        <p:sp>
          <p:nvSpPr>
            <p:cNvPr id="67734" name="Text Box 60"/>
            <p:cNvSpPr txBox="1">
              <a:spLocks noChangeArrowheads="1"/>
            </p:cNvSpPr>
            <p:nvPr/>
          </p:nvSpPr>
          <p:spPr bwMode="auto">
            <a:xfrm rot="-5400000">
              <a:off x="3308" y="746"/>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5</a:t>
              </a:r>
              <a:endParaRPr lang="en-US">
                <a:latin typeface="Times New Roman" pitchFamily="18" charset="0"/>
              </a:endParaRPr>
            </a:p>
          </p:txBody>
        </p:sp>
        <p:sp>
          <p:nvSpPr>
            <p:cNvPr id="67735" name="Text Box 61"/>
            <p:cNvSpPr txBox="1">
              <a:spLocks noChangeArrowheads="1"/>
            </p:cNvSpPr>
            <p:nvPr/>
          </p:nvSpPr>
          <p:spPr bwMode="auto">
            <a:xfrm rot="-5400000">
              <a:off x="3308" y="938"/>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4</a:t>
              </a:r>
              <a:endParaRPr lang="en-US">
                <a:latin typeface="Times New Roman" pitchFamily="18" charset="0"/>
              </a:endParaRPr>
            </a:p>
          </p:txBody>
        </p:sp>
        <p:sp>
          <p:nvSpPr>
            <p:cNvPr id="67736" name="Text Box 62"/>
            <p:cNvSpPr txBox="1">
              <a:spLocks noChangeArrowheads="1"/>
            </p:cNvSpPr>
            <p:nvPr/>
          </p:nvSpPr>
          <p:spPr bwMode="auto">
            <a:xfrm rot="-5400000">
              <a:off x="3308" y="1134"/>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3</a:t>
              </a:r>
              <a:endParaRPr lang="en-US">
                <a:latin typeface="Times New Roman" pitchFamily="18" charset="0"/>
              </a:endParaRPr>
            </a:p>
          </p:txBody>
        </p:sp>
        <p:sp>
          <p:nvSpPr>
            <p:cNvPr id="67737" name="Text Box 63"/>
            <p:cNvSpPr txBox="1">
              <a:spLocks noChangeArrowheads="1"/>
            </p:cNvSpPr>
            <p:nvPr/>
          </p:nvSpPr>
          <p:spPr bwMode="auto">
            <a:xfrm rot="-5400000">
              <a:off x="3308" y="1514"/>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1</a:t>
              </a:r>
              <a:endParaRPr lang="en-US">
                <a:latin typeface="Times New Roman" pitchFamily="18" charset="0"/>
              </a:endParaRPr>
            </a:p>
          </p:txBody>
        </p:sp>
        <p:sp>
          <p:nvSpPr>
            <p:cNvPr id="67738" name="Text Box 64"/>
            <p:cNvSpPr txBox="1">
              <a:spLocks noChangeArrowheads="1"/>
            </p:cNvSpPr>
            <p:nvPr/>
          </p:nvSpPr>
          <p:spPr bwMode="auto">
            <a:xfrm rot="-5400000">
              <a:off x="3308" y="1326"/>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2</a:t>
              </a:r>
              <a:endParaRPr lang="en-US">
                <a:latin typeface="Times New Roman" pitchFamily="18" charset="0"/>
              </a:endParaRPr>
            </a:p>
          </p:txBody>
        </p:sp>
        <p:sp>
          <p:nvSpPr>
            <p:cNvPr id="67739" name="Text Box 65"/>
            <p:cNvSpPr txBox="1">
              <a:spLocks noChangeArrowheads="1"/>
            </p:cNvSpPr>
            <p:nvPr/>
          </p:nvSpPr>
          <p:spPr bwMode="auto">
            <a:xfrm rot="-5400000">
              <a:off x="3318" y="552"/>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6</a:t>
              </a:r>
              <a:endParaRPr lang="en-US">
                <a:latin typeface="Times New Roman" pitchFamily="18" charset="0"/>
              </a:endParaRPr>
            </a:p>
          </p:txBody>
        </p:sp>
        <p:sp>
          <p:nvSpPr>
            <p:cNvPr id="67740" name="Text Box 66"/>
            <p:cNvSpPr txBox="1">
              <a:spLocks noChangeArrowheads="1"/>
            </p:cNvSpPr>
            <p:nvPr/>
          </p:nvSpPr>
          <p:spPr bwMode="auto">
            <a:xfrm rot="-5400000">
              <a:off x="3309" y="360"/>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7</a:t>
              </a:r>
              <a:endParaRPr lang="en-US">
                <a:latin typeface="Times New Roman" pitchFamily="18" charset="0"/>
              </a:endParaRPr>
            </a:p>
          </p:txBody>
        </p:sp>
        <p:sp>
          <p:nvSpPr>
            <p:cNvPr id="67741" name="Text Box 67"/>
            <p:cNvSpPr txBox="1">
              <a:spLocks noChangeArrowheads="1"/>
            </p:cNvSpPr>
            <p:nvPr/>
          </p:nvSpPr>
          <p:spPr bwMode="auto">
            <a:xfrm rot="-5400000">
              <a:off x="3317" y="1700"/>
              <a:ext cx="188"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0</a:t>
              </a:r>
              <a:endParaRPr lang="en-US">
                <a:latin typeface="Times New Roman" pitchFamily="18" charset="0"/>
              </a:endParaRPr>
            </a:p>
          </p:txBody>
        </p:sp>
        <p:sp>
          <p:nvSpPr>
            <p:cNvPr id="67742" name="Text Box 68"/>
            <p:cNvSpPr txBox="1">
              <a:spLocks noChangeArrowheads="1"/>
            </p:cNvSpPr>
            <p:nvPr/>
          </p:nvSpPr>
          <p:spPr bwMode="auto">
            <a:xfrm rot="-5400000">
              <a:off x="2796" y="233"/>
              <a:ext cx="667" cy="404"/>
            </a:xfrm>
            <a:prstGeom prst="rect">
              <a:avLst/>
            </a:prstGeom>
            <a:noFill/>
            <a:ln w="9525">
              <a:noFill/>
              <a:miter lim="800000"/>
              <a:headEnd/>
              <a:tailEnd/>
            </a:ln>
          </p:spPr>
          <p:txBody>
            <a:bodyPr>
              <a:spAutoFit/>
            </a:bodyPr>
            <a:lstStyle/>
            <a:p>
              <a:pPr algn="l" eaLnBrk="0" hangingPunct="0">
                <a:spcBef>
                  <a:spcPct val="50000"/>
                </a:spcBef>
              </a:pPr>
              <a:r>
                <a:rPr lang="en-US" sz="1800">
                  <a:latin typeface="Times New Roman" pitchFamily="18" charset="0"/>
                </a:rPr>
                <a:t>Vacation(week)</a:t>
              </a:r>
              <a:endParaRPr lang="en-US">
                <a:latin typeface="Times New Roman" pitchFamily="18" charset="0"/>
              </a:endParaRPr>
            </a:p>
          </p:txBody>
        </p:sp>
      </p:grpSp>
      <p:grpSp>
        <p:nvGrpSpPr>
          <p:cNvPr id="3" name="Group 69"/>
          <p:cNvGrpSpPr>
            <a:grpSpLocks/>
          </p:cNvGrpSpPr>
          <p:nvPr/>
        </p:nvGrpSpPr>
        <p:grpSpPr bwMode="auto">
          <a:xfrm>
            <a:off x="2209800" y="3505200"/>
            <a:ext cx="5149850" cy="3124200"/>
            <a:chOff x="1776" y="2064"/>
            <a:chExt cx="3244" cy="1968"/>
          </a:xfrm>
        </p:grpSpPr>
        <p:grpSp>
          <p:nvGrpSpPr>
            <p:cNvPr id="4" name="Group 70"/>
            <p:cNvGrpSpPr>
              <a:grpSpLocks/>
            </p:cNvGrpSpPr>
            <p:nvPr/>
          </p:nvGrpSpPr>
          <p:grpSpPr bwMode="auto">
            <a:xfrm>
              <a:off x="2976" y="2256"/>
              <a:ext cx="672" cy="768"/>
              <a:chOff x="2976" y="2256"/>
              <a:chExt cx="958" cy="768"/>
            </a:xfrm>
          </p:grpSpPr>
          <p:sp>
            <p:nvSpPr>
              <p:cNvPr id="67705" name="Rectangle 71" descr="25%"/>
              <p:cNvSpPr>
                <a:spLocks noChangeArrowheads="1"/>
              </p:cNvSpPr>
              <p:nvPr/>
            </p:nvSpPr>
            <p:spPr bwMode="auto">
              <a:xfrm>
                <a:off x="2976" y="2642"/>
                <a:ext cx="382" cy="382"/>
              </a:xfrm>
              <a:prstGeom prst="rect">
                <a:avLst/>
              </a:prstGeom>
              <a:pattFill prst="pct25">
                <a:fgClr>
                  <a:schemeClr val="tx2"/>
                </a:fgClr>
                <a:bgClr>
                  <a:srgbClr val="FFFFFF"/>
                </a:bgClr>
              </a:pattFill>
              <a:ln w="9525">
                <a:noFill/>
                <a:miter lim="800000"/>
                <a:headEnd/>
                <a:tailEnd/>
              </a:ln>
            </p:spPr>
            <p:txBody>
              <a:bodyPr anchor="ctr">
                <a:spAutoFit/>
              </a:bodyPr>
              <a:lstStyle/>
              <a:p>
                <a:endParaRPr lang="en-US"/>
              </a:p>
            </p:txBody>
          </p:sp>
          <p:sp>
            <p:nvSpPr>
              <p:cNvPr id="67706" name="Rectangle 72" descr="25%"/>
              <p:cNvSpPr>
                <a:spLocks noChangeArrowheads="1"/>
              </p:cNvSpPr>
              <p:nvPr/>
            </p:nvSpPr>
            <p:spPr bwMode="auto">
              <a:xfrm>
                <a:off x="3166" y="2450"/>
                <a:ext cx="384" cy="574"/>
              </a:xfrm>
              <a:prstGeom prst="rect">
                <a:avLst/>
              </a:prstGeom>
              <a:pattFill prst="pct25">
                <a:fgClr>
                  <a:schemeClr val="tx2"/>
                </a:fgClr>
                <a:bgClr>
                  <a:srgbClr val="FFFFFF"/>
                </a:bgClr>
              </a:pattFill>
              <a:ln w="9525">
                <a:noFill/>
                <a:miter lim="800000"/>
                <a:headEnd/>
                <a:tailEnd/>
              </a:ln>
            </p:spPr>
            <p:txBody>
              <a:bodyPr anchor="ctr">
                <a:spAutoFit/>
              </a:bodyPr>
              <a:lstStyle/>
              <a:p>
                <a:endParaRPr lang="en-US"/>
              </a:p>
            </p:txBody>
          </p:sp>
          <p:sp>
            <p:nvSpPr>
              <p:cNvPr id="67707" name="Rectangle 73" descr="25%"/>
              <p:cNvSpPr>
                <a:spLocks noChangeArrowheads="1"/>
              </p:cNvSpPr>
              <p:nvPr/>
            </p:nvSpPr>
            <p:spPr bwMode="auto">
              <a:xfrm>
                <a:off x="3358" y="2260"/>
                <a:ext cx="384" cy="574"/>
              </a:xfrm>
              <a:prstGeom prst="rect">
                <a:avLst/>
              </a:prstGeom>
              <a:pattFill prst="pct25">
                <a:fgClr>
                  <a:schemeClr val="tx2"/>
                </a:fgClr>
                <a:bgClr>
                  <a:srgbClr val="FFFFFF"/>
                </a:bgClr>
              </a:pattFill>
              <a:ln w="9525">
                <a:noFill/>
                <a:miter lim="800000"/>
                <a:headEnd/>
                <a:tailEnd/>
              </a:ln>
            </p:spPr>
            <p:txBody>
              <a:bodyPr anchor="ctr">
                <a:spAutoFit/>
              </a:bodyPr>
              <a:lstStyle/>
              <a:p>
                <a:endParaRPr lang="en-US"/>
              </a:p>
            </p:txBody>
          </p:sp>
          <p:sp>
            <p:nvSpPr>
              <p:cNvPr id="67708" name="Rectangle 74" descr="25%"/>
              <p:cNvSpPr>
                <a:spLocks noChangeArrowheads="1"/>
              </p:cNvSpPr>
              <p:nvPr/>
            </p:nvSpPr>
            <p:spPr bwMode="auto">
              <a:xfrm>
                <a:off x="3550" y="2256"/>
                <a:ext cx="384" cy="574"/>
              </a:xfrm>
              <a:prstGeom prst="rect">
                <a:avLst/>
              </a:prstGeom>
              <a:pattFill prst="pct25">
                <a:fgClr>
                  <a:schemeClr val="tx2"/>
                </a:fgClr>
                <a:bgClr>
                  <a:srgbClr val="FFFFFF"/>
                </a:bgClr>
              </a:pattFill>
              <a:ln w="9525">
                <a:noFill/>
                <a:miter lim="800000"/>
                <a:headEnd/>
                <a:tailEnd/>
              </a:ln>
            </p:spPr>
            <p:txBody>
              <a:bodyPr anchor="ctr">
                <a:spAutoFit/>
              </a:bodyPr>
              <a:lstStyle/>
              <a:p>
                <a:endParaRPr lang="en-US"/>
              </a:p>
            </p:txBody>
          </p:sp>
        </p:grpSp>
        <p:sp>
          <p:nvSpPr>
            <p:cNvPr id="67688" name="Rectangle 75"/>
            <p:cNvSpPr>
              <a:spLocks noChangeArrowheads="1"/>
            </p:cNvSpPr>
            <p:nvPr/>
          </p:nvSpPr>
          <p:spPr bwMode="auto">
            <a:xfrm>
              <a:off x="1776" y="2928"/>
              <a:ext cx="2016" cy="1104"/>
            </a:xfrm>
            <a:prstGeom prst="rect">
              <a:avLst/>
            </a:prstGeom>
            <a:solidFill>
              <a:schemeClr val="accent1"/>
            </a:solidFill>
            <a:ln w="9525">
              <a:miter lim="800000"/>
              <a:headEnd/>
              <a:tailEnd/>
            </a:ln>
            <a:scene3d>
              <a:camera prst="legacyObliqueTopRight"/>
              <a:lightRig rig="legacyNormal3" dir="b"/>
            </a:scene3d>
            <a:sp3d extrusionH="3630600" prstMaterial="legacyWireframe">
              <a:bevelT w="13500" h="13500" prst="angle"/>
              <a:bevelB w="13500" h="13500" prst="angle"/>
              <a:extrusionClr>
                <a:schemeClr val="accent1"/>
              </a:extrusionClr>
            </a:sp3d>
          </p:spPr>
          <p:txBody>
            <a:bodyPr wrap="none" anchor="ctr">
              <a:flatTx/>
            </a:bodyPr>
            <a:lstStyle/>
            <a:p>
              <a:endParaRPr lang="en-US"/>
            </a:p>
          </p:txBody>
        </p:sp>
        <p:sp>
          <p:nvSpPr>
            <p:cNvPr id="67689" name="Text Box 76"/>
            <p:cNvSpPr txBox="1">
              <a:spLocks noChangeArrowheads="1"/>
            </p:cNvSpPr>
            <p:nvPr/>
          </p:nvSpPr>
          <p:spPr bwMode="auto">
            <a:xfrm>
              <a:off x="4704" y="3168"/>
              <a:ext cx="316"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age</a:t>
              </a:r>
              <a:endParaRPr lang="en-US">
                <a:latin typeface="Times New Roman" pitchFamily="18" charset="0"/>
              </a:endParaRPr>
            </a:p>
          </p:txBody>
        </p:sp>
        <p:sp>
          <p:nvSpPr>
            <p:cNvPr id="67690" name="Text Box 77"/>
            <p:cNvSpPr txBox="1">
              <a:spLocks noChangeArrowheads="1"/>
            </p:cNvSpPr>
            <p:nvPr/>
          </p:nvSpPr>
          <p:spPr bwMode="auto">
            <a:xfrm rot="-5400000">
              <a:off x="2143" y="2282"/>
              <a:ext cx="667" cy="231"/>
            </a:xfrm>
            <a:prstGeom prst="rect">
              <a:avLst/>
            </a:prstGeom>
            <a:noFill/>
            <a:ln w="9525">
              <a:noFill/>
              <a:miter lim="800000"/>
              <a:headEnd/>
              <a:tailEnd/>
            </a:ln>
          </p:spPr>
          <p:txBody>
            <a:bodyPr>
              <a:spAutoFit/>
            </a:bodyPr>
            <a:lstStyle/>
            <a:p>
              <a:pPr algn="l" eaLnBrk="0" hangingPunct="0">
                <a:spcBef>
                  <a:spcPct val="50000"/>
                </a:spcBef>
              </a:pPr>
              <a:r>
                <a:rPr lang="en-US" sz="1800">
                  <a:latin typeface="Times New Roman" pitchFamily="18" charset="0"/>
                </a:rPr>
                <a:t>Vacation</a:t>
              </a:r>
              <a:endParaRPr lang="en-US">
                <a:latin typeface="Times New Roman" pitchFamily="18" charset="0"/>
              </a:endParaRPr>
            </a:p>
          </p:txBody>
        </p:sp>
        <p:sp>
          <p:nvSpPr>
            <p:cNvPr id="67691" name="Text Box 78"/>
            <p:cNvSpPr txBox="1">
              <a:spLocks noChangeArrowheads="1"/>
            </p:cNvSpPr>
            <p:nvPr/>
          </p:nvSpPr>
          <p:spPr bwMode="auto">
            <a:xfrm rot="-2607393">
              <a:off x="2160" y="3072"/>
              <a:ext cx="528" cy="231"/>
            </a:xfrm>
            <a:prstGeom prst="rect">
              <a:avLst/>
            </a:prstGeom>
            <a:noFill/>
            <a:ln w="9525">
              <a:noFill/>
              <a:miter lim="800000"/>
              <a:headEnd/>
              <a:tailEnd/>
            </a:ln>
          </p:spPr>
          <p:txBody>
            <a:bodyPr>
              <a:spAutoFit/>
            </a:bodyPr>
            <a:lstStyle/>
            <a:p>
              <a:pPr algn="l" eaLnBrk="0" hangingPunct="0">
                <a:spcBef>
                  <a:spcPct val="50000"/>
                </a:spcBef>
              </a:pPr>
              <a:r>
                <a:rPr lang="en-US" sz="1800">
                  <a:latin typeface="Times New Roman" pitchFamily="18" charset="0"/>
                </a:rPr>
                <a:t>Salary</a:t>
              </a:r>
              <a:endParaRPr lang="en-US">
                <a:latin typeface="Times New Roman" pitchFamily="18" charset="0"/>
              </a:endParaRPr>
            </a:p>
          </p:txBody>
        </p:sp>
        <p:grpSp>
          <p:nvGrpSpPr>
            <p:cNvPr id="5" name="Group 79"/>
            <p:cNvGrpSpPr>
              <a:grpSpLocks/>
            </p:cNvGrpSpPr>
            <p:nvPr/>
          </p:nvGrpSpPr>
          <p:grpSpPr bwMode="auto">
            <a:xfrm>
              <a:off x="2736" y="3360"/>
              <a:ext cx="720" cy="624"/>
              <a:chOff x="4512" y="3120"/>
              <a:chExt cx="576" cy="528"/>
            </a:xfrm>
          </p:grpSpPr>
          <p:sp>
            <p:nvSpPr>
              <p:cNvPr id="67695" name="Line 80"/>
              <p:cNvSpPr>
                <a:spLocks noChangeShapeType="1"/>
              </p:cNvSpPr>
              <p:nvPr/>
            </p:nvSpPr>
            <p:spPr bwMode="auto">
              <a:xfrm flipH="1">
                <a:off x="4512" y="3120"/>
                <a:ext cx="144" cy="192"/>
              </a:xfrm>
              <a:prstGeom prst="line">
                <a:avLst/>
              </a:prstGeom>
              <a:noFill/>
              <a:ln w="9525">
                <a:solidFill>
                  <a:schemeClr val="tx1"/>
                </a:solidFill>
                <a:round/>
                <a:headEnd/>
                <a:tailEnd/>
              </a:ln>
            </p:spPr>
            <p:txBody>
              <a:bodyPr wrap="none" anchor="ctr"/>
              <a:lstStyle/>
              <a:p>
                <a:endParaRPr lang="en-US"/>
              </a:p>
            </p:txBody>
          </p:sp>
          <p:sp>
            <p:nvSpPr>
              <p:cNvPr id="67696" name="Line 81"/>
              <p:cNvSpPr>
                <a:spLocks noChangeShapeType="1"/>
              </p:cNvSpPr>
              <p:nvPr/>
            </p:nvSpPr>
            <p:spPr bwMode="auto">
              <a:xfrm>
                <a:off x="4512" y="3312"/>
                <a:ext cx="144" cy="0"/>
              </a:xfrm>
              <a:prstGeom prst="line">
                <a:avLst/>
              </a:prstGeom>
              <a:noFill/>
              <a:ln w="9525">
                <a:solidFill>
                  <a:schemeClr val="tx1"/>
                </a:solidFill>
                <a:round/>
                <a:headEnd/>
                <a:tailEnd/>
              </a:ln>
            </p:spPr>
            <p:txBody>
              <a:bodyPr wrap="none" anchor="ctr"/>
              <a:lstStyle/>
              <a:p>
                <a:endParaRPr lang="en-US"/>
              </a:p>
            </p:txBody>
          </p:sp>
          <p:sp>
            <p:nvSpPr>
              <p:cNvPr id="67697" name="Line 82"/>
              <p:cNvSpPr>
                <a:spLocks noChangeShapeType="1"/>
              </p:cNvSpPr>
              <p:nvPr/>
            </p:nvSpPr>
            <p:spPr bwMode="auto">
              <a:xfrm flipH="1">
                <a:off x="4512" y="3312"/>
                <a:ext cx="144" cy="192"/>
              </a:xfrm>
              <a:prstGeom prst="line">
                <a:avLst/>
              </a:prstGeom>
              <a:noFill/>
              <a:ln w="9525">
                <a:solidFill>
                  <a:schemeClr val="tx1"/>
                </a:solidFill>
                <a:round/>
                <a:headEnd/>
                <a:tailEnd/>
              </a:ln>
            </p:spPr>
            <p:txBody>
              <a:bodyPr wrap="none" anchor="ctr"/>
              <a:lstStyle/>
              <a:p>
                <a:endParaRPr lang="en-US"/>
              </a:p>
            </p:txBody>
          </p:sp>
          <p:sp>
            <p:nvSpPr>
              <p:cNvPr id="67698" name="Line 83"/>
              <p:cNvSpPr>
                <a:spLocks noChangeShapeType="1"/>
              </p:cNvSpPr>
              <p:nvPr/>
            </p:nvSpPr>
            <p:spPr bwMode="auto">
              <a:xfrm>
                <a:off x="4512" y="3504"/>
                <a:ext cx="192" cy="0"/>
              </a:xfrm>
              <a:prstGeom prst="line">
                <a:avLst/>
              </a:prstGeom>
              <a:noFill/>
              <a:ln w="9525">
                <a:solidFill>
                  <a:schemeClr val="tx1"/>
                </a:solidFill>
                <a:round/>
                <a:headEnd/>
                <a:tailEnd/>
              </a:ln>
            </p:spPr>
            <p:txBody>
              <a:bodyPr wrap="none" anchor="ctr"/>
              <a:lstStyle/>
              <a:p>
                <a:endParaRPr lang="en-US"/>
              </a:p>
            </p:txBody>
          </p:sp>
          <p:sp>
            <p:nvSpPr>
              <p:cNvPr id="67699" name="Line 84"/>
              <p:cNvSpPr>
                <a:spLocks noChangeShapeType="1"/>
              </p:cNvSpPr>
              <p:nvPr/>
            </p:nvSpPr>
            <p:spPr bwMode="auto">
              <a:xfrm flipH="1">
                <a:off x="4608" y="3504"/>
                <a:ext cx="96" cy="144"/>
              </a:xfrm>
              <a:prstGeom prst="line">
                <a:avLst/>
              </a:prstGeom>
              <a:noFill/>
              <a:ln w="9525">
                <a:solidFill>
                  <a:schemeClr val="tx1"/>
                </a:solidFill>
                <a:round/>
                <a:headEnd/>
                <a:tailEnd/>
              </a:ln>
            </p:spPr>
            <p:txBody>
              <a:bodyPr wrap="none" anchor="ctr"/>
              <a:lstStyle/>
              <a:p>
                <a:endParaRPr lang="en-US"/>
              </a:p>
            </p:txBody>
          </p:sp>
          <p:sp>
            <p:nvSpPr>
              <p:cNvPr id="67700" name="Line 85"/>
              <p:cNvSpPr>
                <a:spLocks noChangeShapeType="1"/>
              </p:cNvSpPr>
              <p:nvPr/>
            </p:nvSpPr>
            <p:spPr bwMode="auto">
              <a:xfrm>
                <a:off x="4608" y="3648"/>
                <a:ext cx="240" cy="0"/>
              </a:xfrm>
              <a:prstGeom prst="line">
                <a:avLst/>
              </a:prstGeom>
              <a:noFill/>
              <a:ln w="9525">
                <a:solidFill>
                  <a:schemeClr val="tx1"/>
                </a:solidFill>
                <a:round/>
                <a:headEnd/>
                <a:tailEnd/>
              </a:ln>
            </p:spPr>
            <p:txBody>
              <a:bodyPr wrap="none" anchor="ctr"/>
              <a:lstStyle/>
              <a:p>
                <a:endParaRPr lang="en-US"/>
              </a:p>
            </p:txBody>
          </p:sp>
          <p:sp>
            <p:nvSpPr>
              <p:cNvPr id="67701" name="Line 86"/>
              <p:cNvSpPr>
                <a:spLocks noChangeShapeType="1"/>
              </p:cNvSpPr>
              <p:nvPr/>
            </p:nvSpPr>
            <p:spPr bwMode="auto">
              <a:xfrm>
                <a:off x="4656" y="3120"/>
                <a:ext cx="432" cy="0"/>
              </a:xfrm>
              <a:prstGeom prst="line">
                <a:avLst/>
              </a:prstGeom>
              <a:noFill/>
              <a:ln w="9525">
                <a:solidFill>
                  <a:schemeClr val="tx1"/>
                </a:solidFill>
                <a:round/>
                <a:headEnd/>
                <a:tailEnd/>
              </a:ln>
            </p:spPr>
            <p:txBody>
              <a:bodyPr wrap="none" anchor="ctr"/>
              <a:lstStyle/>
              <a:p>
                <a:endParaRPr lang="en-US"/>
              </a:p>
            </p:txBody>
          </p:sp>
          <p:sp>
            <p:nvSpPr>
              <p:cNvPr id="67702" name="Line 87"/>
              <p:cNvSpPr>
                <a:spLocks noChangeShapeType="1"/>
              </p:cNvSpPr>
              <p:nvPr/>
            </p:nvSpPr>
            <p:spPr bwMode="auto">
              <a:xfrm flipH="1">
                <a:off x="4944" y="3120"/>
                <a:ext cx="144" cy="192"/>
              </a:xfrm>
              <a:prstGeom prst="line">
                <a:avLst/>
              </a:prstGeom>
              <a:noFill/>
              <a:ln w="9525">
                <a:solidFill>
                  <a:schemeClr val="tx1"/>
                </a:solidFill>
                <a:round/>
                <a:headEnd/>
                <a:tailEnd/>
              </a:ln>
            </p:spPr>
            <p:txBody>
              <a:bodyPr wrap="none" anchor="ctr"/>
              <a:lstStyle/>
              <a:p>
                <a:endParaRPr lang="en-US"/>
              </a:p>
            </p:txBody>
          </p:sp>
          <p:sp>
            <p:nvSpPr>
              <p:cNvPr id="67703" name="Line 88"/>
              <p:cNvSpPr>
                <a:spLocks noChangeShapeType="1"/>
              </p:cNvSpPr>
              <p:nvPr/>
            </p:nvSpPr>
            <p:spPr bwMode="auto">
              <a:xfrm>
                <a:off x="4944" y="3312"/>
                <a:ext cx="144" cy="0"/>
              </a:xfrm>
              <a:prstGeom prst="line">
                <a:avLst/>
              </a:prstGeom>
              <a:noFill/>
              <a:ln w="9525">
                <a:solidFill>
                  <a:schemeClr val="tx1"/>
                </a:solidFill>
                <a:round/>
                <a:headEnd/>
                <a:tailEnd/>
              </a:ln>
            </p:spPr>
            <p:txBody>
              <a:bodyPr wrap="none" anchor="ctr"/>
              <a:lstStyle/>
              <a:p>
                <a:endParaRPr lang="en-US"/>
              </a:p>
            </p:txBody>
          </p:sp>
          <p:sp>
            <p:nvSpPr>
              <p:cNvPr id="67704" name="Line 89"/>
              <p:cNvSpPr>
                <a:spLocks noChangeShapeType="1"/>
              </p:cNvSpPr>
              <p:nvPr/>
            </p:nvSpPr>
            <p:spPr bwMode="auto">
              <a:xfrm flipH="1">
                <a:off x="4848" y="3312"/>
                <a:ext cx="240" cy="336"/>
              </a:xfrm>
              <a:prstGeom prst="line">
                <a:avLst/>
              </a:prstGeom>
              <a:noFill/>
              <a:ln w="9525">
                <a:solidFill>
                  <a:schemeClr val="tx1"/>
                </a:solidFill>
                <a:round/>
                <a:headEnd/>
                <a:tailEnd/>
              </a:ln>
            </p:spPr>
            <p:txBody>
              <a:bodyPr wrap="none" anchor="ctr"/>
              <a:lstStyle/>
              <a:p>
                <a:endParaRPr lang="en-US"/>
              </a:p>
            </p:txBody>
          </p:sp>
        </p:grpSp>
        <p:sp>
          <p:nvSpPr>
            <p:cNvPr id="67693" name="Text Box 90"/>
            <p:cNvSpPr txBox="1">
              <a:spLocks noChangeArrowheads="1"/>
            </p:cNvSpPr>
            <p:nvPr/>
          </p:nvSpPr>
          <p:spPr bwMode="auto">
            <a:xfrm>
              <a:off x="2880" y="3033"/>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30</a:t>
              </a:r>
              <a:endParaRPr lang="en-US">
                <a:latin typeface="Times New Roman" pitchFamily="18" charset="0"/>
              </a:endParaRPr>
            </a:p>
          </p:txBody>
        </p:sp>
        <p:sp>
          <p:nvSpPr>
            <p:cNvPr id="67694" name="Text Box 91"/>
            <p:cNvSpPr txBox="1">
              <a:spLocks noChangeArrowheads="1"/>
            </p:cNvSpPr>
            <p:nvPr/>
          </p:nvSpPr>
          <p:spPr bwMode="auto">
            <a:xfrm>
              <a:off x="3504" y="3033"/>
              <a:ext cx="260" cy="231"/>
            </a:xfrm>
            <a:prstGeom prst="rect">
              <a:avLst/>
            </a:prstGeom>
            <a:noFill/>
            <a:ln w="9525">
              <a:noFill/>
              <a:miter lim="800000"/>
              <a:headEnd/>
              <a:tailEnd/>
            </a:ln>
          </p:spPr>
          <p:txBody>
            <a:bodyPr wrap="none">
              <a:spAutoFit/>
            </a:bodyPr>
            <a:lstStyle/>
            <a:p>
              <a:pPr algn="l" eaLnBrk="0" hangingPunct="0">
                <a:spcBef>
                  <a:spcPct val="50000"/>
                </a:spcBef>
              </a:pPr>
              <a:r>
                <a:rPr lang="en-US" sz="1800">
                  <a:latin typeface="Times New Roman" pitchFamily="18" charset="0"/>
                </a:rPr>
                <a:t>50</a:t>
              </a:r>
              <a:endParaRPr lang="en-US">
                <a:latin typeface="Times New Roman" pitchFamily="18" charset="0"/>
              </a:endParaRPr>
            </a:p>
          </p:txBody>
        </p:sp>
      </p:grpSp>
      <p:sp>
        <p:nvSpPr>
          <p:cNvPr id="67621" name="Oval 92"/>
          <p:cNvSpPr>
            <a:spLocks noChangeArrowheads="1"/>
          </p:cNvSpPr>
          <p:nvPr/>
        </p:nvSpPr>
        <p:spPr bwMode="auto">
          <a:xfrm>
            <a:off x="6096000" y="2438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2" name="Oval 93"/>
          <p:cNvSpPr>
            <a:spLocks noChangeArrowheads="1"/>
          </p:cNvSpPr>
          <p:nvPr/>
        </p:nvSpPr>
        <p:spPr bwMode="auto">
          <a:xfrm>
            <a:off x="1600200" y="1752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3" name="Oval 94"/>
          <p:cNvSpPr>
            <a:spLocks noChangeArrowheads="1"/>
          </p:cNvSpPr>
          <p:nvPr/>
        </p:nvSpPr>
        <p:spPr bwMode="auto">
          <a:xfrm>
            <a:off x="17526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4" name="Oval 95"/>
          <p:cNvSpPr>
            <a:spLocks noChangeArrowheads="1"/>
          </p:cNvSpPr>
          <p:nvPr/>
        </p:nvSpPr>
        <p:spPr bwMode="auto">
          <a:xfrm>
            <a:off x="1752600" y="1524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5" name="Oval 96"/>
          <p:cNvSpPr>
            <a:spLocks noChangeArrowheads="1"/>
          </p:cNvSpPr>
          <p:nvPr/>
        </p:nvSpPr>
        <p:spPr bwMode="auto">
          <a:xfrm>
            <a:off x="1600200" y="1219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6" name="Oval 97"/>
          <p:cNvSpPr>
            <a:spLocks noChangeArrowheads="1"/>
          </p:cNvSpPr>
          <p:nvPr/>
        </p:nvSpPr>
        <p:spPr bwMode="auto">
          <a:xfrm>
            <a:off x="1752600" y="914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7" name="Oval 98"/>
          <p:cNvSpPr>
            <a:spLocks noChangeArrowheads="1"/>
          </p:cNvSpPr>
          <p:nvPr/>
        </p:nvSpPr>
        <p:spPr bwMode="auto">
          <a:xfrm>
            <a:off x="16002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8" name="Oval 99"/>
          <p:cNvSpPr>
            <a:spLocks noChangeArrowheads="1"/>
          </p:cNvSpPr>
          <p:nvPr/>
        </p:nvSpPr>
        <p:spPr bwMode="auto">
          <a:xfrm>
            <a:off x="1676400" y="1066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29" name="Oval 100"/>
          <p:cNvSpPr>
            <a:spLocks noChangeArrowheads="1"/>
          </p:cNvSpPr>
          <p:nvPr/>
        </p:nvSpPr>
        <p:spPr bwMode="auto">
          <a:xfrm>
            <a:off x="18288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0" name="Oval 101"/>
          <p:cNvSpPr>
            <a:spLocks noChangeArrowheads="1"/>
          </p:cNvSpPr>
          <p:nvPr/>
        </p:nvSpPr>
        <p:spPr bwMode="auto">
          <a:xfrm>
            <a:off x="1981200" y="1752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1" name="Oval 102"/>
          <p:cNvSpPr>
            <a:spLocks noChangeArrowheads="1"/>
          </p:cNvSpPr>
          <p:nvPr/>
        </p:nvSpPr>
        <p:spPr bwMode="auto">
          <a:xfrm>
            <a:off x="21336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2" name="Oval 103"/>
          <p:cNvSpPr>
            <a:spLocks noChangeArrowheads="1"/>
          </p:cNvSpPr>
          <p:nvPr/>
        </p:nvSpPr>
        <p:spPr bwMode="auto">
          <a:xfrm>
            <a:off x="2133600" y="1524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3" name="Oval 104"/>
          <p:cNvSpPr>
            <a:spLocks noChangeArrowheads="1"/>
          </p:cNvSpPr>
          <p:nvPr/>
        </p:nvSpPr>
        <p:spPr bwMode="auto">
          <a:xfrm>
            <a:off x="19812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4" name="Oval 105"/>
          <p:cNvSpPr>
            <a:spLocks noChangeArrowheads="1"/>
          </p:cNvSpPr>
          <p:nvPr/>
        </p:nvSpPr>
        <p:spPr bwMode="auto">
          <a:xfrm>
            <a:off x="22098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5" name="Oval 106"/>
          <p:cNvSpPr>
            <a:spLocks noChangeArrowheads="1"/>
          </p:cNvSpPr>
          <p:nvPr/>
        </p:nvSpPr>
        <p:spPr bwMode="auto">
          <a:xfrm>
            <a:off x="2362200" y="1752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6" name="Oval 107"/>
          <p:cNvSpPr>
            <a:spLocks noChangeArrowheads="1"/>
          </p:cNvSpPr>
          <p:nvPr/>
        </p:nvSpPr>
        <p:spPr bwMode="auto">
          <a:xfrm>
            <a:off x="25146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7" name="Oval 108"/>
          <p:cNvSpPr>
            <a:spLocks noChangeArrowheads="1"/>
          </p:cNvSpPr>
          <p:nvPr/>
        </p:nvSpPr>
        <p:spPr bwMode="auto">
          <a:xfrm>
            <a:off x="2514600" y="1524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8" name="Oval 109"/>
          <p:cNvSpPr>
            <a:spLocks noChangeArrowheads="1"/>
          </p:cNvSpPr>
          <p:nvPr/>
        </p:nvSpPr>
        <p:spPr bwMode="auto">
          <a:xfrm>
            <a:off x="23622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39" name="Oval 110"/>
          <p:cNvSpPr>
            <a:spLocks noChangeArrowheads="1"/>
          </p:cNvSpPr>
          <p:nvPr/>
        </p:nvSpPr>
        <p:spPr bwMode="auto">
          <a:xfrm>
            <a:off x="2590800" y="838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0" name="Oval 111"/>
          <p:cNvSpPr>
            <a:spLocks noChangeArrowheads="1"/>
          </p:cNvSpPr>
          <p:nvPr/>
        </p:nvSpPr>
        <p:spPr bwMode="auto">
          <a:xfrm>
            <a:off x="2590800" y="2057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1" name="Oval 112"/>
          <p:cNvSpPr>
            <a:spLocks noChangeArrowheads="1"/>
          </p:cNvSpPr>
          <p:nvPr/>
        </p:nvSpPr>
        <p:spPr bwMode="auto">
          <a:xfrm>
            <a:off x="2743200" y="2209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2" name="Oval 113"/>
          <p:cNvSpPr>
            <a:spLocks noChangeArrowheads="1"/>
          </p:cNvSpPr>
          <p:nvPr/>
        </p:nvSpPr>
        <p:spPr bwMode="auto">
          <a:xfrm>
            <a:off x="2743200" y="1828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3" name="Oval 114"/>
          <p:cNvSpPr>
            <a:spLocks noChangeArrowheads="1"/>
          </p:cNvSpPr>
          <p:nvPr/>
        </p:nvSpPr>
        <p:spPr bwMode="auto">
          <a:xfrm>
            <a:off x="2590800" y="1143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4" name="Oval 115"/>
          <p:cNvSpPr>
            <a:spLocks noChangeArrowheads="1"/>
          </p:cNvSpPr>
          <p:nvPr/>
        </p:nvSpPr>
        <p:spPr bwMode="auto">
          <a:xfrm>
            <a:off x="2819400" y="1143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5" name="Oval 116"/>
          <p:cNvSpPr>
            <a:spLocks noChangeArrowheads="1"/>
          </p:cNvSpPr>
          <p:nvPr/>
        </p:nvSpPr>
        <p:spPr bwMode="auto">
          <a:xfrm>
            <a:off x="2133600" y="2057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6" name="Oval 117"/>
          <p:cNvSpPr>
            <a:spLocks noChangeArrowheads="1"/>
          </p:cNvSpPr>
          <p:nvPr/>
        </p:nvSpPr>
        <p:spPr bwMode="auto">
          <a:xfrm>
            <a:off x="2286000" y="2209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7" name="Oval 118"/>
          <p:cNvSpPr>
            <a:spLocks noChangeArrowheads="1"/>
          </p:cNvSpPr>
          <p:nvPr/>
        </p:nvSpPr>
        <p:spPr bwMode="auto">
          <a:xfrm>
            <a:off x="2286000" y="1828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8" name="Oval 119"/>
          <p:cNvSpPr>
            <a:spLocks noChangeArrowheads="1"/>
          </p:cNvSpPr>
          <p:nvPr/>
        </p:nvSpPr>
        <p:spPr bwMode="auto">
          <a:xfrm>
            <a:off x="2133600" y="1143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49" name="Oval 120"/>
          <p:cNvSpPr>
            <a:spLocks noChangeArrowheads="1"/>
          </p:cNvSpPr>
          <p:nvPr/>
        </p:nvSpPr>
        <p:spPr bwMode="auto">
          <a:xfrm>
            <a:off x="2362200" y="1143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0" name="Oval 121"/>
          <p:cNvSpPr>
            <a:spLocks noChangeArrowheads="1"/>
          </p:cNvSpPr>
          <p:nvPr/>
        </p:nvSpPr>
        <p:spPr bwMode="auto">
          <a:xfrm>
            <a:off x="3200400" y="1828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1" name="Oval 122"/>
          <p:cNvSpPr>
            <a:spLocks noChangeArrowheads="1"/>
          </p:cNvSpPr>
          <p:nvPr/>
        </p:nvSpPr>
        <p:spPr bwMode="auto">
          <a:xfrm>
            <a:off x="1371600" y="457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3" name="Oval 124"/>
          <p:cNvSpPr>
            <a:spLocks noChangeArrowheads="1"/>
          </p:cNvSpPr>
          <p:nvPr/>
        </p:nvSpPr>
        <p:spPr bwMode="auto">
          <a:xfrm>
            <a:off x="6324600" y="2362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4" name="Oval 125"/>
          <p:cNvSpPr>
            <a:spLocks noChangeArrowheads="1"/>
          </p:cNvSpPr>
          <p:nvPr/>
        </p:nvSpPr>
        <p:spPr bwMode="auto">
          <a:xfrm>
            <a:off x="6019800" y="2133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5" name="Oval 126"/>
          <p:cNvSpPr>
            <a:spLocks noChangeArrowheads="1"/>
          </p:cNvSpPr>
          <p:nvPr/>
        </p:nvSpPr>
        <p:spPr bwMode="auto">
          <a:xfrm>
            <a:off x="5943600" y="2362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6" name="Oval 127"/>
          <p:cNvSpPr>
            <a:spLocks noChangeArrowheads="1"/>
          </p:cNvSpPr>
          <p:nvPr/>
        </p:nvSpPr>
        <p:spPr bwMode="auto">
          <a:xfrm>
            <a:off x="6400800" y="2209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7" name="Oval 128"/>
          <p:cNvSpPr>
            <a:spLocks noChangeArrowheads="1"/>
          </p:cNvSpPr>
          <p:nvPr/>
        </p:nvSpPr>
        <p:spPr bwMode="auto">
          <a:xfrm>
            <a:off x="6629400" y="2133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8" name="Oval 129"/>
          <p:cNvSpPr>
            <a:spLocks noChangeArrowheads="1"/>
          </p:cNvSpPr>
          <p:nvPr/>
        </p:nvSpPr>
        <p:spPr bwMode="auto">
          <a:xfrm>
            <a:off x="63246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59" name="Oval 130"/>
          <p:cNvSpPr>
            <a:spLocks noChangeArrowheads="1"/>
          </p:cNvSpPr>
          <p:nvPr/>
        </p:nvSpPr>
        <p:spPr bwMode="auto">
          <a:xfrm>
            <a:off x="6248400" y="2133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0" name="Oval 131"/>
          <p:cNvSpPr>
            <a:spLocks noChangeArrowheads="1"/>
          </p:cNvSpPr>
          <p:nvPr/>
        </p:nvSpPr>
        <p:spPr bwMode="auto">
          <a:xfrm>
            <a:off x="6781800" y="1981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1" name="Oval 132"/>
          <p:cNvSpPr>
            <a:spLocks noChangeArrowheads="1"/>
          </p:cNvSpPr>
          <p:nvPr/>
        </p:nvSpPr>
        <p:spPr bwMode="auto">
          <a:xfrm>
            <a:off x="70104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2" name="Oval 133"/>
          <p:cNvSpPr>
            <a:spLocks noChangeArrowheads="1"/>
          </p:cNvSpPr>
          <p:nvPr/>
        </p:nvSpPr>
        <p:spPr bwMode="auto">
          <a:xfrm>
            <a:off x="6705600" y="1676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3" name="Oval 134"/>
          <p:cNvSpPr>
            <a:spLocks noChangeArrowheads="1"/>
          </p:cNvSpPr>
          <p:nvPr/>
        </p:nvSpPr>
        <p:spPr bwMode="auto">
          <a:xfrm>
            <a:off x="6629400" y="19050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4" name="Oval 135"/>
          <p:cNvSpPr>
            <a:spLocks noChangeArrowheads="1"/>
          </p:cNvSpPr>
          <p:nvPr/>
        </p:nvSpPr>
        <p:spPr bwMode="auto">
          <a:xfrm>
            <a:off x="7086600" y="2133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5" name="Oval 136"/>
          <p:cNvSpPr>
            <a:spLocks noChangeArrowheads="1"/>
          </p:cNvSpPr>
          <p:nvPr/>
        </p:nvSpPr>
        <p:spPr bwMode="auto">
          <a:xfrm>
            <a:off x="7315200" y="2057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6" name="Oval 137"/>
          <p:cNvSpPr>
            <a:spLocks noChangeArrowheads="1"/>
          </p:cNvSpPr>
          <p:nvPr/>
        </p:nvSpPr>
        <p:spPr bwMode="auto">
          <a:xfrm>
            <a:off x="7010400" y="1828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7" name="Oval 138"/>
          <p:cNvSpPr>
            <a:spLocks noChangeArrowheads="1"/>
          </p:cNvSpPr>
          <p:nvPr/>
        </p:nvSpPr>
        <p:spPr bwMode="auto">
          <a:xfrm>
            <a:off x="6934200" y="2057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8" name="Oval 139"/>
          <p:cNvSpPr>
            <a:spLocks noChangeArrowheads="1"/>
          </p:cNvSpPr>
          <p:nvPr/>
        </p:nvSpPr>
        <p:spPr bwMode="auto">
          <a:xfrm>
            <a:off x="7239000" y="1752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69" name="Oval 140"/>
          <p:cNvSpPr>
            <a:spLocks noChangeArrowheads="1"/>
          </p:cNvSpPr>
          <p:nvPr/>
        </p:nvSpPr>
        <p:spPr bwMode="auto">
          <a:xfrm>
            <a:off x="7315200" y="1600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0" name="Oval 141"/>
          <p:cNvSpPr>
            <a:spLocks noChangeArrowheads="1"/>
          </p:cNvSpPr>
          <p:nvPr/>
        </p:nvSpPr>
        <p:spPr bwMode="auto">
          <a:xfrm>
            <a:off x="7010400" y="1371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1" name="Oval 142"/>
          <p:cNvSpPr>
            <a:spLocks noChangeArrowheads="1"/>
          </p:cNvSpPr>
          <p:nvPr/>
        </p:nvSpPr>
        <p:spPr bwMode="auto">
          <a:xfrm>
            <a:off x="6934200" y="1600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2" name="Oval 143"/>
          <p:cNvSpPr>
            <a:spLocks noChangeArrowheads="1"/>
          </p:cNvSpPr>
          <p:nvPr/>
        </p:nvSpPr>
        <p:spPr bwMode="auto">
          <a:xfrm>
            <a:off x="6705600" y="1676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3" name="Oval 144"/>
          <p:cNvSpPr>
            <a:spLocks noChangeArrowheads="1"/>
          </p:cNvSpPr>
          <p:nvPr/>
        </p:nvSpPr>
        <p:spPr bwMode="auto">
          <a:xfrm>
            <a:off x="6934200" y="1600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4" name="Oval 145"/>
          <p:cNvSpPr>
            <a:spLocks noChangeArrowheads="1"/>
          </p:cNvSpPr>
          <p:nvPr/>
        </p:nvSpPr>
        <p:spPr bwMode="auto">
          <a:xfrm>
            <a:off x="6629400" y="1371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5" name="Oval 146"/>
          <p:cNvSpPr>
            <a:spLocks noChangeArrowheads="1"/>
          </p:cNvSpPr>
          <p:nvPr/>
        </p:nvSpPr>
        <p:spPr bwMode="auto">
          <a:xfrm>
            <a:off x="6553200" y="1600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6" name="Oval 147"/>
          <p:cNvSpPr>
            <a:spLocks noChangeArrowheads="1"/>
          </p:cNvSpPr>
          <p:nvPr/>
        </p:nvSpPr>
        <p:spPr bwMode="auto">
          <a:xfrm>
            <a:off x="6705600" y="25146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7" name="Oval 148"/>
          <p:cNvSpPr>
            <a:spLocks noChangeArrowheads="1"/>
          </p:cNvSpPr>
          <p:nvPr/>
        </p:nvSpPr>
        <p:spPr bwMode="auto">
          <a:xfrm>
            <a:off x="7772400" y="2743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8" name="Oval 149"/>
          <p:cNvSpPr>
            <a:spLocks noChangeArrowheads="1"/>
          </p:cNvSpPr>
          <p:nvPr/>
        </p:nvSpPr>
        <p:spPr bwMode="auto">
          <a:xfrm>
            <a:off x="6629400" y="22098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79" name="Oval 150"/>
          <p:cNvSpPr>
            <a:spLocks noChangeArrowheads="1"/>
          </p:cNvSpPr>
          <p:nvPr/>
        </p:nvSpPr>
        <p:spPr bwMode="auto">
          <a:xfrm>
            <a:off x="6553200" y="24384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80" name="Oval 151"/>
          <p:cNvSpPr>
            <a:spLocks noChangeArrowheads="1"/>
          </p:cNvSpPr>
          <p:nvPr/>
        </p:nvSpPr>
        <p:spPr bwMode="auto">
          <a:xfrm>
            <a:off x="5715000" y="1219200"/>
            <a:ext cx="76200" cy="76200"/>
          </a:xfrm>
          <a:prstGeom prst="ellipse">
            <a:avLst/>
          </a:prstGeom>
          <a:solidFill>
            <a:schemeClr val="tx1"/>
          </a:solidFill>
          <a:ln w="9525">
            <a:solidFill>
              <a:schemeClr val="tx1"/>
            </a:solidFill>
            <a:round/>
            <a:headEnd/>
            <a:tailEnd/>
          </a:ln>
        </p:spPr>
        <p:txBody>
          <a:bodyPr wrap="none" anchor="ctr"/>
          <a:lstStyle/>
          <a:p>
            <a:endParaRPr lang="en-US"/>
          </a:p>
        </p:txBody>
      </p:sp>
      <p:sp>
        <p:nvSpPr>
          <p:cNvPr id="67681" name="Rectangle 152"/>
          <p:cNvSpPr>
            <a:spLocks noChangeArrowheads="1"/>
          </p:cNvSpPr>
          <p:nvPr/>
        </p:nvSpPr>
        <p:spPr bwMode="auto">
          <a:xfrm>
            <a:off x="1524000" y="762000"/>
            <a:ext cx="1219200" cy="1219200"/>
          </a:xfrm>
          <a:prstGeom prst="rect">
            <a:avLst/>
          </a:prstGeom>
          <a:noFill/>
          <a:ln w="28575">
            <a:solidFill>
              <a:schemeClr val="tx1"/>
            </a:solidFill>
            <a:miter lim="800000"/>
            <a:headEnd/>
            <a:tailEnd/>
          </a:ln>
        </p:spPr>
        <p:txBody>
          <a:bodyPr wrap="none" anchor="ctr"/>
          <a:lstStyle/>
          <a:p>
            <a:endParaRPr lang="en-US"/>
          </a:p>
        </p:txBody>
      </p:sp>
      <p:sp>
        <p:nvSpPr>
          <p:cNvPr id="67682" name="Rectangle 153"/>
          <p:cNvSpPr>
            <a:spLocks noChangeArrowheads="1"/>
          </p:cNvSpPr>
          <p:nvPr/>
        </p:nvSpPr>
        <p:spPr bwMode="auto">
          <a:xfrm>
            <a:off x="2133600" y="1066800"/>
            <a:ext cx="914400" cy="1219200"/>
          </a:xfrm>
          <a:prstGeom prst="rect">
            <a:avLst/>
          </a:prstGeom>
          <a:noFill/>
          <a:ln w="28575">
            <a:solidFill>
              <a:schemeClr val="tx1"/>
            </a:solidFill>
            <a:miter lim="800000"/>
            <a:headEnd/>
            <a:tailEnd/>
          </a:ln>
        </p:spPr>
        <p:txBody>
          <a:bodyPr wrap="none" anchor="ctr"/>
          <a:lstStyle/>
          <a:p>
            <a:endParaRPr lang="en-US"/>
          </a:p>
        </p:txBody>
      </p:sp>
      <p:sp>
        <p:nvSpPr>
          <p:cNvPr id="67683" name="Line 154"/>
          <p:cNvSpPr>
            <a:spLocks noChangeShapeType="1"/>
          </p:cNvSpPr>
          <p:nvPr/>
        </p:nvSpPr>
        <p:spPr bwMode="auto">
          <a:xfrm>
            <a:off x="1219200" y="3429000"/>
            <a:ext cx="2590800" cy="0"/>
          </a:xfrm>
          <a:prstGeom prst="line">
            <a:avLst/>
          </a:prstGeom>
          <a:noFill/>
          <a:ln w="9525">
            <a:solidFill>
              <a:schemeClr val="tx1"/>
            </a:solidFill>
            <a:round/>
            <a:headEnd/>
            <a:tailEnd/>
          </a:ln>
        </p:spPr>
        <p:txBody>
          <a:bodyPr wrap="none" anchor="ctr"/>
          <a:lstStyle/>
          <a:p>
            <a:endParaRPr lang="en-US"/>
          </a:p>
        </p:txBody>
      </p:sp>
      <p:sp>
        <p:nvSpPr>
          <p:cNvPr id="67684" name="Freeform 155"/>
          <p:cNvSpPr>
            <a:spLocks/>
          </p:cNvSpPr>
          <p:nvPr/>
        </p:nvSpPr>
        <p:spPr bwMode="auto">
          <a:xfrm>
            <a:off x="1528763" y="3327400"/>
            <a:ext cx="1557337" cy="109538"/>
          </a:xfrm>
          <a:custGeom>
            <a:avLst/>
            <a:gdLst>
              <a:gd name="T0" fmla="*/ 0 w 981"/>
              <a:gd name="T1" fmla="*/ 2147483647 h 69"/>
              <a:gd name="T2" fmla="*/ 2147483647 w 981"/>
              <a:gd name="T3" fmla="*/ 2147483647 h 69"/>
              <a:gd name="T4" fmla="*/ 2147483647 w 981"/>
              <a:gd name="T5" fmla="*/ 2147483647 h 69"/>
              <a:gd name="T6" fmla="*/ 2147483647 w 981"/>
              <a:gd name="T7" fmla="*/ 2147483647 h 69"/>
              <a:gd name="T8" fmla="*/ 2147483647 w 981"/>
              <a:gd name="T9" fmla="*/ 2147483647 h 69"/>
              <a:gd name="T10" fmla="*/ 2147483647 w 981"/>
              <a:gd name="T11" fmla="*/ 2147483647 h 69"/>
              <a:gd name="T12" fmla="*/ 2147483647 w 981"/>
              <a:gd name="T13" fmla="*/ 2147483647 h 69"/>
              <a:gd name="T14" fmla="*/ 2147483647 w 981"/>
              <a:gd name="T15" fmla="*/ 2147483647 h 69"/>
              <a:gd name="T16" fmla="*/ 0 w 981"/>
              <a:gd name="T17" fmla="*/ 2147483647 h 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1"/>
              <a:gd name="T28" fmla="*/ 0 h 69"/>
              <a:gd name="T29" fmla="*/ 981 w 981"/>
              <a:gd name="T30" fmla="*/ 69 h 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1" h="69">
                <a:moveTo>
                  <a:pt x="0" y="67"/>
                </a:moveTo>
                <a:cubicBezTo>
                  <a:pt x="3" y="66"/>
                  <a:pt x="47" y="57"/>
                  <a:pt x="52" y="52"/>
                </a:cubicBezTo>
                <a:cubicBezTo>
                  <a:pt x="57" y="46"/>
                  <a:pt x="54" y="35"/>
                  <a:pt x="59" y="30"/>
                </a:cubicBezTo>
                <a:cubicBezTo>
                  <a:pt x="72" y="17"/>
                  <a:pt x="94" y="20"/>
                  <a:pt x="111" y="15"/>
                </a:cubicBezTo>
                <a:cubicBezTo>
                  <a:pt x="326" y="34"/>
                  <a:pt x="603" y="11"/>
                  <a:pt x="792" y="8"/>
                </a:cubicBezTo>
                <a:cubicBezTo>
                  <a:pt x="839" y="0"/>
                  <a:pt x="879" y="0"/>
                  <a:pt x="926" y="15"/>
                </a:cubicBezTo>
                <a:cubicBezTo>
                  <a:pt x="957" y="36"/>
                  <a:pt x="981" y="40"/>
                  <a:pt x="941" y="67"/>
                </a:cubicBezTo>
                <a:cubicBezTo>
                  <a:pt x="862" y="48"/>
                  <a:pt x="948" y="66"/>
                  <a:pt x="778" y="67"/>
                </a:cubicBezTo>
                <a:cubicBezTo>
                  <a:pt x="519" y="69"/>
                  <a:pt x="259" y="67"/>
                  <a:pt x="0" y="67"/>
                </a:cubicBezTo>
                <a:close/>
              </a:path>
            </a:pathLst>
          </a:custGeom>
          <a:solidFill>
            <a:schemeClr val="tx2"/>
          </a:solidFill>
          <a:ln w="9525">
            <a:solidFill>
              <a:schemeClr val="tx1"/>
            </a:solidFill>
            <a:round/>
            <a:headEnd/>
            <a:tailEnd/>
          </a:ln>
        </p:spPr>
        <p:txBody>
          <a:bodyPr wrap="none" anchor="ctr"/>
          <a:lstStyle/>
          <a:p>
            <a:endParaRPr lang="en-US"/>
          </a:p>
        </p:txBody>
      </p:sp>
      <p:sp>
        <p:nvSpPr>
          <p:cNvPr id="67685" name="Line 156"/>
          <p:cNvSpPr>
            <a:spLocks noChangeShapeType="1"/>
          </p:cNvSpPr>
          <p:nvPr/>
        </p:nvSpPr>
        <p:spPr bwMode="auto">
          <a:xfrm>
            <a:off x="4267200" y="381000"/>
            <a:ext cx="0" cy="2819400"/>
          </a:xfrm>
          <a:prstGeom prst="line">
            <a:avLst/>
          </a:prstGeom>
          <a:noFill/>
          <a:ln w="9525">
            <a:solidFill>
              <a:schemeClr val="tx1"/>
            </a:solidFill>
            <a:round/>
            <a:headEnd/>
            <a:tailEnd/>
          </a:ln>
        </p:spPr>
        <p:txBody>
          <a:bodyPr wrap="none" anchor="ctr"/>
          <a:lstStyle/>
          <a:p>
            <a:endParaRPr lang="en-US"/>
          </a:p>
        </p:txBody>
      </p:sp>
      <p:sp>
        <p:nvSpPr>
          <p:cNvPr id="67686" name="Freeform 157"/>
          <p:cNvSpPr>
            <a:spLocks/>
          </p:cNvSpPr>
          <p:nvPr/>
        </p:nvSpPr>
        <p:spPr bwMode="auto">
          <a:xfrm>
            <a:off x="4114800" y="752475"/>
            <a:ext cx="198438" cy="1522413"/>
          </a:xfrm>
          <a:custGeom>
            <a:avLst/>
            <a:gdLst>
              <a:gd name="T0" fmla="*/ 2147483647 w 125"/>
              <a:gd name="T1" fmla="*/ 0 h 959"/>
              <a:gd name="T2" fmla="*/ 2147483647 w 125"/>
              <a:gd name="T3" fmla="*/ 2147483647 h 959"/>
              <a:gd name="T4" fmla="*/ 2147483647 w 125"/>
              <a:gd name="T5" fmla="*/ 2147483647 h 959"/>
              <a:gd name="T6" fmla="*/ 2147483647 w 125"/>
              <a:gd name="T7" fmla="*/ 2147483647 h 959"/>
              <a:gd name="T8" fmla="*/ 0 w 125"/>
              <a:gd name="T9" fmla="*/ 2147483647 h 959"/>
              <a:gd name="T10" fmla="*/ 2147483647 w 125"/>
              <a:gd name="T11" fmla="*/ 2147483647 h 959"/>
              <a:gd name="T12" fmla="*/ 2147483647 w 125"/>
              <a:gd name="T13" fmla="*/ 2147483647 h 959"/>
              <a:gd name="T14" fmla="*/ 2147483647 w 125"/>
              <a:gd name="T15" fmla="*/ 2147483647 h 959"/>
              <a:gd name="T16" fmla="*/ 2147483647 w 125"/>
              <a:gd name="T17" fmla="*/ 2147483647 h 959"/>
              <a:gd name="T18" fmla="*/ 2147483647 w 125"/>
              <a:gd name="T19" fmla="*/ 2147483647 h 959"/>
              <a:gd name="T20" fmla="*/ 2147483647 w 125"/>
              <a:gd name="T21" fmla="*/ 0 h 9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959"/>
              <a:gd name="T35" fmla="*/ 125 w 125"/>
              <a:gd name="T36" fmla="*/ 959 h 9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959">
                <a:moveTo>
                  <a:pt x="97" y="0"/>
                </a:moveTo>
                <a:cubicBezTo>
                  <a:pt x="92" y="7"/>
                  <a:pt x="86" y="14"/>
                  <a:pt x="82" y="22"/>
                </a:cubicBezTo>
                <a:cubicBezTo>
                  <a:pt x="76" y="36"/>
                  <a:pt x="67" y="67"/>
                  <a:pt x="67" y="67"/>
                </a:cubicBezTo>
                <a:cubicBezTo>
                  <a:pt x="59" y="183"/>
                  <a:pt x="41" y="283"/>
                  <a:pt x="8" y="393"/>
                </a:cubicBezTo>
                <a:cubicBezTo>
                  <a:pt x="5" y="452"/>
                  <a:pt x="0" y="512"/>
                  <a:pt x="0" y="571"/>
                </a:cubicBezTo>
                <a:cubicBezTo>
                  <a:pt x="0" y="667"/>
                  <a:pt x="14" y="765"/>
                  <a:pt x="37" y="859"/>
                </a:cubicBezTo>
                <a:cubicBezTo>
                  <a:pt x="45" y="893"/>
                  <a:pt x="54" y="937"/>
                  <a:pt x="82" y="956"/>
                </a:cubicBezTo>
                <a:cubicBezTo>
                  <a:pt x="114" y="906"/>
                  <a:pt x="89" y="959"/>
                  <a:pt x="89" y="911"/>
                </a:cubicBezTo>
                <a:cubicBezTo>
                  <a:pt x="89" y="898"/>
                  <a:pt x="94" y="886"/>
                  <a:pt x="97" y="874"/>
                </a:cubicBezTo>
                <a:cubicBezTo>
                  <a:pt x="100" y="647"/>
                  <a:pt x="125" y="384"/>
                  <a:pt x="89" y="148"/>
                </a:cubicBezTo>
                <a:cubicBezTo>
                  <a:pt x="98" y="30"/>
                  <a:pt x="97" y="79"/>
                  <a:pt x="97" y="0"/>
                </a:cubicBezTo>
                <a:close/>
              </a:path>
            </a:pathLst>
          </a:custGeom>
          <a:solidFill>
            <a:schemeClr val="tx2"/>
          </a:solidFill>
          <a:ln w="9525">
            <a:solidFill>
              <a:schemeClr val="tx1"/>
            </a:solidFill>
            <a:round/>
            <a:headEnd/>
            <a:tailEnd/>
          </a:ln>
        </p:spPr>
        <p:txBody>
          <a:bodyPr wrap="none" anchor="ctr"/>
          <a:lstStyle/>
          <a:p>
            <a:endParaRPr lang="en-US"/>
          </a:p>
        </p:txBody>
      </p:sp>
      <p:sp>
        <p:nvSpPr>
          <p:cNvPr id="159" name="Slide Number Placeholder 158"/>
          <p:cNvSpPr>
            <a:spLocks noGrp="1"/>
          </p:cNvSpPr>
          <p:nvPr>
            <p:ph type="sldNum" sz="quarter" idx="12"/>
          </p:nvPr>
        </p:nvSpPr>
        <p:spPr/>
        <p:txBody>
          <a:bodyPr/>
          <a:lstStyle/>
          <a:p>
            <a:pPr>
              <a:defRPr/>
            </a:pPr>
            <a:fld id="{D3D212DC-59E6-444E-AD7D-AB217D4E4668}" type="slidenum">
              <a:rPr lang="en-US" altLang="en-US" smtClean="0"/>
              <a:pPr>
                <a:defRPr/>
              </a:pPr>
              <a:t>33</a:t>
            </a:fld>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2BD42EDE-2164-482E-BE80-0D167750CFF4}" type="slidenum">
              <a:rPr lang="en-US" sz="1200"/>
              <a:pPr algn="r"/>
              <a:t>34</a:t>
            </a:fld>
            <a:endParaRPr lang="en-US" sz="1200"/>
          </a:p>
        </p:txBody>
      </p:sp>
      <p:sp>
        <p:nvSpPr>
          <p:cNvPr id="68611" name="Rectangle 2"/>
          <p:cNvSpPr>
            <a:spLocks noGrp="1" noChangeArrowheads="1"/>
          </p:cNvSpPr>
          <p:nvPr>
            <p:ph type="title" idx="4294967295"/>
          </p:nvPr>
        </p:nvSpPr>
        <p:spPr>
          <a:xfrm>
            <a:off x="457200" y="304800"/>
            <a:ext cx="7559675" cy="650875"/>
          </a:xfrm>
        </p:spPr>
        <p:txBody>
          <a:bodyPr/>
          <a:lstStyle/>
          <a:p>
            <a:pPr eaLnBrk="1" hangingPunct="1"/>
            <a:r>
              <a:rPr lang="en-US" sz="3200" dirty="0"/>
              <a:t>Strength and Weakness</a:t>
            </a:r>
            <a:endParaRPr lang="en-US" sz="2100" b="1" dirty="0"/>
          </a:p>
        </p:txBody>
      </p:sp>
      <p:sp>
        <p:nvSpPr>
          <p:cNvPr id="68612" name="Rectangle 3"/>
          <p:cNvSpPr>
            <a:spLocks noGrp="1" noChangeArrowheads="1"/>
          </p:cNvSpPr>
          <p:nvPr>
            <p:ph type="body" idx="4294967295"/>
          </p:nvPr>
        </p:nvSpPr>
        <p:spPr>
          <a:xfrm>
            <a:off x="304800" y="1447800"/>
            <a:ext cx="8458200" cy="4953000"/>
          </a:xfrm>
        </p:spPr>
        <p:txBody>
          <a:bodyPr/>
          <a:lstStyle/>
          <a:p>
            <a:pPr eaLnBrk="1" hangingPunct="1"/>
            <a:r>
              <a:rPr lang="en-US" sz="2400" u="sng" dirty="0"/>
              <a:t>Strength</a:t>
            </a:r>
            <a:r>
              <a:rPr lang="en-US" sz="2400" dirty="0"/>
              <a:t> </a:t>
            </a:r>
          </a:p>
          <a:p>
            <a:pPr lvl="1" eaLnBrk="1" hangingPunct="1"/>
            <a:r>
              <a:rPr lang="en-US" sz="2400" i="1" u="sng" dirty="0"/>
              <a:t>automatically</a:t>
            </a:r>
            <a:r>
              <a:rPr lang="en-US" sz="2400" u="sng" dirty="0"/>
              <a:t> finds subspaces of the</a:t>
            </a:r>
            <a:r>
              <a:rPr lang="en-US" sz="2400" dirty="0"/>
              <a:t> </a:t>
            </a:r>
            <a:r>
              <a:rPr lang="en-US" sz="2400" u="sng" dirty="0"/>
              <a:t>highest dimensionality</a:t>
            </a:r>
            <a:r>
              <a:rPr lang="en-US" sz="2400" dirty="0"/>
              <a:t> such that high density clusters exist in those subspaces</a:t>
            </a:r>
          </a:p>
          <a:p>
            <a:pPr lvl="1" eaLnBrk="1" hangingPunct="1"/>
            <a:r>
              <a:rPr lang="en-US" sz="2400" i="1" dirty="0"/>
              <a:t>insensitive</a:t>
            </a:r>
            <a:r>
              <a:rPr lang="en-US" sz="2400" dirty="0"/>
              <a:t> to the order of records in input and does not presume some canonical data distribution</a:t>
            </a:r>
          </a:p>
          <a:p>
            <a:pPr lvl="1" eaLnBrk="1" hangingPunct="1"/>
            <a:r>
              <a:rPr lang="en-US" sz="2400" dirty="0"/>
              <a:t>scales</a:t>
            </a:r>
            <a:r>
              <a:rPr lang="en-US" sz="2400" i="1" dirty="0"/>
              <a:t> linearly</a:t>
            </a:r>
            <a:r>
              <a:rPr lang="en-US" sz="2400" dirty="0"/>
              <a:t> with the size of input and has good scalability as the number of dimensions in the data increases</a:t>
            </a:r>
          </a:p>
          <a:p>
            <a:pPr eaLnBrk="1" hangingPunct="1"/>
            <a:r>
              <a:rPr lang="en-US" sz="2400" u="sng" dirty="0"/>
              <a:t>Weakness</a:t>
            </a:r>
            <a:endParaRPr lang="en-US" sz="2400" dirty="0"/>
          </a:p>
          <a:p>
            <a:pPr lvl="1" eaLnBrk="1" hangingPunct="1"/>
            <a:r>
              <a:rPr lang="en-US" sz="2400" dirty="0"/>
              <a:t>The accuracy of the clustering result may be degraded at the expense of simplicity of the method</a:t>
            </a:r>
          </a:p>
        </p:txBody>
      </p:sp>
      <p:sp>
        <p:nvSpPr>
          <p:cNvPr id="5" name="Slide Number Placeholder 4"/>
          <p:cNvSpPr>
            <a:spLocks noGrp="1"/>
          </p:cNvSpPr>
          <p:nvPr>
            <p:ph type="sldNum" sz="quarter" idx="12"/>
          </p:nvPr>
        </p:nvSpPr>
        <p:spPr/>
        <p:txBody>
          <a:bodyPr/>
          <a:lstStyle/>
          <a:p>
            <a:pPr>
              <a:defRPr/>
            </a:pPr>
            <a:fld id="{D3D212DC-59E6-444E-AD7D-AB217D4E4668}" type="slidenum">
              <a:rPr lang="en-US" altLang="en-US" smtClean="0"/>
              <a:pPr>
                <a:defRPr/>
              </a:pPr>
              <a:t>34</a:t>
            </a:fld>
            <a:endParaRPr lang="en-US"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type="body" idx="1"/>
          </p:nvPr>
        </p:nvSpPr>
        <p:spPr>
          <a:xfrm>
            <a:off x="381000" y="1295400"/>
            <a:ext cx="8382000" cy="5410200"/>
          </a:xfrm>
        </p:spPr>
        <p:txBody>
          <a:bodyPr/>
          <a:lstStyle/>
          <a:p>
            <a:pPr eaLnBrk="1" hangingPunct="1"/>
            <a:r>
              <a:rPr lang="en-US" altLang="zh-CN" sz="2000" dirty="0">
                <a:solidFill>
                  <a:schemeClr val="hlink"/>
                </a:solidFill>
                <a:ea typeface="SimSun" pitchFamily="2" charset="-122"/>
              </a:rPr>
              <a:t>Cluster analysis</a:t>
            </a:r>
            <a:r>
              <a:rPr lang="en-US" altLang="zh-CN" sz="2000" dirty="0">
                <a:ea typeface="SimSun" pitchFamily="2" charset="-122"/>
              </a:rPr>
              <a:t> groups objects based on their </a:t>
            </a:r>
            <a:r>
              <a:rPr lang="en-US" altLang="zh-CN" sz="2000" dirty="0">
                <a:solidFill>
                  <a:schemeClr val="hlink"/>
                </a:solidFill>
                <a:ea typeface="SimSun" pitchFamily="2" charset="-122"/>
              </a:rPr>
              <a:t>similarity</a:t>
            </a:r>
            <a:r>
              <a:rPr lang="en-US" altLang="zh-CN" sz="2000" dirty="0">
                <a:ea typeface="SimSun" pitchFamily="2" charset="-122"/>
              </a:rPr>
              <a:t>  and has wide applications</a:t>
            </a:r>
          </a:p>
          <a:p>
            <a:pPr eaLnBrk="1" hangingPunct="1">
              <a:buNone/>
            </a:pPr>
            <a:endParaRPr lang="en-US" altLang="zh-CN" sz="2000" dirty="0">
              <a:ea typeface="SimSun" pitchFamily="2" charset="-122"/>
            </a:endParaRPr>
          </a:p>
          <a:p>
            <a:pPr eaLnBrk="1" hangingPunct="1"/>
            <a:r>
              <a:rPr lang="en-US" altLang="zh-CN" sz="2000" dirty="0">
                <a:ea typeface="SimSun" pitchFamily="2" charset="-122"/>
              </a:rPr>
              <a:t>Measure of similarity can be computed for </a:t>
            </a:r>
            <a:r>
              <a:rPr lang="en-US" altLang="zh-CN" sz="2000" dirty="0">
                <a:solidFill>
                  <a:schemeClr val="hlink"/>
                </a:solidFill>
                <a:ea typeface="SimSun" pitchFamily="2" charset="-122"/>
              </a:rPr>
              <a:t>various types of data</a:t>
            </a:r>
          </a:p>
          <a:p>
            <a:pPr eaLnBrk="1" hangingPunct="1"/>
            <a:endParaRPr lang="en-US" altLang="zh-CN" sz="2000" dirty="0">
              <a:solidFill>
                <a:schemeClr val="hlink"/>
              </a:solidFill>
              <a:ea typeface="SimSun" pitchFamily="2" charset="-122"/>
            </a:endParaRPr>
          </a:p>
          <a:p>
            <a:pPr eaLnBrk="1" hangingPunct="1"/>
            <a:r>
              <a:rPr lang="en-US" altLang="zh-CN" sz="2000" dirty="0">
                <a:ea typeface="SimSun" pitchFamily="2" charset="-122"/>
              </a:rPr>
              <a:t>Clustering algorithms can be </a:t>
            </a:r>
            <a:r>
              <a:rPr lang="en-US" altLang="zh-CN" sz="2000" dirty="0">
                <a:solidFill>
                  <a:schemeClr val="hlink"/>
                </a:solidFill>
                <a:ea typeface="SimSun" pitchFamily="2" charset="-122"/>
              </a:rPr>
              <a:t>categorized</a:t>
            </a:r>
            <a:r>
              <a:rPr lang="en-US" altLang="zh-CN" sz="2000" dirty="0">
                <a:ea typeface="SimSun" pitchFamily="2" charset="-122"/>
              </a:rPr>
              <a:t> into partitioning methods, hierarchical methods, density-based methods, </a:t>
            </a:r>
            <a:r>
              <a:rPr lang="en-US" altLang="zh-CN" sz="2000">
                <a:ea typeface="SimSun" pitchFamily="2" charset="-122"/>
              </a:rPr>
              <a:t>grid-based methods</a:t>
            </a:r>
          </a:p>
          <a:p>
            <a:pPr eaLnBrk="1" hangingPunct="1"/>
            <a:endParaRPr lang="en-US" altLang="zh-CN" sz="2000" dirty="0">
              <a:ea typeface="SimSun" pitchFamily="2" charset="-122"/>
            </a:endParaRPr>
          </a:p>
          <a:p>
            <a:pPr eaLnBrk="1" hangingPunct="1"/>
            <a:r>
              <a:rPr lang="en-US" altLang="zh-CN" sz="2000" dirty="0">
                <a:ea typeface="SimSun" pitchFamily="2" charset="-122"/>
              </a:rPr>
              <a:t>Quality of clustering results can be evaluated in various ways</a:t>
            </a:r>
            <a:r>
              <a:rPr lang="en-US" altLang="zh-CN" sz="2000" dirty="0">
                <a:solidFill>
                  <a:schemeClr val="hlink"/>
                </a:solidFill>
                <a:ea typeface="SimSun" pitchFamily="2" charset="-122"/>
              </a:rPr>
              <a:t> </a:t>
            </a:r>
            <a:endParaRPr lang="en-US" altLang="zh-CN" sz="2000" dirty="0">
              <a:ea typeface="SimSun" pitchFamily="2" charset="-122"/>
            </a:endParaRPr>
          </a:p>
        </p:txBody>
      </p:sp>
      <p:sp>
        <p:nvSpPr>
          <p:cNvPr id="5" name="Rectangle 2"/>
          <p:cNvSpPr txBox="1">
            <a:spLocks noChangeArrowheads="1"/>
          </p:cNvSpPr>
          <p:nvPr/>
        </p:nvSpPr>
        <p:spPr>
          <a:xfrm>
            <a:off x="0" y="152400"/>
            <a:ext cx="9144000" cy="990600"/>
          </a:xfrm>
          <a:prstGeom prst="rect">
            <a:avLst/>
          </a:prstGeom>
        </p:spPr>
        <p:txBody>
          <a:bodyPr lIns="92075" tIns="46038" rIns="92075" bIns="46038" anchor="ctr" anchorCtr="0">
            <a:normAutofit/>
          </a:bodyPr>
          <a:lstStyle/>
          <a:p>
            <a:pPr lvl="0" eaLnBrk="1" fontAlgn="auto" hangingPunct="1">
              <a:spcAft>
                <a:spcPts val="0"/>
              </a:spcAft>
            </a:pPr>
            <a:r>
              <a:rPr lang="en-US" altLang="zh-CN" sz="3600" dirty="0">
                <a:solidFill>
                  <a:schemeClr val="tx2"/>
                </a:solidFill>
                <a:latin typeface="+mj-lt"/>
                <a:ea typeface="SimSun" pitchFamily="2" charset="-122"/>
              </a:rPr>
              <a:t>Summary</a:t>
            </a:r>
            <a:endParaRPr kumimoji="0" lang="en-US" altLang="zh-CN" sz="3600" b="0" i="0" u="none" strike="noStrike" kern="1200" cap="none" spc="0" normalizeH="0" baseline="0" noProof="0" dirty="0">
              <a:ln>
                <a:noFill/>
              </a:ln>
              <a:solidFill>
                <a:schemeClr val="tx2"/>
              </a:solidFill>
              <a:effectLst/>
              <a:uLnTx/>
              <a:uFillTx/>
              <a:latin typeface="+mj-lt"/>
              <a:ea typeface="PMingLiU" pitchFamily="18" charset="-120"/>
              <a:cs typeface="+mj-cs"/>
            </a:endParaRP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533400"/>
            <a:ext cx="7543800" cy="884238"/>
          </a:xfrm>
        </p:spPr>
        <p:txBody>
          <a:bodyPr/>
          <a:lstStyle/>
          <a:p>
            <a:r>
              <a:rPr lang="en-US" dirty="0"/>
              <a:t>Acknowledgement</a:t>
            </a:r>
          </a:p>
        </p:txBody>
      </p:sp>
      <p:sp>
        <p:nvSpPr>
          <p:cNvPr id="6" name="Content Placeholder 5"/>
          <p:cNvSpPr>
            <a:spLocks noGrp="1"/>
          </p:cNvSpPr>
          <p:nvPr>
            <p:ph sz="quarter" idx="1"/>
          </p:nvPr>
        </p:nvSpPr>
        <p:spPr/>
        <p:txBody>
          <a:bodyPr>
            <a:noAutofit/>
          </a:bodyPr>
          <a:lstStyle/>
          <a:p>
            <a:pPr marL="400050">
              <a:lnSpc>
                <a:spcPct val="90000"/>
              </a:lnSpc>
            </a:pPr>
            <a:r>
              <a:rPr lang="en-US" sz="2400" dirty="0"/>
              <a:t>Reading Materials -Class Lecture</a:t>
            </a:r>
          </a:p>
          <a:p>
            <a:pPr marL="400050">
              <a:lnSpc>
                <a:spcPct val="90000"/>
              </a:lnSpc>
            </a:pPr>
            <a:r>
              <a:rPr lang="en-US" sz="2400" dirty="0"/>
              <a:t>Text Book: (J. Han et al.) Chapter 10</a:t>
            </a:r>
          </a:p>
          <a:p>
            <a:r>
              <a:rPr lang="en-US" sz="2000" dirty="0"/>
              <a:t>Text Book: (V. Kumar et al.) Chapter 7</a:t>
            </a:r>
          </a:p>
          <a:p>
            <a:endParaRPr lang="en-US" sz="2200" dirty="0"/>
          </a:p>
        </p:txBody>
      </p:sp>
      <p:sp>
        <p:nvSpPr>
          <p:cNvPr id="8" name="Slide Number Placeholder 7"/>
          <p:cNvSpPr>
            <a:spLocks noGrp="1"/>
          </p:cNvSpPr>
          <p:nvPr>
            <p:ph type="sldNum" sz="quarter" idx="11"/>
          </p:nvPr>
        </p:nvSpPr>
        <p:spPr/>
        <p:txBody>
          <a:bodyPr/>
          <a:lstStyle/>
          <a:p>
            <a:pPr>
              <a:defRPr/>
            </a:pPr>
            <a:fld id="{4635AE12-246C-49B1-92D7-252397D611F1}" type="slidenum">
              <a:rPr lang="en-US" smtClean="0"/>
              <a:pPr>
                <a:defRPr/>
              </a:pPr>
              <a:t>36</a:t>
            </a:fld>
            <a:endParaRPr lang="en-US"/>
          </a:p>
        </p:txBody>
      </p:sp>
    </p:spTree>
  </p:cSld>
  <p:clrMapOvr>
    <a:masterClrMapping/>
  </p:clrMapOvr>
  <p:transition/>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2677</TotalTime>
  <Words>5702</Words>
  <Application>Microsoft Office PowerPoint</Application>
  <PresentationFormat>On-screen Show (4:3)</PresentationFormat>
  <Paragraphs>635</Paragraphs>
  <Slides>36</Slides>
  <Notes>30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36</vt:i4>
      </vt:variant>
    </vt:vector>
  </HeadingPairs>
  <TitlesOfParts>
    <vt:vector size="47" baseType="lpstr">
      <vt:lpstr>Gulim</vt:lpstr>
      <vt:lpstr>SimSun</vt:lpstr>
      <vt:lpstr>Arial</vt:lpstr>
      <vt:lpstr>Calibri</vt:lpstr>
      <vt:lpstr>Cambria Math</vt:lpstr>
      <vt:lpstr>Symbol</vt:lpstr>
      <vt:lpstr>Times New Roman</vt:lpstr>
      <vt:lpstr>Wingdings</vt:lpstr>
      <vt:lpstr>Network</vt:lpstr>
      <vt:lpstr>Worksheet</vt:lpstr>
      <vt:lpstr>Equation</vt:lpstr>
      <vt:lpstr>Data Mining (CSE 6506)  </vt:lpstr>
      <vt:lpstr>MST: Divisive Hierarchical Clustering</vt:lpstr>
      <vt:lpstr>MST: Divisive Hierarchical Clustering</vt:lpstr>
      <vt:lpstr>Hierarchical Clustering:  Time and Space requirements</vt:lpstr>
      <vt:lpstr>Problems and Limitations</vt:lpstr>
      <vt:lpstr>PowerPoint Presentation</vt:lpstr>
      <vt:lpstr>PowerPoint Presentation</vt:lpstr>
      <vt:lpstr>CF Tree</vt:lpstr>
      <vt:lpstr>PowerPoint Presentation</vt:lpstr>
      <vt:lpstr>CF Tree</vt:lpstr>
      <vt:lpstr>Insertion of CF Tree</vt:lpstr>
      <vt:lpstr>CF Tree insertion (L=2)</vt:lpstr>
      <vt:lpstr>Split in CF Tree (B=3, L=3)</vt:lpstr>
      <vt:lpstr>CF Tree</vt:lpstr>
      <vt:lpstr>CF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DBSCAN: Core, Border and Noise Points</vt:lpstr>
      <vt:lpstr>When DBSCAN Works Well</vt:lpstr>
      <vt:lpstr>When DBSCAN Does NOT Work Well</vt:lpstr>
      <vt:lpstr>DBSCAN: Determining EPS and MinPts</vt:lpstr>
      <vt:lpstr>PowerPoint Presentation</vt:lpstr>
      <vt:lpstr>PowerPoint Presentation</vt:lpstr>
      <vt:lpstr>Strength and Weakness</vt:lpstr>
      <vt:lpstr>PowerPoint Presentation</vt:lpstr>
      <vt:lpstr>Acknowledgement</vt:lpstr>
    </vt:vector>
  </TitlesOfParts>
  <Company>Orion Research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COVERAGE IN HETEROGENEOUS SENSOR NETWORK</dc:title>
  <dc:creator>Orion</dc:creator>
  <cp:lastModifiedBy>Md Manirujjaman</cp:lastModifiedBy>
  <cp:revision>171</cp:revision>
  <dcterms:created xsi:type="dcterms:W3CDTF">2006-11-09T03:30:31Z</dcterms:created>
  <dcterms:modified xsi:type="dcterms:W3CDTF">2026-03-25T17:58:17Z</dcterms:modified>
</cp:coreProperties>
</file>