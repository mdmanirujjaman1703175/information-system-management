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72" r:id="rId14"/>
    <p:sldId id="273" r:id="rId15"/>
    <p:sldId id="275" r:id="rId16"/>
    <p:sldId id="269" r:id="rId17"/>
    <p:sldId id="270" r:id="rId18"/>
    <p:sldId id="274" r:id="rId19"/>
    <p:sldId id="271"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157" autoAdjust="0"/>
  </p:normalViewPr>
  <p:slideViewPr>
    <p:cSldViewPr snapToGrid="0">
      <p:cViewPr varScale="1">
        <p:scale>
          <a:sx n="59" d="100"/>
          <a:sy n="59" d="100"/>
        </p:scale>
        <p:origin x="161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5F8C5-9199-48A6-8C7F-77F46862EFB5}"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12E7FC-27F5-45A8-AC7E-181802F9EA2C}" type="slidenum">
              <a:rPr lang="en-US" smtClean="0"/>
              <a:t>‹#›</a:t>
            </a:fld>
            <a:endParaRPr lang="en-US"/>
          </a:p>
        </p:txBody>
      </p:sp>
    </p:spTree>
    <p:extLst>
      <p:ext uri="{BB962C8B-B14F-4D97-AF65-F5344CB8AC3E}">
        <p14:creationId xmlns:p14="http://schemas.microsoft.com/office/powerpoint/2010/main" val="968755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t>Example: </a:t>
            </a:r>
            <a:r>
              <a:rPr lang="en-US" b="1" dirty="0"/>
              <a:t>Enterprise Resource Planning (ERP) System for a Manufacturing Company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Imagine a </a:t>
            </a:r>
            <a:r>
              <a:rPr lang="en-US" b="1" dirty="0"/>
              <a:t>garment manufacturing company in Bangladesh</a:t>
            </a:r>
            <a:r>
              <a:rPr lang="en-US" dirty="0"/>
              <a:t> planning to implement an </a:t>
            </a:r>
            <a:r>
              <a:rPr lang="en-US" b="1" dirty="0"/>
              <a:t>ERP system</a:t>
            </a:r>
            <a:r>
              <a:rPr lang="en-US" dirty="0"/>
              <a:t> (for accounts, inventory, HR, production).</a:t>
            </a:r>
          </a:p>
          <a:p>
            <a:r>
              <a:rPr lang="en-US" dirty="0"/>
              <a:t>1. High Interest Rates:</a:t>
            </a:r>
          </a:p>
          <a:p>
            <a:pPr marL="628650" lvl="1" indent="-171450">
              <a:buFont typeface="Arial" panose="020B0604020202020204" pitchFamily="34" charset="0"/>
              <a:buChar char="•"/>
            </a:pPr>
            <a:r>
              <a:rPr lang="en-US" dirty="0"/>
              <a:t>Company needs a </a:t>
            </a:r>
            <a:r>
              <a:rPr lang="en-US" b="1" dirty="0"/>
              <a:t>bank loan</a:t>
            </a:r>
            <a:r>
              <a:rPr lang="en-US" dirty="0"/>
              <a:t> to buy ERP</a:t>
            </a:r>
          </a:p>
          <a:p>
            <a:pPr marL="628650" lvl="1" indent="-171450">
              <a:buFont typeface="Arial" panose="020B0604020202020204" pitchFamily="34" charset="0"/>
              <a:buChar char="•"/>
            </a:pPr>
            <a:r>
              <a:rPr lang="en-US" dirty="0"/>
              <a:t>High interest rate → loan is expensive</a:t>
            </a:r>
          </a:p>
          <a:p>
            <a:pPr marL="0" indent="0">
              <a:buFont typeface="Arial" panose="020B0604020202020204" pitchFamily="34" charset="0"/>
              <a:buNone/>
            </a:pPr>
            <a:r>
              <a:rPr lang="en-US" dirty="0"/>
              <a:t>If we spend this money, will ERP help us earn or save MORE money than the loan cost?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dirty="0"/>
              <a:t>If ERP saves more money than interest cost → investment is approved</a:t>
            </a:r>
          </a:p>
          <a:p>
            <a:r>
              <a:rPr lang="en-US" dirty="0"/>
              <a:t>2. </a:t>
            </a:r>
            <a:r>
              <a:rPr lang="en-US" b="1" dirty="0"/>
              <a:t>Problem without system</a:t>
            </a:r>
            <a:r>
              <a:rPr lang="en-US" dirty="0"/>
              <a:t>:</a:t>
            </a:r>
          </a:p>
          <a:p>
            <a:r>
              <a:rPr lang="en-US" dirty="0"/>
              <a:t>Manual planning → overproduction → waste → loss</a:t>
            </a:r>
          </a:p>
          <a:p>
            <a:pPr marL="0" indent="0">
              <a:buFont typeface="Arial" panose="020B0604020202020204" pitchFamily="34" charset="0"/>
              <a:buNone/>
            </a:pPr>
            <a:r>
              <a:rPr lang="en-US" dirty="0"/>
              <a:t>ERP helps the company </a:t>
            </a:r>
            <a:r>
              <a:rPr lang="en-US" b="1" dirty="0"/>
              <a:t>control costs when prices are rising</a:t>
            </a:r>
          </a:p>
          <a:p>
            <a:pPr marL="0" indent="0">
              <a:buFont typeface="Arial" panose="020B0604020202020204" pitchFamily="34" charset="0"/>
              <a:buNone/>
            </a:pPr>
            <a:r>
              <a:rPr lang="en-US" b="1" dirty="0"/>
              <a:t>3.</a:t>
            </a:r>
            <a:r>
              <a:rPr lang="en-US" dirty="0"/>
              <a:t> Fixed Employment Costs</a:t>
            </a:r>
          </a:p>
          <a:p>
            <a:pPr marL="0" indent="0">
              <a:buFont typeface="Arial" panose="020B0604020202020204" pitchFamily="34" charset="0"/>
              <a:buNone/>
            </a:pPr>
            <a:r>
              <a:rPr lang="en-US" dirty="0" err="1"/>
              <a:t>ERP:Company</a:t>
            </a:r>
            <a:r>
              <a:rPr lang="en-US" dirty="0"/>
              <a:t> grows </a:t>
            </a:r>
            <a:r>
              <a:rPr lang="en-US" b="1" dirty="0"/>
              <a:t>without increasing staff cost</a:t>
            </a:r>
          </a:p>
          <a:p>
            <a:pPr marL="0" indent="0">
              <a:buFont typeface="Arial" panose="020B0604020202020204" pitchFamily="34" charset="0"/>
              <a:buNone/>
            </a:pPr>
            <a:r>
              <a:rPr lang="en-US" b="1" dirty="0"/>
              <a:t>4.</a:t>
            </a:r>
            <a:r>
              <a:rPr lang="en-US" dirty="0"/>
              <a:t> Resource Shortages :</a:t>
            </a:r>
            <a:r>
              <a:rPr lang="en-US" dirty="0" err="1"/>
              <a:t>ERP:Growth</a:t>
            </a:r>
            <a:r>
              <a:rPr lang="en-US" dirty="0"/>
              <a:t> happens </a:t>
            </a:r>
            <a:r>
              <a:rPr lang="en-US" b="1" dirty="0"/>
              <a:t>by better use, not more resources</a:t>
            </a:r>
          </a:p>
          <a:p>
            <a:pPr marL="0" indent="0">
              <a:buFont typeface="Arial" panose="020B0604020202020204" pitchFamily="34" charset="0"/>
              <a:buNone/>
            </a:pPr>
            <a:r>
              <a:rPr lang="en-US" dirty="0"/>
              <a:t>Core idea: Business conditions decide how information systems are designed, selected, and managed.</a:t>
            </a:r>
          </a:p>
          <a:p>
            <a:endParaRPr lang="en-US" dirty="0"/>
          </a:p>
        </p:txBody>
      </p:sp>
      <p:sp>
        <p:nvSpPr>
          <p:cNvPr id="4" name="Slide Number Placeholder 3"/>
          <p:cNvSpPr>
            <a:spLocks noGrp="1"/>
          </p:cNvSpPr>
          <p:nvPr>
            <p:ph type="sldNum" sz="quarter" idx="5"/>
          </p:nvPr>
        </p:nvSpPr>
        <p:spPr/>
        <p:txBody>
          <a:bodyPr/>
          <a:lstStyle/>
          <a:p>
            <a:fld id="{B612E7FC-27F5-45A8-AC7E-181802F9EA2C}" type="slidenum">
              <a:rPr lang="en-US" smtClean="0"/>
              <a:t>5</a:t>
            </a:fld>
            <a:endParaRPr lang="en-US"/>
          </a:p>
        </p:txBody>
      </p:sp>
    </p:spTree>
    <p:extLst>
      <p:ext uri="{BB962C8B-B14F-4D97-AF65-F5344CB8AC3E}">
        <p14:creationId xmlns:p14="http://schemas.microsoft.com/office/powerpoint/2010/main" val="4204797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Planning doesn’t happen in a vacuum”</a:t>
            </a:r>
            <a:r>
              <a:rPr lang="en-US" dirty="0"/>
              <a:t> means:</a:t>
            </a:r>
          </a:p>
          <a:p>
            <a:r>
              <a:rPr lang="en-US" dirty="0"/>
              <a:t>MIS planning must follow:</a:t>
            </a:r>
          </a:p>
          <a:p>
            <a:pPr lvl="1"/>
            <a:r>
              <a:rPr lang="en-US" dirty="0"/>
              <a:t>Business strategy</a:t>
            </a:r>
          </a:p>
          <a:p>
            <a:pPr lvl="1"/>
            <a:r>
              <a:rPr lang="en-US" dirty="0"/>
              <a:t>Organizational goals</a:t>
            </a:r>
          </a:p>
          <a:p>
            <a:pPr lvl="1"/>
            <a:r>
              <a:rPr lang="en-US" dirty="0"/>
              <a:t>Future direction</a:t>
            </a:r>
          </a:p>
          <a:p>
            <a:endParaRPr lang="en-US" dirty="0"/>
          </a:p>
        </p:txBody>
      </p:sp>
      <p:sp>
        <p:nvSpPr>
          <p:cNvPr id="4" name="Slide Number Placeholder 3"/>
          <p:cNvSpPr>
            <a:spLocks noGrp="1"/>
          </p:cNvSpPr>
          <p:nvPr>
            <p:ph type="sldNum" sz="quarter" idx="5"/>
          </p:nvPr>
        </p:nvSpPr>
        <p:spPr/>
        <p:txBody>
          <a:bodyPr/>
          <a:lstStyle/>
          <a:p>
            <a:fld id="{B612E7FC-27F5-45A8-AC7E-181802F9EA2C}" type="slidenum">
              <a:rPr lang="en-US" smtClean="0"/>
              <a:t>6</a:t>
            </a:fld>
            <a:endParaRPr lang="en-US"/>
          </a:p>
        </p:txBody>
      </p:sp>
    </p:spTree>
    <p:extLst>
      <p:ext uri="{BB962C8B-B14F-4D97-AF65-F5344CB8AC3E}">
        <p14:creationId xmlns:p14="http://schemas.microsoft.com/office/powerpoint/2010/main" val="3872685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latin typeface="Times New Roman" panose="02020603050405020304" pitchFamily="18" charset="0"/>
                <a:cs typeface="Times New Roman" panose="02020603050405020304" pitchFamily="18" charset="0"/>
              </a:rPr>
              <a:t>Low Uncertainty: requirements are clear and stable. Example</a:t>
            </a:r>
          </a:p>
          <a:p>
            <a:r>
              <a:rPr lang="en-US" b="0" dirty="0">
                <a:latin typeface="Times New Roman" panose="02020603050405020304" pitchFamily="18" charset="0"/>
                <a:cs typeface="Times New Roman" panose="02020603050405020304" pitchFamily="18" charset="0"/>
              </a:rPr>
              <a:t>High Uncertainty: unclear, changing, or hard to imagine.</a:t>
            </a:r>
          </a:p>
          <a:p>
            <a:r>
              <a:rPr lang="en-US" b="0" dirty="0">
                <a:latin typeface="Times New Roman" panose="02020603050405020304" pitchFamily="18" charset="0"/>
                <a:cs typeface="Times New Roman" panose="02020603050405020304" pitchFamily="18" charset="0"/>
              </a:rPr>
              <a:t>within one university system, some parts have low uncertainty and some have high uncertainty.</a:t>
            </a:r>
          </a:p>
          <a:p>
            <a:r>
              <a:rPr lang="en-US" b="0" dirty="0">
                <a:latin typeface="Times New Roman" panose="02020603050405020304" pitchFamily="18" charset="0"/>
                <a:cs typeface="Times New Roman" panose="02020603050405020304" pitchFamily="18" charset="0"/>
              </a:rPr>
              <a:t>Low uncertainty → rules are fixed, already known, and rarely change,</a:t>
            </a:r>
          </a:p>
          <a:p>
            <a:r>
              <a:rPr lang="en-US" b="1" dirty="0">
                <a:latin typeface="Times New Roman" panose="02020603050405020304" pitchFamily="18" charset="0"/>
                <a:cs typeface="Times New Roman" panose="02020603050405020304" pitchFamily="18" charset="0"/>
              </a:rPr>
              <a:t>Example: Result Processing System, Salary and Payroll System, Student Fee Payment System, Student Registration System</a:t>
            </a:r>
          </a:p>
          <a:p>
            <a:r>
              <a:rPr lang="en-US" b="0" dirty="0">
                <a:latin typeface="Times New Roman" panose="02020603050405020304" pitchFamily="18" charset="0"/>
                <a:cs typeface="Times New Roman" panose="02020603050405020304" pitchFamily="18" charset="0"/>
              </a:rPr>
              <a:t>High uncertainty → human behavior, teaching style, or experience matters, and requirements are hard to define clearly</a:t>
            </a:r>
          </a:p>
          <a:p>
            <a:r>
              <a:rPr lang="en-US" b="0"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Example-Lecture Management, Faculty Performance Evaluation System(teaching quality is subjective).</a:t>
            </a:r>
          </a:p>
          <a:p>
            <a:r>
              <a:rPr lang="en-US" b="0" dirty="0">
                <a:latin typeface="Times New Roman" panose="02020603050405020304" pitchFamily="18" charset="0"/>
                <a:cs typeface="Times New Roman" panose="02020603050405020304" pitchFamily="18" charset="0"/>
              </a:rPr>
              <a:t>Is a Syllabus Management System Low or High Uncertainty? </a:t>
            </a:r>
          </a:p>
        </p:txBody>
      </p:sp>
      <p:sp>
        <p:nvSpPr>
          <p:cNvPr id="4" name="Slide Number Placeholder 3"/>
          <p:cNvSpPr>
            <a:spLocks noGrp="1"/>
          </p:cNvSpPr>
          <p:nvPr>
            <p:ph type="sldNum" sz="quarter" idx="5"/>
          </p:nvPr>
        </p:nvSpPr>
        <p:spPr/>
        <p:txBody>
          <a:bodyPr/>
          <a:lstStyle/>
          <a:p>
            <a:fld id="{B612E7FC-27F5-45A8-AC7E-181802F9EA2C}" type="slidenum">
              <a:rPr lang="en-US" smtClean="0"/>
              <a:t>14</a:t>
            </a:fld>
            <a:endParaRPr lang="en-US"/>
          </a:p>
        </p:txBody>
      </p:sp>
    </p:spTree>
    <p:extLst>
      <p:ext uri="{BB962C8B-B14F-4D97-AF65-F5344CB8AC3E}">
        <p14:creationId xmlns:p14="http://schemas.microsoft.com/office/powerpoint/2010/main" val="443167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users cannot clearly explain their needs to a system analyst, they try to </a:t>
            </a:r>
            <a:r>
              <a:rPr lang="en-US" b="1" dirty="0"/>
              <a:t>protect themselves</a:t>
            </a:r>
            <a:r>
              <a:rPr lang="en-US" dirty="0"/>
              <a:t>.</a:t>
            </a:r>
            <a:br>
              <a:rPr lang="en-US" dirty="0"/>
            </a:br>
            <a:r>
              <a:rPr lang="en-US" dirty="0"/>
              <a:t>This protection is called </a:t>
            </a:r>
            <a:r>
              <a:rPr lang="en-US" b="1" dirty="0"/>
              <a:t>user defensive strategies</a:t>
            </a:r>
            <a:r>
              <a:rPr lang="en-US" dirty="0"/>
              <a:t>.</a:t>
            </a:r>
          </a:p>
        </p:txBody>
      </p:sp>
      <p:sp>
        <p:nvSpPr>
          <p:cNvPr id="4" name="Slide Number Placeholder 3"/>
          <p:cNvSpPr>
            <a:spLocks noGrp="1"/>
          </p:cNvSpPr>
          <p:nvPr>
            <p:ph type="sldNum" sz="quarter" idx="5"/>
          </p:nvPr>
        </p:nvSpPr>
        <p:spPr/>
        <p:txBody>
          <a:bodyPr/>
          <a:lstStyle/>
          <a:p>
            <a:fld id="{B612E7FC-27F5-45A8-AC7E-181802F9EA2C}" type="slidenum">
              <a:rPr lang="en-US" smtClean="0"/>
              <a:t>16</a:t>
            </a:fld>
            <a:endParaRPr lang="en-US"/>
          </a:p>
        </p:txBody>
      </p:sp>
    </p:spTree>
    <p:extLst>
      <p:ext uri="{BB962C8B-B14F-4D97-AF65-F5344CB8AC3E}">
        <p14:creationId xmlns:p14="http://schemas.microsoft.com/office/powerpoint/2010/main" val="2106109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12E7FC-27F5-45A8-AC7E-181802F9EA2C}" type="slidenum">
              <a:rPr lang="en-US" smtClean="0"/>
              <a:t>23</a:t>
            </a:fld>
            <a:endParaRPr lang="en-US"/>
          </a:p>
        </p:txBody>
      </p:sp>
    </p:spTree>
    <p:extLst>
      <p:ext uri="{BB962C8B-B14F-4D97-AF65-F5344CB8AC3E}">
        <p14:creationId xmlns:p14="http://schemas.microsoft.com/office/powerpoint/2010/main" val="908226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1D8A60-1DF1-49C6-BB7A-F90EFF8298A8}" type="datetime1">
              <a:rPr lang="en-US" smtClean="0"/>
              <a:t>1/14/2026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AF4605CB-AE1D-40FF-AAFC-303D3E43EDD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909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9AF6EF-D995-48FD-99A3-375FAB29BDB7}" type="datetime1">
              <a:rPr lang="en-US" smtClean="0"/>
              <a:t>1/14/2026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AF4605CB-AE1D-40FF-AAFC-303D3E43EDD2}" type="slidenum">
              <a:rPr lang="en-US" smtClean="0"/>
              <a:t>‹#›</a:t>
            </a:fld>
            <a:endParaRPr lang="en-US"/>
          </a:p>
        </p:txBody>
      </p:sp>
    </p:spTree>
    <p:extLst>
      <p:ext uri="{BB962C8B-B14F-4D97-AF65-F5344CB8AC3E}">
        <p14:creationId xmlns:p14="http://schemas.microsoft.com/office/powerpoint/2010/main" val="2192364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395C21-29FF-46CF-8237-82230BE0499C}" type="datetime1">
              <a:rPr lang="en-US" smtClean="0"/>
              <a:t>1/14/2026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AF4605CB-AE1D-40FF-AAFC-303D3E43EDD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228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13EDE2-AD08-4EAE-A647-77D14556C1DE}" type="datetime1">
              <a:rPr lang="en-US" smtClean="0"/>
              <a:t>1/14/2026</a:t>
            </a:fld>
            <a:endParaRPr lang="en-US"/>
          </a:p>
        </p:txBody>
      </p:sp>
      <p:sp>
        <p:nvSpPr>
          <p:cNvPr id="6" name="Footer Placeholder 5"/>
          <p:cNvSpPr>
            <a:spLocks noGrp="1"/>
          </p:cNvSpPr>
          <p:nvPr>
            <p:ph type="ftr" sz="quarter" idx="11"/>
          </p:nvPr>
        </p:nvSpPr>
        <p:spPr/>
        <p:txBody>
          <a:bodyPr/>
          <a:lstStyle/>
          <a:p>
            <a:r>
              <a:rPr lang="en-US"/>
              <a:t>Md. Manirujjaman</a:t>
            </a:r>
          </a:p>
        </p:txBody>
      </p:sp>
      <p:sp>
        <p:nvSpPr>
          <p:cNvPr id="7" name="Slide Number Placeholder 6"/>
          <p:cNvSpPr>
            <a:spLocks noGrp="1"/>
          </p:cNvSpPr>
          <p:nvPr>
            <p:ph type="sldNum" sz="quarter" idx="12"/>
          </p:nvPr>
        </p:nvSpPr>
        <p:spPr/>
        <p:txBody>
          <a:bodyPr/>
          <a:lstStyle/>
          <a:p>
            <a:fld id="{AF4605CB-AE1D-40FF-AAFC-303D3E43EDD2}" type="slidenum">
              <a:rPr lang="en-US" smtClean="0"/>
              <a:t>‹#›</a:t>
            </a:fld>
            <a:endParaRPr lang="en-US"/>
          </a:p>
        </p:txBody>
      </p:sp>
    </p:spTree>
    <p:extLst>
      <p:ext uri="{BB962C8B-B14F-4D97-AF65-F5344CB8AC3E}">
        <p14:creationId xmlns:p14="http://schemas.microsoft.com/office/powerpoint/2010/main" val="2425230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BAA62E-D354-4137-B9DA-DF6FC9A47DC3}" type="datetime1">
              <a:rPr lang="en-US" smtClean="0"/>
              <a:t>1/14/2026</a:t>
            </a:fld>
            <a:endParaRPr lang="en-US"/>
          </a:p>
        </p:txBody>
      </p:sp>
      <p:sp>
        <p:nvSpPr>
          <p:cNvPr id="8" name="Footer Placeholder 7"/>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AF4605CB-AE1D-40FF-AAFC-303D3E43EDD2}" type="slidenum">
              <a:rPr lang="en-US" smtClean="0"/>
              <a:t>‹#›</a:t>
            </a:fld>
            <a:endParaRPr lang="en-US"/>
          </a:p>
        </p:txBody>
      </p:sp>
    </p:spTree>
    <p:extLst>
      <p:ext uri="{BB962C8B-B14F-4D97-AF65-F5344CB8AC3E}">
        <p14:creationId xmlns:p14="http://schemas.microsoft.com/office/powerpoint/2010/main" val="2964114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C3283C-22A5-4DCE-88AE-FF8B3D75F38B}" type="datetime1">
              <a:rPr lang="en-US" smtClean="0"/>
              <a:t>1/14/2026</a:t>
            </a:fld>
            <a:endParaRPr lang="en-US"/>
          </a:p>
        </p:txBody>
      </p:sp>
      <p:sp>
        <p:nvSpPr>
          <p:cNvPr id="4" name="Footer Placeholder 3"/>
          <p:cNvSpPr>
            <a:spLocks noGrp="1"/>
          </p:cNvSpPr>
          <p:nvPr>
            <p:ph type="ftr" sz="quarter" idx="11"/>
          </p:nvPr>
        </p:nvSpPr>
        <p:spPr/>
        <p:txBody>
          <a:bodyPr/>
          <a:lstStyle/>
          <a:p>
            <a:r>
              <a:rPr lang="en-US"/>
              <a:t>Md. Manirujjaman</a:t>
            </a:r>
          </a:p>
        </p:txBody>
      </p:sp>
      <p:sp>
        <p:nvSpPr>
          <p:cNvPr id="5" name="Slide Number Placeholder 4"/>
          <p:cNvSpPr>
            <a:spLocks noGrp="1"/>
          </p:cNvSpPr>
          <p:nvPr>
            <p:ph type="sldNum" sz="quarter" idx="12"/>
          </p:nvPr>
        </p:nvSpPr>
        <p:spPr/>
        <p:txBody>
          <a:bodyPr/>
          <a:lstStyle/>
          <a:p>
            <a:fld id="{AF4605CB-AE1D-40FF-AAFC-303D3E43EDD2}" type="slidenum">
              <a:rPr lang="en-US" smtClean="0"/>
              <a:t>‹#›</a:t>
            </a:fld>
            <a:endParaRPr lang="en-US"/>
          </a:p>
        </p:txBody>
      </p:sp>
    </p:spTree>
    <p:extLst>
      <p:ext uri="{BB962C8B-B14F-4D97-AF65-F5344CB8AC3E}">
        <p14:creationId xmlns:p14="http://schemas.microsoft.com/office/powerpoint/2010/main" val="347464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629CBA3-CF64-48DA-BC17-37D68666A26D}" type="datetime1">
              <a:rPr lang="en-US" smtClean="0"/>
              <a:t>1/14/2026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Md. Manirujjaman</a:t>
            </a:r>
          </a:p>
        </p:txBody>
      </p:sp>
      <p:sp>
        <p:nvSpPr>
          <p:cNvPr id="9" name="Slide Number Placeholder 8"/>
          <p:cNvSpPr>
            <a:spLocks noGrp="1"/>
          </p:cNvSpPr>
          <p:nvPr>
            <p:ph type="sldNum" sz="quarter" idx="12"/>
          </p:nvPr>
        </p:nvSpPr>
        <p:spPr/>
        <p:txBody>
          <a:bodyPr/>
          <a:lstStyle/>
          <a:p>
            <a:fld id="{AF4605CB-AE1D-40FF-AAFC-303D3E43EDD2}" type="slidenum">
              <a:rPr lang="en-US" smtClean="0"/>
              <a:t>‹#›</a:t>
            </a:fld>
            <a:endParaRPr lang="en-US"/>
          </a:p>
        </p:txBody>
      </p:sp>
    </p:spTree>
    <p:extLst>
      <p:ext uri="{BB962C8B-B14F-4D97-AF65-F5344CB8AC3E}">
        <p14:creationId xmlns:p14="http://schemas.microsoft.com/office/powerpoint/2010/main" val="1863691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31B2855-ED18-4B49-9B4F-2835CB98F6CB}" type="datetime1">
              <a:rPr lang="en-US" smtClean="0"/>
              <a:t>1/14/2026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Md. Manirujjaman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F4605CB-AE1D-40FF-AAFC-303D3E43EDD2}" type="slidenum">
              <a:rPr lang="en-US" smtClean="0"/>
              <a:t>‹#›</a:t>
            </a:fld>
            <a:endParaRPr lang="en-US"/>
          </a:p>
        </p:txBody>
      </p:sp>
    </p:spTree>
    <p:extLst>
      <p:ext uri="{BB962C8B-B14F-4D97-AF65-F5344CB8AC3E}">
        <p14:creationId xmlns:p14="http://schemas.microsoft.com/office/powerpoint/2010/main" val="73874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04C6C0-EBDB-41DC-B20D-AAF17E8E2445}" type="datetime1">
              <a:rPr lang="en-US" smtClean="0"/>
              <a:t>1/14/2026</a:t>
            </a:fld>
            <a:endParaRPr lang="en-US"/>
          </a:p>
        </p:txBody>
      </p:sp>
      <p:sp>
        <p:nvSpPr>
          <p:cNvPr id="6" name="Footer Placeholder 5"/>
          <p:cNvSpPr>
            <a:spLocks noGrp="1"/>
          </p:cNvSpPr>
          <p:nvPr>
            <p:ph type="ftr" sz="quarter" idx="11"/>
          </p:nvPr>
        </p:nvSpPr>
        <p:spPr/>
        <p:txBody>
          <a:bodyPr/>
          <a:lstStyle/>
          <a:p>
            <a:r>
              <a:rPr lang="en-US"/>
              <a:t>Md. Manirujjaman</a:t>
            </a:r>
          </a:p>
        </p:txBody>
      </p:sp>
      <p:sp>
        <p:nvSpPr>
          <p:cNvPr id="7" name="Slide Number Placeholder 6"/>
          <p:cNvSpPr>
            <a:spLocks noGrp="1"/>
          </p:cNvSpPr>
          <p:nvPr>
            <p:ph type="sldNum" sz="quarter" idx="12"/>
          </p:nvPr>
        </p:nvSpPr>
        <p:spPr/>
        <p:txBody>
          <a:bodyPr/>
          <a:lstStyle/>
          <a:p>
            <a:fld id="{AF4605CB-AE1D-40FF-AAFC-303D3E43EDD2}" type="slidenum">
              <a:rPr lang="en-US" smtClean="0"/>
              <a:t>‹#›</a:t>
            </a:fld>
            <a:endParaRPr lang="en-US"/>
          </a:p>
        </p:txBody>
      </p:sp>
    </p:spTree>
    <p:extLst>
      <p:ext uri="{BB962C8B-B14F-4D97-AF65-F5344CB8AC3E}">
        <p14:creationId xmlns:p14="http://schemas.microsoft.com/office/powerpoint/2010/main" val="2020267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BBEEC4-FFBA-4E24-ACAC-F4DAE0A8096B}" type="datetime1">
              <a:rPr lang="en-US" smtClean="0"/>
              <a:t>1/14/2026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AF4605CB-AE1D-40FF-AAFC-303D3E43EDD2}" type="slidenum">
              <a:rPr lang="en-US" smtClean="0"/>
              <a:t>‹#›</a:t>
            </a:fld>
            <a:endParaRPr lang="en-US"/>
          </a:p>
        </p:txBody>
      </p:sp>
    </p:spTree>
    <p:extLst>
      <p:ext uri="{BB962C8B-B14F-4D97-AF65-F5344CB8AC3E}">
        <p14:creationId xmlns:p14="http://schemas.microsoft.com/office/powerpoint/2010/main" val="1267284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DA9BCA-49DF-4DB8-A58D-8B40BBF8E825}" type="datetime1">
              <a:rPr lang="en-US" smtClean="0"/>
              <a:t>1/14/2026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AF4605CB-AE1D-40FF-AAFC-303D3E43EDD2}" type="slidenum">
              <a:rPr lang="en-US" smtClean="0"/>
              <a:t>‹#›</a:t>
            </a:fld>
            <a:endParaRPr lang="en-US"/>
          </a:p>
        </p:txBody>
      </p:sp>
    </p:spTree>
    <p:extLst>
      <p:ext uri="{BB962C8B-B14F-4D97-AF65-F5344CB8AC3E}">
        <p14:creationId xmlns:p14="http://schemas.microsoft.com/office/powerpoint/2010/main" val="405109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4BB320F-B6CF-4334-940B-D9654385CA75}" type="datetime1">
              <a:rPr lang="en-US" smtClean="0"/>
              <a:t>1/14/2026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Md. Manirujjaman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F4605CB-AE1D-40FF-AAFC-303D3E43EDD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7438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9C9846-BEF5-3A69-83C5-61A2BA4B3025}"/>
              </a:ext>
            </a:extLst>
          </p:cNvPr>
          <p:cNvSpPr txBox="1"/>
          <p:nvPr/>
        </p:nvSpPr>
        <p:spPr>
          <a:xfrm>
            <a:off x="4522837" y="3682352"/>
            <a:ext cx="2949679" cy="584775"/>
          </a:xfrm>
          <a:prstGeom prst="rect">
            <a:avLst/>
          </a:prstGeom>
          <a:noFill/>
        </p:spPr>
        <p:txBody>
          <a:bodyPr wrap="square">
            <a:spAutoFit/>
          </a:bodyPr>
          <a:lstStyle/>
          <a:p>
            <a:r>
              <a:rPr lang="en-US" sz="3200" dirty="0"/>
              <a:t>Systems Analysis</a:t>
            </a:r>
          </a:p>
        </p:txBody>
      </p:sp>
      <p:sp>
        <p:nvSpPr>
          <p:cNvPr id="2" name="TextBox 1">
            <a:extLst>
              <a:ext uri="{FF2B5EF4-FFF2-40B4-BE49-F238E27FC236}">
                <a16:creationId xmlns:a16="http://schemas.microsoft.com/office/drawing/2014/main" id="{E40BD0D3-2452-2681-EE8C-84F360F84953}"/>
              </a:ext>
            </a:extLst>
          </p:cNvPr>
          <p:cNvSpPr txBox="1"/>
          <p:nvPr/>
        </p:nvSpPr>
        <p:spPr>
          <a:xfrm>
            <a:off x="4045635" y="2755180"/>
            <a:ext cx="3904082" cy="1015663"/>
          </a:xfrm>
          <a:prstGeom prst="rect">
            <a:avLst/>
          </a:prstGeom>
          <a:noFill/>
        </p:spPr>
        <p:txBody>
          <a:bodyPr wrap="none" rtlCol="0">
            <a:spAutoFit/>
          </a:bodyPr>
          <a:lstStyle/>
          <a:p>
            <a:r>
              <a:rPr lang="en-US" sz="6000" b="1" dirty="0">
                <a:solidFill>
                  <a:schemeClr val="accent2">
                    <a:lumMod val="75000"/>
                  </a:schemeClr>
                </a:solidFill>
              </a:rPr>
              <a:t>Chapter -04</a:t>
            </a:r>
          </a:p>
        </p:txBody>
      </p:sp>
      <p:sp>
        <p:nvSpPr>
          <p:cNvPr id="3" name="TextBox 2">
            <a:extLst>
              <a:ext uri="{FF2B5EF4-FFF2-40B4-BE49-F238E27FC236}">
                <a16:creationId xmlns:a16="http://schemas.microsoft.com/office/drawing/2014/main" id="{875AF689-D6CA-C1E8-F9EB-3CF159CD5FA3}"/>
              </a:ext>
            </a:extLst>
          </p:cNvPr>
          <p:cNvSpPr txBox="1"/>
          <p:nvPr/>
        </p:nvSpPr>
        <p:spPr>
          <a:xfrm>
            <a:off x="5030103" y="4397509"/>
            <a:ext cx="2018501" cy="369332"/>
          </a:xfrm>
          <a:prstGeom prst="rect">
            <a:avLst/>
          </a:prstGeom>
          <a:noFill/>
        </p:spPr>
        <p:txBody>
          <a:bodyPr wrap="none" rtlCol="0">
            <a:spAutoFit/>
          </a:bodyPr>
          <a:lstStyle/>
          <a:p>
            <a:r>
              <a:rPr lang="en-US" dirty="0">
                <a:solidFill>
                  <a:schemeClr val="accent2">
                    <a:lumMod val="75000"/>
                  </a:schemeClr>
                </a:solidFill>
                <a:latin typeface="Arial" panose="020B0604020202020204" pitchFamily="34" charset="0"/>
                <a:cs typeface="Arial" panose="020B0604020202020204" pitchFamily="34" charset="0"/>
              </a:rPr>
              <a:t>Md. Manirujjaman</a:t>
            </a:r>
          </a:p>
        </p:txBody>
      </p:sp>
      <p:sp>
        <p:nvSpPr>
          <p:cNvPr id="4" name="Date Placeholder 3">
            <a:extLst>
              <a:ext uri="{FF2B5EF4-FFF2-40B4-BE49-F238E27FC236}">
                <a16:creationId xmlns:a16="http://schemas.microsoft.com/office/drawing/2014/main" id="{CBA1B74D-109C-4BED-CDB9-3768FD25DB29}"/>
              </a:ext>
            </a:extLst>
          </p:cNvPr>
          <p:cNvSpPr>
            <a:spLocks noGrp="1"/>
          </p:cNvSpPr>
          <p:nvPr>
            <p:ph type="dt" sz="half" idx="10"/>
          </p:nvPr>
        </p:nvSpPr>
        <p:spPr/>
        <p:txBody>
          <a:bodyPr/>
          <a:lstStyle/>
          <a:p>
            <a:fld id="{37F58CDD-B229-4F4C-A265-106CA8FEEA45}" type="datetime1">
              <a:rPr lang="en-US" smtClean="0"/>
              <a:t>1/14/2026</a:t>
            </a:fld>
            <a:endParaRPr lang="en-US"/>
          </a:p>
        </p:txBody>
      </p:sp>
      <p:sp>
        <p:nvSpPr>
          <p:cNvPr id="6" name="Footer Placeholder 5">
            <a:extLst>
              <a:ext uri="{FF2B5EF4-FFF2-40B4-BE49-F238E27FC236}">
                <a16:creationId xmlns:a16="http://schemas.microsoft.com/office/drawing/2014/main" id="{9DF7EAC1-02F5-BA0D-AD7A-84144C086954}"/>
              </a:ext>
            </a:extLst>
          </p:cNvPr>
          <p:cNvSpPr>
            <a:spLocks noGrp="1"/>
          </p:cNvSpPr>
          <p:nvPr>
            <p:ph type="ftr" sz="quarter" idx="11"/>
          </p:nvPr>
        </p:nvSpPr>
        <p:spPr/>
        <p:txBody>
          <a:bodyPr/>
          <a:lstStyle/>
          <a:p>
            <a:r>
              <a:rPr lang="en-US"/>
              <a:t>Md. Manirujjaman</a:t>
            </a:r>
          </a:p>
        </p:txBody>
      </p:sp>
      <p:sp>
        <p:nvSpPr>
          <p:cNvPr id="7" name="Slide Number Placeholder 6">
            <a:extLst>
              <a:ext uri="{FF2B5EF4-FFF2-40B4-BE49-F238E27FC236}">
                <a16:creationId xmlns:a16="http://schemas.microsoft.com/office/drawing/2014/main" id="{D4D19B50-C74F-1A88-B4A8-A152B5074C6B}"/>
              </a:ext>
            </a:extLst>
          </p:cNvPr>
          <p:cNvSpPr>
            <a:spLocks noGrp="1"/>
          </p:cNvSpPr>
          <p:nvPr>
            <p:ph type="sldNum" sz="quarter" idx="12"/>
          </p:nvPr>
        </p:nvSpPr>
        <p:spPr/>
        <p:txBody>
          <a:bodyPr/>
          <a:lstStyle/>
          <a:p>
            <a:fld id="{AF4605CB-AE1D-40FF-AAFC-303D3E43EDD2}" type="slidenum">
              <a:rPr lang="en-US" smtClean="0"/>
              <a:t>1</a:t>
            </a:fld>
            <a:endParaRPr lang="en-US"/>
          </a:p>
        </p:txBody>
      </p:sp>
    </p:spTree>
    <p:extLst>
      <p:ext uri="{BB962C8B-B14F-4D97-AF65-F5344CB8AC3E}">
        <p14:creationId xmlns:p14="http://schemas.microsoft.com/office/powerpoint/2010/main" val="3320052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1E309D-5299-5C4C-27BD-AC16368C5614}"/>
              </a:ext>
            </a:extLst>
          </p:cNvPr>
          <p:cNvSpPr txBox="1"/>
          <p:nvPr/>
        </p:nvSpPr>
        <p:spPr>
          <a:xfrm>
            <a:off x="1150374" y="1475289"/>
            <a:ext cx="9891252" cy="3076548"/>
          </a:xfrm>
          <a:prstGeom prst="rect">
            <a:avLst/>
          </a:prstGeom>
          <a:noFill/>
        </p:spPr>
        <p:txBody>
          <a:bodyPr wrap="square">
            <a:spAutoFit/>
          </a:bodyPr>
          <a:lstStyle/>
          <a:p>
            <a:pPr marL="514350" indent="-514350">
              <a:lnSpc>
                <a:spcPct val="150000"/>
              </a:lnSpc>
              <a:buFont typeface="+mj-lt"/>
              <a:buAutoNum type="arabicPeriod"/>
            </a:pPr>
            <a:r>
              <a:rPr lang="en-US" sz="2200" dirty="0">
                <a:latin typeface="Arial" panose="020B0604020202020204" pitchFamily="34" charset="0"/>
                <a:cs typeface="Arial" panose="020B0604020202020204" pitchFamily="34" charset="0"/>
              </a:rPr>
              <a:t>SYSTEMS PLANNING </a:t>
            </a:r>
          </a:p>
          <a:p>
            <a:pPr marL="514350" indent="-514350">
              <a:lnSpc>
                <a:spcPct val="150000"/>
              </a:lnSpc>
              <a:buFont typeface="+mj-lt"/>
              <a:buAutoNum type="arabicPeriod"/>
            </a:pPr>
            <a:r>
              <a:rPr lang="en-US" sz="2200" dirty="0">
                <a:latin typeface="Arial" panose="020B0604020202020204" pitchFamily="34" charset="0"/>
                <a:cs typeface="Arial" panose="020B0604020202020204" pitchFamily="34" charset="0"/>
              </a:rPr>
              <a:t>THE INITIAL INVESTIGATION </a:t>
            </a:r>
          </a:p>
          <a:p>
            <a:pPr marL="514350" indent="-514350">
              <a:lnSpc>
                <a:spcPct val="150000"/>
              </a:lnSpc>
              <a:buFont typeface="+mj-lt"/>
              <a:buAutoNum type="arabicPeriod"/>
            </a:pPr>
            <a:r>
              <a:rPr lang="en-US" sz="2200" dirty="0">
                <a:latin typeface="Arial" panose="020B0604020202020204" pitchFamily="34" charset="0"/>
                <a:cs typeface="Arial" panose="020B0604020202020204" pitchFamily="34" charset="0"/>
              </a:rPr>
              <a:t> INFORMATION GATHERING </a:t>
            </a:r>
          </a:p>
          <a:p>
            <a:pPr marL="514350" indent="-514350">
              <a:lnSpc>
                <a:spcPct val="150000"/>
              </a:lnSpc>
              <a:buFont typeface="+mj-lt"/>
              <a:buAutoNum type="arabicPeriod"/>
            </a:pPr>
            <a:r>
              <a:rPr lang="en-US" sz="2200" dirty="0">
                <a:latin typeface="Arial" panose="020B0604020202020204" pitchFamily="34" charset="0"/>
                <a:cs typeface="Arial" panose="020B0604020202020204" pitchFamily="34" charset="0"/>
              </a:rPr>
              <a:t>THE TOOLS OF STRUCTURED ANALYSIS </a:t>
            </a:r>
          </a:p>
          <a:p>
            <a:pPr marL="514350" indent="-514350">
              <a:lnSpc>
                <a:spcPct val="150000"/>
              </a:lnSpc>
              <a:buFont typeface="+mj-lt"/>
              <a:buAutoNum type="arabicPeriod"/>
            </a:pPr>
            <a:r>
              <a:rPr lang="en-US" sz="2200" dirty="0">
                <a:latin typeface="Arial" panose="020B0604020202020204" pitchFamily="34" charset="0"/>
                <a:cs typeface="Arial" panose="020B0604020202020204" pitchFamily="34" charset="0"/>
              </a:rPr>
              <a:t>FEASIBILITY STUDY </a:t>
            </a:r>
          </a:p>
          <a:p>
            <a:pPr marL="514350" indent="-514350">
              <a:lnSpc>
                <a:spcPct val="150000"/>
              </a:lnSpc>
              <a:buFont typeface="+mj-lt"/>
              <a:buAutoNum type="arabicPeriod"/>
            </a:pPr>
            <a:r>
              <a:rPr lang="en-US" sz="2200" dirty="0">
                <a:latin typeface="Arial" panose="020B0604020202020204" pitchFamily="34" charset="0"/>
                <a:cs typeface="Arial" panose="020B0604020202020204" pitchFamily="34" charset="0"/>
              </a:rPr>
              <a:t>COST/BENEFIT ANALYSIS</a:t>
            </a:r>
          </a:p>
        </p:txBody>
      </p:sp>
      <p:sp>
        <p:nvSpPr>
          <p:cNvPr id="2" name="Date Placeholder 1">
            <a:extLst>
              <a:ext uri="{FF2B5EF4-FFF2-40B4-BE49-F238E27FC236}">
                <a16:creationId xmlns:a16="http://schemas.microsoft.com/office/drawing/2014/main" id="{03D0BD5C-7FA7-0C3B-E82F-499142A62698}"/>
              </a:ext>
            </a:extLst>
          </p:cNvPr>
          <p:cNvSpPr>
            <a:spLocks noGrp="1"/>
          </p:cNvSpPr>
          <p:nvPr>
            <p:ph type="dt" sz="half" idx="10"/>
          </p:nvPr>
        </p:nvSpPr>
        <p:spPr/>
        <p:txBody>
          <a:bodyPr/>
          <a:lstStyle/>
          <a:p>
            <a:fld id="{DD15E8F0-28B4-405D-BD27-B04FA2D2734C}" type="datetime1">
              <a:rPr lang="en-US" smtClean="0"/>
              <a:t>1/14/2026</a:t>
            </a:fld>
            <a:endParaRPr lang="en-US"/>
          </a:p>
        </p:txBody>
      </p:sp>
      <p:sp>
        <p:nvSpPr>
          <p:cNvPr id="4" name="Footer Placeholder 3">
            <a:extLst>
              <a:ext uri="{FF2B5EF4-FFF2-40B4-BE49-F238E27FC236}">
                <a16:creationId xmlns:a16="http://schemas.microsoft.com/office/drawing/2014/main" id="{381FE689-7058-2C20-A94D-30AADCC71551}"/>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C78762C4-DD32-55D0-C065-82717856E8C9}"/>
              </a:ext>
            </a:extLst>
          </p:cNvPr>
          <p:cNvSpPr>
            <a:spLocks noGrp="1"/>
          </p:cNvSpPr>
          <p:nvPr>
            <p:ph type="sldNum" sz="quarter" idx="12"/>
          </p:nvPr>
        </p:nvSpPr>
        <p:spPr/>
        <p:txBody>
          <a:bodyPr/>
          <a:lstStyle/>
          <a:p>
            <a:fld id="{AF4605CB-AE1D-40FF-AAFC-303D3E43EDD2}" type="slidenum">
              <a:rPr lang="en-US" smtClean="0"/>
              <a:t>2</a:t>
            </a:fld>
            <a:endParaRPr lang="en-US"/>
          </a:p>
        </p:txBody>
      </p:sp>
    </p:spTree>
    <p:extLst>
      <p:ext uri="{BB962C8B-B14F-4D97-AF65-F5344CB8AC3E}">
        <p14:creationId xmlns:p14="http://schemas.microsoft.com/office/powerpoint/2010/main" val="4292406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1CB044-3BD1-B2EE-7638-36AC16855153}"/>
              </a:ext>
            </a:extLst>
          </p:cNvPr>
          <p:cNvSpPr txBox="1"/>
          <p:nvPr/>
        </p:nvSpPr>
        <p:spPr>
          <a:xfrm>
            <a:off x="632493" y="1405616"/>
            <a:ext cx="10927014" cy="2239844"/>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dirty="0">
                <a:solidFill>
                  <a:schemeClr val="accent2">
                    <a:lumMod val="75000"/>
                  </a:schemeClr>
                </a:solidFill>
                <a:latin typeface="Arial" panose="020B0604020202020204" pitchFamily="34" charset="0"/>
                <a:cs typeface="Arial" panose="020B0604020202020204" pitchFamily="34" charset="0"/>
              </a:rPr>
              <a:t>Effective system development must begin with proper MIS planning, supported by management, because planning guides all phases of the system life cycle and is essential for successful system analysis, investigation, and implementation.</a:t>
            </a:r>
          </a:p>
        </p:txBody>
      </p:sp>
      <p:sp>
        <p:nvSpPr>
          <p:cNvPr id="2" name="Date Placeholder 1">
            <a:extLst>
              <a:ext uri="{FF2B5EF4-FFF2-40B4-BE49-F238E27FC236}">
                <a16:creationId xmlns:a16="http://schemas.microsoft.com/office/drawing/2014/main" id="{E1C0A366-2ED1-F8F3-F834-321550EE3875}"/>
              </a:ext>
            </a:extLst>
          </p:cNvPr>
          <p:cNvSpPr>
            <a:spLocks noGrp="1"/>
          </p:cNvSpPr>
          <p:nvPr>
            <p:ph type="dt" sz="half" idx="10"/>
          </p:nvPr>
        </p:nvSpPr>
        <p:spPr/>
        <p:txBody>
          <a:bodyPr/>
          <a:lstStyle/>
          <a:p>
            <a:fld id="{1E8800E4-EE08-4844-8D96-F081DC832580}" type="datetime1">
              <a:rPr lang="en-US" smtClean="0"/>
              <a:t>1/14/2026</a:t>
            </a:fld>
            <a:endParaRPr lang="en-US"/>
          </a:p>
        </p:txBody>
      </p:sp>
      <p:sp>
        <p:nvSpPr>
          <p:cNvPr id="4" name="Footer Placeholder 3">
            <a:extLst>
              <a:ext uri="{FF2B5EF4-FFF2-40B4-BE49-F238E27FC236}">
                <a16:creationId xmlns:a16="http://schemas.microsoft.com/office/drawing/2014/main" id="{1C4995CC-1C70-765F-AA56-424EA927AB0B}"/>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86FC0B44-E7E1-2C14-87BC-0E06E2D12C7C}"/>
              </a:ext>
            </a:extLst>
          </p:cNvPr>
          <p:cNvSpPr>
            <a:spLocks noGrp="1"/>
          </p:cNvSpPr>
          <p:nvPr>
            <p:ph type="sldNum" sz="quarter" idx="12"/>
          </p:nvPr>
        </p:nvSpPr>
        <p:spPr/>
        <p:txBody>
          <a:bodyPr/>
          <a:lstStyle/>
          <a:p>
            <a:fld id="{AF4605CB-AE1D-40FF-AAFC-303D3E43EDD2}" type="slidenum">
              <a:rPr lang="en-US" smtClean="0"/>
              <a:t>3</a:t>
            </a:fld>
            <a:endParaRPr lang="en-US"/>
          </a:p>
        </p:txBody>
      </p:sp>
    </p:spTree>
    <p:extLst>
      <p:ext uri="{BB962C8B-B14F-4D97-AF65-F5344CB8AC3E}">
        <p14:creationId xmlns:p14="http://schemas.microsoft.com/office/powerpoint/2010/main" val="431890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0280F8-73DF-D2AC-8E76-F80E18C06108}"/>
              </a:ext>
            </a:extLst>
          </p:cNvPr>
          <p:cNvSpPr txBox="1"/>
          <p:nvPr/>
        </p:nvSpPr>
        <p:spPr>
          <a:xfrm>
            <a:off x="334296" y="625257"/>
            <a:ext cx="7570839" cy="461665"/>
          </a:xfrm>
          <a:prstGeom prst="rect">
            <a:avLst/>
          </a:prstGeom>
          <a:noFill/>
        </p:spPr>
        <p:txBody>
          <a:bodyPr wrap="square">
            <a:spAutoFit/>
          </a:bodyPr>
          <a:lstStyle/>
          <a:p>
            <a:r>
              <a:rPr lang="en-US" sz="2400" dirty="0">
                <a:solidFill>
                  <a:schemeClr val="accent2">
                    <a:lumMod val="75000"/>
                  </a:schemeClr>
                </a:solidFill>
                <a:latin typeface="Arial" panose="020B0604020202020204" pitchFamily="34" charset="0"/>
                <a:cs typeface="Arial" panose="020B0604020202020204" pitchFamily="34" charset="0"/>
              </a:rPr>
              <a:t>BASES FOR PLANNING IN SYSTEMS ANALYSIS</a:t>
            </a:r>
          </a:p>
        </p:txBody>
      </p:sp>
      <p:sp>
        <p:nvSpPr>
          <p:cNvPr id="6" name="TextBox 5">
            <a:extLst>
              <a:ext uri="{FF2B5EF4-FFF2-40B4-BE49-F238E27FC236}">
                <a16:creationId xmlns:a16="http://schemas.microsoft.com/office/drawing/2014/main" id="{76249572-C000-12A4-BCAF-2D3B02241112}"/>
              </a:ext>
            </a:extLst>
          </p:cNvPr>
          <p:cNvSpPr txBox="1"/>
          <p:nvPr/>
        </p:nvSpPr>
        <p:spPr>
          <a:xfrm>
            <a:off x="1097280" y="1239907"/>
            <a:ext cx="10426126" cy="4092211"/>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rPr>
              <a:t>Information as a Resource:</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Information is a critical organizational asset, equal in importance to money, facilities, and personnel, and must be carefully planned and managed.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rPr>
              <a:t>High Investment in Systems:</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Information systems require significant financial investment, demanding proper planning and management oversight.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rPr>
              <a:t>Need for Long-Term Planning:</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Modern systems are complex, integrated, and long-term, requiring formal planning to align them with organizational goals and reduce isolated systems.</a:t>
            </a:r>
          </a:p>
        </p:txBody>
      </p:sp>
      <p:sp>
        <p:nvSpPr>
          <p:cNvPr id="2" name="Date Placeholder 1">
            <a:extLst>
              <a:ext uri="{FF2B5EF4-FFF2-40B4-BE49-F238E27FC236}">
                <a16:creationId xmlns:a16="http://schemas.microsoft.com/office/drawing/2014/main" id="{D6A4752E-ABFB-3AAE-EBCD-D6635648EE75}"/>
              </a:ext>
            </a:extLst>
          </p:cNvPr>
          <p:cNvSpPr>
            <a:spLocks noGrp="1"/>
          </p:cNvSpPr>
          <p:nvPr>
            <p:ph type="dt" sz="half" idx="10"/>
          </p:nvPr>
        </p:nvSpPr>
        <p:spPr/>
        <p:txBody>
          <a:bodyPr/>
          <a:lstStyle/>
          <a:p>
            <a:fld id="{39FDFEE3-A497-4FA4-8113-AA79EDCF19C2}" type="datetime1">
              <a:rPr lang="en-US" smtClean="0"/>
              <a:t>1/14/2026</a:t>
            </a:fld>
            <a:endParaRPr lang="en-US"/>
          </a:p>
        </p:txBody>
      </p:sp>
      <p:sp>
        <p:nvSpPr>
          <p:cNvPr id="4" name="Footer Placeholder 3">
            <a:extLst>
              <a:ext uri="{FF2B5EF4-FFF2-40B4-BE49-F238E27FC236}">
                <a16:creationId xmlns:a16="http://schemas.microsoft.com/office/drawing/2014/main" id="{A0380343-35F0-549A-9E6B-8B001801D9AF}"/>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1CAF4A41-DA2F-5FEA-44A4-89B17F4B245B}"/>
              </a:ext>
            </a:extLst>
          </p:cNvPr>
          <p:cNvSpPr>
            <a:spLocks noGrp="1"/>
          </p:cNvSpPr>
          <p:nvPr>
            <p:ph type="sldNum" sz="quarter" idx="12"/>
          </p:nvPr>
        </p:nvSpPr>
        <p:spPr/>
        <p:txBody>
          <a:bodyPr/>
          <a:lstStyle/>
          <a:p>
            <a:fld id="{AF4605CB-AE1D-40FF-AAFC-303D3E43EDD2}" type="slidenum">
              <a:rPr lang="en-US" smtClean="0"/>
              <a:t>4</a:t>
            </a:fld>
            <a:endParaRPr lang="en-US"/>
          </a:p>
        </p:txBody>
      </p:sp>
      <p:cxnSp>
        <p:nvCxnSpPr>
          <p:cNvPr id="8" name="Straight Connector 7">
            <a:extLst>
              <a:ext uri="{FF2B5EF4-FFF2-40B4-BE49-F238E27FC236}">
                <a16:creationId xmlns:a16="http://schemas.microsoft.com/office/drawing/2014/main" id="{856CE3AB-2CF6-E392-E5DE-31BE576F6BF1}"/>
              </a:ext>
            </a:extLst>
          </p:cNvPr>
          <p:cNvCxnSpPr/>
          <p:nvPr/>
        </p:nvCxnSpPr>
        <p:spPr>
          <a:xfrm>
            <a:off x="334296" y="1086922"/>
            <a:ext cx="7148052"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040358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8D8E88-EB02-ED67-58A6-7747B1070D12}"/>
              </a:ext>
            </a:extLst>
          </p:cNvPr>
          <p:cNvSpPr txBox="1"/>
          <p:nvPr/>
        </p:nvSpPr>
        <p:spPr>
          <a:xfrm>
            <a:off x="258810" y="339613"/>
            <a:ext cx="7059560" cy="461665"/>
          </a:xfrm>
          <a:prstGeom prst="rect">
            <a:avLst/>
          </a:prstGeom>
          <a:noFill/>
        </p:spPr>
        <p:txBody>
          <a:bodyPr wrap="square">
            <a:spAutoFit/>
          </a:bodyPr>
          <a:lstStyle/>
          <a:p>
            <a:r>
              <a:rPr lang="en-US" sz="2400" dirty="0">
                <a:solidFill>
                  <a:schemeClr val="accent2">
                    <a:lumMod val="75000"/>
                  </a:schemeClr>
                </a:solidFill>
                <a:latin typeface="Arial" panose="020B0604020202020204" pitchFamily="34" charset="0"/>
                <a:cs typeface="Arial" panose="020B0604020202020204" pitchFamily="34" charset="0"/>
              </a:rPr>
              <a:t>Business Conditions Influencing Systems Planning</a:t>
            </a:r>
          </a:p>
        </p:txBody>
      </p:sp>
      <p:sp>
        <p:nvSpPr>
          <p:cNvPr id="6" name="TextBox 5">
            <a:extLst>
              <a:ext uri="{FF2B5EF4-FFF2-40B4-BE49-F238E27FC236}">
                <a16:creationId xmlns:a16="http://schemas.microsoft.com/office/drawing/2014/main" id="{C0C05121-3FA3-20AC-672B-D48CDA762F66}"/>
              </a:ext>
            </a:extLst>
          </p:cNvPr>
          <p:cNvSpPr txBox="1"/>
          <p:nvPr/>
        </p:nvSpPr>
        <p:spPr>
          <a:xfrm>
            <a:off x="77587" y="875539"/>
            <a:ext cx="7200542" cy="4600042"/>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High Interest Rates:</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Organizations must ensure a strong return on investment (ROI) from information systems.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Inflation Pressure:</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Rising costs reduce profits, making efficient and well-planned systems essential.</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Fixed Employment Costs:</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Guaranteed employment increases fixed costs, limiting flexibility in expansion.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Resource Shortages:</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Limited resources restrict growth and require better utilization through systems</a:t>
            </a:r>
          </a:p>
        </p:txBody>
      </p:sp>
      <p:pic>
        <p:nvPicPr>
          <p:cNvPr id="8" name="Picture 7">
            <a:extLst>
              <a:ext uri="{FF2B5EF4-FFF2-40B4-BE49-F238E27FC236}">
                <a16:creationId xmlns:a16="http://schemas.microsoft.com/office/drawing/2014/main" id="{FF165BB9-0627-D567-41BE-CF939D330D49}"/>
              </a:ext>
            </a:extLst>
          </p:cNvPr>
          <p:cNvPicPr>
            <a:picLocks noChangeAspect="1"/>
          </p:cNvPicPr>
          <p:nvPr/>
        </p:nvPicPr>
        <p:blipFill>
          <a:blip r:embed="rId3">
            <a:biLevel thresh="75000"/>
          </a:blip>
          <a:srcRect r="7910" b="5776"/>
          <a:stretch>
            <a:fillRect/>
          </a:stretch>
        </p:blipFill>
        <p:spPr>
          <a:xfrm>
            <a:off x="7538011" y="1"/>
            <a:ext cx="4653989" cy="4159044"/>
          </a:xfrm>
          <a:prstGeom prst="rect">
            <a:avLst/>
          </a:prstGeom>
        </p:spPr>
      </p:pic>
      <p:sp>
        <p:nvSpPr>
          <p:cNvPr id="10" name="TextBox 9">
            <a:extLst>
              <a:ext uri="{FF2B5EF4-FFF2-40B4-BE49-F238E27FC236}">
                <a16:creationId xmlns:a16="http://schemas.microsoft.com/office/drawing/2014/main" id="{8C3211B6-5C51-D8E4-B1E1-A20652BB34BC}"/>
              </a:ext>
            </a:extLst>
          </p:cNvPr>
          <p:cNvSpPr txBox="1"/>
          <p:nvPr/>
        </p:nvSpPr>
        <p:spPr>
          <a:xfrm>
            <a:off x="7178618" y="4078999"/>
            <a:ext cx="4935795" cy="2343655"/>
          </a:xfrm>
          <a:prstGeom prst="rect">
            <a:avLst/>
          </a:prstGeom>
          <a:noFill/>
        </p:spPr>
        <p:txBody>
          <a:bodyPr wrap="square">
            <a:spAutoFit/>
          </a:bodyPr>
          <a:lstStyle/>
          <a:p>
            <a:pPr marL="285750" indent="-285750" algn="just">
              <a:lnSpc>
                <a:spcPct val="150000"/>
              </a:lnSpc>
              <a:buFont typeface="Wingdings" panose="05000000000000000000" pitchFamily="2" charset="2"/>
              <a:buChar char="v"/>
            </a:pPr>
            <a:r>
              <a:rPr lang="en-US" sz="2000" dirty="0">
                <a:latin typeface="Arial" panose="020B0604020202020204" pitchFamily="34" charset="0"/>
                <a:cs typeface="Arial" panose="020B0604020202020204" pitchFamily="34" charset="0"/>
              </a:rPr>
              <a:t>Carefully planned and well-used information systems move an organization from basic automation to </a:t>
            </a:r>
            <a:r>
              <a:rPr lang="en-US" sz="2000" b="1" dirty="0">
                <a:solidFill>
                  <a:schemeClr val="accent2">
                    <a:lumMod val="75000"/>
                  </a:schemeClr>
                </a:solidFill>
                <a:latin typeface="Arial" panose="020B0604020202020204" pitchFamily="34" charset="0"/>
                <a:cs typeface="Arial" panose="020B0604020202020204" pitchFamily="34" charset="0"/>
              </a:rPr>
              <a:t>higher productivity and competitive advantage at lower cost</a:t>
            </a:r>
            <a:r>
              <a:rPr lang="en-US" sz="2000" dirty="0">
                <a:solidFill>
                  <a:schemeClr val="accent2">
                    <a:lumMod val="75000"/>
                  </a:schemeClr>
                </a:solidFill>
                <a:latin typeface="Arial" panose="020B0604020202020204" pitchFamily="34" charset="0"/>
                <a:cs typeface="Arial" panose="020B0604020202020204" pitchFamily="34" charset="0"/>
              </a:rPr>
              <a:t>.</a:t>
            </a:r>
          </a:p>
        </p:txBody>
      </p:sp>
      <p:sp>
        <p:nvSpPr>
          <p:cNvPr id="2" name="Date Placeholder 1">
            <a:extLst>
              <a:ext uri="{FF2B5EF4-FFF2-40B4-BE49-F238E27FC236}">
                <a16:creationId xmlns:a16="http://schemas.microsoft.com/office/drawing/2014/main" id="{A197D35C-E317-F5EA-552D-7F9E36946E1F}"/>
              </a:ext>
            </a:extLst>
          </p:cNvPr>
          <p:cNvSpPr>
            <a:spLocks noGrp="1"/>
          </p:cNvSpPr>
          <p:nvPr>
            <p:ph type="dt" sz="half" idx="10"/>
          </p:nvPr>
        </p:nvSpPr>
        <p:spPr/>
        <p:txBody>
          <a:bodyPr/>
          <a:lstStyle/>
          <a:p>
            <a:fld id="{C0AD9AFC-1828-483C-82DA-B108F29EF203}"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C1780345-CD20-6A8C-248C-F9D83E154424}"/>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Md. Manirujjaman</a:t>
            </a:r>
          </a:p>
        </p:txBody>
      </p:sp>
      <p:sp>
        <p:nvSpPr>
          <p:cNvPr id="5" name="Slide Number Placeholder 4">
            <a:extLst>
              <a:ext uri="{FF2B5EF4-FFF2-40B4-BE49-F238E27FC236}">
                <a16:creationId xmlns:a16="http://schemas.microsoft.com/office/drawing/2014/main" id="{2D7F27EE-2C3E-1336-ECD3-357D8B8BBD34}"/>
              </a:ext>
            </a:extLst>
          </p:cNvPr>
          <p:cNvSpPr>
            <a:spLocks noGrp="1"/>
          </p:cNvSpPr>
          <p:nvPr>
            <p:ph type="sldNum" sz="quarter" idx="12"/>
          </p:nvPr>
        </p:nvSpPr>
        <p:spPr/>
        <p:txBody>
          <a:bodyPr/>
          <a:lstStyle/>
          <a:p>
            <a:fld id="{AF4605CB-AE1D-40FF-AAFC-303D3E43EDD2}" type="slidenum">
              <a:rPr lang="en-US" smtClean="0">
                <a:latin typeface="Arial" panose="020B0604020202020204" pitchFamily="34" charset="0"/>
                <a:cs typeface="Arial" panose="020B0604020202020204" pitchFamily="34" charset="0"/>
              </a:rPr>
              <a:t>5</a:t>
            </a:fld>
            <a:endParaRPr lang="en-US">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D525925B-194D-0F85-DE84-3596C89317E2}"/>
              </a:ext>
            </a:extLst>
          </p:cNvPr>
          <p:cNvCxnSpPr/>
          <p:nvPr/>
        </p:nvCxnSpPr>
        <p:spPr>
          <a:xfrm>
            <a:off x="218569" y="838408"/>
            <a:ext cx="7059560"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596872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3AD39D-D510-EECB-F593-4D5902153A5F}"/>
              </a:ext>
            </a:extLst>
          </p:cNvPr>
          <p:cNvSpPr txBox="1"/>
          <p:nvPr/>
        </p:nvSpPr>
        <p:spPr>
          <a:xfrm>
            <a:off x="487680" y="296817"/>
            <a:ext cx="3316934" cy="461665"/>
          </a:xfrm>
          <a:prstGeom prst="rect">
            <a:avLst/>
          </a:prstGeom>
          <a:noFill/>
        </p:spPr>
        <p:txBody>
          <a:bodyPr wrap="none" rtlCol="0">
            <a:spAutoFit/>
          </a:bodyPr>
          <a:lstStyle/>
          <a:p>
            <a:r>
              <a:rPr lang="en-US" sz="2400" dirty="0">
                <a:solidFill>
                  <a:schemeClr val="accent2">
                    <a:lumMod val="75000"/>
                  </a:schemeClr>
                </a:solidFill>
                <a:latin typeface="Arial" panose="020B0604020202020204" pitchFamily="34" charset="0"/>
                <a:cs typeface="Arial" panose="020B0604020202020204" pitchFamily="34" charset="0"/>
              </a:rPr>
              <a:t>Strategic MIS Planning</a:t>
            </a:r>
          </a:p>
        </p:txBody>
      </p:sp>
      <p:sp>
        <p:nvSpPr>
          <p:cNvPr id="3" name="TextBox 2">
            <a:extLst>
              <a:ext uri="{FF2B5EF4-FFF2-40B4-BE49-F238E27FC236}">
                <a16:creationId xmlns:a16="http://schemas.microsoft.com/office/drawing/2014/main" id="{5AF5FDEE-05F9-F92E-BE17-0E11850111F3}"/>
              </a:ext>
            </a:extLst>
          </p:cNvPr>
          <p:cNvSpPr txBox="1"/>
          <p:nvPr/>
        </p:nvSpPr>
        <p:spPr>
          <a:xfrm>
            <a:off x="121323" y="1135404"/>
            <a:ext cx="12070677" cy="430887"/>
          </a:xfrm>
          <a:prstGeom prst="rect">
            <a:avLst/>
          </a:prstGeom>
          <a:noFill/>
        </p:spPr>
        <p:txBody>
          <a:bodyPr wrap="none" rtlCol="0">
            <a:spAutoFit/>
          </a:bodyPr>
          <a:lstStyle/>
          <a:p>
            <a:r>
              <a:rPr lang="en-US" sz="2200" dirty="0">
                <a:latin typeface="Arial" panose="020B0604020202020204" pitchFamily="34" charset="0"/>
                <a:cs typeface="Arial" panose="020B0604020202020204" pitchFamily="34" charset="0"/>
              </a:rPr>
              <a:t>Planning doesn't happen in a vacuum; it must align with the organization’s overall Master Plan. </a:t>
            </a:r>
          </a:p>
        </p:txBody>
      </p:sp>
      <p:sp>
        <p:nvSpPr>
          <p:cNvPr id="7" name="TextBox 6">
            <a:extLst>
              <a:ext uri="{FF2B5EF4-FFF2-40B4-BE49-F238E27FC236}">
                <a16:creationId xmlns:a16="http://schemas.microsoft.com/office/drawing/2014/main" id="{2CB663B8-3E4B-8368-7880-25911F9BCF25}"/>
              </a:ext>
            </a:extLst>
          </p:cNvPr>
          <p:cNvSpPr txBox="1"/>
          <p:nvPr/>
        </p:nvSpPr>
        <p:spPr>
          <a:xfrm>
            <a:off x="1097280" y="1499476"/>
            <a:ext cx="10317972" cy="4600042"/>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Dimension 1: </a:t>
            </a: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The Time Horizon (How far ahead?)</a:t>
            </a: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7429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Short-Range:</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Less than 2 years (The immediate "Yearly Plan").</a:t>
            </a:r>
          </a:p>
          <a:p>
            <a:pPr marL="7429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Medium-Term:</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to 5 years (Building major modules).</a:t>
            </a:r>
          </a:p>
          <a:p>
            <a:pPr marL="7429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Long-Range:</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More than 5 years (Conceptual, future-looking).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Dimension 2: </a:t>
            </a: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The Focus (What is the goal?)</a:t>
            </a: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7429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Strategic:</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Setting the big-picture objectives and policies.</a:t>
            </a:r>
          </a:p>
          <a:p>
            <a:pPr marL="7429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Managerial:</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Coordinating resources and middle-management needs.</a:t>
            </a:r>
          </a:p>
          <a:p>
            <a:pPr marL="7429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Operational:</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daily "tactical" tasks and technical implementation.</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78DE6C62-200E-F33C-D0B5-85F86FAFCC6C}"/>
              </a:ext>
            </a:extLst>
          </p:cNvPr>
          <p:cNvSpPr>
            <a:spLocks noGrp="1"/>
          </p:cNvSpPr>
          <p:nvPr>
            <p:ph type="dt" sz="half" idx="10"/>
          </p:nvPr>
        </p:nvSpPr>
        <p:spPr/>
        <p:txBody>
          <a:bodyPr/>
          <a:lstStyle/>
          <a:p>
            <a:fld id="{5E00DECB-F660-497F-9D80-3249C56C4AC8}"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02C435E6-0D91-9378-15A9-F31D6441C800}"/>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Md. Manirujjaman</a:t>
            </a:r>
          </a:p>
        </p:txBody>
      </p:sp>
      <p:sp>
        <p:nvSpPr>
          <p:cNvPr id="6" name="Slide Number Placeholder 5">
            <a:extLst>
              <a:ext uri="{FF2B5EF4-FFF2-40B4-BE49-F238E27FC236}">
                <a16:creationId xmlns:a16="http://schemas.microsoft.com/office/drawing/2014/main" id="{16A9DFBF-D58F-ED6D-FD7F-0393A5FCEC86}"/>
              </a:ext>
            </a:extLst>
          </p:cNvPr>
          <p:cNvSpPr>
            <a:spLocks noGrp="1"/>
          </p:cNvSpPr>
          <p:nvPr>
            <p:ph type="sldNum" sz="quarter" idx="12"/>
          </p:nvPr>
        </p:nvSpPr>
        <p:spPr/>
        <p:txBody>
          <a:bodyPr/>
          <a:lstStyle/>
          <a:p>
            <a:fld id="{AF4605CB-AE1D-40FF-AAFC-303D3E43EDD2}"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D9D2C803-55AF-4E0C-62A0-3B0B0948EB32}"/>
              </a:ext>
            </a:extLst>
          </p:cNvPr>
          <p:cNvCxnSpPr>
            <a:cxnSpLocks/>
          </p:cNvCxnSpPr>
          <p:nvPr/>
        </p:nvCxnSpPr>
        <p:spPr>
          <a:xfrm>
            <a:off x="324465" y="758482"/>
            <a:ext cx="3667432" cy="0"/>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1644465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226904-CB4B-622B-4426-48869C48B972}"/>
              </a:ext>
            </a:extLst>
          </p:cNvPr>
          <p:cNvSpPr txBox="1"/>
          <p:nvPr/>
        </p:nvSpPr>
        <p:spPr>
          <a:xfrm>
            <a:off x="835742" y="530942"/>
            <a:ext cx="3659976" cy="461665"/>
          </a:xfrm>
          <a:prstGeom prst="rect">
            <a:avLst/>
          </a:prstGeom>
          <a:noFill/>
        </p:spPr>
        <p:txBody>
          <a:bodyPr wrap="none" rtlCol="0">
            <a:spAutoFit/>
          </a:bodyPr>
          <a:lstStyle/>
          <a:p>
            <a:r>
              <a:rPr lang="en-US" sz="2400" dirty="0">
                <a:solidFill>
                  <a:schemeClr val="accent2">
                    <a:lumMod val="75000"/>
                  </a:schemeClr>
                </a:solidFill>
                <a:latin typeface="Arial" panose="020B0604020202020204" pitchFamily="34" charset="0"/>
                <a:cs typeface="Arial" panose="020B0604020202020204" pitchFamily="34" charset="0"/>
              </a:rPr>
              <a:t>Need of system planning.</a:t>
            </a:r>
          </a:p>
        </p:txBody>
      </p:sp>
      <p:sp>
        <p:nvSpPr>
          <p:cNvPr id="5" name="TextBox 4">
            <a:extLst>
              <a:ext uri="{FF2B5EF4-FFF2-40B4-BE49-F238E27FC236}">
                <a16:creationId xmlns:a16="http://schemas.microsoft.com/office/drawing/2014/main" id="{3FF01925-2F3F-EFF4-7AC9-9863FA77FFAC}"/>
              </a:ext>
            </a:extLst>
          </p:cNvPr>
          <p:cNvSpPr txBox="1"/>
          <p:nvPr/>
        </p:nvSpPr>
        <p:spPr>
          <a:xfrm>
            <a:off x="796411" y="1103010"/>
            <a:ext cx="10894143" cy="4651979"/>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Information is a Strategic Asset:</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Data is now as valuable as cash or equipment. Planning ensures this "asset" is managed and protected properly.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Resource Management:</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IT projects require massive financial investment and specialized personnel. Planning prevents wasting these expensive resources.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System Integration:</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Modern systems are complex and share common databases. Planning ensures a new system "talks" to existing ones instead of being isolated.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Organizational Alignment:</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Planning ensures the system's goals match the company’s strategic business goals (congruency).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Standardization:</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It helps establish uniform hardware and software choices across the company, making maintenance easier and cheaper.</a:t>
            </a:r>
          </a:p>
        </p:txBody>
      </p:sp>
      <p:sp>
        <p:nvSpPr>
          <p:cNvPr id="3" name="Date Placeholder 2">
            <a:extLst>
              <a:ext uri="{FF2B5EF4-FFF2-40B4-BE49-F238E27FC236}">
                <a16:creationId xmlns:a16="http://schemas.microsoft.com/office/drawing/2014/main" id="{1C02620A-5651-7739-4EE9-E040F630CC04}"/>
              </a:ext>
            </a:extLst>
          </p:cNvPr>
          <p:cNvSpPr>
            <a:spLocks noGrp="1"/>
          </p:cNvSpPr>
          <p:nvPr>
            <p:ph type="dt" sz="half" idx="10"/>
          </p:nvPr>
        </p:nvSpPr>
        <p:spPr/>
        <p:txBody>
          <a:bodyPr/>
          <a:lstStyle/>
          <a:p>
            <a:fld id="{94EDFC57-92C9-4126-8FCE-2112F4724272}" type="datetime1">
              <a:rPr lang="en-US" sz="1000" smtClean="0">
                <a:latin typeface="Arial" panose="020B0604020202020204" pitchFamily="34" charset="0"/>
                <a:cs typeface="Arial" panose="020B0604020202020204" pitchFamily="34" charset="0"/>
              </a:rPr>
              <a:t>1/14/2026</a:t>
            </a:fld>
            <a:endParaRPr lang="en-US" sz="100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34839E45-2CC5-5BFA-AA88-5A1AA9BFBE1B}"/>
              </a:ext>
            </a:extLst>
          </p:cNvPr>
          <p:cNvSpPr>
            <a:spLocks noGrp="1"/>
          </p:cNvSpPr>
          <p:nvPr>
            <p:ph type="ftr" sz="quarter" idx="11"/>
          </p:nvPr>
        </p:nvSpPr>
        <p:spPr/>
        <p:txBody>
          <a:bodyPr/>
          <a:lstStyle/>
          <a:p>
            <a:r>
              <a:rPr lang="en-US" sz="1000">
                <a:latin typeface="Arial" panose="020B0604020202020204" pitchFamily="34" charset="0"/>
                <a:cs typeface="Arial" panose="020B0604020202020204" pitchFamily="34" charset="0"/>
              </a:rPr>
              <a:t>Md. Manirujjaman</a:t>
            </a:r>
          </a:p>
        </p:txBody>
      </p:sp>
      <p:sp>
        <p:nvSpPr>
          <p:cNvPr id="6" name="Slide Number Placeholder 5">
            <a:extLst>
              <a:ext uri="{FF2B5EF4-FFF2-40B4-BE49-F238E27FC236}">
                <a16:creationId xmlns:a16="http://schemas.microsoft.com/office/drawing/2014/main" id="{F33C53A7-F8BC-74B9-DA95-09E20728AC81}"/>
              </a:ext>
            </a:extLst>
          </p:cNvPr>
          <p:cNvSpPr>
            <a:spLocks noGrp="1"/>
          </p:cNvSpPr>
          <p:nvPr>
            <p:ph type="sldNum" sz="quarter" idx="12"/>
          </p:nvPr>
        </p:nvSpPr>
        <p:spPr/>
        <p:txBody>
          <a:bodyPr/>
          <a:lstStyle/>
          <a:p>
            <a:fld id="{AF4605CB-AE1D-40FF-AAFC-303D3E43EDD2}" type="slidenum">
              <a:rPr lang="en-US" sz="1100" smtClean="0">
                <a:latin typeface="Arial" panose="020B0604020202020204" pitchFamily="34" charset="0"/>
                <a:cs typeface="Arial" panose="020B0604020202020204" pitchFamily="34" charset="0"/>
              </a:rPr>
              <a:t>7</a:t>
            </a:fld>
            <a:endParaRPr lang="en-US" sz="1100">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FFF22827-F878-BD02-0401-FD7E27BE75BC}"/>
              </a:ext>
            </a:extLst>
          </p:cNvPr>
          <p:cNvCxnSpPr>
            <a:cxnSpLocks/>
          </p:cNvCxnSpPr>
          <p:nvPr/>
        </p:nvCxnSpPr>
        <p:spPr>
          <a:xfrm>
            <a:off x="796411" y="992607"/>
            <a:ext cx="3628105" cy="0"/>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3191608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B81659-5D6A-261E-B8C2-C4BC0E5D7705}"/>
              </a:ext>
            </a:extLst>
          </p:cNvPr>
          <p:cNvSpPr txBox="1"/>
          <p:nvPr/>
        </p:nvSpPr>
        <p:spPr>
          <a:xfrm>
            <a:off x="973393" y="642980"/>
            <a:ext cx="6096000" cy="400110"/>
          </a:xfrm>
          <a:prstGeom prst="rect">
            <a:avLst/>
          </a:prstGeom>
          <a:noFill/>
        </p:spPr>
        <p:txBody>
          <a:bodyPr wrap="square">
            <a:spAutoFit/>
          </a:bodyPr>
          <a:lstStyle/>
          <a:p>
            <a:r>
              <a:rPr lang="en-US" sz="2000" dirty="0">
                <a:solidFill>
                  <a:schemeClr val="accent2">
                    <a:lumMod val="75000"/>
                  </a:schemeClr>
                </a:solidFill>
                <a:latin typeface="Arial" panose="020B0604020202020204" pitchFamily="34" charset="0"/>
                <a:cs typeface="Arial" panose="020B0604020202020204" pitchFamily="34" charset="0"/>
              </a:rPr>
              <a:t>INITIAL INVESTIGATION</a:t>
            </a:r>
          </a:p>
        </p:txBody>
      </p:sp>
      <p:sp>
        <p:nvSpPr>
          <p:cNvPr id="4" name="TextBox 3">
            <a:extLst>
              <a:ext uri="{FF2B5EF4-FFF2-40B4-BE49-F238E27FC236}">
                <a16:creationId xmlns:a16="http://schemas.microsoft.com/office/drawing/2014/main" id="{76415F11-107A-8564-CB0B-CE8B0A89382E}"/>
              </a:ext>
            </a:extLst>
          </p:cNvPr>
          <p:cNvSpPr txBox="1"/>
          <p:nvPr/>
        </p:nvSpPr>
        <p:spPr>
          <a:xfrm>
            <a:off x="517781" y="1313819"/>
            <a:ext cx="11297264" cy="1881990"/>
          </a:xfrm>
          <a:prstGeom prst="rect">
            <a:avLst/>
          </a:prstGeom>
          <a:noFill/>
        </p:spPr>
        <p:txBody>
          <a:bodyPr wrap="square" rtlCol="0">
            <a:spAutoFit/>
          </a:bodyPr>
          <a:lstStyle/>
          <a:p>
            <a:pPr marL="342900" indent="-342900">
              <a:lnSpc>
                <a:spcPct val="150000"/>
              </a:lnSpc>
              <a:buFont typeface="Wingdings" panose="05000000000000000000" pitchFamily="2" charset="2"/>
              <a:buChar char="v"/>
            </a:pPr>
            <a:r>
              <a:rPr lang="en-US" sz="2000" dirty="0">
                <a:latin typeface="Arial" panose="020B0604020202020204" pitchFamily="34" charset="0"/>
                <a:cs typeface="Arial" panose="020B0604020202020204" pitchFamily="34" charset="0"/>
              </a:rPr>
              <a:t>System development life cycle begins with </a:t>
            </a:r>
            <a:r>
              <a:rPr lang="en-US" sz="2000" b="1" dirty="0">
                <a:solidFill>
                  <a:schemeClr val="accent2">
                    <a:lumMod val="75000"/>
                  </a:schemeClr>
                </a:solidFill>
                <a:latin typeface="Arial" panose="020B0604020202020204" pitchFamily="34" charset="0"/>
                <a:cs typeface="Arial" panose="020B0604020202020204" pitchFamily="34" charset="0"/>
              </a:rPr>
              <a:t>Needs Identification</a:t>
            </a:r>
            <a:r>
              <a:rPr lang="en-US" sz="2000" dirty="0">
                <a:latin typeface="Arial" panose="020B0604020202020204" pitchFamily="34" charset="0"/>
                <a:cs typeface="Arial" panose="020B0604020202020204" pitchFamily="34" charset="0"/>
              </a:rPr>
              <a:t>, which is simply a </a:t>
            </a:r>
            <a:r>
              <a:rPr lang="en-US" sz="2000" b="1" dirty="0">
                <a:solidFill>
                  <a:schemeClr val="accent2">
                    <a:lumMod val="75000"/>
                  </a:schemeClr>
                </a:solidFill>
                <a:latin typeface="Arial" panose="020B0604020202020204" pitchFamily="34" charset="0"/>
                <a:cs typeface="Arial" panose="020B0604020202020204" pitchFamily="34" charset="0"/>
              </a:rPr>
              <a:t>User Request</a:t>
            </a:r>
            <a:r>
              <a:rPr lang="en-US" sz="2000" dirty="0">
                <a:solidFill>
                  <a:schemeClr val="accent2">
                    <a:lumMod val="75000"/>
                  </a:schemeClr>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to fix or improve a system. Since companies get many requests, they use an </a:t>
            </a:r>
            <a:r>
              <a:rPr lang="en-US" sz="2000" b="1" dirty="0">
                <a:solidFill>
                  <a:schemeClr val="accent2">
                    <a:lumMod val="75000"/>
                  </a:schemeClr>
                </a:solidFill>
                <a:latin typeface="Arial" panose="020B0604020202020204" pitchFamily="34" charset="0"/>
                <a:cs typeface="Arial" panose="020B0604020202020204" pitchFamily="34" charset="0"/>
              </a:rPr>
              <a:t>Initial Investigation</a:t>
            </a:r>
            <a:r>
              <a:rPr lang="en-US" sz="2000" dirty="0">
                <a:solidFill>
                  <a:schemeClr val="accent2">
                    <a:lumMod val="75000"/>
                  </a:schemeClr>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to "filter" them. The goal is to decide if a request is </a:t>
            </a:r>
            <a:r>
              <a:rPr lang="en-US" sz="2000" b="1" dirty="0">
                <a:solidFill>
                  <a:schemeClr val="accent2">
                    <a:lumMod val="75000"/>
                  </a:schemeClr>
                </a:solidFill>
                <a:latin typeface="Arial" panose="020B0604020202020204" pitchFamily="34" charset="0"/>
                <a:cs typeface="Arial" panose="020B0604020202020204" pitchFamily="34" charset="0"/>
              </a:rPr>
              <a:t>Valid</a:t>
            </a:r>
            <a:r>
              <a:rPr lang="en-US" sz="2000" dirty="0">
                <a:latin typeface="Arial" panose="020B0604020202020204" pitchFamily="34" charset="0"/>
                <a:cs typeface="Arial" panose="020B0604020202020204" pitchFamily="34" charset="0"/>
              </a:rPr>
              <a:t> and </a:t>
            </a:r>
            <a:r>
              <a:rPr lang="en-US" sz="2000" b="1" dirty="0">
                <a:solidFill>
                  <a:schemeClr val="accent2">
                    <a:lumMod val="75000"/>
                  </a:schemeClr>
                </a:solidFill>
                <a:latin typeface="Arial" panose="020B0604020202020204" pitchFamily="34" charset="0"/>
                <a:cs typeface="Arial" panose="020B0604020202020204" pitchFamily="34" charset="0"/>
              </a:rPr>
              <a:t>Feasible</a:t>
            </a:r>
            <a:r>
              <a:rPr lang="en-US" sz="2000" dirty="0">
                <a:solidFill>
                  <a:schemeClr val="accent2">
                    <a:lumMod val="75000"/>
                  </a:schemeClr>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before spending money.</a:t>
            </a:r>
          </a:p>
        </p:txBody>
      </p:sp>
      <p:sp>
        <p:nvSpPr>
          <p:cNvPr id="6" name="TextBox 5">
            <a:extLst>
              <a:ext uri="{FF2B5EF4-FFF2-40B4-BE49-F238E27FC236}">
                <a16:creationId xmlns:a16="http://schemas.microsoft.com/office/drawing/2014/main" id="{E3D980A0-34E9-F7C0-FBAD-079A2B3B00E2}"/>
              </a:ext>
            </a:extLst>
          </p:cNvPr>
          <p:cNvSpPr txBox="1"/>
          <p:nvPr/>
        </p:nvSpPr>
        <p:spPr>
          <a:xfrm>
            <a:off x="2045109" y="3320419"/>
            <a:ext cx="8121445" cy="1881990"/>
          </a:xfrm>
          <a:prstGeom prst="rect">
            <a:avLst/>
          </a:prstGeom>
          <a:noFill/>
        </p:spPr>
        <p:txBody>
          <a:bodyPr wrap="square">
            <a:spAutoFit/>
          </a:bodyPr>
          <a:lstStyle/>
          <a:p>
            <a:pPr>
              <a:lnSpc>
                <a:spcPct val="150000"/>
              </a:lnSpc>
              <a:buNone/>
            </a:pPr>
            <a:r>
              <a:rPr lang="en-US" sz="2000" b="1" dirty="0">
                <a:latin typeface="Arial" panose="020B0604020202020204" pitchFamily="34" charset="0"/>
                <a:cs typeface="Arial" panose="020B0604020202020204" pitchFamily="34" charset="0"/>
              </a:rPr>
              <a:t>The Three Results:</a:t>
            </a:r>
            <a:endParaRPr lang="en-US" sz="2000" dirty="0">
              <a:latin typeface="Arial" panose="020B0604020202020204" pitchFamily="34" charset="0"/>
              <a:cs typeface="Arial" panose="020B0604020202020204" pitchFamily="34" charset="0"/>
            </a:endParaRPr>
          </a:p>
          <a:p>
            <a:pPr marL="457200" indent="-457200">
              <a:lnSpc>
                <a:spcPct val="150000"/>
              </a:lnSpc>
              <a:buFont typeface="+mj-lt"/>
              <a:buAutoNum type="arabicParenR"/>
            </a:pPr>
            <a:r>
              <a:rPr lang="en-US" sz="2000" b="1" dirty="0">
                <a:solidFill>
                  <a:schemeClr val="accent2">
                    <a:lumMod val="75000"/>
                  </a:schemeClr>
                </a:solidFill>
                <a:latin typeface="Arial" panose="020B0604020202020204" pitchFamily="34" charset="0"/>
                <a:cs typeface="Arial" panose="020B0604020202020204" pitchFamily="34" charset="0"/>
              </a:rPr>
              <a:t>Do Nothing:</a:t>
            </a:r>
            <a:r>
              <a:rPr lang="en-US" sz="2000" dirty="0">
                <a:solidFill>
                  <a:schemeClr val="accent2">
                    <a:lumMod val="75000"/>
                  </a:schemeClr>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problem isn't worth the cost.</a:t>
            </a:r>
          </a:p>
          <a:p>
            <a:pPr marL="457200" indent="-457200">
              <a:lnSpc>
                <a:spcPct val="150000"/>
              </a:lnSpc>
              <a:buFont typeface="+mj-lt"/>
              <a:buAutoNum type="arabicParenR"/>
            </a:pPr>
            <a:r>
              <a:rPr lang="en-US" sz="2000" b="1" dirty="0">
                <a:solidFill>
                  <a:schemeClr val="accent2">
                    <a:lumMod val="75000"/>
                  </a:schemeClr>
                </a:solidFill>
                <a:latin typeface="Arial" panose="020B0604020202020204" pitchFamily="34" charset="0"/>
                <a:cs typeface="Arial" panose="020B0604020202020204" pitchFamily="34" charset="0"/>
              </a:rPr>
              <a:t>Modify System:</a:t>
            </a:r>
            <a:r>
              <a:rPr lang="en-US" sz="2000" dirty="0">
                <a:solidFill>
                  <a:schemeClr val="accent2">
                    <a:lumMod val="75000"/>
                  </a:schemeClr>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 quick fix to the current software.</a:t>
            </a:r>
          </a:p>
          <a:p>
            <a:pPr marL="457200" indent="-457200">
              <a:lnSpc>
                <a:spcPct val="150000"/>
              </a:lnSpc>
              <a:buFont typeface="+mj-lt"/>
              <a:buAutoNum type="arabicParenR"/>
            </a:pPr>
            <a:r>
              <a:rPr lang="en-US" sz="2000" b="1" dirty="0">
                <a:solidFill>
                  <a:schemeClr val="accent2">
                    <a:lumMod val="75000"/>
                  </a:schemeClr>
                </a:solidFill>
                <a:latin typeface="Arial" panose="020B0604020202020204" pitchFamily="34" charset="0"/>
                <a:cs typeface="Arial" panose="020B0604020202020204" pitchFamily="34" charset="0"/>
              </a:rPr>
              <a:t>Build New System:</a:t>
            </a:r>
            <a:r>
              <a:rPr lang="en-US" sz="2000" dirty="0">
                <a:solidFill>
                  <a:schemeClr val="accent2">
                    <a:lumMod val="75000"/>
                  </a:schemeClr>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 complete replacement is needed</a:t>
            </a:r>
          </a:p>
        </p:txBody>
      </p:sp>
      <p:sp>
        <p:nvSpPr>
          <p:cNvPr id="2" name="Date Placeholder 1">
            <a:extLst>
              <a:ext uri="{FF2B5EF4-FFF2-40B4-BE49-F238E27FC236}">
                <a16:creationId xmlns:a16="http://schemas.microsoft.com/office/drawing/2014/main" id="{B941CE84-CC55-2533-1D1B-3C4B335903B2}"/>
              </a:ext>
            </a:extLst>
          </p:cNvPr>
          <p:cNvSpPr>
            <a:spLocks noGrp="1"/>
          </p:cNvSpPr>
          <p:nvPr>
            <p:ph type="dt" sz="half" idx="10"/>
          </p:nvPr>
        </p:nvSpPr>
        <p:spPr>
          <a:xfrm>
            <a:off x="1166106" y="7046017"/>
            <a:ext cx="2472271" cy="365125"/>
          </a:xfrm>
        </p:spPr>
        <p:txBody>
          <a:bodyPr/>
          <a:lstStyle/>
          <a:p>
            <a:fld id="{CEC698E7-58A1-4F9B-88AA-0403BF7D77D3}"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60434D9-AEBE-4EEC-1843-427C193DFFA6}"/>
              </a:ext>
            </a:extLst>
          </p:cNvPr>
          <p:cNvSpPr>
            <a:spLocks noGrp="1"/>
          </p:cNvSpPr>
          <p:nvPr>
            <p:ph type="ftr" sz="quarter" idx="11"/>
          </p:nvPr>
        </p:nvSpPr>
        <p:spPr>
          <a:xfrm>
            <a:off x="3755011" y="7046017"/>
            <a:ext cx="4822804" cy="365125"/>
          </a:xfrm>
        </p:spPr>
        <p:txBody>
          <a:bodyPr/>
          <a:lstStyle/>
          <a:p>
            <a:r>
              <a:rPr lang="en-US">
                <a:latin typeface="Arial" panose="020B0604020202020204" pitchFamily="34" charset="0"/>
                <a:cs typeface="Arial" panose="020B0604020202020204" pitchFamily="34" charset="0"/>
              </a:rPr>
              <a:t>Md. Manirujjaman</a:t>
            </a:r>
          </a:p>
        </p:txBody>
      </p:sp>
      <p:sp>
        <p:nvSpPr>
          <p:cNvPr id="7" name="Slide Number Placeholder 6">
            <a:extLst>
              <a:ext uri="{FF2B5EF4-FFF2-40B4-BE49-F238E27FC236}">
                <a16:creationId xmlns:a16="http://schemas.microsoft.com/office/drawing/2014/main" id="{FE8F5ED6-2AA3-2764-AD37-672916D727AF}"/>
              </a:ext>
            </a:extLst>
          </p:cNvPr>
          <p:cNvSpPr>
            <a:spLocks noGrp="1"/>
          </p:cNvSpPr>
          <p:nvPr>
            <p:ph type="sldNum" sz="quarter" idx="12"/>
          </p:nvPr>
        </p:nvSpPr>
        <p:spPr>
          <a:xfrm>
            <a:off x="9969284" y="7046017"/>
            <a:ext cx="1312025" cy="365125"/>
          </a:xfrm>
        </p:spPr>
        <p:txBody>
          <a:bodyPr/>
          <a:lstStyle/>
          <a:p>
            <a:fld id="{AF4605CB-AE1D-40FF-AAFC-303D3E43EDD2}" type="slidenum">
              <a:rPr lang="en-US" smtClean="0">
                <a:latin typeface="Arial" panose="020B0604020202020204" pitchFamily="34" charset="0"/>
                <a:cs typeface="Arial" panose="020B0604020202020204" pitchFamily="34" charset="0"/>
              </a:rPr>
              <a:t>8</a:t>
            </a:fld>
            <a:endParaRPr lang="en-US">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D1DC374F-305A-1B57-7B40-29B213846C8A}"/>
              </a:ext>
            </a:extLst>
          </p:cNvPr>
          <p:cNvCxnSpPr>
            <a:cxnSpLocks/>
            <a:endCxn id="3" idx="2"/>
          </p:cNvCxnSpPr>
          <p:nvPr/>
        </p:nvCxnSpPr>
        <p:spPr>
          <a:xfrm>
            <a:off x="1061884" y="1043090"/>
            <a:ext cx="2959509" cy="0"/>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535460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2F1D81-7BA1-252B-C2C1-15BF8DA2830B}"/>
              </a:ext>
            </a:extLst>
          </p:cNvPr>
          <p:cNvSpPr txBox="1"/>
          <p:nvPr/>
        </p:nvSpPr>
        <p:spPr>
          <a:xfrm>
            <a:off x="489208" y="834243"/>
            <a:ext cx="11506147" cy="707886"/>
          </a:xfrm>
          <a:prstGeom prst="rect">
            <a:avLst/>
          </a:prstGeom>
          <a:noFill/>
        </p:spPr>
        <p:txBody>
          <a:bodyPr wrap="square" rtlCol="0">
            <a:spAutoFit/>
          </a:bodyPr>
          <a:lstStyle/>
          <a:p>
            <a:pPr marL="285750" indent="-285750">
              <a:buFont typeface="Wingdings" panose="05000000000000000000" pitchFamily="2" charset="2"/>
              <a:buChar char="v"/>
            </a:pPr>
            <a:r>
              <a:rPr lang="en-US" sz="2000" dirty="0">
                <a:latin typeface="Arial" panose="020B0604020202020204" pitchFamily="34" charset="0"/>
                <a:cs typeface="Arial" panose="020B0604020202020204" pitchFamily="34" charset="0"/>
              </a:rPr>
              <a:t>A </a:t>
            </a:r>
            <a:r>
              <a:rPr lang="en-US" sz="2000" b="1" dirty="0">
                <a:solidFill>
                  <a:schemeClr val="accent2">
                    <a:lumMod val="75000"/>
                  </a:schemeClr>
                </a:solidFill>
                <a:latin typeface="Arial" panose="020B0604020202020204" pitchFamily="34" charset="0"/>
                <a:cs typeface="Arial" panose="020B0604020202020204" pitchFamily="34" charset="0"/>
              </a:rPr>
              <a:t>User Request Form</a:t>
            </a:r>
            <a:r>
              <a:rPr lang="en-US" sz="2000" dirty="0">
                <a:solidFill>
                  <a:schemeClr val="accent2">
                    <a:lumMod val="75000"/>
                  </a:schemeClr>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is the official document that identifies a need for change and authorizes an </a:t>
            </a:r>
            <a:r>
              <a:rPr lang="en-US" sz="2000" b="1" dirty="0">
                <a:solidFill>
                  <a:schemeClr val="accent2">
                    <a:lumMod val="75000"/>
                  </a:schemeClr>
                </a:solidFill>
                <a:latin typeface="Arial" panose="020B0604020202020204" pitchFamily="34" charset="0"/>
                <a:cs typeface="Arial" panose="020B0604020202020204" pitchFamily="34" charset="0"/>
              </a:rPr>
              <a:t>Initial Investigation</a:t>
            </a:r>
            <a:r>
              <a:rPr lang="en-US" sz="2000" dirty="0">
                <a:latin typeface="Arial" panose="020B0604020202020204" pitchFamily="34" charset="0"/>
                <a:cs typeface="Arial" panose="020B0604020202020204" pitchFamily="34" charset="0"/>
              </a:rPr>
              <a:t>. It typically includes these 9 key items:</a:t>
            </a:r>
          </a:p>
        </p:txBody>
      </p:sp>
      <p:sp>
        <p:nvSpPr>
          <p:cNvPr id="5" name="TextBox 4">
            <a:extLst>
              <a:ext uri="{FF2B5EF4-FFF2-40B4-BE49-F238E27FC236}">
                <a16:creationId xmlns:a16="http://schemas.microsoft.com/office/drawing/2014/main" id="{C99BD291-E5C9-B8FA-DB35-E75E8D622184}"/>
              </a:ext>
            </a:extLst>
          </p:cNvPr>
          <p:cNvSpPr txBox="1"/>
          <p:nvPr/>
        </p:nvSpPr>
        <p:spPr>
          <a:xfrm>
            <a:off x="1327354" y="1628811"/>
            <a:ext cx="10579510" cy="4190314"/>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Project Title:</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 simple name for the requested work.</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Problem Definition:</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 description of the current issue (Nature of work).</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Submission Date:</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When the request was filed.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Deadline:</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When the user expects the job to be finished.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Objectives:</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specific purpose or goals of the request.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Expected Benefits:</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What the organization gains (e.g., cost savings, better speed).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Input/Output Details:</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volume (pages/copies) and frequency (daily/weekly) of data.</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Requester Info:</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Signature and contact details of the person asking for the change.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Approval Info:</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Signature and contact details of the manager authorizing the request.</a:t>
            </a:r>
          </a:p>
        </p:txBody>
      </p:sp>
      <p:sp>
        <p:nvSpPr>
          <p:cNvPr id="3" name="Date Placeholder 2">
            <a:extLst>
              <a:ext uri="{FF2B5EF4-FFF2-40B4-BE49-F238E27FC236}">
                <a16:creationId xmlns:a16="http://schemas.microsoft.com/office/drawing/2014/main" id="{3638FCD7-2D26-1E95-3212-6CE26A8B788B}"/>
              </a:ext>
            </a:extLst>
          </p:cNvPr>
          <p:cNvSpPr>
            <a:spLocks noGrp="1"/>
          </p:cNvSpPr>
          <p:nvPr>
            <p:ph type="dt" sz="half" idx="10"/>
          </p:nvPr>
        </p:nvSpPr>
        <p:spPr>
          <a:xfrm>
            <a:off x="1097281" y="6459785"/>
            <a:ext cx="2316972" cy="365125"/>
          </a:xfrm>
        </p:spPr>
        <p:txBody>
          <a:bodyPr/>
          <a:lstStyle/>
          <a:p>
            <a:fld id="{68F4B907-5420-4908-86BE-B1E30B3B9025}"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F062FD1C-38BF-E891-D4A2-2B825428B9DF}"/>
              </a:ext>
            </a:extLst>
          </p:cNvPr>
          <p:cNvSpPr>
            <a:spLocks noGrp="1"/>
          </p:cNvSpPr>
          <p:nvPr>
            <p:ph type="ftr" sz="quarter" idx="11"/>
          </p:nvPr>
        </p:nvSpPr>
        <p:spPr>
          <a:xfrm>
            <a:off x="3686185" y="6459785"/>
            <a:ext cx="4519853" cy="365125"/>
          </a:xfrm>
        </p:spPr>
        <p:txBody>
          <a:bodyPr/>
          <a:lstStyle/>
          <a:p>
            <a:r>
              <a:rPr lang="en-US">
                <a:latin typeface="Arial" panose="020B0604020202020204" pitchFamily="34" charset="0"/>
                <a:cs typeface="Arial" panose="020B0604020202020204" pitchFamily="34" charset="0"/>
              </a:rPr>
              <a:t>Md. Manirujjaman</a:t>
            </a:r>
          </a:p>
        </p:txBody>
      </p:sp>
      <p:sp>
        <p:nvSpPr>
          <p:cNvPr id="6" name="Slide Number Placeholder 5">
            <a:extLst>
              <a:ext uri="{FF2B5EF4-FFF2-40B4-BE49-F238E27FC236}">
                <a16:creationId xmlns:a16="http://schemas.microsoft.com/office/drawing/2014/main" id="{C6423765-9ED3-3DEA-F4A9-FC82C1283333}"/>
              </a:ext>
            </a:extLst>
          </p:cNvPr>
          <p:cNvSpPr>
            <a:spLocks noGrp="1"/>
          </p:cNvSpPr>
          <p:nvPr>
            <p:ph type="sldNum" sz="quarter" idx="12"/>
          </p:nvPr>
        </p:nvSpPr>
        <p:spPr>
          <a:xfrm>
            <a:off x="9900459" y="6459785"/>
            <a:ext cx="1229608" cy="365125"/>
          </a:xfrm>
        </p:spPr>
        <p:txBody>
          <a:bodyPr/>
          <a:lstStyle/>
          <a:p>
            <a:fld id="{AF4605CB-AE1D-40FF-AAFC-303D3E43EDD2}" type="slidenum">
              <a:rPr lang="en-US" smtClean="0">
                <a:latin typeface="Arial" panose="020B0604020202020204" pitchFamily="34" charset="0"/>
                <a:cs typeface="Arial" panose="020B0604020202020204" pitchFamily="34" charset="0"/>
              </a:rPr>
              <a:t>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0960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95B332-5E86-4AAA-DBD0-D9E6BD4B7633}"/>
              </a:ext>
            </a:extLst>
          </p:cNvPr>
          <p:cNvPicPr>
            <a:picLocks noChangeAspect="1"/>
          </p:cNvPicPr>
          <p:nvPr/>
        </p:nvPicPr>
        <p:blipFill>
          <a:blip r:embed="rId2">
            <a:biLevel thresh="75000"/>
          </a:blip>
          <a:stretch>
            <a:fillRect/>
          </a:stretch>
        </p:blipFill>
        <p:spPr>
          <a:xfrm>
            <a:off x="2187678" y="0"/>
            <a:ext cx="7816644" cy="6824910"/>
          </a:xfrm>
          <a:prstGeom prst="rect">
            <a:avLst/>
          </a:prstGeom>
        </p:spPr>
      </p:pic>
      <p:sp>
        <p:nvSpPr>
          <p:cNvPr id="2" name="Date Placeholder 1">
            <a:extLst>
              <a:ext uri="{FF2B5EF4-FFF2-40B4-BE49-F238E27FC236}">
                <a16:creationId xmlns:a16="http://schemas.microsoft.com/office/drawing/2014/main" id="{725B5659-159F-C7EF-CAFD-FD04C477036F}"/>
              </a:ext>
            </a:extLst>
          </p:cNvPr>
          <p:cNvSpPr>
            <a:spLocks noGrp="1"/>
          </p:cNvSpPr>
          <p:nvPr>
            <p:ph type="dt" sz="half" idx="10"/>
          </p:nvPr>
        </p:nvSpPr>
        <p:spPr/>
        <p:txBody>
          <a:bodyPr/>
          <a:lstStyle/>
          <a:p>
            <a:fld id="{9C5937A2-4430-4899-9E22-BC99308FAF65}" type="datetime1">
              <a:rPr lang="en-US" smtClean="0"/>
              <a:t>1/14/2026</a:t>
            </a:fld>
            <a:endParaRPr lang="en-US"/>
          </a:p>
        </p:txBody>
      </p:sp>
      <p:sp>
        <p:nvSpPr>
          <p:cNvPr id="4" name="Footer Placeholder 3">
            <a:extLst>
              <a:ext uri="{FF2B5EF4-FFF2-40B4-BE49-F238E27FC236}">
                <a16:creationId xmlns:a16="http://schemas.microsoft.com/office/drawing/2014/main" id="{F39054E7-6920-665E-ACC0-F2BBC9BDD8C9}"/>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13D366D4-E8D8-0900-51A1-F76DBB44065F}"/>
              </a:ext>
            </a:extLst>
          </p:cNvPr>
          <p:cNvSpPr>
            <a:spLocks noGrp="1"/>
          </p:cNvSpPr>
          <p:nvPr>
            <p:ph type="sldNum" sz="quarter" idx="12"/>
          </p:nvPr>
        </p:nvSpPr>
        <p:spPr/>
        <p:txBody>
          <a:bodyPr/>
          <a:lstStyle/>
          <a:p>
            <a:fld id="{AF4605CB-AE1D-40FF-AAFC-303D3E43EDD2}" type="slidenum">
              <a:rPr lang="en-US" smtClean="0"/>
              <a:t>10</a:t>
            </a:fld>
            <a:endParaRPr lang="en-US"/>
          </a:p>
        </p:txBody>
      </p:sp>
    </p:spTree>
    <p:extLst>
      <p:ext uri="{BB962C8B-B14F-4D97-AF65-F5344CB8AC3E}">
        <p14:creationId xmlns:p14="http://schemas.microsoft.com/office/powerpoint/2010/main" val="1674643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A96686-17BD-ADA1-6887-012D240B7F20}"/>
              </a:ext>
            </a:extLst>
          </p:cNvPr>
          <p:cNvSpPr txBox="1"/>
          <p:nvPr/>
        </p:nvSpPr>
        <p:spPr>
          <a:xfrm>
            <a:off x="1170038" y="670740"/>
            <a:ext cx="7433187" cy="461665"/>
          </a:xfrm>
          <a:prstGeom prst="rect">
            <a:avLst/>
          </a:prstGeom>
          <a:noFill/>
        </p:spPr>
        <p:txBody>
          <a:bodyPr wrap="square">
            <a:spAutoFit/>
          </a:bodyPr>
          <a:lstStyle/>
          <a:p>
            <a:r>
              <a:rPr lang="en-US" sz="2400" dirty="0">
                <a:solidFill>
                  <a:schemeClr val="accent2">
                    <a:lumMod val="75000"/>
                  </a:schemeClr>
                </a:solidFill>
                <a:latin typeface="Arial" panose="020B0604020202020204" pitchFamily="34" charset="0"/>
                <a:cs typeface="Arial" panose="020B0604020202020204" pitchFamily="34" charset="0"/>
              </a:rPr>
              <a:t>Needs Identification: Defining the Real Problem</a:t>
            </a:r>
          </a:p>
        </p:txBody>
      </p:sp>
      <p:sp>
        <p:nvSpPr>
          <p:cNvPr id="6" name="TextBox 5">
            <a:extLst>
              <a:ext uri="{FF2B5EF4-FFF2-40B4-BE49-F238E27FC236}">
                <a16:creationId xmlns:a16="http://schemas.microsoft.com/office/drawing/2014/main" id="{C6C6FE27-22ED-466A-F86D-6ED0F034FE62}"/>
              </a:ext>
            </a:extLst>
          </p:cNvPr>
          <p:cNvSpPr txBox="1"/>
          <p:nvPr/>
        </p:nvSpPr>
        <p:spPr>
          <a:xfrm>
            <a:off x="1992573" y="1310343"/>
            <a:ext cx="8563897" cy="3728649"/>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Core Goal:</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success of a system depends on accurately defining and investigating a problem before jumping to a solution.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Needs vs. Wants:</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analyst focuses on what the user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needs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function effectively, rather than just what they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want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(which may be unnecessary or incorrect).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Problem vs. Symptoms:</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This step helps the analyst find the </a:t>
            </a: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real problem</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rather than just reacting to </a:t>
            </a: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cs typeface="Arial" panose="020B0604020202020204" pitchFamily="34" charset="0"/>
              </a:rPr>
              <a:t>symptoms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visible signs of the problem).</a:t>
            </a:r>
          </a:p>
        </p:txBody>
      </p:sp>
      <p:sp>
        <p:nvSpPr>
          <p:cNvPr id="2" name="Date Placeholder 1">
            <a:extLst>
              <a:ext uri="{FF2B5EF4-FFF2-40B4-BE49-F238E27FC236}">
                <a16:creationId xmlns:a16="http://schemas.microsoft.com/office/drawing/2014/main" id="{A808C8C5-2D20-1272-A66B-6C07EA8764A7}"/>
              </a:ext>
            </a:extLst>
          </p:cNvPr>
          <p:cNvSpPr>
            <a:spLocks noGrp="1"/>
          </p:cNvSpPr>
          <p:nvPr>
            <p:ph type="dt" sz="half" idx="10"/>
          </p:nvPr>
        </p:nvSpPr>
        <p:spPr/>
        <p:txBody>
          <a:bodyPr/>
          <a:lstStyle/>
          <a:p>
            <a:fld id="{F94F3E43-0CED-4FB2-A830-6961E2770996}"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68A9EE1D-0EF0-7F70-0A44-D9F293CB26BA}"/>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Md. Manirujjaman</a:t>
            </a:r>
          </a:p>
        </p:txBody>
      </p:sp>
      <p:sp>
        <p:nvSpPr>
          <p:cNvPr id="5" name="Slide Number Placeholder 4">
            <a:extLst>
              <a:ext uri="{FF2B5EF4-FFF2-40B4-BE49-F238E27FC236}">
                <a16:creationId xmlns:a16="http://schemas.microsoft.com/office/drawing/2014/main" id="{FFC05CC5-0C52-1561-415F-E90D17E87283}"/>
              </a:ext>
            </a:extLst>
          </p:cNvPr>
          <p:cNvSpPr>
            <a:spLocks noGrp="1"/>
          </p:cNvSpPr>
          <p:nvPr>
            <p:ph type="sldNum" sz="quarter" idx="12"/>
          </p:nvPr>
        </p:nvSpPr>
        <p:spPr/>
        <p:txBody>
          <a:bodyPr/>
          <a:lstStyle/>
          <a:p>
            <a:fld id="{AF4605CB-AE1D-40FF-AAFC-303D3E43EDD2}" type="slidenum">
              <a:rPr lang="en-US" smtClean="0">
                <a:latin typeface="Arial" panose="020B0604020202020204" pitchFamily="34" charset="0"/>
                <a:cs typeface="Arial" panose="020B0604020202020204" pitchFamily="34" charset="0"/>
              </a:rPr>
              <a:t>11</a:t>
            </a:fld>
            <a:endParaRPr lang="en-US">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3127B74D-3C20-21CD-DFFB-5B4849605A8F}"/>
              </a:ext>
            </a:extLst>
          </p:cNvPr>
          <p:cNvCxnSpPr>
            <a:cxnSpLocks/>
          </p:cNvCxnSpPr>
          <p:nvPr/>
        </p:nvCxnSpPr>
        <p:spPr>
          <a:xfrm>
            <a:off x="1170038" y="1132405"/>
            <a:ext cx="6666272" cy="0"/>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184497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3256AB-FA46-F9AE-AEEF-78264C040603}"/>
              </a:ext>
            </a:extLst>
          </p:cNvPr>
          <p:cNvSpPr txBox="1"/>
          <p:nvPr/>
        </p:nvSpPr>
        <p:spPr>
          <a:xfrm>
            <a:off x="806246" y="572417"/>
            <a:ext cx="6096000" cy="461665"/>
          </a:xfrm>
          <a:prstGeom prst="rect">
            <a:avLst/>
          </a:prstGeom>
          <a:noFill/>
        </p:spPr>
        <p:txBody>
          <a:bodyPr wrap="square">
            <a:spAutoFit/>
          </a:bodyPr>
          <a:lstStyle/>
          <a:p>
            <a:r>
              <a:rPr lang="en-US" sz="2400" dirty="0">
                <a:solidFill>
                  <a:schemeClr val="accent2">
                    <a:lumMod val="75000"/>
                  </a:schemeClr>
                </a:solidFill>
              </a:rPr>
              <a:t>Why Determining Requirements is Difficult</a:t>
            </a:r>
          </a:p>
        </p:txBody>
      </p:sp>
      <p:sp>
        <p:nvSpPr>
          <p:cNvPr id="6" name="TextBox 5">
            <a:extLst>
              <a:ext uri="{FF2B5EF4-FFF2-40B4-BE49-F238E27FC236}">
                <a16:creationId xmlns:a16="http://schemas.microsoft.com/office/drawing/2014/main" id="{523E30B5-EC65-D4B1-F194-E9CAC350D30E}"/>
              </a:ext>
            </a:extLst>
          </p:cNvPr>
          <p:cNvSpPr txBox="1"/>
          <p:nvPr/>
        </p:nvSpPr>
        <p:spPr>
          <a:xfrm>
            <a:off x="1661652" y="1185117"/>
            <a:ext cx="8613058" cy="4062651"/>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rPr>
              <a:t>Constant Change:</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System and user requirements are dynamic; they must be frequently modified to stay relevant.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rPr>
              <a:t>Articulation Issues:</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Unless a user is highly experienced, it is difficult for them to describe complex functions and processes clearly.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2">
                    <a:lumMod val="75000"/>
                  </a:schemeClr>
                </a:solidFill>
                <a:effectLst/>
                <a:latin typeface="Arial" panose="020B0604020202020204" pitchFamily="34" charset="0"/>
              </a:rPr>
              <a:t>Lack of Immediate Motivation:</a:t>
            </a: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Users often lose interest because the "reward" (the working system) isn't seen until the final implementation phase.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effectLst/>
                <a:latin typeface="Arial" panose="020B0604020202020204" pitchFamily="34" charset="0"/>
              </a:rPr>
              <a:t>Users </a:t>
            </a:r>
            <a:r>
              <a:rPr kumimoji="0" lang="en-US" altLang="en-US" sz="2000" b="0" i="0" u="none" strike="noStrike" cap="none" normalizeH="0" baseline="0" dirty="0">
                <a:ln>
                  <a:noFill/>
                </a:ln>
                <a:solidFill>
                  <a:schemeClr val="tx1"/>
                </a:solidFill>
                <a:effectLst/>
                <a:latin typeface="Arial" panose="020B0604020202020204" pitchFamily="34" charset="0"/>
              </a:rPr>
              <a:t>think in qualitative terms (generalities and flexibility).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Date Placeholder 1">
            <a:extLst>
              <a:ext uri="{FF2B5EF4-FFF2-40B4-BE49-F238E27FC236}">
                <a16:creationId xmlns:a16="http://schemas.microsoft.com/office/drawing/2014/main" id="{D7A0160D-801B-EB31-A9CC-CD1B90654116}"/>
              </a:ext>
            </a:extLst>
          </p:cNvPr>
          <p:cNvSpPr>
            <a:spLocks noGrp="1"/>
          </p:cNvSpPr>
          <p:nvPr>
            <p:ph type="dt" sz="half" idx="10"/>
          </p:nvPr>
        </p:nvSpPr>
        <p:spPr/>
        <p:txBody>
          <a:bodyPr/>
          <a:lstStyle/>
          <a:p>
            <a:fld id="{1D434341-5647-473B-BFBF-8F69ECF426B6}" type="datetime1">
              <a:rPr lang="en-US" smtClean="0"/>
              <a:t>1/14/2026</a:t>
            </a:fld>
            <a:endParaRPr lang="en-US"/>
          </a:p>
        </p:txBody>
      </p:sp>
      <p:sp>
        <p:nvSpPr>
          <p:cNvPr id="4" name="Footer Placeholder 3">
            <a:extLst>
              <a:ext uri="{FF2B5EF4-FFF2-40B4-BE49-F238E27FC236}">
                <a16:creationId xmlns:a16="http://schemas.microsoft.com/office/drawing/2014/main" id="{79640F12-8F63-4B86-1A2C-FC3574B43ECB}"/>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54DD5177-6B6A-6B1F-10FB-599968F53B93}"/>
              </a:ext>
            </a:extLst>
          </p:cNvPr>
          <p:cNvSpPr>
            <a:spLocks noGrp="1"/>
          </p:cNvSpPr>
          <p:nvPr>
            <p:ph type="sldNum" sz="quarter" idx="12"/>
          </p:nvPr>
        </p:nvSpPr>
        <p:spPr/>
        <p:txBody>
          <a:bodyPr/>
          <a:lstStyle/>
          <a:p>
            <a:fld id="{AF4605CB-AE1D-40FF-AAFC-303D3E43EDD2}" type="slidenum">
              <a:rPr lang="en-US" smtClean="0"/>
              <a:t>12</a:t>
            </a:fld>
            <a:endParaRPr lang="en-US"/>
          </a:p>
        </p:txBody>
      </p:sp>
      <p:cxnSp>
        <p:nvCxnSpPr>
          <p:cNvPr id="8" name="Straight Connector 7">
            <a:extLst>
              <a:ext uri="{FF2B5EF4-FFF2-40B4-BE49-F238E27FC236}">
                <a16:creationId xmlns:a16="http://schemas.microsoft.com/office/drawing/2014/main" id="{8A477690-1E2E-2996-31AB-DBEBE919F43C}"/>
              </a:ext>
            </a:extLst>
          </p:cNvPr>
          <p:cNvCxnSpPr>
            <a:cxnSpLocks/>
          </p:cNvCxnSpPr>
          <p:nvPr/>
        </p:nvCxnSpPr>
        <p:spPr>
          <a:xfrm>
            <a:off x="717755" y="1034082"/>
            <a:ext cx="5742039" cy="0"/>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880769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183D54-FD0B-BC55-9E9E-31FDB90B09F9}"/>
              </a:ext>
            </a:extLst>
          </p:cNvPr>
          <p:cNvSpPr txBox="1"/>
          <p:nvPr/>
        </p:nvSpPr>
        <p:spPr>
          <a:xfrm>
            <a:off x="648928" y="727594"/>
            <a:ext cx="9596284" cy="461665"/>
          </a:xfrm>
          <a:prstGeom prst="rect">
            <a:avLst/>
          </a:prstGeom>
          <a:noFill/>
        </p:spPr>
        <p:txBody>
          <a:bodyPr wrap="square">
            <a:spAutoFit/>
          </a:bodyPr>
          <a:lstStyle/>
          <a:p>
            <a:r>
              <a:rPr lang="en-US" sz="2400" dirty="0"/>
              <a:t>The Three Main Strategies - for determining information requirements:</a:t>
            </a:r>
          </a:p>
        </p:txBody>
      </p:sp>
      <p:sp>
        <p:nvSpPr>
          <p:cNvPr id="5" name="TextBox 4">
            <a:extLst>
              <a:ext uri="{FF2B5EF4-FFF2-40B4-BE49-F238E27FC236}">
                <a16:creationId xmlns:a16="http://schemas.microsoft.com/office/drawing/2014/main" id="{85F77329-D1BF-FCD7-F2E5-8845B512A044}"/>
              </a:ext>
            </a:extLst>
          </p:cNvPr>
          <p:cNvSpPr txBox="1"/>
          <p:nvPr/>
        </p:nvSpPr>
        <p:spPr>
          <a:xfrm>
            <a:off x="1379577" y="1282663"/>
            <a:ext cx="9832906" cy="3820726"/>
          </a:xfrm>
          <a:prstGeom prst="rect">
            <a:avLst/>
          </a:prstGeom>
          <a:noFill/>
        </p:spPr>
        <p:txBody>
          <a:bodyPr wrap="square">
            <a:spAutoFit/>
          </a:bodyPr>
          <a:lstStyle/>
          <a:p>
            <a:pPr>
              <a:lnSpc>
                <a:spcPct val="150000"/>
              </a:lnSpc>
              <a:buNone/>
            </a:pPr>
            <a:r>
              <a:rPr lang="en-US" sz="2000" b="1" dirty="0">
                <a:solidFill>
                  <a:schemeClr val="accent2">
                    <a:lumMod val="75000"/>
                  </a:schemeClr>
                </a:solidFill>
              </a:rPr>
              <a:t>The Three Main Strategies</a:t>
            </a:r>
          </a:p>
          <a:p>
            <a:pPr marL="800100" lvl="1" indent="-342900">
              <a:lnSpc>
                <a:spcPct val="150000"/>
              </a:lnSpc>
              <a:buFont typeface="+mj-lt"/>
              <a:buAutoNum type="arabicPeriod"/>
            </a:pPr>
            <a:r>
              <a:rPr lang="en-US" sz="2400" b="1" dirty="0">
                <a:solidFill>
                  <a:schemeClr val="accent2">
                    <a:lumMod val="75000"/>
                  </a:schemeClr>
                </a:solidFill>
              </a:rPr>
              <a:t>Asking:</a:t>
            </a:r>
            <a:r>
              <a:rPr lang="en-US" sz="2400" dirty="0">
                <a:solidFill>
                  <a:schemeClr val="accent2">
                    <a:lumMod val="75000"/>
                  </a:schemeClr>
                </a:solidFill>
              </a:rPr>
              <a:t> </a:t>
            </a:r>
            <a:r>
              <a:rPr lang="en-US" sz="2400" dirty="0"/>
              <a:t>The analyst simply asks users what they need. This works best for stable systems where users know exactly what they want.</a:t>
            </a:r>
          </a:p>
          <a:p>
            <a:pPr marL="800100" lvl="1" indent="-342900">
              <a:lnSpc>
                <a:spcPct val="150000"/>
              </a:lnSpc>
              <a:buFont typeface="+mj-lt"/>
              <a:buAutoNum type="arabicPeriod"/>
            </a:pPr>
            <a:r>
              <a:rPr lang="en-US" sz="2400" b="1" dirty="0">
                <a:solidFill>
                  <a:schemeClr val="accent2">
                    <a:lumMod val="75000"/>
                  </a:schemeClr>
                </a:solidFill>
              </a:rPr>
              <a:t>Existing Systems:</a:t>
            </a:r>
            <a:r>
              <a:rPr lang="en-US" sz="2400" dirty="0">
                <a:solidFill>
                  <a:schemeClr val="accent2">
                    <a:lumMod val="75000"/>
                  </a:schemeClr>
                </a:solidFill>
              </a:rPr>
              <a:t> </a:t>
            </a:r>
            <a:r>
              <a:rPr lang="en-US" sz="2400" dirty="0"/>
              <a:t>The analyst looks at current reports and data to see what is already there and what is missing.</a:t>
            </a:r>
          </a:p>
          <a:p>
            <a:pPr marL="800100" lvl="1" indent="-342900">
              <a:lnSpc>
                <a:spcPct val="150000"/>
              </a:lnSpc>
              <a:buFont typeface="+mj-lt"/>
              <a:buAutoNum type="arabicPeriod"/>
            </a:pPr>
            <a:r>
              <a:rPr lang="en-US" sz="2400" b="1" dirty="0">
                <a:solidFill>
                  <a:schemeClr val="accent2">
                    <a:lumMod val="75000"/>
                  </a:schemeClr>
                </a:solidFill>
              </a:rPr>
              <a:t>Prototyping:</a:t>
            </a:r>
            <a:r>
              <a:rPr lang="en-US" sz="2400" dirty="0">
                <a:solidFill>
                  <a:schemeClr val="accent2">
                    <a:lumMod val="75000"/>
                  </a:schemeClr>
                </a:solidFill>
              </a:rPr>
              <a:t> </a:t>
            </a:r>
            <a:r>
              <a:rPr lang="en-US" sz="2400" dirty="0"/>
              <a:t>A small version of the system is built first. Users try it out and then suggest changes based on their experience.</a:t>
            </a:r>
          </a:p>
        </p:txBody>
      </p:sp>
      <p:sp>
        <p:nvSpPr>
          <p:cNvPr id="2" name="Date Placeholder 1">
            <a:extLst>
              <a:ext uri="{FF2B5EF4-FFF2-40B4-BE49-F238E27FC236}">
                <a16:creationId xmlns:a16="http://schemas.microsoft.com/office/drawing/2014/main" id="{F6C07231-A253-D8CE-4B35-7EC896284BB7}"/>
              </a:ext>
            </a:extLst>
          </p:cNvPr>
          <p:cNvSpPr>
            <a:spLocks noGrp="1"/>
          </p:cNvSpPr>
          <p:nvPr>
            <p:ph type="dt" sz="half" idx="10"/>
          </p:nvPr>
        </p:nvSpPr>
        <p:spPr/>
        <p:txBody>
          <a:bodyPr/>
          <a:lstStyle/>
          <a:p>
            <a:fld id="{6CEDFD1D-3873-4586-AB2E-801D2C22EB8A}" type="datetime1">
              <a:rPr lang="en-US" smtClean="0"/>
              <a:t>1/14/2026</a:t>
            </a:fld>
            <a:endParaRPr lang="en-US"/>
          </a:p>
        </p:txBody>
      </p:sp>
      <p:sp>
        <p:nvSpPr>
          <p:cNvPr id="4" name="Footer Placeholder 3">
            <a:extLst>
              <a:ext uri="{FF2B5EF4-FFF2-40B4-BE49-F238E27FC236}">
                <a16:creationId xmlns:a16="http://schemas.microsoft.com/office/drawing/2014/main" id="{C738DF7C-A4DE-9877-6A48-A7A28015EE9F}"/>
              </a:ext>
            </a:extLst>
          </p:cNvPr>
          <p:cNvSpPr>
            <a:spLocks noGrp="1"/>
          </p:cNvSpPr>
          <p:nvPr>
            <p:ph type="ftr" sz="quarter" idx="11"/>
          </p:nvPr>
        </p:nvSpPr>
        <p:spPr/>
        <p:txBody>
          <a:bodyPr/>
          <a:lstStyle/>
          <a:p>
            <a:r>
              <a:rPr lang="en-US"/>
              <a:t>Md. Manirujjaman</a:t>
            </a:r>
          </a:p>
        </p:txBody>
      </p:sp>
      <p:sp>
        <p:nvSpPr>
          <p:cNvPr id="6" name="Slide Number Placeholder 5">
            <a:extLst>
              <a:ext uri="{FF2B5EF4-FFF2-40B4-BE49-F238E27FC236}">
                <a16:creationId xmlns:a16="http://schemas.microsoft.com/office/drawing/2014/main" id="{9C66C957-42A3-21CC-2394-D19897C10C68}"/>
              </a:ext>
            </a:extLst>
          </p:cNvPr>
          <p:cNvSpPr>
            <a:spLocks noGrp="1"/>
          </p:cNvSpPr>
          <p:nvPr>
            <p:ph type="sldNum" sz="quarter" idx="12"/>
          </p:nvPr>
        </p:nvSpPr>
        <p:spPr/>
        <p:txBody>
          <a:bodyPr/>
          <a:lstStyle/>
          <a:p>
            <a:fld id="{AF4605CB-AE1D-40FF-AAFC-303D3E43EDD2}" type="slidenum">
              <a:rPr lang="en-US" smtClean="0"/>
              <a:t>13</a:t>
            </a:fld>
            <a:endParaRPr lang="en-US"/>
          </a:p>
        </p:txBody>
      </p:sp>
    </p:spTree>
    <p:extLst>
      <p:ext uri="{BB962C8B-B14F-4D97-AF65-F5344CB8AC3E}">
        <p14:creationId xmlns:p14="http://schemas.microsoft.com/office/powerpoint/2010/main" val="2211475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1BFD1F-959F-D6A7-C2CB-9429800328AE}"/>
              </a:ext>
            </a:extLst>
          </p:cNvPr>
          <p:cNvSpPr txBox="1"/>
          <p:nvPr/>
        </p:nvSpPr>
        <p:spPr>
          <a:xfrm>
            <a:off x="1097280" y="1589886"/>
            <a:ext cx="10589341" cy="2793842"/>
          </a:xfrm>
          <a:prstGeom prst="rect">
            <a:avLst/>
          </a:prstGeom>
          <a:noFill/>
        </p:spPr>
        <p:txBody>
          <a:bodyPr wrap="square">
            <a:spAutoFit/>
          </a:bodyPr>
          <a:lstStyle/>
          <a:p>
            <a:pPr>
              <a:lnSpc>
                <a:spcPct val="150000"/>
              </a:lnSpc>
              <a:buNone/>
            </a:pPr>
            <a:r>
              <a:rPr lang="en-US" sz="2400" dirty="0">
                <a:latin typeface="Arial" panose="020B0604020202020204" pitchFamily="34" charset="0"/>
                <a:cs typeface="Arial" panose="020B0604020202020204" pitchFamily="34" charset="0"/>
              </a:rPr>
              <a:t>The best method depends on the </a:t>
            </a:r>
            <a:r>
              <a:rPr lang="en-US" sz="2400" b="1" dirty="0">
                <a:solidFill>
                  <a:schemeClr val="accent2">
                    <a:lumMod val="75000"/>
                  </a:schemeClr>
                </a:solidFill>
                <a:latin typeface="Arial" panose="020B0604020202020204" pitchFamily="34" charset="0"/>
                <a:cs typeface="Arial" panose="020B0604020202020204" pitchFamily="34" charset="0"/>
              </a:rPr>
              <a:t>Level of Uncertainty</a:t>
            </a:r>
            <a:r>
              <a:rPr lang="en-US" sz="2400" dirty="0">
                <a:latin typeface="Arial" panose="020B0604020202020204" pitchFamily="34" charset="0"/>
                <a:cs typeface="Arial" panose="020B0604020202020204" pitchFamily="34" charset="0"/>
              </a:rPr>
              <a:t>:</a:t>
            </a:r>
          </a:p>
          <a:p>
            <a:pPr marL="800100" lvl="1" indent="-342900">
              <a:lnSpc>
                <a:spcPct val="150000"/>
              </a:lnSpc>
              <a:buFont typeface="Wingdings" panose="05000000000000000000" pitchFamily="2" charset="2"/>
              <a:buChar char="Ø"/>
            </a:pPr>
            <a:r>
              <a:rPr lang="en-US" sz="2400" b="1" dirty="0">
                <a:solidFill>
                  <a:schemeClr val="accent2">
                    <a:lumMod val="75000"/>
                  </a:schemeClr>
                </a:solidFill>
                <a:latin typeface="Arial" panose="020B0604020202020204" pitchFamily="34" charset="0"/>
                <a:cs typeface="Arial" panose="020B0604020202020204" pitchFamily="34" charset="0"/>
              </a:rPr>
              <a:t>Low Uncertainty (Use "Asking"):</a:t>
            </a:r>
            <a:r>
              <a:rPr lang="en-US" sz="2400" dirty="0">
                <a:solidFill>
                  <a:schemeClr val="accent2">
                    <a:lumMod val="75000"/>
                  </a:schemeClr>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Choose this when the requirements are stable and the user can easily explain them.</a:t>
            </a:r>
          </a:p>
          <a:p>
            <a:pPr marL="800100" lvl="1" indent="-342900">
              <a:lnSpc>
                <a:spcPct val="150000"/>
              </a:lnSpc>
              <a:buFont typeface="Wingdings" panose="05000000000000000000" pitchFamily="2" charset="2"/>
              <a:buChar char="Ø"/>
            </a:pPr>
            <a:r>
              <a:rPr lang="en-US" sz="2400" b="1" dirty="0">
                <a:solidFill>
                  <a:schemeClr val="accent2">
                    <a:lumMod val="75000"/>
                  </a:schemeClr>
                </a:solidFill>
                <a:latin typeface="Arial" panose="020B0604020202020204" pitchFamily="34" charset="0"/>
                <a:cs typeface="Arial" panose="020B0604020202020204" pitchFamily="34" charset="0"/>
              </a:rPr>
              <a:t>High Uncertainty (Use "Prototyping"):</a:t>
            </a:r>
            <a:r>
              <a:rPr lang="en-US" sz="2400" dirty="0">
                <a:solidFill>
                  <a:schemeClr val="accent2">
                    <a:lumMod val="75000"/>
                  </a:schemeClr>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Choose this when it is hard to visualize the system or when needs are constantly changing.</a:t>
            </a:r>
          </a:p>
        </p:txBody>
      </p:sp>
      <p:sp>
        <p:nvSpPr>
          <p:cNvPr id="2" name="Date Placeholder 1">
            <a:extLst>
              <a:ext uri="{FF2B5EF4-FFF2-40B4-BE49-F238E27FC236}">
                <a16:creationId xmlns:a16="http://schemas.microsoft.com/office/drawing/2014/main" id="{D1353527-3735-B503-FC28-9B84E6CC9D18}"/>
              </a:ext>
            </a:extLst>
          </p:cNvPr>
          <p:cNvSpPr>
            <a:spLocks noGrp="1"/>
          </p:cNvSpPr>
          <p:nvPr>
            <p:ph type="dt" sz="half" idx="10"/>
          </p:nvPr>
        </p:nvSpPr>
        <p:spPr>
          <a:xfrm>
            <a:off x="1097280" y="6459785"/>
            <a:ext cx="3652581" cy="365125"/>
          </a:xfrm>
        </p:spPr>
        <p:txBody>
          <a:bodyPr/>
          <a:lstStyle/>
          <a:p>
            <a:fld id="{F64F1B24-F4EA-4FF2-A073-38C337871297}" type="datetime1">
              <a:rPr lang="en-US" sz="2000" smtClean="0">
                <a:latin typeface="Arial" panose="020B0604020202020204" pitchFamily="34" charset="0"/>
                <a:cs typeface="Arial" panose="020B0604020202020204" pitchFamily="34" charset="0"/>
              </a:rPr>
              <a:t>1/14/2026</a:t>
            </a:fld>
            <a:endParaRPr lang="en-US" sz="200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61F193F8-D990-2080-52C9-CE7A7A0F140F}"/>
              </a:ext>
            </a:extLst>
          </p:cNvPr>
          <p:cNvSpPr>
            <a:spLocks noGrp="1"/>
          </p:cNvSpPr>
          <p:nvPr>
            <p:ph type="ftr" sz="quarter" idx="11"/>
          </p:nvPr>
        </p:nvSpPr>
        <p:spPr>
          <a:xfrm>
            <a:off x="3686185" y="6459785"/>
            <a:ext cx="7125304" cy="365125"/>
          </a:xfrm>
        </p:spPr>
        <p:txBody>
          <a:bodyPr/>
          <a:lstStyle/>
          <a:p>
            <a:r>
              <a:rPr lang="en-US" sz="2000">
                <a:latin typeface="Arial" panose="020B0604020202020204" pitchFamily="34" charset="0"/>
                <a:cs typeface="Arial" panose="020B0604020202020204" pitchFamily="34" charset="0"/>
              </a:rPr>
              <a:t>Md. Manirujjaman</a:t>
            </a:r>
          </a:p>
        </p:txBody>
      </p:sp>
      <p:sp>
        <p:nvSpPr>
          <p:cNvPr id="5" name="Slide Number Placeholder 4">
            <a:extLst>
              <a:ext uri="{FF2B5EF4-FFF2-40B4-BE49-F238E27FC236}">
                <a16:creationId xmlns:a16="http://schemas.microsoft.com/office/drawing/2014/main" id="{CFBBFF31-48FA-25C8-C483-AF74DF6713DB}"/>
              </a:ext>
            </a:extLst>
          </p:cNvPr>
          <p:cNvSpPr>
            <a:spLocks noGrp="1"/>
          </p:cNvSpPr>
          <p:nvPr>
            <p:ph type="sldNum" sz="quarter" idx="12"/>
          </p:nvPr>
        </p:nvSpPr>
        <p:spPr>
          <a:xfrm>
            <a:off x="9900458" y="6459785"/>
            <a:ext cx="1938411" cy="365125"/>
          </a:xfrm>
        </p:spPr>
        <p:txBody>
          <a:bodyPr/>
          <a:lstStyle/>
          <a:p>
            <a:fld id="{AF4605CB-AE1D-40FF-AAFC-303D3E43EDD2}" type="slidenum">
              <a:rPr lang="en-US" sz="2000" smtClean="0">
                <a:latin typeface="Arial" panose="020B0604020202020204" pitchFamily="34" charset="0"/>
                <a:cs typeface="Arial" panose="020B0604020202020204" pitchFamily="34" charset="0"/>
              </a:rPr>
              <a:t>14</a:t>
            </a:fld>
            <a:endParaRPr lang="en-US" sz="20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7B97AD9-BA55-A135-3AAB-225BC0BB3778}"/>
              </a:ext>
            </a:extLst>
          </p:cNvPr>
          <p:cNvSpPr txBox="1"/>
          <p:nvPr/>
        </p:nvSpPr>
        <p:spPr>
          <a:xfrm>
            <a:off x="363794" y="805457"/>
            <a:ext cx="9006348" cy="523220"/>
          </a:xfrm>
          <a:prstGeom prst="rect">
            <a:avLst/>
          </a:prstGeom>
          <a:noFill/>
        </p:spPr>
        <p:txBody>
          <a:bodyPr wrap="square">
            <a:spAutoFit/>
          </a:bodyPr>
          <a:lstStyle/>
          <a:p>
            <a:pPr>
              <a:buNone/>
            </a:pPr>
            <a:r>
              <a:rPr lang="en-US" sz="2800" b="1" dirty="0">
                <a:solidFill>
                  <a:schemeClr val="accent2">
                    <a:lumMod val="75000"/>
                  </a:schemeClr>
                </a:solidFill>
                <a:latin typeface="Arial" panose="020B0604020202020204" pitchFamily="34" charset="0"/>
                <a:cs typeface="Arial" panose="020B0604020202020204" pitchFamily="34" charset="0"/>
              </a:rPr>
              <a:t>Factors for Choosing a Strategy</a:t>
            </a:r>
          </a:p>
        </p:txBody>
      </p:sp>
      <p:cxnSp>
        <p:nvCxnSpPr>
          <p:cNvPr id="9" name="Straight Connector 8">
            <a:extLst>
              <a:ext uri="{FF2B5EF4-FFF2-40B4-BE49-F238E27FC236}">
                <a16:creationId xmlns:a16="http://schemas.microsoft.com/office/drawing/2014/main" id="{3D662C9A-571A-3C9D-682D-76935D671B0F}"/>
              </a:ext>
            </a:extLst>
          </p:cNvPr>
          <p:cNvCxnSpPr>
            <a:cxnSpLocks/>
          </p:cNvCxnSpPr>
          <p:nvPr/>
        </p:nvCxnSpPr>
        <p:spPr>
          <a:xfrm>
            <a:off x="363794" y="1328677"/>
            <a:ext cx="547656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006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5C4415-53FB-6CF7-7E6F-8604D09411F5}"/>
              </a:ext>
            </a:extLst>
          </p:cNvPr>
          <p:cNvPicPr>
            <a:picLocks noChangeAspect="1"/>
          </p:cNvPicPr>
          <p:nvPr/>
        </p:nvPicPr>
        <p:blipFill>
          <a:blip r:embed="rId2">
            <a:biLevel thresh="75000"/>
          </a:blip>
          <a:stretch>
            <a:fillRect/>
          </a:stretch>
        </p:blipFill>
        <p:spPr>
          <a:xfrm>
            <a:off x="1700981" y="33090"/>
            <a:ext cx="9085006" cy="6250631"/>
          </a:xfrm>
          <a:prstGeom prst="rect">
            <a:avLst/>
          </a:prstGeom>
        </p:spPr>
      </p:pic>
      <p:sp>
        <p:nvSpPr>
          <p:cNvPr id="2" name="Date Placeholder 1">
            <a:extLst>
              <a:ext uri="{FF2B5EF4-FFF2-40B4-BE49-F238E27FC236}">
                <a16:creationId xmlns:a16="http://schemas.microsoft.com/office/drawing/2014/main" id="{7010EAB3-4D6A-D157-AC6C-618DA8A18962}"/>
              </a:ext>
            </a:extLst>
          </p:cNvPr>
          <p:cNvSpPr>
            <a:spLocks noGrp="1"/>
          </p:cNvSpPr>
          <p:nvPr>
            <p:ph type="dt" sz="half" idx="10"/>
          </p:nvPr>
        </p:nvSpPr>
        <p:spPr/>
        <p:txBody>
          <a:bodyPr/>
          <a:lstStyle/>
          <a:p>
            <a:fld id="{3E0B940D-DBBD-40FA-98B3-C2C0E99BE9AF}" type="datetime1">
              <a:rPr lang="en-US" smtClean="0"/>
              <a:t>1/14/2026</a:t>
            </a:fld>
            <a:endParaRPr lang="en-US"/>
          </a:p>
        </p:txBody>
      </p:sp>
      <p:sp>
        <p:nvSpPr>
          <p:cNvPr id="4" name="Footer Placeholder 3">
            <a:extLst>
              <a:ext uri="{FF2B5EF4-FFF2-40B4-BE49-F238E27FC236}">
                <a16:creationId xmlns:a16="http://schemas.microsoft.com/office/drawing/2014/main" id="{5C90AD4B-5F0D-ED4D-C88A-9F674BD60D72}"/>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24DC8B80-204F-C6F1-EA60-1D7763651996}"/>
              </a:ext>
            </a:extLst>
          </p:cNvPr>
          <p:cNvSpPr>
            <a:spLocks noGrp="1"/>
          </p:cNvSpPr>
          <p:nvPr>
            <p:ph type="sldNum" sz="quarter" idx="12"/>
          </p:nvPr>
        </p:nvSpPr>
        <p:spPr/>
        <p:txBody>
          <a:bodyPr/>
          <a:lstStyle/>
          <a:p>
            <a:fld id="{AF4605CB-AE1D-40FF-AAFC-303D3E43EDD2}" type="slidenum">
              <a:rPr lang="en-US" smtClean="0"/>
              <a:t>15</a:t>
            </a:fld>
            <a:endParaRPr lang="en-US"/>
          </a:p>
        </p:txBody>
      </p:sp>
    </p:spTree>
    <p:extLst>
      <p:ext uri="{BB962C8B-B14F-4D97-AF65-F5344CB8AC3E}">
        <p14:creationId xmlns:p14="http://schemas.microsoft.com/office/powerpoint/2010/main" val="3890081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41004F-AC34-F657-8A5E-2D3C71D8E64E}"/>
              </a:ext>
            </a:extLst>
          </p:cNvPr>
          <p:cNvSpPr txBox="1"/>
          <p:nvPr/>
        </p:nvSpPr>
        <p:spPr>
          <a:xfrm>
            <a:off x="521108" y="591270"/>
            <a:ext cx="8485239" cy="461665"/>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User Defensive Strategies (The "Predicament")</a:t>
            </a:r>
          </a:p>
        </p:txBody>
      </p:sp>
      <p:sp>
        <p:nvSpPr>
          <p:cNvPr id="5" name="TextBox 4">
            <a:extLst>
              <a:ext uri="{FF2B5EF4-FFF2-40B4-BE49-F238E27FC236}">
                <a16:creationId xmlns:a16="http://schemas.microsoft.com/office/drawing/2014/main" id="{1A8C7A9C-9575-DBFF-E7B7-5D333DBF2483}"/>
              </a:ext>
            </a:extLst>
          </p:cNvPr>
          <p:cNvSpPr txBox="1"/>
          <p:nvPr/>
        </p:nvSpPr>
        <p:spPr>
          <a:xfrm>
            <a:off x="1406013" y="1128979"/>
            <a:ext cx="9950246" cy="4600042"/>
          </a:xfrm>
          <a:prstGeom prst="rect">
            <a:avLst/>
          </a:prstGeom>
          <a:noFill/>
        </p:spPr>
        <p:txBody>
          <a:bodyPr wrap="square">
            <a:spAutoFit/>
          </a:bodyPr>
          <a:lstStyle/>
          <a:p>
            <a:pPr>
              <a:lnSpc>
                <a:spcPct val="150000"/>
              </a:lnSpc>
              <a:buNone/>
            </a:pPr>
            <a:r>
              <a:rPr lang="en-US" sz="2200" dirty="0">
                <a:latin typeface="Arial" panose="020B0604020202020204" pitchFamily="34" charset="0"/>
                <a:cs typeface="Arial" panose="020B0604020202020204" pitchFamily="34" charset="0"/>
              </a:rPr>
              <a:t>When users struggle to meet an analyst's technical expectations, they often adopt these strategies:</a:t>
            </a:r>
          </a:p>
          <a:p>
            <a:pPr marL="742950" lvl="1" indent="-285750">
              <a:lnSpc>
                <a:spcPct val="150000"/>
              </a:lnSpc>
              <a:buFont typeface="Wingdings" panose="05000000000000000000" pitchFamily="2" charset="2"/>
              <a:buChar char="Ø"/>
            </a:pPr>
            <a:r>
              <a:rPr lang="en-US" sz="2200" b="1" dirty="0">
                <a:solidFill>
                  <a:schemeClr val="accent2">
                    <a:lumMod val="75000"/>
                  </a:schemeClr>
                </a:solidFill>
                <a:latin typeface="Arial" panose="020B0604020202020204" pitchFamily="34" charset="0"/>
                <a:cs typeface="Arial" panose="020B0604020202020204" pitchFamily="34" charset="0"/>
              </a:rPr>
              <a:t>The Kitchen Sink:</a:t>
            </a:r>
            <a:r>
              <a:rPr lang="en-US" sz="2200" dirty="0">
                <a:solidFill>
                  <a:schemeClr val="accent2">
                    <a:lumMod val="75000"/>
                  </a:schemeClr>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Requesting every possible report and feature out of fear of missing something (usually indicates inexperience).</a:t>
            </a:r>
          </a:p>
          <a:p>
            <a:pPr marL="742950" lvl="1" indent="-285750">
              <a:lnSpc>
                <a:spcPct val="150000"/>
              </a:lnSpc>
              <a:buFont typeface="Wingdings" panose="05000000000000000000" pitchFamily="2" charset="2"/>
              <a:buChar char="Ø"/>
            </a:pPr>
            <a:r>
              <a:rPr lang="en-US" sz="2200" b="1" dirty="0">
                <a:solidFill>
                  <a:schemeClr val="accent2">
                    <a:lumMod val="75000"/>
                  </a:schemeClr>
                </a:solidFill>
                <a:latin typeface="Arial" panose="020B0604020202020204" pitchFamily="34" charset="0"/>
                <a:cs typeface="Arial" panose="020B0604020202020204" pitchFamily="34" charset="0"/>
              </a:rPr>
              <a:t>The Smoking Screen:</a:t>
            </a:r>
            <a:r>
              <a:rPr lang="en-US" sz="2200" dirty="0">
                <a:solidFill>
                  <a:schemeClr val="accent2">
                    <a:lumMod val="75000"/>
                  </a:schemeClr>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Requesting many features to use as "bargaining chips," knowing they only need one or two (indicates a savvy but cautious user).</a:t>
            </a:r>
          </a:p>
          <a:p>
            <a:pPr marL="742950" lvl="1" indent="-285750">
              <a:lnSpc>
                <a:spcPct val="150000"/>
              </a:lnSpc>
              <a:buFont typeface="Wingdings" panose="05000000000000000000" pitchFamily="2" charset="2"/>
              <a:buChar char="Ø"/>
            </a:pPr>
            <a:r>
              <a:rPr lang="en-US" sz="2200" b="1" dirty="0">
                <a:solidFill>
                  <a:schemeClr val="accent2">
                    <a:lumMod val="75000"/>
                  </a:schemeClr>
                </a:solidFill>
                <a:latin typeface="Arial" panose="020B0604020202020204" pitchFamily="34" charset="0"/>
                <a:cs typeface="Arial" panose="020B0604020202020204" pitchFamily="34" charset="0"/>
              </a:rPr>
              <a:t>The Same Thing:</a:t>
            </a:r>
            <a:r>
              <a:rPr lang="en-US" sz="2200" dirty="0">
                <a:solidFill>
                  <a:schemeClr val="accent2">
                    <a:lumMod val="75000"/>
                  </a:schemeClr>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Asking for the exact current manual process but on a computer (indicates laziness or a lack of knowledge).</a:t>
            </a:r>
          </a:p>
        </p:txBody>
      </p:sp>
      <p:sp>
        <p:nvSpPr>
          <p:cNvPr id="2" name="Date Placeholder 1">
            <a:extLst>
              <a:ext uri="{FF2B5EF4-FFF2-40B4-BE49-F238E27FC236}">
                <a16:creationId xmlns:a16="http://schemas.microsoft.com/office/drawing/2014/main" id="{F14DAF67-C047-03DF-8DE7-7ABC9C5FFCC6}"/>
              </a:ext>
            </a:extLst>
          </p:cNvPr>
          <p:cNvSpPr>
            <a:spLocks noGrp="1"/>
          </p:cNvSpPr>
          <p:nvPr>
            <p:ph type="dt" sz="half" idx="10"/>
          </p:nvPr>
        </p:nvSpPr>
        <p:spPr/>
        <p:txBody>
          <a:bodyPr/>
          <a:lstStyle/>
          <a:p>
            <a:fld id="{0B84CD9F-05FA-4D02-B5D8-409620124E10}"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4B40D481-0F94-9D04-7139-3ADF775091C0}"/>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Md. Manirujjaman</a:t>
            </a:r>
          </a:p>
        </p:txBody>
      </p:sp>
      <p:sp>
        <p:nvSpPr>
          <p:cNvPr id="6" name="Slide Number Placeholder 5">
            <a:extLst>
              <a:ext uri="{FF2B5EF4-FFF2-40B4-BE49-F238E27FC236}">
                <a16:creationId xmlns:a16="http://schemas.microsoft.com/office/drawing/2014/main" id="{AF876750-8C26-5D8B-1CBC-4533B75786C6}"/>
              </a:ext>
            </a:extLst>
          </p:cNvPr>
          <p:cNvSpPr>
            <a:spLocks noGrp="1"/>
          </p:cNvSpPr>
          <p:nvPr>
            <p:ph type="sldNum" sz="quarter" idx="12"/>
          </p:nvPr>
        </p:nvSpPr>
        <p:spPr/>
        <p:txBody>
          <a:bodyPr/>
          <a:lstStyle/>
          <a:p>
            <a:fld id="{AF4605CB-AE1D-40FF-AAFC-303D3E43EDD2}" type="slidenum">
              <a:rPr lang="en-US" smtClean="0">
                <a:latin typeface="Arial" panose="020B0604020202020204" pitchFamily="34" charset="0"/>
                <a:cs typeface="Arial" panose="020B0604020202020204" pitchFamily="34" charset="0"/>
              </a:rPr>
              <a:t>16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1164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101DB9-9693-0A3C-9C31-9708C5DEC163}"/>
              </a:ext>
            </a:extLst>
          </p:cNvPr>
          <p:cNvSpPr txBox="1"/>
          <p:nvPr/>
        </p:nvSpPr>
        <p:spPr>
          <a:xfrm>
            <a:off x="417041" y="436596"/>
            <a:ext cx="7629832" cy="584775"/>
          </a:xfrm>
          <a:prstGeom prst="rect">
            <a:avLst/>
          </a:prstGeom>
          <a:noFill/>
        </p:spPr>
        <p:txBody>
          <a:bodyPr wrap="square">
            <a:spAutoFit/>
          </a:bodyPr>
          <a:lstStyle/>
          <a:p>
            <a:r>
              <a:rPr lang="en-US" sz="3200" dirty="0">
                <a:solidFill>
                  <a:schemeClr val="accent2">
                    <a:lumMod val="75000"/>
                  </a:schemeClr>
                </a:solidFill>
              </a:rPr>
              <a:t>Human Limitations (Psychological Barriers)</a:t>
            </a:r>
          </a:p>
        </p:txBody>
      </p:sp>
      <p:sp>
        <p:nvSpPr>
          <p:cNvPr id="6" name="TextBox 5">
            <a:extLst>
              <a:ext uri="{FF2B5EF4-FFF2-40B4-BE49-F238E27FC236}">
                <a16:creationId xmlns:a16="http://schemas.microsoft.com/office/drawing/2014/main" id="{41F2C212-D23E-E61C-F560-47A568ECA96A}"/>
              </a:ext>
            </a:extLst>
          </p:cNvPr>
          <p:cNvSpPr txBox="1"/>
          <p:nvPr/>
        </p:nvSpPr>
        <p:spPr>
          <a:xfrm>
            <a:off x="1223097" y="1285012"/>
            <a:ext cx="9745805" cy="4092211"/>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rPr>
              <a:t>Short-term Memory:</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Users only remember a few "important" things during an interview.</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rPr>
              <a:t>Recency Effect:</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Users give more weight to recent problems than those from the past.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rPr>
              <a:t>Availability Bias:</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Users only ask for features based on the information they can see right now.</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accent2">
                    <a:lumMod val="75000"/>
                  </a:schemeClr>
                </a:solidFill>
                <a:effectLst/>
                <a:latin typeface="Arial" panose="020B0604020202020204" pitchFamily="34" charset="0"/>
              </a:rPr>
              <a:t>Bounded Rationality:</a:t>
            </a:r>
            <a:r>
              <a:rPr kumimoji="0" lang="en-US" altLang="en-US" sz="2200" b="0" i="0" u="none" strike="noStrike" cap="none" normalizeH="0" baseline="0" dirty="0">
                <a:ln>
                  <a:noFill/>
                </a:ln>
                <a:solidFill>
                  <a:schemeClr val="accent2">
                    <a:lumMod val="75000"/>
                  </a:schemeClr>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Humans simplify complex problems because our brains have limited processing capacity.</a:t>
            </a:r>
          </a:p>
        </p:txBody>
      </p:sp>
      <p:sp>
        <p:nvSpPr>
          <p:cNvPr id="2" name="Date Placeholder 1">
            <a:extLst>
              <a:ext uri="{FF2B5EF4-FFF2-40B4-BE49-F238E27FC236}">
                <a16:creationId xmlns:a16="http://schemas.microsoft.com/office/drawing/2014/main" id="{13BCA105-A833-B60C-8565-775CDA585A7C}"/>
              </a:ext>
            </a:extLst>
          </p:cNvPr>
          <p:cNvSpPr>
            <a:spLocks noGrp="1"/>
          </p:cNvSpPr>
          <p:nvPr>
            <p:ph type="dt" sz="half" idx="10"/>
          </p:nvPr>
        </p:nvSpPr>
        <p:spPr/>
        <p:txBody>
          <a:bodyPr/>
          <a:lstStyle/>
          <a:p>
            <a:fld id="{28E29621-6892-42AF-AE35-978131E3B99F}" type="datetime1">
              <a:rPr lang="en-US" smtClean="0"/>
              <a:t>1/14/2026</a:t>
            </a:fld>
            <a:endParaRPr lang="en-US"/>
          </a:p>
        </p:txBody>
      </p:sp>
      <p:sp>
        <p:nvSpPr>
          <p:cNvPr id="4" name="Footer Placeholder 3">
            <a:extLst>
              <a:ext uri="{FF2B5EF4-FFF2-40B4-BE49-F238E27FC236}">
                <a16:creationId xmlns:a16="http://schemas.microsoft.com/office/drawing/2014/main" id="{9D80E91F-F5B3-3C36-F919-7B2C93A3CEF8}"/>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6E98CFBF-CE9F-F6AF-7339-554316BA1E31}"/>
              </a:ext>
            </a:extLst>
          </p:cNvPr>
          <p:cNvSpPr>
            <a:spLocks noGrp="1"/>
          </p:cNvSpPr>
          <p:nvPr>
            <p:ph type="sldNum" sz="quarter" idx="12"/>
          </p:nvPr>
        </p:nvSpPr>
        <p:spPr/>
        <p:txBody>
          <a:bodyPr/>
          <a:lstStyle/>
          <a:p>
            <a:fld id="{AF4605CB-AE1D-40FF-AAFC-303D3E43EDD2}" type="slidenum">
              <a:rPr lang="en-US" smtClean="0"/>
              <a:t>17</a:t>
            </a:fld>
            <a:endParaRPr lang="en-US"/>
          </a:p>
        </p:txBody>
      </p:sp>
      <p:cxnSp>
        <p:nvCxnSpPr>
          <p:cNvPr id="8" name="Straight Connector 7">
            <a:extLst>
              <a:ext uri="{FF2B5EF4-FFF2-40B4-BE49-F238E27FC236}">
                <a16:creationId xmlns:a16="http://schemas.microsoft.com/office/drawing/2014/main" id="{2D5A600B-55F9-927E-753B-F421F2AB9791}"/>
              </a:ext>
            </a:extLst>
          </p:cNvPr>
          <p:cNvCxnSpPr>
            <a:cxnSpLocks/>
          </p:cNvCxnSpPr>
          <p:nvPr/>
        </p:nvCxnSpPr>
        <p:spPr>
          <a:xfrm>
            <a:off x="417041" y="1021371"/>
            <a:ext cx="7232456" cy="0"/>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79061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C9CFF8-93DD-09E2-9554-E85ABDAEC6A6}"/>
              </a:ext>
            </a:extLst>
          </p:cNvPr>
          <p:cNvSpPr txBox="1"/>
          <p:nvPr/>
        </p:nvSpPr>
        <p:spPr>
          <a:xfrm>
            <a:off x="1097280" y="1681132"/>
            <a:ext cx="10844982" cy="2060885"/>
          </a:xfrm>
          <a:prstGeom prst="rect">
            <a:avLst/>
          </a:prstGeom>
          <a:noFill/>
        </p:spPr>
        <p:txBody>
          <a:bodyPr wrap="square">
            <a:spAutoFit/>
          </a:bodyPr>
          <a:lstStyle/>
          <a:p>
            <a:pPr marL="342900" indent="-342900">
              <a:lnSpc>
                <a:spcPct val="150000"/>
              </a:lnSpc>
              <a:buFont typeface="+mj-lt"/>
              <a:buAutoNum type="arabicPeriod"/>
            </a:pPr>
            <a:r>
              <a:rPr lang="en-US" sz="2200" b="1" dirty="0">
                <a:solidFill>
                  <a:schemeClr val="accent2">
                    <a:lumMod val="75000"/>
                  </a:schemeClr>
                </a:solidFill>
                <a:latin typeface="Arial" panose="020B0604020202020204" pitchFamily="34" charset="0"/>
                <a:cs typeface="Arial" panose="020B0604020202020204" pitchFamily="34" charset="0"/>
              </a:rPr>
              <a:t>Questions:</a:t>
            </a:r>
            <a:r>
              <a:rPr lang="en-US" sz="2200" dirty="0">
                <a:solidFill>
                  <a:schemeClr val="accent2">
                    <a:lumMod val="75000"/>
                  </a:schemeClr>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Using open-ended questions for opinions or closed questions for facts.</a:t>
            </a:r>
          </a:p>
          <a:p>
            <a:pPr marL="342900" indent="-342900">
              <a:lnSpc>
                <a:spcPct val="150000"/>
              </a:lnSpc>
              <a:buFont typeface="+mj-lt"/>
              <a:buAutoNum type="arabicPeriod"/>
            </a:pPr>
            <a:r>
              <a:rPr lang="en-US" sz="2200" b="1" dirty="0">
                <a:solidFill>
                  <a:schemeClr val="accent2">
                    <a:lumMod val="75000"/>
                  </a:schemeClr>
                </a:solidFill>
                <a:latin typeface="Arial" panose="020B0604020202020204" pitchFamily="34" charset="0"/>
                <a:cs typeface="Arial" panose="020B0604020202020204" pitchFamily="34" charset="0"/>
              </a:rPr>
              <a:t>Brainstorming:</a:t>
            </a:r>
            <a:r>
              <a:rPr lang="en-US" sz="2200" dirty="0">
                <a:solidFill>
                  <a:schemeClr val="accent2">
                    <a:lumMod val="75000"/>
                  </a:schemeClr>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A group meeting to generate new or non-traditional ideas.</a:t>
            </a:r>
          </a:p>
          <a:p>
            <a:pPr marL="342900" indent="-342900">
              <a:lnSpc>
                <a:spcPct val="150000"/>
              </a:lnSpc>
              <a:buFont typeface="+mj-lt"/>
              <a:buAutoNum type="arabicPeriod"/>
            </a:pPr>
            <a:r>
              <a:rPr lang="en-US" sz="2200" b="1" dirty="0">
                <a:solidFill>
                  <a:schemeClr val="accent2">
                    <a:lumMod val="75000"/>
                  </a:schemeClr>
                </a:solidFill>
                <a:latin typeface="Arial" panose="020B0604020202020204" pitchFamily="34" charset="0"/>
                <a:cs typeface="Arial" panose="020B0604020202020204" pitchFamily="34" charset="0"/>
              </a:rPr>
              <a:t>Group Consensus:</a:t>
            </a:r>
            <a:r>
              <a:rPr lang="en-US" sz="2200" dirty="0">
                <a:solidFill>
                  <a:schemeClr val="accent2">
                    <a:lumMod val="75000"/>
                  </a:schemeClr>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Using a "Delphi" method where people answer questionnaires until everyone agrees, avoiding pressure from bosses.</a:t>
            </a:r>
          </a:p>
        </p:txBody>
      </p:sp>
      <p:sp>
        <p:nvSpPr>
          <p:cNvPr id="2" name="Date Placeholder 1">
            <a:extLst>
              <a:ext uri="{FF2B5EF4-FFF2-40B4-BE49-F238E27FC236}">
                <a16:creationId xmlns:a16="http://schemas.microsoft.com/office/drawing/2014/main" id="{E1B4EC83-73BC-361B-70E6-CBB689B154F6}"/>
              </a:ext>
            </a:extLst>
          </p:cNvPr>
          <p:cNvSpPr>
            <a:spLocks noGrp="1"/>
          </p:cNvSpPr>
          <p:nvPr>
            <p:ph type="dt" sz="half" idx="10"/>
          </p:nvPr>
        </p:nvSpPr>
        <p:spPr/>
        <p:txBody>
          <a:bodyPr/>
          <a:lstStyle/>
          <a:p>
            <a:fld id="{86F3D0BF-50EF-45C0-B6B7-21E4396F726B}"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3F6A51A-0A14-AA8B-2BBC-90F7A4A0D5F4}"/>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Md. Manirujjaman</a:t>
            </a:r>
          </a:p>
        </p:txBody>
      </p:sp>
      <p:sp>
        <p:nvSpPr>
          <p:cNvPr id="5" name="Slide Number Placeholder 4">
            <a:extLst>
              <a:ext uri="{FF2B5EF4-FFF2-40B4-BE49-F238E27FC236}">
                <a16:creationId xmlns:a16="http://schemas.microsoft.com/office/drawing/2014/main" id="{5B5BB1A3-E7D9-2156-B9A7-5874D23EE58E}"/>
              </a:ext>
            </a:extLst>
          </p:cNvPr>
          <p:cNvSpPr>
            <a:spLocks noGrp="1"/>
          </p:cNvSpPr>
          <p:nvPr>
            <p:ph type="sldNum" sz="quarter" idx="12"/>
          </p:nvPr>
        </p:nvSpPr>
        <p:spPr/>
        <p:txBody>
          <a:bodyPr/>
          <a:lstStyle/>
          <a:p>
            <a:fld id="{AF4605CB-AE1D-40FF-AAFC-303D3E43EDD2}" type="slidenum">
              <a:rPr lang="en-US" smtClean="0">
                <a:latin typeface="Arial" panose="020B0604020202020204" pitchFamily="34" charset="0"/>
                <a:cs typeface="Arial" panose="020B0604020202020204" pitchFamily="34" charset="0"/>
              </a:rPr>
              <a:t>18</a:t>
            </a:fld>
            <a:endParaRPr lang="en-US">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2B074FD-3028-66DC-E91B-FDAB2241F269}"/>
              </a:ext>
            </a:extLst>
          </p:cNvPr>
          <p:cNvSpPr txBox="1"/>
          <p:nvPr/>
        </p:nvSpPr>
        <p:spPr>
          <a:xfrm>
            <a:off x="638185" y="1034535"/>
            <a:ext cx="6096000" cy="461665"/>
          </a:xfrm>
          <a:prstGeom prst="rect">
            <a:avLst/>
          </a:prstGeom>
          <a:noFill/>
        </p:spPr>
        <p:txBody>
          <a:bodyPr wrap="square">
            <a:spAutoFit/>
          </a:bodyPr>
          <a:lstStyle/>
          <a:p>
            <a:pPr>
              <a:buNone/>
            </a:pPr>
            <a:r>
              <a:rPr lang="en-US" sz="2400" b="1" dirty="0">
                <a:solidFill>
                  <a:schemeClr val="accent2">
                    <a:lumMod val="75000"/>
                  </a:schemeClr>
                </a:solidFill>
                <a:latin typeface="Arial" panose="020B0604020202020204" pitchFamily="34" charset="0"/>
                <a:cs typeface="Arial" panose="020B0604020202020204" pitchFamily="34" charset="0"/>
              </a:rPr>
              <a:t>Three Ways to "Ask"</a:t>
            </a:r>
          </a:p>
        </p:txBody>
      </p:sp>
    </p:spTree>
    <p:extLst>
      <p:ext uri="{BB962C8B-B14F-4D97-AF65-F5344CB8AC3E}">
        <p14:creationId xmlns:p14="http://schemas.microsoft.com/office/powerpoint/2010/main" val="1966670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ED2598-BB84-9A18-A5EE-D239D3A093C1}"/>
              </a:ext>
            </a:extLst>
          </p:cNvPr>
          <p:cNvSpPr txBox="1"/>
          <p:nvPr/>
        </p:nvSpPr>
        <p:spPr>
          <a:xfrm>
            <a:off x="1222368" y="1261079"/>
            <a:ext cx="10065063" cy="4455835"/>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The Mission:</a:t>
            </a:r>
            <a:r>
              <a:rPr lang="en-US" sz="2400" dirty="0">
                <a:latin typeface="Arial" panose="020B0604020202020204" pitchFamily="34" charset="0"/>
                <a:cs typeface="Arial" panose="020B0604020202020204" pitchFamily="34" charset="0"/>
              </a:rPr>
              <a:t> To determine what the user </a:t>
            </a:r>
            <a:r>
              <a:rPr lang="en-US" sz="2400" b="1" dirty="0">
                <a:latin typeface="Arial" panose="020B0604020202020204" pitchFamily="34" charset="0"/>
                <a:cs typeface="Arial" panose="020B0604020202020204" pitchFamily="34" charset="0"/>
              </a:rPr>
              <a:t>needs</a:t>
            </a:r>
            <a:r>
              <a:rPr lang="en-US" sz="2400" dirty="0">
                <a:latin typeface="Arial" panose="020B0604020202020204" pitchFamily="34" charset="0"/>
                <a:cs typeface="Arial" panose="020B0604020202020204" pitchFamily="34" charset="0"/>
              </a:rPr>
              <a:t> (essential for the job) rather than what they </a:t>
            </a:r>
            <a:r>
              <a:rPr lang="en-US" sz="2400" b="1" dirty="0">
                <a:latin typeface="Arial" panose="020B0604020202020204" pitchFamily="34" charset="0"/>
                <a:cs typeface="Arial" panose="020B0604020202020204" pitchFamily="34" charset="0"/>
              </a:rPr>
              <a:t>want</a:t>
            </a:r>
            <a:r>
              <a:rPr lang="en-US" sz="2400" dirty="0">
                <a:latin typeface="Arial" panose="020B0604020202020204" pitchFamily="34" charset="0"/>
                <a:cs typeface="Arial" panose="020B0604020202020204" pitchFamily="34" charset="0"/>
              </a:rPr>
              <a:t> (nice to have).</a:t>
            </a:r>
          </a:p>
          <a:p>
            <a:pPr marL="285750" indent="-285750">
              <a:lnSpc>
                <a:spcPct val="15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The Process:</a:t>
            </a:r>
            <a:r>
              <a:rPr lang="en-US" sz="2400" dirty="0">
                <a:latin typeface="Arial" panose="020B0604020202020204" pitchFamily="34" charset="0"/>
                <a:cs typeface="Arial" panose="020B0604020202020204" pitchFamily="34" charset="0"/>
              </a:rPr>
              <a:t> </a:t>
            </a:r>
          </a:p>
          <a:p>
            <a:pPr>
              <a:lnSpc>
                <a:spcPct val="150000"/>
              </a:lnSpc>
            </a:pPr>
            <a:r>
              <a:rPr lang="en-US" sz="2400" dirty="0">
                <a:latin typeface="Arial" panose="020B0604020202020204" pitchFamily="34" charset="0"/>
                <a:cs typeface="Arial" panose="020B0604020202020204" pitchFamily="34" charset="0"/>
              </a:rPr>
              <a:t>    1. Ask what is currently available. </a:t>
            </a:r>
          </a:p>
          <a:p>
            <a:pPr>
              <a:lnSpc>
                <a:spcPct val="150000"/>
              </a:lnSpc>
            </a:pPr>
            <a:r>
              <a:rPr lang="en-US" sz="2400" dirty="0">
                <a:latin typeface="Arial" panose="020B0604020202020204" pitchFamily="34" charset="0"/>
                <a:cs typeface="Arial" panose="020B0604020202020204" pitchFamily="34" charset="0"/>
              </a:rPr>
              <a:t>    2. Identify what is missing. </a:t>
            </a:r>
          </a:p>
          <a:p>
            <a:pPr>
              <a:lnSpc>
                <a:spcPct val="150000"/>
              </a:lnSpc>
            </a:pPr>
            <a:r>
              <a:rPr lang="en-US" sz="2400" dirty="0">
                <a:latin typeface="Arial" panose="020B0604020202020204" pitchFamily="34" charset="0"/>
                <a:cs typeface="Arial" panose="020B0604020202020204" pitchFamily="34" charset="0"/>
              </a:rPr>
              <a:t>    3. Reach an agreement on what the new system will provide.</a:t>
            </a:r>
          </a:p>
          <a:p>
            <a:pPr marL="285750" indent="-285750">
              <a:lnSpc>
                <a:spcPct val="15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The Outcome:</a:t>
            </a:r>
            <a:r>
              <a:rPr lang="en-US" sz="2400" dirty="0">
                <a:latin typeface="Arial" panose="020B0604020202020204" pitchFamily="34" charset="0"/>
                <a:cs typeface="Arial" panose="020B0604020202020204" pitchFamily="34" charset="0"/>
              </a:rPr>
              <a:t> A "Logical Design" that serves as the foundation for the "Physical Design."</a:t>
            </a:r>
          </a:p>
        </p:txBody>
      </p:sp>
      <p:sp>
        <p:nvSpPr>
          <p:cNvPr id="2" name="Date Placeholder 1">
            <a:extLst>
              <a:ext uri="{FF2B5EF4-FFF2-40B4-BE49-F238E27FC236}">
                <a16:creationId xmlns:a16="http://schemas.microsoft.com/office/drawing/2014/main" id="{BC32E581-738D-89B4-7EC3-49165DC39AAE}"/>
              </a:ext>
            </a:extLst>
          </p:cNvPr>
          <p:cNvSpPr>
            <a:spLocks noGrp="1"/>
          </p:cNvSpPr>
          <p:nvPr>
            <p:ph type="dt" sz="half" idx="10"/>
          </p:nvPr>
        </p:nvSpPr>
        <p:spPr/>
        <p:txBody>
          <a:bodyPr/>
          <a:lstStyle/>
          <a:p>
            <a:fld id="{2CC651E4-120C-401E-86CD-AD5694EC3D0B}"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ACC718C0-DFE5-CD3D-CAF8-5EE550F0B447}"/>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Md. Manirujjaman</a:t>
            </a:r>
          </a:p>
        </p:txBody>
      </p:sp>
      <p:sp>
        <p:nvSpPr>
          <p:cNvPr id="5" name="Slide Number Placeholder 4">
            <a:extLst>
              <a:ext uri="{FF2B5EF4-FFF2-40B4-BE49-F238E27FC236}">
                <a16:creationId xmlns:a16="http://schemas.microsoft.com/office/drawing/2014/main" id="{C51BF098-D868-6DF5-C75D-E74F2B15B643}"/>
              </a:ext>
            </a:extLst>
          </p:cNvPr>
          <p:cNvSpPr>
            <a:spLocks noGrp="1"/>
          </p:cNvSpPr>
          <p:nvPr>
            <p:ph type="sldNum" sz="quarter" idx="12"/>
          </p:nvPr>
        </p:nvSpPr>
        <p:spPr/>
        <p:txBody>
          <a:bodyPr/>
          <a:lstStyle/>
          <a:p>
            <a:fld id="{AF4605CB-AE1D-40FF-AAFC-303D3E43EDD2}" type="slidenum">
              <a:rPr lang="en-US" smtClean="0">
                <a:latin typeface="Arial" panose="020B0604020202020204" pitchFamily="34" charset="0"/>
                <a:cs typeface="Arial" panose="020B0604020202020204" pitchFamily="34" charset="0"/>
              </a:rPr>
              <a:t>19</a:t>
            </a:fld>
            <a:endParaRPr lang="en-US">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B26B9CE-BE5A-CF2D-33B4-28270F9885B0}"/>
              </a:ext>
            </a:extLst>
          </p:cNvPr>
          <p:cNvSpPr txBox="1"/>
          <p:nvPr/>
        </p:nvSpPr>
        <p:spPr>
          <a:xfrm>
            <a:off x="1097279" y="696402"/>
            <a:ext cx="7712423" cy="523220"/>
          </a:xfrm>
          <a:prstGeom prst="rect">
            <a:avLst/>
          </a:prstGeom>
          <a:noFill/>
        </p:spPr>
        <p:txBody>
          <a:bodyPr wrap="square">
            <a:spAutoFit/>
          </a:bodyPr>
          <a:lstStyle/>
          <a:p>
            <a:pPr>
              <a:buNone/>
            </a:pPr>
            <a:r>
              <a:rPr lang="en-US" sz="2800" b="1" dirty="0">
                <a:latin typeface="Arial" panose="020B0604020202020204" pitchFamily="34" charset="0"/>
                <a:cs typeface="Arial" panose="020B0604020202020204" pitchFamily="34" charset="0"/>
              </a:rPr>
              <a:t>The Goal of the Information Analyst</a:t>
            </a:r>
          </a:p>
        </p:txBody>
      </p:sp>
    </p:spTree>
    <p:extLst>
      <p:ext uri="{BB962C8B-B14F-4D97-AF65-F5344CB8AC3E}">
        <p14:creationId xmlns:p14="http://schemas.microsoft.com/office/powerpoint/2010/main" val="2834217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54F742-DB9C-09E4-70A9-8A8531AC85D1}"/>
              </a:ext>
            </a:extLst>
          </p:cNvPr>
          <p:cNvSpPr txBox="1"/>
          <p:nvPr/>
        </p:nvSpPr>
        <p:spPr>
          <a:xfrm>
            <a:off x="993058" y="578467"/>
            <a:ext cx="2847639"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Fact Finding Tools :</a:t>
            </a:r>
          </a:p>
        </p:txBody>
      </p:sp>
      <p:sp>
        <p:nvSpPr>
          <p:cNvPr id="5" name="TextBox 4">
            <a:extLst>
              <a:ext uri="{FF2B5EF4-FFF2-40B4-BE49-F238E27FC236}">
                <a16:creationId xmlns:a16="http://schemas.microsoft.com/office/drawing/2014/main" id="{402E8D59-DC3E-CAA5-7B6F-0591A5A11AD5}"/>
              </a:ext>
            </a:extLst>
          </p:cNvPr>
          <p:cNvSpPr txBox="1"/>
          <p:nvPr/>
        </p:nvSpPr>
        <p:spPr>
          <a:xfrm>
            <a:off x="1502477" y="1040132"/>
            <a:ext cx="9480155" cy="4600042"/>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Review of Written Documents:</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This involves examining official manuals, forms, and reports to understand how the system is designed to work.</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On-site Observations:</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analyst watches the work process in person to see how tasks are actually performed in the real-world environment.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Interviews:</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Direct conversations with users and staff to gather their specific requirements, opinions, and feelings about the system.</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Questionnaires:</a:t>
            </a: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 tool used to collect information from a large group of people efficiently</a:t>
            </a:r>
          </a:p>
        </p:txBody>
      </p:sp>
      <p:sp>
        <p:nvSpPr>
          <p:cNvPr id="3" name="Date Placeholder 2">
            <a:extLst>
              <a:ext uri="{FF2B5EF4-FFF2-40B4-BE49-F238E27FC236}">
                <a16:creationId xmlns:a16="http://schemas.microsoft.com/office/drawing/2014/main" id="{9B6B3864-5301-72B8-268B-ADF1B97D1147}"/>
              </a:ext>
            </a:extLst>
          </p:cNvPr>
          <p:cNvSpPr>
            <a:spLocks noGrp="1"/>
          </p:cNvSpPr>
          <p:nvPr>
            <p:ph type="dt" sz="half" idx="10"/>
          </p:nvPr>
        </p:nvSpPr>
        <p:spPr/>
        <p:txBody>
          <a:bodyPr/>
          <a:lstStyle/>
          <a:p>
            <a:fld id="{CCD1FEDD-2890-4DF7-8B7C-AD7D229EBBC2}"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89C280BF-EB88-99DB-B71C-40556B0EB44B}"/>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Md. Manirujjaman</a:t>
            </a:r>
          </a:p>
        </p:txBody>
      </p:sp>
      <p:sp>
        <p:nvSpPr>
          <p:cNvPr id="6" name="Slide Number Placeholder 5">
            <a:extLst>
              <a:ext uri="{FF2B5EF4-FFF2-40B4-BE49-F238E27FC236}">
                <a16:creationId xmlns:a16="http://schemas.microsoft.com/office/drawing/2014/main" id="{6B329769-7E3A-F45D-8272-2C038FBE665B}"/>
              </a:ext>
            </a:extLst>
          </p:cNvPr>
          <p:cNvSpPr>
            <a:spLocks noGrp="1"/>
          </p:cNvSpPr>
          <p:nvPr>
            <p:ph type="sldNum" sz="quarter" idx="12"/>
          </p:nvPr>
        </p:nvSpPr>
        <p:spPr/>
        <p:txBody>
          <a:bodyPr/>
          <a:lstStyle/>
          <a:p>
            <a:fld id="{AF4605CB-AE1D-40FF-AAFC-303D3E43EDD2}" type="slidenum">
              <a:rPr lang="en-US" smtClean="0">
                <a:latin typeface="Arial" panose="020B0604020202020204" pitchFamily="34" charset="0"/>
                <a:cs typeface="Arial" panose="020B0604020202020204" pitchFamily="34" charset="0"/>
              </a:rPr>
              <a:t>20</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7158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86D574-0345-0FE3-C423-3D8390E6AF47}"/>
              </a:ext>
            </a:extLst>
          </p:cNvPr>
          <p:cNvSpPr txBox="1"/>
          <p:nvPr/>
        </p:nvSpPr>
        <p:spPr>
          <a:xfrm>
            <a:off x="914400" y="763133"/>
            <a:ext cx="6096000"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the tools of structured analysis</a:t>
            </a:r>
          </a:p>
        </p:txBody>
      </p:sp>
      <p:sp>
        <p:nvSpPr>
          <p:cNvPr id="6" name="TextBox 5">
            <a:extLst>
              <a:ext uri="{FF2B5EF4-FFF2-40B4-BE49-F238E27FC236}">
                <a16:creationId xmlns:a16="http://schemas.microsoft.com/office/drawing/2014/main" id="{0F001D11-0BB1-544F-2C7C-1284B2466C98}"/>
              </a:ext>
            </a:extLst>
          </p:cNvPr>
          <p:cNvSpPr txBox="1"/>
          <p:nvPr/>
        </p:nvSpPr>
        <p:spPr>
          <a:xfrm>
            <a:off x="1858296" y="1483348"/>
            <a:ext cx="8898193" cy="4196020"/>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Review of Written Documents: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Examining existing manuals, forms, and reports to understand how the system is currently designed to work.</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On-site Observations: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Watching the physical processes and person-to-person interactions to see how work is actually handled in the environment.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Interviews: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Direct communication with users to gather specific requirements, feelings, and opinions.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Questionnaires: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Distributing forms to collect data from a large group of people efficiently.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Organization Charts: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Preparing a visual chart that lists functions and the people who perform them to understand the work environment and reporting structure.</a:t>
            </a:r>
          </a:p>
        </p:txBody>
      </p:sp>
      <p:sp>
        <p:nvSpPr>
          <p:cNvPr id="2" name="Date Placeholder 1">
            <a:extLst>
              <a:ext uri="{FF2B5EF4-FFF2-40B4-BE49-F238E27FC236}">
                <a16:creationId xmlns:a16="http://schemas.microsoft.com/office/drawing/2014/main" id="{DC476A3A-7FFF-36E6-459D-D035A63301F7}"/>
              </a:ext>
            </a:extLst>
          </p:cNvPr>
          <p:cNvSpPr>
            <a:spLocks noGrp="1"/>
          </p:cNvSpPr>
          <p:nvPr>
            <p:ph type="dt" sz="half" idx="10"/>
          </p:nvPr>
        </p:nvSpPr>
        <p:spPr/>
        <p:txBody>
          <a:bodyPr/>
          <a:lstStyle/>
          <a:p>
            <a:fld id="{700A4F36-8F91-4E58-B452-BD3BD18CD317}" type="datetime1">
              <a:rPr lang="en-US" smtClean="0">
                <a:latin typeface="Arial" panose="020B0604020202020204" pitchFamily="34" charset="0"/>
                <a:cs typeface="Arial" panose="020B0604020202020204" pitchFamily="34" charset="0"/>
              </a:rPr>
              <a:t>1/14/2026</a:t>
            </a:fld>
            <a:endParaRPr lang="en-US">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2A9BC687-8A8C-5F3A-5132-599BFDF17DB4}"/>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Md. Manirujjaman</a:t>
            </a:r>
          </a:p>
        </p:txBody>
      </p:sp>
      <p:sp>
        <p:nvSpPr>
          <p:cNvPr id="5" name="Slide Number Placeholder 4">
            <a:extLst>
              <a:ext uri="{FF2B5EF4-FFF2-40B4-BE49-F238E27FC236}">
                <a16:creationId xmlns:a16="http://schemas.microsoft.com/office/drawing/2014/main" id="{5A1DFA06-218C-3B58-A70B-7CC49E174283}"/>
              </a:ext>
            </a:extLst>
          </p:cNvPr>
          <p:cNvSpPr>
            <a:spLocks noGrp="1"/>
          </p:cNvSpPr>
          <p:nvPr>
            <p:ph type="sldNum" sz="quarter" idx="12"/>
          </p:nvPr>
        </p:nvSpPr>
        <p:spPr/>
        <p:txBody>
          <a:bodyPr/>
          <a:lstStyle/>
          <a:p>
            <a:fld id="{AF4605CB-AE1D-40FF-AAFC-303D3E43EDD2}" type="slidenum">
              <a:rPr lang="en-US" smtClean="0">
                <a:latin typeface="Arial" panose="020B0604020202020204" pitchFamily="34" charset="0"/>
                <a:cs typeface="Arial" panose="020B0604020202020204" pitchFamily="34" charset="0"/>
              </a:rPr>
              <a:t>21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1383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98991F-E4BB-3DF5-9ADD-51ED85E7292A}"/>
              </a:ext>
            </a:extLst>
          </p:cNvPr>
          <p:cNvSpPr txBox="1"/>
          <p:nvPr/>
        </p:nvSpPr>
        <p:spPr>
          <a:xfrm>
            <a:off x="843740" y="398215"/>
            <a:ext cx="2842445" cy="523220"/>
          </a:xfrm>
          <a:prstGeom prst="rect">
            <a:avLst/>
          </a:prstGeom>
          <a:noFill/>
        </p:spPr>
        <p:txBody>
          <a:bodyPr wrap="none" rtlCol="0">
            <a:spAutoFit/>
          </a:bodyPr>
          <a:lstStyle/>
          <a:p>
            <a:r>
              <a:rPr lang="en-US" sz="2800" dirty="0">
                <a:latin typeface="Arial" panose="020B0604020202020204" pitchFamily="34" charset="0"/>
                <a:cs typeface="Arial" panose="020B0604020202020204" pitchFamily="34" charset="0"/>
              </a:rPr>
              <a:t>Feasibility study:</a:t>
            </a:r>
          </a:p>
        </p:txBody>
      </p:sp>
      <p:sp>
        <p:nvSpPr>
          <p:cNvPr id="5" name="TextBox 4">
            <a:extLst>
              <a:ext uri="{FF2B5EF4-FFF2-40B4-BE49-F238E27FC236}">
                <a16:creationId xmlns:a16="http://schemas.microsoft.com/office/drawing/2014/main" id="{CAFA2D22-AB31-B4B1-50A1-0E27E03D136F}"/>
              </a:ext>
            </a:extLst>
          </p:cNvPr>
          <p:cNvSpPr txBox="1"/>
          <p:nvPr/>
        </p:nvSpPr>
        <p:spPr>
          <a:xfrm>
            <a:off x="1563329" y="921435"/>
            <a:ext cx="10445567" cy="5113644"/>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Technical Feasibility</a:t>
            </a:r>
            <a:b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Checks whether the required hardware, software, and technology are available and usable.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Economic Feasibility</a:t>
            </a:r>
            <a:b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Examines whether the benefits of the system are greater than its costs.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Operational Feasibility</a:t>
            </a:r>
            <a:b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Determines whether the system will work in the organization and be accepted by users.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Schedule (Time) Feasibility</a:t>
            </a:r>
            <a:b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Evaluates whether the system can be completed within the required time frame.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Legal Feasibility</a:t>
            </a:r>
            <a:b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Ensures the system does not violate laws, regulations, or company policies.</a:t>
            </a:r>
          </a:p>
        </p:txBody>
      </p:sp>
      <p:sp>
        <p:nvSpPr>
          <p:cNvPr id="3" name="Date Placeholder 2">
            <a:extLst>
              <a:ext uri="{FF2B5EF4-FFF2-40B4-BE49-F238E27FC236}">
                <a16:creationId xmlns:a16="http://schemas.microsoft.com/office/drawing/2014/main" id="{A3E15932-DE06-A2DD-A755-7B36B24AE45C}"/>
              </a:ext>
            </a:extLst>
          </p:cNvPr>
          <p:cNvSpPr>
            <a:spLocks noGrp="1"/>
          </p:cNvSpPr>
          <p:nvPr>
            <p:ph type="dt" sz="half" idx="10"/>
          </p:nvPr>
        </p:nvSpPr>
        <p:spPr/>
        <p:txBody>
          <a:bodyPr/>
          <a:lstStyle/>
          <a:p>
            <a:fld id="{52239325-0300-42B5-844B-E1C8DF75AD3C}" type="datetime1">
              <a:rPr lang="en-US" smtClean="0"/>
              <a:t>1/14/2026</a:t>
            </a:fld>
            <a:endParaRPr lang="en-US"/>
          </a:p>
        </p:txBody>
      </p:sp>
      <p:sp>
        <p:nvSpPr>
          <p:cNvPr id="4" name="Footer Placeholder 3">
            <a:extLst>
              <a:ext uri="{FF2B5EF4-FFF2-40B4-BE49-F238E27FC236}">
                <a16:creationId xmlns:a16="http://schemas.microsoft.com/office/drawing/2014/main" id="{E864B631-73E4-BB5C-FA01-B9A8D811E54D}"/>
              </a:ext>
            </a:extLst>
          </p:cNvPr>
          <p:cNvSpPr>
            <a:spLocks noGrp="1"/>
          </p:cNvSpPr>
          <p:nvPr>
            <p:ph type="ftr" sz="quarter" idx="11"/>
          </p:nvPr>
        </p:nvSpPr>
        <p:spPr/>
        <p:txBody>
          <a:bodyPr/>
          <a:lstStyle/>
          <a:p>
            <a:r>
              <a:rPr lang="en-US"/>
              <a:t>Md. Manirujjaman</a:t>
            </a:r>
          </a:p>
        </p:txBody>
      </p:sp>
      <p:sp>
        <p:nvSpPr>
          <p:cNvPr id="6" name="Slide Number Placeholder 5">
            <a:extLst>
              <a:ext uri="{FF2B5EF4-FFF2-40B4-BE49-F238E27FC236}">
                <a16:creationId xmlns:a16="http://schemas.microsoft.com/office/drawing/2014/main" id="{4F747B6C-3593-2858-13E5-11C9EAB89950}"/>
              </a:ext>
            </a:extLst>
          </p:cNvPr>
          <p:cNvSpPr>
            <a:spLocks noGrp="1"/>
          </p:cNvSpPr>
          <p:nvPr>
            <p:ph type="sldNum" sz="quarter" idx="12"/>
          </p:nvPr>
        </p:nvSpPr>
        <p:spPr/>
        <p:txBody>
          <a:bodyPr/>
          <a:lstStyle/>
          <a:p>
            <a:fld id="{AF4605CB-AE1D-40FF-AAFC-303D3E43EDD2}" type="slidenum">
              <a:rPr lang="en-US" smtClean="0"/>
              <a:t>22</a:t>
            </a:fld>
            <a:endParaRPr lang="en-US"/>
          </a:p>
        </p:txBody>
      </p:sp>
    </p:spTree>
    <p:extLst>
      <p:ext uri="{BB962C8B-B14F-4D97-AF65-F5344CB8AC3E}">
        <p14:creationId xmlns:p14="http://schemas.microsoft.com/office/powerpoint/2010/main" val="3998556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92C20C-9533-24E4-15D6-000DD2FC9D67}"/>
              </a:ext>
            </a:extLst>
          </p:cNvPr>
          <p:cNvSpPr txBox="1"/>
          <p:nvPr/>
        </p:nvSpPr>
        <p:spPr>
          <a:xfrm>
            <a:off x="638185" y="341016"/>
            <a:ext cx="6096000"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COST/BENEFIT ANALYSIS</a:t>
            </a:r>
          </a:p>
        </p:txBody>
      </p:sp>
      <p:sp>
        <p:nvSpPr>
          <p:cNvPr id="5" name="TextBox 4">
            <a:extLst>
              <a:ext uri="{FF2B5EF4-FFF2-40B4-BE49-F238E27FC236}">
                <a16:creationId xmlns:a16="http://schemas.microsoft.com/office/drawing/2014/main" id="{AD091EBD-DF43-F1F5-5754-DD1525D3009F}"/>
              </a:ext>
            </a:extLst>
          </p:cNvPr>
          <p:cNvSpPr txBox="1"/>
          <p:nvPr/>
        </p:nvSpPr>
        <p:spPr>
          <a:xfrm>
            <a:off x="730957" y="1100031"/>
            <a:ext cx="10953135" cy="3445880"/>
          </a:xfrm>
          <a:prstGeom prst="rect">
            <a:avLst/>
          </a:prstGeom>
          <a:noFill/>
        </p:spPr>
        <p:txBody>
          <a:bodyPr wrap="square">
            <a:spAutoFit/>
          </a:bodyPr>
          <a:lstStyle/>
          <a:p>
            <a:pPr>
              <a:buNone/>
            </a:pPr>
            <a:r>
              <a:rPr lang="en-US" sz="2400" b="1" dirty="0">
                <a:latin typeface="Arial" panose="020B0604020202020204" pitchFamily="34" charset="0"/>
                <a:cs typeface="Arial" panose="020B0604020202020204" pitchFamily="34" charset="0"/>
              </a:rPr>
              <a:t>Costs</a:t>
            </a:r>
          </a:p>
          <a:p>
            <a:pPr marL="285750"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Development Costs</a:t>
            </a:r>
            <a:r>
              <a:rPr lang="en-US" sz="2200" dirty="0">
                <a:latin typeface="Arial" panose="020B0604020202020204" pitchFamily="34" charset="0"/>
                <a:cs typeface="Arial" panose="020B0604020202020204" pitchFamily="34" charset="0"/>
              </a:rPr>
              <a:t> – Cost of designing and building the system.</a:t>
            </a:r>
          </a:p>
          <a:p>
            <a:pPr marL="285750"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Operating Costs</a:t>
            </a:r>
            <a:r>
              <a:rPr lang="en-US" sz="2200" dirty="0">
                <a:latin typeface="Arial" panose="020B0604020202020204" pitchFamily="34" charset="0"/>
                <a:cs typeface="Arial" panose="020B0604020202020204" pitchFamily="34" charset="0"/>
              </a:rPr>
              <a:t> – Day-to-day running costs of the system.</a:t>
            </a:r>
          </a:p>
          <a:p>
            <a:pPr marL="285750"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Fixed Costs</a:t>
            </a:r>
            <a:r>
              <a:rPr lang="en-US" sz="2200" dirty="0">
                <a:latin typeface="Arial" panose="020B0604020202020204" pitchFamily="34" charset="0"/>
                <a:cs typeface="Arial" panose="020B0604020202020204" pitchFamily="34" charset="0"/>
              </a:rPr>
              <a:t> – Costs that do not change with system usage.</a:t>
            </a:r>
          </a:p>
          <a:p>
            <a:pPr marL="285750"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Variable Costs</a:t>
            </a:r>
            <a:r>
              <a:rPr lang="en-US" sz="2200" dirty="0">
                <a:latin typeface="Arial" panose="020B0604020202020204" pitchFamily="34" charset="0"/>
                <a:cs typeface="Arial" panose="020B0604020202020204" pitchFamily="34" charset="0"/>
              </a:rPr>
              <a:t> – Costs that change based on system usage.</a:t>
            </a:r>
          </a:p>
          <a:p>
            <a:pPr marL="285750"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Direct Costs</a:t>
            </a:r>
            <a:r>
              <a:rPr lang="en-US" sz="2200" dirty="0">
                <a:latin typeface="Arial" panose="020B0604020202020204" pitchFamily="34" charset="0"/>
                <a:cs typeface="Arial" panose="020B0604020202020204" pitchFamily="34" charset="0"/>
              </a:rPr>
              <a:t> – Costs directly related to the system.</a:t>
            </a:r>
          </a:p>
          <a:p>
            <a:pPr marL="285750"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Indirect Costs</a:t>
            </a:r>
            <a:r>
              <a:rPr lang="en-US" sz="2200" dirty="0">
                <a:latin typeface="Arial" panose="020B0604020202020204" pitchFamily="34" charset="0"/>
                <a:cs typeface="Arial" panose="020B0604020202020204" pitchFamily="34" charset="0"/>
              </a:rPr>
              <a:t> – Costs not directly tied to the system but affected by it.</a:t>
            </a:r>
          </a:p>
        </p:txBody>
      </p:sp>
      <p:sp>
        <p:nvSpPr>
          <p:cNvPr id="2" name="Date Placeholder 1">
            <a:extLst>
              <a:ext uri="{FF2B5EF4-FFF2-40B4-BE49-F238E27FC236}">
                <a16:creationId xmlns:a16="http://schemas.microsoft.com/office/drawing/2014/main" id="{C76814A5-9D99-9122-E0B1-3E6E6F4CB620}"/>
              </a:ext>
            </a:extLst>
          </p:cNvPr>
          <p:cNvSpPr>
            <a:spLocks noGrp="1"/>
          </p:cNvSpPr>
          <p:nvPr>
            <p:ph type="dt" sz="half" idx="10"/>
          </p:nvPr>
        </p:nvSpPr>
        <p:spPr/>
        <p:txBody>
          <a:bodyPr/>
          <a:lstStyle/>
          <a:p>
            <a:fld id="{04D25E6C-44BD-4528-B6CF-296055C650C9}" type="datetime1">
              <a:rPr lang="en-US" smtClean="0"/>
              <a:t>1/14/2026</a:t>
            </a:fld>
            <a:endParaRPr lang="en-US"/>
          </a:p>
        </p:txBody>
      </p:sp>
      <p:sp>
        <p:nvSpPr>
          <p:cNvPr id="4" name="Footer Placeholder 3">
            <a:extLst>
              <a:ext uri="{FF2B5EF4-FFF2-40B4-BE49-F238E27FC236}">
                <a16:creationId xmlns:a16="http://schemas.microsoft.com/office/drawing/2014/main" id="{C59D7E6D-B673-3FC1-CAE2-05C1E7DA6CD3}"/>
              </a:ext>
            </a:extLst>
          </p:cNvPr>
          <p:cNvSpPr>
            <a:spLocks noGrp="1"/>
          </p:cNvSpPr>
          <p:nvPr>
            <p:ph type="ftr" sz="quarter" idx="11"/>
          </p:nvPr>
        </p:nvSpPr>
        <p:spPr/>
        <p:txBody>
          <a:bodyPr/>
          <a:lstStyle/>
          <a:p>
            <a:r>
              <a:rPr lang="en-US"/>
              <a:t>Md. Manirujjaman</a:t>
            </a:r>
          </a:p>
        </p:txBody>
      </p:sp>
      <p:sp>
        <p:nvSpPr>
          <p:cNvPr id="6" name="Slide Number Placeholder 5">
            <a:extLst>
              <a:ext uri="{FF2B5EF4-FFF2-40B4-BE49-F238E27FC236}">
                <a16:creationId xmlns:a16="http://schemas.microsoft.com/office/drawing/2014/main" id="{A49E2855-F38A-860C-7320-71E0EA4CE65B}"/>
              </a:ext>
            </a:extLst>
          </p:cNvPr>
          <p:cNvSpPr>
            <a:spLocks noGrp="1"/>
          </p:cNvSpPr>
          <p:nvPr>
            <p:ph type="sldNum" sz="quarter" idx="12"/>
          </p:nvPr>
        </p:nvSpPr>
        <p:spPr/>
        <p:txBody>
          <a:bodyPr/>
          <a:lstStyle/>
          <a:p>
            <a:fld id="{AF4605CB-AE1D-40FF-AAFC-303D3E43EDD2}" type="slidenum">
              <a:rPr lang="en-US" smtClean="0"/>
              <a:t>23</a:t>
            </a:fld>
            <a:endParaRPr lang="en-US"/>
          </a:p>
        </p:txBody>
      </p:sp>
    </p:spTree>
    <p:extLst>
      <p:ext uri="{BB962C8B-B14F-4D97-AF65-F5344CB8AC3E}">
        <p14:creationId xmlns:p14="http://schemas.microsoft.com/office/powerpoint/2010/main" val="504286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C14FB-0154-C85D-6D10-3976550AE5F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4F7C39-C0A1-79BA-EE98-9579BF6B120C}"/>
              </a:ext>
            </a:extLst>
          </p:cNvPr>
          <p:cNvSpPr txBox="1"/>
          <p:nvPr/>
        </p:nvSpPr>
        <p:spPr>
          <a:xfrm>
            <a:off x="638185" y="341016"/>
            <a:ext cx="6096000"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COST/BENEFIT ANALYSIS</a:t>
            </a:r>
          </a:p>
        </p:txBody>
      </p:sp>
      <p:sp>
        <p:nvSpPr>
          <p:cNvPr id="7" name="TextBox 6">
            <a:extLst>
              <a:ext uri="{FF2B5EF4-FFF2-40B4-BE49-F238E27FC236}">
                <a16:creationId xmlns:a16="http://schemas.microsoft.com/office/drawing/2014/main" id="{30E3C943-BB51-73A1-07AD-A835DFC5EAEE}"/>
              </a:ext>
            </a:extLst>
          </p:cNvPr>
          <p:cNvSpPr txBox="1"/>
          <p:nvPr/>
        </p:nvSpPr>
        <p:spPr>
          <a:xfrm>
            <a:off x="638185" y="1076040"/>
            <a:ext cx="10776155" cy="2614883"/>
          </a:xfrm>
          <a:prstGeom prst="rect">
            <a:avLst/>
          </a:prstGeom>
          <a:noFill/>
        </p:spPr>
        <p:txBody>
          <a:bodyPr wrap="square">
            <a:spAutoFit/>
          </a:bodyPr>
          <a:lstStyle/>
          <a:p>
            <a:pPr>
              <a:lnSpc>
                <a:spcPct val="150000"/>
              </a:lnSpc>
              <a:buNone/>
            </a:pPr>
            <a:r>
              <a:rPr lang="en-US" sz="2400" b="1" dirty="0">
                <a:latin typeface="Arial" panose="020B0604020202020204" pitchFamily="34" charset="0"/>
                <a:cs typeface="Arial" panose="020B0604020202020204" pitchFamily="34" charset="0"/>
              </a:rPr>
              <a:t>Benefits</a:t>
            </a:r>
          </a:p>
          <a:p>
            <a:pPr marL="742950" lvl="1"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Tangible Benefits</a:t>
            </a:r>
            <a:r>
              <a:rPr lang="en-US" sz="2200" dirty="0">
                <a:latin typeface="Arial" panose="020B0604020202020204" pitchFamily="34" charset="0"/>
                <a:cs typeface="Arial" panose="020B0604020202020204" pitchFamily="34" charset="0"/>
              </a:rPr>
              <a:t> – Benefits that can be measured in money.</a:t>
            </a:r>
          </a:p>
          <a:p>
            <a:pPr marL="742950" lvl="1"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Intangible Benefits</a:t>
            </a:r>
            <a:r>
              <a:rPr lang="en-US" sz="2200" dirty="0">
                <a:latin typeface="Arial" panose="020B0604020202020204" pitchFamily="34" charset="0"/>
                <a:cs typeface="Arial" panose="020B0604020202020204" pitchFamily="34" charset="0"/>
              </a:rPr>
              <a:t> – Benefits that cannot be easily measured in money.</a:t>
            </a:r>
          </a:p>
          <a:p>
            <a:pPr marL="742950" lvl="1"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Direct Benefits</a:t>
            </a:r>
            <a:r>
              <a:rPr lang="en-US" sz="2200" dirty="0">
                <a:latin typeface="Arial" panose="020B0604020202020204" pitchFamily="34" charset="0"/>
                <a:cs typeface="Arial" panose="020B0604020202020204" pitchFamily="34" charset="0"/>
              </a:rPr>
              <a:t> – Benefits that result directly from the system.</a:t>
            </a:r>
          </a:p>
          <a:p>
            <a:pPr marL="742950" lvl="1" indent="-28575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Indirect Benefits</a:t>
            </a:r>
            <a:r>
              <a:rPr lang="en-US" sz="2200" dirty="0">
                <a:latin typeface="Arial" panose="020B0604020202020204" pitchFamily="34" charset="0"/>
                <a:cs typeface="Arial" panose="020B0604020202020204" pitchFamily="34" charset="0"/>
              </a:rPr>
              <a:t> – Secondary or long-term benefits of the system.</a:t>
            </a:r>
          </a:p>
        </p:txBody>
      </p:sp>
      <p:sp>
        <p:nvSpPr>
          <p:cNvPr id="9" name="TextBox 8">
            <a:extLst>
              <a:ext uri="{FF2B5EF4-FFF2-40B4-BE49-F238E27FC236}">
                <a16:creationId xmlns:a16="http://schemas.microsoft.com/office/drawing/2014/main" id="{29F41CC3-9767-F459-3C20-07B22435389A}"/>
              </a:ext>
            </a:extLst>
          </p:cNvPr>
          <p:cNvSpPr txBox="1"/>
          <p:nvPr/>
        </p:nvSpPr>
        <p:spPr>
          <a:xfrm>
            <a:off x="638185" y="3767912"/>
            <a:ext cx="11357170" cy="2107052"/>
          </a:xfrm>
          <a:prstGeom prst="rect">
            <a:avLst/>
          </a:prstGeom>
          <a:noFill/>
        </p:spPr>
        <p:txBody>
          <a:bodyPr wrap="square">
            <a:spAutoFit/>
          </a:bodyPr>
          <a:lstStyle/>
          <a:p>
            <a:pPr>
              <a:lnSpc>
                <a:spcPct val="150000"/>
              </a:lnSpc>
              <a:buNone/>
            </a:pPr>
            <a:r>
              <a:rPr lang="en-US" sz="2400" b="1" dirty="0">
                <a:latin typeface="Arial" panose="020B0604020202020204" pitchFamily="34" charset="0"/>
                <a:cs typeface="Arial" panose="020B0604020202020204" pitchFamily="34" charset="0"/>
              </a:rPr>
              <a:t>Evaluation Measures</a:t>
            </a:r>
          </a:p>
          <a:p>
            <a:pPr marL="800100" lvl="1" indent="-34290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Payback Period</a:t>
            </a:r>
            <a:r>
              <a:rPr lang="en-US" sz="2200" dirty="0">
                <a:latin typeface="Arial" panose="020B0604020202020204" pitchFamily="34" charset="0"/>
                <a:cs typeface="Arial" panose="020B0604020202020204" pitchFamily="34" charset="0"/>
              </a:rPr>
              <a:t> – Time needed to recover the investment.</a:t>
            </a:r>
          </a:p>
          <a:p>
            <a:pPr marL="800100" lvl="1" indent="-34290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Return on Investment (ROI)</a:t>
            </a:r>
            <a:r>
              <a:rPr lang="en-US" sz="2200" dirty="0">
                <a:latin typeface="Arial" panose="020B0604020202020204" pitchFamily="34" charset="0"/>
                <a:cs typeface="Arial" panose="020B0604020202020204" pitchFamily="34" charset="0"/>
              </a:rPr>
              <a:t> – Profit gained from the system compared to its cost.</a:t>
            </a:r>
          </a:p>
          <a:p>
            <a:pPr marL="800100" lvl="1" indent="-342900">
              <a:lnSpc>
                <a:spcPct val="150000"/>
              </a:lnSpc>
              <a:buFont typeface="Wingdings" panose="05000000000000000000" pitchFamily="2" charset="2"/>
              <a:buChar char="Ø"/>
            </a:pPr>
            <a:r>
              <a:rPr lang="en-US" sz="2200" b="1" dirty="0">
                <a:latin typeface="Arial" panose="020B0604020202020204" pitchFamily="34" charset="0"/>
                <a:cs typeface="Arial" panose="020B0604020202020204" pitchFamily="34" charset="0"/>
              </a:rPr>
              <a:t>Net Present Value (NPV)</a:t>
            </a:r>
            <a:r>
              <a:rPr lang="en-US" sz="2200" dirty="0">
                <a:latin typeface="Arial" panose="020B0604020202020204" pitchFamily="34" charset="0"/>
                <a:cs typeface="Arial" panose="020B0604020202020204" pitchFamily="34" charset="0"/>
              </a:rPr>
              <a:t> – Value of future benefits compared to current costs.</a:t>
            </a:r>
          </a:p>
        </p:txBody>
      </p:sp>
      <p:sp>
        <p:nvSpPr>
          <p:cNvPr id="2" name="Date Placeholder 1">
            <a:extLst>
              <a:ext uri="{FF2B5EF4-FFF2-40B4-BE49-F238E27FC236}">
                <a16:creationId xmlns:a16="http://schemas.microsoft.com/office/drawing/2014/main" id="{4315E7AD-3F69-548B-E48B-0DB05F3072D5}"/>
              </a:ext>
            </a:extLst>
          </p:cNvPr>
          <p:cNvSpPr>
            <a:spLocks noGrp="1"/>
          </p:cNvSpPr>
          <p:nvPr>
            <p:ph type="dt" sz="half" idx="10"/>
          </p:nvPr>
        </p:nvSpPr>
        <p:spPr/>
        <p:txBody>
          <a:bodyPr/>
          <a:lstStyle/>
          <a:p>
            <a:fld id="{06C2202A-1394-47E2-9117-3B9BD17C89C0}" type="datetime1">
              <a:rPr lang="en-US" smtClean="0"/>
              <a:t>1/14/2026</a:t>
            </a:fld>
            <a:endParaRPr lang="en-US"/>
          </a:p>
        </p:txBody>
      </p:sp>
      <p:sp>
        <p:nvSpPr>
          <p:cNvPr id="4" name="Footer Placeholder 3">
            <a:extLst>
              <a:ext uri="{FF2B5EF4-FFF2-40B4-BE49-F238E27FC236}">
                <a16:creationId xmlns:a16="http://schemas.microsoft.com/office/drawing/2014/main" id="{8082CB7C-90D6-3AC0-88D7-2E1865A32E1C}"/>
              </a:ext>
            </a:extLst>
          </p:cNvPr>
          <p:cNvSpPr>
            <a:spLocks noGrp="1"/>
          </p:cNvSpPr>
          <p:nvPr>
            <p:ph type="ftr" sz="quarter" idx="11"/>
          </p:nvPr>
        </p:nvSpPr>
        <p:spPr/>
        <p:txBody>
          <a:bodyPr/>
          <a:lstStyle/>
          <a:p>
            <a:r>
              <a:rPr lang="en-US"/>
              <a:t>Md. Manirujjaman</a:t>
            </a:r>
          </a:p>
        </p:txBody>
      </p:sp>
      <p:sp>
        <p:nvSpPr>
          <p:cNvPr id="6" name="Slide Number Placeholder 5">
            <a:extLst>
              <a:ext uri="{FF2B5EF4-FFF2-40B4-BE49-F238E27FC236}">
                <a16:creationId xmlns:a16="http://schemas.microsoft.com/office/drawing/2014/main" id="{28D0B61A-5B0D-BC31-DA1B-FD5BE61ED665}"/>
              </a:ext>
            </a:extLst>
          </p:cNvPr>
          <p:cNvSpPr>
            <a:spLocks noGrp="1"/>
          </p:cNvSpPr>
          <p:nvPr>
            <p:ph type="sldNum" sz="quarter" idx="12"/>
          </p:nvPr>
        </p:nvSpPr>
        <p:spPr/>
        <p:txBody>
          <a:bodyPr/>
          <a:lstStyle/>
          <a:p>
            <a:fld id="{AF4605CB-AE1D-40FF-AAFC-303D3E43EDD2}" type="slidenum">
              <a:rPr lang="en-US" smtClean="0"/>
              <a:t>24</a:t>
            </a:fld>
            <a:endParaRPr lang="en-US"/>
          </a:p>
        </p:txBody>
      </p:sp>
    </p:spTree>
    <p:extLst>
      <p:ext uri="{BB962C8B-B14F-4D97-AF65-F5344CB8AC3E}">
        <p14:creationId xmlns:p14="http://schemas.microsoft.com/office/powerpoint/2010/main" val="3778533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75AFE2-F748-F644-88F0-505CCC2ECFAA}"/>
              </a:ext>
            </a:extLst>
          </p:cNvPr>
          <p:cNvSpPr>
            <a:spLocks noGrp="1"/>
          </p:cNvSpPr>
          <p:nvPr>
            <p:ph type="dt" sz="half" idx="10"/>
          </p:nvPr>
        </p:nvSpPr>
        <p:spPr/>
        <p:txBody>
          <a:bodyPr/>
          <a:lstStyle/>
          <a:p>
            <a:fld id="{F0D4D7F9-F98F-45F5-9B66-C55B8D7BEBDB}" type="datetime1">
              <a:rPr lang="en-US" smtClean="0"/>
              <a:t>1/14/2026</a:t>
            </a:fld>
            <a:endParaRPr lang="en-US"/>
          </a:p>
        </p:txBody>
      </p:sp>
      <p:sp>
        <p:nvSpPr>
          <p:cNvPr id="3" name="Footer Placeholder 2">
            <a:extLst>
              <a:ext uri="{FF2B5EF4-FFF2-40B4-BE49-F238E27FC236}">
                <a16:creationId xmlns:a16="http://schemas.microsoft.com/office/drawing/2014/main" id="{B3AA1AD1-074A-1C27-6FA8-E6CCEC624B6D}"/>
              </a:ext>
            </a:extLst>
          </p:cNvPr>
          <p:cNvSpPr>
            <a:spLocks noGrp="1"/>
          </p:cNvSpPr>
          <p:nvPr>
            <p:ph type="ftr" sz="quarter" idx="11"/>
          </p:nvPr>
        </p:nvSpPr>
        <p:spPr/>
        <p:txBody>
          <a:bodyPr/>
          <a:lstStyle/>
          <a:p>
            <a:r>
              <a:rPr lang="en-US"/>
              <a:t>Md. Manirujjaman</a:t>
            </a:r>
          </a:p>
        </p:txBody>
      </p:sp>
      <p:sp>
        <p:nvSpPr>
          <p:cNvPr id="4" name="Slide Number Placeholder 3">
            <a:extLst>
              <a:ext uri="{FF2B5EF4-FFF2-40B4-BE49-F238E27FC236}">
                <a16:creationId xmlns:a16="http://schemas.microsoft.com/office/drawing/2014/main" id="{80383200-A090-6B85-8102-0B8EA3D9185D}"/>
              </a:ext>
            </a:extLst>
          </p:cNvPr>
          <p:cNvSpPr>
            <a:spLocks noGrp="1"/>
          </p:cNvSpPr>
          <p:nvPr>
            <p:ph type="sldNum" sz="quarter" idx="12"/>
          </p:nvPr>
        </p:nvSpPr>
        <p:spPr/>
        <p:txBody>
          <a:bodyPr/>
          <a:lstStyle/>
          <a:p>
            <a:fld id="{AF4605CB-AE1D-40FF-AAFC-303D3E43EDD2}" type="slidenum">
              <a:rPr lang="en-US" smtClean="0"/>
              <a:t>25</a:t>
            </a:fld>
            <a:endParaRPr lang="en-US"/>
          </a:p>
        </p:txBody>
      </p:sp>
      <p:sp>
        <p:nvSpPr>
          <p:cNvPr id="5" name="TextBox 4">
            <a:extLst>
              <a:ext uri="{FF2B5EF4-FFF2-40B4-BE49-F238E27FC236}">
                <a16:creationId xmlns:a16="http://schemas.microsoft.com/office/drawing/2014/main" id="{7EE49734-7264-786D-21F8-70421A276202}"/>
              </a:ext>
            </a:extLst>
          </p:cNvPr>
          <p:cNvSpPr txBox="1"/>
          <p:nvPr/>
        </p:nvSpPr>
        <p:spPr>
          <a:xfrm>
            <a:off x="3864078" y="2321004"/>
            <a:ext cx="4188967" cy="1107996"/>
          </a:xfrm>
          <a:prstGeom prst="rect">
            <a:avLst/>
          </a:prstGeom>
          <a:noFill/>
        </p:spPr>
        <p:txBody>
          <a:bodyPr wrap="none" rtlCol="0">
            <a:spAutoFit/>
          </a:bodyPr>
          <a:lstStyle/>
          <a:p>
            <a:r>
              <a:rPr lang="en-US" sz="6600"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87180491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513</TotalTime>
  <Words>2240</Words>
  <Application>Microsoft Office PowerPoint</Application>
  <PresentationFormat>Widescreen</PresentationFormat>
  <Paragraphs>235</Paragraphs>
  <Slides>25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Manirujjaman</dc:creator>
  <cp:lastModifiedBy>Md Manirujjaman</cp:lastModifiedBy>
  <cp:revision>15</cp:revision>
  <dcterms:created xsi:type="dcterms:W3CDTF">2025-12-23T15:02:23Z</dcterms:created>
  <dcterms:modified xsi:type="dcterms:W3CDTF">2026-01-14T00:53:41Z</dcterms:modified>
</cp:coreProperties>
</file>