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5" r:id="rId1"/>
  </p:sldMasterIdLst>
  <p:notesMasterIdLst>
    <p:notesMasterId r:id="rId57"/>
  </p:notesMasterIdLst>
  <p:handoutMasterIdLst>
    <p:handoutMasterId r:id="rId58"/>
  </p:handoutMasterIdLst>
  <p:sldIdLst>
    <p:sldId id="332" r:id="rId2"/>
    <p:sldId id="430" r:id="rId3"/>
    <p:sldId id="431" r:id="rId4"/>
    <p:sldId id="432" r:id="rId5"/>
    <p:sldId id="433" r:id="rId6"/>
    <p:sldId id="434" r:id="rId7"/>
    <p:sldId id="480" r:id="rId8"/>
    <p:sldId id="481" r:id="rId9"/>
    <p:sldId id="482" r:id="rId10"/>
    <p:sldId id="436" r:id="rId11"/>
    <p:sldId id="437" r:id="rId12"/>
    <p:sldId id="438" r:id="rId13"/>
    <p:sldId id="543" r:id="rId14"/>
    <p:sldId id="440" r:id="rId15"/>
    <p:sldId id="441" r:id="rId16"/>
    <p:sldId id="442" r:id="rId17"/>
    <p:sldId id="445" r:id="rId18"/>
    <p:sldId id="483" r:id="rId19"/>
    <p:sldId id="484" r:id="rId20"/>
    <p:sldId id="541" r:id="rId21"/>
    <p:sldId id="539" r:id="rId22"/>
    <p:sldId id="540" r:id="rId23"/>
    <p:sldId id="485" r:id="rId24"/>
    <p:sldId id="486" r:id="rId25"/>
    <p:sldId id="487" r:id="rId26"/>
    <p:sldId id="491" r:id="rId27"/>
    <p:sldId id="495" r:id="rId28"/>
    <p:sldId id="496" r:id="rId29"/>
    <p:sldId id="497" r:id="rId30"/>
    <p:sldId id="498" r:id="rId31"/>
    <p:sldId id="499" r:id="rId32"/>
    <p:sldId id="500" r:id="rId33"/>
    <p:sldId id="501" r:id="rId34"/>
    <p:sldId id="502" r:id="rId35"/>
    <p:sldId id="503" r:id="rId36"/>
    <p:sldId id="504" r:id="rId37"/>
    <p:sldId id="505" r:id="rId38"/>
    <p:sldId id="506" r:id="rId39"/>
    <p:sldId id="507" r:id="rId40"/>
    <p:sldId id="542" r:id="rId41"/>
    <p:sldId id="508" r:id="rId42"/>
    <p:sldId id="510" r:id="rId43"/>
    <p:sldId id="511" r:id="rId44"/>
    <p:sldId id="514" r:id="rId45"/>
    <p:sldId id="515" r:id="rId46"/>
    <p:sldId id="516" r:id="rId47"/>
    <p:sldId id="544" r:id="rId48"/>
    <p:sldId id="518" r:id="rId49"/>
    <p:sldId id="519" r:id="rId50"/>
    <p:sldId id="520" r:id="rId51"/>
    <p:sldId id="521" r:id="rId52"/>
    <p:sldId id="522" r:id="rId53"/>
    <p:sldId id="535" r:id="rId54"/>
    <p:sldId id="536" r:id="rId55"/>
    <p:sldId id="323" r:id="rId56"/>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23" autoAdjust="0"/>
    <p:restoredTop sz="95033" autoAdjust="0"/>
  </p:normalViewPr>
  <p:slideViewPr>
    <p:cSldViewPr>
      <p:cViewPr varScale="1">
        <p:scale>
          <a:sx n="78" d="100"/>
          <a:sy n="78" d="100"/>
        </p:scale>
        <p:origin x="1550" y="72"/>
      </p:cViewPr>
      <p:guideLst>
        <p:guide orient="horz" pos="2160"/>
        <p:guide pos="2880"/>
      </p:guideLst>
    </p:cSldViewPr>
  </p:slideViewPr>
  <p:notesTextViewPr>
    <p:cViewPr>
      <p:scale>
        <a:sx n="100" d="100"/>
        <a:sy n="100" d="100"/>
      </p:scale>
      <p:origin x="0" y="-691"/>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78851"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78852"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78853"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F9EFEA9-66BC-4174-926C-F8093975A336}" type="slidenum">
              <a:rPr lang="en-US"/>
              <a:pPr>
                <a:defRPr/>
              </a:pPr>
              <a:t>‹#›</a:t>
            </a:fld>
            <a:endParaRPr lang="en-US"/>
          </a:p>
        </p:txBody>
      </p:sp>
    </p:spTree>
    <p:extLst>
      <p:ext uri="{BB962C8B-B14F-4D97-AF65-F5344CB8AC3E}">
        <p14:creationId xmlns:p14="http://schemas.microsoft.com/office/powerpoint/2010/main" val="35209866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pPr>
              <a:defRPr/>
            </a:pPr>
            <a:fld id="{1BD0B02A-F0B0-4301-8903-DF68581631A0}" type="datetimeFigureOut">
              <a:rPr lang="en-US"/>
              <a:pPr>
                <a:defRPr/>
              </a:pPr>
              <a:t>3/25/2026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pPr>
              <a:defRPr/>
            </a:pPr>
            <a:fld id="{C6A44F01-B7E3-454B-9683-8F374F9D0B78}" type="slidenum">
              <a:rPr lang="en-US"/>
              <a:pPr>
                <a:defRPr/>
              </a:pPr>
              <a:t>‹#›</a:t>
            </a:fld>
            <a:endParaRPr lang="en-US"/>
          </a:p>
        </p:txBody>
      </p:sp>
    </p:spTree>
    <p:extLst>
      <p:ext uri="{BB962C8B-B14F-4D97-AF65-F5344CB8AC3E}">
        <p14:creationId xmlns:p14="http://schemas.microsoft.com/office/powerpoint/2010/main" val="19653839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169C16F-83A6-4654-ACB4-E3597022A30B}" type="slidenum">
              <a:rPr lang="en-US" altLang="en-US">
                <a:solidFill>
                  <a:prstClr val="black"/>
                </a:solidFill>
              </a:rPr>
              <a:pPr>
                <a:spcBef>
                  <a:spcPct val="0"/>
                </a:spcBef>
              </a:pPr>
              <a:t>2</a:t>
            </a:fld>
            <a:endParaRPr lang="en-US" altLang="en-US">
              <a:solidFill>
                <a:prstClr val="black"/>
              </a:solidFill>
            </a:endParaRPr>
          </a:p>
        </p:txBody>
      </p:sp>
      <p:sp>
        <p:nvSpPr>
          <p:cNvPr id="88067" name="Rectangle 2"/>
          <p:cNvSpPr>
            <a:spLocks noGrp="1" noRot="1" noChangeAspect="1" noChangeArrowheads="1" noTextEdit="1"/>
          </p:cNvSpPr>
          <p:nvPr>
            <p:ph type="sldImg"/>
          </p:nvPr>
        </p:nvSpPr>
        <p:spPr>
          <a:xfrm>
            <a:off x="1206500" y="698500"/>
            <a:ext cx="4602163" cy="3451225"/>
          </a:xfrm>
          <a:ln w="12700" cap="flat">
            <a:solidFill>
              <a:schemeClr val="tx1"/>
            </a:solidFill>
          </a:ln>
        </p:spPr>
      </p:sp>
      <p:sp>
        <p:nvSpPr>
          <p:cNvPr id="88068" name="Rectangle 3"/>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ltLang="en-US" dirty="0"/>
          </a:p>
        </p:txBody>
      </p:sp>
    </p:spTree>
    <p:extLst>
      <p:ext uri="{BB962C8B-B14F-4D97-AF65-F5344CB8AC3E}">
        <p14:creationId xmlns:p14="http://schemas.microsoft.com/office/powerpoint/2010/main" val="100952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E169C16F-83A6-4654-ACB4-E3597022A30B}"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31863" rtl="0" eaLnBrk="0" fontAlgn="auto" latinLnBrk="0" hangingPunct="0">
                <a:lnSpc>
                  <a:spcPct val="100000"/>
                </a:lnSpc>
                <a:spcBef>
                  <a:spcPct val="0"/>
                </a:spcBef>
                <a:spcAft>
                  <a:spcPts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88067" name="Rectangle 2"/>
          <p:cNvSpPr>
            <a:spLocks noGrp="1" noRot="1" noChangeAspect="1" noChangeArrowheads="1" noTextEdit="1"/>
          </p:cNvSpPr>
          <p:nvPr>
            <p:ph type="sldImg"/>
          </p:nvPr>
        </p:nvSpPr>
        <p:spPr>
          <a:xfrm>
            <a:off x="1206500" y="698500"/>
            <a:ext cx="4602163" cy="3451225"/>
          </a:xfrm>
          <a:ln w="12700" cap="flat">
            <a:solidFill>
              <a:schemeClr val="tx1"/>
            </a:solidFill>
          </a:ln>
        </p:spPr>
      </p:sp>
      <p:sp>
        <p:nvSpPr>
          <p:cNvPr id="88068" name="Rectangle 3"/>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ltLang="en-US"/>
          </a:p>
        </p:txBody>
      </p:sp>
    </p:spTree>
    <p:extLst>
      <p:ext uri="{BB962C8B-B14F-4D97-AF65-F5344CB8AC3E}">
        <p14:creationId xmlns:p14="http://schemas.microsoft.com/office/powerpoint/2010/main" val="1844128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8558DE-5F4D-4D4D-8157-80D78941E4AA}" type="slidenum">
              <a:rPr lang="en-US" altLang="en-US">
                <a:solidFill>
                  <a:prstClr val="black"/>
                </a:solidFill>
              </a:rPr>
              <a:pPr>
                <a:spcBef>
                  <a:spcPct val="0"/>
                </a:spcBef>
              </a:pPr>
              <a:t>4</a:t>
            </a:fld>
            <a:endParaRPr lang="en-US" altLang="en-US">
              <a:solidFill>
                <a:prstClr val="black"/>
              </a:solidFill>
            </a:endParaRPr>
          </a:p>
        </p:txBody>
      </p:sp>
      <p:sp>
        <p:nvSpPr>
          <p:cNvPr id="89091" name="Rectangle 2"/>
          <p:cNvSpPr>
            <a:spLocks noGrp="1" noRot="1" noChangeAspect="1" noChangeArrowheads="1" noTextEdit="1"/>
          </p:cNvSpPr>
          <p:nvPr>
            <p:ph type="sldImg"/>
          </p:nvPr>
        </p:nvSpPr>
        <p:spPr>
          <a:xfrm>
            <a:off x="1206500" y="698500"/>
            <a:ext cx="4602163" cy="3451225"/>
          </a:xfrm>
          <a:ln w="12700" cap="flat">
            <a:solidFill>
              <a:schemeClr val="tx1"/>
            </a:solidFill>
          </a:ln>
        </p:spPr>
      </p:sp>
      <p:sp>
        <p:nvSpPr>
          <p:cNvPr id="89092" name="Rectangle 3"/>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ltLang="en-US"/>
          </a:p>
        </p:txBody>
      </p:sp>
    </p:spTree>
    <p:extLst>
      <p:ext uri="{BB962C8B-B14F-4D97-AF65-F5344CB8AC3E}">
        <p14:creationId xmlns:p14="http://schemas.microsoft.com/office/powerpoint/2010/main" val="1353199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C87ACD3-78F1-4E49-B487-DCEF5659D421}" type="slidenum">
              <a:rPr lang="en-US" altLang="en-US">
                <a:solidFill>
                  <a:prstClr val="black"/>
                </a:solidFill>
              </a:rPr>
              <a:pPr>
                <a:spcBef>
                  <a:spcPct val="0"/>
                </a:spcBef>
              </a:pPr>
              <a:t>5</a:t>
            </a:fld>
            <a:endParaRPr lang="en-US" altLang="en-US">
              <a:solidFill>
                <a:prstClr val="black"/>
              </a:solidFill>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4835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C87ACD3-78F1-4E49-B487-DCEF5659D421}" type="slidenum">
              <a:rPr lang="en-US" altLang="en-US">
                <a:solidFill>
                  <a:prstClr val="black"/>
                </a:solidFill>
              </a:rPr>
              <a:pPr>
                <a:spcBef>
                  <a:spcPct val="0"/>
                </a:spcBef>
              </a:pPr>
              <a:t>6</a:t>
            </a:fld>
            <a:endParaRPr lang="en-US" altLang="en-US">
              <a:solidFill>
                <a:prstClr val="black"/>
              </a:solidFill>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a:t>Classification: Model Construction, Validation and Testing</a:t>
            </a:r>
          </a:p>
          <a:p>
            <a:r>
              <a:rPr lang="en-US" b="1" dirty="0"/>
              <a:t>Testing</a:t>
            </a:r>
            <a:r>
              <a:rPr lang="en-US" dirty="0"/>
              <a:t> is used to estimate how accurate the model is.</a:t>
            </a:r>
          </a:p>
          <a:p>
            <a:r>
              <a:rPr lang="en-US" dirty="0"/>
              <a:t>In testing, we compare the </a:t>
            </a:r>
            <a:r>
              <a:rPr lang="en-US" b="1" dirty="0"/>
              <a:t>true label</a:t>
            </a:r>
            <a:r>
              <a:rPr lang="en-US" dirty="0"/>
              <a:t> of a test sample with the </a:t>
            </a:r>
            <a:r>
              <a:rPr lang="en-US" b="1" dirty="0"/>
              <a:t>predicted label</a:t>
            </a:r>
            <a:r>
              <a:rPr lang="en-US" dirty="0"/>
              <a:t> given by the model.</a:t>
            </a:r>
          </a:p>
          <a:p>
            <a:r>
              <a:rPr lang="en-US" b="1" dirty="0"/>
              <a:t>Accuracy</a:t>
            </a:r>
            <a:r>
              <a:rPr lang="en-US" dirty="0"/>
              <a:t> means the percentage of test samples that are classified correctly.</a:t>
            </a:r>
          </a:p>
          <a:p>
            <a:r>
              <a:rPr lang="en-US" dirty="0"/>
              <a:t>The </a:t>
            </a:r>
            <a:r>
              <a:rPr lang="en-US" b="1" dirty="0"/>
              <a:t>test set must be independent</a:t>
            </a:r>
            <a:r>
              <a:rPr lang="en-US" dirty="0"/>
              <a:t> of the training set.</a:t>
            </a:r>
          </a:p>
          <a:p>
            <a:r>
              <a:rPr lang="en-US" b="1" dirty="0"/>
              <a:t>Validation</a:t>
            </a:r>
            <a:r>
              <a:rPr lang="en-US" dirty="0"/>
              <a:t> is used when a dataset is used to </a:t>
            </a:r>
            <a:r>
              <a:rPr lang="en-US" b="1" dirty="0"/>
              <a:t>select, tune, or refine</a:t>
            </a:r>
            <a:r>
              <a:rPr lang="en-US" dirty="0"/>
              <a:t> the model during development.</a:t>
            </a:r>
          </a:p>
          <a:p>
            <a:r>
              <a:rPr lang="en-US" dirty="0"/>
              <a:t>So, validation helps improve the model before final testing.</a:t>
            </a:r>
          </a:p>
          <a:p>
            <a:r>
              <a:rPr lang="en-US" b="1" dirty="0"/>
              <a:t>Deployment</a:t>
            </a:r>
            <a:r>
              <a:rPr lang="en-US" dirty="0"/>
              <a:t> means using the model on </a:t>
            </a:r>
            <a:r>
              <a:rPr lang="en-US" b="1" dirty="0"/>
              <a:t>new unseen data</a:t>
            </a:r>
            <a:r>
              <a:rPr lang="en-US" dirty="0"/>
              <a:t> after its accuracy is acceptable.</a:t>
            </a:r>
          </a:p>
          <a:p>
            <a:r>
              <a:rPr lang="en-US" b="1" dirty="0"/>
              <a:t>Main idea</a:t>
            </a:r>
          </a:p>
          <a:p>
            <a:r>
              <a:rPr lang="en-US" b="1" dirty="0"/>
              <a:t>Training</a:t>
            </a:r>
            <a:r>
              <a:rPr lang="en-US" dirty="0"/>
              <a:t> builds the model</a:t>
            </a:r>
          </a:p>
          <a:p>
            <a:r>
              <a:rPr lang="en-US" b="1" dirty="0"/>
              <a:t>Validation</a:t>
            </a:r>
            <a:r>
              <a:rPr lang="en-US" dirty="0"/>
              <a:t> helps tune the model</a:t>
            </a:r>
          </a:p>
          <a:p>
            <a:r>
              <a:rPr lang="en-US" b="1" dirty="0"/>
              <a:t>Testing</a:t>
            </a:r>
            <a:r>
              <a:rPr lang="en-US" dirty="0"/>
              <a:t> checks final performance</a:t>
            </a:r>
          </a:p>
          <a:p>
            <a:r>
              <a:rPr lang="en-US" b="1" dirty="0"/>
              <a:t>Deployment</a:t>
            </a:r>
            <a:r>
              <a:rPr lang="en-US" dirty="0"/>
              <a:t> uses the model in real applications</a:t>
            </a:r>
          </a:p>
          <a:p>
            <a:endParaRPr lang="en-US" altLang="en-US" dirty="0"/>
          </a:p>
        </p:txBody>
      </p:sp>
    </p:spTree>
    <p:extLst>
      <p:ext uri="{BB962C8B-B14F-4D97-AF65-F5344CB8AC3E}">
        <p14:creationId xmlns:p14="http://schemas.microsoft.com/office/powerpoint/2010/main" val="4017111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A25E379A-2BA9-4490-A33D-986A02FDE6F8}" type="slidenum">
              <a:rPr lang="en-US" smtClean="0"/>
              <a:pPr/>
              <a:t>7</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059D1DC2-0B60-4BA6-9D99-169193D32F7F}" type="slidenum">
              <a:rPr lang="en-US" smtClean="0"/>
              <a:pPr/>
              <a:t>8</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D9D86FD-A244-42A4-AEDB-C28D6F30B35B}" type="slidenum">
              <a:rPr lang="en-US" altLang="en-US"/>
              <a:pPr>
                <a:spcBef>
                  <a:spcPct val="0"/>
                </a:spcBef>
              </a:pPr>
              <a:t>10</a:t>
            </a:fld>
            <a:endParaRPr lang="en-US" alt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458683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870A63E-C667-4AC0-8176-DF644A0FB608}" type="slidenum">
              <a:rPr lang="en-US" altLang="en-US"/>
              <a:pPr>
                <a:spcBef>
                  <a:spcPct val="0"/>
                </a:spcBef>
              </a:pPr>
              <a:t>11</a:t>
            </a:fld>
            <a:endParaRPr lang="en-US" alt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a:t>Decision Tree Induction: Algorithm</a:t>
            </a:r>
          </a:p>
          <a:p>
            <a:r>
              <a:rPr lang="en-US" dirty="0"/>
              <a:t>A decision tree is built in a </a:t>
            </a:r>
            <a:r>
              <a:rPr lang="en-US" b="1" dirty="0"/>
              <a:t>top-down, recursive, divide-and-conquer</a:t>
            </a:r>
            <a:r>
              <a:rPr lang="en-US" dirty="0"/>
              <a:t> way.</a:t>
            </a:r>
          </a:p>
          <a:p>
            <a:r>
              <a:rPr lang="en-US" dirty="0"/>
              <a:t>At the beginning, all training examples are placed at the </a:t>
            </a:r>
            <a:r>
              <a:rPr lang="en-US" b="1" dirty="0"/>
              <a:t>root node</a:t>
            </a:r>
            <a:r>
              <a:rPr lang="en-US" dirty="0"/>
              <a:t>.</a:t>
            </a:r>
          </a:p>
          <a:p>
            <a:r>
              <a:rPr lang="en-US" dirty="0"/>
              <a:t>Then the data is split again and again based on selected </a:t>
            </a:r>
            <a:r>
              <a:rPr lang="en-US" b="1" dirty="0"/>
              <a:t>attributes/features</a:t>
            </a:r>
            <a:r>
              <a:rPr lang="en-US" dirty="0"/>
              <a:t>.</a:t>
            </a:r>
          </a:p>
          <a:p>
            <a:r>
              <a:rPr lang="en-US" dirty="0"/>
              <a:t>At each node, the best attribute is chosen using a measure such as </a:t>
            </a:r>
            <a:r>
              <a:rPr lang="en-US" b="1" dirty="0"/>
              <a:t>Information Gain</a:t>
            </a:r>
            <a:r>
              <a:rPr lang="en-US" dirty="0"/>
              <a:t> or </a:t>
            </a:r>
            <a:r>
              <a:rPr lang="en-US" b="1" dirty="0"/>
              <a:t>Gini Index</a:t>
            </a:r>
            <a:r>
              <a:rPr lang="en-US" dirty="0"/>
              <a:t>.</a:t>
            </a:r>
          </a:p>
          <a:p>
            <a:r>
              <a:rPr lang="en-US" b="1" dirty="0"/>
              <a:t>Main idea</a:t>
            </a:r>
          </a:p>
          <a:p>
            <a:r>
              <a:rPr lang="en-US" dirty="0"/>
              <a:t>The algorithm starts from the root, repeatedly splits the data using the best feature, and continues until the tree is formed.</a:t>
            </a:r>
          </a:p>
          <a:p>
            <a:endParaRPr lang="en-US" altLang="en-US" dirty="0"/>
          </a:p>
        </p:txBody>
      </p:sp>
    </p:spTree>
    <p:extLst>
      <p:ext uri="{BB962C8B-B14F-4D97-AF65-F5344CB8AC3E}">
        <p14:creationId xmlns:p14="http://schemas.microsoft.com/office/powerpoint/2010/main" val="1878948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870A63E-C667-4AC0-8176-DF644A0FB608}" type="slidenum">
              <a:rPr lang="en-US" altLang="en-US"/>
              <a:pPr>
                <a:spcBef>
                  <a:spcPct val="0"/>
                </a:spcBef>
              </a:pPr>
              <a:t>12</a:t>
            </a:fld>
            <a:endParaRPr lang="en-US" alt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a:t>When does partitioning stop?</a:t>
            </a:r>
          </a:p>
          <a:p>
            <a:r>
              <a:rPr lang="en-US" dirty="0"/>
              <a:t>Decision tree splitting stops when:</a:t>
            </a:r>
          </a:p>
          <a:p>
            <a:r>
              <a:rPr lang="en-US" dirty="0"/>
              <a:t>all samples at a node belong to the </a:t>
            </a:r>
            <a:r>
              <a:rPr lang="en-US" b="1" dirty="0"/>
              <a:t>same class</a:t>
            </a:r>
            <a:endParaRPr lang="en-US" dirty="0"/>
          </a:p>
          <a:p>
            <a:r>
              <a:rPr lang="en-US" dirty="0"/>
              <a:t>there are </a:t>
            </a:r>
            <a:r>
              <a:rPr lang="en-US" b="1" dirty="0"/>
              <a:t>no more attributes</a:t>
            </a:r>
            <a:r>
              <a:rPr lang="en-US" dirty="0"/>
              <a:t> left for further splitting</a:t>
            </a:r>
          </a:p>
          <a:p>
            <a:r>
              <a:rPr lang="en-US" dirty="0"/>
              <a:t>there are </a:t>
            </a:r>
            <a:r>
              <a:rPr lang="en-US" b="1" dirty="0"/>
              <a:t>no samples left</a:t>
            </a:r>
            <a:endParaRPr lang="en-US" dirty="0"/>
          </a:p>
          <a:p>
            <a:r>
              <a:rPr lang="en-US" b="1" dirty="0"/>
              <a:t>Prediction</a:t>
            </a:r>
          </a:p>
          <a:p>
            <a:r>
              <a:rPr lang="en-US" dirty="0"/>
              <a:t>After the tree is built, the final class at a leaf node is usually decided by </a:t>
            </a:r>
            <a:r>
              <a:rPr lang="en-US" b="1" dirty="0"/>
              <a:t>majority voting</a:t>
            </a:r>
            <a:r>
              <a:rPr lang="en-US" dirty="0"/>
              <a:t>.</a:t>
            </a:r>
          </a:p>
          <a:p>
            <a:r>
              <a:rPr lang="en-US" dirty="0"/>
              <a:t>That means the class with the </a:t>
            </a:r>
            <a:r>
              <a:rPr lang="en-US" b="1" dirty="0"/>
              <a:t>largest number of samples</a:t>
            </a:r>
            <a:r>
              <a:rPr lang="en-US" dirty="0"/>
              <a:t> in that leaf is chosen.</a:t>
            </a:r>
          </a:p>
          <a:p>
            <a:endParaRPr lang="en-US" altLang="en-US" dirty="0"/>
          </a:p>
        </p:txBody>
      </p:sp>
    </p:spTree>
    <p:extLst>
      <p:ext uri="{BB962C8B-B14F-4D97-AF65-F5344CB8AC3E}">
        <p14:creationId xmlns:p14="http://schemas.microsoft.com/office/powerpoint/2010/main" val="2899223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Cons of Decision Tree</a:t>
            </a:r>
          </a:p>
          <a:p>
            <a:r>
              <a:rPr lang="en-US" dirty="0"/>
              <a:t>Decision trees can be </a:t>
            </a:r>
            <a:r>
              <a:rPr lang="en-US" b="1" dirty="0"/>
              <a:t>unstable</a:t>
            </a:r>
            <a:r>
              <a:rPr lang="en-US" dirty="0"/>
              <a:t>, because a small change in data may create a different tree.</a:t>
            </a:r>
          </a:p>
          <a:p>
            <a:r>
              <a:rPr lang="en-US" dirty="0"/>
              <a:t>They are </a:t>
            </a:r>
            <a:r>
              <a:rPr lang="en-US" b="1" dirty="0"/>
              <a:t>sensitive to noise</a:t>
            </a:r>
            <a:r>
              <a:rPr lang="en-US" dirty="0"/>
              <a:t> and outliers.</a:t>
            </a:r>
          </a:p>
          <a:p>
            <a:r>
              <a:rPr lang="en-US" dirty="0"/>
              <a:t>Their accuracy may not always be very good, depending on the dataset.</a:t>
            </a:r>
          </a:p>
          <a:p>
            <a:r>
              <a:rPr lang="en-US" dirty="0"/>
              <a:t>Finding the </a:t>
            </a:r>
            <a:r>
              <a:rPr lang="en-US" b="1" dirty="0"/>
              <a:t>optimal split</a:t>
            </a:r>
            <a:r>
              <a:rPr lang="en-US" dirty="0"/>
              <a:t> is difficult, so practical methods use </a:t>
            </a:r>
            <a:r>
              <a:rPr lang="en-US" b="1" dirty="0"/>
              <a:t>greedy algorithms</a:t>
            </a:r>
            <a:r>
              <a:rPr lang="en-US" dirty="0"/>
              <a:t> instead of the perfect solution.</a:t>
            </a:r>
          </a:p>
          <a:p>
            <a:r>
              <a:rPr lang="en-US" dirty="0"/>
              <a:t>They are prone to </a:t>
            </a:r>
            <a:r>
              <a:rPr lang="en-US" b="1" dirty="0"/>
              <a:t>overfitting</a:t>
            </a:r>
            <a:r>
              <a:rPr lang="en-US" dirty="0"/>
              <a:t>, especially when the tree becomes too deep.</a:t>
            </a:r>
          </a:p>
        </p:txBody>
      </p:sp>
      <p:sp>
        <p:nvSpPr>
          <p:cNvPr id="4" name="Slide Number Placeholder 3"/>
          <p:cNvSpPr>
            <a:spLocks noGrp="1"/>
          </p:cNvSpPr>
          <p:nvPr>
            <p:ph type="sldNum" sz="quarter" idx="5"/>
          </p:nvPr>
        </p:nvSpPr>
        <p:spPr/>
        <p:txBody>
          <a:bodyPr/>
          <a:lstStyle/>
          <a:p>
            <a:fld id="{A6F8110F-5CB8-4B7A-89C2-96B671E6053B}" type="slidenum">
              <a:rPr lang="en-US" smtClean="0"/>
              <a:pPr/>
              <a:t>15</a:t>
            </a:fld>
            <a:endParaRPr lang="en-US"/>
          </a:p>
        </p:txBody>
      </p:sp>
    </p:spTree>
    <p:extLst>
      <p:ext uri="{BB962C8B-B14F-4D97-AF65-F5344CB8AC3E}">
        <p14:creationId xmlns:p14="http://schemas.microsoft.com/office/powerpoint/2010/main" val="4007755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Entropy</a:t>
                </a:r>
              </a:p>
              <a:p>
                <a:r>
                  <a:rPr lang="en-US" b="1" dirty="0"/>
                  <a:t>Entropy</a:t>
                </a:r>
                <a:r>
                  <a:rPr lang="en-US" dirty="0"/>
                  <a:t> is a measure of </a:t>
                </a:r>
                <a:r>
                  <a:rPr lang="en-US" b="1" dirty="0"/>
                  <a:t>uncertainty or impurity</a:t>
                </a:r>
                <a:r>
                  <a:rPr lang="en-US" dirty="0"/>
                  <a:t> in the class labels.</a:t>
                </a:r>
              </a:p>
              <a:p>
                <a:r>
                  <a:rPr lang="en-US" dirty="0"/>
                  <a:t>If entropy is </a:t>
                </a:r>
                <a:r>
                  <a:rPr lang="en-US" b="1" dirty="0"/>
                  <a:t>high</a:t>
                </a:r>
                <a:r>
                  <a:rPr lang="en-US" dirty="0"/>
                  <a:t>, the data is more mixed and uncertain.</a:t>
                </a:r>
              </a:p>
              <a:p>
                <a:r>
                  <a:rPr lang="en-US" dirty="0"/>
                  <a:t>If entropy is </a:t>
                </a:r>
                <a:r>
                  <a:rPr lang="en-US" b="1" dirty="0"/>
                  <a:t>low</a:t>
                </a:r>
                <a:r>
                  <a:rPr lang="en-US" dirty="0"/>
                  <a:t>, the data is purer and more certain.</a:t>
                </a:r>
              </a:p>
              <a:p>
                <a:r>
                  <a:rPr lang="en-US" b="1" dirty="0"/>
                  <a:t>Formula</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𝐻</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e>
                      </m:d>
                      <m:r>
                        <a:rPr lang="ar-AE" sz="1200" i="0" kern="1200">
                          <a:solidFill>
                            <a:schemeClr val="tx1"/>
                          </a:solidFill>
                          <a:latin typeface="Cambria Math" panose="02040503050406030204" pitchFamily="18" charset="0"/>
                          <a:ea typeface="+mn-ea"/>
                          <a:cs typeface="+mn-cs"/>
                        </a:rPr>
                        <m:t>=−</m:t>
                      </m:r>
                      <m:nary>
                        <m:naryPr>
                          <m:chr m:val="∑"/>
                          <m:grow m:val="on"/>
                          <m:subHide m:val="on"/>
                          <m:supHide m:val="on"/>
                          <m:ctrlPr>
                            <a:rPr lang="ar-AE" sz="1200" i="1" kern="1200">
                              <a:solidFill>
                                <a:schemeClr val="tx1"/>
                              </a:solidFill>
                              <a:latin typeface="Cambria Math" panose="02040503050406030204" pitchFamily="18" charset="0"/>
                              <a:ea typeface="+mn-ea"/>
                              <a:cs typeface="+mn-cs"/>
                            </a:rPr>
                          </m:ctrlPr>
                        </m:naryPr>
                        <m:sub/>
                        <m:sup/>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𝑝</m:t>
                              </m:r>
                            </m:e>
                            <m:sub>
                              <m:r>
                                <a:rPr lang="ar-AE" sz="1200" i="1" kern="1200">
                                  <a:solidFill>
                                    <a:schemeClr val="tx1"/>
                                  </a:solidFill>
                                  <a:latin typeface="Cambria Math" panose="02040503050406030204" pitchFamily="18" charset="0"/>
                                  <a:ea typeface="+mn-ea"/>
                                  <a:cs typeface="+mn-cs"/>
                                </a:rPr>
                                <m:t>𝑖</m:t>
                              </m:r>
                            </m:sub>
                          </m:sSub>
                        </m:e>
                      </m:nary>
                      <m:r>
                        <m:rPr>
                          <m:sty m:val="p"/>
                        </m:rPr>
                        <a:rPr lang="en-US" sz="1200" i="0" kern="1200">
                          <a:solidFill>
                            <a:schemeClr val="tx1"/>
                          </a:solidFill>
                          <a:latin typeface="Cambria Math" panose="02040503050406030204" pitchFamily="18" charset="0"/>
                          <a:ea typeface="+mn-ea"/>
                          <a:cs typeface="+mn-cs"/>
                        </a:rPr>
                        <m:t>log</m:t>
                      </m:r>
                      <m:r>
                        <a:rPr lang="en-US" sz="1200" i="0" kern="1200">
                          <a:solidFill>
                            <a:schemeClr val="tx1"/>
                          </a:solidFill>
                          <a:latin typeface="Cambria Math" panose="02040503050406030204" pitchFamily="18" charset="0"/>
                          <a:ea typeface="+mn-ea"/>
                          <a:cs typeface="+mn-cs"/>
                        </a:rPr>
                        <m:t>⁡</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𝑝</m:t>
                              </m:r>
                            </m:e>
                            <m:sub>
                              <m:r>
                                <a:rPr lang="ar-AE" sz="1200" i="1" kern="1200">
                                  <a:solidFill>
                                    <a:schemeClr val="tx1"/>
                                  </a:solidFill>
                                  <a:latin typeface="Cambria Math" panose="02040503050406030204" pitchFamily="18" charset="0"/>
                                  <a:ea typeface="+mn-ea"/>
                                  <a:cs typeface="+mn-cs"/>
                                </a:rPr>
                                <m:t>𝑖</m:t>
                              </m:r>
                            </m:sub>
                          </m:sSub>
                        </m:e>
                      </m:d>
                    </m:oMath>
                  </m:oMathPara>
                </a14:m>
                <a:endParaRPr lang="ar-AE" dirty="0"/>
              </a:p>
              <a:p>
                <a:r>
                  <a:rPr lang="en-US" dirty="0"/>
                  <a:t>where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𝑝</m:t>
                        </m:r>
                      </m:e>
                      <m:sub>
                        <m:r>
                          <a:rPr lang="ar-AE" sz="1200" i="1" kern="1200">
                            <a:solidFill>
                              <a:schemeClr val="tx1"/>
                            </a:solidFill>
                            <a:latin typeface="Cambria Math" panose="02040503050406030204" pitchFamily="18" charset="0"/>
                            <a:ea typeface="+mn-ea"/>
                            <a:cs typeface="+mn-cs"/>
                          </a:rPr>
                          <m:t>𝑖</m:t>
                        </m:r>
                      </m:sub>
                    </m:sSub>
                  </m:oMath>
                </a14:m>
                <a:r>
                  <a:rPr lang="en-US" dirty="0"/>
                  <a:t>is the probability of class </a:t>
                </a:r>
                <a14:m>
                  <m:oMath xmlns:m="http://schemas.openxmlformats.org/officeDocument/2006/math">
                    <m:r>
                      <a:rPr lang="en-US" sz="1200" i="1" kern="1200">
                        <a:solidFill>
                          <a:schemeClr val="tx1"/>
                        </a:solidFill>
                        <a:latin typeface="Cambria Math" panose="02040503050406030204" pitchFamily="18" charset="0"/>
                        <a:ea typeface="+mn-ea"/>
                        <a:cs typeface="+mn-cs"/>
                      </a:rPr>
                      <m:t>𝑖</m:t>
                    </m:r>
                  </m:oMath>
                </a14:m>
                <a:r>
                  <a:rPr lang="en-US" dirty="0"/>
                  <a:t>.</a:t>
                </a:r>
              </a:p>
              <a:p>
                <a:r>
                  <a:rPr lang="en-US" b="1" dirty="0"/>
                  <a:t>Conditional Entropy</a:t>
                </a:r>
              </a:p>
              <a:p>
                <a:r>
                  <a:rPr lang="en-US" b="1" dirty="0"/>
                  <a:t>Conditional entropy</a:t>
                </a:r>
                <a:r>
                  <a:rPr lang="en-US" dirty="0"/>
                  <a:t> means the remaining uncertainty in </a:t>
                </a:r>
                <a:r>
                  <a:rPr lang="en-US" b="1" dirty="0"/>
                  <a:t>Y</a:t>
                </a:r>
                <a:r>
                  <a:rPr lang="en-US" dirty="0"/>
                  <a:t> after knowing </a:t>
                </a:r>
                <a:r>
                  <a:rPr lang="en-US" b="1" dirty="0"/>
                  <a:t>X</a:t>
                </a:r>
                <a:r>
                  <a:rPr lang="en-US" dirty="0"/>
                  <a:t>.</a:t>
                </a:r>
              </a:p>
              <a:p>
                <a:r>
                  <a:rPr lang="en-US" dirty="0"/>
                  <a:t>It is written as: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𝐻</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𝑌</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𝑋</m:t>
                          </m:r>
                        </m:e>
                      </m:d>
                      <m:r>
                        <a:rPr lang="ar-AE" sz="1200" i="0" kern="1200">
                          <a:solidFill>
                            <a:schemeClr val="tx1"/>
                          </a:solidFill>
                          <a:latin typeface="Cambria Math" panose="02040503050406030204" pitchFamily="18" charset="0"/>
                          <a:ea typeface="+mn-ea"/>
                          <a:cs typeface="+mn-cs"/>
                        </a:rPr>
                        <m:t>=</m:t>
                      </m:r>
                      <m:nary>
                        <m:naryPr>
                          <m:chr m:val="∑"/>
                          <m:grow m:val="on"/>
                          <m:subHide m:val="on"/>
                          <m:supHide m:val="on"/>
                          <m:ctrlPr>
                            <a:rPr lang="ar-AE" sz="1200" i="1" kern="1200">
                              <a:solidFill>
                                <a:schemeClr val="tx1"/>
                              </a:solidFill>
                              <a:latin typeface="Cambria Math" panose="02040503050406030204" pitchFamily="18" charset="0"/>
                              <a:ea typeface="+mn-ea"/>
                              <a:cs typeface="+mn-cs"/>
                            </a:rPr>
                          </m:ctrlPr>
                        </m:naryPr>
                        <m:sub/>
                        <m:sup/>
                        <m:e>
                          <m:r>
                            <a:rPr lang="ar-AE" sz="1200" i="1" kern="1200">
                              <a:solidFill>
                                <a:schemeClr val="tx1"/>
                              </a:solidFill>
                              <a:latin typeface="Cambria Math" panose="02040503050406030204" pitchFamily="18" charset="0"/>
                              <a:ea typeface="+mn-ea"/>
                              <a:cs typeface="+mn-cs"/>
                            </a:rPr>
                            <m:t>𝑝</m:t>
                          </m:r>
                        </m:e>
                      </m:nary>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e>
                      </m:d>
                      <m:r>
                        <m:rPr>
                          <m:nor/>
                        </m:rPr>
                        <a:rPr lang="ar-AE" sz="1200" b="0" i="1" kern="1200">
                          <a:solidFill>
                            <a:schemeClr val="tx1"/>
                          </a:solidFill>
                          <a:latin typeface="+mn-lt"/>
                          <a:ea typeface="+mn-ea"/>
                          <a:cs typeface="+mn-cs"/>
                        </a:rPr>
                        <m:t> </m:t>
                      </m:r>
                      <m:r>
                        <a:rPr lang="ar-AE" sz="1200" b="0" i="1" kern="1200">
                          <a:solidFill>
                            <a:schemeClr val="tx1"/>
                          </a:solidFill>
                          <a:latin typeface="Cambria Math" panose="02040503050406030204" pitchFamily="18" charset="0"/>
                          <a:ea typeface="+mn-ea"/>
                          <a:cs typeface="+mn-cs"/>
                        </a:rPr>
                        <m:t>𝐻</m:t>
                      </m:r>
                      <m:d>
                        <m:dPr>
                          <m:ctrlPr>
                            <a:rPr lang="ar-AE" sz="1200" b="0" i="1" kern="1200">
                              <a:solidFill>
                                <a:schemeClr val="tx1"/>
                              </a:solidFill>
                              <a:latin typeface="Cambria Math" panose="02040503050406030204" pitchFamily="18" charset="0"/>
                              <a:ea typeface="+mn-ea"/>
                              <a:cs typeface="+mn-cs"/>
                            </a:rPr>
                          </m:ctrlPr>
                        </m:dPr>
                        <m:e>
                          <m:r>
                            <a:rPr lang="ar-AE" sz="1200" b="0" i="1" kern="1200">
                              <a:solidFill>
                                <a:schemeClr val="tx1"/>
                              </a:solidFill>
                              <a:latin typeface="Cambria Math" panose="02040503050406030204" pitchFamily="18" charset="0"/>
                              <a:ea typeface="+mn-ea"/>
                              <a:cs typeface="+mn-cs"/>
                            </a:rPr>
                            <m:t>𝑌</m:t>
                          </m:r>
                          <m:r>
                            <a:rPr lang="ar-AE" sz="1200" b="0" i="0" kern="1200">
                              <a:solidFill>
                                <a:schemeClr val="tx1"/>
                              </a:solidFill>
                              <a:latin typeface="Cambria Math" panose="02040503050406030204" pitchFamily="18" charset="0"/>
                              <a:ea typeface="+mn-ea"/>
                              <a:cs typeface="+mn-cs"/>
                            </a:rPr>
                            <m:t>∣</m:t>
                          </m:r>
                          <m:r>
                            <a:rPr lang="ar-AE" sz="1200" b="0" i="1" kern="1200">
                              <a:solidFill>
                                <a:schemeClr val="tx1"/>
                              </a:solidFill>
                              <a:latin typeface="Cambria Math" panose="02040503050406030204" pitchFamily="18" charset="0"/>
                              <a:ea typeface="+mn-ea"/>
                              <a:cs typeface="+mn-cs"/>
                            </a:rPr>
                            <m:t>𝑋</m:t>
                          </m:r>
                          <m:r>
                            <a:rPr lang="ar-AE" sz="1200" b="0" i="0" kern="1200">
                              <a:solidFill>
                                <a:schemeClr val="tx1"/>
                              </a:solidFill>
                              <a:latin typeface="Cambria Math" panose="02040503050406030204" pitchFamily="18" charset="0"/>
                              <a:ea typeface="+mn-ea"/>
                              <a:cs typeface="+mn-cs"/>
                            </a:rPr>
                            <m:t>=</m:t>
                          </m:r>
                          <m:r>
                            <a:rPr lang="ar-AE" sz="1200" b="0" i="1" kern="1200">
                              <a:solidFill>
                                <a:schemeClr val="tx1"/>
                              </a:solidFill>
                              <a:latin typeface="Cambria Math" panose="02040503050406030204" pitchFamily="18" charset="0"/>
                              <a:ea typeface="+mn-ea"/>
                              <a:cs typeface="+mn-cs"/>
                            </a:rPr>
                            <m:t>𝑥</m:t>
                          </m:r>
                        </m:e>
                      </m:d>
                    </m:oMath>
                  </m:oMathPara>
                </a14:m>
                <a:endParaRPr lang="ar-AE" b="0" dirty="0"/>
              </a:p>
              <a:p>
                <a:r>
                  <a:rPr lang="en-US" b="1" dirty="0"/>
                  <a:t>Why it is used in decision tree</a:t>
                </a:r>
              </a:p>
              <a:p>
                <a:r>
                  <a:rPr lang="en-US" dirty="0"/>
                  <a:t>A good split should </a:t>
                </a:r>
                <a:r>
                  <a:rPr lang="en-US" b="1" dirty="0"/>
                  <a:t>reduce entropy</a:t>
                </a:r>
                <a:r>
                  <a:rPr lang="en-US" dirty="0"/>
                  <a:t>.</a:t>
                </a:r>
              </a:p>
              <a:p>
                <a:r>
                  <a:rPr lang="en-US" dirty="0"/>
                  <a:t>The attribute that reduces uncertainty the most is preferred.</a:t>
                </a:r>
              </a:p>
              <a:p>
                <a:endParaRPr lang="en-US" dirty="0"/>
              </a:p>
            </p:txBody>
          </p:sp>
        </mc:Choice>
        <mc:Fallback xmlns="">
          <p:sp>
            <p:nvSpPr>
              <p:cNvPr id="3" name="Notes Placeholder 2"/>
              <p:cNvSpPr>
                <a:spLocks noGrp="1"/>
              </p:cNvSpPr>
              <p:nvPr>
                <p:ph type="body" idx="1"/>
              </p:nvPr>
            </p:nvSpPr>
            <p:spPr/>
            <p:txBody>
              <a:bodyPr/>
              <a:lstStyle/>
              <a:p>
                <a:r>
                  <a:rPr lang="en-US" b="1" dirty="0"/>
                  <a:t>Entropy</a:t>
                </a:r>
              </a:p>
              <a:p>
                <a:r>
                  <a:rPr lang="en-US" b="1" dirty="0"/>
                  <a:t>Entropy</a:t>
                </a:r>
                <a:r>
                  <a:rPr lang="en-US" dirty="0"/>
                  <a:t> is a measure of </a:t>
                </a:r>
                <a:r>
                  <a:rPr lang="en-US" b="1" dirty="0"/>
                  <a:t>uncertainty or impurity</a:t>
                </a:r>
                <a:r>
                  <a:rPr lang="en-US" dirty="0"/>
                  <a:t> in the class labels.</a:t>
                </a:r>
              </a:p>
              <a:p>
                <a:r>
                  <a:rPr lang="en-US" dirty="0"/>
                  <a:t>If entropy is </a:t>
                </a:r>
                <a:r>
                  <a:rPr lang="en-US" b="1" dirty="0"/>
                  <a:t>high</a:t>
                </a:r>
                <a:r>
                  <a:rPr lang="en-US" dirty="0"/>
                  <a:t>, the data is more mixed and uncertain.</a:t>
                </a:r>
              </a:p>
              <a:p>
                <a:r>
                  <a:rPr lang="en-US" dirty="0"/>
                  <a:t>If entropy is </a:t>
                </a:r>
                <a:r>
                  <a:rPr lang="en-US" b="1" dirty="0"/>
                  <a:t>low</a:t>
                </a:r>
                <a:r>
                  <a:rPr lang="en-US" dirty="0"/>
                  <a:t>, the data is purer and more certain.</a:t>
                </a:r>
              </a:p>
              <a:p>
                <a:r>
                  <a:rPr lang="en-US" b="1" dirty="0"/>
                  <a:t>Formula</a:t>
                </a:r>
              </a:p>
              <a:p>
                <a:r>
                  <a:rPr lang="en-US" sz="1200" i="0" kern="1200">
                    <a:solidFill>
                      <a:schemeClr val="tx1"/>
                    </a:solidFill>
                    <a:latin typeface="+mn-lt"/>
                    <a:ea typeface="+mn-ea"/>
                    <a:cs typeface="+mn-cs"/>
                  </a:rPr>
                  <a:t>𝐻</a:t>
                </a:r>
                <a:r>
                  <a:rPr lang="ar-AE" sz="1200" i="0" kern="1200">
                    <a:solidFill>
                      <a:schemeClr val="tx1"/>
                    </a:solidFill>
                    <a:latin typeface="+mn-lt"/>
                    <a:ea typeface="+mn-ea"/>
                    <a:cs typeface="+mn-cs"/>
                  </a:rPr>
                  <a:t>(𝑌)=−∑128▒𝑝_𝑖 </a:t>
                </a:r>
                <a:r>
                  <a:rPr lang="en-US" sz="1200" i="0" kern="1200">
                    <a:solidFill>
                      <a:schemeClr val="tx1"/>
                    </a:solidFill>
                    <a:latin typeface="+mn-lt"/>
                    <a:ea typeface="+mn-ea"/>
                    <a:cs typeface="+mn-cs"/>
                  </a:rPr>
                  <a:t> log⁡</a:t>
                </a:r>
                <a:r>
                  <a:rPr lang="ar-AE" sz="1200" i="0" kern="1200">
                    <a:solidFill>
                      <a:schemeClr val="tx1"/>
                    </a:solidFill>
                    <a:latin typeface="+mn-lt"/>
                    <a:ea typeface="+mn-ea"/>
                    <a:cs typeface="+mn-cs"/>
                  </a:rPr>
                  <a:t>(𝑝_𝑖 )</a:t>
                </a:r>
                <a:endParaRPr lang="ar-AE" dirty="0"/>
              </a:p>
              <a:p>
                <a:r>
                  <a:rPr lang="en-US" dirty="0"/>
                  <a:t>where </a:t>
                </a:r>
                <a:r>
                  <a:rPr lang="ar-AE" sz="1200" i="0" kern="1200">
                    <a:solidFill>
                      <a:schemeClr val="tx1"/>
                    </a:solidFill>
                    <a:latin typeface="+mn-lt"/>
                    <a:ea typeface="+mn-ea"/>
                    <a:cs typeface="+mn-cs"/>
                  </a:rPr>
                  <a:t>𝑝_𝑖</a:t>
                </a:r>
                <a:r>
                  <a:rPr lang="en-US" dirty="0"/>
                  <a:t>is the probability of class </a:t>
                </a:r>
                <a:r>
                  <a:rPr lang="en-US" sz="1200" i="0" kern="1200">
                    <a:solidFill>
                      <a:schemeClr val="tx1"/>
                    </a:solidFill>
                    <a:latin typeface="+mn-lt"/>
                    <a:ea typeface="+mn-ea"/>
                    <a:cs typeface="+mn-cs"/>
                  </a:rPr>
                  <a:t>𝑖</a:t>
                </a:r>
                <a:r>
                  <a:rPr lang="en-US" dirty="0"/>
                  <a:t>.</a:t>
                </a:r>
              </a:p>
              <a:p>
                <a:r>
                  <a:rPr lang="en-US" b="1" dirty="0"/>
                  <a:t>Conditional Entropy</a:t>
                </a:r>
              </a:p>
              <a:p>
                <a:r>
                  <a:rPr lang="en-US" b="1" dirty="0"/>
                  <a:t>Conditional entropy</a:t>
                </a:r>
                <a:r>
                  <a:rPr lang="en-US" dirty="0"/>
                  <a:t> means the remaining uncertainty in </a:t>
                </a:r>
                <a:r>
                  <a:rPr lang="en-US" b="1" dirty="0"/>
                  <a:t>Y</a:t>
                </a:r>
                <a:r>
                  <a:rPr lang="en-US" dirty="0"/>
                  <a:t> after knowing </a:t>
                </a:r>
                <a:r>
                  <a:rPr lang="en-US" b="1" dirty="0"/>
                  <a:t>X</a:t>
                </a:r>
                <a:r>
                  <a:rPr lang="en-US" dirty="0"/>
                  <a:t>.</a:t>
                </a:r>
              </a:p>
              <a:p>
                <a:r>
                  <a:rPr lang="en-US" dirty="0"/>
                  <a:t>It is written as:</a:t>
                </a:r>
              </a:p>
              <a:p>
                <a:r>
                  <a:rPr lang="en-US" sz="1200" i="0" kern="1200">
                    <a:solidFill>
                      <a:schemeClr val="tx1"/>
                    </a:solidFill>
                    <a:latin typeface="+mn-lt"/>
                    <a:ea typeface="+mn-ea"/>
                    <a:cs typeface="+mn-cs"/>
                  </a:rPr>
                  <a:t>𝐻</a:t>
                </a:r>
                <a:r>
                  <a:rPr lang="ar-AE" sz="1200" i="0" kern="1200">
                    <a:solidFill>
                      <a:schemeClr val="tx1"/>
                    </a:solidFill>
                    <a:latin typeface="+mn-lt"/>
                    <a:ea typeface="+mn-ea"/>
                    <a:cs typeface="+mn-cs"/>
                  </a:rPr>
                  <a:t>(𝑌∣𝑋)=∑128▒𝑝 (𝑥)</a:t>
                </a:r>
                <a:r>
                  <a:rPr lang="ar-AE" sz="1200" b="0" i="0" kern="1200">
                    <a:solidFill>
                      <a:schemeClr val="tx1"/>
                    </a:solidFill>
                    <a:latin typeface="Cambria Math" panose="02040503050406030204" pitchFamily="18" charset="0"/>
                    <a:ea typeface="+mn-ea"/>
                    <a:cs typeface="+mn-cs"/>
                  </a:rPr>
                  <a:t>" </a:t>
                </a:r>
                <a:r>
                  <a:rPr lang="ar-AE" sz="1200" b="0" i="0" kern="1200">
                    <a:solidFill>
                      <a:schemeClr val="tx1"/>
                    </a:solidFill>
                    <a:latin typeface="+mn-lt"/>
                    <a:ea typeface="+mn-ea"/>
                    <a:cs typeface="+mn-cs"/>
                  </a:rPr>
                  <a:t>" 𝐻(𝑌∣𝑋=𝑥)</a:t>
                </a:r>
                <a:endParaRPr lang="ar-AE" b="0" dirty="0"/>
              </a:p>
              <a:p>
                <a:r>
                  <a:rPr lang="en-US" b="1" dirty="0"/>
                  <a:t>Why it is used in decision tree</a:t>
                </a:r>
              </a:p>
              <a:p>
                <a:r>
                  <a:rPr lang="en-US" dirty="0"/>
                  <a:t>A good split should </a:t>
                </a:r>
                <a:r>
                  <a:rPr lang="en-US" b="1" dirty="0"/>
                  <a:t>reduce entropy</a:t>
                </a:r>
                <a:r>
                  <a:rPr lang="en-US" dirty="0"/>
                  <a:t>.</a:t>
                </a:r>
              </a:p>
              <a:p>
                <a:r>
                  <a:rPr lang="en-US" dirty="0"/>
                  <a:t>The attribute that reduces uncertainty the most is preferred.</a:t>
                </a:r>
              </a:p>
              <a:p>
                <a:endParaRPr lang="en-US" dirty="0"/>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16</a:t>
            </a:fld>
            <a:endParaRPr lang="en-US"/>
          </a:p>
        </p:txBody>
      </p:sp>
    </p:spTree>
    <p:extLst>
      <p:ext uri="{BB962C8B-B14F-4D97-AF65-F5344CB8AC3E}">
        <p14:creationId xmlns:p14="http://schemas.microsoft.com/office/powerpoint/2010/main" val="2662482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10FB955-1A05-46BC-9E97-806C4BB938B5}" type="slidenum">
              <a:rPr lang="en-US" altLang="en-US"/>
              <a:pPr>
                <a:spcBef>
                  <a:spcPct val="0"/>
                </a:spcBef>
              </a:pPr>
              <a:t>17</a:t>
            </a:fld>
            <a:endParaRPr lang="en-US"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768552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records are split based on attribute type and evaluated using measures like information gain or Gini index. Splitting stops when all records belong to the same class, attributes are identical, or early termination conditions are met.</a:t>
            </a:r>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18</a:t>
            </a:fld>
            <a:endParaRPr lang="en-US"/>
          </a:p>
        </p:txBody>
      </p:sp>
    </p:spTree>
    <p:extLst>
      <p:ext uri="{BB962C8B-B14F-4D97-AF65-F5344CB8AC3E}">
        <p14:creationId xmlns:p14="http://schemas.microsoft.com/office/powerpoint/2010/main" val="1893706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B50917DC-8C2E-4696-81FF-39BDCF47834A}" type="slidenum">
              <a:rPr lang="en-US" smtClean="0"/>
              <a:pPr/>
              <a:t>20</a:t>
            </a:fld>
            <a:endParaRPr 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1. Discretization</a:t>
                </a:r>
              </a:p>
              <a:p>
                <a:r>
                  <a:rPr lang="en-US" dirty="0"/>
                  <a:t>Convert the continuous attribute into </a:t>
                </a:r>
                <a:r>
                  <a:rPr lang="en-US" b="1" dirty="0"/>
                  <a:t>ranges or categories</a:t>
                </a:r>
                <a:r>
                  <a:rPr lang="en-US" dirty="0"/>
                  <a:t>.</a:t>
                </a:r>
              </a:p>
              <a:p>
                <a:r>
                  <a:rPr lang="en-US" dirty="0"/>
                  <a:t>These ranges can be made by:</a:t>
                </a:r>
              </a:p>
              <a:p>
                <a:pPr lvl="1"/>
                <a:r>
                  <a:rPr lang="en-US" b="1" dirty="0"/>
                  <a:t>equal interval bucketing</a:t>
                </a:r>
                <a:endParaRPr lang="en-US" dirty="0"/>
              </a:p>
              <a:p>
                <a:pPr lvl="1"/>
                <a:r>
                  <a:rPr lang="en-US" b="1" dirty="0"/>
                  <a:t>equal frequency bucketing</a:t>
                </a:r>
                <a:endParaRPr lang="en-US" dirty="0"/>
              </a:p>
              <a:p>
                <a:pPr lvl="1"/>
                <a:r>
                  <a:rPr lang="en-US" b="1" dirty="0"/>
                  <a:t>clustering</a:t>
                </a:r>
                <a:endParaRPr lang="en-US" dirty="0"/>
              </a:p>
              <a:p>
                <a:r>
                  <a:rPr lang="en-US" b="1" dirty="0"/>
                  <a:t>Static discretization:</a:t>
                </a:r>
                <a:r>
                  <a:rPr lang="en-US" dirty="0"/>
                  <a:t> done once at the beginning</a:t>
                </a:r>
              </a:p>
              <a:p>
                <a:r>
                  <a:rPr lang="en-US" b="1" dirty="0"/>
                  <a:t>Dynamic discretization:</a:t>
                </a:r>
                <a:r>
                  <a:rPr lang="en-US" dirty="0"/>
                  <a:t> repeated at each node during tree building</a:t>
                </a:r>
              </a:p>
              <a:p>
                <a:r>
                  <a:rPr lang="en-US" b="1" dirty="0"/>
                  <a:t>2. Binary decision</a:t>
                </a:r>
              </a:p>
              <a:p>
                <a:r>
                  <a:rPr lang="en-US" dirty="0"/>
                  <a:t>Split the attribute using a threshold value, such as:</a:t>
                </a:r>
                <a:br>
                  <a:rPr lang="en-US" dirty="0"/>
                </a:br>
                <a14:m>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&lt;</m:t>
                    </m:r>
                    <m:r>
                      <a:rPr lang="en-US" sz="1200" i="1" kern="1200">
                        <a:solidFill>
                          <a:schemeClr val="tx1"/>
                        </a:solidFill>
                        <a:latin typeface="Cambria Math" panose="02040503050406030204" pitchFamily="18" charset="0"/>
                        <a:ea typeface="+mn-ea"/>
                        <a:cs typeface="+mn-cs"/>
                      </a:rPr>
                      <m:t>𝑣</m:t>
                    </m:r>
                  </m:oMath>
                </a14:m>
                <a:r>
                  <a:rPr lang="en-US" dirty="0"/>
                  <a:t>or </a:t>
                </a:r>
                <a14:m>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𝑣</m:t>
                    </m:r>
                  </m:oMath>
                </a14:m>
                <a:endParaRPr lang="en-US" dirty="0"/>
              </a:p>
              <a:p>
                <a:r>
                  <a:rPr lang="en-US" dirty="0"/>
                  <a:t>The algorithm checks possible split points and selects the </a:t>
                </a:r>
                <a:r>
                  <a:rPr lang="en-US" b="1" dirty="0"/>
                  <a:t>best cut</a:t>
                </a:r>
                <a:r>
                  <a:rPr lang="en-US" dirty="0"/>
                  <a:t>.</a:t>
                </a:r>
              </a:p>
              <a:p>
                <a:r>
                  <a:rPr lang="en-US" dirty="0"/>
                  <a:t>This method can be </a:t>
                </a:r>
                <a:r>
                  <a:rPr lang="en-US" b="1" dirty="0"/>
                  <a:t>more computationally expensive</a:t>
                </a:r>
                <a:r>
                  <a:rPr lang="en-US" dirty="0"/>
                  <a:t>.</a:t>
                </a:r>
              </a:p>
              <a:p>
                <a:r>
                  <a:rPr lang="en-US" b="1" dirty="0"/>
                  <a:t>Main idea</a:t>
                </a:r>
              </a:p>
              <a:p>
                <a:r>
                  <a:rPr lang="en-US" dirty="0"/>
                  <a:t>Continuous attributes can be handled either by converting them into categories or by finding the best threshold to split them into two parts.</a:t>
                </a:r>
              </a:p>
              <a:p>
                <a:endParaRPr lang="en-US" dirty="0"/>
              </a:p>
            </p:txBody>
          </p:sp>
        </mc:Choice>
        <mc:Fallback xmlns="">
          <p:sp>
            <p:nvSpPr>
              <p:cNvPr id="3" name="Notes Placeholder 2"/>
              <p:cNvSpPr>
                <a:spLocks noGrp="1"/>
              </p:cNvSpPr>
              <p:nvPr>
                <p:ph type="body" idx="1"/>
              </p:nvPr>
            </p:nvSpPr>
            <p:spPr/>
            <p:txBody>
              <a:bodyPr/>
              <a:lstStyle/>
              <a:p>
                <a:r>
                  <a:rPr lang="en-US" b="1" dirty="0"/>
                  <a:t>1. Discretization</a:t>
                </a:r>
              </a:p>
              <a:p>
                <a:r>
                  <a:rPr lang="en-US" dirty="0"/>
                  <a:t>Convert the continuous attribute into </a:t>
                </a:r>
                <a:r>
                  <a:rPr lang="en-US" b="1" dirty="0"/>
                  <a:t>ranges or categories</a:t>
                </a:r>
                <a:r>
                  <a:rPr lang="en-US" dirty="0"/>
                  <a:t>.</a:t>
                </a:r>
              </a:p>
              <a:p>
                <a:r>
                  <a:rPr lang="en-US" dirty="0"/>
                  <a:t>These ranges can be made by:</a:t>
                </a:r>
              </a:p>
              <a:p>
                <a:pPr lvl="1"/>
                <a:r>
                  <a:rPr lang="en-US" b="1" dirty="0"/>
                  <a:t>equal interval bucketing</a:t>
                </a:r>
                <a:endParaRPr lang="en-US" dirty="0"/>
              </a:p>
              <a:p>
                <a:pPr lvl="1"/>
                <a:r>
                  <a:rPr lang="en-US" b="1" dirty="0"/>
                  <a:t>equal frequency bucketing</a:t>
                </a:r>
                <a:endParaRPr lang="en-US" dirty="0"/>
              </a:p>
              <a:p>
                <a:pPr lvl="1"/>
                <a:r>
                  <a:rPr lang="en-US" b="1" dirty="0"/>
                  <a:t>clustering</a:t>
                </a:r>
                <a:endParaRPr lang="en-US" dirty="0"/>
              </a:p>
              <a:p>
                <a:r>
                  <a:rPr lang="en-US" b="1" dirty="0"/>
                  <a:t>Static discretization:</a:t>
                </a:r>
                <a:r>
                  <a:rPr lang="en-US" dirty="0"/>
                  <a:t> done once at the beginning</a:t>
                </a:r>
              </a:p>
              <a:p>
                <a:r>
                  <a:rPr lang="en-US" b="1" dirty="0"/>
                  <a:t>Dynamic discretization:</a:t>
                </a:r>
                <a:r>
                  <a:rPr lang="en-US" dirty="0"/>
                  <a:t> repeated at each node during tree building</a:t>
                </a:r>
              </a:p>
              <a:p>
                <a:r>
                  <a:rPr lang="en-US" b="1" dirty="0"/>
                  <a:t>2. Binary decision</a:t>
                </a:r>
              </a:p>
              <a:p>
                <a:r>
                  <a:rPr lang="en-US" dirty="0"/>
                  <a:t>Split the attribute using a threshold value, such as:</a:t>
                </a:r>
                <a:br>
                  <a:rPr lang="en-US" dirty="0"/>
                </a:br>
                <a:r>
                  <a:rPr lang="en-US" sz="1200" i="0" kern="1200">
                    <a:solidFill>
                      <a:schemeClr val="tx1"/>
                    </a:solidFill>
                    <a:latin typeface="+mn-lt"/>
                    <a:ea typeface="+mn-ea"/>
                    <a:cs typeface="+mn-cs"/>
                  </a:rPr>
                  <a:t>𝐴&lt;𝑣</a:t>
                </a:r>
                <a:r>
                  <a:rPr lang="en-US" dirty="0"/>
                  <a:t>or </a:t>
                </a:r>
                <a:r>
                  <a:rPr lang="en-US" sz="1200" i="0" kern="1200">
                    <a:solidFill>
                      <a:schemeClr val="tx1"/>
                    </a:solidFill>
                    <a:latin typeface="+mn-lt"/>
                    <a:ea typeface="+mn-ea"/>
                    <a:cs typeface="+mn-cs"/>
                  </a:rPr>
                  <a:t>𝐴≥𝑣</a:t>
                </a:r>
                <a:endParaRPr lang="en-US" dirty="0"/>
              </a:p>
              <a:p>
                <a:r>
                  <a:rPr lang="en-US" dirty="0"/>
                  <a:t>The algorithm checks possible split points and selects the </a:t>
                </a:r>
                <a:r>
                  <a:rPr lang="en-US" b="1" dirty="0"/>
                  <a:t>best cut</a:t>
                </a:r>
                <a:r>
                  <a:rPr lang="en-US" dirty="0"/>
                  <a:t>.</a:t>
                </a:r>
              </a:p>
              <a:p>
                <a:r>
                  <a:rPr lang="en-US" dirty="0"/>
                  <a:t>This method can be </a:t>
                </a:r>
                <a:r>
                  <a:rPr lang="en-US" b="1" dirty="0"/>
                  <a:t>more computationally expensive</a:t>
                </a:r>
                <a:r>
                  <a:rPr lang="en-US" dirty="0"/>
                  <a:t>.</a:t>
                </a:r>
              </a:p>
              <a:p>
                <a:r>
                  <a:rPr lang="en-US" b="1" dirty="0"/>
                  <a:t>Main idea</a:t>
                </a:r>
              </a:p>
              <a:p>
                <a:r>
                  <a:rPr lang="en-US" dirty="0"/>
                  <a:t>Continuous attributes can be handled either by converting them into categories or by finding the best threshold to split them into two parts.</a:t>
                </a:r>
              </a:p>
              <a:p>
                <a:endParaRPr lang="en-US" dirty="0"/>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21</a:t>
            </a:fld>
            <a:endParaRPr lang="en-US"/>
          </a:p>
        </p:txBody>
      </p:sp>
    </p:spTree>
    <p:extLst>
      <p:ext uri="{BB962C8B-B14F-4D97-AF65-F5344CB8AC3E}">
        <p14:creationId xmlns:p14="http://schemas.microsoft.com/office/powerpoint/2010/main" val="717512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A6F9A96-B1C2-454F-A435-EAA583CB3B73}" type="slidenum">
              <a:rPr lang="en-US" altLang="en-US"/>
              <a:pPr>
                <a:spcBef>
                  <a:spcPct val="0"/>
                </a:spcBef>
              </a:pPr>
              <a:t>22</a:t>
            </a:fld>
            <a:endParaRPr lang="en-US" altLang="en-US"/>
          </a:p>
        </p:txBody>
      </p:sp>
      <p:sp>
        <p:nvSpPr>
          <p:cNvPr id="99331"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99332" name="Rectangle 3"/>
              <p:cNvSpPr>
                <a:spLocks noGrp="1" noChangeArrowheads="1"/>
              </p:cNvSpPr>
              <p:nvPr>
                <p:ph type="body" idx="1"/>
              </p:nvPr>
            </p:nvSpPr>
            <p:spPr>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ormAutofit lnSpcReduction="10000"/>
              </a:bodyPr>
              <a:lstStyle/>
              <a:p>
                <a:r>
                  <a:rPr lang="en-US" b="1" dirty="0"/>
                  <a:t>Handling Continuous-Valued Attributes</a:t>
                </a:r>
              </a:p>
              <a:p>
                <a:r>
                  <a:rPr lang="en-US" dirty="0"/>
                  <a:t>There are </a:t>
                </a:r>
                <a:r>
                  <a:rPr lang="en-US" b="1" dirty="0"/>
                  <a:t>two methods</a:t>
                </a:r>
                <a:r>
                  <a:rPr lang="en-US" dirty="0"/>
                  <a:t>:</a:t>
                </a:r>
              </a:p>
              <a:p>
                <a:r>
                  <a:rPr lang="en-US" b="1" dirty="0"/>
                  <a:t>Method 1: Discretization</a:t>
                </a:r>
              </a:p>
              <a:p>
                <a:r>
                  <a:rPr lang="en-US" dirty="0"/>
                  <a:t>Convert continuous values into </a:t>
                </a:r>
                <a:r>
                  <a:rPr lang="en-US" b="1" dirty="0"/>
                  <a:t>categorical ranges</a:t>
                </a:r>
                <a:r>
                  <a:rPr lang="en-US" dirty="0"/>
                  <a:t>.</a:t>
                </a:r>
              </a:p>
              <a:p>
                <a:r>
                  <a:rPr lang="en-US" dirty="0"/>
                  <a:t>Example for age:</a:t>
                </a:r>
                <a:br>
                  <a:rPr lang="en-US" dirty="0"/>
                </a:br>
                <a:r>
                  <a:rPr lang="en-US" b="1" dirty="0"/>
                  <a:t>&lt; 20, 20–30, 30–40, 40–50, &gt; 50</a:t>
                </a:r>
                <a:endParaRPr lang="en-US" dirty="0"/>
              </a:p>
              <a:p>
                <a:r>
                  <a:rPr lang="en-US" b="1" dirty="0"/>
                  <a:t>Method 2: Find the best split point</a:t>
                </a:r>
              </a:p>
              <a:p>
                <a:r>
                  <a:rPr lang="en-US" dirty="0"/>
                  <a:t>First, sort the values of the continuous attribute.</a:t>
                </a:r>
              </a:p>
              <a:p>
                <a:r>
                  <a:rPr lang="en-US" dirty="0"/>
                  <a:t>Then compute possible split points using the midpoint of two consecutive values:</a:t>
                </a:r>
              </a:p>
              <a:p>
                <a:pPr/>
                <a14:m>
                  <m:oMathPara xmlns:m="http://schemas.openxmlformats.org/officeDocument/2006/math">
                    <m:oMathParaPr>
                      <m:jc m:val="centerGroup"/>
                    </m:oMathParaPr>
                    <m:oMath xmlns:m="http://schemas.openxmlformats.org/officeDocument/2006/math">
                      <m:r>
                        <m:rPr>
                          <m:nor/>
                        </m:rPr>
                        <a:rPr lang="en-US" b="0"/>
                        <m:t>Split</m:t>
                      </m:r>
                      <m:r>
                        <m:rPr>
                          <m:nor/>
                        </m:rPr>
                        <a:rPr lang="en-US" b="0" i="1"/>
                        <m:t> </m:t>
                      </m:r>
                      <m:r>
                        <m:rPr>
                          <m:nor/>
                        </m:rPr>
                        <a:rPr lang="en-US" b="0" i="1"/>
                        <m:t>point</m:t>
                      </m:r>
                      <m:r>
                        <a:rPr lang="en-US" sz="1200" b="0" i="0" kern="1200">
                          <a:solidFill>
                            <a:schemeClr val="tx1"/>
                          </a:solidFill>
                          <a:latin typeface="Cambria Math" panose="02040503050406030204" pitchFamily="18" charset="0"/>
                          <a:ea typeface="+mn-ea"/>
                          <a:cs typeface="+mn-cs"/>
                        </a:rPr>
                        <m:t>=</m:t>
                      </m:r>
                      <m:f>
                        <m:fPr>
                          <m:ctrlPr>
                            <a:rPr lang="ar-AE" sz="1200" b="0" i="1" kern="1200">
                              <a:solidFill>
                                <a:schemeClr val="tx1"/>
                              </a:solidFill>
                              <a:latin typeface="Cambria Math" panose="02040503050406030204" pitchFamily="18" charset="0"/>
                              <a:ea typeface="+mn-ea"/>
                              <a:cs typeface="+mn-cs"/>
                            </a:rPr>
                          </m:ctrlPr>
                        </m:fPr>
                        <m:num>
                          <m:sSub>
                            <m:sSubPr>
                              <m:ctrlPr>
                                <a:rPr lang="ar-AE" sz="1200" b="0" i="1" kern="1200">
                                  <a:solidFill>
                                    <a:schemeClr val="tx1"/>
                                  </a:solidFill>
                                  <a:latin typeface="Cambria Math" panose="02040503050406030204" pitchFamily="18" charset="0"/>
                                  <a:ea typeface="+mn-ea"/>
                                  <a:cs typeface="+mn-cs"/>
                                </a:rPr>
                              </m:ctrlPr>
                            </m:sSubPr>
                            <m:e>
                              <m:r>
                                <a:rPr lang="ar-AE" sz="1200" b="0" i="1" kern="1200">
                                  <a:solidFill>
                                    <a:schemeClr val="tx1"/>
                                  </a:solidFill>
                                  <a:latin typeface="Cambria Math" panose="02040503050406030204" pitchFamily="18" charset="0"/>
                                  <a:ea typeface="+mn-ea"/>
                                  <a:cs typeface="+mn-cs"/>
                                </a:rPr>
                                <m:t>𝑎</m:t>
                              </m:r>
                            </m:e>
                            <m:sub>
                              <m:r>
                                <a:rPr lang="ar-AE" sz="1200" b="0" i="1" kern="1200">
                                  <a:solidFill>
                                    <a:schemeClr val="tx1"/>
                                  </a:solidFill>
                                  <a:latin typeface="Cambria Math" panose="02040503050406030204" pitchFamily="18" charset="0"/>
                                  <a:ea typeface="+mn-ea"/>
                                  <a:cs typeface="+mn-cs"/>
                                </a:rPr>
                                <m:t>𝑖</m:t>
                              </m:r>
                            </m:sub>
                          </m:sSub>
                          <m:r>
                            <a:rPr lang="ar-AE" sz="1200" b="0" i="0" kern="1200">
                              <a:solidFill>
                                <a:schemeClr val="tx1"/>
                              </a:solidFill>
                              <a:latin typeface="Cambria Math" panose="02040503050406030204" pitchFamily="18" charset="0"/>
                              <a:ea typeface="+mn-ea"/>
                              <a:cs typeface="+mn-cs"/>
                            </a:rPr>
                            <m:t>+</m:t>
                          </m:r>
                          <m:sSub>
                            <m:sSubPr>
                              <m:ctrlPr>
                                <a:rPr lang="ar-AE" sz="1200" b="0" i="1" kern="1200">
                                  <a:solidFill>
                                    <a:schemeClr val="tx1"/>
                                  </a:solidFill>
                                  <a:latin typeface="Cambria Math" panose="02040503050406030204" pitchFamily="18" charset="0"/>
                                  <a:ea typeface="+mn-ea"/>
                                  <a:cs typeface="+mn-cs"/>
                                </a:rPr>
                              </m:ctrlPr>
                            </m:sSubPr>
                            <m:e>
                              <m:r>
                                <a:rPr lang="ar-AE" sz="1200" b="0" i="1" kern="1200">
                                  <a:solidFill>
                                    <a:schemeClr val="tx1"/>
                                  </a:solidFill>
                                  <a:latin typeface="Cambria Math" panose="02040503050406030204" pitchFamily="18" charset="0"/>
                                  <a:ea typeface="+mn-ea"/>
                                  <a:cs typeface="+mn-cs"/>
                                </a:rPr>
                                <m:t>𝑎</m:t>
                              </m:r>
                            </m:e>
                            <m:sub>
                              <m:r>
                                <a:rPr lang="ar-AE" sz="1200" b="0" i="1" kern="1200">
                                  <a:solidFill>
                                    <a:schemeClr val="tx1"/>
                                  </a:solidFill>
                                  <a:latin typeface="Cambria Math" panose="02040503050406030204" pitchFamily="18" charset="0"/>
                                  <a:ea typeface="+mn-ea"/>
                                  <a:cs typeface="+mn-cs"/>
                                </a:rPr>
                                <m:t>𝑖</m:t>
                              </m:r>
                              <m:r>
                                <a:rPr lang="ar-AE" sz="1200" b="0" i="0" kern="1200">
                                  <a:solidFill>
                                    <a:schemeClr val="tx1"/>
                                  </a:solidFill>
                                  <a:latin typeface="Cambria Math" panose="02040503050406030204" pitchFamily="18" charset="0"/>
                                  <a:ea typeface="+mn-ea"/>
                                  <a:cs typeface="+mn-cs"/>
                                </a:rPr>
                                <m:t>+</m:t>
                              </m:r>
                              <m:r>
                                <a:rPr lang="ar-AE" sz="1200" b="0" i="0" kern="1200">
                                  <a:solidFill>
                                    <a:schemeClr val="tx1"/>
                                  </a:solidFill>
                                  <a:latin typeface="Cambria Math" panose="02040503050406030204" pitchFamily="18" charset="0"/>
                                  <a:ea typeface="+mn-ea"/>
                                  <a:cs typeface="+mn-cs"/>
                                </a:rPr>
                                <m:t>1</m:t>
                              </m:r>
                            </m:sub>
                          </m:sSub>
                        </m:num>
                        <m:den>
                          <m:r>
                            <a:rPr lang="ar-AE" sz="1200" b="0" i="0" kern="1200">
                              <a:solidFill>
                                <a:schemeClr val="tx1"/>
                              </a:solidFill>
                              <a:latin typeface="Cambria Math" panose="02040503050406030204" pitchFamily="18" charset="0"/>
                              <a:ea typeface="+mn-ea"/>
                              <a:cs typeface="+mn-cs"/>
                            </a:rPr>
                            <m:t>2</m:t>
                          </m:r>
                        </m:den>
                      </m:f>
                    </m:oMath>
                  </m:oMathPara>
                </a14:m>
                <a:endParaRPr lang="ar-AE" b="0" dirty="0"/>
              </a:p>
              <a:p>
                <a:r>
                  <a:rPr lang="en-US" dirty="0"/>
                  <a:t>Example: if values are </a:t>
                </a:r>
                <a:r>
                  <a:rPr lang="en-US" b="1" dirty="0"/>
                  <a:t>15, 18, 21, 22</a:t>
                </a:r>
                <a:r>
                  <a:rPr lang="en-US" dirty="0"/>
                  <a:t>, then possible split points are:</a:t>
                </a:r>
                <a:br>
                  <a:rPr lang="en-US" dirty="0"/>
                </a:br>
                <a:r>
                  <a:rPr lang="en-US" b="1" dirty="0"/>
                  <a:t>16.5, 19.5, 21.5</a:t>
                </a:r>
                <a:endParaRPr lang="en-US" dirty="0"/>
              </a:p>
              <a:p>
                <a:r>
                  <a:rPr lang="en-US" dirty="0"/>
                  <a:t>Among all possible split points, choose the one with the </a:t>
                </a:r>
                <a:r>
                  <a:rPr lang="en-US" b="1" dirty="0"/>
                  <a:t>highest information gain</a:t>
                </a:r>
                <a:r>
                  <a:rPr lang="en-US" dirty="0"/>
                  <a:t>.</a:t>
                </a:r>
              </a:p>
              <a:p>
                <a:r>
                  <a:rPr lang="en-US" dirty="0"/>
                  <a:t>Then split the data into:</a:t>
                </a:r>
              </a:p>
              <a:p>
                <a:pPr lvl="1"/>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𝑃</m:t>
                      </m:r>
                    </m:oMath>
                  </m:oMathPara>
                </a14:m>
                <a:endParaRPr lang="en-US" dirty="0"/>
              </a:p>
              <a:p>
                <a:pPr lvl="1"/>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&gt;</m:t>
                      </m:r>
                      <m:r>
                        <a:rPr lang="en-US" sz="1200" i="1" kern="1200">
                          <a:solidFill>
                            <a:schemeClr val="tx1"/>
                          </a:solidFill>
                          <a:latin typeface="Cambria Math" panose="02040503050406030204" pitchFamily="18" charset="0"/>
                          <a:ea typeface="+mn-ea"/>
                          <a:cs typeface="+mn-cs"/>
                        </a:rPr>
                        <m:t>𝑃</m:t>
                      </m:r>
                    </m:oMath>
                  </m:oMathPara>
                </a14:m>
                <a:endParaRPr lang="en-US" dirty="0"/>
              </a:p>
              <a:p>
                <a:r>
                  <a:rPr lang="en-US" b="1" dirty="0"/>
                  <a:t>Main idea</a:t>
                </a:r>
              </a:p>
              <a:p>
                <a:r>
                  <a:rPr lang="en-US" dirty="0"/>
                  <a:t>A continuous attribute can be handled either by converting it into ranges or by choosing the best threshold that gives the best split.</a:t>
                </a:r>
              </a:p>
              <a:p>
                <a:endParaRPr lang="en-US" altLang="en-US" dirty="0"/>
              </a:p>
            </p:txBody>
          </p:sp>
        </mc:Choice>
        <mc:Fallback xmlns="">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p>
                <a:r>
                  <a:rPr lang="en-US" b="1" dirty="0"/>
                  <a:t>Handling Continuous-Valued Attributes</a:t>
                </a:r>
              </a:p>
              <a:p>
                <a:r>
                  <a:rPr lang="en-US" dirty="0"/>
                  <a:t>There are </a:t>
                </a:r>
                <a:r>
                  <a:rPr lang="en-US" b="1" dirty="0"/>
                  <a:t>two methods</a:t>
                </a:r>
                <a:r>
                  <a:rPr lang="en-US" dirty="0"/>
                  <a:t>:</a:t>
                </a:r>
              </a:p>
              <a:p>
                <a:r>
                  <a:rPr lang="en-US" b="1" dirty="0"/>
                  <a:t>Method 1: Discretization</a:t>
                </a:r>
              </a:p>
              <a:p>
                <a:r>
                  <a:rPr lang="en-US" dirty="0"/>
                  <a:t>Convert continuous values into </a:t>
                </a:r>
                <a:r>
                  <a:rPr lang="en-US" b="1" dirty="0"/>
                  <a:t>categorical ranges</a:t>
                </a:r>
                <a:r>
                  <a:rPr lang="en-US" dirty="0"/>
                  <a:t>.</a:t>
                </a:r>
              </a:p>
              <a:p>
                <a:r>
                  <a:rPr lang="en-US" dirty="0"/>
                  <a:t>Example for age:</a:t>
                </a:r>
                <a:br>
                  <a:rPr lang="en-US" dirty="0"/>
                </a:br>
                <a:r>
                  <a:rPr lang="en-US" b="1" dirty="0"/>
                  <a:t>&lt; 20, 20–30, 30–40, 40–50, &gt; 50</a:t>
                </a:r>
                <a:endParaRPr lang="en-US" dirty="0"/>
              </a:p>
              <a:p>
                <a:r>
                  <a:rPr lang="en-US" b="1" dirty="0"/>
                  <a:t>Method 2: Find the best split point</a:t>
                </a:r>
              </a:p>
              <a:p>
                <a:r>
                  <a:rPr lang="en-US" dirty="0"/>
                  <a:t>First, sort the values of the continuous attribute.</a:t>
                </a:r>
              </a:p>
              <a:p>
                <a:r>
                  <a:rPr lang="en-US" dirty="0"/>
                  <a:t>Then compute possible split points using the midpoint of two consecutive values:</a:t>
                </a:r>
              </a:p>
              <a:p>
                <a:r>
                  <a:rPr lang="en-US" b="0" i="0">
                    <a:latin typeface="Cambria Math" panose="02040503050406030204" pitchFamily="18" charset="0"/>
                  </a:rPr>
                  <a:t>"Split point</a:t>
                </a:r>
                <a:r>
                  <a:rPr lang="en-US" sz="1200" b="0" i="0" kern="1200">
                    <a:solidFill>
                      <a:schemeClr val="tx1"/>
                    </a:solidFill>
                    <a:latin typeface="+mn-lt"/>
                    <a:ea typeface="+mn-ea"/>
                    <a:cs typeface="+mn-cs"/>
                  </a:rPr>
                  <a:t>"=</a:t>
                </a:r>
                <a:r>
                  <a:rPr lang="ar-AE" sz="1200" b="0" i="0" kern="1200">
                    <a:solidFill>
                      <a:schemeClr val="tx1"/>
                    </a:solidFill>
                    <a:latin typeface="+mn-lt"/>
                    <a:ea typeface="+mn-ea"/>
                    <a:cs typeface="+mn-cs"/>
                  </a:rPr>
                  <a:t>(𝑎_𝑖+𝑎_(𝑖+1))/2</a:t>
                </a:r>
                <a:endParaRPr lang="ar-AE" b="0" dirty="0"/>
              </a:p>
              <a:p>
                <a:r>
                  <a:rPr lang="en-US" dirty="0"/>
                  <a:t>Example: if values are </a:t>
                </a:r>
                <a:r>
                  <a:rPr lang="en-US" b="1" dirty="0"/>
                  <a:t>15, 18, 21, 22</a:t>
                </a:r>
                <a:r>
                  <a:rPr lang="en-US" dirty="0"/>
                  <a:t>, then possible split points are:</a:t>
                </a:r>
                <a:br>
                  <a:rPr lang="en-US" dirty="0"/>
                </a:br>
                <a:r>
                  <a:rPr lang="en-US" b="1" dirty="0"/>
                  <a:t>16.5, 19.5, 21.5</a:t>
                </a:r>
                <a:endParaRPr lang="en-US" dirty="0"/>
              </a:p>
              <a:p>
                <a:r>
                  <a:rPr lang="en-US" dirty="0"/>
                  <a:t>Among all possible split points, choose the one with the </a:t>
                </a:r>
                <a:r>
                  <a:rPr lang="en-US" b="1" dirty="0"/>
                  <a:t>highest information gain</a:t>
                </a:r>
                <a:r>
                  <a:rPr lang="en-US" dirty="0"/>
                  <a:t>.</a:t>
                </a:r>
              </a:p>
              <a:p>
                <a:r>
                  <a:rPr lang="en-US" dirty="0"/>
                  <a:t>Then split the data into:</a:t>
                </a:r>
              </a:p>
              <a:p>
                <a:pPr lvl="1"/>
                <a:r>
                  <a:rPr lang="en-US" sz="1200" i="0" kern="1200">
                    <a:solidFill>
                      <a:schemeClr val="tx1"/>
                    </a:solidFill>
                    <a:latin typeface="+mn-lt"/>
                    <a:ea typeface="+mn-ea"/>
                    <a:cs typeface="+mn-cs"/>
                  </a:rPr>
                  <a:t>𝐴≤𝑃</a:t>
                </a:r>
                <a:endParaRPr lang="en-US" dirty="0"/>
              </a:p>
              <a:p>
                <a:pPr lvl="1"/>
                <a:r>
                  <a:rPr lang="en-US" sz="1200" i="0" kern="1200">
                    <a:solidFill>
                      <a:schemeClr val="tx1"/>
                    </a:solidFill>
                    <a:latin typeface="+mn-lt"/>
                    <a:ea typeface="+mn-ea"/>
                    <a:cs typeface="+mn-cs"/>
                  </a:rPr>
                  <a:t>𝐴&gt;𝑃</a:t>
                </a:r>
                <a:endParaRPr lang="en-US" dirty="0"/>
              </a:p>
              <a:p>
                <a:r>
                  <a:rPr lang="en-US" b="1" dirty="0"/>
                  <a:t>Main idea</a:t>
                </a:r>
              </a:p>
              <a:p>
                <a:r>
                  <a:rPr lang="en-US" dirty="0"/>
                  <a:t>A continuous attribute can be handled either by converting it into ranges or by choosing the best threshold that gives the best split.</a:t>
                </a:r>
              </a:p>
              <a:p>
                <a:endParaRPr lang="en-US" altLang="en-US" dirty="0"/>
              </a:p>
            </p:txBody>
          </p:sp>
        </mc:Fallback>
      </mc:AlternateContent>
    </p:spTree>
    <p:extLst>
      <p:ext uri="{BB962C8B-B14F-4D97-AF65-F5344CB8AC3E}">
        <p14:creationId xmlns:p14="http://schemas.microsoft.com/office/powerpoint/2010/main" val="3687219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6E258012-6DB2-4CC9-8072-08F07F0EC1C4}" type="slidenum">
              <a:rPr lang="en-US" smtClean="0"/>
              <a:pPr/>
              <a:t>26</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B50917DC-8C2E-4696-81FF-39BDCF47834A}" type="slidenum">
              <a:rPr lang="en-US" smtClean="0"/>
              <a:pPr/>
              <a:t>27</a:t>
            </a:fld>
            <a:endParaRPr 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r>
              <a:rPr lang="en-US" b="1" dirty="0"/>
              <a:t>Attribute Selection Measures</a:t>
            </a:r>
          </a:p>
          <a:p>
            <a:r>
              <a:rPr lang="en-US" dirty="0"/>
              <a:t>An </a:t>
            </a:r>
            <a:r>
              <a:rPr lang="en-US" b="1" dirty="0"/>
              <a:t>attribute selection measure</a:t>
            </a:r>
            <a:r>
              <a:rPr lang="en-US" dirty="0"/>
              <a:t> is a rule used to choose the </a:t>
            </a:r>
            <a:r>
              <a:rPr lang="en-US" b="1" dirty="0"/>
              <a:t>best attribute for splitting</a:t>
            </a:r>
            <a:r>
              <a:rPr lang="en-US" dirty="0"/>
              <a:t> at a decision tree node.</a:t>
            </a:r>
          </a:p>
          <a:p>
            <a:r>
              <a:rPr lang="en-US" dirty="0"/>
              <a:t>The goal is to split the data so that the resulting groups become as </a:t>
            </a:r>
            <a:r>
              <a:rPr lang="en-US" b="1" dirty="0"/>
              <a:t>pure as possible</a:t>
            </a:r>
            <a:r>
              <a:rPr lang="en-US" dirty="0"/>
              <a:t>.</a:t>
            </a:r>
          </a:p>
          <a:p>
            <a:r>
              <a:rPr lang="en-US" dirty="0"/>
              <a:t>A </a:t>
            </a:r>
            <a:r>
              <a:rPr lang="en-US" b="1" dirty="0"/>
              <a:t>pure partition</a:t>
            </a:r>
            <a:r>
              <a:rPr lang="en-US" dirty="0"/>
              <a:t> means most or all tuples in that group belong to the </a:t>
            </a:r>
            <a:r>
              <a:rPr lang="en-US" b="1" dirty="0"/>
              <a:t>same class</a:t>
            </a:r>
            <a:r>
              <a:rPr lang="en-US" dirty="0"/>
              <a:t>.</a:t>
            </a:r>
          </a:p>
          <a:p>
            <a:r>
              <a:rPr lang="en-US" b="1" dirty="0"/>
              <a:t>Why it is needed</a:t>
            </a:r>
          </a:p>
          <a:p>
            <a:r>
              <a:rPr lang="en-US" dirty="0"/>
              <a:t>It decides how the data at a node should be split.</a:t>
            </a:r>
          </a:p>
          <a:p>
            <a:r>
              <a:rPr lang="en-US" dirty="0"/>
              <a:t>It also gives a </a:t>
            </a:r>
            <a:r>
              <a:rPr lang="en-US" b="1" dirty="0"/>
              <a:t>ranking of attributes</a:t>
            </a:r>
            <a:r>
              <a:rPr lang="en-US" dirty="0"/>
              <a:t>, so the best one can be selected.</a:t>
            </a:r>
          </a:p>
          <a:p>
            <a:r>
              <a:rPr lang="en-US" b="1" dirty="0"/>
              <a:t>Common methods</a:t>
            </a:r>
          </a:p>
          <a:p>
            <a:r>
              <a:rPr lang="en-US" b="1" dirty="0"/>
              <a:t>Information Gain</a:t>
            </a:r>
            <a:endParaRPr lang="en-US" dirty="0"/>
          </a:p>
          <a:p>
            <a:r>
              <a:rPr lang="en-US" b="1" dirty="0"/>
              <a:t>Gain Ratio</a:t>
            </a:r>
            <a:endParaRPr lang="en-US" dirty="0"/>
          </a:p>
          <a:p>
            <a:r>
              <a:rPr lang="en-US" b="1" dirty="0"/>
              <a:t>Gini Index</a:t>
            </a:r>
            <a:endParaRPr lang="en-US" dirty="0"/>
          </a:p>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txBox="1">
            <a:spLocks noGrp="1" noChangeArrowheads="1"/>
          </p:cNvSpPr>
          <p:nvPr/>
        </p:nvSpPr>
        <p:spPr bwMode="auto">
          <a:xfrm>
            <a:off x="3971927" y="8831422"/>
            <a:ext cx="3038475" cy="464980"/>
          </a:xfrm>
          <a:prstGeom prst="rect">
            <a:avLst/>
          </a:prstGeom>
          <a:noFill/>
          <a:ln w="9525">
            <a:noFill/>
            <a:miter lim="800000"/>
            <a:headEnd/>
            <a:tailEnd/>
          </a:ln>
        </p:spPr>
        <p:txBody>
          <a:bodyPr lIns="93500" tIns="46753" rIns="93500" bIns="46753" anchor="b"/>
          <a:lstStyle/>
          <a:p>
            <a:pPr algn="r" defTabSz="935178"/>
            <a:fld id="{D7450BE2-CD82-44E1-87D8-89131E24FFFD}" type="slidenum">
              <a:rPr lang="en-US" sz="1200">
                <a:latin typeface="Times New Roman" pitchFamily="18" charset="0"/>
              </a:rPr>
              <a:pPr algn="r" defTabSz="935178"/>
              <a:t>28</a:t>
            </a:fld>
            <a:endParaRPr lang="en-US" sz="1200" dirty="0">
              <a:latin typeface="Times New Roman" pitchFamily="1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284861E8-2F7B-4C38-B56F-568D826B55D6}" type="slidenum">
              <a:rPr lang="en-US" smtClean="0"/>
              <a:pPr/>
              <a:t>29</a:t>
            </a:fld>
            <a:endParaRPr 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122EE980-D675-4827-8788-D067E3091E48}" type="slidenum">
              <a:rPr lang="en-US" smtClean="0"/>
              <a:pPr/>
              <a:t>31</a:t>
            </a:fld>
            <a:endParaRPr lang="en-US"/>
          </a:p>
        </p:txBody>
      </p:sp>
      <p:sp>
        <p:nvSpPr>
          <p:cNvPr id="100355"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100356" name="Rectangle 3"/>
              <p:cNvSpPr>
                <a:spLocks noGrp="1" noChangeArrowheads="1"/>
              </p:cNvSpPr>
              <p:nvPr>
                <p:ph type="body" idx="1"/>
              </p:nvPr>
            </p:nvSpPr>
            <p:spPr>
              <a:noFill/>
              <a:ln/>
            </p:spPr>
            <p:txBody>
              <a:bodyPr/>
              <a:lstStyle/>
              <a:p>
                <a:r>
                  <a:rPr lang="en-US" b="1" dirty="0"/>
                  <a:t>Information Gain for Continuous-Valued Attributes</a:t>
                </a:r>
              </a:p>
              <a:p>
                <a:r>
                  <a:rPr lang="en-US" dirty="0"/>
                  <a:t>If an attribute </a:t>
                </a:r>
                <a:r>
                  <a:rPr lang="en-US" b="1" dirty="0"/>
                  <a:t>A</a:t>
                </a:r>
                <a:r>
                  <a:rPr lang="en-US" dirty="0"/>
                  <a:t> is continuous (like </a:t>
                </a:r>
                <a:r>
                  <a:rPr lang="en-US" b="1" dirty="0"/>
                  <a:t>age, salary, temperature</a:t>
                </a:r>
                <a:r>
                  <a:rPr lang="en-US" dirty="0"/>
                  <a:t>), we cannot split it by fixed categories directly.</a:t>
                </a:r>
                <a:br>
                  <a:rPr lang="en-US" dirty="0"/>
                </a:br>
                <a:r>
                  <a:rPr lang="en-US" dirty="0"/>
                  <a:t>So we must find the </a:t>
                </a:r>
                <a:r>
                  <a:rPr lang="en-US" b="1" dirty="0"/>
                  <a:t>best split point</a:t>
                </a:r>
                <a:r>
                  <a:rPr lang="en-US" dirty="0"/>
                  <a:t>.</a:t>
                </a:r>
              </a:p>
              <a:p>
                <a:r>
                  <a:rPr lang="en-US" b="1" dirty="0"/>
                  <a:t>How it works</a:t>
                </a:r>
              </a:p>
              <a:p>
                <a:r>
                  <a:rPr lang="en-US" b="1" dirty="0"/>
                  <a:t>Sort</a:t>
                </a:r>
                <a:r>
                  <a:rPr lang="en-US" dirty="0"/>
                  <a:t> all values of attribute </a:t>
                </a:r>
                <a:r>
                  <a:rPr lang="en-US" b="1" dirty="0"/>
                  <a:t>A</a:t>
                </a:r>
                <a:r>
                  <a:rPr lang="en-US" dirty="0"/>
                  <a:t> in increasing order.</a:t>
                </a:r>
              </a:p>
              <a:p>
                <a:r>
                  <a:rPr lang="en-US" dirty="0"/>
                  <a:t>Take the </a:t>
                </a:r>
                <a:r>
                  <a:rPr lang="en-US" b="1" dirty="0"/>
                  <a:t>midpoint between every two adjacent values</a:t>
                </a:r>
                <a:r>
                  <a:rPr lang="en-US" dirty="0"/>
                  <a:t> as a possible split point.</a:t>
                </a:r>
                <a:br>
                  <a:rPr lang="en-US" dirty="0"/>
                </a:br>
                <a:r>
                  <a:rPr lang="en-US" dirty="0"/>
                  <a:t>If two values are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𝑎</m:t>
                        </m:r>
                      </m:e>
                      <m:sub>
                        <m:r>
                          <a:rPr lang="ar-AE" sz="1200" i="1" kern="1200">
                            <a:solidFill>
                              <a:schemeClr val="tx1"/>
                            </a:solidFill>
                            <a:latin typeface="Cambria Math" panose="02040503050406030204" pitchFamily="18" charset="0"/>
                            <a:ea typeface="+mn-ea"/>
                            <a:cs typeface="+mn-cs"/>
                          </a:rPr>
                          <m:t>𝑖</m:t>
                        </m:r>
                      </m:sub>
                    </m:sSub>
                  </m:oMath>
                </a14:m>
                <a:r>
                  <a:rPr lang="en-US" dirty="0"/>
                  <a:t>and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𝑎</m:t>
                        </m:r>
                      </m:e>
                      <m:sub>
                        <m:r>
                          <a:rPr lang="ar-AE" sz="1200" i="1" kern="1200">
                            <a:solidFill>
                              <a:schemeClr val="tx1"/>
                            </a:solidFill>
                            <a:latin typeface="Cambria Math" panose="02040503050406030204" pitchFamily="18" charset="0"/>
                            <a:ea typeface="+mn-ea"/>
                            <a:cs typeface="+mn-cs"/>
                          </a:rPr>
                          <m:t>𝑖</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ub>
                    </m:sSub>
                  </m:oMath>
                </a14:m>
                <a:r>
                  <a:rPr lang="ar-AE" dirty="0"/>
                  <a:t>, </a:t>
                </a:r>
                <a:r>
                  <a:rPr lang="en-US" dirty="0"/>
                  <a:t>then candidate split point is:</a:t>
                </a:r>
              </a:p>
              <a:p>
                <a:pPr/>
                <a14:m>
                  <m:oMathPara xmlns:m="http://schemas.openxmlformats.org/officeDocument/2006/math">
                    <m:oMathParaPr>
                      <m:jc m:val="centerGroup"/>
                    </m:oMathParaPr>
                    <m:oMath xmlns:m="http://schemas.openxmlformats.org/officeDocument/2006/math">
                      <m:f>
                        <m:fPr>
                          <m:ctrlPr>
                            <a:rPr lang="ar-AE" sz="1200" i="1" kern="1200">
                              <a:solidFill>
                                <a:schemeClr val="tx1"/>
                              </a:solidFill>
                              <a:latin typeface="Cambria Math" panose="02040503050406030204" pitchFamily="18" charset="0"/>
                              <a:ea typeface="+mn-ea"/>
                              <a:cs typeface="+mn-cs"/>
                            </a:rPr>
                          </m:ctrlPr>
                        </m:fPr>
                        <m:num>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𝑎</m:t>
                              </m:r>
                            </m:e>
                            <m:sub>
                              <m:r>
                                <a:rPr lang="ar-AE" sz="1200" i="1" kern="1200">
                                  <a:solidFill>
                                    <a:schemeClr val="tx1"/>
                                  </a:solidFill>
                                  <a:latin typeface="Cambria Math" panose="02040503050406030204" pitchFamily="18" charset="0"/>
                                  <a:ea typeface="+mn-ea"/>
                                  <a:cs typeface="+mn-cs"/>
                                </a:rPr>
                                <m:t>𝑖</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𝑎</m:t>
                              </m:r>
                            </m:e>
                            <m:sub>
                              <m:r>
                                <a:rPr lang="ar-AE" sz="1200" i="1" kern="1200">
                                  <a:solidFill>
                                    <a:schemeClr val="tx1"/>
                                  </a:solidFill>
                                  <a:latin typeface="Cambria Math" panose="02040503050406030204" pitchFamily="18" charset="0"/>
                                  <a:ea typeface="+mn-ea"/>
                                  <a:cs typeface="+mn-cs"/>
                                </a:rPr>
                                <m:t>𝑖</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ub>
                          </m:sSub>
                        </m:num>
                        <m:den>
                          <m:r>
                            <a:rPr lang="ar-AE" sz="1200" i="0" kern="1200">
                              <a:solidFill>
                                <a:schemeClr val="tx1"/>
                              </a:solidFill>
                              <a:latin typeface="Cambria Math" panose="02040503050406030204" pitchFamily="18" charset="0"/>
                              <a:ea typeface="+mn-ea"/>
                              <a:cs typeface="+mn-cs"/>
                            </a:rPr>
                            <m:t>2</m:t>
                          </m:r>
                        </m:den>
                      </m:f>
                    </m:oMath>
                  </m:oMathPara>
                </a14:m>
                <a:endParaRPr lang="ar-AE" dirty="0"/>
              </a:p>
              <a:p>
                <a:r>
                  <a:rPr lang="en-US" dirty="0"/>
                  <a:t>For each candidate split point, divide the data into two groups:</a:t>
                </a:r>
              </a:p>
              <a:p>
                <a:pPr lvl="1"/>
                <a:r>
                  <a:rPr lang="en-US" b="1" dirty="0"/>
                  <a:t>D1:</a:t>
                </a:r>
                <a:r>
                  <a:rPr lang="en-US" dirty="0"/>
                  <a:t> tuples with </a:t>
                </a:r>
                <a14:m>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m:t>
                    </m:r>
                  </m:oMath>
                </a14:m>
                <a:r>
                  <a:rPr lang="en-US" dirty="0"/>
                  <a:t>split point</a:t>
                </a:r>
              </a:p>
              <a:p>
                <a:pPr lvl="1"/>
                <a:r>
                  <a:rPr lang="en-US" b="1" dirty="0"/>
                  <a:t>D2:</a:t>
                </a:r>
                <a:r>
                  <a:rPr lang="en-US" dirty="0"/>
                  <a:t> tuples with </a:t>
                </a:r>
                <a14:m>
                  <m:oMath xmlns:m="http://schemas.openxmlformats.org/officeDocument/2006/math">
                    <m:r>
                      <a:rPr lang="en-US" sz="1200" i="1" kern="1200">
                        <a:solidFill>
                          <a:schemeClr val="tx1"/>
                        </a:solidFill>
                        <a:latin typeface="Cambria Math" panose="02040503050406030204" pitchFamily="18" charset="0"/>
                        <a:ea typeface="+mn-ea"/>
                        <a:cs typeface="+mn-cs"/>
                      </a:rPr>
                      <m:t>𝐴</m:t>
                    </m:r>
                    <m:r>
                      <a:rPr lang="en-US" sz="1200" i="0" kern="1200">
                        <a:solidFill>
                          <a:schemeClr val="tx1"/>
                        </a:solidFill>
                        <a:latin typeface="Cambria Math" panose="02040503050406030204" pitchFamily="18" charset="0"/>
                        <a:ea typeface="+mn-ea"/>
                        <a:cs typeface="+mn-cs"/>
                      </a:rPr>
                      <m:t>&gt;</m:t>
                    </m:r>
                  </m:oMath>
                </a14:m>
                <a:r>
                  <a:rPr lang="en-US" dirty="0"/>
                  <a:t>split point</a:t>
                </a:r>
              </a:p>
              <a:p>
                <a:r>
                  <a:rPr lang="en-US" dirty="0"/>
                  <a:t>Compute the </a:t>
                </a:r>
                <a:r>
                  <a:rPr lang="en-US" b="1" dirty="0"/>
                  <a:t>expected information (entropy after split)</a:t>
                </a:r>
                <a:r>
                  <a:rPr lang="en-US" dirty="0"/>
                  <a:t> for each candidate.</a:t>
                </a:r>
              </a:p>
              <a:p>
                <a:r>
                  <a:rPr lang="en-US" dirty="0"/>
                  <a:t>Choose the split point with the </a:t>
                </a:r>
                <a:r>
                  <a:rPr lang="en-US" b="1" dirty="0"/>
                  <a:t>minimum expected information</a:t>
                </a:r>
                <a:br>
                  <a:rPr lang="en-US" dirty="0"/>
                </a:br>
                <a:r>
                  <a:rPr lang="en-US" dirty="0"/>
                  <a:t>(equivalently, the </a:t>
                </a:r>
                <a:r>
                  <a:rPr lang="en-US" b="1" dirty="0"/>
                  <a:t>maximum information gain</a:t>
                </a:r>
                <a:r>
                  <a:rPr lang="en-US" dirty="0"/>
                  <a:t>).</a:t>
                </a:r>
              </a:p>
              <a:p>
                <a:r>
                  <a:rPr lang="en-US" b="1" dirty="0"/>
                  <a:t>Main meaning</a:t>
                </a:r>
              </a:p>
              <a:p>
                <a:r>
                  <a:rPr lang="en-US" dirty="0"/>
                  <a:t>We test many possible cut points and choose the one that separates the classes </a:t>
                </a:r>
                <a:r>
                  <a:rPr lang="en-US" b="1" dirty="0"/>
                  <a:t>best</a:t>
                </a:r>
                <a:r>
                  <a:rPr lang="en-US" dirty="0"/>
                  <a:t>.</a:t>
                </a:r>
              </a:p>
              <a:p>
                <a:endParaRPr lang="en-US" dirty="0"/>
              </a:p>
            </p:txBody>
          </p:sp>
        </mc:Choice>
        <mc:Fallback xmlns="">
          <p:sp>
            <p:nvSpPr>
              <p:cNvPr id="100356" name="Rectangle 3"/>
              <p:cNvSpPr>
                <a:spLocks noGrp="1" noChangeArrowheads="1"/>
              </p:cNvSpPr>
              <p:nvPr>
                <p:ph type="body" idx="1"/>
              </p:nvPr>
            </p:nvSpPr>
            <p:spPr>
              <a:noFill/>
              <a:ln/>
            </p:spPr>
            <p:txBody>
              <a:bodyPr/>
              <a:lstStyle/>
              <a:p>
                <a:r>
                  <a:rPr lang="en-US" b="1" dirty="0"/>
                  <a:t>Information Gain for Continuous-Valued Attributes</a:t>
                </a:r>
              </a:p>
              <a:p>
                <a:r>
                  <a:rPr lang="en-US" dirty="0"/>
                  <a:t>If an attribute </a:t>
                </a:r>
                <a:r>
                  <a:rPr lang="en-US" b="1" dirty="0"/>
                  <a:t>A</a:t>
                </a:r>
                <a:r>
                  <a:rPr lang="en-US" dirty="0"/>
                  <a:t> is continuous (like </a:t>
                </a:r>
                <a:r>
                  <a:rPr lang="en-US" b="1" dirty="0"/>
                  <a:t>age, salary, temperature</a:t>
                </a:r>
                <a:r>
                  <a:rPr lang="en-US" dirty="0"/>
                  <a:t>), we cannot split it by fixed categories directly.</a:t>
                </a:r>
                <a:br>
                  <a:rPr lang="en-US" dirty="0"/>
                </a:br>
                <a:r>
                  <a:rPr lang="en-US" dirty="0"/>
                  <a:t>So we must find the </a:t>
                </a:r>
                <a:r>
                  <a:rPr lang="en-US" b="1" dirty="0"/>
                  <a:t>best split point</a:t>
                </a:r>
                <a:r>
                  <a:rPr lang="en-US" dirty="0"/>
                  <a:t>.</a:t>
                </a:r>
              </a:p>
              <a:p>
                <a:r>
                  <a:rPr lang="en-US" b="1" dirty="0"/>
                  <a:t>How it works</a:t>
                </a:r>
              </a:p>
              <a:p>
                <a:r>
                  <a:rPr lang="en-US" b="1" dirty="0"/>
                  <a:t>Sort</a:t>
                </a:r>
                <a:r>
                  <a:rPr lang="en-US" dirty="0"/>
                  <a:t> all values of attribute </a:t>
                </a:r>
                <a:r>
                  <a:rPr lang="en-US" b="1" dirty="0"/>
                  <a:t>A</a:t>
                </a:r>
                <a:r>
                  <a:rPr lang="en-US" dirty="0"/>
                  <a:t> in increasing order.</a:t>
                </a:r>
              </a:p>
              <a:p>
                <a:r>
                  <a:rPr lang="en-US" dirty="0"/>
                  <a:t>Take the </a:t>
                </a:r>
                <a:r>
                  <a:rPr lang="en-US" b="1" dirty="0"/>
                  <a:t>midpoint between every two adjacent values</a:t>
                </a:r>
                <a:r>
                  <a:rPr lang="en-US" dirty="0"/>
                  <a:t> as a possible split point.</a:t>
                </a:r>
                <a:br>
                  <a:rPr lang="en-US" dirty="0"/>
                </a:br>
                <a:r>
                  <a:rPr lang="en-US" dirty="0"/>
                  <a:t>If two values are </a:t>
                </a:r>
                <a:r>
                  <a:rPr lang="ar-AE" sz="1200" i="0" kern="1200">
                    <a:solidFill>
                      <a:schemeClr val="tx1"/>
                    </a:solidFill>
                    <a:latin typeface="+mn-lt"/>
                    <a:ea typeface="+mn-ea"/>
                    <a:cs typeface="+mn-cs"/>
                  </a:rPr>
                  <a:t>𝑎_𝑖</a:t>
                </a:r>
                <a:r>
                  <a:rPr lang="en-US" dirty="0"/>
                  <a:t>and </a:t>
                </a:r>
                <a:r>
                  <a:rPr lang="ar-AE" sz="1200" i="0" kern="1200">
                    <a:solidFill>
                      <a:schemeClr val="tx1"/>
                    </a:solidFill>
                    <a:latin typeface="+mn-lt"/>
                    <a:ea typeface="+mn-ea"/>
                    <a:cs typeface="+mn-cs"/>
                  </a:rPr>
                  <a:t>𝑎_(𝑖+1)</a:t>
                </a:r>
                <a:r>
                  <a:rPr lang="ar-AE" dirty="0"/>
                  <a:t>, </a:t>
                </a:r>
                <a:r>
                  <a:rPr lang="en-US" dirty="0"/>
                  <a:t>then candidate split point is:</a:t>
                </a:r>
              </a:p>
              <a:p>
                <a:r>
                  <a:rPr lang="ar-AE" sz="1200" i="0" kern="1200">
                    <a:solidFill>
                      <a:schemeClr val="tx1"/>
                    </a:solidFill>
                    <a:latin typeface="+mn-lt"/>
                    <a:ea typeface="+mn-ea"/>
                    <a:cs typeface="+mn-cs"/>
                  </a:rPr>
                  <a:t>(𝑎_𝑖+𝑎_(𝑖+1))/2</a:t>
                </a:r>
                <a:endParaRPr lang="ar-AE" dirty="0"/>
              </a:p>
              <a:p>
                <a:r>
                  <a:rPr lang="en-US" dirty="0"/>
                  <a:t>For each candidate split point, divide the data into two groups:</a:t>
                </a:r>
              </a:p>
              <a:p>
                <a:pPr lvl="1"/>
                <a:r>
                  <a:rPr lang="en-US" b="1" dirty="0"/>
                  <a:t>D1:</a:t>
                </a:r>
                <a:r>
                  <a:rPr lang="en-US" dirty="0"/>
                  <a:t> tuples with </a:t>
                </a:r>
                <a:r>
                  <a:rPr lang="en-US" sz="1200" i="0" kern="1200">
                    <a:solidFill>
                      <a:schemeClr val="tx1"/>
                    </a:solidFill>
                    <a:latin typeface="+mn-lt"/>
                    <a:ea typeface="+mn-ea"/>
                    <a:cs typeface="+mn-cs"/>
                  </a:rPr>
                  <a:t>𝐴≤</a:t>
                </a:r>
                <a:r>
                  <a:rPr lang="en-US" dirty="0"/>
                  <a:t>split point</a:t>
                </a:r>
              </a:p>
              <a:p>
                <a:pPr lvl="1"/>
                <a:r>
                  <a:rPr lang="en-US" b="1" dirty="0"/>
                  <a:t>D2:</a:t>
                </a:r>
                <a:r>
                  <a:rPr lang="en-US" dirty="0"/>
                  <a:t> tuples with </a:t>
                </a:r>
                <a:r>
                  <a:rPr lang="en-US" sz="1200" i="0" kern="1200">
                    <a:solidFill>
                      <a:schemeClr val="tx1"/>
                    </a:solidFill>
                    <a:latin typeface="+mn-lt"/>
                    <a:ea typeface="+mn-ea"/>
                    <a:cs typeface="+mn-cs"/>
                  </a:rPr>
                  <a:t>𝐴&gt;</a:t>
                </a:r>
                <a:r>
                  <a:rPr lang="en-US" dirty="0"/>
                  <a:t>split point</a:t>
                </a:r>
              </a:p>
              <a:p>
                <a:r>
                  <a:rPr lang="en-US" dirty="0"/>
                  <a:t>Compute the </a:t>
                </a:r>
                <a:r>
                  <a:rPr lang="en-US" b="1" dirty="0"/>
                  <a:t>expected information (entropy after split)</a:t>
                </a:r>
                <a:r>
                  <a:rPr lang="en-US" dirty="0"/>
                  <a:t> for each candidate.</a:t>
                </a:r>
              </a:p>
              <a:p>
                <a:r>
                  <a:rPr lang="en-US" dirty="0"/>
                  <a:t>Choose the split point with the </a:t>
                </a:r>
                <a:r>
                  <a:rPr lang="en-US" b="1" dirty="0"/>
                  <a:t>minimum expected information</a:t>
                </a:r>
                <a:br>
                  <a:rPr lang="en-US" dirty="0"/>
                </a:br>
                <a:r>
                  <a:rPr lang="en-US" dirty="0"/>
                  <a:t>(equivalently, the </a:t>
                </a:r>
                <a:r>
                  <a:rPr lang="en-US" b="1" dirty="0"/>
                  <a:t>maximum information gain</a:t>
                </a:r>
                <a:r>
                  <a:rPr lang="en-US" dirty="0"/>
                  <a:t>).</a:t>
                </a:r>
              </a:p>
              <a:p>
                <a:r>
                  <a:rPr lang="en-US" b="1" dirty="0"/>
                  <a:t>Main meaning</a:t>
                </a:r>
              </a:p>
              <a:p>
                <a:r>
                  <a:rPr lang="en-US" dirty="0"/>
                  <a:t>We test many possible cut points and choose the one that separates the classes </a:t>
                </a:r>
                <a:r>
                  <a:rPr lang="en-US" b="1" dirty="0"/>
                  <a:t>best</a:t>
                </a:r>
                <a:r>
                  <a:rPr lang="en-US" dirty="0"/>
                  <a:t>.</a:t>
                </a:r>
              </a:p>
              <a:p>
                <a:endParaRPr lang="en-US" dirty="0"/>
              </a:p>
            </p:txBody>
          </p:sp>
        </mc:Fallback>
      </mc:AlternateContent>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0E9B78EE-3AC9-46EC-8F45-D62C174BAF66}" type="slidenum">
              <a:rPr lang="en-US" smtClean="0"/>
              <a:pPr/>
              <a:t>32</a:t>
            </a:fld>
            <a:endParaRPr lang="en-US"/>
          </a:p>
        </p:txBody>
      </p:sp>
      <p:sp>
        <p:nvSpPr>
          <p:cNvPr id="101379"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101380" name="Rectangle 3"/>
              <p:cNvSpPr>
                <a:spLocks noGrp="1" noChangeArrowheads="1"/>
              </p:cNvSpPr>
              <p:nvPr>
                <p:ph type="body" idx="1"/>
              </p:nvPr>
            </p:nvSpPr>
            <p:spPr>
              <a:noFill/>
              <a:ln/>
            </p:spPr>
            <p:txBody>
              <a:bodyPr/>
              <a:lstStyle/>
              <a:p>
                <a:r>
                  <a:rPr lang="en-US" b="1" dirty="0"/>
                  <a:t>Gain Ratio — simple</a:t>
                </a:r>
              </a:p>
              <a:p>
                <a:r>
                  <a:rPr lang="en-US" b="1" dirty="0"/>
                  <a:t>Information Gain</a:t>
                </a:r>
                <a:r>
                  <a:rPr lang="en-US" dirty="0"/>
                  <a:t> is biased toward attributes that have </a:t>
                </a:r>
                <a:r>
                  <a:rPr lang="en-US" b="1" dirty="0"/>
                  <a:t>many different values</a:t>
                </a:r>
                <a:r>
                  <a:rPr lang="en-US" dirty="0"/>
                  <a:t>.</a:t>
                </a:r>
              </a:p>
              <a:p>
                <a:r>
                  <a:rPr lang="en-US" dirty="0"/>
                  <a:t>Example: a </a:t>
                </a:r>
                <a:r>
                  <a:rPr lang="en-US" b="1" dirty="0"/>
                  <a:t>unique ID</a:t>
                </a:r>
                <a:r>
                  <a:rPr lang="en-US" dirty="0"/>
                  <a:t> attribute</a:t>
                </a:r>
              </a:p>
              <a:p>
                <a:pPr lvl="1"/>
                <a:r>
                  <a:rPr lang="en-US" dirty="0"/>
                  <a:t>It can split data into many tiny groups</a:t>
                </a:r>
              </a:p>
              <a:p>
                <a:pPr lvl="1"/>
                <a:r>
                  <a:rPr lang="en-US" dirty="0"/>
                  <a:t>Often </a:t>
                </a:r>
                <a:r>
                  <a:rPr lang="en-US" b="1" dirty="0"/>
                  <a:t>one record per group</a:t>
                </a:r>
                <a:endParaRPr lang="en-US" dirty="0"/>
              </a:p>
              <a:p>
                <a:pPr lvl="1"/>
                <a:r>
                  <a:rPr lang="en-US" dirty="0"/>
                  <a:t>Then each group becomes </a:t>
                </a:r>
                <a:r>
                  <a:rPr lang="en-US" b="1" dirty="0"/>
                  <a:t>pure</a:t>
                </a:r>
                <a:r>
                  <a:rPr lang="en-US" dirty="0"/>
                  <a:t> </a:t>
                </a:r>
                <a14:m>
                  <m:oMath xmlns:m="http://schemas.openxmlformats.org/officeDocument/2006/math">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𝐼𝑛𝑓𝑜</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e>
                    </m:d>
                  </m:oMath>
                </a14:m>
                <a:endParaRPr lang="ar-AE" dirty="0"/>
              </a:p>
              <a:p>
                <a:pPr lvl="1"/>
                <a:r>
                  <a:rPr lang="en-US" dirty="0"/>
                  <a:t>So Information Gain becomes </a:t>
                </a:r>
                <a:r>
                  <a:rPr lang="en-US" b="1" dirty="0"/>
                  <a:t>very high</a:t>
                </a:r>
                <a:endParaRPr lang="en-US" dirty="0"/>
              </a:p>
              <a:p>
                <a:pPr lvl="1"/>
                <a:r>
                  <a:rPr lang="en-US" dirty="0"/>
                  <a:t>But this split is </a:t>
                </a:r>
                <a:r>
                  <a:rPr lang="en-US" b="1" dirty="0"/>
                  <a:t>not really useful</a:t>
                </a:r>
                <a:r>
                  <a:rPr lang="en-US" dirty="0"/>
                  <a:t> for prediction</a:t>
                </a:r>
              </a:p>
              <a:p>
                <a:r>
                  <a:rPr lang="en-US" b="1" dirty="0"/>
                  <a:t>Why Gain Ratio is used</a:t>
                </a:r>
              </a:p>
              <a:p>
                <a:r>
                  <a:rPr lang="en-US" b="1" dirty="0"/>
                  <a:t>Gain Ratio</a:t>
                </a:r>
                <a:r>
                  <a:rPr lang="en-US" dirty="0"/>
                  <a:t> is an extension of Information Gain</a:t>
                </a:r>
              </a:p>
              <a:p>
                <a:r>
                  <a:rPr lang="en-US" dirty="0"/>
                  <a:t>It reduces this </a:t>
                </a:r>
                <a:r>
                  <a:rPr lang="en-US" b="1" dirty="0"/>
                  <a:t>bias</a:t>
                </a:r>
                <a:endParaRPr lang="en-US" dirty="0"/>
              </a:p>
              <a:p>
                <a:r>
                  <a:rPr lang="en-US" dirty="0"/>
                  <a:t>It does this by </a:t>
                </a:r>
                <a:r>
                  <a:rPr lang="en-US" b="1" dirty="0"/>
                  <a:t>normalizing</a:t>
                </a:r>
                <a:r>
                  <a:rPr lang="en-US" dirty="0"/>
                  <a:t> Information Gain using </a:t>
                </a:r>
                <a:r>
                  <a:rPr lang="en-US" b="1" dirty="0"/>
                  <a:t>split information</a:t>
                </a:r>
                <a:endParaRPr lang="en-US" dirty="0"/>
              </a:p>
              <a:p>
                <a:r>
                  <a:rPr lang="en-US" b="1" dirty="0"/>
                  <a:t>Main idea</a:t>
                </a:r>
              </a:p>
              <a:p>
                <a:r>
                  <a:rPr lang="en-US" b="1" dirty="0"/>
                  <a:t>Information Gain</a:t>
                </a:r>
                <a:r>
                  <a:rPr lang="en-US" dirty="0"/>
                  <a:t> = how much uncertainty is reduced</a:t>
                </a:r>
              </a:p>
              <a:p>
                <a:r>
                  <a:rPr lang="en-US" b="1" dirty="0"/>
                  <a:t>Gain Ratio</a:t>
                </a:r>
                <a:r>
                  <a:rPr lang="en-US" dirty="0"/>
                  <a:t> = information gain adjusted so attributes with too many values are not unfairly favored</a:t>
                </a:r>
              </a:p>
              <a:p>
                <a:endParaRPr lang="en-US" dirty="0"/>
              </a:p>
            </p:txBody>
          </p:sp>
        </mc:Choice>
        <mc:Fallback xmlns="">
          <p:sp>
            <p:nvSpPr>
              <p:cNvPr id="101380" name="Rectangle 3"/>
              <p:cNvSpPr>
                <a:spLocks noGrp="1" noChangeArrowheads="1"/>
              </p:cNvSpPr>
              <p:nvPr>
                <p:ph type="body" idx="1"/>
              </p:nvPr>
            </p:nvSpPr>
            <p:spPr>
              <a:noFill/>
              <a:ln/>
            </p:spPr>
            <p:txBody>
              <a:bodyPr/>
              <a:lstStyle/>
              <a:p>
                <a:r>
                  <a:rPr lang="en-US" b="1" dirty="0"/>
                  <a:t>Gain Ratio — simple</a:t>
                </a:r>
              </a:p>
              <a:p>
                <a:r>
                  <a:rPr lang="en-US" b="1" dirty="0"/>
                  <a:t>Information Gain</a:t>
                </a:r>
                <a:r>
                  <a:rPr lang="en-US" dirty="0"/>
                  <a:t> is biased toward attributes that have </a:t>
                </a:r>
                <a:r>
                  <a:rPr lang="en-US" b="1" dirty="0"/>
                  <a:t>many different values</a:t>
                </a:r>
                <a:r>
                  <a:rPr lang="en-US" dirty="0"/>
                  <a:t>.</a:t>
                </a:r>
              </a:p>
              <a:p>
                <a:r>
                  <a:rPr lang="en-US" dirty="0"/>
                  <a:t>Example: a </a:t>
                </a:r>
                <a:r>
                  <a:rPr lang="en-US" b="1" dirty="0"/>
                  <a:t>unique ID</a:t>
                </a:r>
                <a:r>
                  <a:rPr lang="en-US" dirty="0"/>
                  <a:t> attribute</a:t>
                </a:r>
              </a:p>
              <a:p>
                <a:pPr lvl="1"/>
                <a:r>
                  <a:rPr lang="en-US" dirty="0"/>
                  <a:t>It can split data into many tiny groups</a:t>
                </a:r>
              </a:p>
              <a:p>
                <a:pPr lvl="1"/>
                <a:r>
                  <a:rPr lang="en-US" dirty="0"/>
                  <a:t>Often </a:t>
                </a:r>
                <a:r>
                  <a:rPr lang="en-US" b="1" dirty="0"/>
                  <a:t>one record per group</a:t>
                </a:r>
                <a:endParaRPr lang="en-US" dirty="0"/>
              </a:p>
              <a:p>
                <a:pPr lvl="1"/>
                <a:r>
                  <a:rPr lang="en-US" dirty="0"/>
                  <a:t>Then each group becomes </a:t>
                </a:r>
                <a:r>
                  <a:rPr lang="en-US" b="1" dirty="0"/>
                  <a:t>pure</a:t>
                </a:r>
                <a:r>
                  <a:rPr lang="en-US" dirty="0"/>
                  <a:t> </a:t>
                </a:r>
                <a:r>
                  <a:rPr lang="ar-AE" sz="1200" i="0" kern="1200">
                    <a:solidFill>
                      <a:schemeClr val="tx1"/>
                    </a:solidFill>
                    <a:latin typeface="+mn-lt"/>
                    <a:ea typeface="+mn-ea"/>
                    <a:cs typeface="+mn-cs"/>
                  </a:rPr>
                  <a:t>(𝐼𝑛𝑓𝑜=0)</a:t>
                </a:r>
                <a:endParaRPr lang="ar-AE" dirty="0"/>
              </a:p>
              <a:p>
                <a:pPr lvl="1"/>
                <a:r>
                  <a:rPr lang="en-US" dirty="0"/>
                  <a:t>So Information Gain becomes </a:t>
                </a:r>
                <a:r>
                  <a:rPr lang="en-US" b="1" dirty="0"/>
                  <a:t>very high</a:t>
                </a:r>
                <a:endParaRPr lang="en-US" dirty="0"/>
              </a:p>
              <a:p>
                <a:pPr lvl="1"/>
                <a:r>
                  <a:rPr lang="en-US" dirty="0"/>
                  <a:t>But this split is </a:t>
                </a:r>
                <a:r>
                  <a:rPr lang="en-US" b="1" dirty="0"/>
                  <a:t>not really useful</a:t>
                </a:r>
                <a:r>
                  <a:rPr lang="en-US" dirty="0"/>
                  <a:t> for prediction</a:t>
                </a:r>
              </a:p>
              <a:p>
                <a:r>
                  <a:rPr lang="en-US" b="1" dirty="0"/>
                  <a:t>Why Gain Ratio is used</a:t>
                </a:r>
              </a:p>
              <a:p>
                <a:r>
                  <a:rPr lang="en-US" b="1" dirty="0"/>
                  <a:t>Gain Ratio</a:t>
                </a:r>
                <a:r>
                  <a:rPr lang="en-US" dirty="0"/>
                  <a:t> is an extension of Information Gain</a:t>
                </a:r>
              </a:p>
              <a:p>
                <a:r>
                  <a:rPr lang="en-US" dirty="0"/>
                  <a:t>It reduces this </a:t>
                </a:r>
                <a:r>
                  <a:rPr lang="en-US" b="1" dirty="0"/>
                  <a:t>bias</a:t>
                </a:r>
                <a:endParaRPr lang="en-US" dirty="0"/>
              </a:p>
              <a:p>
                <a:r>
                  <a:rPr lang="en-US" dirty="0"/>
                  <a:t>It does this by </a:t>
                </a:r>
                <a:r>
                  <a:rPr lang="en-US" b="1" dirty="0"/>
                  <a:t>normalizing</a:t>
                </a:r>
                <a:r>
                  <a:rPr lang="en-US" dirty="0"/>
                  <a:t> Information Gain using </a:t>
                </a:r>
                <a:r>
                  <a:rPr lang="en-US" b="1" dirty="0"/>
                  <a:t>split information</a:t>
                </a:r>
                <a:endParaRPr lang="en-US" dirty="0"/>
              </a:p>
              <a:p>
                <a:r>
                  <a:rPr lang="en-US" b="1" dirty="0"/>
                  <a:t>Main idea</a:t>
                </a:r>
              </a:p>
              <a:p>
                <a:r>
                  <a:rPr lang="en-US" b="1" dirty="0"/>
                  <a:t>Information Gain</a:t>
                </a:r>
                <a:r>
                  <a:rPr lang="en-US" dirty="0"/>
                  <a:t> = how much uncertainty is reduced</a:t>
                </a:r>
              </a:p>
              <a:p>
                <a:r>
                  <a:rPr lang="en-US" b="1" dirty="0"/>
                  <a:t>Gain Ratio</a:t>
                </a:r>
                <a:r>
                  <a:rPr lang="en-US" dirty="0"/>
                  <a:t> = information gain adjusted so attributes with too many values are not unfairly favored</a:t>
                </a:r>
              </a:p>
              <a:p>
                <a:endParaRPr lang="en-US" dirty="0"/>
              </a:p>
            </p:txBody>
          </p:sp>
        </mc:Fallback>
      </mc:AlternateContent>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0E9B78EE-3AC9-46EC-8F45-D62C174BAF66}" type="slidenum">
              <a:rPr lang="en-US" smtClean="0"/>
              <a:pPr/>
              <a:t>33</a:t>
            </a:fld>
            <a:endParaRPr lang="en-US"/>
          </a:p>
        </p:txBody>
      </p:sp>
      <p:sp>
        <p:nvSpPr>
          <p:cNvPr id="101379"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101380" name="Rectangle 3"/>
              <p:cNvSpPr>
                <a:spLocks noGrp="1" noChangeArrowheads="1"/>
              </p:cNvSpPr>
              <p:nvPr>
                <p:ph type="body" idx="1"/>
              </p:nvPr>
            </p:nvSpPr>
            <p:spPr>
              <a:noFill/>
              <a:ln/>
            </p:spPr>
            <p:txBody>
              <a:bodyPr>
                <a:normAutofit fontScale="85000" lnSpcReduction="20000"/>
              </a:bodyPr>
              <a:lstStyle/>
              <a:p>
                <a:r>
                  <a:rPr lang="en-US" b="1" dirty="0"/>
                  <a:t>Gain Ratio — formula meaning (simple)</a:t>
                </a:r>
              </a:p>
              <a:p>
                <a:r>
                  <a:rPr lang="en-US" b="1" dirty="0"/>
                  <a:t>1. </a:t>
                </a:r>
                <a:r>
                  <a:rPr lang="en-US" b="1" dirty="0" err="1"/>
                  <a:t>SplitInfo</a:t>
                </a:r>
                <a:endParaRPr lang="en-US" b="1" dirty="0"/>
              </a:p>
              <a:p>
                <a:r>
                  <a:rPr lang="en-US" b="1" dirty="0" err="1"/>
                  <a:t>SplitInfo</a:t>
                </a:r>
                <a:r>
                  <a:rPr lang="en-US" dirty="0"/>
                  <a:t> measures how broadly attribute </a:t>
                </a:r>
                <a:r>
                  <a:rPr lang="en-US" b="1" dirty="0"/>
                  <a:t>A</a:t>
                </a:r>
                <a:r>
                  <a:rPr lang="en-US" dirty="0"/>
                  <a:t> splits the data into groups.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𝑆𝑝𝑙𝑖𝑡𝐼𝑛𝑓</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𝑜</m:t>
                          </m:r>
                        </m:e>
                        <m:sub>
                          <m:r>
                            <a:rPr lang="ar-AE" sz="1200" i="1" kern="1200">
                              <a:solidFill>
                                <a:schemeClr val="tx1"/>
                              </a:solidFill>
                              <a:latin typeface="Cambria Math" panose="02040503050406030204" pitchFamily="18" charset="0"/>
                              <a:ea typeface="+mn-ea"/>
                              <a:cs typeface="+mn-cs"/>
                            </a:rPr>
                            <m:t>𝐴</m:t>
                          </m:r>
                        </m:sub>
                      </m:sSub>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𝐷</m:t>
                          </m:r>
                        </m:e>
                      </m:d>
                      <m:r>
                        <a:rPr lang="ar-AE" sz="1200" i="0" kern="1200">
                          <a:solidFill>
                            <a:schemeClr val="tx1"/>
                          </a:solidFill>
                          <a:latin typeface="Cambria Math" panose="02040503050406030204" pitchFamily="18" charset="0"/>
                          <a:ea typeface="+mn-ea"/>
                          <a:cs typeface="+mn-cs"/>
                        </a:rPr>
                        <m:t>=−</m:t>
                      </m:r>
                      <m:nary>
                        <m:naryPr>
                          <m:chr m:val="∑"/>
                          <m:grow m:val="on"/>
                          <m:ctrlPr>
                            <a:rPr lang="ar-AE" sz="1200" i="1" kern="1200">
                              <a:solidFill>
                                <a:schemeClr val="tx1"/>
                              </a:solidFill>
                              <a:latin typeface="Cambria Math" panose="02040503050406030204" pitchFamily="18" charset="0"/>
                              <a:ea typeface="+mn-ea"/>
                              <a:cs typeface="+mn-cs"/>
                            </a:rPr>
                          </m:ctrlPr>
                        </m:naryPr>
                        <m:sub>
                          <m:r>
                            <a:rPr lang="ar-AE" sz="1200" i="1" kern="1200">
                              <a:solidFill>
                                <a:schemeClr val="tx1"/>
                              </a:solidFill>
                              <a:latin typeface="Cambria Math" panose="02040503050406030204" pitchFamily="18" charset="0"/>
                              <a:ea typeface="+mn-ea"/>
                              <a:cs typeface="+mn-cs"/>
                            </a:rPr>
                            <m:t>𝑗</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ub>
                        <m:sup>
                          <m:r>
                            <a:rPr lang="ar-AE" sz="1200" i="1" kern="1200">
                              <a:solidFill>
                                <a:schemeClr val="tx1"/>
                              </a:solidFill>
                              <a:latin typeface="Cambria Math" panose="02040503050406030204" pitchFamily="18" charset="0"/>
                              <a:ea typeface="+mn-ea"/>
                              <a:cs typeface="+mn-cs"/>
                            </a:rPr>
                            <m:t>𝑣</m:t>
                          </m:r>
                        </m:sup>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m:t>
                              </m:r>
                            </m:num>
                            <m:den>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𝐷</m:t>
                              </m:r>
                              <m:r>
                                <a:rPr lang="ar-AE" sz="1200" i="0" kern="1200">
                                  <a:solidFill>
                                    <a:schemeClr val="tx1"/>
                                  </a:solidFill>
                                  <a:latin typeface="Cambria Math" panose="02040503050406030204" pitchFamily="18" charset="0"/>
                                  <a:ea typeface="+mn-ea"/>
                                  <a:cs typeface="+mn-cs"/>
                                </a:rPr>
                                <m:t>∣</m:t>
                              </m:r>
                            </m:den>
                          </m:f>
                        </m:e>
                      </m:nary>
                      <m:sSub>
                        <m:sSubPr>
                          <m:ctrlPr>
                            <a:rPr lang="ar-AE" sz="1200" i="1" kern="1200">
                              <a:solidFill>
                                <a:schemeClr val="tx1"/>
                              </a:solidFill>
                              <a:latin typeface="Cambria Math" panose="02040503050406030204" pitchFamily="18" charset="0"/>
                              <a:ea typeface="+mn-ea"/>
                              <a:cs typeface="+mn-cs"/>
                            </a:rPr>
                          </m:ctrlPr>
                        </m:sSub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log</m:t>
                              </m:r>
                            </m:fName>
                            <m:e/>
                          </m:func>
                        </m:e>
                        <m:sub>
                          <m:r>
                            <a:rPr lang="ar-AE" sz="1200" i="0" kern="1200">
                              <a:solidFill>
                                <a:schemeClr val="tx1"/>
                              </a:solidFill>
                              <a:latin typeface="Cambria Math" panose="02040503050406030204" pitchFamily="18" charset="0"/>
                              <a:ea typeface="+mn-ea"/>
                              <a:cs typeface="+mn-cs"/>
                            </a:rPr>
                            <m:t>2</m:t>
                          </m:r>
                        </m:sub>
                      </m:sSub>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1" kern="1200">
                                      <a:solidFill>
                                        <a:schemeClr val="tx1"/>
                                      </a:solidFill>
                                      <a:latin typeface="Cambria Math" panose="02040503050406030204" pitchFamily="18" charset="0"/>
                                      <a:ea typeface="+mn-ea"/>
                                      <a:cs typeface="+mn-cs"/>
                                    </a:rPr>
                                    <m:t>𝑗</m:t>
                                  </m:r>
                                </m:sub>
                              </m:sSub>
                              <m:r>
                                <a:rPr lang="ar-AE" sz="1200" i="0" kern="1200">
                                  <a:solidFill>
                                    <a:schemeClr val="tx1"/>
                                  </a:solidFill>
                                  <a:latin typeface="Cambria Math" panose="02040503050406030204" pitchFamily="18" charset="0"/>
                                  <a:ea typeface="+mn-ea"/>
                                  <a:cs typeface="+mn-cs"/>
                                </a:rPr>
                                <m:t>∣</m:t>
                              </m:r>
                            </m:num>
                            <m:den>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𝐷</m:t>
                              </m:r>
                              <m:r>
                                <a:rPr lang="ar-AE" sz="1200" i="0" kern="1200">
                                  <a:solidFill>
                                    <a:schemeClr val="tx1"/>
                                  </a:solidFill>
                                  <a:latin typeface="Cambria Math" panose="02040503050406030204" pitchFamily="18" charset="0"/>
                                  <a:ea typeface="+mn-ea"/>
                                  <a:cs typeface="+mn-cs"/>
                                </a:rPr>
                                <m:t>∣</m:t>
                              </m:r>
                            </m:den>
                          </m:f>
                        </m:e>
                      </m:d>
                    </m:oMath>
                  </m:oMathPara>
                </a14:m>
                <a:endParaRPr lang="ar-AE" dirty="0"/>
              </a:p>
              <a:p>
                <a:r>
                  <a:rPr lang="en-US" dirty="0"/>
                  <a:t>If the split makes </a:t>
                </a:r>
                <a:r>
                  <a:rPr lang="en-US" b="1" dirty="0"/>
                  <a:t>many balanced groups</a:t>
                </a:r>
                <a:r>
                  <a:rPr lang="en-US" dirty="0"/>
                  <a:t>, </a:t>
                </a:r>
                <a:r>
                  <a:rPr lang="en-US" dirty="0" err="1"/>
                  <a:t>SplitInfo</a:t>
                </a:r>
                <a:r>
                  <a:rPr lang="en-US" dirty="0"/>
                  <a:t> is </a:t>
                </a:r>
                <a:r>
                  <a:rPr lang="en-US" b="1" dirty="0"/>
                  <a:t>high</a:t>
                </a:r>
                <a:endParaRPr lang="en-US" dirty="0"/>
              </a:p>
              <a:p>
                <a:r>
                  <a:rPr lang="en-US" dirty="0"/>
                  <a:t>If most records stay in </a:t>
                </a:r>
                <a:r>
                  <a:rPr lang="en-US" b="1" dirty="0"/>
                  <a:t>one or two groups</a:t>
                </a:r>
                <a:r>
                  <a:rPr lang="en-US" dirty="0"/>
                  <a:t>, </a:t>
                </a:r>
                <a:r>
                  <a:rPr lang="en-US" dirty="0" err="1"/>
                  <a:t>SplitInfo</a:t>
                </a:r>
                <a:r>
                  <a:rPr lang="en-US" dirty="0"/>
                  <a:t> is </a:t>
                </a:r>
                <a:r>
                  <a:rPr lang="en-US" b="1" dirty="0"/>
                  <a:t>low</a:t>
                </a:r>
                <a:endParaRPr lang="en-US" dirty="0"/>
              </a:p>
              <a:p>
                <a:endParaRPr lang="en-US" dirty="0"/>
              </a:p>
              <a:p>
                <a:r>
                  <a:rPr lang="en-US" b="1" dirty="0"/>
                  <a:t>2. Gain Ratio</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𝐺𝑎𝑖𝑛𝑅𝑎𝑡𝑖𝑜</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𝐴</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𝐺𝑎𝑖𝑛</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𝐴</m:t>
                              </m:r>
                            </m:e>
                          </m:d>
                        </m:num>
                        <m:den>
                          <m:r>
                            <a:rPr lang="ar-AE" sz="1200" i="1" kern="1200">
                              <a:solidFill>
                                <a:schemeClr val="tx1"/>
                              </a:solidFill>
                              <a:latin typeface="Cambria Math" panose="02040503050406030204" pitchFamily="18" charset="0"/>
                              <a:ea typeface="+mn-ea"/>
                              <a:cs typeface="+mn-cs"/>
                            </a:rPr>
                            <m:t>𝑆𝑝𝑙𝑖𝑡𝐼𝑛𝑓𝑜</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𝐴</m:t>
                              </m:r>
                            </m:e>
                          </m:d>
                        </m:den>
                      </m:f>
                    </m:oMath>
                  </m:oMathPara>
                </a14:m>
                <a:endParaRPr lang="ar-AE" dirty="0"/>
              </a:p>
              <a:p>
                <a:r>
                  <a:rPr lang="en-US" dirty="0"/>
                  <a:t>So Gain Ratio = </a:t>
                </a:r>
                <a:r>
                  <a:rPr lang="en-US" b="1" dirty="0"/>
                  <a:t>Information Gain / </a:t>
                </a:r>
                <a:r>
                  <a:rPr lang="en-US" b="1" dirty="0" err="1"/>
                  <a:t>SplitInfo</a:t>
                </a:r>
                <a:endParaRPr lang="en-US" dirty="0"/>
              </a:p>
              <a:p>
                <a:r>
                  <a:rPr lang="en-US" dirty="0"/>
                  <a:t>It reduces the unfair advantage of attributes with too many values.</a:t>
                </a:r>
              </a:p>
              <a:p>
                <a:endParaRPr lang="en-US" dirty="0"/>
              </a:p>
              <a:p>
                <a:r>
                  <a:rPr lang="en-US" b="1" dirty="0"/>
                  <a:t>3. Example from the slide</a:t>
                </a:r>
              </a:p>
              <a:p>
                <a:r>
                  <a:rPr lang="en-US" dirty="0"/>
                  <a:t>For </a:t>
                </a:r>
                <a:r>
                  <a:rPr lang="en-US" b="1" dirty="0"/>
                  <a:t>income</a:t>
                </a:r>
                <a:r>
                  <a:rPr lang="en-US" dirty="0"/>
                  <a:t>:</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𝑆𝑝𝑙𝑖𝑡𝐼𝑛𝑓</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𝑜</m:t>
                          </m:r>
                        </m:e>
                        <m:sub>
                          <m:r>
                            <a:rPr lang="ar-AE" sz="1200" i="1" kern="1200">
                              <a:solidFill>
                                <a:schemeClr val="tx1"/>
                              </a:solidFill>
                              <a:latin typeface="Cambria Math" panose="02040503050406030204" pitchFamily="18" charset="0"/>
                              <a:ea typeface="+mn-ea"/>
                              <a:cs typeface="+mn-cs"/>
                            </a:rPr>
                            <m:t>𝑖𝑛𝑐𝑜𝑚𝑒</m:t>
                          </m:r>
                        </m:sub>
                      </m:sSub>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𝐷</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4</m:t>
                          </m:r>
                        </m:num>
                        <m:den>
                          <m:r>
                            <a:rPr lang="ar-AE" sz="1200" i="0" kern="1200">
                              <a:solidFill>
                                <a:schemeClr val="tx1"/>
                              </a:solidFill>
                              <a:latin typeface="Cambria Math" panose="02040503050406030204" pitchFamily="18" charset="0"/>
                              <a:ea typeface="+mn-ea"/>
                              <a:cs typeface="+mn-cs"/>
                            </a:rPr>
                            <m:t>14</m:t>
                          </m:r>
                        </m:den>
                      </m:f>
                      <m:sSub>
                        <m:sSubPr>
                          <m:ctrlPr>
                            <a:rPr lang="ar-AE" sz="1200" i="1" kern="1200">
                              <a:solidFill>
                                <a:schemeClr val="tx1"/>
                              </a:solidFill>
                              <a:latin typeface="Cambria Math" panose="02040503050406030204" pitchFamily="18" charset="0"/>
                              <a:ea typeface="+mn-ea"/>
                              <a:cs typeface="+mn-cs"/>
                            </a:rPr>
                          </m:ctrlPr>
                        </m:sSub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log</m:t>
                              </m:r>
                            </m:fName>
                            <m:e/>
                          </m:func>
                        </m:e>
                        <m:sub>
                          <m:r>
                            <a:rPr lang="ar-AE" sz="1200" i="0" kern="1200">
                              <a:solidFill>
                                <a:schemeClr val="tx1"/>
                              </a:solidFill>
                              <a:latin typeface="Cambria Math" panose="02040503050406030204" pitchFamily="18" charset="0"/>
                              <a:ea typeface="+mn-ea"/>
                              <a:cs typeface="+mn-cs"/>
                            </a:rPr>
                            <m:t>2</m:t>
                          </m:r>
                        </m:sub>
                      </m:sSub>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4</m:t>
                          </m:r>
                        </m:num>
                        <m:den>
                          <m:r>
                            <a:rPr lang="ar-AE" sz="1200" i="0" kern="1200">
                              <a:solidFill>
                                <a:schemeClr val="tx1"/>
                              </a:solidFill>
                              <a:latin typeface="Cambria Math" panose="02040503050406030204" pitchFamily="18" charset="0"/>
                              <a:ea typeface="+mn-ea"/>
                              <a:cs typeface="+mn-cs"/>
                            </a:rPr>
                            <m:t>14</m:t>
                          </m:r>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6</m:t>
                          </m:r>
                        </m:num>
                        <m:den>
                          <m:r>
                            <a:rPr lang="ar-AE" sz="1200" i="0" kern="1200">
                              <a:solidFill>
                                <a:schemeClr val="tx1"/>
                              </a:solidFill>
                              <a:latin typeface="Cambria Math" panose="02040503050406030204" pitchFamily="18" charset="0"/>
                              <a:ea typeface="+mn-ea"/>
                              <a:cs typeface="+mn-cs"/>
                            </a:rPr>
                            <m:t>14</m:t>
                          </m:r>
                        </m:den>
                      </m:f>
                      <m:sSub>
                        <m:sSubPr>
                          <m:ctrlPr>
                            <a:rPr lang="ar-AE" sz="1200" i="1" kern="1200">
                              <a:solidFill>
                                <a:schemeClr val="tx1"/>
                              </a:solidFill>
                              <a:latin typeface="Cambria Math" panose="02040503050406030204" pitchFamily="18" charset="0"/>
                              <a:ea typeface="+mn-ea"/>
                              <a:cs typeface="+mn-cs"/>
                            </a:rPr>
                          </m:ctrlPr>
                        </m:sSub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log</m:t>
                              </m:r>
                            </m:fName>
                            <m:e/>
                          </m:func>
                        </m:e>
                        <m:sub>
                          <m:r>
                            <a:rPr lang="ar-AE" sz="1200" i="0" kern="1200">
                              <a:solidFill>
                                <a:schemeClr val="tx1"/>
                              </a:solidFill>
                              <a:latin typeface="Cambria Math" panose="02040503050406030204" pitchFamily="18" charset="0"/>
                              <a:ea typeface="+mn-ea"/>
                              <a:cs typeface="+mn-cs"/>
                            </a:rPr>
                            <m:t>2</m:t>
                          </m:r>
                        </m:sub>
                      </m:sSub>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6</m:t>
                          </m:r>
                        </m:num>
                        <m:den>
                          <m:r>
                            <a:rPr lang="ar-AE" sz="1200" i="0" kern="1200">
                              <a:solidFill>
                                <a:schemeClr val="tx1"/>
                              </a:solidFill>
                              <a:latin typeface="Cambria Math" panose="02040503050406030204" pitchFamily="18" charset="0"/>
                              <a:ea typeface="+mn-ea"/>
                              <a:cs typeface="+mn-cs"/>
                            </a:rPr>
                            <m:t>14</m:t>
                          </m:r>
                        </m:den>
                      </m:f>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4</m:t>
                          </m:r>
                        </m:num>
                        <m:den>
                          <m:r>
                            <a:rPr lang="ar-AE" sz="1200" i="0" kern="1200">
                              <a:solidFill>
                                <a:schemeClr val="tx1"/>
                              </a:solidFill>
                              <a:latin typeface="Cambria Math" panose="02040503050406030204" pitchFamily="18" charset="0"/>
                              <a:ea typeface="+mn-ea"/>
                              <a:cs typeface="+mn-cs"/>
                            </a:rPr>
                            <m:t>14</m:t>
                          </m:r>
                        </m:den>
                      </m:f>
                      <m:sSub>
                        <m:sSubPr>
                          <m:ctrlPr>
                            <a:rPr lang="ar-AE" sz="1200" i="1" kern="1200">
                              <a:solidFill>
                                <a:schemeClr val="tx1"/>
                              </a:solidFill>
                              <a:latin typeface="Cambria Math" panose="02040503050406030204" pitchFamily="18" charset="0"/>
                              <a:ea typeface="+mn-ea"/>
                              <a:cs typeface="+mn-cs"/>
                            </a:rPr>
                          </m:ctrlPr>
                        </m:sSub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log</m:t>
                              </m:r>
                            </m:fName>
                            <m:e/>
                          </m:func>
                        </m:e>
                        <m:sub>
                          <m:r>
                            <a:rPr lang="ar-AE" sz="1200" i="0" kern="1200">
                              <a:solidFill>
                                <a:schemeClr val="tx1"/>
                              </a:solidFill>
                              <a:latin typeface="Cambria Math" panose="02040503050406030204" pitchFamily="18" charset="0"/>
                              <a:ea typeface="+mn-ea"/>
                              <a:cs typeface="+mn-cs"/>
                            </a:rPr>
                            <m:t>2</m:t>
                          </m:r>
                        </m:sub>
                      </m:sSub>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4</m:t>
                          </m:r>
                        </m:num>
                        <m:den>
                          <m:r>
                            <a:rPr lang="ar-AE" sz="1200" i="0" kern="1200">
                              <a:solidFill>
                                <a:schemeClr val="tx1"/>
                              </a:solidFill>
                              <a:latin typeface="Cambria Math" panose="02040503050406030204" pitchFamily="18" charset="0"/>
                              <a:ea typeface="+mn-ea"/>
                              <a:cs typeface="+mn-cs"/>
                            </a:rPr>
                            <m:t>14</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557</m:t>
                      </m:r>
                    </m:oMath>
                  </m:oMathPara>
                </a14:m>
                <a:endParaRPr lang="ar-AE" dirty="0"/>
              </a:p>
              <a:p>
                <a:r>
                  <a:rPr lang="en-US" dirty="0"/>
                  <a:t>Given: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𝐺𝑎𝑖𝑛</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𝑖𝑛𝑐𝑜𝑚𝑒</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029</m:t>
                      </m:r>
                    </m:oMath>
                  </m:oMathPara>
                </a14:m>
                <a:endParaRPr lang="ar-AE" dirty="0"/>
              </a:p>
              <a:p>
                <a:r>
                  <a:rPr lang="en-US" dirty="0"/>
                  <a:t>So,</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𝐺𝑎𝑖𝑛𝑅𝑎𝑡𝑖𝑜</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𝑖𝑛𝑐𝑜𝑚𝑒</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029</m:t>
                          </m:r>
                        </m:num>
                        <m:den>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557</m:t>
                          </m:r>
                        </m:den>
                      </m:f>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019</m:t>
                      </m:r>
                    </m:oMath>
                  </m:oMathPara>
                </a14:m>
                <a:endParaRPr lang="ar-AE" dirty="0"/>
              </a:p>
              <a:p>
                <a:endParaRPr lang="en-US" dirty="0"/>
              </a:p>
            </p:txBody>
          </p:sp>
        </mc:Choice>
        <mc:Fallback xmlns="">
          <p:sp>
            <p:nvSpPr>
              <p:cNvPr id="101380" name="Rectangle 3"/>
              <p:cNvSpPr>
                <a:spLocks noGrp="1" noChangeArrowheads="1"/>
              </p:cNvSpPr>
              <p:nvPr>
                <p:ph type="body" idx="1"/>
              </p:nvPr>
            </p:nvSpPr>
            <p:spPr>
              <a:noFill/>
              <a:ln/>
            </p:spPr>
            <p:txBody>
              <a:bodyPr>
                <a:normAutofit fontScale="85000" lnSpcReduction="20000"/>
              </a:bodyPr>
              <a:lstStyle/>
              <a:p>
                <a:r>
                  <a:rPr lang="en-US" b="1" dirty="0"/>
                  <a:t>Gain Ratio — formula meaning (simple)</a:t>
                </a:r>
              </a:p>
              <a:p>
                <a:r>
                  <a:rPr lang="en-US" b="1" dirty="0"/>
                  <a:t>1. </a:t>
                </a:r>
                <a:r>
                  <a:rPr lang="en-US" b="1" dirty="0" err="1"/>
                  <a:t>SplitInfo</a:t>
                </a:r>
                <a:endParaRPr lang="en-US" b="1" dirty="0"/>
              </a:p>
              <a:p>
                <a:r>
                  <a:rPr lang="en-US" b="1" dirty="0" err="1"/>
                  <a:t>SplitInfo</a:t>
                </a:r>
                <a:r>
                  <a:rPr lang="en-US" dirty="0"/>
                  <a:t> measures how broadly attribute </a:t>
                </a:r>
                <a:r>
                  <a:rPr lang="en-US" b="1" dirty="0"/>
                  <a:t>A</a:t>
                </a:r>
                <a:r>
                  <a:rPr lang="en-US" dirty="0"/>
                  <a:t> splits the data into groups.</a:t>
                </a:r>
              </a:p>
              <a:p>
                <a:r>
                  <a:rPr lang="en-US" sz="1200" i="0" kern="1200">
                    <a:solidFill>
                      <a:schemeClr val="tx1"/>
                    </a:solidFill>
                    <a:latin typeface="+mn-lt"/>
                    <a:ea typeface="+mn-ea"/>
                    <a:cs typeface="+mn-cs"/>
                  </a:rPr>
                  <a:t>𝑆𝑝𝑙𝑖𝑡𝐼𝑛𝑓</a:t>
                </a:r>
                <a:r>
                  <a:rPr lang="ar-AE" sz="1200" i="0" kern="1200">
                    <a:solidFill>
                      <a:schemeClr val="tx1"/>
                    </a:solidFill>
                    <a:latin typeface="+mn-lt"/>
                    <a:ea typeface="+mn-ea"/>
                    <a:cs typeface="+mn-cs"/>
                  </a:rPr>
                  <a:t>𝑜_𝐴 (𝐷)=−∑128_(𝑗=1)^𝑣▒(∣𝐷_𝑗∣)/(∣𝐷∣) 〖</a:t>
                </a:r>
                <a:r>
                  <a:rPr lang="en-US" sz="1200" i="0" kern="1200">
                    <a:solidFill>
                      <a:schemeClr val="tx1"/>
                    </a:solidFill>
                    <a:latin typeface="+mn-lt"/>
                    <a:ea typeface="+mn-ea"/>
                    <a:cs typeface="+mn-cs"/>
                  </a:rPr>
                  <a:t>log</a:t>
                </a:r>
                <a:r>
                  <a:rPr lang="ar-AE" sz="1200" i="0" kern="1200">
                    <a:solidFill>
                      <a:schemeClr val="tx1"/>
                    </a:solidFill>
                    <a:latin typeface="+mn-lt"/>
                    <a:ea typeface="+mn-ea"/>
                    <a:cs typeface="+mn-cs"/>
                  </a:rPr>
                  <a:t>⁡ 〗_2 ((∣𝐷_𝑗∣)/(∣𝐷∣))</a:t>
                </a:r>
                <a:endParaRPr lang="ar-AE" dirty="0"/>
              </a:p>
              <a:p>
                <a:r>
                  <a:rPr lang="en-US" dirty="0"/>
                  <a:t>If the split makes </a:t>
                </a:r>
                <a:r>
                  <a:rPr lang="en-US" b="1" dirty="0"/>
                  <a:t>many balanced groups</a:t>
                </a:r>
                <a:r>
                  <a:rPr lang="en-US" dirty="0"/>
                  <a:t>, </a:t>
                </a:r>
                <a:r>
                  <a:rPr lang="en-US" dirty="0" err="1"/>
                  <a:t>SplitInfo</a:t>
                </a:r>
                <a:r>
                  <a:rPr lang="en-US" dirty="0"/>
                  <a:t> is </a:t>
                </a:r>
                <a:r>
                  <a:rPr lang="en-US" b="1" dirty="0"/>
                  <a:t>high</a:t>
                </a:r>
                <a:endParaRPr lang="en-US" dirty="0"/>
              </a:p>
              <a:p>
                <a:r>
                  <a:rPr lang="en-US" dirty="0"/>
                  <a:t>If most records stay in </a:t>
                </a:r>
                <a:r>
                  <a:rPr lang="en-US" b="1" dirty="0"/>
                  <a:t>one or two groups</a:t>
                </a:r>
                <a:r>
                  <a:rPr lang="en-US" dirty="0"/>
                  <a:t>, </a:t>
                </a:r>
                <a:r>
                  <a:rPr lang="en-US" dirty="0" err="1"/>
                  <a:t>SplitInfo</a:t>
                </a:r>
                <a:r>
                  <a:rPr lang="en-US" dirty="0"/>
                  <a:t> is </a:t>
                </a:r>
                <a:r>
                  <a:rPr lang="en-US" b="1" dirty="0"/>
                  <a:t>low</a:t>
                </a:r>
                <a:endParaRPr lang="en-US" dirty="0"/>
              </a:p>
              <a:p>
                <a:endParaRPr lang="en-US" dirty="0"/>
              </a:p>
              <a:p>
                <a:r>
                  <a:rPr lang="en-US" b="1" dirty="0"/>
                  <a:t>2. Gain Ratio</a:t>
                </a:r>
              </a:p>
              <a:p>
                <a:r>
                  <a:rPr lang="en-US" sz="1200" i="0" kern="1200">
                    <a:solidFill>
                      <a:schemeClr val="tx1"/>
                    </a:solidFill>
                    <a:latin typeface="+mn-lt"/>
                    <a:ea typeface="+mn-ea"/>
                    <a:cs typeface="+mn-cs"/>
                  </a:rPr>
                  <a:t>𝐺𝑎𝑖𝑛𝑅𝑎𝑡𝑖𝑜</a:t>
                </a:r>
                <a:r>
                  <a:rPr lang="ar-AE" sz="1200" i="0" kern="1200">
                    <a:solidFill>
                      <a:schemeClr val="tx1"/>
                    </a:solidFill>
                    <a:latin typeface="+mn-lt"/>
                    <a:ea typeface="+mn-ea"/>
                    <a:cs typeface="+mn-cs"/>
                  </a:rPr>
                  <a:t>(𝐴)=𝐺𝑎𝑖𝑛(𝐴)/𝑆𝑝𝑙𝑖𝑡𝐼𝑛𝑓𝑜(𝐴) </a:t>
                </a:r>
                <a:endParaRPr lang="ar-AE" dirty="0"/>
              </a:p>
              <a:p>
                <a:r>
                  <a:rPr lang="en-US" dirty="0"/>
                  <a:t>So Gain Ratio = </a:t>
                </a:r>
                <a:r>
                  <a:rPr lang="en-US" b="1" dirty="0"/>
                  <a:t>Information Gain / </a:t>
                </a:r>
                <a:r>
                  <a:rPr lang="en-US" b="1" dirty="0" err="1"/>
                  <a:t>SplitInfo</a:t>
                </a:r>
                <a:endParaRPr lang="en-US" dirty="0"/>
              </a:p>
              <a:p>
                <a:r>
                  <a:rPr lang="en-US" dirty="0"/>
                  <a:t>It reduces the unfair advantage of attributes with too many values.</a:t>
                </a:r>
              </a:p>
              <a:p>
                <a:endParaRPr lang="en-US" dirty="0"/>
              </a:p>
              <a:p>
                <a:r>
                  <a:rPr lang="en-US" b="1" dirty="0"/>
                  <a:t>3. Example from the slide</a:t>
                </a:r>
              </a:p>
              <a:p>
                <a:r>
                  <a:rPr lang="en-US" dirty="0"/>
                  <a:t>For </a:t>
                </a:r>
                <a:r>
                  <a:rPr lang="en-US" b="1" dirty="0"/>
                  <a:t>income</a:t>
                </a:r>
                <a:r>
                  <a:rPr lang="en-US" dirty="0"/>
                  <a:t>:</a:t>
                </a:r>
              </a:p>
              <a:p>
                <a:r>
                  <a:rPr lang="en-US" sz="1200" i="0" kern="1200">
                    <a:solidFill>
                      <a:schemeClr val="tx1"/>
                    </a:solidFill>
                    <a:latin typeface="+mn-lt"/>
                    <a:ea typeface="+mn-ea"/>
                    <a:cs typeface="+mn-cs"/>
                  </a:rPr>
                  <a:t>𝑆𝑝𝑙𝑖𝑡𝐼𝑛𝑓</a:t>
                </a:r>
                <a:r>
                  <a:rPr lang="ar-AE" sz="1200" i="0" kern="1200">
                    <a:solidFill>
                      <a:schemeClr val="tx1"/>
                    </a:solidFill>
                    <a:latin typeface="+mn-lt"/>
                    <a:ea typeface="+mn-ea"/>
                    <a:cs typeface="+mn-cs"/>
                  </a:rPr>
                  <a:t>𝑜_𝑖𝑛𝑐𝑜𝑚𝑒 (𝐷)=−4/14 〖</a:t>
                </a:r>
                <a:r>
                  <a:rPr lang="en-US" sz="1200" i="0" kern="1200">
                    <a:solidFill>
                      <a:schemeClr val="tx1"/>
                    </a:solidFill>
                    <a:latin typeface="+mn-lt"/>
                    <a:ea typeface="+mn-ea"/>
                    <a:cs typeface="+mn-cs"/>
                  </a:rPr>
                  <a:t>log</a:t>
                </a:r>
                <a:r>
                  <a:rPr lang="ar-AE" sz="1200" i="0" kern="1200">
                    <a:solidFill>
                      <a:schemeClr val="tx1"/>
                    </a:solidFill>
                    <a:latin typeface="+mn-lt"/>
                    <a:ea typeface="+mn-ea"/>
                    <a:cs typeface="+mn-cs"/>
                  </a:rPr>
                  <a:t>⁡ 〗_2  4/14−6/14 〖</a:t>
                </a:r>
                <a:r>
                  <a:rPr lang="en-US" sz="1200" i="0" kern="1200">
                    <a:solidFill>
                      <a:schemeClr val="tx1"/>
                    </a:solidFill>
                    <a:latin typeface="+mn-lt"/>
                    <a:ea typeface="+mn-ea"/>
                    <a:cs typeface="+mn-cs"/>
                  </a:rPr>
                  <a:t>log</a:t>
                </a:r>
                <a:r>
                  <a:rPr lang="ar-AE" sz="1200" i="0" kern="1200">
                    <a:solidFill>
                      <a:schemeClr val="tx1"/>
                    </a:solidFill>
                    <a:latin typeface="+mn-lt"/>
                    <a:ea typeface="+mn-ea"/>
                    <a:cs typeface="+mn-cs"/>
                  </a:rPr>
                  <a:t>⁡ 〗_2  6/14−4/14 〖</a:t>
                </a:r>
                <a:r>
                  <a:rPr lang="en-US" sz="1200" i="0" kern="1200">
                    <a:solidFill>
                      <a:schemeClr val="tx1"/>
                    </a:solidFill>
                    <a:latin typeface="+mn-lt"/>
                    <a:ea typeface="+mn-ea"/>
                    <a:cs typeface="+mn-cs"/>
                  </a:rPr>
                  <a:t>log</a:t>
                </a:r>
                <a:r>
                  <a:rPr lang="ar-AE" sz="1200" i="0" kern="1200">
                    <a:solidFill>
                      <a:schemeClr val="tx1"/>
                    </a:solidFill>
                    <a:latin typeface="+mn-lt"/>
                    <a:ea typeface="+mn-ea"/>
                    <a:cs typeface="+mn-cs"/>
                  </a:rPr>
                  <a:t>⁡ 〗_2  4/14=1.557</a:t>
                </a:r>
                <a:endParaRPr lang="ar-AE" dirty="0"/>
              </a:p>
              <a:p>
                <a:r>
                  <a:rPr lang="en-US" dirty="0"/>
                  <a:t>Given:</a:t>
                </a:r>
              </a:p>
              <a:p>
                <a:r>
                  <a:rPr lang="en-US" sz="1200" i="0" kern="1200">
                    <a:solidFill>
                      <a:schemeClr val="tx1"/>
                    </a:solidFill>
                    <a:latin typeface="+mn-lt"/>
                    <a:ea typeface="+mn-ea"/>
                    <a:cs typeface="+mn-cs"/>
                  </a:rPr>
                  <a:t>𝐺𝑎𝑖𝑛</a:t>
                </a:r>
                <a:r>
                  <a:rPr lang="ar-AE" sz="1200" i="0" kern="1200">
                    <a:solidFill>
                      <a:schemeClr val="tx1"/>
                    </a:solidFill>
                    <a:latin typeface="+mn-lt"/>
                    <a:ea typeface="+mn-ea"/>
                    <a:cs typeface="+mn-cs"/>
                  </a:rPr>
                  <a:t>(𝑖𝑛𝑐𝑜𝑚𝑒)=0.029</a:t>
                </a:r>
                <a:endParaRPr lang="ar-AE" dirty="0"/>
              </a:p>
              <a:p>
                <a:r>
                  <a:rPr lang="en-US" dirty="0"/>
                  <a:t>So,</a:t>
                </a:r>
              </a:p>
              <a:p>
                <a:r>
                  <a:rPr lang="en-US" sz="1200" i="0" kern="1200">
                    <a:solidFill>
                      <a:schemeClr val="tx1"/>
                    </a:solidFill>
                    <a:latin typeface="+mn-lt"/>
                    <a:ea typeface="+mn-ea"/>
                    <a:cs typeface="+mn-cs"/>
                  </a:rPr>
                  <a:t>𝐺𝑎𝑖𝑛𝑅𝑎𝑡𝑖𝑜</a:t>
                </a:r>
                <a:r>
                  <a:rPr lang="ar-AE" sz="1200" i="0" kern="1200">
                    <a:solidFill>
                      <a:schemeClr val="tx1"/>
                    </a:solidFill>
                    <a:latin typeface="+mn-lt"/>
                    <a:ea typeface="+mn-ea"/>
                    <a:cs typeface="+mn-cs"/>
                  </a:rPr>
                  <a:t>(𝑖𝑛𝑐𝑜𝑚𝑒)=0.029/1.557=0.019</a:t>
                </a:r>
                <a:endParaRPr lang="ar-AE" dirty="0"/>
              </a:p>
              <a:p>
                <a:endParaRPr lang="en-US" dirty="0"/>
              </a:p>
            </p:txBody>
          </p:sp>
        </mc:Fallback>
      </mc:AlternateContent>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86D1A7FB-C00E-4251-BAB5-B318F30F4A60}" type="slidenum">
              <a:rPr lang="en-US" smtClean="0"/>
              <a:pPr/>
              <a:t>34</a:t>
            </a:fld>
            <a:endParaRPr 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B043B176-08E8-47A1-B772-56BFC10598A8}" type="slidenum">
              <a:rPr lang="en-US" smtClean="0"/>
              <a:pPr/>
              <a:t>35</a:t>
            </a:fld>
            <a:endParaRPr lang="en-US"/>
          </a:p>
        </p:txBody>
      </p:sp>
      <p:sp>
        <p:nvSpPr>
          <p:cNvPr id="103427"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103428" name="Rectangle 3"/>
              <p:cNvSpPr>
                <a:spLocks noGrp="1" noChangeArrowheads="1"/>
              </p:cNvSpPr>
              <p:nvPr>
                <p:ph type="body" idx="1"/>
              </p:nvPr>
            </p:nvSpPr>
            <p:spPr>
              <a:noFill/>
              <a:ln/>
            </p:spPr>
            <p:txBody>
              <a:bodyPr>
                <a:normAutofit fontScale="55000" lnSpcReduction="20000"/>
              </a:bodyPr>
              <a:lstStyle/>
              <a:p>
                <a:r>
                  <a:rPr lang="en-US" b="1" dirty="0"/>
                  <a:t>Gini Index — simple meaning</a:t>
                </a:r>
              </a:p>
              <a:p>
                <a:r>
                  <a:rPr lang="en-US" b="1" dirty="0"/>
                  <a:t>Gini Index</a:t>
                </a:r>
                <a:r>
                  <a:rPr lang="en-US" dirty="0"/>
                  <a:t> measures how </a:t>
                </a:r>
                <a:r>
                  <a:rPr lang="en-US" b="1" dirty="0"/>
                  <a:t>impure</a:t>
                </a:r>
                <a:r>
                  <a:rPr lang="en-US" dirty="0"/>
                  <a:t> a dataset is.</a:t>
                </a:r>
              </a:p>
              <a:p>
                <a:r>
                  <a:rPr lang="en-US" dirty="0"/>
                  <a:t>Lower Gini means </a:t>
                </a:r>
                <a:r>
                  <a:rPr lang="en-US" b="1" dirty="0"/>
                  <a:t>better split</a:t>
                </a:r>
                <a:r>
                  <a:rPr lang="en-US" dirty="0"/>
                  <a:t> (more pure groups).</a:t>
                </a:r>
              </a:p>
              <a:p>
                <a:r>
                  <a:rPr lang="en-US" b="1" dirty="0"/>
                  <a:t>Step 1: Gini of whole dataset</a:t>
                </a:r>
              </a:p>
              <a:p>
                <a:r>
                  <a:rPr lang="en-US" dirty="0"/>
                  <a:t>There are:</a:t>
                </a:r>
              </a:p>
              <a:p>
                <a:r>
                  <a:rPr lang="en-US" b="1" dirty="0"/>
                  <a:t>9 yes</a:t>
                </a:r>
                <a:endParaRPr lang="en-US" dirty="0"/>
              </a:p>
              <a:p>
                <a:r>
                  <a:rPr lang="en-US" b="1" dirty="0"/>
                  <a:t>5 no</a:t>
                </a:r>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𝐺𝑖𝑛𝑖</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𝐷</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9</m:t>
                                  </m:r>
                                </m:num>
                                <m:den>
                                  <m:r>
                                    <a:rPr lang="ar-AE" sz="1200" i="0" kern="1200">
                                      <a:solidFill>
                                        <a:schemeClr val="tx1"/>
                                      </a:solidFill>
                                      <a:latin typeface="Cambria Math" panose="02040503050406030204" pitchFamily="18" charset="0"/>
                                      <a:ea typeface="+mn-ea"/>
                                      <a:cs typeface="+mn-cs"/>
                                    </a:rPr>
                                    <m:t>14</m:t>
                                  </m:r>
                                </m:den>
                              </m:f>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5</m:t>
                                  </m:r>
                                </m:num>
                                <m:den>
                                  <m:r>
                                    <a:rPr lang="ar-AE" sz="1200" i="0" kern="1200">
                                      <a:solidFill>
                                        <a:schemeClr val="tx1"/>
                                      </a:solidFill>
                                      <a:latin typeface="Cambria Math" panose="02040503050406030204" pitchFamily="18" charset="0"/>
                                      <a:ea typeface="+mn-ea"/>
                                      <a:cs typeface="+mn-cs"/>
                                    </a:rPr>
                                    <m:t>14</m:t>
                                  </m:r>
                                </m:den>
                              </m:f>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459</m:t>
                      </m:r>
                    </m:oMath>
                  </m:oMathPara>
                </a14:m>
                <a:endParaRPr lang="ar-AE" dirty="0"/>
              </a:p>
              <a:p>
                <a:r>
                  <a:rPr lang="en-US" b="1" dirty="0"/>
                  <a:t>Step 2: Try a split on income</a:t>
                </a:r>
              </a:p>
              <a:p>
                <a:r>
                  <a:rPr lang="en-US" dirty="0"/>
                  <a:t>Split into:</a:t>
                </a:r>
              </a:p>
              <a:p>
                <a:r>
                  <a:rPr lang="en-US" b="1" dirty="0"/>
                  <a:t>D1 = {low, medium}</a:t>
                </a:r>
                <a:r>
                  <a:rPr lang="en-US" dirty="0"/>
                  <a:t> → 10 tuples</a:t>
                </a:r>
              </a:p>
              <a:p>
                <a:r>
                  <a:rPr lang="en-US" b="1" dirty="0"/>
                  <a:t>D2 = {high}</a:t>
                </a:r>
                <a:r>
                  <a:rPr lang="en-US" dirty="0"/>
                  <a:t> → 4 tuples</a:t>
                </a:r>
              </a:p>
              <a:p>
                <a:r>
                  <a:rPr lang="en-US" dirty="0"/>
                  <a:t>Now compute weighted Gini:</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𝐺𝑖𝑛</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𝑖</m:t>
                          </m:r>
                        </m:e>
                        <m:sub>
                          <m:r>
                            <a:rPr lang="ar-AE" sz="1200" i="1" kern="1200">
                              <a:solidFill>
                                <a:schemeClr val="tx1"/>
                              </a:solidFill>
                              <a:latin typeface="Cambria Math" panose="02040503050406030204" pitchFamily="18" charset="0"/>
                              <a:ea typeface="+mn-ea"/>
                              <a:cs typeface="+mn-cs"/>
                            </a:rPr>
                            <m:t>𝑖𝑛𝑐𝑜𝑚𝑒</m:t>
                          </m:r>
                        </m:sub>
                      </m:sSub>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𝐷</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10</m:t>
                          </m:r>
                        </m:num>
                        <m:den>
                          <m:r>
                            <a:rPr lang="ar-AE" sz="1200" i="0" kern="1200">
                              <a:solidFill>
                                <a:schemeClr val="tx1"/>
                              </a:solidFill>
                              <a:latin typeface="Cambria Math" panose="02040503050406030204" pitchFamily="18" charset="0"/>
                              <a:ea typeface="+mn-ea"/>
                              <a:cs typeface="+mn-cs"/>
                            </a:rPr>
                            <m:t>14</m:t>
                          </m:r>
                        </m:den>
                      </m:f>
                      <m:r>
                        <a:rPr lang="ar-AE" sz="1200" i="1" kern="1200">
                          <a:solidFill>
                            <a:schemeClr val="tx1"/>
                          </a:solidFill>
                          <a:latin typeface="Cambria Math" panose="02040503050406030204" pitchFamily="18" charset="0"/>
                          <a:ea typeface="+mn-ea"/>
                          <a:cs typeface="+mn-cs"/>
                        </a:rPr>
                        <m:t>𝐺𝑖𝑛𝑖</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0" kern="1200">
                                  <a:solidFill>
                                    <a:schemeClr val="tx1"/>
                                  </a:solidFill>
                                  <a:latin typeface="Cambria Math" panose="02040503050406030204" pitchFamily="18" charset="0"/>
                                  <a:ea typeface="+mn-ea"/>
                                  <a:cs typeface="+mn-cs"/>
                                </a:rPr>
                                <m:t>1</m:t>
                              </m:r>
                            </m:sub>
                          </m:sSub>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4</m:t>
                          </m:r>
                        </m:num>
                        <m:den>
                          <m:r>
                            <a:rPr lang="ar-AE" sz="1200" i="0" kern="1200">
                              <a:solidFill>
                                <a:schemeClr val="tx1"/>
                              </a:solidFill>
                              <a:latin typeface="Cambria Math" panose="02040503050406030204" pitchFamily="18" charset="0"/>
                              <a:ea typeface="+mn-ea"/>
                              <a:cs typeface="+mn-cs"/>
                            </a:rPr>
                            <m:t>14</m:t>
                          </m:r>
                        </m:den>
                      </m:f>
                      <m:r>
                        <a:rPr lang="ar-AE" sz="1200" i="1" kern="1200">
                          <a:solidFill>
                            <a:schemeClr val="tx1"/>
                          </a:solidFill>
                          <a:latin typeface="Cambria Math" panose="02040503050406030204" pitchFamily="18" charset="0"/>
                          <a:ea typeface="+mn-ea"/>
                          <a:cs typeface="+mn-cs"/>
                        </a:rPr>
                        <m:t>𝐺𝑖𝑛𝑖</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0" kern="1200">
                                  <a:solidFill>
                                    <a:schemeClr val="tx1"/>
                                  </a:solidFill>
                                  <a:latin typeface="Cambria Math" panose="02040503050406030204" pitchFamily="18" charset="0"/>
                                  <a:ea typeface="+mn-ea"/>
                                  <a:cs typeface="+mn-cs"/>
                                </a:rPr>
                                <m:t>2</m:t>
                              </m:r>
                            </m:sub>
                          </m:sSub>
                        </m:e>
                      </m:d>
                    </m:oMath>
                  </m:oMathPara>
                </a14:m>
                <a:endParaRPr lang="ar-AE" dirty="0"/>
              </a:p>
              <a:p>
                <a:r>
                  <a:rPr lang="en-US" dirty="0"/>
                  <a:t>For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0" kern="1200">
                            <a:solidFill>
                              <a:schemeClr val="tx1"/>
                            </a:solidFill>
                            <a:latin typeface="Cambria Math" panose="02040503050406030204" pitchFamily="18" charset="0"/>
                            <a:ea typeface="+mn-ea"/>
                            <a:cs typeface="+mn-cs"/>
                          </a:rPr>
                          <m:t>1</m:t>
                        </m:r>
                      </m:sub>
                    </m:sSub>
                  </m:oMath>
                </a14:m>
                <a:r>
                  <a:rPr lang="ar-AE" dirty="0"/>
                  <a:t>: 7 </a:t>
                </a:r>
                <a:r>
                  <a:rPr lang="en-US" dirty="0"/>
                  <a:t>yes, 3 no</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𝐺𝑖𝑛𝑖</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0" kern="1200">
                                  <a:solidFill>
                                    <a:schemeClr val="tx1"/>
                                  </a:solidFill>
                                  <a:latin typeface="Cambria Math" panose="02040503050406030204" pitchFamily="18" charset="0"/>
                                  <a:ea typeface="+mn-ea"/>
                                  <a:cs typeface="+mn-cs"/>
                                </a:rPr>
                                <m:t>1</m:t>
                              </m:r>
                            </m:sub>
                          </m:sSub>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7</m:t>
                                  </m:r>
                                </m:num>
                                <m:den>
                                  <m:r>
                                    <a:rPr lang="ar-AE" sz="1200" i="0" kern="1200">
                                      <a:solidFill>
                                        <a:schemeClr val="tx1"/>
                                      </a:solidFill>
                                      <a:latin typeface="Cambria Math" panose="02040503050406030204" pitchFamily="18" charset="0"/>
                                      <a:ea typeface="+mn-ea"/>
                                      <a:cs typeface="+mn-cs"/>
                                    </a:rPr>
                                    <m:t>10</m:t>
                                  </m:r>
                                </m:den>
                              </m:f>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3</m:t>
                                  </m:r>
                                </m:num>
                                <m:den>
                                  <m:r>
                                    <a:rPr lang="ar-AE" sz="1200" i="0" kern="1200">
                                      <a:solidFill>
                                        <a:schemeClr val="tx1"/>
                                      </a:solidFill>
                                      <a:latin typeface="Cambria Math" panose="02040503050406030204" pitchFamily="18" charset="0"/>
                                      <a:ea typeface="+mn-ea"/>
                                      <a:cs typeface="+mn-cs"/>
                                    </a:rPr>
                                    <m:t>10</m:t>
                                  </m:r>
                                </m:den>
                              </m:f>
                            </m:e>
                          </m:d>
                        </m:e>
                        <m:sup>
                          <m:r>
                            <a:rPr lang="ar-AE" sz="1200" i="0" kern="1200">
                              <a:solidFill>
                                <a:schemeClr val="tx1"/>
                              </a:solidFill>
                              <a:latin typeface="Cambria Math" panose="02040503050406030204" pitchFamily="18" charset="0"/>
                              <a:ea typeface="+mn-ea"/>
                              <a:cs typeface="+mn-cs"/>
                            </a:rPr>
                            <m:t>2</m:t>
                          </m:r>
                        </m:sup>
                      </m:sSup>
                    </m:oMath>
                  </m:oMathPara>
                </a14:m>
                <a:endParaRPr lang="ar-AE" dirty="0"/>
              </a:p>
              <a:p>
                <a:r>
                  <a:rPr lang="en-US" dirty="0"/>
                  <a:t>For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0" kern="1200">
                            <a:solidFill>
                              <a:schemeClr val="tx1"/>
                            </a:solidFill>
                            <a:latin typeface="Cambria Math" panose="02040503050406030204" pitchFamily="18" charset="0"/>
                            <a:ea typeface="+mn-ea"/>
                            <a:cs typeface="+mn-cs"/>
                          </a:rPr>
                          <m:t>2</m:t>
                        </m:r>
                      </m:sub>
                    </m:sSub>
                  </m:oMath>
                </a14:m>
                <a:r>
                  <a:rPr lang="ar-AE" dirty="0"/>
                  <a:t>: 2 </a:t>
                </a:r>
                <a:r>
                  <a:rPr lang="en-US" dirty="0"/>
                  <a:t>yes, 2 no</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𝐺𝑖𝑛𝑖</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𝐷</m:t>
                              </m:r>
                            </m:e>
                            <m:sub>
                              <m:r>
                                <a:rPr lang="ar-AE" sz="1200" i="0" kern="1200">
                                  <a:solidFill>
                                    <a:schemeClr val="tx1"/>
                                  </a:solidFill>
                                  <a:latin typeface="Cambria Math" panose="02040503050406030204" pitchFamily="18" charset="0"/>
                                  <a:ea typeface="+mn-ea"/>
                                  <a:cs typeface="+mn-cs"/>
                                </a:rPr>
                                <m:t>2</m:t>
                              </m:r>
                            </m:sub>
                          </m:sSub>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2</m:t>
                                  </m:r>
                                </m:num>
                                <m:den>
                                  <m:r>
                                    <a:rPr lang="ar-AE" sz="1200" i="0" kern="1200">
                                      <a:solidFill>
                                        <a:schemeClr val="tx1"/>
                                      </a:solidFill>
                                      <a:latin typeface="Cambria Math" panose="02040503050406030204" pitchFamily="18" charset="0"/>
                                      <a:ea typeface="+mn-ea"/>
                                      <a:cs typeface="+mn-cs"/>
                                    </a:rPr>
                                    <m:t>4</m:t>
                                  </m:r>
                                </m:den>
                              </m:f>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2</m:t>
                                  </m:r>
                                </m:num>
                                <m:den>
                                  <m:r>
                                    <a:rPr lang="ar-AE" sz="1200" i="0" kern="1200">
                                      <a:solidFill>
                                        <a:schemeClr val="tx1"/>
                                      </a:solidFill>
                                      <a:latin typeface="Cambria Math" panose="02040503050406030204" pitchFamily="18" charset="0"/>
                                      <a:ea typeface="+mn-ea"/>
                                      <a:cs typeface="+mn-cs"/>
                                    </a:rPr>
                                    <m:t>4</m:t>
                                  </m:r>
                                </m:den>
                              </m:f>
                            </m:e>
                          </m:d>
                        </m:e>
                        <m:sup>
                          <m:r>
                            <a:rPr lang="ar-AE" sz="1200" i="0" kern="1200">
                              <a:solidFill>
                                <a:schemeClr val="tx1"/>
                              </a:solidFill>
                              <a:latin typeface="Cambria Math" panose="02040503050406030204" pitchFamily="18" charset="0"/>
                              <a:ea typeface="+mn-ea"/>
                              <a:cs typeface="+mn-cs"/>
                            </a:rPr>
                            <m:t>2</m:t>
                          </m:r>
                        </m:sup>
                      </m:sSup>
                    </m:oMath>
                  </m:oMathPara>
                </a14:m>
                <a:endParaRPr lang="ar-AE" dirty="0"/>
              </a:p>
              <a:p>
                <a:r>
                  <a:rPr lang="en-US" dirty="0"/>
                  <a:t>So,</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𝐺𝑖𝑛</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𝑖</m:t>
                          </m:r>
                        </m:e>
                        <m:sub>
                          <m:r>
                            <a:rPr lang="ar-AE" sz="1200" i="1" kern="1200">
                              <a:solidFill>
                                <a:schemeClr val="tx1"/>
                              </a:solidFill>
                              <a:latin typeface="Cambria Math" panose="02040503050406030204" pitchFamily="18" charset="0"/>
                              <a:ea typeface="+mn-ea"/>
                              <a:cs typeface="+mn-cs"/>
                            </a:rPr>
                            <m:t>𝑖𝑛𝑐𝑜𝑚𝑒</m:t>
                          </m:r>
                        </m:sub>
                      </m:sSub>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𝐷</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10</m:t>
                          </m:r>
                        </m:num>
                        <m:den>
                          <m:r>
                            <a:rPr lang="ar-AE" sz="1200" i="0" kern="1200">
                              <a:solidFill>
                                <a:schemeClr val="tx1"/>
                              </a:solidFill>
                              <a:latin typeface="Cambria Math" panose="02040503050406030204" pitchFamily="18" charset="0"/>
                              <a:ea typeface="+mn-ea"/>
                              <a:cs typeface="+mn-cs"/>
                            </a:rPr>
                            <m:t>14</m:t>
                          </m:r>
                        </m:den>
                      </m:f>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42</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4</m:t>
                          </m:r>
                        </m:num>
                        <m:den>
                          <m:r>
                            <a:rPr lang="ar-AE" sz="1200" i="0" kern="1200">
                              <a:solidFill>
                                <a:schemeClr val="tx1"/>
                              </a:solidFill>
                              <a:latin typeface="Cambria Math" panose="02040503050406030204" pitchFamily="18" charset="0"/>
                              <a:ea typeface="+mn-ea"/>
                              <a:cs typeface="+mn-cs"/>
                            </a:rPr>
                            <m:t>14</m:t>
                          </m:r>
                        </m:den>
                      </m:f>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5</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443</m:t>
                      </m:r>
                    </m:oMath>
                  </m:oMathPara>
                </a14:m>
                <a:endParaRPr lang="ar-AE" dirty="0"/>
              </a:p>
              <a:p>
                <a:r>
                  <a:rPr lang="en-US" b="1" dirty="0"/>
                  <a:t>Compare splits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𝐺𝑖𝑛</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𝑖</m:t>
                          </m:r>
                        </m:e>
                        <m:sub>
                          <m:d>
                            <m:dPr>
                              <m:begChr m:val="{"/>
                              <m:endChr m:val="}"/>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𝑙</m:t>
                              </m:r>
                            </m:e>
                            <m:e>
                              <m:r>
                                <a:rPr lang="ar-AE" sz="1200" i="1" kern="1200">
                                  <a:solidFill>
                                    <a:schemeClr val="tx1"/>
                                  </a:solidFill>
                                  <a:latin typeface="Cambria Math" panose="02040503050406030204" pitchFamily="18" charset="0"/>
                                  <a:ea typeface="+mn-ea"/>
                                  <a:cs typeface="+mn-cs"/>
                                </a:rPr>
                                <m:t>𝑜𝑤</m:t>
                              </m:r>
                              <m:r>
                                <a:rPr lang="ar-AE" sz="1200" i="1" kern="1200">
                                  <a:solidFill>
                                    <a:schemeClr val="tx1"/>
                                  </a:solidFill>
                                  <a:latin typeface="Cambria Math" panose="02040503050406030204" pitchFamily="18" charset="0"/>
                                  <a:ea typeface="+mn-ea"/>
                                  <a:cs typeface="+mn-cs"/>
                                </a:rPr>
                                <m:t>h</m:t>
                              </m:r>
                              <m:r>
                                <a:rPr lang="ar-AE" sz="1200" i="1" kern="1200">
                                  <a:solidFill>
                                    <a:schemeClr val="tx1"/>
                                  </a:solidFill>
                                  <a:latin typeface="Cambria Math" panose="02040503050406030204" pitchFamily="18" charset="0"/>
                                  <a:ea typeface="+mn-ea"/>
                                  <a:cs typeface="+mn-cs"/>
                                </a:rPr>
                                <m:t>𝑖𝑔</m:t>
                              </m:r>
                              <m:r>
                                <a:rPr lang="ar-AE" sz="1200" i="1" kern="1200">
                                  <a:solidFill>
                                    <a:schemeClr val="tx1"/>
                                  </a:solidFill>
                                  <a:latin typeface="Cambria Math" panose="02040503050406030204" pitchFamily="18" charset="0"/>
                                  <a:ea typeface="+mn-ea"/>
                                  <a:cs typeface="+mn-cs"/>
                                </a:rPr>
                                <m:t>h</m:t>
                              </m:r>
                            </m:e>
                          </m:d>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458</m:t>
                      </m:r>
                    </m:oMath>
                  </m:oMathPara>
                </a14:m>
                <a:endParaRPr lang="ar-AE" dirty="0"/>
              </a:p>
              <a:p>
                <a:pPr/>
                <a14:m>
                  <m:oMathPara xmlns:m="http://schemas.openxmlformats.org/officeDocument/2006/math">
                    <m:oMathParaPr>
                      <m:jc m:val="centerGroup"/>
                    </m:oMathParaPr>
                    <m:oMath xmlns:m="http://schemas.openxmlformats.org/officeDocument/2006/math">
                      <m:r>
                        <a:rPr lang="ar-AE" sz="1200" i="1" kern="1200">
                          <a:solidFill>
                            <a:schemeClr val="tx1"/>
                          </a:solidFill>
                          <a:latin typeface="Cambria Math" panose="02040503050406030204" pitchFamily="18" charset="0"/>
                          <a:ea typeface="+mn-ea"/>
                          <a:cs typeface="+mn-cs"/>
                        </a:rPr>
                        <m:t>𝐺𝑖𝑛</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𝑖</m:t>
                          </m:r>
                        </m:e>
                        <m:sub>
                          <m:d>
                            <m:dPr>
                              <m:begChr m:val="{"/>
                              <m:endChr m:val="}"/>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𝑚</m:t>
                              </m:r>
                            </m:e>
                            <m:e>
                              <m:r>
                                <a:rPr lang="ar-AE" sz="1200" i="1" kern="1200">
                                  <a:solidFill>
                                    <a:schemeClr val="tx1"/>
                                  </a:solidFill>
                                  <a:latin typeface="Cambria Math" panose="02040503050406030204" pitchFamily="18" charset="0"/>
                                  <a:ea typeface="+mn-ea"/>
                                  <a:cs typeface="+mn-cs"/>
                                </a:rPr>
                                <m:t>𝑒𝑑𝑖𝑢𝑚</m:t>
                              </m:r>
                              <m:r>
                                <a:rPr lang="ar-AE" sz="1200" i="1" kern="1200">
                                  <a:solidFill>
                                    <a:schemeClr val="tx1"/>
                                  </a:solidFill>
                                  <a:latin typeface="Cambria Math" panose="02040503050406030204" pitchFamily="18" charset="0"/>
                                  <a:ea typeface="+mn-ea"/>
                                  <a:cs typeface="+mn-cs"/>
                                </a:rPr>
                                <m:t>h</m:t>
                              </m:r>
                              <m:r>
                                <a:rPr lang="ar-AE" sz="1200" i="1" kern="1200">
                                  <a:solidFill>
                                    <a:schemeClr val="tx1"/>
                                  </a:solidFill>
                                  <a:latin typeface="Cambria Math" panose="02040503050406030204" pitchFamily="18" charset="0"/>
                                  <a:ea typeface="+mn-ea"/>
                                  <a:cs typeface="+mn-cs"/>
                                </a:rPr>
                                <m:t>𝑖𝑔</m:t>
                              </m:r>
                              <m:r>
                                <a:rPr lang="ar-AE" sz="1200" i="1" kern="1200">
                                  <a:solidFill>
                                    <a:schemeClr val="tx1"/>
                                  </a:solidFill>
                                  <a:latin typeface="Cambria Math" panose="02040503050406030204" pitchFamily="18" charset="0"/>
                                  <a:ea typeface="+mn-ea"/>
                                  <a:cs typeface="+mn-cs"/>
                                </a:rPr>
                                <m:t>h</m:t>
                              </m:r>
                            </m:e>
                          </m:d>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450</m:t>
                      </m:r>
                    </m:oMath>
                  </m:oMathPara>
                </a14:m>
                <a:endParaRPr lang="ar-AE" dirty="0"/>
              </a:p>
              <a:p>
                <a:pPr/>
                <a14:m>
                  <m:oMathPara xmlns:m="http://schemas.openxmlformats.org/officeDocument/2006/math">
                    <m:oMathParaPr>
                      <m:jc m:val="centerGroup"/>
                    </m:oMathParaPr>
                    <m:oMath xmlns:m="http://schemas.openxmlformats.org/officeDocument/2006/math">
                      <m:r>
                        <a:rPr lang="ar-AE" sz="1200" i="1" kern="1200">
                          <a:solidFill>
                            <a:schemeClr val="tx1"/>
                          </a:solidFill>
                          <a:latin typeface="Cambria Math" panose="02040503050406030204" pitchFamily="18" charset="0"/>
                          <a:ea typeface="+mn-ea"/>
                          <a:cs typeface="+mn-cs"/>
                        </a:rPr>
                        <m:t>𝐺𝑖𝑛</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𝑖</m:t>
                          </m:r>
                        </m:e>
                        <m:sub>
                          <m:d>
                            <m:dPr>
                              <m:begChr m:val="{"/>
                              <m:endChr m:val="}"/>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𝑙</m:t>
                              </m:r>
                            </m:e>
                            <m:e>
                              <m:r>
                                <a:rPr lang="ar-AE" sz="1200" i="1" kern="1200">
                                  <a:solidFill>
                                    <a:schemeClr val="tx1"/>
                                  </a:solidFill>
                                  <a:latin typeface="Cambria Math" panose="02040503050406030204" pitchFamily="18" charset="0"/>
                                  <a:ea typeface="+mn-ea"/>
                                  <a:cs typeface="+mn-cs"/>
                                </a:rPr>
                                <m:t>𝑜𝑤𝑚𝑒𝑑𝑖𝑢𝑚</m:t>
                              </m:r>
                            </m:e>
                          </m:d>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443</m:t>
                      </m:r>
                    </m:oMath>
                  </m:oMathPara>
                </a14:m>
                <a:endParaRPr lang="ar-AE" dirty="0"/>
              </a:p>
              <a:p>
                <a:r>
                  <a:rPr lang="en-US" b="1" dirty="0"/>
                  <a:t>Final decision</a:t>
                </a:r>
              </a:p>
              <a:p>
                <a:r>
                  <a:rPr lang="en-US" dirty="0"/>
                  <a:t>Choose the split:</a:t>
                </a:r>
              </a:p>
              <a:p>
                <a:pPr/>
                <a14:m>
                  <m:oMathPara xmlns:m="http://schemas.openxmlformats.org/officeDocument/2006/math">
                    <m:oMathParaPr>
                      <m:jc m:val="centerGroup"/>
                    </m:oMathParaPr>
                    <m:oMath xmlns:m="http://schemas.openxmlformats.org/officeDocument/2006/math">
                      <m:d>
                        <m:dPr>
                          <m:begChr m:val="{"/>
                          <m:endChr m:val="}"/>
                          <m:sepChr m:val=","/>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𝑙</m:t>
                          </m:r>
                        </m:e>
                        <m:e>
                          <m:r>
                            <a:rPr lang="ar-AE" sz="1200" i="1" kern="1200">
                              <a:solidFill>
                                <a:schemeClr val="tx1"/>
                              </a:solidFill>
                              <a:latin typeface="Cambria Math" panose="02040503050406030204" pitchFamily="18" charset="0"/>
                              <a:ea typeface="+mn-ea"/>
                              <a:cs typeface="+mn-cs"/>
                            </a:rPr>
                            <m:t>𝑜𝑤𝑚𝑒𝑑𝑖𝑢𝑚</m:t>
                          </m:r>
                        </m:e>
                      </m:d>
                      <m:r>
                        <a:rPr lang="ar-AE" sz="1200" i="0" kern="1200">
                          <a:solidFill>
                            <a:schemeClr val="tx1"/>
                          </a:solidFill>
                          <a:latin typeface="Cambria Math" panose="02040503050406030204" pitchFamily="18" charset="0"/>
                          <a:ea typeface="+mn-ea"/>
                          <a:cs typeface="+mn-cs"/>
                        </a:rPr>
                        <m:t> </m:t>
                      </m:r>
                      <m:r>
                        <m:rPr>
                          <m:nor/>
                        </m:rPr>
                        <a:rPr lang="en-US" sz="1200" b="0" i="1" kern="1200">
                          <a:solidFill>
                            <a:schemeClr val="tx1"/>
                          </a:solidFill>
                          <a:latin typeface="+mn-lt"/>
                          <a:ea typeface="+mn-ea"/>
                          <a:cs typeface="+mn-cs"/>
                        </a:rPr>
                        <m:t>and</m:t>
                      </m:r>
                      <m:r>
                        <a:rPr lang="en-US" sz="1200" b="0" i="0" kern="1200">
                          <a:solidFill>
                            <a:schemeClr val="tx1"/>
                          </a:solidFill>
                          <a:latin typeface="Cambria Math" panose="02040503050406030204" pitchFamily="18" charset="0"/>
                          <a:ea typeface="+mn-ea"/>
                          <a:cs typeface="+mn-cs"/>
                        </a:rPr>
                        <m:t> </m:t>
                      </m:r>
                      <m:d>
                        <m:dPr>
                          <m:begChr m:val="{"/>
                          <m:endChr m:val="}"/>
                          <m:ctrlPr>
                            <a:rPr lang="ar-AE" sz="1200" b="0" i="1" kern="1200">
                              <a:solidFill>
                                <a:schemeClr val="tx1"/>
                              </a:solidFill>
                              <a:latin typeface="Cambria Math" panose="02040503050406030204" pitchFamily="18" charset="0"/>
                              <a:ea typeface="+mn-ea"/>
                              <a:cs typeface="+mn-cs"/>
                            </a:rPr>
                          </m:ctrlPr>
                        </m:dPr>
                        <m:e>
                          <m:r>
                            <a:rPr lang="ar-AE" sz="1200" b="0" i="1" kern="1200">
                              <a:solidFill>
                                <a:schemeClr val="tx1"/>
                              </a:solidFill>
                              <a:latin typeface="Cambria Math" panose="02040503050406030204" pitchFamily="18" charset="0"/>
                              <a:ea typeface="+mn-ea"/>
                              <a:cs typeface="+mn-cs"/>
                            </a:rPr>
                            <m:t>h</m:t>
                          </m:r>
                          <m:r>
                            <a:rPr lang="ar-AE" sz="1200" b="0" i="1" kern="1200">
                              <a:solidFill>
                                <a:schemeClr val="tx1"/>
                              </a:solidFill>
                              <a:latin typeface="Cambria Math" panose="02040503050406030204" pitchFamily="18" charset="0"/>
                              <a:ea typeface="+mn-ea"/>
                              <a:cs typeface="+mn-cs"/>
                            </a:rPr>
                            <m:t>𝑖𝑔</m:t>
                          </m:r>
                          <m:r>
                            <a:rPr lang="ar-AE" sz="1200" b="0" i="1" kern="1200">
                              <a:solidFill>
                                <a:schemeClr val="tx1"/>
                              </a:solidFill>
                              <a:latin typeface="Cambria Math" panose="02040503050406030204" pitchFamily="18" charset="0"/>
                              <a:ea typeface="+mn-ea"/>
                              <a:cs typeface="+mn-cs"/>
                            </a:rPr>
                            <m:t>h</m:t>
                          </m:r>
                        </m:e>
                      </m:d>
                    </m:oMath>
                  </m:oMathPara>
                </a14:m>
                <a:endParaRPr lang="ar-AE" b="0" dirty="0"/>
              </a:p>
              <a:p>
                <a:r>
                  <a:rPr lang="en-US" dirty="0"/>
                  <a:t>because it has the </a:t>
                </a:r>
                <a:r>
                  <a:rPr lang="en-US" b="1" dirty="0"/>
                  <a:t>lowest Gini index</a:t>
                </a:r>
                <a:r>
                  <a:rPr lang="en-US" dirty="0"/>
                  <a:t>.</a:t>
                </a:r>
              </a:p>
              <a:p>
                <a:endParaRPr lang="en-US" dirty="0"/>
              </a:p>
            </p:txBody>
          </p:sp>
        </mc:Choice>
        <mc:Fallback xmlns="">
          <p:sp>
            <p:nvSpPr>
              <p:cNvPr id="103428" name="Rectangle 3"/>
              <p:cNvSpPr>
                <a:spLocks noGrp="1" noChangeArrowheads="1"/>
              </p:cNvSpPr>
              <p:nvPr>
                <p:ph type="body" idx="1"/>
              </p:nvPr>
            </p:nvSpPr>
            <p:spPr>
              <a:noFill/>
              <a:ln/>
            </p:spPr>
            <p:txBody>
              <a:bodyPr>
                <a:normAutofit fontScale="55000" lnSpcReduction="20000"/>
              </a:bodyPr>
              <a:lstStyle/>
              <a:p>
                <a:r>
                  <a:rPr lang="en-US" b="1" dirty="0"/>
                  <a:t>Gini Index — simple meaning</a:t>
                </a:r>
              </a:p>
              <a:p>
                <a:r>
                  <a:rPr lang="en-US" b="1" dirty="0"/>
                  <a:t>Gini Index</a:t>
                </a:r>
                <a:r>
                  <a:rPr lang="en-US" dirty="0"/>
                  <a:t> measures how </a:t>
                </a:r>
                <a:r>
                  <a:rPr lang="en-US" b="1" dirty="0"/>
                  <a:t>impure</a:t>
                </a:r>
                <a:r>
                  <a:rPr lang="en-US" dirty="0"/>
                  <a:t> a dataset is.</a:t>
                </a:r>
              </a:p>
              <a:p>
                <a:r>
                  <a:rPr lang="en-US" dirty="0"/>
                  <a:t>Lower Gini means </a:t>
                </a:r>
                <a:r>
                  <a:rPr lang="en-US" b="1" dirty="0"/>
                  <a:t>better split</a:t>
                </a:r>
                <a:r>
                  <a:rPr lang="en-US" dirty="0"/>
                  <a:t> (more pure groups).</a:t>
                </a:r>
              </a:p>
              <a:p>
                <a:r>
                  <a:rPr lang="en-US" b="1" dirty="0"/>
                  <a:t>Step 1: Gini of whole dataset</a:t>
                </a:r>
              </a:p>
              <a:p>
                <a:r>
                  <a:rPr lang="en-US" dirty="0"/>
                  <a:t>There are:</a:t>
                </a:r>
              </a:p>
              <a:p>
                <a:r>
                  <a:rPr lang="en-US" b="1" dirty="0"/>
                  <a:t>9 yes</a:t>
                </a:r>
                <a:endParaRPr lang="en-US" dirty="0"/>
              </a:p>
              <a:p>
                <a:r>
                  <a:rPr lang="en-US" b="1" dirty="0"/>
                  <a:t>5 no</a:t>
                </a:r>
                <a:endParaRPr lang="en-US" dirty="0"/>
              </a:p>
              <a:p>
                <a:pPr/>
                <a:r>
                  <a:rPr lang="en-US" sz="1200" i="0" kern="1200">
                    <a:solidFill>
                      <a:schemeClr val="tx1"/>
                    </a:solidFill>
                    <a:latin typeface="Cambria Math" panose="02040503050406030204" pitchFamily="18" charset="0"/>
                    <a:ea typeface="+mn-ea"/>
                    <a:cs typeface="+mn-cs"/>
                  </a:rPr>
                  <a:t>𝐺𝑖𝑛𝑖</a:t>
                </a:r>
                <a:r>
                  <a:rPr lang="ar-AE" sz="1200" i="0" kern="1200">
                    <a:solidFill>
                      <a:schemeClr val="tx1"/>
                    </a:solidFill>
                    <a:latin typeface="Cambria Math" panose="02040503050406030204" pitchFamily="18" charset="0"/>
                    <a:ea typeface="+mn-ea"/>
                    <a:cs typeface="+mn-cs"/>
                  </a:rPr>
                  <a:t>(𝐷)=1−(9/14)^2−(5/14)^2=0.459</a:t>
                </a:r>
                <a:endParaRPr lang="ar-AE" dirty="0"/>
              </a:p>
              <a:p>
                <a:r>
                  <a:rPr lang="en-US" b="1" dirty="0"/>
                  <a:t>Step 2: Try a split on income</a:t>
                </a:r>
              </a:p>
              <a:p>
                <a:r>
                  <a:rPr lang="en-US" dirty="0"/>
                  <a:t>Split into:</a:t>
                </a:r>
              </a:p>
              <a:p>
                <a:r>
                  <a:rPr lang="en-US" b="1" dirty="0"/>
                  <a:t>D1 = {low, medium}</a:t>
                </a:r>
                <a:r>
                  <a:rPr lang="en-US" dirty="0"/>
                  <a:t> → 10 tuples</a:t>
                </a:r>
              </a:p>
              <a:p>
                <a:r>
                  <a:rPr lang="en-US" b="1" dirty="0"/>
                  <a:t>D2 = {high}</a:t>
                </a:r>
                <a:r>
                  <a:rPr lang="en-US" dirty="0"/>
                  <a:t> → 4 tuples</a:t>
                </a:r>
              </a:p>
              <a:p>
                <a:r>
                  <a:rPr lang="en-US" dirty="0"/>
                  <a:t>Now compute weighted Gini:</a:t>
                </a:r>
              </a:p>
              <a:p>
                <a:pPr/>
                <a:r>
                  <a:rPr lang="en-US" sz="1200" i="0" kern="1200">
                    <a:solidFill>
                      <a:schemeClr val="tx1"/>
                    </a:solidFill>
                    <a:latin typeface="Cambria Math" panose="02040503050406030204" pitchFamily="18" charset="0"/>
                    <a:ea typeface="+mn-ea"/>
                    <a:cs typeface="+mn-cs"/>
                  </a:rPr>
                  <a:t>𝐺𝑖𝑛</a:t>
                </a:r>
                <a:r>
                  <a:rPr lang="ar-AE" sz="1200" i="0" kern="1200">
                    <a:solidFill>
                      <a:schemeClr val="tx1"/>
                    </a:solidFill>
                    <a:latin typeface="Cambria Math" panose="02040503050406030204" pitchFamily="18" charset="0"/>
                    <a:ea typeface="+mn-ea"/>
                    <a:cs typeface="+mn-cs"/>
                  </a:rPr>
                  <a:t>𝑖_𝑖𝑛𝑐𝑜𝑚𝑒 (𝐷)=10/14 𝐺𝑖𝑛𝑖(𝐷_1 )+4/14 𝐺𝑖𝑛𝑖(𝐷_2 )</a:t>
                </a:r>
                <a:endParaRPr lang="ar-AE" dirty="0"/>
              </a:p>
              <a:p>
                <a:r>
                  <a:rPr lang="en-US" dirty="0"/>
                  <a:t>For </a:t>
                </a:r>
                <a:r>
                  <a:rPr lang="ar-AE" sz="1200" i="0" kern="1200">
                    <a:solidFill>
                      <a:schemeClr val="tx1"/>
                    </a:solidFill>
                    <a:latin typeface="Cambria Math" panose="02040503050406030204" pitchFamily="18" charset="0"/>
                    <a:ea typeface="+mn-ea"/>
                    <a:cs typeface="+mn-cs"/>
                  </a:rPr>
                  <a:t>𝐷_1</a:t>
                </a:r>
                <a:r>
                  <a:rPr lang="ar-AE" dirty="0"/>
                  <a:t>: 7 </a:t>
                </a:r>
                <a:r>
                  <a:rPr lang="en-US" dirty="0"/>
                  <a:t>yes, 3 no</a:t>
                </a:r>
              </a:p>
              <a:p>
                <a:pPr/>
                <a:r>
                  <a:rPr lang="en-US" sz="1200" i="0" kern="1200">
                    <a:solidFill>
                      <a:schemeClr val="tx1"/>
                    </a:solidFill>
                    <a:latin typeface="Cambria Math" panose="02040503050406030204" pitchFamily="18" charset="0"/>
                    <a:ea typeface="+mn-ea"/>
                    <a:cs typeface="+mn-cs"/>
                  </a:rPr>
                  <a:t>𝐺𝑖𝑛𝑖</a:t>
                </a:r>
                <a:r>
                  <a:rPr lang="ar-AE" sz="1200" i="0" kern="1200">
                    <a:solidFill>
                      <a:schemeClr val="tx1"/>
                    </a:solidFill>
                    <a:latin typeface="Cambria Math" panose="02040503050406030204" pitchFamily="18" charset="0"/>
                    <a:ea typeface="+mn-ea"/>
                    <a:cs typeface="+mn-cs"/>
                  </a:rPr>
                  <a:t>(𝐷_1 )=1−(7/10)^2−(3/10)^2</a:t>
                </a:r>
                <a:endParaRPr lang="ar-AE" dirty="0"/>
              </a:p>
              <a:p>
                <a:r>
                  <a:rPr lang="en-US" dirty="0"/>
                  <a:t>For </a:t>
                </a:r>
                <a:r>
                  <a:rPr lang="ar-AE" sz="1200" i="0" kern="1200">
                    <a:solidFill>
                      <a:schemeClr val="tx1"/>
                    </a:solidFill>
                    <a:latin typeface="Cambria Math" panose="02040503050406030204" pitchFamily="18" charset="0"/>
                    <a:ea typeface="+mn-ea"/>
                    <a:cs typeface="+mn-cs"/>
                  </a:rPr>
                  <a:t>𝐷_2</a:t>
                </a:r>
                <a:r>
                  <a:rPr lang="ar-AE" dirty="0"/>
                  <a:t>: 2 </a:t>
                </a:r>
                <a:r>
                  <a:rPr lang="en-US" dirty="0"/>
                  <a:t>yes, 2 no</a:t>
                </a:r>
              </a:p>
              <a:p>
                <a:pPr/>
                <a:r>
                  <a:rPr lang="en-US" sz="1200" i="0" kern="1200">
                    <a:solidFill>
                      <a:schemeClr val="tx1"/>
                    </a:solidFill>
                    <a:latin typeface="Cambria Math" panose="02040503050406030204" pitchFamily="18" charset="0"/>
                    <a:ea typeface="+mn-ea"/>
                    <a:cs typeface="+mn-cs"/>
                  </a:rPr>
                  <a:t>𝐺𝑖𝑛𝑖</a:t>
                </a:r>
                <a:r>
                  <a:rPr lang="ar-AE" sz="1200" i="0" kern="1200">
                    <a:solidFill>
                      <a:schemeClr val="tx1"/>
                    </a:solidFill>
                    <a:latin typeface="Cambria Math" panose="02040503050406030204" pitchFamily="18" charset="0"/>
                    <a:ea typeface="+mn-ea"/>
                    <a:cs typeface="+mn-cs"/>
                  </a:rPr>
                  <a:t>(𝐷_2 )=1−(2/4)^2−(2/4)^2</a:t>
                </a:r>
                <a:endParaRPr lang="ar-AE" dirty="0"/>
              </a:p>
              <a:p>
                <a:r>
                  <a:rPr lang="en-US" dirty="0"/>
                  <a:t>So,</a:t>
                </a:r>
              </a:p>
              <a:p>
                <a:pPr/>
                <a:r>
                  <a:rPr lang="en-US" sz="1200" i="0" kern="1200">
                    <a:solidFill>
                      <a:schemeClr val="tx1"/>
                    </a:solidFill>
                    <a:latin typeface="Cambria Math" panose="02040503050406030204" pitchFamily="18" charset="0"/>
                    <a:ea typeface="+mn-ea"/>
                    <a:cs typeface="+mn-cs"/>
                  </a:rPr>
                  <a:t>𝐺𝑖𝑛</a:t>
                </a:r>
                <a:r>
                  <a:rPr lang="ar-AE" sz="1200" i="0" kern="1200">
                    <a:solidFill>
                      <a:schemeClr val="tx1"/>
                    </a:solidFill>
                    <a:latin typeface="Cambria Math" panose="02040503050406030204" pitchFamily="18" charset="0"/>
                    <a:ea typeface="+mn-ea"/>
                    <a:cs typeface="+mn-cs"/>
                  </a:rPr>
                  <a:t>𝑖_𝑖𝑛𝑐𝑜𝑚𝑒 (𝐷)=10/14 (0.42)+4/14 (0.5)=0.443</a:t>
                </a:r>
                <a:endParaRPr lang="ar-AE" dirty="0"/>
              </a:p>
              <a:p>
                <a:r>
                  <a:rPr lang="en-US" b="1" dirty="0"/>
                  <a:t>Compare splits</a:t>
                </a:r>
              </a:p>
              <a:p>
                <a:pPr/>
                <a:r>
                  <a:rPr lang="en-US" sz="1200" i="0" kern="1200">
                    <a:solidFill>
                      <a:schemeClr val="tx1"/>
                    </a:solidFill>
                    <a:latin typeface="Cambria Math" panose="02040503050406030204" pitchFamily="18" charset="0"/>
                    <a:ea typeface="+mn-ea"/>
                    <a:cs typeface="+mn-cs"/>
                  </a:rPr>
                  <a:t>𝐺𝑖𝑛</a:t>
                </a:r>
                <a:r>
                  <a:rPr lang="ar-AE" sz="1200" i="0" kern="1200">
                    <a:solidFill>
                      <a:schemeClr val="tx1"/>
                    </a:solidFill>
                    <a:latin typeface="Cambria Math" panose="02040503050406030204" pitchFamily="18" charset="0"/>
                    <a:ea typeface="+mn-ea"/>
                    <a:cs typeface="+mn-cs"/>
                  </a:rPr>
                  <a:t>𝑖_{𝑙ⓜ,𝑜𝑤ℎ𝑖𝑔ℎ} =0.458</a:t>
                </a:r>
                <a:endParaRPr lang="ar-AE" dirty="0"/>
              </a:p>
              <a:p>
                <a:pPr/>
                <a:r>
                  <a:rPr lang="ar-AE" sz="1200" i="0" kern="1200">
                    <a:solidFill>
                      <a:schemeClr val="tx1"/>
                    </a:solidFill>
                    <a:latin typeface="Cambria Math" panose="02040503050406030204" pitchFamily="18" charset="0"/>
                    <a:ea typeface="+mn-ea"/>
                    <a:cs typeface="+mn-cs"/>
                  </a:rPr>
                  <a:t>𝐺𝑖𝑛𝑖_{𝑚ⓜ,𝑒𝑑𝑖𝑢𝑚ℎ𝑖𝑔ℎ} =0.450</a:t>
                </a:r>
                <a:endParaRPr lang="ar-AE" dirty="0"/>
              </a:p>
              <a:p>
                <a:pPr/>
                <a:r>
                  <a:rPr lang="ar-AE" sz="1200" i="0" kern="1200">
                    <a:solidFill>
                      <a:schemeClr val="tx1"/>
                    </a:solidFill>
                    <a:latin typeface="Cambria Math" panose="02040503050406030204" pitchFamily="18" charset="0"/>
                    <a:ea typeface="+mn-ea"/>
                    <a:cs typeface="+mn-cs"/>
                  </a:rPr>
                  <a:t>𝐺𝑖𝑛𝑖_{𝑙ⓜ,𝑜𝑤𝑚𝑒𝑑𝑖𝑢𝑚} =0.443</a:t>
                </a:r>
                <a:endParaRPr lang="ar-AE" dirty="0"/>
              </a:p>
              <a:p>
                <a:r>
                  <a:rPr lang="en-US" b="1" dirty="0"/>
                  <a:t>Final decision</a:t>
                </a:r>
              </a:p>
              <a:p>
                <a:r>
                  <a:rPr lang="en-US" dirty="0"/>
                  <a:t>Choose the split:</a:t>
                </a:r>
              </a:p>
              <a:p>
                <a:pPr/>
                <a:r>
                  <a:rPr lang="ar-AE" sz="1200" i="0" kern="1200">
                    <a:solidFill>
                      <a:schemeClr val="tx1"/>
                    </a:solidFill>
                    <a:latin typeface="Cambria Math" panose="02040503050406030204" pitchFamily="18" charset="0"/>
                    <a:ea typeface="+mn-ea"/>
                    <a:cs typeface="+mn-cs"/>
                  </a:rPr>
                  <a:t>{𝑙ⓜ,𝑜𝑤𝑚𝑒𝑑𝑖𝑢𝑚}  </a:t>
                </a:r>
                <a:r>
                  <a:rPr lang="en-US" sz="1200" b="0" i="0" kern="1200">
                    <a:solidFill>
                      <a:schemeClr val="tx1"/>
                    </a:solidFill>
                    <a:latin typeface="Cambria Math" panose="02040503050406030204" pitchFamily="18" charset="0"/>
                    <a:ea typeface="+mn-ea"/>
                    <a:cs typeface="+mn-cs"/>
                  </a:rPr>
                  <a:t>"and" </a:t>
                </a:r>
                <a:r>
                  <a:rPr lang="ar-AE" sz="1200" b="0" i="0" kern="1200">
                    <a:solidFill>
                      <a:schemeClr val="tx1"/>
                    </a:solidFill>
                    <a:latin typeface="Cambria Math" panose="02040503050406030204" pitchFamily="18" charset="0"/>
                    <a:ea typeface="+mn-ea"/>
                    <a:cs typeface="+mn-cs"/>
                  </a:rPr>
                  <a:t>{ℎ𝑖𝑔ℎ}</a:t>
                </a:r>
                <a:endParaRPr lang="ar-AE" b="0" dirty="0"/>
              </a:p>
              <a:p>
                <a:r>
                  <a:rPr lang="en-US" dirty="0"/>
                  <a:t>because it has the </a:t>
                </a:r>
                <a:r>
                  <a:rPr lang="en-US" b="1" dirty="0"/>
                  <a:t>lowest Gini index</a:t>
                </a:r>
                <a:r>
                  <a:rPr lang="en-US" dirty="0"/>
                  <a:t>.</a:t>
                </a:r>
              </a:p>
              <a:p>
                <a:endParaRPr lang="en-US" dirty="0"/>
              </a:p>
            </p:txBody>
          </p:sp>
        </mc:Fallback>
      </mc:AlternateContent>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0E9B78EE-3AC9-46EC-8F45-D62C174BAF66}" type="slidenum">
              <a:rPr lang="en-US" smtClean="0"/>
              <a:pPr/>
              <a:t>36</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r>
              <a:rPr lang="en-US" b="1" dirty="0"/>
              <a:t>Measure used</a:t>
            </a:r>
            <a:endParaRPr lang="en-US" dirty="0"/>
          </a:p>
          <a:p>
            <a:r>
              <a:rPr lang="en-US" b="1" dirty="0"/>
              <a:t>Information Gain:</a:t>
            </a:r>
            <a:r>
              <a:rPr lang="en-US" dirty="0"/>
              <a:t> based on </a:t>
            </a:r>
            <a:r>
              <a:rPr lang="en-US" b="1" dirty="0"/>
              <a:t>entropy</a:t>
            </a:r>
            <a:endParaRPr lang="en-US" dirty="0"/>
          </a:p>
          <a:p>
            <a:r>
              <a:rPr lang="en-US" b="1" dirty="0"/>
              <a:t>Gini Index:</a:t>
            </a:r>
            <a:r>
              <a:rPr lang="en-US" dirty="0"/>
              <a:t> based on </a:t>
            </a:r>
            <a:r>
              <a:rPr lang="en-US" b="1" dirty="0"/>
              <a:t>Gini impurity</a:t>
            </a:r>
            <a:endParaRPr lang="en-US" dirty="0"/>
          </a:p>
          <a:p>
            <a:r>
              <a:rPr lang="en-US" b="1" dirty="0"/>
              <a:t>Goal</a:t>
            </a:r>
            <a:endParaRPr lang="en-US" dirty="0"/>
          </a:p>
          <a:p>
            <a:r>
              <a:rPr lang="en-US" b="1" dirty="0"/>
              <a:t>Information Gain:</a:t>
            </a:r>
            <a:r>
              <a:rPr lang="en-US" dirty="0"/>
              <a:t> choose split with </a:t>
            </a:r>
            <a:r>
              <a:rPr lang="en-US" b="1" dirty="0"/>
              <a:t>maximum gain</a:t>
            </a:r>
            <a:endParaRPr lang="en-US" dirty="0"/>
          </a:p>
          <a:p>
            <a:r>
              <a:rPr lang="en-US" b="1" dirty="0"/>
              <a:t>Gini Index:</a:t>
            </a:r>
            <a:r>
              <a:rPr lang="en-US" dirty="0"/>
              <a:t> choose split with </a:t>
            </a:r>
            <a:r>
              <a:rPr lang="en-US" b="1" dirty="0"/>
              <a:t>minimum Gini</a:t>
            </a:r>
            <a:endParaRPr lang="en-US" dirty="0"/>
          </a:p>
          <a:p>
            <a:r>
              <a:rPr lang="en-US" b="1" dirty="0"/>
              <a:t>Bias</a:t>
            </a:r>
            <a:endParaRPr lang="en-US" dirty="0"/>
          </a:p>
          <a:p>
            <a:r>
              <a:rPr lang="en-US" b="1" dirty="0"/>
              <a:t>Information Gain:</a:t>
            </a:r>
            <a:r>
              <a:rPr lang="en-US" dirty="0"/>
              <a:t> tends to favor attributes with </a:t>
            </a:r>
            <a:r>
              <a:rPr lang="en-US" b="1" dirty="0"/>
              <a:t>many unique values</a:t>
            </a:r>
            <a:endParaRPr lang="en-US" dirty="0"/>
          </a:p>
          <a:p>
            <a:r>
              <a:rPr lang="en-US" b="1" dirty="0"/>
              <a:t>Gini Index:</a:t>
            </a:r>
            <a:r>
              <a:rPr lang="en-US" dirty="0"/>
              <a:t> usually </a:t>
            </a:r>
            <a:r>
              <a:rPr lang="en-US" b="1" dirty="0"/>
              <a:t>less biased</a:t>
            </a:r>
            <a:r>
              <a:rPr lang="en-US" dirty="0"/>
              <a:t> toward many-valued attributes</a:t>
            </a:r>
          </a:p>
          <a:p>
            <a:r>
              <a:rPr lang="en-US" b="1" dirty="0"/>
              <a:t>Computation</a:t>
            </a:r>
            <a:endParaRPr lang="en-US" dirty="0"/>
          </a:p>
          <a:p>
            <a:r>
              <a:rPr lang="en-US" b="1" dirty="0"/>
              <a:t>Information Gain:</a:t>
            </a:r>
            <a:r>
              <a:rPr lang="en-US" dirty="0"/>
              <a:t> uses </a:t>
            </a:r>
            <a:r>
              <a:rPr lang="en-US" b="1" dirty="0"/>
              <a:t>logarithm</a:t>
            </a:r>
            <a:r>
              <a:rPr lang="en-US" dirty="0"/>
              <a:t>, so a bit more complex</a:t>
            </a:r>
          </a:p>
          <a:p>
            <a:r>
              <a:rPr lang="en-US" b="1" dirty="0"/>
              <a:t>Gini Index:</a:t>
            </a:r>
            <a:r>
              <a:rPr lang="en-US" dirty="0"/>
              <a:t> simpler, no log is needed</a:t>
            </a:r>
          </a:p>
          <a:p>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Favors larger partitions</a:t>
                </a:r>
                <a:endParaRPr lang="en-US" dirty="0"/>
              </a:p>
              <a:p>
                <a:r>
                  <a:rPr lang="en-US" dirty="0"/>
                  <a:t>Uses the </a:t>
                </a:r>
                <a:r>
                  <a:rPr lang="en-US" b="1" dirty="0"/>
                  <a:t>squared proportions</a:t>
                </a:r>
                <a:r>
                  <a:rPr lang="en-US" dirty="0"/>
                  <a:t> of class probabilities</a:t>
                </a:r>
              </a:p>
              <a:p>
                <a:r>
                  <a:rPr lang="en-US" dirty="0"/>
                  <a:t>If the node is </a:t>
                </a:r>
                <a:r>
                  <a:rPr lang="en-US" b="1" dirty="0"/>
                  <a:t>perfectly pure</a:t>
                </a:r>
                <a:r>
                  <a:rPr lang="en-US" dirty="0"/>
                  <a:t>, Gini = </a:t>
                </a:r>
                <a:r>
                  <a:rPr lang="en-US" b="1" dirty="0"/>
                  <a:t>0</a:t>
                </a:r>
                <a:endParaRPr lang="en-US" dirty="0"/>
              </a:p>
              <a:p>
                <a:r>
                  <a:rPr lang="en-US" dirty="0"/>
                  <a:t>If classes are </a:t>
                </a:r>
                <a:r>
                  <a:rPr lang="en-US" b="1" dirty="0"/>
                  <a:t>evenly distributed</a:t>
                </a:r>
                <a:r>
                  <a:rPr lang="en-US" dirty="0"/>
                  <a:t>, Gini is </a:t>
                </a:r>
                <a:r>
                  <a:rPr lang="en-US" b="1" dirty="0"/>
                  <a:t>high</a:t>
                </a:r>
                <a:endParaRPr lang="en-US" dirty="0"/>
              </a:p>
              <a:p>
                <a:pPr/>
                <a14:m>
                  <m:oMathPara xmlns:m="http://schemas.openxmlformats.org/officeDocument/2006/math">
                    <m:oMathParaPr>
                      <m:jc m:val="centerGroup"/>
                    </m:oMathParaPr>
                    <m:oMath xmlns:m="http://schemas.openxmlformats.org/officeDocument/2006/math">
                      <m:r>
                        <a:rPr lang="en-US" sz="1200" kern="1200">
                          <a:solidFill>
                            <a:schemeClr val="tx1"/>
                          </a:solidFill>
                          <a:latin typeface="Cambria Math" panose="02040503050406030204" pitchFamily="18" charset="0"/>
                          <a:ea typeface="+mn-ea"/>
                          <a:cs typeface="+mn-cs"/>
                        </a:rPr>
                        <m:t>1</m:t>
                      </m:r>
                      <m:r>
                        <a:rPr lang="en-US"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m:t>
                          </m:r>
                        </m:num>
                        <m:den>
                          <m:r>
                            <m:rPr>
                              <m:nor/>
                            </m:rPr>
                            <a:rPr lang="en-US" sz="1200" b="0" i="1" kern="1200">
                              <a:solidFill>
                                <a:schemeClr val="tx1"/>
                              </a:solidFill>
                              <a:latin typeface="+mn-lt"/>
                              <a:ea typeface="+mn-ea"/>
                              <a:cs typeface="+mn-cs"/>
                            </a:rPr>
                            <m:t>number</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of</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classes</m:t>
                          </m:r>
                        </m:den>
                      </m:f>
                    </m:oMath>
                  </m:oMathPara>
                </a14:m>
                <a:endParaRPr lang="ar-AE" b="0" dirty="0"/>
              </a:p>
              <a:p>
                <a:r>
                  <a:rPr lang="en-US" dirty="0"/>
                  <a:t>In decision trees, we prefer the split with the </a:t>
                </a:r>
                <a:r>
                  <a:rPr lang="en-US" b="1" dirty="0"/>
                  <a:t>lowest Gini Index</a:t>
                </a:r>
                <a:endParaRPr lang="en-US" dirty="0"/>
              </a:p>
              <a:p>
                <a:endParaRPr lang="en-US" dirty="0"/>
              </a:p>
            </p:txBody>
          </p:sp>
        </mc:Choice>
        <mc:Fallback xmlns="">
          <p:sp>
            <p:nvSpPr>
              <p:cNvPr id="3" name="Notes Placeholder 2"/>
              <p:cNvSpPr>
                <a:spLocks noGrp="1"/>
              </p:cNvSpPr>
              <p:nvPr>
                <p:ph type="body" idx="1"/>
              </p:nvPr>
            </p:nvSpPr>
            <p:spPr/>
            <p:txBody>
              <a:bodyPr/>
              <a:lstStyle/>
              <a:p>
                <a:r>
                  <a:rPr lang="en-US" b="1" dirty="0"/>
                  <a:t>Favors larger partitions</a:t>
                </a:r>
                <a:endParaRPr lang="en-US" dirty="0"/>
              </a:p>
              <a:p>
                <a:r>
                  <a:rPr lang="en-US" dirty="0"/>
                  <a:t>Uses the </a:t>
                </a:r>
                <a:r>
                  <a:rPr lang="en-US" b="1" dirty="0"/>
                  <a:t>squared proportions</a:t>
                </a:r>
                <a:r>
                  <a:rPr lang="en-US" dirty="0"/>
                  <a:t> of class probabilities</a:t>
                </a:r>
              </a:p>
              <a:p>
                <a:r>
                  <a:rPr lang="en-US" dirty="0"/>
                  <a:t>If the node is </a:t>
                </a:r>
                <a:r>
                  <a:rPr lang="en-US" b="1" dirty="0"/>
                  <a:t>perfectly pure</a:t>
                </a:r>
                <a:r>
                  <a:rPr lang="en-US" dirty="0"/>
                  <a:t>, Gini = </a:t>
                </a:r>
                <a:r>
                  <a:rPr lang="en-US" b="1" dirty="0"/>
                  <a:t>0</a:t>
                </a:r>
                <a:endParaRPr lang="en-US" dirty="0"/>
              </a:p>
              <a:p>
                <a:r>
                  <a:rPr lang="en-US" dirty="0"/>
                  <a:t>If classes are </a:t>
                </a:r>
                <a:r>
                  <a:rPr lang="en-US" b="1" dirty="0"/>
                  <a:t>evenly distributed</a:t>
                </a:r>
                <a:r>
                  <a:rPr lang="en-US" dirty="0"/>
                  <a:t>, Gini is </a:t>
                </a:r>
                <a:r>
                  <a:rPr lang="en-US" b="1" dirty="0"/>
                  <a:t>high</a:t>
                </a:r>
                <a:endParaRPr lang="en-US" dirty="0"/>
              </a:p>
              <a:p>
                <a:r>
                  <a:rPr lang="en-US" sz="1200" i="0" kern="1200">
                    <a:solidFill>
                      <a:schemeClr val="tx1"/>
                    </a:solidFill>
                    <a:latin typeface="+mn-lt"/>
                    <a:ea typeface="+mn-ea"/>
                    <a:cs typeface="+mn-cs"/>
                  </a:rPr>
                  <a:t>1−</a:t>
                </a:r>
                <a:r>
                  <a:rPr lang="ar-AE" sz="1200" i="0" kern="1200">
                    <a:solidFill>
                      <a:schemeClr val="tx1"/>
                    </a:solidFill>
                    <a:latin typeface="+mn-lt"/>
                    <a:ea typeface="+mn-ea"/>
                    <a:cs typeface="+mn-cs"/>
                  </a:rPr>
                  <a:t>1/</a:t>
                </a:r>
                <a:r>
                  <a:rPr lang="en-US" sz="1200" b="0" i="0" kern="1200">
                    <a:solidFill>
                      <a:schemeClr val="tx1"/>
                    </a:solidFill>
                    <a:latin typeface="+mn-lt"/>
                    <a:ea typeface="+mn-ea"/>
                    <a:cs typeface="+mn-cs"/>
                  </a:rPr>
                  <a:t>"number of classes</a:t>
                </a:r>
                <a:r>
                  <a:rPr lang="ar-AE" sz="1200" b="0" i="0" kern="1200">
                    <a:solidFill>
                      <a:schemeClr val="tx1"/>
                    </a:solidFill>
                    <a:latin typeface="+mn-lt"/>
                    <a:ea typeface="+mn-ea"/>
                    <a:cs typeface="+mn-cs"/>
                  </a:rPr>
                  <a:t>" </a:t>
                </a:r>
                <a:endParaRPr lang="ar-AE" b="0" dirty="0"/>
              </a:p>
              <a:p>
                <a:r>
                  <a:rPr lang="en-US" dirty="0"/>
                  <a:t>In decision trees, we prefer the split with the </a:t>
                </a:r>
                <a:r>
                  <a:rPr lang="en-US" b="1" dirty="0"/>
                  <a:t>lowest Gini Index</a:t>
                </a: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37</a:t>
            </a:fld>
            <a:endParaRPr lang="en-US"/>
          </a:p>
        </p:txBody>
      </p:sp>
    </p:spTree>
    <p:extLst>
      <p:ext uri="{BB962C8B-B14F-4D97-AF65-F5344CB8AC3E}">
        <p14:creationId xmlns:p14="http://schemas.microsoft.com/office/powerpoint/2010/main" val="10518111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Misclassification Error — simple</a:t>
                </a:r>
              </a:p>
              <a:p>
                <a:r>
                  <a:rPr lang="en-US" dirty="0"/>
                  <a:t>At a node </a:t>
                </a:r>
                <a14:m>
                  <m:oMath xmlns:m="http://schemas.openxmlformats.org/officeDocument/2006/math">
                    <m:r>
                      <a:rPr lang="en-US" sz="1200" i="1" kern="1200">
                        <a:solidFill>
                          <a:schemeClr val="tx1"/>
                        </a:solidFill>
                        <a:latin typeface="Cambria Math" panose="02040503050406030204" pitchFamily="18" charset="0"/>
                        <a:ea typeface="+mn-ea"/>
                        <a:cs typeface="+mn-cs"/>
                      </a:rPr>
                      <m:t>𝑡</m:t>
                    </m:r>
                  </m:oMath>
                </a14:m>
                <a:r>
                  <a:rPr lang="en-US" dirty="0"/>
                  <a:t>,</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𝐸𝑟𝑟𝑜𝑟</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𝑡</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limLow>
                        <m:limLowPr>
                          <m:ctrlPr>
                            <a:rPr lang="ar-AE" sz="1200" i="1" kern="1200">
                              <a:solidFill>
                                <a:schemeClr val="tx1"/>
                              </a:solidFill>
                              <a:latin typeface="Cambria Math" panose="02040503050406030204" pitchFamily="18" charset="0"/>
                              <a:ea typeface="+mn-ea"/>
                              <a:cs typeface="+mn-cs"/>
                            </a:rPr>
                          </m:ctrlPr>
                        </m:limLow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max</m:t>
                              </m:r>
                            </m:fName>
                            <m:e/>
                          </m:func>
                        </m:e>
                        <m:lim>
                          <m:r>
                            <a:rPr lang="ar-AE" sz="1200" i="1" kern="1200">
                              <a:solidFill>
                                <a:schemeClr val="tx1"/>
                              </a:solidFill>
                              <a:latin typeface="Cambria Math" panose="02040503050406030204" pitchFamily="18" charset="0"/>
                              <a:ea typeface="+mn-ea"/>
                              <a:cs typeface="+mn-cs"/>
                            </a:rPr>
                            <m:t>𝑖</m:t>
                          </m:r>
                        </m:lim>
                      </m:limLow>
                      <m:r>
                        <a:rPr lang="ar-AE" sz="1200" i="1" kern="1200">
                          <a:solidFill>
                            <a:schemeClr val="tx1"/>
                          </a:solidFill>
                          <a:latin typeface="Cambria Math" panose="02040503050406030204" pitchFamily="18" charset="0"/>
                          <a:ea typeface="+mn-ea"/>
                          <a:cs typeface="+mn-cs"/>
                        </a:rPr>
                        <m:t>𝑃</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𝑖</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𝑡</m:t>
                          </m:r>
                        </m:e>
                      </m:d>
                    </m:oMath>
                  </m:oMathPara>
                </a14:m>
                <a:endParaRPr lang="ar-AE" dirty="0"/>
              </a:p>
              <a:p>
                <a:r>
                  <a:rPr lang="en-US" b="1" dirty="0"/>
                  <a:t>Meaning</a:t>
                </a:r>
              </a:p>
              <a:p>
                <a:r>
                  <a:rPr lang="en-US" dirty="0"/>
                  <a:t>Find the class with the </a:t>
                </a:r>
                <a:r>
                  <a:rPr lang="en-US" b="1" dirty="0"/>
                  <a:t>highest probability</a:t>
                </a:r>
                <a:r>
                  <a:rPr lang="en-US" dirty="0"/>
                  <a:t> in that node</a:t>
                </a:r>
              </a:p>
              <a:p>
                <a:r>
                  <a:rPr lang="en-US" dirty="0"/>
                  <a:t>Subtract it from </a:t>
                </a:r>
                <a:r>
                  <a:rPr lang="en-US" b="1" dirty="0"/>
                  <a:t>1</a:t>
                </a:r>
                <a:endParaRPr lang="en-US" dirty="0"/>
              </a:p>
              <a:p>
                <a:r>
                  <a:rPr lang="en-US" dirty="0"/>
                  <a:t>That gives the </a:t>
                </a:r>
                <a:r>
                  <a:rPr lang="en-US" b="1" dirty="0"/>
                  <a:t>misclassification error</a:t>
                </a:r>
                <a:endParaRPr lang="en-US" dirty="0"/>
              </a:p>
              <a:p>
                <a:r>
                  <a:rPr lang="en-US" b="1" dirty="0"/>
                  <a:t>Intuition</a:t>
                </a:r>
              </a:p>
              <a:p>
                <a:r>
                  <a:rPr lang="en-US" dirty="0"/>
                  <a:t>If one class dominates the node, error is </a:t>
                </a:r>
                <a:r>
                  <a:rPr lang="en-US" b="1" dirty="0"/>
                  <a:t>low</a:t>
                </a:r>
                <a:endParaRPr lang="en-US" dirty="0"/>
              </a:p>
              <a:p>
                <a:r>
                  <a:rPr lang="en-US" dirty="0"/>
                  <a:t>If classes are evenly mixed, error is </a:t>
                </a:r>
                <a:r>
                  <a:rPr lang="en-US" b="1" dirty="0"/>
                  <a:t>high</a:t>
                </a:r>
                <a:endParaRPr lang="en-US" dirty="0"/>
              </a:p>
              <a:p>
                <a:r>
                  <a:rPr lang="en-US" b="1" dirty="0"/>
                  <a:t>Special cases</a:t>
                </a:r>
              </a:p>
              <a:p>
                <a:r>
                  <a:rPr lang="en-US" b="1" dirty="0"/>
                  <a:t>Minimum error = 0</a:t>
                </a:r>
                <a:endParaRPr lang="en-US" dirty="0"/>
              </a:p>
              <a:p>
                <a:pPr lvl="1"/>
                <a:r>
                  <a:rPr lang="en-US" dirty="0"/>
                  <a:t>when all records belong to </a:t>
                </a:r>
                <a:r>
                  <a:rPr lang="en-US" b="1" dirty="0"/>
                  <a:t>one class</a:t>
                </a:r>
                <a:endParaRPr lang="en-US" dirty="0"/>
              </a:p>
              <a:p>
                <a:r>
                  <a:rPr lang="en-US" b="1" dirty="0"/>
                  <a:t>Maximum error = </a:t>
                </a:r>
                <a14:m>
                  <m:oMath xmlns:m="http://schemas.openxmlformats.org/officeDocument/2006/math">
                    <m:r>
                      <a:rPr lang="en-US" sz="1200" kern="1200">
                        <a:solidFill>
                          <a:schemeClr val="tx1"/>
                        </a:solidFill>
                        <a:latin typeface="Cambria Math" panose="02040503050406030204" pitchFamily="18" charset="0"/>
                        <a:ea typeface="+mn-ea"/>
                        <a:cs typeface="+mn-cs"/>
                      </a:rPr>
                      <m:t>1</m:t>
                    </m:r>
                    <m:r>
                      <a:rPr lang="en-US"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1</m:t>
                        </m:r>
                      </m:num>
                      <m:den>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𝑛</m:t>
                            </m:r>
                          </m:e>
                          <m:sub>
                            <m:r>
                              <a:rPr lang="ar-AE" sz="1200" i="1" kern="1200">
                                <a:solidFill>
                                  <a:schemeClr val="tx1"/>
                                </a:solidFill>
                                <a:latin typeface="Cambria Math" panose="02040503050406030204" pitchFamily="18" charset="0"/>
                                <a:ea typeface="+mn-ea"/>
                                <a:cs typeface="+mn-cs"/>
                              </a:rPr>
                              <m:t>𝑐</m:t>
                            </m:r>
                          </m:sub>
                        </m:sSub>
                      </m:den>
                    </m:f>
                  </m:oMath>
                </a14:m>
                <a:endParaRPr lang="ar-AE" dirty="0"/>
              </a:p>
              <a:p>
                <a:pPr lvl="1"/>
                <a:r>
                  <a:rPr lang="en-US" dirty="0"/>
                  <a:t>when records are </a:t>
                </a:r>
                <a:r>
                  <a:rPr lang="en-US" b="1" dirty="0"/>
                  <a:t>equally distributed</a:t>
                </a:r>
                <a:r>
                  <a:rPr lang="en-US" dirty="0"/>
                  <a:t> among all classes</a:t>
                </a:r>
              </a:p>
              <a:p>
                <a:r>
                  <a:rPr lang="en-US" dirty="0"/>
                  <a:t>Here,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𝑛</m:t>
                        </m:r>
                      </m:e>
                      <m:sub>
                        <m:r>
                          <a:rPr lang="ar-AE" sz="1200" i="1" kern="1200">
                            <a:solidFill>
                              <a:schemeClr val="tx1"/>
                            </a:solidFill>
                            <a:latin typeface="Cambria Math" panose="02040503050406030204" pitchFamily="18" charset="0"/>
                            <a:ea typeface="+mn-ea"/>
                            <a:cs typeface="+mn-cs"/>
                          </a:rPr>
                          <m:t>𝑐</m:t>
                        </m:r>
                      </m:sub>
                    </m:sSub>
                  </m:oMath>
                </a14:m>
                <a:r>
                  <a:rPr lang="ar-AE" dirty="0"/>
                  <a:t>= </a:t>
                </a:r>
                <a:r>
                  <a:rPr lang="en-US" dirty="0"/>
                  <a:t>number of classes.</a:t>
                </a:r>
              </a:p>
              <a:p>
                <a:endParaRPr lang="en-US" dirty="0"/>
              </a:p>
            </p:txBody>
          </p:sp>
        </mc:Choice>
        <mc:Fallback xmlns="">
          <p:sp>
            <p:nvSpPr>
              <p:cNvPr id="3" name="Notes Placeholder 2"/>
              <p:cNvSpPr>
                <a:spLocks noGrp="1"/>
              </p:cNvSpPr>
              <p:nvPr>
                <p:ph type="body" idx="1"/>
              </p:nvPr>
            </p:nvSpPr>
            <p:spPr/>
            <p:txBody>
              <a:bodyPr/>
              <a:lstStyle/>
              <a:p>
                <a:r>
                  <a:rPr lang="en-US" b="1" dirty="0"/>
                  <a:t>Misclassification Error — simple</a:t>
                </a:r>
              </a:p>
              <a:p>
                <a:r>
                  <a:rPr lang="en-US" dirty="0"/>
                  <a:t>At a node </a:t>
                </a:r>
                <a:r>
                  <a:rPr lang="en-US" sz="1200" i="0" kern="1200">
                    <a:solidFill>
                      <a:schemeClr val="tx1"/>
                    </a:solidFill>
                    <a:latin typeface="+mn-lt"/>
                    <a:ea typeface="+mn-ea"/>
                    <a:cs typeface="+mn-cs"/>
                  </a:rPr>
                  <a:t>𝑡</a:t>
                </a:r>
                <a:r>
                  <a:rPr lang="en-US" dirty="0"/>
                  <a:t>,</a:t>
                </a:r>
              </a:p>
              <a:p>
                <a:r>
                  <a:rPr lang="en-US" sz="1200" i="0" kern="1200">
                    <a:solidFill>
                      <a:schemeClr val="tx1"/>
                    </a:solidFill>
                    <a:latin typeface="+mn-lt"/>
                    <a:ea typeface="+mn-ea"/>
                    <a:cs typeface="+mn-cs"/>
                  </a:rPr>
                  <a:t>𝐸𝑟𝑟𝑜𝑟</a:t>
                </a:r>
                <a:r>
                  <a:rPr lang="ar-AE" sz="1200" i="0" kern="1200">
                    <a:solidFill>
                      <a:schemeClr val="tx1"/>
                    </a:solidFill>
                    <a:latin typeface="+mn-lt"/>
                    <a:ea typeface="+mn-ea"/>
                    <a:cs typeface="+mn-cs"/>
                  </a:rPr>
                  <a:t>(𝑡)=1−(</a:t>
                </a:r>
                <a:r>
                  <a:rPr lang="en-US" sz="1200" i="0" kern="1200">
                    <a:solidFill>
                      <a:schemeClr val="tx1"/>
                    </a:solidFill>
                    <a:latin typeface="+mn-lt"/>
                    <a:ea typeface="+mn-ea"/>
                    <a:cs typeface="+mn-cs"/>
                  </a:rPr>
                  <a:t>max</a:t>
                </a:r>
                <a:r>
                  <a:rPr lang="ar-AE" sz="1200" i="0" kern="1200">
                    <a:solidFill>
                      <a:schemeClr val="tx1"/>
                    </a:solidFill>
                    <a:latin typeface="+mn-lt"/>
                    <a:ea typeface="+mn-ea"/>
                    <a:cs typeface="+mn-cs"/>
                  </a:rPr>
                  <a:t>⁡ )┬𝑖 𝑃(𝑖∣𝑡)</a:t>
                </a:r>
                <a:endParaRPr lang="ar-AE" dirty="0"/>
              </a:p>
              <a:p>
                <a:r>
                  <a:rPr lang="en-US" b="1" dirty="0"/>
                  <a:t>Meaning</a:t>
                </a:r>
              </a:p>
              <a:p>
                <a:r>
                  <a:rPr lang="en-US" dirty="0"/>
                  <a:t>Find the class with the </a:t>
                </a:r>
                <a:r>
                  <a:rPr lang="en-US" b="1" dirty="0"/>
                  <a:t>highest probability</a:t>
                </a:r>
                <a:r>
                  <a:rPr lang="en-US" dirty="0"/>
                  <a:t> in that node</a:t>
                </a:r>
              </a:p>
              <a:p>
                <a:r>
                  <a:rPr lang="en-US" dirty="0"/>
                  <a:t>Subtract it from </a:t>
                </a:r>
                <a:r>
                  <a:rPr lang="en-US" b="1" dirty="0"/>
                  <a:t>1</a:t>
                </a:r>
                <a:endParaRPr lang="en-US" dirty="0"/>
              </a:p>
              <a:p>
                <a:r>
                  <a:rPr lang="en-US" dirty="0"/>
                  <a:t>That gives the </a:t>
                </a:r>
                <a:r>
                  <a:rPr lang="en-US" b="1" dirty="0"/>
                  <a:t>misclassification error</a:t>
                </a:r>
                <a:endParaRPr lang="en-US" dirty="0"/>
              </a:p>
              <a:p>
                <a:r>
                  <a:rPr lang="en-US" b="1" dirty="0"/>
                  <a:t>Intuition</a:t>
                </a:r>
              </a:p>
              <a:p>
                <a:r>
                  <a:rPr lang="en-US" dirty="0"/>
                  <a:t>If one class dominates the node, error is </a:t>
                </a:r>
                <a:r>
                  <a:rPr lang="en-US" b="1" dirty="0"/>
                  <a:t>low</a:t>
                </a:r>
                <a:endParaRPr lang="en-US" dirty="0"/>
              </a:p>
              <a:p>
                <a:r>
                  <a:rPr lang="en-US" dirty="0"/>
                  <a:t>If classes are evenly mixed, error is </a:t>
                </a:r>
                <a:r>
                  <a:rPr lang="en-US" b="1" dirty="0"/>
                  <a:t>high</a:t>
                </a:r>
                <a:endParaRPr lang="en-US" dirty="0"/>
              </a:p>
              <a:p>
                <a:r>
                  <a:rPr lang="en-US" b="1" dirty="0"/>
                  <a:t>Special cases</a:t>
                </a:r>
              </a:p>
              <a:p>
                <a:r>
                  <a:rPr lang="en-US" b="1" dirty="0"/>
                  <a:t>Minimum error = 0</a:t>
                </a:r>
                <a:endParaRPr lang="en-US" dirty="0"/>
              </a:p>
              <a:p>
                <a:pPr lvl="1"/>
                <a:r>
                  <a:rPr lang="en-US" dirty="0"/>
                  <a:t>when all records belong to </a:t>
                </a:r>
                <a:r>
                  <a:rPr lang="en-US" b="1" dirty="0"/>
                  <a:t>one class</a:t>
                </a:r>
                <a:endParaRPr lang="en-US" dirty="0"/>
              </a:p>
              <a:p>
                <a:r>
                  <a:rPr lang="en-US" b="1" dirty="0"/>
                  <a:t>Maximum error = </a:t>
                </a:r>
                <a:r>
                  <a:rPr lang="en-US" sz="1200" i="0" kern="1200">
                    <a:solidFill>
                      <a:schemeClr val="tx1"/>
                    </a:solidFill>
                    <a:latin typeface="+mn-lt"/>
                    <a:ea typeface="+mn-ea"/>
                    <a:cs typeface="+mn-cs"/>
                  </a:rPr>
                  <a:t>1−</a:t>
                </a:r>
                <a:r>
                  <a:rPr lang="ar-AE" sz="1200" i="0" kern="1200">
                    <a:solidFill>
                      <a:schemeClr val="tx1"/>
                    </a:solidFill>
                    <a:latin typeface="+mn-lt"/>
                    <a:ea typeface="+mn-ea"/>
                    <a:cs typeface="+mn-cs"/>
                  </a:rPr>
                  <a:t>1/𝑛_𝑐 </a:t>
                </a:r>
                <a:endParaRPr lang="ar-AE" dirty="0"/>
              </a:p>
              <a:p>
                <a:pPr lvl="1"/>
                <a:r>
                  <a:rPr lang="en-US" dirty="0"/>
                  <a:t>when records are </a:t>
                </a:r>
                <a:r>
                  <a:rPr lang="en-US" b="1" dirty="0"/>
                  <a:t>equally distributed</a:t>
                </a:r>
                <a:r>
                  <a:rPr lang="en-US" dirty="0"/>
                  <a:t> among all classes</a:t>
                </a:r>
              </a:p>
              <a:p>
                <a:r>
                  <a:rPr lang="en-US" dirty="0"/>
                  <a:t>Here, </a:t>
                </a:r>
                <a:r>
                  <a:rPr lang="ar-AE" sz="1200" i="0" kern="1200">
                    <a:solidFill>
                      <a:schemeClr val="tx1"/>
                    </a:solidFill>
                    <a:latin typeface="+mn-lt"/>
                    <a:ea typeface="+mn-ea"/>
                    <a:cs typeface="+mn-cs"/>
                  </a:rPr>
                  <a:t>𝑛_𝑐</a:t>
                </a:r>
                <a:r>
                  <a:rPr lang="ar-AE" dirty="0"/>
                  <a:t>= </a:t>
                </a:r>
                <a:r>
                  <a:rPr lang="en-US" dirty="0"/>
                  <a:t>number of classes.</a:t>
                </a:r>
              </a:p>
              <a:p>
                <a:endParaRPr lang="en-US" dirty="0"/>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38</a:t>
            </a:fld>
            <a:endParaRPr lang="en-US"/>
          </a:p>
        </p:txBody>
      </p:sp>
    </p:spTree>
    <p:extLst>
      <p:ext uri="{BB962C8B-B14F-4D97-AF65-F5344CB8AC3E}">
        <p14:creationId xmlns:p14="http://schemas.microsoft.com/office/powerpoint/2010/main" val="24173255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normAutofit fontScale="47500" lnSpcReduction="20000"/>
              </a:bodyPr>
              <a:lstStyle/>
              <a:p>
                <a:r>
                  <a:rPr lang="en-US" b="1" dirty="0"/>
                  <a:t>Classification Error vs. Gini Index — simple idea</a:t>
                </a:r>
              </a:p>
              <a:p>
                <a:r>
                  <a:rPr lang="en-US" dirty="0"/>
                  <a:t>Parent node has:</a:t>
                </a:r>
              </a:p>
              <a:p>
                <a:r>
                  <a:rPr lang="en-US" b="1" dirty="0"/>
                  <a:t>C1 = 7</a:t>
                </a:r>
                <a:endParaRPr lang="en-US" dirty="0"/>
              </a:p>
              <a:p>
                <a:r>
                  <a:rPr lang="en-US" b="1" dirty="0"/>
                  <a:t>C2 = 3</a:t>
                </a:r>
                <a:endParaRPr lang="en-US" dirty="0"/>
              </a:p>
              <a:p>
                <a:r>
                  <a:rPr lang="en-US" dirty="0"/>
                  <a:t>So parent Gini is: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𝐺𝑖𝑛𝑖</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𝑝𝑎𝑟𝑒𝑛𝑡</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7</m:t>
                                  </m:r>
                                </m:num>
                                <m:den>
                                  <m:r>
                                    <a:rPr lang="ar-AE" sz="1200" i="0" kern="1200">
                                      <a:solidFill>
                                        <a:schemeClr val="tx1"/>
                                      </a:solidFill>
                                      <a:latin typeface="Cambria Math" panose="02040503050406030204" pitchFamily="18" charset="0"/>
                                      <a:ea typeface="+mn-ea"/>
                                      <a:cs typeface="+mn-cs"/>
                                    </a:rPr>
                                    <m:t>10</m:t>
                                  </m:r>
                                </m:den>
                              </m:f>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3</m:t>
                                  </m:r>
                                </m:num>
                                <m:den>
                                  <m:r>
                                    <a:rPr lang="ar-AE" sz="1200" i="0" kern="1200">
                                      <a:solidFill>
                                        <a:schemeClr val="tx1"/>
                                      </a:solidFill>
                                      <a:latin typeface="Cambria Math" panose="02040503050406030204" pitchFamily="18" charset="0"/>
                                      <a:ea typeface="+mn-ea"/>
                                      <a:cs typeface="+mn-cs"/>
                                    </a:rPr>
                                    <m:t>10</m:t>
                                  </m:r>
                                </m:den>
                              </m:f>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42</m:t>
                      </m:r>
                    </m:oMath>
                  </m:oMathPara>
                </a14:m>
                <a:endParaRPr lang="ar-AE" dirty="0"/>
              </a:p>
              <a:p>
                <a:br>
                  <a:rPr lang="ar-AE" dirty="0"/>
                </a:br>
                <a:endParaRPr lang="ar-AE" dirty="0"/>
              </a:p>
              <a:p>
                <a:r>
                  <a:rPr lang="en-US" b="1" dirty="0"/>
                  <a:t>After split</a:t>
                </a:r>
              </a:p>
              <a:p>
                <a:r>
                  <a:rPr lang="en-US" b="1" dirty="0"/>
                  <a:t>Node N1</a:t>
                </a:r>
              </a:p>
              <a:p>
                <a:r>
                  <a:rPr lang="en-US" dirty="0"/>
                  <a:t>C1 = 3</a:t>
                </a:r>
              </a:p>
              <a:p>
                <a:r>
                  <a:rPr lang="en-US" dirty="0"/>
                  <a:t>C2 = 0</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𝐺𝑖𝑛𝑖</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𝑁</m:t>
                          </m:r>
                          <m:r>
                            <a:rPr lang="ar-AE" sz="1200" i="0" kern="1200">
                              <a:solidFill>
                                <a:schemeClr val="tx1"/>
                              </a:solidFill>
                              <a:latin typeface="Cambria Math" panose="02040503050406030204" pitchFamily="18" charset="0"/>
                              <a:ea typeface="+mn-ea"/>
                              <a:cs typeface="+mn-cs"/>
                            </a:rPr>
                            <m:t>1</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3</m:t>
                                  </m:r>
                                </m:num>
                                <m:den>
                                  <m:r>
                                    <a:rPr lang="ar-AE" sz="1200" i="0" kern="1200">
                                      <a:solidFill>
                                        <a:schemeClr val="tx1"/>
                                      </a:solidFill>
                                      <a:latin typeface="Cambria Math" panose="02040503050406030204" pitchFamily="18" charset="0"/>
                                      <a:ea typeface="+mn-ea"/>
                                      <a:cs typeface="+mn-cs"/>
                                    </a:rPr>
                                    <m:t>3</m:t>
                                  </m:r>
                                </m:den>
                              </m:f>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0</m:t>
                                  </m:r>
                                </m:num>
                                <m:den>
                                  <m:r>
                                    <a:rPr lang="ar-AE" sz="1200" i="0" kern="1200">
                                      <a:solidFill>
                                        <a:schemeClr val="tx1"/>
                                      </a:solidFill>
                                      <a:latin typeface="Cambria Math" panose="02040503050406030204" pitchFamily="18" charset="0"/>
                                      <a:ea typeface="+mn-ea"/>
                                      <a:cs typeface="+mn-cs"/>
                                    </a:rPr>
                                    <m:t>3</m:t>
                                  </m:r>
                                </m:den>
                              </m:f>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oMath>
                  </m:oMathPara>
                </a14:m>
                <a:endParaRPr lang="ar-AE" dirty="0"/>
              </a:p>
              <a:p>
                <a:r>
                  <a:rPr lang="en-US" dirty="0"/>
                  <a:t>This node is </a:t>
                </a:r>
                <a:r>
                  <a:rPr lang="en-US" b="1" dirty="0"/>
                  <a:t>pure</a:t>
                </a:r>
                <a:r>
                  <a:rPr lang="en-US" dirty="0"/>
                  <a:t>.</a:t>
                </a:r>
              </a:p>
              <a:p>
                <a:br>
                  <a:rPr lang="en-US" dirty="0"/>
                </a:br>
                <a:endParaRPr lang="en-US" dirty="0"/>
              </a:p>
              <a:p>
                <a:r>
                  <a:rPr lang="en-US" b="1" dirty="0"/>
                  <a:t>Node N2</a:t>
                </a:r>
              </a:p>
              <a:p>
                <a:r>
                  <a:rPr lang="en-US" dirty="0"/>
                  <a:t>C1 = 4</a:t>
                </a:r>
              </a:p>
              <a:p>
                <a:r>
                  <a:rPr lang="en-US" dirty="0"/>
                  <a:t>C2 = 3</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𝐺𝑖𝑛𝑖</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𝑁</m:t>
                          </m:r>
                          <m:r>
                            <a:rPr lang="ar-AE" sz="1200" i="0" kern="1200">
                              <a:solidFill>
                                <a:schemeClr val="tx1"/>
                              </a:solidFill>
                              <a:latin typeface="Cambria Math" panose="02040503050406030204" pitchFamily="18" charset="0"/>
                              <a:ea typeface="+mn-ea"/>
                              <a:cs typeface="+mn-cs"/>
                            </a:rPr>
                            <m:t>2</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4</m:t>
                                  </m:r>
                                </m:num>
                                <m:den>
                                  <m:r>
                                    <a:rPr lang="ar-AE" sz="1200" i="0" kern="1200">
                                      <a:solidFill>
                                        <a:schemeClr val="tx1"/>
                                      </a:solidFill>
                                      <a:latin typeface="Cambria Math" panose="02040503050406030204" pitchFamily="18" charset="0"/>
                                      <a:ea typeface="+mn-ea"/>
                                      <a:cs typeface="+mn-cs"/>
                                    </a:rPr>
                                    <m:t>7</m:t>
                                  </m:r>
                                </m:den>
                              </m:f>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d>
                            <m:dPr>
                              <m:ctrlPr>
                                <a:rPr lang="ar-AE" sz="1200" i="1" kern="1200">
                                  <a:solidFill>
                                    <a:schemeClr val="tx1"/>
                                  </a:solidFill>
                                  <a:latin typeface="Cambria Math" panose="02040503050406030204" pitchFamily="18" charset="0"/>
                                  <a:ea typeface="+mn-ea"/>
                                  <a:cs typeface="+mn-cs"/>
                                </a:rPr>
                              </m:ctrlPr>
                            </m:dPr>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3</m:t>
                                  </m:r>
                                </m:num>
                                <m:den>
                                  <m:r>
                                    <a:rPr lang="ar-AE" sz="1200" i="0" kern="1200">
                                      <a:solidFill>
                                        <a:schemeClr val="tx1"/>
                                      </a:solidFill>
                                      <a:latin typeface="Cambria Math" panose="02040503050406030204" pitchFamily="18" charset="0"/>
                                      <a:ea typeface="+mn-ea"/>
                                      <a:cs typeface="+mn-cs"/>
                                    </a:rPr>
                                    <m:t>7</m:t>
                                  </m:r>
                                </m:den>
                              </m:f>
                            </m:e>
                          </m:d>
                        </m:e>
                        <m:sup>
                          <m:r>
                            <a:rPr lang="ar-AE" sz="1200" i="0" kern="1200">
                              <a:solidFill>
                                <a:schemeClr val="tx1"/>
                              </a:solidFill>
                              <a:latin typeface="Cambria Math" panose="02040503050406030204" pitchFamily="18" charset="0"/>
                              <a:ea typeface="+mn-ea"/>
                              <a:cs typeface="+mn-cs"/>
                            </a:rPr>
                            <m:t>2</m:t>
                          </m:r>
                        </m:sup>
                      </m:s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489</m:t>
                      </m:r>
                    </m:oMath>
                  </m:oMathPara>
                </a14:m>
                <a:endParaRPr lang="ar-AE" dirty="0"/>
              </a:p>
              <a:p>
                <a:r>
                  <a:rPr lang="en-US" dirty="0"/>
                  <a:t>This node is still mixed.</a:t>
                </a:r>
              </a:p>
              <a:p>
                <a:br>
                  <a:rPr lang="en-US" dirty="0"/>
                </a:br>
                <a:endParaRPr lang="en-US" dirty="0"/>
              </a:p>
              <a:p>
                <a:r>
                  <a:rPr lang="en-US" b="1" dirty="0"/>
                  <a:t>Weighted Gini of children</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𝐺𝑖𝑛𝑖</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𝑐</m:t>
                          </m:r>
                          <m:r>
                            <a:rPr lang="ar-AE" sz="1200" i="1" kern="1200">
                              <a:solidFill>
                                <a:schemeClr val="tx1"/>
                              </a:solidFill>
                              <a:latin typeface="Cambria Math" panose="02040503050406030204" pitchFamily="18" charset="0"/>
                              <a:ea typeface="+mn-ea"/>
                              <a:cs typeface="+mn-cs"/>
                            </a:rPr>
                            <m:t>h</m:t>
                          </m:r>
                          <m:r>
                            <a:rPr lang="ar-AE" sz="1200" i="1" kern="1200">
                              <a:solidFill>
                                <a:schemeClr val="tx1"/>
                              </a:solidFill>
                              <a:latin typeface="Cambria Math" panose="02040503050406030204" pitchFamily="18" charset="0"/>
                              <a:ea typeface="+mn-ea"/>
                              <a:cs typeface="+mn-cs"/>
                            </a:rPr>
                            <m:t>𝑖𝑙𝑑𝑟𝑒𝑛</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3</m:t>
                          </m:r>
                        </m:num>
                        <m:den>
                          <m:r>
                            <a:rPr lang="ar-AE" sz="1200" i="0" kern="1200">
                              <a:solidFill>
                                <a:schemeClr val="tx1"/>
                              </a:solidFill>
                              <a:latin typeface="Cambria Math" panose="02040503050406030204" pitchFamily="18" charset="0"/>
                              <a:ea typeface="+mn-ea"/>
                              <a:cs typeface="+mn-cs"/>
                            </a:rPr>
                            <m:t>10</m:t>
                          </m:r>
                        </m:den>
                      </m:f>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0</m:t>
                          </m:r>
                        </m:e>
                      </m:d>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7</m:t>
                          </m:r>
                        </m:num>
                        <m:den>
                          <m:r>
                            <a:rPr lang="ar-AE" sz="1200" i="0" kern="1200">
                              <a:solidFill>
                                <a:schemeClr val="tx1"/>
                              </a:solidFill>
                              <a:latin typeface="Cambria Math" panose="02040503050406030204" pitchFamily="18" charset="0"/>
                              <a:ea typeface="+mn-ea"/>
                              <a:cs typeface="+mn-cs"/>
                            </a:rPr>
                            <m:t>10</m:t>
                          </m:r>
                        </m:den>
                      </m:f>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489</m:t>
                          </m:r>
                        </m:e>
                      </m:d>
                    </m:oMath>
                  </m:oMathPara>
                </a14:m>
                <a:endParaRPr lang="ar-AE" dirty="0"/>
              </a:p>
              <a:p>
                <a:pPr/>
                <a14:m>
                  <m:oMathPara xmlns:m="http://schemas.openxmlformats.org/officeDocument/2006/math">
                    <m:oMathParaPr>
                      <m:jc m:val="centerGroup"/>
                    </m:oMathParaPr>
                    <m:oMath xmlns:m="http://schemas.openxmlformats.org/officeDocument/2006/math">
                      <m:r>
                        <a:rPr lang="ar-AE" sz="120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3423</m:t>
                      </m:r>
                    </m:oMath>
                  </m:oMathPara>
                </a14:m>
                <a:endParaRPr lang="ar-AE" dirty="0"/>
              </a:p>
              <a:p>
                <a:pPr/>
                <a14:m>
                  <m:oMathPara xmlns:m="http://schemas.openxmlformats.org/officeDocument/2006/math">
                    <m:oMathParaPr>
                      <m:jc m:val="centerGroup"/>
                    </m:oMathParaPr>
                    <m:oMath xmlns:m="http://schemas.openxmlformats.org/officeDocument/2006/math">
                      <m:r>
                        <a:rPr lang="ar-AE" sz="120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342</m:t>
                      </m:r>
                    </m:oMath>
                  </m:oMathPara>
                </a14:m>
                <a:endParaRPr lang="ar-AE" dirty="0"/>
              </a:p>
              <a:p>
                <a:br>
                  <a:rPr lang="ar-AE" dirty="0"/>
                </a:br>
                <a:endParaRPr lang="ar-AE" dirty="0"/>
              </a:p>
              <a:p>
                <a:r>
                  <a:rPr lang="en-US" b="1" dirty="0"/>
                  <a:t>Meaning</a:t>
                </a:r>
              </a:p>
              <a:p>
                <a:r>
                  <a:rPr lang="en-US" dirty="0"/>
                  <a:t>Parent Gini = </a:t>
                </a:r>
                <a:r>
                  <a:rPr lang="en-US" b="1" dirty="0"/>
                  <a:t>0.42</a:t>
                </a:r>
                <a:endParaRPr lang="en-US" dirty="0"/>
              </a:p>
              <a:p>
                <a:r>
                  <a:rPr lang="en-US" dirty="0"/>
                  <a:t>Children Gini = </a:t>
                </a:r>
                <a:r>
                  <a:rPr lang="en-US" b="1" dirty="0"/>
                  <a:t>0.342</a:t>
                </a:r>
                <a:endParaRPr lang="en-US" dirty="0"/>
              </a:p>
              <a:p>
                <a:r>
                  <a:rPr lang="en-US" dirty="0"/>
                  <a:t>Since Gini </a:t>
                </a:r>
                <a:r>
                  <a:rPr lang="en-US" b="1" dirty="0"/>
                  <a:t>decreased</a:t>
                </a:r>
                <a:r>
                  <a:rPr lang="en-US" dirty="0"/>
                  <a:t>, the split is </a:t>
                </a:r>
                <a:r>
                  <a:rPr lang="en-US" b="1" dirty="0"/>
                  <a:t>better</a:t>
                </a:r>
                <a:r>
                  <a:rPr lang="en-US" dirty="0"/>
                  <a:t> than before.</a:t>
                </a:r>
              </a:p>
              <a:p>
                <a:r>
                  <a:rPr lang="en-US" b="1" dirty="0"/>
                  <a:t>Main point</a:t>
                </a:r>
              </a:p>
              <a:p>
                <a:r>
                  <a:rPr lang="en-US" dirty="0"/>
                  <a:t>A good split makes child nodes </a:t>
                </a:r>
                <a:r>
                  <a:rPr lang="en-US" b="1" dirty="0"/>
                  <a:t>more pure</a:t>
                </a:r>
                <a:r>
                  <a:rPr lang="en-US" dirty="0"/>
                  <a:t>, so </a:t>
                </a:r>
                <a:r>
                  <a:rPr lang="en-US" b="1" dirty="0"/>
                  <a:t>weighted Gini becomes smaller</a:t>
                </a:r>
                <a:r>
                  <a:rPr lang="en-US" dirty="0"/>
                  <a:t>.</a:t>
                </a:r>
              </a:p>
              <a:p>
                <a:endParaRPr lang="en-US" dirty="0"/>
              </a:p>
            </p:txBody>
          </p:sp>
        </mc:Choice>
        <mc:Fallback xmlns="">
          <p:sp>
            <p:nvSpPr>
              <p:cNvPr id="3" name="Notes Placeholder 2"/>
              <p:cNvSpPr>
                <a:spLocks noGrp="1"/>
              </p:cNvSpPr>
              <p:nvPr>
                <p:ph type="body" idx="1"/>
              </p:nvPr>
            </p:nvSpPr>
            <p:spPr/>
            <p:txBody>
              <a:bodyPr>
                <a:normAutofit fontScale="47500" lnSpcReduction="20000"/>
              </a:bodyPr>
              <a:lstStyle/>
              <a:p>
                <a:r>
                  <a:rPr lang="en-US" b="1" dirty="0"/>
                  <a:t>Classification Error vs. Gini Index — simple idea</a:t>
                </a:r>
              </a:p>
              <a:p>
                <a:r>
                  <a:rPr lang="en-US" dirty="0"/>
                  <a:t>Parent node has:</a:t>
                </a:r>
              </a:p>
              <a:p>
                <a:r>
                  <a:rPr lang="en-US" b="1" dirty="0"/>
                  <a:t>C1 = 7</a:t>
                </a:r>
                <a:endParaRPr lang="en-US" dirty="0"/>
              </a:p>
              <a:p>
                <a:r>
                  <a:rPr lang="en-US" b="1" dirty="0"/>
                  <a:t>C2 = 3</a:t>
                </a:r>
                <a:endParaRPr lang="en-US" dirty="0"/>
              </a:p>
              <a:p>
                <a:r>
                  <a:rPr lang="en-US" dirty="0"/>
                  <a:t>So parent Gini is:</a:t>
                </a:r>
              </a:p>
              <a:p>
                <a:r>
                  <a:rPr lang="en-US" sz="1200" i="0" kern="1200">
                    <a:solidFill>
                      <a:schemeClr val="tx1"/>
                    </a:solidFill>
                    <a:latin typeface="+mn-lt"/>
                    <a:ea typeface="+mn-ea"/>
                    <a:cs typeface="+mn-cs"/>
                  </a:rPr>
                  <a:t>𝐺𝑖𝑛𝑖</a:t>
                </a:r>
                <a:r>
                  <a:rPr lang="ar-AE" sz="1200" i="0" kern="1200">
                    <a:solidFill>
                      <a:schemeClr val="tx1"/>
                    </a:solidFill>
                    <a:latin typeface="+mn-lt"/>
                    <a:ea typeface="+mn-ea"/>
                    <a:cs typeface="+mn-cs"/>
                  </a:rPr>
                  <a:t>(𝑝𝑎𝑟𝑒𝑛𝑡)=1−(7/10)^2−(3/10)^2=0.42</a:t>
                </a:r>
                <a:endParaRPr lang="ar-AE" dirty="0"/>
              </a:p>
              <a:p>
                <a:br>
                  <a:rPr lang="ar-AE" dirty="0"/>
                </a:br>
                <a:endParaRPr lang="ar-AE" dirty="0"/>
              </a:p>
              <a:p>
                <a:r>
                  <a:rPr lang="en-US" b="1" dirty="0"/>
                  <a:t>After split</a:t>
                </a:r>
              </a:p>
              <a:p>
                <a:r>
                  <a:rPr lang="en-US" b="1" dirty="0"/>
                  <a:t>Node N1</a:t>
                </a:r>
              </a:p>
              <a:p>
                <a:r>
                  <a:rPr lang="en-US" dirty="0"/>
                  <a:t>C1 = 3</a:t>
                </a:r>
              </a:p>
              <a:p>
                <a:r>
                  <a:rPr lang="en-US" dirty="0"/>
                  <a:t>C2 = 0</a:t>
                </a:r>
              </a:p>
              <a:p>
                <a:r>
                  <a:rPr lang="en-US" sz="1200" i="0" kern="1200">
                    <a:solidFill>
                      <a:schemeClr val="tx1"/>
                    </a:solidFill>
                    <a:latin typeface="+mn-lt"/>
                    <a:ea typeface="+mn-ea"/>
                    <a:cs typeface="+mn-cs"/>
                  </a:rPr>
                  <a:t>𝐺𝑖𝑛𝑖</a:t>
                </a:r>
                <a:r>
                  <a:rPr lang="ar-AE" sz="1200" i="0" kern="1200">
                    <a:solidFill>
                      <a:schemeClr val="tx1"/>
                    </a:solidFill>
                    <a:latin typeface="+mn-lt"/>
                    <a:ea typeface="+mn-ea"/>
                    <a:cs typeface="+mn-cs"/>
                  </a:rPr>
                  <a:t>(𝑁1)=1−(3/3)^2−(0/3)^2=0</a:t>
                </a:r>
                <a:endParaRPr lang="ar-AE" dirty="0"/>
              </a:p>
              <a:p>
                <a:r>
                  <a:rPr lang="en-US" dirty="0"/>
                  <a:t>This node is </a:t>
                </a:r>
                <a:r>
                  <a:rPr lang="en-US" b="1" dirty="0"/>
                  <a:t>pure</a:t>
                </a:r>
                <a:r>
                  <a:rPr lang="en-US" dirty="0"/>
                  <a:t>.</a:t>
                </a:r>
              </a:p>
              <a:p>
                <a:br>
                  <a:rPr lang="en-US" dirty="0"/>
                </a:br>
                <a:endParaRPr lang="en-US" dirty="0"/>
              </a:p>
              <a:p>
                <a:r>
                  <a:rPr lang="en-US" b="1" dirty="0"/>
                  <a:t>Node N2</a:t>
                </a:r>
              </a:p>
              <a:p>
                <a:r>
                  <a:rPr lang="en-US" dirty="0"/>
                  <a:t>C1 = 4</a:t>
                </a:r>
              </a:p>
              <a:p>
                <a:r>
                  <a:rPr lang="en-US" dirty="0"/>
                  <a:t>C2 = 3</a:t>
                </a:r>
              </a:p>
              <a:p>
                <a:r>
                  <a:rPr lang="en-US" sz="1200" i="0" kern="1200">
                    <a:solidFill>
                      <a:schemeClr val="tx1"/>
                    </a:solidFill>
                    <a:latin typeface="+mn-lt"/>
                    <a:ea typeface="+mn-ea"/>
                    <a:cs typeface="+mn-cs"/>
                  </a:rPr>
                  <a:t>𝐺𝑖𝑛𝑖</a:t>
                </a:r>
                <a:r>
                  <a:rPr lang="ar-AE" sz="1200" i="0" kern="1200">
                    <a:solidFill>
                      <a:schemeClr val="tx1"/>
                    </a:solidFill>
                    <a:latin typeface="+mn-lt"/>
                    <a:ea typeface="+mn-ea"/>
                    <a:cs typeface="+mn-cs"/>
                  </a:rPr>
                  <a:t>(𝑁2)=1−(4/7)^2−(3/7)^2=0.489</a:t>
                </a:r>
                <a:endParaRPr lang="ar-AE" dirty="0"/>
              </a:p>
              <a:p>
                <a:r>
                  <a:rPr lang="en-US" dirty="0"/>
                  <a:t>This node is still mixed.</a:t>
                </a:r>
              </a:p>
              <a:p>
                <a:br>
                  <a:rPr lang="en-US" dirty="0"/>
                </a:br>
                <a:endParaRPr lang="en-US" dirty="0"/>
              </a:p>
              <a:p>
                <a:r>
                  <a:rPr lang="en-US" b="1" dirty="0"/>
                  <a:t>Weighted Gini of children</a:t>
                </a:r>
              </a:p>
              <a:p>
                <a:r>
                  <a:rPr lang="en-US" sz="1200" i="0" kern="1200">
                    <a:solidFill>
                      <a:schemeClr val="tx1"/>
                    </a:solidFill>
                    <a:latin typeface="+mn-lt"/>
                    <a:ea typeface="+mn-ea"/>
                    <a:cs typeface="+mn-cs"/>
                  </a:rPr>
                  <a:t>𝐺𝑖𝑛𝑖</a:t>
                </a:r>
                <a:r>
                  <a:rPr lang="ar-AE" sz="1200" i="0" kern="1200">
                    <a:solidFill>
                      <a:schemeClr val="tx1"/>
                    </a:solidFill>
                    <a:latin typeface="+mn-lt"/>
                    <a:ea typeface="+mn-ea"/>
                    <a:cs typeface="+mn-cs"/>
                  </a:rPr>
                  <a:t>(𝑐ℎ𝑖𝑙𝑑𝑟𝑒𝑛)=3/10 (0)+7/10 (0.489)</a:t>
                </a:r>
                <a:endParaRPr lang="ar-AE" dirty="0"/>
              </a:p>
              <a:p>
                <a:r>
                  <a:rPr lang="ar-AE" sz="1200" i="0" kern="1200">
                    <a:solidFill>
                      <a:schemeClr val="tx1"/>
                    </a:solidFill>
                    <a:latin typeface="+mn-lt"/>
                    <a:ea typeface="+mn-ea"/>
                    <a:cs typeface="+mn-cs"/>
                  </a:rPr>
                  <a:t>=0+0.3423</a:t>
                </a:r>
                <a:endParaRPr lang="ar-AE" dirty="0"/>
              </a:p>
              <a:p>
                <a:r>
                  <a:rPr lang="ar-AE" sz="1200" i="0" kern="1200">
                    <a:solidFill>
                      <a:schemeClr val="tx1"/>
                    </a:solidFill>
                    <a:latin typeface="+mn-lt"/>
                    <a:ea typeface="+mn-ea"/>
                    <a:cs typeface="+mn-cs"/>
                  </a:rPr>
                  <a:t>≈0.342</a:t>
                </a:r>
                <a:endParaRPr lang="ar-AE" dirty="0"/>
              </a:p>
              <a:p>
                <a:br>
                  <a:rPr lang="ar-AE" dirty="0"/>
                </a:br>
                <a:endParaRPr lang="ar-AE" dirty="0"/>
              </a:p>
              <a:p>
                <a:r>
                  <a:rPr lang="en-US" b="1" dirty="0"/>
                  <a:t>Meaning</a:t>
                </a:r>
              </a:p>
              <a:p>
                <a:r>
                  <a:rPr lang="en-US" dirty="0"/>
                  <a:t>Parent Gini = </a:t>
                </a:r>
                <a:r>
                  <a:rPr lang="en-US" b="1" dirty="0"/>
                  <a:t>0.42</a:t>
                </a:r>
                <a:endParaRPr lang="en-US" dirty="0"/>
              </a:p>
              <a:p>
                <a:r>
                  <a:rPr lang="en-US" dirty="0"/>
                  <a:t>Children Gini = </a:t>
                </a:r>
                <a:r>
                  <a:rPr lang="en-US" b="1" dirty="0"/>
                  <a:t>0.342</a:t>
                </a:r>
                <a:endParaRPr lang="en-US" dirty="0"/>
              </a:p>
              <a:p>
                <a:r>
                  <a:rPr lang="en-US" dirty="0"/>
                  <a:t>Since Gini </a:t>
                </a:r>
                <a:r>
                  <a:rPr lang="en-US" b="1" dirty="0"/>
                  <a:t>decreased</a:t>
                </a:r>
                <a:r>
                  <a:rPr lang="en-US" dirty="0"/>
                  <a:t>, the split is </a:t>
                </a:r>
                <a:r>
                  <a:rPr lang="en-US" b="1" dirty="0"/>
                  <a:t>better</a:t>
                </a:r>
                <a:r>
                  <a:rPr lang="en-US" dirty="0"/>
                  <a:t> than before.</a:t>
                </a:r>
              </a:p>
              <a:p>
                <a:r>
                  <a:rPr lang="en-US" b="1" dirty="0"/>
                  <a:t>Main point</a:t>
                </a:r>
              </a:p>
              <a:p>
                <a:r>
                  <a:rPr lang="en-US" dirty="0"/>
                  <a:t>A good split makes child nodes </a:t>
                </a:r>
                <a:r>
                  <a:rPr lang="en-US" b="1" dirty="0"/>
                  <a:t>more pure</a:t>
                </a:r>
                <a:r>
                  <a:rPr lang="en-US" dirty="0"/>
                  <a:t>, so </a:t>
                </a:r>
                <a:r>
                  <a:rPr lang="en-US" b="1" dirty="0"/>
                  <a:t>weighted Gini becomes smaller</a:t>
                </a:r>
                <a:r>
                  <a:rPr lang="en-US" dirty="0"/>
                  <a:t>.</a:t>
                </a:r>
              </a:p>
              <a:p>
                <a:endParaRPr lang="en-US" dirty="0"/>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40</a:t>
            </a:fld>
            <a:endParaRPr lang="en-US"/>
          </a:p>
        </p:txBody>
      </p:sp>
    </p:spTree>
    <p:extLst>
      <p:ext uri="{BB962C8B-B14F-4D97-AF65-F5344CB8AC3E}">
        <p14:creationId xmlns:p14="http://schemas.microsoft.com/office/powerpoint/2010/main" val="30180224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For a 2-class problem, the graph compares how </a:t>
                </a:r>
                <a:r>
                  <a:rPr lang="en-US" b="1" dirty="0"/>
                  <a:t>Entropy</a:t>
                </a:r>
                <a:r>
                  <a:rPr lang="en-US" dirty="0"/>
                  <a:t>, </a:t>
                </a:r>
                <a:r>
                  <a:rPr lang="en-US" b="1" dirty="0"/>
                  <a:t>Gini Index</a:t>
                </a:r>
                <a:r>
                  <a:rPr lang="en-US" dirty="0"/>
                  <a:t>, and </a:t>
                </a:r>
                <a:r>
                  <a:rPr lang="en-US" b="1" dirty="0"/>
                  <a:t>Misclassification Error</a:t>
                </a:r>
                <a:r>
                  <a:rPr lang="en-US" dirty="0"/>
                  <a:t> change with class probability </a:t>
                </a:r>
                <a14:m>
                  <m:oMath xmlns:m="http://schemas.openxmlformats.org/officeDocument/2006/math">
                    <m:r>
                      <a:rPr lang="en-US" sz="1200" i="1" kern="1200">
                        <a:solidFill>
                          <a:schemeClr val="tx1"/>
                        </a:solidFill>
                        <a:latin typeface="Cambria Math" panose="02040503050406030204" pitchFamily="18" charset="0"/>
                        <a:ea typeface="+mn-ea"/>
                        <a:cs typeface="+mn-cs"/>
                      </a:rPr>
                      <m:t>𝑝</m:t>
                    </m:r>
                  </m:oMath>
                </a14:m>
                <a:r>
                  <a:rPr lang="en-US" dirty="0"/>
                  <a:t>. All three become </a:t>
                </a:r>
                <a:r>
                  <a:rPr lang="en-US" b="1" dirty="0"/>
                  <a:t>0</a:t>
                </a:r>
                <a:r>
                  <a:rPr lang="en-US" dirty="0"/>
                  <a:t> when a node is completely pure (</a:t>
                </a:r>
                <a14:m>
                  <m:oMath xmlns:m="http://schemas.openxmlformats.org/officeDocument/2006/math">
                    <m:r>
                      <a:rPr lang="en-US" sz="1200" i="1" kern="1200">
                        <a:solidFill>
                          <a:schemeClr val="tx1"/>
                        </a:solidFill>
                        <a:latin typeface="Cambria Math" panose="02040503050406030204" pitchFamily="18" charset="0"/>
                        <a:ea typeface="+mn-ea"/>
                        <a:cs typeface="+mn-cs"/>
                      </a:rPr>
                      <m:t>𝑝</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0</m:t>
                    </m:r>
                  </m:oMath>
                </a14:m>
                <a:r>
                  <a:rPr lang="en-US" dirty="0"/>
                  <a:t> or </a:t>
                </a:r>
                <a14:m>
                  <m:oMath xmlns:m="http://schemas.openxmlformats.org/officeDocument/2006/math">
                    <m:r>
                      <a:rPr lang="en-US" sz="1200" i="1" kern="1200">
                        <a:solidFill>
                          <a:schemeClr val="tx1"/>
                        </a:solidFill>
                        <a:latin typeface="Cambria Math" panose="02040503050406030204" pitchFamily="18" charset="0"/>
                        <a:ea typeface="+mn-ea"/>
                        <a:cs typeface="+mn-cs"/>
                      </a:rPr>
                      <m:t>𝑝</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m:t>
                    </m:r>
                  </m:oMath>
                </a14:m>
                <a:r>
                  <a:rPr lang="en-US" dirty="0"/>
                  <a:t>), and all are </a:t>
                </a:r>
                <a:r>
                  <a:rPr lang="en-US" b="1" dirty="0"/>
                  <a:t>maximum at </a:t>
                </a:r>
                <a14:m>
                  <m:oMath xmlns:m="http://schemas.openxmlformats.org/officeDocument/2006/math">
                    <m:r>
                      <a:rPr lang="en-US" sz="1200" i="1" kern="1200">
                        <a:solidFill>
                          <a:schemeClr val="tx1"/>
                        </a:solidFill>
                        <a:latin typeface="Cambria Math" panose="02040503050406030204" pitchFamily="18" charset="0"/>
                        <a:ea typeface="+mn-ea"/>
                        <a:cs typeface="+mn-cs"/>
                      </a:rPr>
                      <m:t>𝑝</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0</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5</m:t>
                    </m:r>
                  </m:oMath>
                </a14:m>
                <a:r>
                  <a:rPr lang="en-US" dirty="0"/>
                  <a:t>when the two classes are equally mixed. </a:t>
                </a:r>
                <a:r>
                  <a:rPr lang="en-US" b="1" dirty="0"/>
                  <a:t>Entropy</a:t>
                </a:r>
                <a:r>
                  <a:rPr lang="en-US" dirty="0"/>
                  <a:t> rises the fastest and is most sensitive to class mixing, </a:t>
                </a:r>
                <a:r>
                  <a:rPr lang="en-US" b="1" dirty="0"/>
                  <a:t>Gini</a:t>
                </a:r>
                <a:r>
                  <a:rPr lang="en-US" dirty="0"/>
                  <a:t> is moderately sensitive, and </a:t>
                </a:r>
                <a:r>
                  <a:rPr lang="en-US" b="1" dirty="0"/>
                  <a:t>Misclassification Error</a:t>
                </a:r>
                <a:r>
                  <a:rPr lang="en-US" dirty="0"/>
                  <a:t> is the least sensitive because its curve is flatter. So, in practice, Entropy and Gini are usually better for selecting splits, while Misclassification Error is often used more for pruning or evaluation.</a:t>
                </a:r>
              </a:p>
            </p:txBody>
          </p:sp>
        </mc:Choice>
        <mc:Fallback xmlns="">
          <p:sp>
            <p:nvSpPr>
              <p:cNvPr id="3" name="Notes Placeholder 2"/>
              <p:cNvSpPr>
                <a:spLocks noGrp="1"/>
              </p:cNvSpPr>
              <p:nvPr>
                <p:ph type="body" idx="1"/>
              </p:nvPr>
            </p:nvSpPr>
            <p:spPr/>
            <p:txBody>
              <a:bodyPr/>
              <a:lstStyle/>
              <a:p>
                <a:r>
                  <a:rPr lang="en-US" dirty="0"/>
                  <a:t>For a 2-class problem, the graph compares how </a:t>
                </a:r>
                <a:r>
                  <a:rPr lang="en-US" b="1" dirty="0"/>
                  <a:t>Entropy</a:t>
                </a:r>
                <a:r>
                  <a:rPr lang="en-US" dirty="0"/>
                  <a:t>, </a:t>
                </a:r>
                <a:r>
                  <a:rPr lang="en-US" b="1" dirty="0"/>
                  <a:t>Gini Index</a:t>
                </a:r>
                <a:r>
                  <a:rPr lang="en-US" dirty="0"/>
                  <a:t>, and </a:t>
                </a:r>
                <a:r>
                  <a:rPr lang="en-US" b="1" dirty="0"/>
                  <a:t>Misclassification Error</a:t>
                </a:r>
                <a:r>
                  <a:rPr lang="en-US" dirty="0"/>
                  <a:t> change with class probability </a:t>
                </a:r>
                <a:r>
                  <a:rPr lang="en-US" sz="1200" i="0" kern="1200">
                    <a:solidFill>
                      <a:schemeClr val="tx1"/>
                    </a:solidFill>
                    <a:latin typeface="+mn-lt"/>
                    <a:ea typeface="+mn-ea"/>
                    <a:cs typeface="+mn-cs"/>
                  </a:rPr>
                  <a:t>𝑝</a:t>
                </a:r>
                <a:r>
                  <a:rPr lang="en-US" dirty="0"/>
                  <a:t>. All three become </a:t>
                </a:r>
                <a:r>
                  <a:rPr lang="en-US" b="1" dirty="0"/>
                  <a:t>0</a:t>
                </a:r>
                <a:r>
                  <a:rPr lang="en-US" dirty="0"/>
                  <a:t> when a node is completely pure (</a:t>
                </a:r>
                <a:r>
                  <a:rPr lang="en-US" sz="1200" i="0" kern="1200">
                    <a:solidFill>
                      <a:schemeClr val="tx1"/>
                    </a:solidFill>
                    <a:latin typeface="+mn-lt"/>
                    <a:ea typeface="+mn-ea"/>
                    <a:cs typeface="+mn-cs"/>
                  </a:rPr>
                  <a:t>𝑝=0</a:t>
                </a:r>
                <a:r>
                  <a:rPr lang="en-US" dirty="0"/>
                  <a:t> or </a:t>
                </a:r>
                <a:r>
                  <a:rPr lang="en-US" sz="1200" i="0" kern="1200">
                    <a:solidFill>
                      <a:schemeClr val="tx1"/>
                    </a:solidFill>
                    <a:latin typeface="+mn-lt"/>
                    <a:ea typeface="+mn-ea"/>
                    <a:cs typeface="+mn-cs"/>
                  </a:rPr>
                  <a:t>𝑝=1</a:t>
                </a:r>
                <a:r>
                  <a:rPr lang="en-US" dirty="0"/>
                  <a:t>), and all are </a:t>
                </a:r>
                <a:r>
                  <a:rPr lang="en-US" b="1" dirty="0"/>
                  <a:t>maximum at </a:t>
                </a:r>
                <a:r>
                  <a:rPr lang="en-US" sz="1200" i="0" kern="1200">
                    <a:solidFill>
                      <a:schemeClr val="tx1"/>
                    </a:solidFill>
                    <a:latin typeface="+mn-lt"/>
                    <a:ea typeface="+mn-ea"/>
                    <a:cs typeface="+mn-cs"/>
                  </a:rPr>
                  <a:t>𝑝=0.5</a:t>
                </a:r>
                <a:r>
                  <a:rPr lang="en-US" dirty="0"/>
                  <a:t>when the two classes are equally mixed. </a:t>
                </a:r>
                <a:r>
                  <a:rPr lang="en-US" b="1" dirty="0"/>
                  <a:t>Entropy</a:t>
                </a:r>
                <a:r>
                  <a:rPr lang="en-US" dirty="0"/>
                  <a:t> rises the fastest and is most sensitive to class mixing, </a:t>
                </a:r>
                <a:r>
                  <a:rPr lang="en-US" b="1" dirty="0"/>
                  <a:t>Gini</a:t>
                </a:r>
                <a:r>
                  <a:rPr lang="en-US" dirty="0"/>
                  <a:t> is moderately sensitive, and </a:t>
                </a:r>
                <a:r>
                  <a:rPr lang="en-US" b="1" dirty="0"/>
                  <a:t>Misclassification Error</a:t>
                </a:r>
                <a:r>
                  <a:rPr lang="en-US" dirty="0"/>
                  <a:t> is the least sensitive because its curve is flatter. So, in practice, Entropy and Gini are usually better for selecting splits, while Misclassification Error is often used more for pruning or evaluation.</a:t>
                </a:r>
              </a:p>
            </p:txBody>
          </p:sp>
        </mc:Fallback>
      </mc:AlternateContent>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41</a:t>
            </a:fld>
            <a:endParaRPr lang="en-US"/>
          </a:p>
        </p:txBody>
      </p:sp>
    </p:spTree>
    <p:extLst>
      <p:ext uri="{BB962C8B-B14F-4D97-AF65-F5344CB8AC3E}">
        <p14:creationId xmlns:p14="http://schemas.microsoft.com/office/powerpoint/2010/main" val="1942130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Practical Issues of Classification</a:t>
            </a:r>
          </a:p>
          <a:p>
            <a:r>
              <a:rPr lang="en-US" b="1" dirty="0"/>
              <a:t>Underfitting and Overfitting</a:t>
            </a:r>
            <a:endParaRPr lang="en-US" dirty="0"/>
          </a:p>
          <a:p>
            <a:pPr lvl="1"/>
            <a:r>
              <a:rPr lang="en-US" b="1" dirty="0"/>
              <a:t>Underfitting:</a:t>
            </a:r>
            <a:r>
              <a:rPr lang="en-US" dirty="0"/>
              <a:t> model is too simple, so it cannot learn the pattern well</a:t>
            </a:r>
          </a:p>
          <a:p>
            <a:pPr lvl="1"/>
            <a:r>
              <a:rPr lang="en-US" b="1" dirty="0"/>
              <a:t>Overfitting:</a:t>
            </a:r>
            <a:r>
              <a:rPr lang="en-US" dirty="0"/>
              <a:t> model learns training data too closely, so it performs badly on new data</a:t>
            </a:r>
          </a:p>
          <a:p>
            <a:r>
              <a:rPr lang="en-US" b="1" dirty="0"/>
              <a:t>Missing Values</a:t>
            </a:r>
            <a:endParaRPr lang="en-US" dirty="0"/>
          </a:p>
          <a:p>
            <a:pPr lvl="1"/>
            <a:r>
              <a:rPr lang="en-US" dirty="0"/>
              <a:t>Some attribute values may be unknown or absent</a:t>
            </a:r>
          </a:p>
          <a:p>
            <a:pPr lvl="1"/>
            <a:r>
              <a:rPr lang="en-US" dirty="0"/>
              <a:t>This makes training and prediction harder</a:t>
            </a:r>
          </a:p>
          <a:p>
            <a:r>
              <a:rPr lang="en-US" b="1" dirty="0"/>
              <a:t>Costs of Classification</a:t>
            </a:r>
            <a:endParaRPr lang="en-US" dirty="0"/>
          </a:p>
          <a:p>
            <a:pPr lvl="1"/>
            <a:r>
              <a:rPr lang="en-US" dirty="0"/>
              <a:t>Different classification errors may have different costs</a:t>
            </a:r>
          </a:p>
          <a:p>
            <a:pPr lvl="1"/>
            <a:r>
              <a:rPr lang="en-US" dirty="0"/>
              <a:t>Example: predicting a sick patient as healthy may be more serious than the opposite error</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44</a:t>
            </a:fld>
            <a:endParaRPr lang="en-US"/>
          </a:p>
        </p:txBody>
      </p:sp>
    </p:spTree>
    <p:extLst>
      <p:ext uri="{BB962C8B-B14F-4D97-AF65-F5344CB8AC3E}">
        <p14:creationId xmlns:p14="http://schemas.microsoft.com/office/powerpoint/2010/main" val="23267313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DC65ADA4-EADA-4BE9-A092-584F954487D0}" type="slidenum">
              <a:rPr lang="en-US" smtClean="0"/>
              <a:pPr/>
              <a:t>46</a:t>
            </a:fld>
            <a:endParaRPr lang="en-US"/>
          </a:p>
        </p:txBody>
      </p:sp>
      <p:sp>
        <p:nvSpPr>
          <p:cNvPr id="2" name="Notes Placeholder 1">
            <a:extLst>
              <a:ext uri="{FF2B5EF4-FFF2-40B4-BE49-F238E27FC236}">
                <a16:creationId xmlns:a16="http://schemas.microsoft.com/office/drawing/2014/main" id="{392DFFED-5437-ADD0-A8B9-317E9E6DBC02}"/>
              </a:ext>
            </a:extLst>
          </p:cNvPr>
          <p:cNvSpPr>
            <a:spLocks noGrp="1"/>
          </p:cNvSpPr>
          <p:nvPr>
            <p:ph type="body" idx="1"/>
          </p:nvPr>
        </p:nvSpPr>
        <p:spPr/>
        <p:txBody>
          <a:bodyPr/>
          <a:lstStyle/>
          <a:p>
            <a:r>
              <a:rPr lang="en-US" b="1" dirty="0"/>
              <a:t>Overfitting Example</a:t>
            </a:r>
          </a:p>
          <a:p>
            <a:r>
              <a:rPr lang="en-US" b="1" dirty="0"/>
              <a:t>Overfitting</a:t>
            </a:r>
            <a:r>
              <a:rPr lang="en-US" dirty="0"/>
              <a:t> happens when a model learns the </a:t>
            </a:r>
            <a:r>
              <a:rPr lang="en-US" b="1" dirty="0"/>
              <a:t>noise</a:t>
            </a:r>
            <a:r>
              <a:rPr lang="en-US" dirty="0"/>
              <a:t> of the training data instead of the true pattern</a:t>
            </a:r>
          </a:p>
          <a:p>
            <a:r>
              <a:rPr lang="en-US" dirty="0"/>
              <a:t>It gives </a:t>
            </a:r>
            <a:r>
              <a:rPr lang="en-US" b="1" dirty="0"/>
              <a:t>good training accuracy</a:t>
            </a:r>
            <a:r>
              <a:rPr lang="en-US" dirty="0"/>
              <a:t> but performs </a:t>
            </a:r>
            <a:r>
              <a:rPr lang="en-US" b="1" dirty="0"/>
              <a:t>poorly on new data</a:t>
            </a:r>
            <a:endParaRPr lang="en-US" dirty="0"/>
          </a:p>
          <a:p>
            <a:r>
              <a:rPr lang="en-US" b="1" dirty="0"/>
              <a:t>In the figure</a:t>
            </a:r>
          </a:p>
          <a:p>
            <a:r>
              <a:rPr lang="en-US" b="1" dirty="0"/>
              <a:t>Black line</a:t>
            </a:r>
            <a:r>
              <a:rPr lang="en-US" dirty="0"/>
              <a:t> = good fit</a:t>
            </a:r>
          </a:p>
          <a:p>
            <a:pPr lvl="1"/>
            <a:r>
              <a:rPr lang="en-US" dirty="0"/>
              <a:t>captures the main trend</a:t>
            </a:r>
          </a:p>
          <a:p>
            <a:r>
              <a:rPr lang="en-US" b="1" dirty="0"/>
              <a:t>Green line</a:t>
            </a:r>
            <a:r>
              <a:rPr lang="en-US" dirty="0"/>
              <a:t> = overfit</a:t>
            </a:r>
          </a:p>
          <a:p>
            <a:pPr lvl="1"/>
            <a:r>
              <a:rPr lang="en-US" dirty="0"/>
              <a:t>bends too much to follow individual points/noise</a:t>
            </a:r>
          </a:p>
          <a:p>
            <a:r>
              <a:rPr lang="en-US" b="1" dirty="0"/>
              <a:t>Underfitting</a:t>
            </a:r>
          </a:p>
          <a:p>
            <a:r>
              <a:rPr lang="en-US" dirty="0"/>
              <a:t>Happens when the model is </a:t>
            </a:r>
            <a:r>
              <a:rPr lang="en-US" b="1" dirty="0"/>
              <a:t>too simple</a:t>
            </a:r>
            <a:endParaRPr lang="en-US" dirty="0"/>
          </a:p>
          <a:p>
            <a:r>
              <a:rPr lang="en-US" dirty="0"/>
              <a:t>It cannot learn the real pattern well from the data</a:t>
            </a:r>
          </a:p>
          <a:p>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Overfitting due to Insufficient Examples</a:t>
            </a:r>
          </a:p>
          <a:p>
            <a:r>
              <a:rPr lang="en-US" dirty="0"/>
              <a:t>If some region has </a:t>
            </a:r>
            <a:r>
              <a:rPr lang="en-US" b="1" dirty="0"/>
              <a:t>very few training points</a:t>
            </a:r>
            <a:r>
              <a:rPr lang="en-US" dirty="0"/>
              <a:t>, the model cannot learn the true pattern there</a:t>
            </a:r>
          </a:p>
          <a:p>
            <a:r>
              <a:rPr lang="en-US" dirty="0"/>
              <a:t>Then the decision tree may create a rule using </a:t>
            </a:r>
            <a:r>
              <a:rPr lang="en-US" b="1" dirty="0"/>
              <a:t>irrelevant nearby training examples</a:t>
            </a:r>
            <a:endParaRPr lang="en-US" dirty="0"/>
          </a:p>
          <a:p>
            <a:r>
              <a:rPr lang="en-US" dirty="0"/>
              <a:t>As a result, some </a:t>
            </a:r>
            <a:r>
              <a:rPr lang="en-US" b="1" dirty="0"/>
              <a:t>test points are misclassified</a:t>
            </a:r>
            <a:endParaRPr lang="en-US" dirty="0"/>
          </a:p>
          <a:p>
            <a:r>
              <a:rPr lang="en-US" b="1" dirty="0"/>
              <a:t>In the figure</a:t>
            </a:r>
          </a:p>
          <a:p>
            <a:r>
              <a:rPr lang="en-US" b="1" dirty="0"/>
              <a:t>Green line</a:t>
            </a:r>
            <a:r>
              <a:rPr lang="en-US" dirty="0"/>
              <a:t> = decision boundary</a:t>
            </a:r>
          </a:p>
          <a:p>
            <a:r>
              <a:rPr lang="en-US" dirty="0"/>
              <a:t>Because the lower-right/lower region has </a:t>
            </a:r>
            <a:r>
              <a:rPr lang="en-US" b="1" dirty="0"/>
              <a:t>insufficient examples</a:t>
            </a:r>
            <a:r>
              <a:rPr lang="en-US" dirty="0"/>
              <a:t>, the boundary is not reliable there</a:t>
            </a:r>
          </a:p>
          <a:p>
            <a:r>
              <a:rPr lang="en-US" dirty="0"/>
              <a:t>So some points are predicted wrongly</a:t>
            </a:r>
          </a:p>
          <a:p>
            <a:endParaRPr lang="en-US" dirty="0"/>
          </a:p>
        </p:txBody>
      </p:sp>
      <p:sp>
        <p:nvSpPr>
          <p:cNvPr id="4" name="Slide Number Placeholder 3"/>
          <p:cNvSpPr>
            <a:spLocks noGrp="1"/>
          </p:cNvSpPr>
          <p:nvPr>
            <p:ph type="sldNum" sz="quarter" idx="5"/>
          </p:nvPr>
        </p:nvSpPr>
        <p:spPr/>
        <p:txBody>
          <a:bodyPr/>
          <a:lstStyle/>
          <a:p>
            <a:pPr>
              <a:defRPr/>
            </a:pPr>
            <a:fld id="{C6A44F01-B7E3-454B-9683-8F374F9D0B78}" type="slidenum">
              <a:rPr lang="en-US" smtClean="0"/>
              <a:pPr>
                <a:defRPr/>
              </a:pPr>
              <a:t>49</a:t>
            </a:fld>
            <a:endParaRPr lang="en-US"/>
          </a:p>
        </p:txBody>
      </p:sp>
    </p:spTree>
    <p:extLst>
      <p:ext uri="{BB962C8B-B14F-4D97-AF65-F5344CB8AC3E}">
        <p14:creationId xmlns:p14="http://schemas.microsoft.com/office/powerpoint/2010/main" val="22846966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DC65ADA4-EADA-4BE9-A092-584F954487D0}" type="slidenum">
              <a:rPr lang="en-US" smtClean="0"/>
              <a:pPr/>
              <a:t>50</a:t>
            </a:fld>
            <a:endParaRPr lang="en-US"/>
          </a:p>
        </p:txBody>
      </p:sp>
      <p:sp>
        <p:nvSpPr>
          <p:cNvPr id="2" name="Notes Placeholder 1">
            <a:extLst>
              <a:ext uri="{FF2B5EF4-FFF2-40B4-BE49-F238E27FC236}">
                <a16:creationId xmlns:a16="http://schemas.microsoft.com/office/drawing/2014/main" id="{CD85FCC3-7F05-443B-FBFC-A0525935437E}"/>
              </a:ext>
            </a:extLst>
          </p:cNvPr>
          <p:cNvSpPr>
            <a:spLocks noGrp="1"/>
          </p:cNvSpPr>
          <p:nvPr>
            <p:ph type="body" idx="1"/>
          </p:nvPr>
        </p:nvSpPr>
        <p:spPr/>
        <p:txBody>
          <a:bodyPr/>
          <a:lstStyle/>
          <a:p>
            <a:r>
              <a:rPr lang="en-US" dirty="0"/>
              <a:t>Overfitting occurs when a decision tree becomes too complex (too many branches) and fits noise in training data, resulting in poor performance on unseen data.</a:t>
            </a:r>
          </a:p>
          <a:p>
            <a:r>
              <a:rPr lang="en-US" dirty="0"/>
              <a:t>Method to avoid overfitting:</a:t>
            </a:r>
          </a:p>
          <a:p>
            <a:r>
              <a:rPr lang="en-US" dirty="0"/>
              <a:t>1. </a:t>
            </a:r>
            <a:r>
              <a:rPr lang="en-US" dirty="0" err="1"/>
              <a:t>Prepruning</a:t>
            </a:r>
            <a:r>
              <a:rPr lang="en-US" dirty="0"/>
              <a:t>:</a:t>
            </a:r>
          </a:p>
          <a:p>
            <a:r>
              <a:rPr lang="en-US" dirty="0"/>
              <a:t>Stop splitting early if the split is not good enough (below threshold).</a:t>
            </a:r>
            <a:br>
              <a:rPr lang="en-US" dirty="0"/>
            </a:br>
            <a:r>
              <a:rPr lang="en-US" dirty="0"/>
              <a:t>✔ Advantage: Faster</a:t>
            </a:r>
            <a:br>
              <a:rPr lang="en-US" dirty="0"/>
            </a:br>
            <a:r>
              <a:rPr lang="en-US" dirty="0"/>
              <a:t>✖ Problem: Hard to choose correct threshold</a:t>
            </a:r>
          </a:p>
          <a:p>
            <a:r>
              <a:rPr lang="en-US" b="1" dirty="0"/>
              <a:t>2. </a:t>
            </a:r>
            <a:r>
              <a:rPr lang="en-US" b="1" dirty="0" err="1"/>
              <a:t>Postpruning</a:t>
            </a:r>
            <a:endParaRPr lang="en-US" b="1" dirty="0"/>
          </a:p>
          <a:p>
            <a:r>
              <a:rPr lang="en-US" dirty="0"/>
              <a:t>First build full tree, then remove unnecessary branches.</a:t>
            </a:r>
            <a:br>
              <a:rPr lang="en-US" dirty="0"/>
            </a:br>
            <a:r>
              <a:rPr lang="en-US" dirty="0"/>
              <a:t>✔ Advantage: More accurate</a:t>
            </a:r>
            <a:br>
              <a:rPr lang="en-US" dirty="0"/>
            </a:br>
            <a:r>
              <a:rPr lang="en-US" dirty="0"/>
              <a:t>✖ Problem: Needs separate validation data</a:t>
            </a:r>
          </a:p>
          <a:p>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ABC17796-80CE-4843-A24A-9AC643D3A986}" type="slidenum">
              <a:rPr lang="en-US" smtClean="0"/>
              <a:pPr/>
              <a:t>53</a:t>
            </a:fld>
            <a:endParaRPr lang="en-US"/>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normAutofit lnSpcReduction="10000"/>
          </a:bodyPr>
          <a:lstStyle/>
          <a:p>
            <a:r>
              <a:rPr lang="en-US" b="1" dirty="0"/>
              <a:t>1. Continuous-valued attributes</a:t>
            </a:r>
            <a:endParaRPr lang="en-US" dirty="0"/>
          </a:p>
          <a:p>
            <a:r>
              <a:rPr lang="en-US" dirty="0"/>
              <a:t>Some data are numbers (like age, salary). </a:t>
            </a:r>
          </a:p>
          <a:p>
            <a:r>
              <a:rPr lang="en-US" dirty="0"/>
              <a:t>Decision trees convert these into ranges (like age &lt; 30, age ≥ 30). </a:t>
            </a:r>
          </a:p>
          <a:p>
            <a:r>
              <a:rPr lang="en-US" dirty="0"/>
              <a:t>So, continuous data becomes easier to use. </a:t>
            </a:r>
          </a:p>
          <a:p>
            <a:r>
              <a:rPr lang="en-US" b="1" dirty="0"/>
              <a:t>2. Missing attribute values</a:t>
            </a:r>
            <a:endParaRPr lang="en-US" dirty="0"/>
          </a:p>
          <a:p>
            <a:r>
              <a:rPr lang="en-US" dirty="0"/>
              <a:t>Sometimes data is missing. </a:t>
            </a:r>
          </a:p>
          <a:p>
            <a:r>
              <a:rPr lang="en-US" dirty="0"/>
              <a:t>Two ways to handle it: </a:t>
            </a:r>
          </a:p>
          <a:p>
            <a:pPr lvl="1"/>
            <a:r>
              <a:rPr lang="en-US" dirty="0"/>
              <a:t>Use the </a:t>
            </a:r>
            <a:r>
              <a:rPr lang="en-US" b="1" dirty="0"/>
              <a:t>most common value</a:t>
            </a:r>
            <a:r>
              <a:rPr lang="en-US" dirty="0"/>
              <a:t> </a:t>
            </a:r>
          </a:p>
          <a:p>
            <a:pPr lvl="1"/>
            <a:r>
              <a:rPr lang="en-US" dirty="0"/>
              <a:t>Or assign </a:t>
            </a:r>
            <a:r>
              <a:rPr lang="en-US" b="1" dirty="0"/>
              <a:t>probabilities</a:t>
            </a:r>
            <a:r>
              <a:rPr lang="en-US" dirty="0"/>
              <a:t> to possible values </a:t>
            </a:r>
          </a:p>
          <a:p>
            <a:r>
              <a:rPr lang="en-US" b="1" dirty="0"/>
              <a:t>3. Attribute construction</a:t>
            </a:r>
            <a:endParaRPr lang="en-US" dirty="0"/>
          </a:p>
          <a:p>
            <a:r>
              <a:rPr lang="en-US" dirty="0"/>
              <a:t>Create new attributes from existing ones. </a:t>
            </a:r>
          </a:p>
          <a:p>
            <a:r>
              <a:rPr lang="en-US" dirty="0"/>
              <a:t>Useful when data is limited or scattered. </a:t>
            </a:r>
          </a:p>
          <a:p>
            <a:r>
              <a:rPr lang="en-US" dirty="0"/>
              <a:t>Helps reduce: </a:t>
            </a:r>
          </a:p>
          <a:p>
            <a:pPr lvl="1"/>
            <a:r>
              <a:rPr lang="en-US" dirty="0"/>
              <a:t>Fragmentation (data split too much) </a:t>
            </a:r>
          </a:p>
          <a:p>
            <a:pPr lvl="1"/>
            <a:r>
              <a:rPr lang="en-US" dirty="0"/>
              <a:t>Repetition </a:t>
            </a:r>
          </a:p>
          <a:p>
            <a:pPr lvl="1"/>
            <a:r>
              <a:rPr lang="en-US" dirty="0"/>
              <a:t>Redundant data</a:t>
            </a:r>
          </a:p>
          <a:p>
            <a:r>
              <a:rPr lang="en-US" dirty="0"/>
              <a:t>Convert </a:t>
            </a:r>
            <a:r>
              <a:rPr lang="en-US" b="1" dirty="0"/>
              <a:t>continuous data → ranges</a:t>
            </a:r>
            <a:r>
              <a:rPr lang="en-US" dirty="0"/>
              <a:t> Handle </a:t>
            </a:r>
            <a:r>
              <a:rPr lang="en-US" b="1" dirty="0"/>
              <a:t>missing values → common value / probability</a:t>
            </a:r>
            <a:r>
              <a:rPr lang="en-US" dirty="0"/>
              <a:t> Create </a:t>
            </a:r>
            <a:r>
              <a:rPr lang="en-US" b="1" dirty="0"/>
              <a:t>new useful attributes → better and simpler tree</a:t>
            </a: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ABC17796-80CE-4843-A24A-9AC643D3A986}" type="slidenum">
              <a:rPr lang="en-US" smtClean="0"/>
              <a:pPr/>
              <a:t>54</a:t>
            </a:fld>
            <a:endParaRPr lang="en-US"/>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r>
              <a:rPr lang="en-US" b="1" dirty="0"/>
              <a:t>1. Incremental induction</a:t>
            </a:r>
            <a:endParaRPr lang="en-US" dirty="0"/>
          </a:p>
          <a:p>
            <a:r>
              <a:rPr lang="en-US" dirty="0"/>
              <a:t>Do not rebuild the whole tree every time new data comes. </a:t>
            </a:r>
          </a:p>
          <a:p>
            <a:r>
              <a:rPr lang="en-US" dirty="0"/>
              <a:t>Instead, </a:t>
            </a:r>
            <a:r>
              <a:rPr lang="en-US" b="1" dirty="0"/>
              <a:t>update the existing tree step by step</a:t>
            </a:r>
            <a:r>
              <a:rPr lang="en-US" dirty="0"/>
              <a:t>. </a:t>
            </a:r>
          </a:p>
          <a:p>
            <a:r>
              <a:rPr lang="en-US" dirty="0"/>
              <a:t>Adjust the splits when new data arrives. </a:t>
            </a:r>
          </a:p>
          <a:p>
            <a:r>
              <a:rPr lang="en-US" b="1" dirty="0"/>
              <a:t>2. Scalable decision tree algorithms</a:t>
            </a:r>
            <a:endParaRPr lang="en-US" dirty="0"/>
          </a:p>
          <a:p>
            <a:r>
              <a:rPr lang="en-US" dirty="0"/>
              <a:t>For large data, algorithms must be efficient. </a:t>
            </a:r>
          </a:p>
          <a:p>
            <a:r>
              <a:rPr lang="en-US"/>
              <a:t>Focus is on improving </a:t>
            </a:r>
            <a:r>
              <a:rPr lang="en-US" b="1"/>
              <a:t>data structures</a:t>
            </a:r>
            <a:r>
              <a:rPr lang="en-US"/>
              <a:t> to handle big datasets faster.</a:t>
            </a:r>
          </a:p>
          <a:p>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4"/>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r>
              <a:rPr lang="en-US"/>
              <a:t>CS252 S05</a:t>
            </a:r>
          </a:p>
        </p:txBody>
      </p:sp>
      <p:sp>
        <p:nvSpPr>
          <p:cNvPr id="74755" name="Rectangle 5"/>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1E8ECEB-82CC-4598-934F-541F9CB94AD6}" type="slidenum">
              <a:rPr lang="en-US" smtClean="0"/>
              <a:pPr/>
              <a:t>55</a:t>
            </a:fld>
            <a:endParaRPr lang="en-US"/>
          </a:p>
        </p:txBody>
      </p:sp>
      <p:sp>
        <p:nvSpPr>
          <p:cNvPr id="7475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475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p>
        </p:txBody>
      </p:sp>
      <p:sp>
        <p:nvSpPr>
          <p:cNvPr id="20483"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2048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p:txBody>
          <a:bodyPr/>
          <a:lstStyle>
            <a:lvl1pPr>
              <a:defRPr/>
            </a:lvl1pPr>
          </a:lstStyle>
          <a:p>
            <a:pPr>
              <a:defRPr/>
            </a:pPr>
            <a:endParaRPr lang="en-US" altLang="en-US"/>
          </a:p>
        </p:txBody>
      </p:sp>
      <p:sp>
        <p:nvSpPr>
          <p:cNvPr id="40" name="Rectangle 7"/>
          <p:cNvSpPr>
            <a:spLocks noGrp="1" noChangeArrowheads="1"/>
          </p:cNvSpPr>
          <p:nvPr>
            <p:ph type="sldNum" sz="quarter" idx="12"/>
          </p:nvPr>
        </p:nvSpPr>
        <p:spPr/>
        <p:txBody>
          <a:bodyPr/>
          <a:lstStyle>
            <a:lvl1pPr>
              <a:defRPr/>
            </a:lvl1pPr>
          </a:lstStyle>
          <a:p>
            <a:pPr>
              <a:defRPr/>
            </a:pPr>
            <a:fld id="{DBFF085F-0862-4687-969E-A113ED526F73}"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D3D212DC-59E6-444E-AD7D-AB217D4E4668}"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9411DB46-EA3B-4771-84A7-EF2A89089F66}"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E7C7241A-14B4-47C9-97AA-E825931DEA7A}"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7"/>
          <p:cNvSpPr>
            <a:spLocks noGrp="1" noChangeArrowheads="1"/>
          </p:cNvSpPr>
          <p:nvPr>
            <p:ph type="sldNum" sz="quarter" idx="12"/>
          </p:nvPr>
        </p:nvSpPr>
        <p:spPr>
          <a:ln/>
        </p:spPr>
        <p:txBody>
          <a:bodyPr/>
          <a:lstStyle>
            <a:lvl1pPr>
              <a:defRPr/>
            </a:lvl1pPr>
          </a:lstStyle>
          <a:p>
            <a:pPr>
              <a:defRPr/>
            </a:pPr>
            <a:fld id="{E75899CB-E299-4B2F-A5FF-BAA7A44558A6}"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p:cNvSpPr>
            <a:spLocks noGrp="1" noChangeArrowheads="1"/>
          </p:cNvSpPr>
          <p:nvPr>
            <p:ph type="sldNum" sz="quarter" idx="12"/>
          </p:nvPr>
        </p:nvSpPr>
        <p:spPr>
          <a:ln/>
        </p:spPr>
        <p:txBody>
          <a:bodyPr/>
          <a:lstStyle>
            <a:lvl1pPr>
              <a:defRPr/>
            </a:lvl1pPr>
          </a:lstStyle>
          <a:p>
            <a:pPr>
              <a:defRPr/>
            </a:pPr>
            <a:fld id="{DC454605-094D-467A-98B4-485DD38572BC}"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7"/>
          <p:cNvSpPr>
            <a:spLocks noGrp="1" noChangeArrowheads="1"/>
          </p:cNvSpPr>
          <p:nvPr>
            <p:ph type="sldNum" sz="quarter" idx="12"/>
          </p:nvPr>
        </p:nvSpPr>
        <p:spPr>
          <a:ln/>
        </p:spPr>
        <p:txBody>
          <a:bodyPr/>
          <a:lstStyle>
            <a:lvl1pPr>
              <a:defRPr/>
            </a:lvl1pPr>
          </a:lstStyle>
          <a:p>
            <a:pPr>
              <a:defRPr/>
            </a:pPr>
            <a:fld id="{E32456F1-5FD4-4074-A7F5-122F6C81D70D}"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08169C9D-9F2F-431A-8109-7CE4B4AFDF93}"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C89D69A7-3DB0-47C4-8AB7-03B3E235F1F1}"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9375A3F1-4B91-4C91-96E0-C7B24072A8E6}"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C97256C4-D2FC-483B-A9EE-73C10A4B54BD}"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p:cNvSpPr>
            <a:spLocks noGrp="1" noChangeArrowheads="1"/>
          </p:cNvSpPr>
          <p:nvPr>
            <p:ph type="sldNum" sz="quarter" idx="12"/>
          </p:nvPr>
        </p:nvSpPr>
        <p:spPr>
          <a:ln/>
        </p:spPr>
        <p:txBody>
          <a:bodyPr/>
          <a:lstStyle>
            <a:lvl1pPr>
              <a:defRPr/>
            </a:lvl1pPr>
          </a:lstStyle>
          <a:p>
            <a:pPr>
              <a:defRPr/>
            </a:pPr>
            <a:fld id="{A94D61D0-5A32-4214-9618-E7413E4A3991}" type="slidenum">
              <a:rPr lang="en-US" altLang="en-US"/>
              <a:pPr>
                <a:defRPr/>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a:t>Click to edit Master title style</a:t>
            </a:r>
          </a:p>
        </p:txBody>
      </p:sp>
      <p:sp>
        <p:nvSpPr>
          <p:cNvPr id="3" name="Text Placeholder 2"/>
          <p:cNvSpPr>
            <a:spLocks noGrp="1"/>
          </p:cNvSpPr>
          <p:nvPr>
            <p:ph type="body" sz="half" idx="1"/>
          </p:nvPr>
        </p:nvSpPr>
        <p:spPr>
          <a:xfrm>
            <a:off x="3048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10100" y="13716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10100" y="40005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p:cNvSpPr>
            <a:spLocks noGrp="1" noChangeArrowheads="1"/>
          </p:cNvSpPr>
          <p:nvPr>
            <p:ph type="sldNum" sz="quarter" idx="10"/>
          </p:nvPr>
        </p:nvSpPr>
        <p:spPr>
          <a:ln/>
        </p:spPr>
        <p:txBody>
          <a:bodyPr/>
          <a:lstStyle>
            <a:lvl1pPr>
              <a:defRPr/>
            </a:lvl1pPr>
          </a:lstStyle>
          <a:p>
            <a:pPr>
              <a:defRPr/>
            </a:pPr>
            <a:fld id="{327AFD74-5170-4EB8-8EBC-53EAF0F4BFEE}" type="slidenum">
              <a:rPr lang="en-US"/>
              <a:pPr>
                <a:defRPr/>
              </a:pPr>
              <a:t>‹#›</a:t>
            </a:fld>
            <a:endParaRPr lang="en-US"/>
          </a:p>
        </p:txBody>
      </p:sp>
    </p:spTree>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a:t>Click to edit Master title style</a:t>
            </a:r>
          </a:p>
        </p:txBody>
      </p:sp>
      <p:sp>
        <p:nvSpPr>
          <p:cNvPr id="3" name="Text Placeholder 2"/>
          <p:cNvSpPr>
            <a:spLocks noGrp="1"/>
          </p:cNvSpPr>
          <p:nvPr>
            <p:ph type="body" sz="half" idx="1"/>
          </p:nvPr>
        </p:nvSpPr>
        <p:spPr>
          <a:xfrm>
            <a:off x="3048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ln/>
        </p:spPr>
        <p:txBody>
          <a:bodyPr/>
          <a:lstStyle>
            <a:lvl1pPr>
              <a:defRPr/>
            </a:lvl1pPr>
          </a:lstStyle>
          <a:p>
            <a:pPr>
              <a:defRPr/>
            </a:pPr>
            <a:fld id="{12EFB4B7-C880-4E23-B63A-36FC71DF65C2}" type="slidenum">
              <a:rPr lang="en-US"/>
              <a:pPr>
                <a:defRPr/>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Line 2"/>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p>
        </p:txBody>
      </p:sp>
      <p:sp>
        <p:nvSpPr>
          <p:cNvPr id="7171" name="Rectangle 3"/>
          <p:cNvSpPr>
            <a:spLocks noGrp="1" noChangeArrowheads="1"/>
          </p:cNvSpPr>
          <p:nvPr>
            <p:ph type="title"/>
          </p:nvPr>
        </p:nvSpPr>
        <p:spPr bwMode="auto">
          <a:xfrm>
            <a:off x="457200" y="122238"/>
            <a:ext cx="7543800" cy="1295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7172" name="Rectangle 4"/>
          <p:cNvSpPr>
            <a:spLocks noGrp="1" noChangeArrowheads="1"/>
          </p:cNvSpPr>
          <p:nvPr>
            <p:ph type="body" idx="1"/>
          </p:nvPr>
        </p:nvSpPr>
        <p:spPr bwMode="auto">
          <a:xfrm>
            <a:off x="457200" y="1719263"/>
            <a:ext cx="82296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946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pPr>
              <a:defRPr/>
            </a:pPr>
            <a:endParaRPr lang="en-US" altLang="en-US"/>
          </a:p>
        </p:txBody>
      </p:sp>
      <p:sp>
        <p:nvSpPr>
          <p:cNvPr id="19462"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vl1pPr>
          </a:lstStyle>
          <a:p>
            <a:pPr>
              <a:defRPr/>
            </a:pPr>
            <a:endParaRPr lang="en-US" altLang="en-US"/>
          </a:p>
        </p:txBody>
      </p:sp>
      <p:sp>
        <p:nvSpPr>
          <p:cNvPr id="1946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pPr>
              <a:defRPr/>
            </a:pPr>
            <a:fld id="{716607F1-F5B4-40CE-9840-A0B6A98E7C97}" type="slidenum">
              <a:rPr lang="en-US" altLang="en-US"/>
              <a:pPr>
                <a:defRPr/>
              </a:pPr>
              <a:t>‹#›</a:t>
            </a:fld>
            <a:endParaRPr lang="en-US" altLang="en-US"/>
          </a:p>
        </p:txBody>
      </p:sp>
      <p:grpSp>
        <p:nvGrpSpPr>
          <p:cNvPr id="7176" name="Group 8"/>
          <p:cNvGrpSpPr>
            <a:grpSpLocks/>
          </p:cNvGrpSpPr>
          <p:nvPr/>
        </p:nvGrpSpPr>
        <p:grpSpPr bwMode="auto">
          <a:xfrm>
            <a:off x="8153400" y="152400"/>
            <a:ext cx="792163" cy="1295400"/>
            <a:chOff x="5136" y="960"/>
            <a:chExt cx="528" cy="864"/>
          </a:xfrm>
        </p:grpSpPr>
        <p:sp>
          <p:nvSpPr>
            <p:cNvPr id="19465" name="Oval 9"/>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66" name="Oval 10"/>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67" name="Oval 11"/>
            <p:cNvSpPr>
              <a:spLocks noChangeArrowheads="1"/>
            </p:cNvSpPr>
            <p:nvPr/>
          </p:nvSpPr>
          <p:spPr bwMode="auto">
            <a:xfrm>
              <a:off x="5360" y="960"/>
              <a:ext cx="76"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68" name="Oval 12"/>
            <p:cNvSpPr>
              <a:spLocks noChangeArrowheads="1"/>
            </p:cNvSpPr>
            <p:nvPr/>
          </p:nvSpPr>
          <p:spPr bwMode="auto">
            <a:xfrm>
              <a:off x="5136" y="1072"/>
              <a:ext cx="80" cy="77"/>
            </a:xfrm>
            <a:prstGeom prst="ellipse">
              <a:avLst/>
            </a:prstGeom>
            <a:solidFill>
              <a:schemeClr val="tx2"/>
            </a:solidFill>
            <a:ln w="9525">
              <a:noFill/>
              <a:round/>
              <a:headEnd/>
              <a:tailEnd/>
            </a:ln>
            <a:effectLst/>
          </p:spPr>
          <p:txBody>
            <a:bodyPr wrap="none" anchor="ctr"/>
            <a:lstStyle/>
            <a:p>
              <a:pPr>
                <a:defRPr/>
              </a:pPr>
              <a:endParaRPr lang="en-US"/>
            </a:p>
          </p:txBody>
        </p:sp>
        <p:sp>
          <p:nvSpPr>
            <p:cNvPr id="19469" name="Oval 13"/>
            <p:cNvSpPr>
              <a:spLocks noChangeArrowheads="1"/>
            </p:cNvSpPr>
            <p:nvPr/>
          </p:nvSpPr>
          <p:spPr bwMode="auto">
            <a:xfrm>
              <a:off x="5248" y="1072"/>
              <a:ext cx="79" cy="77"/>
            </a:xfrm>
            <a:prstGeom prst="ellipse">
              <a:avLst/>
            </a:prstGeom>
            <a:solidFill>
              <a:schemeClr val="tx2"/>
            </a:solidFill>
            <a:ln w="9525">
              <a:noFill/>
              <a:round/>
              <a:headEnd/>
              <a:tailEnd/>
            </a:ln>
            <a:effectLst/>
          </p:spPr>
          <p:txBody>
            <a:bodyPr wrap="none" anchor="ctr"/>
            <a:lstStyle/>
            <a:p>
              <a:pPr>
                <a:defRPr/>
              </a:pPr>
              <a:endParaRPr lang="en-US"/>
            </a:p>
          </p:txBody>
        </p:sp>
        <p:sp>
          <p:nvSpPr>
            <p:cNvPr id="19470" name="Oval 14"/>
            <p:cNvSpPr>
              <a:spLocks noChangeArrowheads="1"/>
            </p:cNvSpPr>
            <p:nvPr/>
          </p:nvSpPr>
          <p:spPr bwMode="auto">
            <a:xfrm>
              <a:off x="5360" y="1072"/>
              <a:ext cx="76" cy="77"/>
            </a:xfrm>
            <a:prstGeom prst="ellipse">
              <a:avLst/>
            </a:prstGeom>
            <a:solidFill>
              <a:schemeClr val="tx2"/>
            </a:solidFill>
            <a:ln w="9525">
              <a:noFill/>
              <a:round/>
              <a:headEnd/>
              <a:tailEnd/>
            </a:ln>
            <a:effectLst/>
          </p:spPr>
          <p:txBody>
            <a:bodyPr wrap="none" anchor="ctr"/>
            <a:lstStyle/>
            <a:p>
              <a:pPr>
                <a:defRPr/>
              </a:pPr>
              <a:endParaRPr lang="en-US"/>
            </a:p>
          </p:txBody>
        </p:sp>
        <p:sp>
          <p:nvSpPr>
            <p:cNvPr id="19471" name="Oval 15"/>
            <p:cNvSpPr>
              <a:spLocks noChangeArrowheads="1"/>
            </p:cNvSpPr>
            <p:nvPr/>
          </p:nvSpPr>
          <p:spPr bwMode="auto">
            <a:xfrm>
              <a:off x="5472" y="1072"/>
              <a:ext cx="73" cy="77"/>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2" name="Oval 16"/>
            <p:cNvSpPr>
              <a:spLocks noChangeArrowheads="1"/>
            </p:cNvSpPr>
            <p:nvPr/>
          </p:nvSpPr>
          <p:spPr bwMode="auto">
            <a:xfrm>
              <a:off x="5136" y="1184"/>
              <a:ext cx="80" cy="73"/>
            </a:xfrm>
            <a:prstGeom prst="ellipse">
              <a:avLst/>
            </a:prstGeom>
            <a:solidFill>
              <a:schemeClr val="tx2"/>
            </a:solidFill>
            <a:ln w="9525">
              <a:noFill/>
              <a:round/>
              <a:headEnd/>
              <a:tailEnd/>
            </a:ln>
            <a:effectLst/>
          </p:spPr>
          <p:txBody>
            <a:bodyPr wrap="none" anchor="ctr"/>
            <a:lstStyle/>
            <a:p>
              <a:pPr>
                <a:defRPr/>
              </a:pPr>
              <a:endParaRPr lang="en-US"/>
            </a:p>
          </p:txBody>
        </p:sp>
        <p:sp>
          <p:nvSpPr>
            <p:cNvPr id="19473" name="Oval 17"/>
            <p:cNvSpPr>
              <a:spLocks noChangeArrowheads="1"/>
            </p:cNvSpPr>
            <p:nvPr/>
          </p:nvSpPr>
          <p:spPr bwMode="auto">
            <a:xfrm>
              <a:off x="5248" y="1184"/>
              <a:ext cx="79" cy="73"/>
            </a:xfrm>
            <a:prstGeom prst="ellipse">
              <a:avLst/>
            </a:prstGeom>
            <a:solidFill>
              <a:schemeClr val="tx2"/>
            </a:solidFill>
            <a:ln w="9525">
              <a:noFill/>
              <a:round/>
              <a:headEnd/>
              <a:tailEnd/>
            </a:ln>
            <a:effectLst/>
          </p:spPr>
          <p:txBody>
            <a:bodyPr wrap="none" anchor="ctr"/>
            <a:lstStyle/>
            <a:p>
              <a:pPr>
                <a:defRPr/>
              </a:pPr>
              <a:endParaRPr lang="en-US"/>
            </a:p>
          </p:txBody>
        </p:sp>
        <p:sp>
          <p:nvSpPr>
            <p:cNvPr id="19474" name="Oval 18"/>
            <p:cNvSpPr>
              <a:spLocks noChangeArrowheads="1"/>
            </p:cNvSpPr>
            <p:nvPr/>
          </p:nvSpPr>
          <p:spPr bwMode="auto">
            <a:xfrm>
              <a:off x="5360" y="1184"/>
              <a:ext cx="76" cy="73"/>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5" name="Oval 19"/>
            <p:cNvSpPr>
              <a:spLocks noChangeArrowheads="1"/>
            </p:cNvSpPr>
            <p:nvPr/>
          </p:nvSpPr>
          <p:spPr bwMode="auto">
            <a:xfrm>
              <a:off x="5472" y="1184"/>
              <a:ext cx="73" cy="73"/>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6" name="Oval 20"/>
            <p:cNvSpPr>
              <a:spLocks noChangeArrowheads="1"/>
            </p:cNvSpPr>
            <p:nvPr/>
          </p:nvSpPr>
          <p:spPr bwMode="auto">
            <a:xfrm>
              <a:off x="5584" y="1184"/>
              <a:ext cx="80" cy="73"/>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77" name="Oval 21"/>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a:p>
          </p:txBody>
        </p:sp>
        <p:sp>
          <p:nvSpPr>
            <p:cNvPr id="19478" name="Oval 22"/>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79" name="Oval 23"/>
            <p:cNvSpPr>
              <a:spLocks noChangeArrowheads="1"/>
            </p:cNvSpPr>
            <p:nvPr/>
          </p:nvSpPr>
          <p:spPr bwMode="auto">
            <a:xfrm>
              <a:off x="5360" y="1296"/>
              <a:ext cx="76"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0" name="Oval 24"/>
            <p:cNvSpPr>
              <a:spLocks noChangeArrowheads="1"/>
            </p:cNvSpPr>
            <p:nvPr/>
          </p:nvSpPr>
          <p:spPr bwMode="auto">
            <a:xfrm>
              <a:off x="5472" y="1296"/>
              <a:ext cx="73" cy="80"/>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1" name="Oval 25"/>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2" name="Oval 26"/>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3" name="Oval 27"/>
            <p:cNvSpPr>
              <a:spLocks noChangeArrowheads="1"/>
            </p:cNvSpPr>
            <p:nvPr/>
          </p:nvSpPr>
          <p:spPr bwMode="auto">
            <a:xfrm>
              <a:off x="5360" y="1408"/>
              <a:ext cx="76" cy="80"/>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4" name="Oval 28"/>
            <p:cNvSpPr>
              <a:spLocks noChangeArrowheads="1"/>
            </p:cNvSpPr>
            <p:nvPr/>
          </p:nvSpPr>
          <p:spPr bwMode="auto">
            <a:xfrm>
              <a:off x="5472" y="1408"/>
              <a:ext cx="73" cy="80"/>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5" name="Oval 29"/>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86" name="Oval 30"/>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a:p>
          </p:txBody>
        </p:sp>
        <p:sp>
          <p:nvSpPr>
            <p:cNvPr id="19487" name="Oval 31"/>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8" name="Oval 32"/>
            <p:cNvSpPr>
              <a:spLocks noChangeArrowheads="1"/>
            </p:cNvSpPr>
            <p:nvPr/>
          </p:nvSpPr>
          <p:spPr bwMode="auto">
            <a:xfrm>
              <a:off x="5360" y="1520"/>
              <a:ext cx="76" cy="79"/>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89" name="Oval 33"/>
            <p:cNvSpPr>
              <a:spLocks noChangeArrowheads="1"/>
            </p:cNvSpPr>
            <p:nvPr/>
          </p:nvSpPr>
          <p:spPr bwMode="auto">
            <a:xfrm>
              <a:off x="5472" y="1520"/>
              <a:ext cx="73" cy="79"/>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0" name="Oval 34"/>
            <p:cNvSpPr>
              <a:spLocks noChangeArrowheads="1"/>
            </p:cNvSpPr>
            <p:nvPr/>
          </p:nvSpPr>
          <p:spPr bwMode="auto">
            <a:xfrm>
              <a:off x="5136" y="1632"/>
              <a:ext cx="80" cy="75"/>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91" name="Oval 35"/>
            <p:cNvSpPr>
              <a:spLocks noChangeArrowheads="1"/>
            </p:cNvSpPr>
            <p:nvPr/>
          </p:nvSpPr>
          <p:spPr bwMode="auto">
            <a:xfrm>
              <a:off x="5248" y="1632"/>
              <a:ext cx="79" cy="75"/>
            </a:xfrm>
            <a:prstGeom prst="ellipse">
              <a:avLst/>
            </a:prstGeom>
            <a:solidFill>
              <a:schemeClr val="accent1"/>
            </a:solidFill>
            <a:ln w="9525">
              <a:noFill/>
              <a:round/>
              <a:headEnd/>
              <a:tailEnd/>
            </a:ln>
            <a:effectLst/>
          </p:spPr>
          <p:txBody>
            <a:bodyPr wrap="none" anchor="ctr"/>
            <a:lstStyle/>
            <a:p>
              <a:pPr>
                <a:defRPr/>
              </a:pPr>
              <a:endParaRPr lang="en-US"/>
            </a:p>
          </p:txBody>
        </p:sp>
        <p:sp>
          <p:nvSpPr>
            <p:cNvPr id="19492" name="Oval 36"/>
            <p:cNvSpPr>
              <a:spLocks noChangeArrowheads="1"/>
            </p:cNvSpPr>
            <p:nvPr/>
          </p:nvSpPr>
          <p:spPr bwMode="auto">
            <a:xfrm>
              <a:off x="5360" y="1632"/>
              <a:ext cx="76" cy="75"/>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3" name="Oval 37"/>
            <p:cNvSpPr>
              <a:spLocks noChangeArrowheads="1"/>
            </p:cNvSpPr>
            <p:nvPr/>
          </p:nvSpPr>
          <p:spPr bwMode="auto">
            <a:xfrm>
              <a:off x="5472" y="1632"/>
              <a:ext cx="73" cy="75"/>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4" name="Oval 38"/>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a:p>
          </p:txBody>
        </p:sp>
        <p:sp>
          <p:nvSpPr>
            <p:cNvPr id="19495" name="Oval 39"/>
            <p:cNvSpPr>
              <a:spLocks noChangeArrowheads="1"/>
            </p:cNvSpPr>
            <p:nvPr/>
          </p:nvSpPr>
          <p:spPr bwMode="auto">
            <a:xfrm>
              <a:off x="5472" y="1744"/>
              <a:ext cx="73" cy="80"/>
            </a:xfrm>
            <a:prstGeom prst="ellipse">
              <a:avLst/>
            </a:prstGeom>
            <a:solidFill>
              <a:schemeClr val="folHlink"/>
            </a:solidFill>
            <a:ln w="9525">
              <a:noFill/>
              <a:round/>
              <a:headEnd/>
              <a:tailEnd/>
            </a:ln>
            <a:effectLst/>
          </p:spPr>
          <p:txBody>
            <a:bodyPr wrap="none" anchor="ct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823"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4" r:id="rId13"/>
    <p:sldLayoutId id="2147483825" r:id="rId14"/>
  </p:sldLayoutIdLst>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defRPr>
      </a:lvl2pPr>
      <a:lvl3pPr algn="l" rtl="0" eaLnBrk="0" fontAlgn="base" hangingPunct="0">
        <a:spcBef>
          <a:spcPct val="0"/>
        </a:spcBef>
        <a:spcAft>
          <a:spcPct val="0"/>
        </a:spcAft>
        <a:defRPr sz="3900" b="1">
          <a:solidFill>
            <a:schemeClr val="tx2"/>
          </a:solidFill>
          <a:latin typeface="Arial" charset="0"/>
        </a:defRPr>
      </a:lvl3pPr>
      <a:lvl4pPr algn="l" rtl="0" eaLnBrk="0" fontAlgn="base" hangingPunct="0">
        <a:spcBef>
          <a:spcPct val="0"/>
        </a:spcBef>
        <a:spcAft>
          <a:spcPct val="0"/>
        </a:spcAft>
        <a:defRPr sz="3900" b="1">
          <a:solidFill>
            <a:schemeClr val="tx2"/>
          </a:solidFill>
          <a:latin typeface="Arial" charset="0"/>
        </a:defRPr>
      </a:lvl4pPr>
      <a:lvl5pPr algn="l" rtl="0" eaLnBrk="0" fontAlgn="base" hangingPunct="0">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7.wmf"/><Relationship Id="rId7" Type="http://schemas.openxmlformats.org/officeDocument/2006/relationships/image" Target="../media/image10.w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0.emf"/><Relationship Id="rId2" Type="http://schemas.openxmlformats.org/officeDocument/2006/relationships/oleObject" Target="../embeddings/oleObject3.bin"/><Relationship Id="rId1" Type="http://schemas.openxmlformats.org/officeDocument/2006/relationships/slideLayout" Target="../slideLayouts/slideLayout13.xml"/><Relationship Id="rId6" Type="http://schemas.openxmlformats.org/officeDocument/2006/relationships/oleObject" Target="../embeddings/oleObject5.bin"/><Relationship Id="rId5" Type="http://schemas.openxmlformats.org/officeDocument/2006/relationships/image" Target="../media/image19.emf"/><Relationship Id="rId4" Type="http://schemas.openxmlformats.org/officeDocument/2006/relationships/oleObject" Target="../embeddings/oleObject4.bin"/></Relationships>
</file>

<file path=ppt/slides/_rels/slide24.xml.rels><?xml version="1.0" encoding="UTF-8" standalone="yes"?>
<Relationships xmlns="http://schemas.openxmlformats.org/package/2006/relationships"><Relationship Id="rId3" Type="http://schemas.openxmlformats.org/officeDocument/2006/relationships/image" Target="../media/image21.emf"/><Relationship Id="rId7" Type="http://schemas.openxmlformats.org/officeDocument/2006/relationships/image" Target="../media/image23.emf"/><Relationship Id="rId2" Type="http://schemas.openxmlformats.org/officeDocument/2006/relationships/oleObject" Target="../embeddings/oleObject6.bin"/><Relationship Id="rId1" Type="http://schemas.openxmlformats.org/officeDocument/2006/relationships/slideLayout" Target="../slideLayouts/slideLayout13.xml"/><Relationship Id="rId6" Type="http://schemas.openxmlformats.org/officeDocument/2006/relationships/oleObject" Target="../embeddings/oleObject8.bin"/><Relationship Id="rId5" Type="http://schemas.openxmlformats.org/officeDocument/2006/relationships/image" Target="../media/image22.emf"/><Relationship Id="rId4"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5.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7.wmf"/><Relationship Id="rId5" Type="http://schemas.openxmlformats.org/officeDocument/2006/relationships/oleObject" Target="../embeddings/oleObject12.bin"/><Relationship Id="rId4" Type="http://schemas.openxmlformats.org/officeDocument/2006/relationships/image" Target="../media/image26.wmf"/></Relationships>
</file>

<file path=ppt/slides/_rels/slide29.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19.bin"/><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33.emf"/><Relationship Id="rId2" Type="http://schemas.openxmlformats.org/officeDocument/2006/relationships/notesSlide" Target="../notesSlides/notesSlide21.xml"/><Relationship Id="rId16" Type="http://schemas.openxmlformats.org/officeDocument/2006/relationships/image" Target="../media/image35.wmf"/><Relationship Id="rId1" Type="http://schemas.openxmlformats.org/officeDocument/2006/relationships/slideLayout" Target="../slideLayouts/slideLayout4.xml"/><Relationship Id="rId6" Type="http://schemas.openxmlformats.org/officeDocument/2006/relationships/image" Target="../media/image30.w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oleObject" Target="../embeddings/oleObject20.bin"/><Relationship Id="rId10" Type="http://schemas.openxmlformats.org/officeDocument/2006/relationships/image" Target="../media/image32.wmf"/><Relationship Id="rId4" Type="http://schemas.openxmlformats.org/officeDocument/2006/relationships/image" Target="../media/image29.emf"/><Relationship Id="rId9" Type="http://schemas.openxmlformats.org/officeDocument/2006/relationships/oleObject" Target="../embeddings/oleObject17.bin"/><Relationship Id="rId14" Type="http://schemas.openxmlformats.org/officeDocument/2006/relationships/image" Target="../media/image34.wmf"/></Relationships>
</file>

<file path=ppt/slides/_rels/slide3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38.jpeg"/><Relationship Id="rId4" Type="http://schemas.openxmlformats.org/officeDocument/2006/relationships/image" Target="../media/image37.wmf"/></Relationships>
</file>

<file path=ppt/slides/_rels/slide34.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image" Target="../media/image40.wmf"/><Relationship Id="rId5" Type="http://schemas.openxmlformats.org/officeDocument/2006/relationships/oleObject" Target="../embeddings/oleObject24.bin"/><Relationship Id="rId4" Type="http://schemas.openxmlformats.org/officeDocument/2006/relationships/image" Target="../media/image39.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44.jpe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43.wmf"/><Relationship Id="rId5" Type="http://schemas.openxmlformats.org/officeDocument/2006/relationships/oleObject" Target="../embeddings/oleObject27.bin"/><Relationship Id="rId4" Type="http://schemas.openxmlformats.org/officeDocument/2006/relationships/image" Target="../media/image42.wmf"/></Relationships>
</file>

<file path=ppt/slides/_rels/slide36.xml.rels><?xml version="1.0" encoding="UTF-8" standalone="yes"?>
<Relationships xmlns="http://schemas.openxmlformats.org/package/2006/relationships"><Relationship Id="rId3" Type="http://schemas.openxmlformats.org/officeDocument/2006/relationships/hyperlink" Target="http://www.learnbymarketing.com/481/decision-tree-flavors-gini-info-gain/"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5.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29.bin"/><Relationship Id="rId1" Type="http://schemas.openxmlformats.org/officeDocument/2006/relationships/slideLayout" Target="../slideLayouts/slideLayout6.xml"/><Relationship Id="rId6" Type="http://schemas.openxmlformats.org/officeDocument/2006/relationships/oleObject" Target="../embeddings/oleObject31.bin"/><Relationship Id="rId5" Type="http://schemas.openxmlformats.org/officeDocument/2006/relationships/image" Target="../media/image47.wmf"/><Relationship Id="rId4" Type="http://schemas.openxmlformats.org/officeDocument/2006/relationships/oleObject" Target="../embeddings/oleObject30.bin"/><Relationship Id="rId9" Type="http://schemas.openxmlformats.org/officeDocument/2006/relationships/image" Target="../media/image49.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51.emf"/><Relationship Id="rId5" Type="http://schemas.openxmlformats.org/officeDocument/2006/relationships/oleObject" Target="../embeddings/oleObject34.bin"/><Relationship Id="rId4" Type="http://schemas.openxmlformats.org/officeDocument/2006/relationships/image" Target="../media/image50.wmf"/></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315913" y="990600"/>
            <a:ext cx="6781800" cy="1066800"/>
          </a:xfrm>
        </p:spPr>
        <p:txBody>
          <a:bodyPr/>
          <a:lstStyle/>
          <a:p>
            <a:pPr algn="ctr" eaLnBrk="1" hangingPunct="1"/>
            <a:r>
              <a:rPr lang="en-US" sz="2800" dirty="0"/>
              <a:t>Data Mining (CSE 6506)</a:t>
            </a:r>
            <a:br>
              <a:rPr lang="en-US" sz="2800" dirty="0"/>
            </a:br>
            <a:br>
              <a:rPr lang="en-US" sz="2800" dirty="0"/>
            </a:br>
            <a:endParaRPr lang="en-US" sz="2800" b="0" dirty="0"/>
          </a:p>
        </p:txBody>
      </p:sp>
      <p:sp>
        <p:nvSpPr>
          <p:cNvPr id="14339" name="Rectangle 3"/>
          <p:cNvSpPr>
            <a:spLocks noGrp="1" noChangeArrowheads="1"/>
          </p:cNvSpPr>
          <p:nvPr>
            <p:ph type="subTitle" idx="1"/>
          </p:nvPr>
        </p:nvSpPr>
        <p:spPr/>
        <p:txBody>
          <a:bodyPr/>
          <a:lstStyle/>
          <a:p>
            <a:pPr algn="ctr" eaLnBrk="1" hangingPunct="1">
              <a:lnSpc>
                <a:spcPct val="90000"/>
              </a:lnSpc>
            </a:pPr>
            <a:r>
              <a:rPr lang="en-US" sz="2400"/>
              <a:t>Mahmuda</a:t>
            </a:r>
            <a:r>
              <a:rPr lang="en-US" sz="2400" dirty="0"/>
              <a:t> </a:t>
            </a:r>
            <a:r>
              <a:rPr lang="en-US" sz="2400" dirty="0" err="1"/>
              <a:t>Naznin</a:t>
            </a:r>
            <a:endParaRPr lang="en-US" sz="2400" dirty="0"/>
          </a:p>
          <a:p>
            <a:pPr algn="ctr" eaLnBrk="1" hangingPunct="1">
              <a:lnSpc>
                <a:spcPct val="90000"/>
              </a:lnSpc>
            </a:pPr>
            <a:r>
              <a:rPr lang="en-US" sz="2400" dirty="0"/>
              <a:t>Department of Computer Science Engineering, BUET </a:t>
            </a:r>
            <a:br>
              <a:rPr lang="en-US" sz="2400" dirty="0"/>
            </a:br>
            <a:endParaRPr lang="en-US" sz="2400" dirty="0"/>
          </a:p>
          <a:p>
            <a:pPr algn="ctr" eaLnBrk="1" hangingPunct="1">
              <a:lnSpc>
                <a:spcPct val="90000"/>
              </a:lnSpc>
            </a:pPr>
            <a:br>
              <a:rPr lang="en-US" sz="2400" dirty="0"/>
            </a:br>
            <a:endParaRPr lang="en-US" sz="2400" dirty="0"/>
          </a:p>
        </p:txBody>
      </p:sp>
      <p:sp>
        <p:nvSpPr>
          <p:cNvPr id="5" name="Rectangle 2"/>
          <p:cNvSpPr txBox="1">
            <a:spLocks noChangeArrowheads="1"/>
          </p:cNvSpPr>
          <p:nvPr/>
        </p:nvSpPr>
        <p:spPr bwMode="auto">
          <a:xfrm>
            <a:off x="457200" y="1905000"/>
            <a:ext cx="6781800" cy="609600"/>
          </a:xfrm>
          <a:prstGeom prst="rect">
            <a:avLst/>
          </a:prstGeom>
          <a:solidFill>
            <a:schemeClr val="bg1">
              <a:lumMod val="85000"/>
            </a:schemeClr>
          </a:solidFill>
          <a:ln w="9525">
            <a:noFill/>
            <a:miter lim="800000"/>
            <a:headEnd/>
            <a:tailEnd/>
          </a:ln>
        </p:spPr>
        <p:txBody>
          <a:bodyPr vert="horz" wrap="square" lIns="91440" tIns="45720" rIns="91440" bIns="45720" numCol="1" anchor="b" anchorCtr="0" compatLnSpc="1">
            <a:prstTxWarp prst="textNoShape">
              <a:avLst/>
            </a:prstTxWarp>
          </a:bodyPr>
          <a:lstStyle/>
          <a:p>
            <a:pPr lvl="0" algn="ctr"/>
            <a:r>
              <a:rPr kumimoji="0" lang="en-US" sz="2800" b="1" i="0" u="none" strike="noStrike" kern="0" cap="none" spc="0" normalizeH="0" baseline="0" noProof="0" dirty="0">
                <a:ln>
                  <a:noFill/>
                </a:ln>
                <a:solidFill>
                  <a:schemeClr val="tx2"/>
                </a:solidFill>
                <a:effectLst/>
                <a:uLnTx/>
                <a:uFillTx/>
                <a:latin typeface="+mj-lt"/>
                <a:ea typeface="+mj-ea"/>
                <a:cs typeface="+mj-cs"/>
              </a:rPr>
              <a:t>Classification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381000" y="381000"/>
            <a:ext cx="8458200" cy="885825"/>
          </a:xfrm>
          <a:noFill/>
        </p:spPr>
        <p:txBody>
          <a:bodyPr vert="horz" lIns="92075" tIns="46038" rIns="92075" bIns="46038" rtlCol="0" anchor="b">
            <a:normAutofit fontScale="90000"/>
          </a:bodyPr>
          <a:lstStyle/>
          <a:p>
            <a:pPr eaLnBrk="1" hangingPunct="1"/>
            <a:r>
              <a:rPr lang="en-US" altLang="en-US" sz="4000" dirty="0"/>
              <a:t>Supervised vs. Unsupervised Learning (1)</a:t>
            </a:r>
          </a:p>
        </p:txBody>
      </p:sp>
      <p:sp>
        <p:nvSpPr>
          <p:cNvPr id="6148" name="Rectangle 3"/>
          <p:cNvSpPr>
            <a:spLocks noGrp="1" noChangeArrowheads="1"/>
          </p:cNvSpPr>
          <p:nvPr>
            <p:ph type="body" idx="1"/>
          </p:nvPr>
        </p:nvSpPr>
        <p:spPr>
          <a:xfrm>
            <a:off x="399017" y="1191653"/>
            <a:ext cx="8136731" cy="2182993"/>
          </a:xfrm>
          <a:noFill/>
        </p:spPr>
        <p:txBody>
          <a:bodyPr vert="horz" lIns="92075" tIns="46038" rIns="92075" bIns="46038" rtlCol="0">
            <a:noAutofit/>
          </a:bodyPr>
          <a:lstStyle/>
          <a:p>
            <a:pPr eaLnBrk="1" hangingPunct="1">
              <a:lnSpc>
                <a:spcPct val="130000"/>
              </a:lnSpc>
            </a:pPr>
            <a:r>
              <a:rPr lang="en-US" altLang="en-US" sz="1800" dirty="0">
                <a:solidFill>
                  <a:srgbClr val="F83F24"/>
                </a:solidFill>
              </a:rPr>
              <a:t>Supervised learning (classification)</a:t>
            </a:r>
            <a:endParaRPr lang="en-US" altLang="en-US" sz="1800" dirty="0"/>
          </a:p>
          <a:p>
            <a:pPr lvl="1" eaLnBrk="1" hangingPunct="1">
              <a:lnSpc>
                <a:spcPct val="130000"/>
              </a:lnSpc>
            </a:pPr>
            <a:r>
              <a:rPr lang="en-US" altLang="en-US" sz="1800" dirty="0"/>
              <a:t>Supervision: The training data such as observations or measurements are accompanied by </a:t>
            </a:r>
            <a:r>
              <a:rPr lang="en-US" altLang="en-US" sz="1800" b="1" dirty="0"/>
              <a:t>labels</a:t>
            </a:r>
            <a:r>
              <a:rPr lang="en-US" altLang="en-US" sz="1800" dirty="0"/>
              <a:t> indicating the classes which they belong to</a:t>
            </a:r>
          </a:p>
          <a:p>
            <a:pPr lvl="1" eaLnBrk="1" hangingPunct="1">
              <a:lnSpc>
                <a:spcPct val="130000"/>
              </a:lnSpc>
            </a:pPr>
            <a:r>
              <a:rPr lang="en-US" altLang="en-US" sz="1800" dirty="0"/>
              <a:t>New data is classified based on the models built from the training set</a:t>
            </a:r>
          </a:p>
        </p:txBody>
      </p:sp>
      <p:sp>
        <p:nvSpPr>
          <p:cNvPr id="2" name="TextBox 1">
            <a:extLst>
              <a:ext uri="{FF2B5EF4-FFF2-40B4-BE49-F238E27FC236}">
                <a16:creationId xmlns:a16="http://schemas.microsoft.com/office/drawing/2014/main" id="{F11E678F-ABFE-4061-8A92-57B3FAE84375}"/>
              </a:ext>
            </a:extLst>
          </p:cNvPr>
          <p:cNvSpPr txBox="1"/>
          <p:nvPr/>
        </p:nvSpPr>
        <p:spPr>
          <a:xfrm>
            <a:off x="228600" y="2819400"/>
            <a:ext cx="2057400" cy="646331"/>
          </a:xfrm>
          <a:prstGeom prst="rect">
            <a:avLst/>
          </a:prstGeom>
          <a:solidFill>
            <a:srgbClr val="FFFF00"/>
          </a:solidFill>
        </p:spPr>
        <p:txBody>
          <a:bodyPr wrap="square" rtlCol="0">
            <a:spAutoFit/>
          </a:bodyPr>
          <a:lstStyle/>
          <a:p>
            <a:r>
              <a:rPr lang="en-US" dirty="0"/>
              <a:t>Training Data with class label:</a:t>
            </a:r>
          </a:p>
        </p:txBody>
      </p:sp>
      <p:sp>
        <p:nvSpPr>
          <p:cNvPr id="3" name="Arrow: Down 2">
            <a:extLst>
              <a:ext uri="{FF2B5EF4-FFF2-40B4-BE49-F238E27FC236}">
                <a16:creationId xmlns:a16="http://schemas.microsoft.com/office/drawing/2014/main" id="{7440FD7D-CA7A-4B99-8295-420FF9F741F9}"/>
              </a:ext>
            </a:extLst>
          </p:cNvPr>
          <p:cNvSpPr/>
          <p:nvPr/>
        </p:nvSpPr>
        <p:spPr>
          <a:xfrm>
            <a:off x="2593840" y="3676381"/>
            <a:ext cx="155543" cy="132140"/>
          </a:xfrm>
          <a:prstGeom prst="downArrow">
            <a:avLst/>
          </a:prstGeom>
          <a:solidFill>
            <a:srgbClr val="00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6"/>
          <p:cNvGrpSpPr/>
          <p:nvPr/>
        </p:nvGrpSpPr>
        <p:grpSpPr>
          <a:xfrm>
            <a:off x="3657599" y="3443081"/>
            <a:ext cx="4697245" cy="2957720"/>
            <a:chOff x="1752600" y="1828800"/>
            <a:chExt cx="6324600" cy="3962400"/>
          </a:xfrm>
        </p:grpSpPr>
        <p:sp>
          <p:nvSpPr>
            <p:cNvPr id="107" name="Rectangle 5"/>
            <p:cNvSpPr>
              <a:spLocks noChangeArrowheads="1"/>
            </p:cNvSpPr>
            <p:nvPr/>
          </p:nvSpPr>
          <p:spPr bwMode="auto">
            <a:xfrm>
              <a:off x="4191000" y="1828800"/>
              <a:ext cx="1981200" cy="16002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t>Model </a:t>
              </a:r>
            </a:p>
            <a:p>
              <a:pPr algn="ctr" eaLnBrk="1" hangingPunct="1"/>
              <a:r>
                <a:rPr lang="en-US" altLang="zh-CN" sz="1800" b="1" dirty="0"/>
                <a:t>Learning</a:t>
              </a:r>
            </a:p>
          </p:txBody>
        </p:sp>
        <p:sp>
          <p:nvSpPr>
            <p:cNvPr id="108" name="Oval 9"/>
            <p:cNvSpPr>
              <a:spLocks noChangeArrowheads="1"/>
            </p:cNvSpPr>
            <p:nvPr/>
          </p:nvSpPr>
          <p:spPr bwMode="auto">
            <a:xfrm>
              <a:off x="6858000" y="3962400"/>
              <a:ext cx="1219200" cy="6858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t>Positive</a:t>
              </a:r>
            </a:p>
          </p:txBody>
        </p:sp>
        <p:sp>
          <p:nvSpPr>
            <p:cNvPr id="109" name="Oval 10"/>
            <p:cNvSpPr>
              <a:spLocks noChangeArrowheads="1"/>
            </p:cNvSpPr>
            <p:nvPr/>
          </p:nvSpPr>
          <p:spPr bwMode="auto">
            <a:xfrm>
              <a:off x="6858000" y="5105400"/>
              <a:ext cx="1219200" cy="6858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t>Negative</a:t>
              </a:r>
            </a:p>
          </p:txBody>
        </p:sp>
        <p:sp>
          <p:nvSpPr>
            <p:cNvPr id="110" name="AutoShape 17"/>
            <p:cNvSpPr>
              <a:spLocks noChangeArrowheads="1"/>
            </p:cNvSpPr>
            <p:nvPr/>
          </p:nvSpPr>
          <p:spPr bwMode="auto">
            <a:xfrm>
              <a:off x="3429000" y="2286000"/>
              <a:ext cx="685800" cy="457200"/>
            </a:xfrm>
            <a:prstGeom prst="rightArrow">
              <a:avLst>
                <a:gd name="adj1" fmla="val 50000"/>
                <a:gd name="adj2" fmla="val 63889"/>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1" name="AutoShape 18"/>
            <p:cNvSpPr>
              <a:spLocks noChangeArrowheads="1"/>
            </p:cNvSpPr>
            <p:nvPr/>
          </p:nvSpPr>
          <p:spPr bwMode="auto">
            <a:xfrm rot="5400000">
              <a:off x="4914900" y="3619500"/>
              <a:ext cx="533400" cy="457200"/>
            </a:xfrm>
            <a:prstGeom prst="rightArrow">
              <a:avLst>
                <a:gd name="adj1" fmla="val 50000"/>
                <a:gd name="adj2" fmla="val 21983"/>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2" name="AutoShape 19"/>
            <p:cNvSpPr>
              <a:spLocks noChangeArrowheads="1"/>
            </p:cNvSpPr>
            <p:nvPr/>
          </p:nvSpPr>
          <p:spPr bwMode="auto">
            <a:xfrm>
              <a:off x="3429000" y="4724400"/>
              <a:ext cx="685800" cy="457200"/>
            </a:xfrm>
            <a:prstGeom prst="rightArrow">
              <a:avLst>
                <a:gd name="adj1" fmla="val 50000"/>
                <a:gd name="adj2" fmla="val 63889"/>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3" name="AutoShape 20"/>
            <p:cNvSpPr>
              <a:spLocks noChangeArrowheads="1"/>
            </p:cNvSpPr>
            <p:nvPr/>
          </p:nvSpPr>
          <p:spPr bwMode="auto">
            <a:xfrm rot="20411408">
              <a:off x="6275388" y="4419600"/>
              <a:ext cx="658812" cy="457200"/>
            </a:xfrm>
            <a:prstGeom prst="rightArrow">
              <a:avLst>
                <a:gd name="adj1" fmla="val 50000"/>
                <a:gd name="adj2" fmla="val 3602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4" name="AutoShape 23"/>
            <p:cNvSpPr>
              <a:spLocks noChangeArrowheads="1"/>
            </p:cNvSpPr>
            <p:nvPr/>
          </p:nvSpPr>
          <p:spPr bwMode="auto">
            <a:xfrm rot="1765968">
              <a:off x="6248400" y="4953000"/>
              <a:ext cx="658813" cy="457200"/>
            </a:xfrm>
            <a:prstGeom prst="rightArrow">
              <a:avLst>
                <a:gd name="adj1" fmla="val 50000"/>
                <a:gd name="adj2" fmla="val 3602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5" name="AutoShape 24"/>
            <p:cNvSpPr>
              <a:spLocks noChangeAspect="1" noChangeArrowheads="1"/>
            </p:cNvSpPr>
            <p:nvPr/>
          </p:nvSpPr>
          <p:spPr bwMode="auto">
            <a:xfrm>
              <a:off x="2095500" y="1828800"/>
              <a:ext cx="1117600" cy="1257300"/>
            </a:xfrm>
            <a:prstGeom prst="foldedCorner">
              <a:avLst>
                <a:gd name="adj" fmla="val 12500"/>
              </a:avLst>
            </a:prstGeom>
            <a:solidFill>
              <a:srgbClr val="CCFFCC"/>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6" name="AutoShape 25"/>
            <p:cNvSpPr>
              <a:spLocks noChangeAspect="1" noChangeArrowheads="1"/>
            </p:cNvSpPr>
            <p:nvPr/>
          </p:nvSpPr>
          <p:spPr bwMode="auto">
            <a:xfrm>
              <a:off x="1924050" y="2000250"/>
              <a:ext cx="1117600" cy="1257300"/>
            </a:xfrm>
            <a:prstGeom prst="foldedCorner">
              <a:avLst>
                <a:gd name="adj" fmla="val 12500"/>
              </a:avLst>
            </a:prstGeom>
            <a:solidFill>
              <a:srgbClr val="CCFFCC"/>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7" name="AutoShape 26"/>
            <p:cNvSpPr>
              <a:spLocks noChangeAspect="1" noChangeArrowheads="1"/>
            </p:cNvSpPr>
            <p:nvPr/>
          </p:nvSpPr>
          <p:spPr bwMode="auto">
            <a:xfrm>
              <a:off x="1752600" y="2171700"/>
              <a:ext cx="1117600" cy="1257300"/>
            </a:xfrm>
            <a:prstGeom prst="foldedCorner">
              <a:avLst>
                <a:gd name="adj" fmla="val 12500"/>
              </a:avLst>
            </a:prstGeom>
            <a:solidFill>
              <a:srgbClr val="CCFFCC"/>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solidFill>
                    <a:srgbClr val="FF0000"/>
                  </a:solidFill>
                </a:rPr>
                <a:t>Training </a:t>
              </a:r>
            </a:p>
            <a:p>
              <a:pPr algn="ctr" eaLnBrk="1" hangingPunct="1"/>
              <a:r>
                <a:rPr lang="en-US" altLang="zh-CN" sz="1800" b="1" dirty="0">
                  <a:solidFill>
                    <a:srgbClr val="FF0000"/>
                  </a:solidFill>
                </a:rPr>
                <a:t>Instances</a:t>
              </a:r>
            </a:p>
          </p:txBody>
        </p:sp>
        <p:sp>
          <p:nvSpPr>
            <p:cNvPr id="118" name="AutoShape 27"/>
            <p:cNvSpPr>
              <a:spLocks noChangeAspect="1" noChangeArrowheads="1"/>
            </p:cNvSpPr>
            <p:nvPr/>
          </p:nvSpPr>
          <p:spPr bwMode="auto">
            <a:xfrm>
              <a:off x="2095500" y="4191000"/>
              <a:ext cx="1117600" cy="1257300"/>
            </a:xfrm>
            <a:prstGeom prst="foldedCorner">
              <a:avLst>
                <a:gd name="adj" fmla="val 12500"/>
              </a:avLst>
            </a:prstGeom>
            <a:solidFill>
              <a:srgbClr val="FFFF99"/>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19" name="AutoShape 28"/>
            <p:cNvSpPr>
              <a:spLocks noChangeAspect="1" noChangeArrowheads="1"/>
            </p:cNvSpPr>
            <p:nvPr/>
          </p:nvSpPr>
          <p:spPr bwMode="auto">
            <a:xfrm>
              <a:off x="1924050" y="4362450"/>
              <a:ext cx="1117600" cy="1257300"/>
            </a:xfrm>
            <a:prstGeom prst="foldedCorner">
              <a:avLst>
                <a:gd name="adj" fmla="val 12500"/>
              </a:avLst>
            </a:prstGeom>
            <a:solidFill>
              <a:srgbClr val="FFFF99"/>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eaLnBrk="1" hangingPunct="1"/>
              <a:endParaRPr lang="en-US" altLang="x-none"/>
            </a:p>
          </p:txBody>
        </p:sp>
        <p:sp>
          <p:nvSpPr>
            <p:cNvPr id="120" name="AutoShape 29"/>
            <p:cNvSpPr>
              <a:spLocks noChangeAspect="1" noChangeArrowheads="1"/>
            </p:cNvSpPr>
            <p:nvPr/>
          </p:nvSpPr>
          <p:spPr bwMode="auto">
            <a:xfrm>
              <a:off x="1752600" y="4533900"/>
              <a:ext cx="1117600" cy="1257300"/>
            </a:xfrm>
            <a:prstGeom prst="foldedCorner">
              <a:avLst>
                <a:gd name="adj" fmla="val 12500"/>
              </a:avLst>
            </a:prstGeom>
            <a:solidFill>
              <a:srgbClr val="FFFF99"/>
            </a:solidFill>
            <a:ln w="9525">
              <a:solidFill>
                <a:schemeClr val="tx1"/>
              </a:solidFill>
              <a:round/>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solidFill>
                    <a:srgbClr val="FF0000"/>
                  </a:solidFill>
                </a:rPr>
                <a:t>Test </a:t>
              </a:r>
            </a:p>
            <a:p>
              <a:pPr algn="ctr" eaLnBrk="1" hangingPunct="1"/>
              <a:r>
                <a:rPr lang="en-US" altLang="zh-CN" sz="1800" b="1" dirty="0">
                  <a:solidFill>
                    <a:srgbClr val="FF0000"/>
                  </a:solidFill>
                </a:rPr>
                <a:t>Instances</a:t>
              </a:r>
            </a:p>
          </p:txBody>
        </p:sp>
        <p:sp>
          <p:nvSpPr>
            <p:cNvPr id="121" name="AutoShape 30"/>
            <p:cNvSpPr>
              <a:spLocks noChangeArrowheads="1"/>
            </p:cNvSpPr>
            <p:nvPr/>
          </p:nvSpPr>
          <p:spPr bwMode="auto">
            <a:xfrm>
              <a:off x="4191000" y="4267200"/>
              <a:ext cx="1981200" cy="1447800"/>
            </a:xfrm>
            <a:prstGeom prst="flowChartMultidocumen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charset="0"/>
                  <a:ea typeface="SimSun" charset="-122"/>
                </a:defRPr>
              </a:lvl1pPr>
              <a:lvl2pPr marL="742950" indent="-285750" eaLnBrk="0" hangingPunct="0">
                <a:defRPr>
                  <a:solidFill>
                    <a:schemeClr val="tx1"/>
                  </a:solidFill>
                  <a:latin typeface="Arial" charset="0"/>
                  <a:ea typeface="SimSun" charset="-122"/>
                </a:defRPr>
              </a:lvl2pPr>
              <a:lvl3pPr marL="1143000" indent="-228600" eaLnBrk="0" hangingPunct="0">
                <a:defRPr>
                  <a:solidFill>
                    <a:schemeClr val="tx1"/>
                  </a:solidFill>
                  <a:latin typeface="Arial" charset="0"/>
                  <a:ea typeface="SimSun" charset="-122"/>
                </a:defRPr>
              </a:lvl3pPr>
              <a:lvl4pPr marL="1600200" indent="-228600" eaLnBrk="0" hangingPunct="0">
                <a:defRPr>
                  <a:solidFill>
                    <a:schemeClr val="tx1"/>
                  </a:solidFill>
                  <a:latin typeface="Arial" charset="0"/>
                  <a:ea typeface="SimSun" charset="-122"/>
                </a:defRPr>
              </a:lvl4pPr>
              <a:lvl5pPr marL="2057400" indent="-228600" eaLnBrk="0" hangingPunct="0">
                <a:defRPr>
                  <a:solidFill>
                    <a:schemeClr val="tx1"/>
                  </a:solidFill>
                  <a:latin typeface="Arial" charset="0"/>
                  <a:ea typeface="SimSun" charset="-122"/>
                </a:defRPr>
              </a:lvl5pPr>
              <a:lvl6pPr marL="2514600" indent="-228600" eaLnBrk="0" fontAlgn="base" hangingPunct="0">
                <a:spcBef>
                  <a:spcPct val="0"/>
                </a:spcBef>
                <a:spcAft>
                  <a:spcPct val="0"/>
                </a:spcAft>
                <a:defRPr>
                  <a:solidFill>
                    <a:schemeClr val="tx1"/>
                  </a:solidFill>
                  <a:latin typeface="Arial" charset="0"/>
                  <a:ea typeface="SimSun" charset="-122"/>
                </a:defRPr>
              </a:lvl6pPr>
              <a:lvl7pPr marL="2971800" indent="-228600" eaLnBrk="0" fontAlgn="base" hangingPunct="0">
                <a:spcBef>
                  <a:spcPct val="0"/>
                </a:spcBef>
                <a:spcAft>
                  <a:spcPct val="0"/>
                </a:spcAft>
                <a:defRPr>
                  <a:solidFill>
                    <a:schemeClr val="tx1"/>
                  </a:solidFill>
                  <a:latin typeface="Arial" charset="0"/>
                  <a:ea typeface="SimSun" charset="-122"/>
                </a:defRPr>
              </a:lvl7pPr>
              <a:lvl8pPr marL="3429000" indent="-228600" eaLnBrk="0" fontAlgn="base" hangingPunct="0">
                <a:spcBef>
                  <a:spcPct val="0"/>
                </a:spcBef>
                <a:spcAft>
                  <a:spcPct val="0"/>
                </a:spcAft>
                <a:defRPr>
                  <a:solidFill>
                    <a:schemeClr val="tx1"/>
                  </a:solidFill>
                  <a:latin typeface="Arial" charset="0"/>
                  <a:ea typeface="SimSun" charset="-122"/>
                </a:defRPr>
              </a:lvl8pPr>
              <a:lvl9pPr marL="3886200" indent="-228600" eaLnBrk="0" fontAlgn="base" hangingPunct="0">
                <a:spcBef>
                  <a:spcPct val="0"/>
                </a:spcBef>
                <a:spcAft>
                  <a:spcPct val="0"/>
                </a:spcAft>
                <a:defRPr>
                  <a:solidFill>
                    <a:schemeClr val="tx1"/>
                  </a:solidFill>
                  <a:latin typeface="Arial" charset="0"/>
                  <a:ea typeface="SimSun" charset="-122"/>
                </a:defRPr>
              </a:lvl9pPr>
            </a:lstStyle>
            <a:p>
              <a:pPr algn="ctr" eaLnBrk="1" hangingPunct="1"/>
              <a:r>
                <a:rPr lang="en-US" altLang="zh-CN" sz="1800" b="1" dirty="0"/>
                <a:t>Prediction </a:t>
              </a:r>
            </a:p>
            <a:p>
              <a:pPr algn="ctr" eaLnBrk="1" hangingPunct="1"/>
              <a:r>
                <a:rPr lang="en-US" altLang="zh-CN" sz="1800" b="1" dirty="0"/>
                <a:t>Model </a:t>
              </a:r>
            </a:p>
          </p:txBody>
        </p:sp>
      </p:grpSp>
      <p:graphicFrame>
        <p:nvGraphicFramePr>
          <p:cNvPr id="23" name="Table 22"/>
          <p:cNvGraphicFramePr>
            <a:graphicFrameLocks noGrp="1"/>
          </p:cNvGraphicFramePr>
          <p:nvPr>
            <p:extLst>
              <p:ext uri="{D42A27DB-BD31-4B8C-83A1-F6EECF244321}">
                <p14:modId xmlns:p14="http://schemas.microsoft.com/office/powerpoint/2010/main" val="309530440"/>
              </p:ext>
            </p:extLst>
          </p:nvPr>
        </p:nvGraphicFramePr>
        <p:xfrm>
          <a:off x="228600" y="3581400"/>
          <a:ext cx="2834486" cy="3011754"/>
        </p:xfrm>
        <a:graphic>
          <a:graphicData uri="http://schemas.openxmlformats.org/drawingml/2006/table">
            <a:tbl>
              <a:tblPr firstRow="1" bandRow="1">
                <a:tableStyleId>{93296810-A885-4BE3-A3E7-6D5BEEA58F35}</a:tableStyleId>
              </a:tblPr>
              <a:tblGrid>
                <a:gridCol w="609756">
                  <a:extLst>
                    <a:ext uri="{9D8B030D-6E8A-4147-A177-3AD203B41FA5}">
                      <a16:colId xmlns:a16="http://schemas.microsoft.com/office/drawing/2014/main" val="20000"/>
                    </a:ext>
                  </a:extLst>
                </a:gridCol>
                <a:gridCol w="436222">
                  <a:extLst>
                    <a:ext uri="{9D8B030D-6E8A-4147-A177-3AD203B41FA5}">
                      <a16:colId xmlns:a16="http://schemas.microsoft.com/office/drawing/2014/main" val="20001"/>
                    </a:ext>
                  </a:extLst>
                </a:gridCol>
                <a:gridCol w="645608">
                  <a:extLst>
                    <a:ext uri="{9D8B030D-6E8A-4147-A177-3AD203B41FA5}">
                      <a16:colId xmlns:a16="http://schemas.microsoft.com/office/drawing/2014/main" val="20002"/>
                    </a:ext>
                  </a:extLst>
                </a:gridCol>
                <a:gridCol w="514741">
                  <a:extLst>
                    <a:ext uri="{9D8B030D-6E8A-4147-A177-3AD203B41FA5}">
                      <a16:colId xmlns:a16="http://schemas.microsoft.com/office/drawing/2014/main" val="20003"/>
                    </a:ext>
                  </a:extLst>
                </a:gridCol>
                <a:gridCol w="628159">
                  <a:extLst>
                    <a:ext uri="{9D8B030D-6E8A-4147-A177-3AD203B41FA5}">
                      <a16:colId xmlns:a16="http://schemas.microsoft.com/office/drawing/2014/main" val="20004"/>
                    </a:ext>
                  </a:extLst>
                </a:gridCol>
              </a:tblGrid>
              <a:tr h="288599">
                <a:tc>
                  <a:txBody>
                    <a:bodyPr/>
                    <a:lstStyle/>
                    <a:p>
                      <a:pPr algn="ctr">
                        <a:lnSpc>
                          <a:spcPct val="100000"/>
                        </a:lnSpc>
                      </a:pPr>
                      <a:r>
                        <a:rPr lang="en-US" sz="1100" dirty="0"/>
                        <a:t>Outlook</a:t>
                      </a:r>
                    </a:p>
                  </a:txBody>
                  <a:tcPr marL="68580" marR="68580" anchor="ctr"/>
                </a:tc>
                <a:tc>
                  <a:txBody>
                    <a:bodyPr/>
                    <a:lstStyle/>
                    <a:p>
                      <a:pPr algn="ctr">
                        <a:lnSpc>
                          <a:spcPct val="100000"/>
                        </a:lnSpc>
                      </a:pPr>
                      <a:r>
                        <a:rPr lang="en-US" sz="1100" dirty="0"/>
                        <a:t>Temp</a:t>
                      </a:r>
                    </a:p>
                  </a:txBody>
                  <a:tcPr marL="68580" marR="68580" anchor="ctr"/>
                </a:tc>
                <a:tc>
                  <a:txBody>
                    <a:bodyPr/>
                    <a:lstStyle/>
                    <a:p>
                      <a:pPr algn="ctr">
                        <a:lnSpc>
                          <a:spcPct val="100000"/>
                        </a:lnSpc>
                      </a:pPr>
                      <a:r>
                        <a:rPr lang="en-US" sz="1100" dirty="0"/>
                        <a:t>Humidity</a:t>
                      </a:r>
                    </a:p>
                  </a:txBody>
                  <a:tcPr marL="68580" marR="68580" anchor="ctr"/>
                </a:tc>
                <a:tc>
                  <a:txBody>
                    <a:bodyPr/>
                    <a:lstStyle/>
                    <a:p>
                      <a:pPr algn="ctr">
                        <a:lnSpc>
                          <a:spcPct val="100000"/>
                        </a:lnSpc>
                      </a:pPr>
                      <a:r>
                        <a:rPr lang="en-US" sz="1100" dirty="0"/>
                        <a:t>Windy</a:t>
                      </a:r>
                    </a:p>
                  </a:txBody>
                  <a:tcPr marL="68580" marR="68580" anchor="ctr"/>
                </a:tc>
                <a:tc>
                  <a:txBody>
                    <a:bodyPr/>
                    <a:lstStyle/>
                    <a:p>
                      <a:pPr algn="ctr">
                        <a:lnSpc>
                          <a:spcPct val="100000"/>
                        </a:lnSpc>
                      </a:pPr>
                      <a:r>
                        <a:rPr lang="en-US" sz="1100" dirty="0"/>
                        <a:t>Play Golf</a:t>
                      </a:r>
                    </a:p>
                  </a:txBody>
                  <a:tcPr marL="68580" marR="68580" anchor="ctr">
                    <a:solidFill>
                      <a:schemeClr val="accent2"/>
                    </a:solidFill>
                  </a:tcPr>
                </a:tc>
                <a:extLst>
                  <a:ext uri="{0D108BD9-81ED-4DB2-BD59-A6C34878D82A}">
                    <a16:rowId xmlns:a16="http://schemas.microsoft.com/office/drawing/2014/main" val="10000"/>
                  </a:ext>
                </a:extLst>
              </a:tr>
              <a:tr h="288599">
                <a:tc>
                  <a:txBody>
                    <a:bodyPr/>
                    <a:lstStyle/>
                    <a:p>
                      <a:pPr algn="ctr">
                        <a:lnSpc>
                          <a:spcPct val="100000"/>
                        </a:lnSpc>
                      </a:pPr>
                      <a:r>
                        <a:rPr lang="en-US" sz="1100" dirty="0"/>
                        <a:t>Rainy</a:t>
                      </a:r>
                    </a:p>
                  </a:txBody>
                  <a:tcPr marL="68580" marR="68580" anchor="ctr"/>
                </a:tc>
                <a:tc>
                  <a:txBody>
                    <a:bodyPr/>
                    <a:lstStyle/>
                    <a:p>
                      <a:pPr algn="ctr">
                        <a:lnSpc>
                          <a:spcPct val="100000"/>
                        </a:lnSpc>
                      </a:pPr>
                      <a:r>
                        <a:rPr lang="en-US" sz="1100" dirty="0"/>
                        <a:t>Hot</a:t>
                      </a:r>
                    </a:p>
                  </a:txBody>
                  <a:tcPr marL="68580" marR="68580" anchor="ctr"/>
                </a:tc>
                <a:tc>
                  <a:txBody>
                    <a:bodyPr/>
                    <a:lstStyle/>
                    <a:p>
                      <a:pPr algn="ctr">
                        <a:lnSpc>
                          <a:spcPct val="100000"/>
                        </a:lnSpc>
                      </a:pPr>
                      <a:r>
                        <a:rPr lang="en-US" sz="1100" dirty="0"/>
                        <a:t>High</a:t>
                      </a:r>
                    </a:p>
                  </a:txBody>
                  <a:tcPr marL="68580" marR="68580" anchor="ctr"/>
                </a:tc>
                <a:tc>
                  <a:txBody>
                    <a:bodyPr/>
                    <a:lstStyle/>
                    <a:p>
                      <a:pPr algn="ctr">
                        <a:lnSpc>
                          <a:spcPct val="100000"/>
                        </a:lnSpc>
                      </a:pPr>
                      <a:r>
                        <a:rPr lang="en-US" sz="1100" dirty="0"/>
                        <a:t>False</a:t>
                      </a:r>
                    </a:p>
                  </a:txBody>
                  <a:tcPr marL="68580" marR="68580" anchor="ctr"/>
                </a:tc>
                <a:tc>
                  <a:txBody>
                    <a:bodyPr/>
                    <a:lstStyle/>
                    <a:p>
                      <a:pPr algn="ctr">
                        <a:lnSpc>
                          <a:spcPct val="100000"/>
                        </a:lnSpc>
                      </a:pPr>
                      <a:r>
                        <a:rPr lang="en-US" sz="11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1"/>
                  </a:ext>
                </a:extLst>
              </a:tr>
              <a:tr h="288599">
                <a:tc>
                  <a:txBody>
                    <a:bodyPr/>
                    <a:lstStyle/>
                    <a:p>
                      <a:pPr algn="ctr">
                        <a:lnSpc>
                          <a:spcPct val="100000"/>
                        </a:lnSpc>
                      </a:pPr>
                      <a:r>
                        <a:rPr lang="en-US" sz="1100" dirty="0"/>
                        <a:t>Rainy</a:t>
                      </a:r>
                    </a:p>
                  </a:txBody>
                  <a:tcPr marL="68580" marR="68580" anchor="ctr"/>
                </a:tc>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100" dirty="0"/>
                        <a:t>Hot</a:t>
                      </a:r>
                    </a:p>
                  </a:txBody>
                  <a:tcPr marL="68580" marR="68580" anchor="ctr"/>
                </a:tc>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100" dirty="0"/>
                        <a:t>High</a:t>
                      </a:r>
                    </a:p>
                  </a:txBody>
                  <a:tcPr marL="68580" marR="68580" anchor="ctr"/>
                </a:tc>
                <a:tc>
                  <a:txBody>
                    <a:bodyPr/>
                    <a:lstStyle/>
                    <a:p>
                      <a:pPr algn="ctr">
                        <a:lnSpc>
                          <a:spcPct val="100000"/>
                        </a:lnSpc>
                      </a:pPr>
                      <a:r>
                        <a:rPr lang="en-US" sz="1100" dirty="0"/>
                        <a:t>True</a:t>
                      </a:r>
                    </a:p>
                  </a:txBody>
                  <a:tcPr marL="68580" marR="68580" anchor="ctr"/>
                </a:tc>
                <a:tc>
                  <a:txBody>
                    <a:bodyPr/>
                    <a:lstStyle/>
                    <a:p>
                      <a:pPr algn="ctr">
                        <a:lnSpc>
                          <a:spcPct val="100000"/>
                        </a:lnSpc>
                      </a:pPr>
                      <a:r>
                        <a:rPr lang="en-US" sz="11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2"/>
                  </a:ext>
                </a:extLst>
              </a:tr>
              <a:tr h="288599">
                <a:tc>
                  <a:txBody>
                    <a:bodyPr/>
                    <a:lstStyle/>
                    <a:p>
                      <a:pPr algn="ctr">
                        <a:lnSpc>
                          <a:spcPct val="100000"/>
                        </a:lnSpc>
                      </a:pPr>
                      <a:r>
                        <a:rPr lang="en-US" sz="1100" dirty="0"/>
                        <a:t>Overcast</a:t>
                      </a:r>
                    </a:p>
                  </a:txBody>
                  <a:tcPr marL="68580" marR="68580" anchor="ctr"/>
                </a:tc>
                <a:tc>
                  <a:txBody>
                    <a:bodyPr/>
                    <a:lstStyle/>
                    <a:p>
                      <a:pPr algn="ctr">
                        <a:lnSpc>
                          <a:spcPct val="100000"/>
                        </a:lnSpc>
                      </a:pPr>
                      <a:r>
                        <a:rPr lang="en-US" sz="1100" dirty="0"/>
                        <a:t>Hot</a:t>
                      </a:r>
                    </a:p>
                  </a:txBody>
                  <a:tcPr marL="68580" marR="68580" anchor="ctr"/>
                </a:tc>
                <a:tc>
                  <a:txBody>
                    <a:bodyPr/>
                    <a:lstStyle/>
                    <a:p>
                      <a:pPr algn="ctr">
                        <a:lnSpc>
                          <a:spcPct val="100000"/>
                        </a:lnSpc>
                      </a:pPr>
                      <a:r>
                        <a:rPr lang="en-US" sz="1100" dirty="0"/>
                        <a:t>High</a:t>
                      </a:r>
                    </a:p>
                  </a:txBody>
                  <a:tcPr marL="68580" marR="68580" anchor="ctr"/>
                </a:tc>
                <a:tc>
                  <a:txBody>
                    <a:bodyPr/>
                    <a:lstStyle/>
                    <a:p>
                      <a:pPr algn="ctr">
                        <a:lnSpc>
                          <a:spcPct val="100000"/>
                        </a:lnSpc>
                      </a:pPr>
                      <a:r>
                        <a:rPr lang="en-US" sz="1100" dirty="0"/>
                        <a:t>False</a:t>
                      </a:r>
                    </a:p>
                  </a:txBody>
                  <a:tcPr marL="68580" marR="68580" anchor="ctr"/>
                </a:tc>
                <a:tc>
                  <a:txBody>
                    <a:bodyPr/>
                    <a:lstStyle/>
                    <a:p>
                      <a:pPr algn="ctr">
                        <a:lnSpc>
                          <a:spcPct val="100000"/>
                        </a:lnSpc>
                      </a:pPr>
                      <a:r>
                        <a:rPr lang="en-US" sz="11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3"/>
                  </a:ext>
                </a:extLst>
              </a:tr>
              <a:tr h="288599">
                <a:tc>
                  <a:txBody>
                    <a:bodyPr/>
                    <a:lstStyle/>
                    <a:p>
                      <a:pPr algn="ctr">
                        <a:lnSpc>
                          <a:spcPct val="100000"/>
                        </a:lnSpc>
                      </a:pPr>
                      <a:r>
                        <a:rPr lang="en-US" sz="1100" dirty="0"/>
                        <a:t>Sunny</a:t>
                      </a:r>
                    </a:p>
                  </a:txBody>
                  <a:tcPr marL="68580" marR="68580" anchor="ctr"/>
                </a:tc>
                <a:tc>
                  <a:txBody>
                    <a:bodyPr/>
                    <a:lstStyle/>
                    <a:p>
                      <a:pPr algn="ctr">
                        <a:lnSpc>
                          <a:spcPct val="100000"/>
                        </a:lnSpc>
                      </a:pPr>
                      <a:r>
                        <a:rPr lang="en-US" sz="1100" dirty="0"/>
                        <a:t>Mild</a:t>
                      </a:r>
                    </a:p>
                  </a:txBody>
                  <a:tcPr marL="68580" marR="68580" anchor="ctr"/>
                </a:tc>
                <a:tc>
                  <a:txBody>
                    <a:bodyPr/>
                    <a:lstStyle/>
                    <a:p>
                      <a:pPr algn="ctr">
                        <a:lnSpc>
                          <a:spcPct val="100000"/>
                        </a:lnSpc>
                      </a:pPr>
                      <a:r>
                        <a:rPr lang="en-US" sz="1100" dirty="0"/>
                        <a:t>High</a:t>
                      </a:r>
                    </a:p>
                  </a:txBody>
                  <a:tcPr marL="68580" marR="68580" anchor="ctr"/>
                </a:tc>
                <a:tc>
                  <a:txBody>
                    <a:bodyPr/>
                    <a:lstStyle/>
                    <a:p>
                      <a:pPr algn="ctr">
                        <a:lnSpc>
                          <a:spcPct val="100000"/>
                        </a:lnSpc>
                      </a:pPr>
                      <a:r>
                        <a:rPr lang="en-US" sz="1100" dirty="0"/>
                        <a:t>False</a:t>
                      </a:r>
                    </a:p>
                  </a:txBody>
                  <a:tcPr marL="68580" marR="68580" anchor="ctr"/>
                </a:tc>
                <a:tc>
                  <a:txBody>
                    <a:bodyPr/>
                    <a:lstStyle/>
                    <a:p>
                      <a:pPr algn="ctr">
                        <a:lnSpc>
                          <a:spcPct val="100000"/>
                        </a:lnSpc>
                      </a:pPr>
                      <a:r>
                        <a:rPr lang="en-US" sz="11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4"/>
                  </a:ext>
                </a:extLst>
              </a:tr>
              <a:tr h="288599">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100" dirty="0"/>
                        <a:t>Sunny</a:t>
                      </a:r>
                    </a:p>
                  </a:txBody>
                  <a:tcPr marL="68580" marR="68580" anchor="ctr"/>
                </a:tc>
                <a:tc>
                  <a:txBody>
                    <a:bodyPr/>
                    <a:lstStyle/>
                    <a:p>
                      <a:pPr algn="ctr">
                        <a:lnSpc>
                          <a:spcPct val="100000"/>
                        </a:lnSpc>
                      </a:pPr>
                      <a:r>
                        <a:rPr lang="en-US" sz="1100" dirty="0"/>
                        <a:t>Cool</a:t>
                      </a:r>
                    </a:p>
                  </a:txBody>
                  <a:tcPr marL="68580" marR="68580" anchor="ctr"/>
                </a:tc>
                <a:tc>
                  <a:txBody>
                    <a:bodyPr/>
                    <a:lstStyle/>
                    <a:p>
                      <a:pPr algn="ctr">
                        <a:lnSpc>
                          <a:spcPct val="100000"/>
                        </a:lnSpc>
                      </a:pPr>
                      <a:r>
                        <a:rPr lang="en-US" sz="1100" dirty="0"/>
                        <a:t>Normal</a:t>
                      </a:r>
                    </a:p>
                  </a:txBody>
                  <a:tcPr marL="68580" marR="68580" anchor="ctr"/>
                </a:tc>
                <a:tc>
                  <a:txBody>
                    <a:bodyPr/>
                    <a:lstStyle/>
                    <a:p>
                      <a:pPr algn="ctr">
                        <a:lnSpc>
                          <a:spcPct val="100000"/>
                        </a:lnSpc>
                      </a:pPr>
                      <a:r>
                        <a:rPr lang="en-US" sz="1100" dirty="0"/>
                        <a:t>False</a:t>
                      </a:r>
                    </a:p>
                  </a:txBody>
                  <a:tcPr marL="68580" marR="68580" anchor="ctr"/>
                </a:tc>
                <a:tc>
                  <a:txBody>
                    <a:bodyPr/>
                    <a:lstStyle/>
                    <a:p>
                      <a:pPr algn="ctr">
                        <a:lnSpc>
                          <a:spcPct val="100000"/>
                        </a:lnSpc>
                      </a:pPr>
                      <a:r>
                        <a:rPr lang="en-US" sz="11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5"/>
                  </a:ext>
                </a:extLst>
              </a:tr>
              <a:tr h="288599">
                <a:tc>
                  <a:txBody>
                    <a:bodyPr/>
                    <a:lstStyle/>
                    <a:p>
                      <a:pPr marL="0" marR="0" indent="0" algn="ctr" defTabSz="914354" rtl="0" eaLnBrk="1" fontAlgn="auto" latinLnBrk="0" hangingPunct="1">
                        <a:lnSpc>
                          <a:spcPct val="100000"/>
                        </a:lnSpc>
                        <a:spcBef>
                          <a:spcPts val="0"/>
                        </a:spcBef>
                        <a:spcAft>
                          <a:spcPts val="0"/>
                        </a:spcAft>
                        <a:buClrTx/>
                        <a:buSzTx/>
                        <a:buFontTx/>
                        <a:buNone/>
                        <a:tabLst/>
                        <a:defRPr/>
                      </a:pPr>
                      <a:r>
                        <a:rPr lang="en-US" sz="1100" dirty="0"/>
                        <a:t>Sunny</a:t>
                      </a:r>
                    </a:p>
                  </a:txBody>
                  <a:tcPr marL="68580" marR="68580" anchor="ctr"/>
                </a:tc>
                <a:tc>
                  <a:txBody>
                    <a:bodyPr/>
                    <a:lstStyle/>
                    <a:p>
                      <a:pPr algn="ctr">
                        <a:lnSpc>
                          <a:spcPct val="100000"/>
                        </a:lnSpc>
                      </a:pPr>
                      <a:r>
                        <a:rPr lang="en-US" sz="1100" dirty="0"/>
                        <a:t>Cool</a:t>
                      </a:r>
                    </a:p>
                  </a:txBody>
                  <a:tcPr marL="68580" marR="68580" anchor="ctr"/>
                </a:tc>
                <a:tc>
                  <a:txBody>
                    <a:bodyPr/>
                    <a:lstStyle/>
                    <a:p>
                      <a:pPr algn="ctr">
                        <a:lnSpc>
                          <a:spcPct val="100000"/>
                        </a:lnSpc>
                      </a:pPr>
                      <a:r>
                        <a:rPr lang="en-US" sz="1100" dirty="0"/>
                        <a:t>Normal</a:t>
                      </a:r>
                    </a:p>
                  </a:txBody>
                  <a:tcPr marL="68580" marR="68580" anchor="ctr"/>
                </a:tc>
                <a:tc>
                  <a:txBody>
                    <a:bodyPr/>
                    <a:lstStyle/>
                    <a:p>
                      <a:pPr algn="ctr">
                        <a:lnSpc>
                          <a:spcPct val="100000"/>
                        </a:lnSpc>
                      </a:pPr>
                      <a:r>
                        <a:rPr lang="en-US" sz="1100" dirty="0"/>
                        <a:t>True</a:t>
                      </a:r>
                    </a:p>
                  </a:txBody>
                  <a:tcPr marL="68580" marR="68580" anchor="ctr"/>
                </a:tc>
                <a:tc>
                  <a:txBody>
                    <a:bodyPr/>
                    <a:lstStyle/>
                    <a:p>
                      <a:pPr algn="ctr">
                        <a:lnSpc>
                          <a:spcPct val="100000"/>
                        </a:lnSpc>
                      </a:pPr>
                      <a:r>
                        <a:rPr lang="en-US" sz="11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6"/>
                  </a:ext>
                </a:extLst>
              </a:tr>
              <a:tr h="288599">
                <a:tc>
                  <a:txBody>
                    <a:bodyPr/>
                    <a:lstStyle/>
                    <a:p>
                      <a:pPr algn="ctr">
                        <a:lnSpc>
                          <a:spcPct val="100000"/>
                        </a:lnSpc>
                      </a:pPr>
                      <a:r>
                        <a:rPr lang="en-US" sz="1100" dirty="0"/>
                        <a:t>Overcast</a:t>
                      </a:r>
                    </a:p>
                  </a:txBody>
                  <a:tcPr marL="68580" marR="68580" anchor="ctr"/>
                </a:tc>
                <a:tc>
                  <a:txBody>
                    <a:bodyPr/>
                    <a:lstStyle/>
                    <a:p>
                      <a:pPr algn="ctr">
                        <a:lnSpc>
                          <a:spcPct val="100000"/>
                        </a:lnSpc>
                      </a:pPr>
                      <a:r>
                        <a:rPr lang="en-US" sz="1100" dirty="0"/>
                        <a:t>Cool</a:t>
                      </a:r>
                    </a:p>
                  </a:txBody>
                  <a:tcPr marL="68580" marR="68580" anchor="ctr"/>
                </a:tc>
                <a:tc>
                  <a:txBody>
                    <a:bodyPr/>
                    <a:lstStyle/>
                    <a:p>
                      <a:pPr algn="ctr">
                        <a:lnSpc>
                          <a:spcPct val="100000"/>
                        </a:lnSpc>
                      </a:pPr>
                      <a:r>
                        <a:rPr lang="en-US" sz="1100" dirty="0"/>
                        <a:t>Normal</a:t>
                      </a:r>
                    </a:p>
                  </a:txBody>
                  <a:tcPr marL="68580" marR="68580" anchor="ctr"/>
                </a:tc>
                <a:tc>
                  <a:txBody>
                    <a:bodyPr/>
                    <a:lstStyle/>
                    <a:p>
                      <a:pPr algn="ctr">
                        <a:lnSpc>
                          <a:spcPct val="100000"/>
                        </a:lnSpc>
                      </a:pPr>
                      <a:r>
                        <a:rPr lang="en-US" sz="1100" dirty="0"/>
                        <a:t>True</a:t>
                      </a:r>
                    </a:p>
                  </a:txBody>
                  <a:tcPr marL="68580" marR="68580" anchor="ctr"/>
                </a:tc>
                <a:tc>
                  <a:txBody>
                    <a:bodyPr/>
                    <a:lstStyle/>
                    <a:p>
                      <a:pPr algn="ctr">
                        <a:lnSpc>
                          <a:spcPct val="100000"/>
                        </a:lnSpc>
                      </a:pPr>
                      <a:r>
                        <a:rPr lang="en-US" sz="1100"/>
                        <a:t>Yes</a:t>
                      </a:r>
                      <a:endParaRPr lang="en-US" sz="1100" dirty="0"/>
                    </a:p>
                  </a:txBody>
                  <a:tcPr marL="68580" marR="68580" anchor="ctr">
                    <a:solidFill>
                      <a:schemeClr val="accent2">
                        <a:lumMod val="20000"/>
                        <a:lumOff val="80000"/>
                      </a:schemeClr>
                    </a:solidFill>
                  </a:tcPr>
                </a:tc>
                <a:extLst>
                  <a:ext uri="{0D108BD9-81ED-4DB2-BD59-A6C34878D82A}">
                    <a16:rowId xmlns:a16="http://schemas.microsoft.com/office/drawing/2014/main" val="10007"/>
                  </a:ext>
                </a:extLst>
              </a:tr>
              <a:tr h="288599">
                <a:tc>
                  <a:txBody>
                    <a:bodyPr/>
                    <a:lstStyle/>
                    <a:p>
                      <a:pPr algn="ctr">
                        <a:lnSpc>
                          <a:spcPct val="100000"/>
                        </a:lnSpc>
                      </a:pPr>
                      <a:r>
                        <a:rPr lang="en-US" sz="1100" dirty="0"/>
                        <a:t>Rainy</a:t>
                      </a:r>
                    </a:p>
                  </a:txBody>
                  <a:tcPr marL="68580" marR="68580" anchor="ctr"/>
                </a:tc>
                <a:tc>
                  <a:txBody>
                    <a:bodyPr/>
                    <a:lstStyle/>
                    <a:p>
                      <a:pPr algn="ctr">
                        <a:lnSpc>
                          <a:spcPct val="100000"/>
                        </a:lnSpc>
                      </a:pPr>
                      <a:r>
                        <a:rPr lang="en-US" sz="1100" dirty="0"/>
                        <a:t>Mild</a:t>
                      </a:r>
                    </a:p>
                  </a:txBody>
                  <a:tcPr marL="68580" marR="68580" anchor="ctr"/>
                </a:tc>
                <a:tc>
                  <a:txBody>
                    <a:bodyPr/>
                    <a:lstStyle/>
                    <a:p>
                      <a:pPr algn="ctr">
                        <a:lnSpc>
                          <a:spcPct val="100000"/>
                        </a:lnSpc>
                      </a:pPr>
                      <a:r>
                        <a:rPr lang="en-US" sz="1100" dirty="0"/>
                        <a:t>High</a:t>
                      </a:r>
                    </a:p>
                  </a:txBody>
                  <a:tcPr marL="68580" marR="68580" anchor="ctr"/>
                </a:tc>
                <a:tc>
                  <a:txBody>
                    <a:bodyPr/>
                    <a:lstStyle/>
                    <a:p>
                      <a:pPr algn="ctr">
                        <a:lnSpc>
                          <a:spcPct val="100000"/>
                        </a:lnSpc>
                      </a:pPr>
                      <a:r>
                        <a:rPr lang="en-US" sz="1100" dirty="0"/>
                        <a:t>False</a:t>
                      </a:r>
                    </a:p>
                  </a:txBody>
                  <a:tcPr marL="68580" marR="68580" anchor="ctr"/>
                </a:tc>
                <a:tc>
                  <a:txBody>
                    <a:bodyPr/>
                    <a:lstStyle/>
                    <a:p>
                      <a:pPr algn="ctr">
                        <a:lnSpc>
                          <a:spcPct val="100000"/>
                        </a:lnSpc>
                      </a:pPr>
                      <a:r>
                        <a:rPr lang="en-US" sz="11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8"/>
                  </a:ext>
                </a:extLst>
              </a:tr>
            </a:tbl>
          </a:graphicData>
        </a:graphic>
      </p:graphicFrame>
      <p:sp>
        <p:nvSpPr>
          <p:cNvPr id="5" name="Slide Number Placeholder 4"/>
          <p:cNvSpPr>
            <a:spLocks noGrp="1"/>
          </p:cNvSpPr>
          <p:nvPr>
            <p:ph type="sldNum" sz="quarter" idx="12"/>
          </p:nvPr>
        </p:nvSpPr>
        <p:spPr/>
        <p:txBody>
          <a:bodyPr/>
          <a:lstStyle/>
          <a:p>
            <a:pPr>
              <a:defRPr/>
            </a:pPr>
            <a:fld id="{D3D212DC-59E6-444E-AD7D-AB217D4E4668}" type="slidenum">
              <a:rPr lang="en-US" altLang="en-US" smtClean="0"/>
              <a:pPr>
                <a:defRPr/>
              </a:pPr>
              <a:t>2</a:t>
            </a:fld>
            <a:endParaRPr lang="en-US" altLang="en-US"/>
          </a:p>
        </p:txBody>
      </p:sp>
    </p:spTree>
    <p:extLst>
      <p:ext uri="{BB962C8B-B14F-4D97-AF65-F5344CB8AC3E}">
        <p14:creationId xmlns:p14="http://schemas.microsoft.com/office/powerpoint/2010/main" val="953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381000" y="381000"/>
            <a:ext cx="8243888" cy="885825"/>
          </a:xfrm>
          <a:noFill/>
        </p:spPr>
        <p:txBody>
          <a:bodyPr vert="horz" lIns="92075" tIns="46038" rIns="92075" bIns="46038" rtlCol="0" anchor="b">
            <a:normAutofit fontScale="90000"/>
          </a:bodyPr>
          <a:lstStyle/>
          <a:p>
            <a:pPr eaLnBrk="1" hangingPunct="1"/>
            <a:r>
              <a:rPr lang="en-US" altLang="en-US" sz="4000" dirty="0"/>
              <a:t>Supervised vs. Unsupervised Learning (2)</a:t>
            </a:r>
          </a:p>
        </p:txBody>
      </p:sp>
      <p:sp>
        <p:nvSpPr>
          <p:cNvPr id="6148" name="Rectangle 3"/>
          <p:cNvSpPr>
            <a:spLocks noGrp="1" noChangeArrowheads="1"/>
          </p:cNvSpPr>
          <p:nvPr>
            <p:ph type="body" idx="1"/>
          </p:nvPr>
        </p:nvSpPr>
        <p:spPr>
          <a:xfrm>
            <a:off x="421482" y="1182377"/>
            <a:ext cx="8136731" cy="2248980"/>
          </a:xfrm>
          <a:noFill/>
        </p:spPr>
        <p:txBody>
          <a:bodyPr vert="horz" lIns="92075" tIns="46038" rIns="92075" bIns="46038" rtlCol="0">
            <a:noAutofit/>
          </a:bodyPr>
          <a:lstStyle/>
          <a:p>
            <a:pPr eaLnBrk="1" hangingPunct="1">
              <a:lnSpc>
                <a:spcPct val="130000"/>
              </a:lnSpc>
            </a:pPr>
            <a:r>
              <a:rPr lang="en-US" altLang="en-US" sz="2400" dirty="0">
                <a:solidFill>
                  <a:srgbClr val="F83F24"/>
                </a:solidFill>
              </a:rPr>
              <a:t>Unsupervised learning</a:t>
            </a:r>
            <a:r>
              <a:rPr lang="en-US" altLang="en-US" sz="2400" dirty="0"/>
              <a:t> </a:t>
            </a:r>
            <a:r>
              <a:rPr lang="en-US" altLang="en-US" sz="2400" dirty="0">
                <a:solidFill>
                  <a:srgbClr val="FF3300"/>
                </a:solidFill>
              </a:rPr>
              <a:t>(clustering)</a:t>
            </a:r>
          </a:p>
          <a:p>
            <a:pPr lvl="1" eaLnBrk="1" hangingPunct="1">
              <a:lnSpc>
                <a:spcPct val="130000"/>
              </a:lnSpc>
            </a:pPr>
            <a:r>
              <a:rPr lang="en-US" altLang="en-US" sz="2400" dirty="0"/>
              <a:t>The class labels of training data are </a:t>
            </a:r>
            <a:r>
              <a:rPr lang="en-US" altLang="en-US" sz="2400" b="1" dirty="0"/>
              <a:t>unknown</a:t>
            </a:r>
          </a:p>
          <a:p>
            <a:pPr lvl="1">
              <a:lnSpc>
                <a:spcPct val="130000"/>
              </a:lnSpc>
            </a:pPr>
            <a:r>
              <a:rPr lang="en-US" altLang="en-US" sz="2400" dirty="0"/>
              <a:t>Given a set of observations or measurements, establish the possible existence of classes or clusters in the data</a:t>
            </a:r>
          </a:p>
        </p:txBody>
      </p:sp>
      <p:pic>
        <p:nvPicPr>
          <p:cNvPr id="3" name="Picture 2"/>
          <p:cNvPicPr>
            <a:picLocks noChangeAspect="1"/>
          </p:cNvPicPr>
          <p:nvPr/>
        </p:nvPicPr>
        <p:blipFill>
          <a:blip r:embed="rId3"/>
          <a:stretch>
            <a:fillRect/>
          </a:stretch>
        </p:blipFill>
        <p:spPr>
          <a:xfrm>
            <a:off x="1234513" y="3823352"/>
            <a:ext cx="2956488" cy="2846989"/>
          </a:xfrm>
          <a:prstGeom prst="rect">
            <a:avLst/>
          </a:prstGeom>
        </p:spPr>
      </p:pic>
      <p:pic>
        <p:nvPicPr>
          <p:cNvPr id="5" name="Picture 4"/>
          <p:cNvPicPr>
            <a:picLocks noChangeAspect="1"/>
          </p:cNvPicPr>
          <p:nvPr/>
        </p:nvPicPr>
        <p:blipFill>
          <a:blip r:embed="rId4"/>
          <a:stretch>
            <a:fillRect/>
          </a:stretch>
        </p:blipFill>
        <p:spPr>
          <a:xfrm>
            <a:off x="5239563" y="3269716"/>
            <a:ext cx="2380437" cy="3400624"/>
          </a:xfrm>
          <a:prstGeom prst="rect">
            <a:avLst/>
          </a:prstGeom>
        </p:spPr>
      </p:pic>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3</a:t>
            </a:fld>
            <a:endParaRPr lang="en-US" altLang="en-US"/>
          </a:p>
        </p:txBody>
      </p:sp>
    </p:spTree>
    <p:extLst>
      <p:ext uri="{BB962C8B-B14F-4D97-AF65-F5344CB8AC3E}">
        <p14:creationId xmlns:p14="http://schemas.microsoft.com/office/powerpoint/2010/main" val="213202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body" idx="1"/>
          </p:nvPr>
        </p:nvSpPr>
        <p:spPr>
          <a:xfrm>
            <a:off x="457200" y="1143000"/>
            <a:ext cx="8079581" cy="5562600"/>
          </a:xfrm>
          <a:noFill/>
        </p:spPr>
        <p:txBody>
          <a:bodyPr vert="horz" lIns="92075" tIns="46038" rIns="92075" bIns="46038" rtlCol="0">
            <a:noAutofit/>
          </a:bodyPr>
          <a:lstStyle/>
          <a:p>
            <a:pPr eaLnBrk="1" hangingPunct="1">
              <a:spcAft>
                <a:spcPts val="600"/>
              </a:spcAft>
            </a:pPr>
            <a:r>
              <a:rPr lang="en-US" altLang="en-US" sz="2000" dirty="0">
                <a:solidFill>
                  <a:srgbClr val="FF0000"/>
                </a:solidFill>
              </a:rPr>
              <a:t>Classification  </a:t>
            </a:r>
          </a:p>
          <a:p>
            <a:pPr lvl="1" eaLnBrk="1" hangingPunct="1">
              <a:spcAft>
                <a:spcPts val="600"/>
              </a:spcAft>
            </a:pPr>
            <a:r>
              <a:rPr lang="en-US" altLang="en-US" sz="2000" dirty="0"/>
              <a:t>Predict </a:t>
            </a:r>
            <a:r>
              <a:rPr lang="en-US" altLang="en-US" sz="2000" b="1" dirty="0"/>
              <a:t>categorical class labels </a:t>
            </a:r>
            <a:r>
              <a:rPr lang="en-US" altLang="en-US" sz="2000" dirty="0"/>
              <a:t>(discrete or nominal)</a:t>
            </a:r>
          </a:p>
          <a:p>
            <a:pPr lvl="1">
              <a:spcAft>
                <a:spcPts val="600"/>
              </a:spcAft>
            </a:pPr>
            <a:r>
              <a:rPr lang="en-US" altLang="en-US" sz="2000" dirty="0"/>
              <a:t>Construct a model based on the training set and the </a:t>
            </a:r>
            <a:r>
              <a:rPr lang="en-US" altLang="en-US" sz="2000" b="1" dirty="0"/>
              <a:t>class labels</a:t>
            </a:r>
            <a:r>
              <a:rPr lang="en-US" altLang="en-US" sz="2000" dirty="0"/>
              <a:t> (the values in a classifying attribute) and use it in classifying new data</a:t>
            </a:r>
          </a:p>
          <a:p>
            <a:pPr eaLnBrk="1" hangingPunct="1">
              <a:spcAft>
                <a:spcPts val="600"/>
              </a:spcAft>
            </a:pPr>
            <a:r>
              <a:rPr lang="en-US" altLang="en-US" sz="2000" dirty="0">
                <a:solidFill>
                  <a:srgbClr val="FF0000"/>
                </a:solidFill>
              </a:rPr>
              <a:t>Numeric prediction</a:t>
            </a:r>
          </a:p>
          <a:p>
            <a:pPr lvl="1" eaLnBrk="1" hangingPunct="1">
              <a:spcAft>
                <a:spcPts val="600"/>
              </a:spcAft>
            </a:pPr>
            <a:r>
              <a:rPr lang="en-US" altLang="en-US" sz="2000" dirty="0"/>
              <a:t>Model </a:t>
            </a:r>
            <a:r>
              <a:rPr lang="en-US" altLang="en-US" sz="2000" b="1" dirty="0"/>
              <a:t>continuous-valued functions </a:t>
            </a:r>
            <a:r>
              <a:rPr lang="en-US" altLang="en-US" sz="2000" dirty="0"/>
              <a:t>(i.e., predict unknown or missing values)</a:t>
            </a:r>
          </a:p>
          <a:p>
            <a:pPr eaLnBrk="1" hangingPunct="1">
              <a:spcAft>
                <a:spcPts val="600"/>
              </a:spcAft>
            </a:pPr>
            <a:endParaRPr lang="en-US" altLang="en-US" sz="2400" dirty="0"/>
          </a:p>
        </p:txBody>
      </p:sp>
      <p:sp>
        <p:nvSpPr>
          <p:cNvPr id="7172" name="Rectangle 3"/>
          <p:cNvSpPr>
            <a:spLocks noGrp="1" noChangeArrowheads="1"/>
          </p:cNvSpPr>
          <p:nvPr>
            <p:ph type="title"/>
          </p:nvPr>
        </p:nvSpPr>
        <p:spPr>
          <a:xfrm>
            <a:off x="0" y="0"/>
            <a:ext cx="9144000" cy="1143000"/>
          </a:xfrm>
          <a:noFill/>
        </p:spPr>
        <p:txBody>
          <a:bodyPr vert="horz" lIns="92075" tIns="46038" rIns="92075" bIns="46038" rtlCol="0" anchor="ctr">
            <a:noAutofit/>
          </a:bodyPr>
          <a:lstStyle/>
          <a:p>
            <a:pPr eaLnBrk="1" hangingPunct="1"/>
            <a:r>
              <a:rPr lang="en-US" altLang="en-US" sz="3600" dirty="0"/>
              <a:t>Prediction Problems: Classification vs. Numeric Prediction</a:t>
            </a:r>
          </a:p>
        </p:txBody>
      </p:sp>
      <p:pic>
        <p:nvPicPr>
          <p:cNvPr id="2" name="Picture 1"/>
          <p:cNvPicPr>
            <a:picLocks noChangeAspect="1"/>
          </p:cNvPicPr>
          <p:nvPr/>
        </p:nvPicPr>
        <p:blipFill>
          <a:blip r:embed="rId3" cstate="print"/>
          <a:stretch>
            <a:fillRect/>
          </a:stretch>
        </p:blipFill>
        <p:spPr>
          <a:xfrm>
            <a:off x="5029200" y="4190038"/>
            <a:ext cx="3964780" cy="2667962"/>
          </a:xfrm>
          <a:prstGeom prst="rect">
            <a:avLst/>
          </a:prstGeom>
        </p:spPr>
      </p:pic>
      <p:sp>
        <p:nvSpPr>
          <p:cNvPr id="3" name="Slide Number Placeholder 2"/>
          <p:cNvSpPr>
            <a:spLocks noGrp="1"/>
          </p:cNvSpPr>
          <p:nvPr>
            <p:ph type="sldNum" sz="quarter" idx="12"/>
          </p:nvPr>
        </p:nvSpPr>
        <p:spPr/>
        <p:txBody>
          <a:bodyPr/>
          <a:lstStyle/>
          <a:p>
            <a:pPr>
              <a:defRPr/>
            </a:pPr>
            <a:fld id="{D3D212DC-59E6-444E-AD7D-AB217D4E4668}" type="slidenum">
              <a:rPr lang="en-US" altLang="en-US" smtClean="0"/>
              <a:pPr>
                <a:defRPr/>
              </a:pPr>
              <a:t>4</a:t>
            </a:fld>
            <a:endParaRPr lang="en-US" altLang="en-US"/>
          </a:p>
        </p:txBody>
      </p:sp>
    </p:spTree>
    <p:extLst>
      <p:ext uri="{BB962C8B-B14F-4D97-AF65-F5344CB8AC3E}">
        <p14:creationId xmlns:p14="http://schemas.microsoft.com/office/powerpoint/2010/main" val="3288896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 y="228600"/>
            <a:ext cx="9143999" cy="901513"/>
          </a:xfrm>
        </p:spPr>
        <p:txBody>
          <a:bodyPr>
            <a:noAutofit/>
          </a:bodyPr>
          <a:lstStyle/>
          <a:p>
            <a:pPr eaLnBrk="1" hangingPunct="1"/>
            <a:r>
              <a:rPr lang="en-US" altLang="en-US" sz="3600" dirty="0"/>
              <a:t>Classification—Model Construction, Validation and Testing</a:t>
            </a:r>
          </a:p>
        </p:txBody>
      </p:sp>
      <p:sp>
        <p:nvSpPr>
          <p:cNvPr id="8196" name="Rectangle 3"/>
          <p:cNvSpPr>
            <a:spLocks noGrp="1" noChangeArrowheads="1"/>
          </p:cNvSpPr>
          <p:nvPr>
            <p:ph type="body" idx="1"/>
          </p:nvPr>
        </p:nvSpPr>
        <p:spPr>
          <a:xfrm>
            <a:off x="990600" y="2209799"/>
            <a:ext cx="7874794" cy="4392707"/>
          </a:xfrm>
        </p:spPr>
        <p:txBody>
          <a:bodyPr/>
          <a:lstStyle/>
          <a:p>
            <a:pPr eaLnBrk="1" hangingPunct="1">
              <a:spcBef>
                <a:spcPts val="400"/>
              </a:spcBef>
            </a:pPr>
            <a:r>
              <a:rPr lang="en-US" altLang="en-US" sz="2400" b="1" dirty="0"/>
              <a:t>Model Construction and Training</a:t>
            </a:r>
          </a:p>
          <a:p>
            <a:pPr lvl="1">
              <a:spcBef>
                <a:spcPts val="400"/>
              </a:spcBef>
            </a:pPr>
            <a:r>
              <a:rPr lang="en-US" altLang="en-US" sz="2400" dirty="0"/>
              <a:t>Model: Represented as decision trees, rules, mathematical formulas, or other forms</a:t>
            </a:r>
          </a:p>
          <a:p>
            <a:pPr lvl="1" eaLnBrk="1" hangingPunct="1">
              <a:spcBef>
                <a:spcPts val="400"/>
              </a:spcBef>
            </a:pPr>
            <a:r>
              <a:rPr lang="en-US" altLang="en-US" sz="2400" dirty="0"/>
              <a:t>Assumption: Each sample belongs to a predefined class /</a:t>
            </a:r>
            <a:r>
              <a:rPr lang="en-US" altLang="en-US" sz="2400" b="1" dirty="0"/>
              <a:t>class label</a:t>
            </a:r>
            <a:endParaRPr lang="en-US" altLang="en-US" sz="2400" dirty="0"/>
          </a:p>
          <a:p>
            <a:pPr lvl="1" eaLnBrk="1" hangingPunct="1">
              <a:spcBef>
                <a:spcPts val="400"/>
              </a:spcBef>
            </a:pPr>
            <a:r>
              <a:rPr lang="en-US" altLang="en-US" sz="2400" dirty="0"/>
              <a:t>Training Set: The set of samples used for model construction</a:t>
            </a:r>
            <a:endParaRPr lang="en-US" altLang="en-US" sz="2400" b="1" dirty="0"/>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5</a:t>
            </a:fld>
            <a:endParaRPr lang="en-US" altLang="en-US"/>
          </a:p>
        </p:txBody>
      </p:sp>
    </p:spTree>
    <p:extLst>
      <p:ext uri="{BB962C8B-B14F-4D97-AF65-F5344CB8AC3E}">
        <p14:creationId xmlns:p14="http://schemas.microsoft.com/office/powerpoint/2010/main" val="384924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9143999" cy="901513"/>
          </a:xfrm>
        </p:spPr>
        <p:txBody>
          <a:bodyPr>
            <a:noAutofit/>
          </a:bodyPr>
          <a:lstStyle/>
          <a:p>
            <a:pPr eaLnBrk="1" hangingPunct="1"/>
            <a:r>
              <a:rPr lang="en-US" altLang="en-US" sz="3600" dirty="0"/>
              <a:t>Classification—Model Construction, Validation and Testing</a:t>
            </a:r>
          </a:p>
        </p:txBody>
      </p:sp>
      <p:sp>
        <p:nvSpPr>
          <p:cNvPr id="8196" name="Rectangle 3"/>
          <p:cNvSpPr>
            <a:spLocks noGrp="1" noChangeArrowheads="1"/>
          </p:cNvSpPr>
          <p:nvPr>
            <p:ph type="body" idx="1"/>
          </p:nvPr>
        </p:nvSpPr>
        <p:spPr>
          <a:xfrm>
            <a:off x="228600" y="1350868"/>
            <a:ext cx="8458201" cy="4516532"/>
          </a:xfrm>
        </p:spPr>
        <p:txBody>
          <a:bodyPr/>
          <a:lstStyle/>
          <a:p>
            <a:pPr>
              <a:spcBef>
                <a:spcPts val="400"/>
              </a:spcBef>
            </a:pPr>
            <a:r>
              <a:rPr lang="en-US" altLang="en-US" sz="2000" b="1" dirty="0"/>
              <a:t>Model Validation and Testing</a:t>
            </a:r>
            <a:r>
              <a:rPr lang="en-US" altLang="en-US" sz="2000" dirty="0"/>
              <a:t>: </a:t>
            </a:r>
          </a:p>
          <a:p>
            <a:pPr lvl="1">
              <a:spcBef>
                <a:spcPts val="400"/>
              </a:spcBef>
            </a:pPr>
            <a:r>
              <a:rPr lang="en-US" altLang="en-US" sz="2000" b="1" dirty="0"/>
              <a:t>Test:</a:t>
            </a:r>
            <a:r>
              <a:rPr lang="en-US" altLang="en-US" sz="2000" dirty="0"/>
              <a:t> Estimate accuracy of the model</a:t>
            </a:r>
          </a:p>
          <a:p>
            <a:pPr lvl="2" eaLnBrk="1" hangingPunct="1">
              <a:spcBef>
                <a:spcPts val="400"/>
              </a:spcBef>
            </a:pPr>
            <a:r>
              <a:rPr lang="en-US" altLang="en-US" sz="2000" dirty="0"/>
              <a:t>The known label of test sample VS. the classified result from the model</a:t>
            </a:r>
          </a:p>
          <a:p>
            <a:pPr lvl="2" eaLnBrk="1" hangingPunct="1">
              <a:spcBef>
                <a:spcPts val="400"/>
              </a:spcBef>
            </a:pPr>
            <a:r>
              <a:rPr lang="en-US" altLang="en-US" sz="2000" i="1" dirty="0"/>
              <a:t>Accuracy:</a:t>
            </a:r>
            <a:r>
              <a:rPr lang="en-US" altLang="en-US" sz="2000" dirty="0"/>
              <a:t> % of test set samples that are correctly classified by the model</a:t>
            </a:r>
          </a:p>
          <a:p>
            <a:pPr lvl="2" eaLnBrk="1" hangingPunct="1">
              <a:spcBef>
                <a:spcPts val="400"/>
              </a:spcBef>
            </a:pPr>
            <a:r>
              <a:rPr lang="en-US" altLang="en-US" sz="2000" dirty="0"/>
              <a:t>Test set is </a:t>
            </a:r>
            <a:r>
              <a:rPr lang="en-US" altLang="en-US" sz="2000" dirty="0">
                <a:solidFill>
                  <a:srgbClr val="FF0000"/>
                </a:solidFill>
              </a:rPr>
              <a:t>independent</a:t>
            </a:r>
            <a:r>
              <a:rPr lang="en-US" altLang="en-US" sz="2000" dirty="0"/>
              <a:t> of training set </a:t>
            </a:r>
          </a:p>
          <a:p>
            <a:pPr lvl="1">
              <a:spcBef>
                <a:spcPts val="400"/>
              </a:spcBef>
            </a:pPr>
            <a:r>
              <a:rPr lang="en-US" altLang="en-US" sz="2000" b="1" dirty="0"/>
              <a:t>Validation</a:t>
            </a:r>
            <a:r>
              <a:rPr lang="en-US" altLang="en-US" sz="2000" dirty="0"/>
              <a:t>: If </a:t>
            </a:r>
            <a:r>
              <a:rPr lang="en-US" altLang="en-US" sz="2000" i="1" dirty="0"/>
              <a:t>the test set </a:t>
            </a:r>
            <a:r>
              <a:rPr lang="en-US" altLang="en-US" sz="2000" dirty="0"/>
              <a:t>is used to select or refine models, it is called </a:t>
            </a:r>
            <a:r>
              <a:rPr lang="en-US" altLang="en-US" sz="2000" b="1" dirty="0"/>
              <a:t>validation </a:t>
            </a:r>
            <a:r>
              <a:rPr lang="en-US" altLang="en-US" sz="2000" dirty="0"/>
              <a:t>(or development)</a:t>
            </a:r>
            <a:r>
              <a:rPr lang="en-US" altLang="en-US" sz="2000" b="1" dirty="0"/>
              <a:t> (test) set</a:t>
            </a:r>
            <a:endParaRPr lang="en-US" altLang="en-US" sz="2000" dirty="0"/>
          </a:p>
          <a:p>
            <a:pPr>
              <a:spcBef>
                <a:spcPts val="400"/>
              </a:spcBef>
            </a:pPr>
            <a:r>
              <a:rPr lang="en-US" altLang="en-US" sz="2000" b="1" dirty="0"/>
              <a:t>Model Deployment:</a:t>
            </a:r>
            <a:r>
              <a:rPr lang="en-US" altLang="en-US" sz="2000" dirty="0"/>
              <a:t> If the accuracy is acceptable, use the model to classify new data</a:t>
            </a:r>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6</a:t>
            </a:fld>
            <a:endParaRPr lang="en-US" altLang="en-US"/>
          </a:p>
        </p:txBody>
      </p:sp>
    </p:spTree>
    <p:extLst>
      <p:ext uri="{BB962C8B-B14F-4D97-AF65-F5344CB8AC3E}">
        <p14:creationId xmlns:p14="http://schemas.microsoft.com/office/powerpoint/2010/main" val="432028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p:cNvSpPr txBox="1">
            <a:spLocks noChangeArrowheads="1"/>
          </p:cNvSpPr>
          <p:nvPr/>
        </p:nvSpPr>
        <p:spPr>
          <a:xfrm>
            <a:off x="0" y="381000"/>
            <a:ext cx="9144000" cy="609600"/>
          </a:xfrm>
          <a:prstGeom prst="rect">
            <a:avLst/>
          </a:prstGeom>
          <a:noFill/>
        </p:spPr>
        <p:txBody>
          <a:bodyPr lIns="92075" tIns="46038" rIns="92075" bIns="46038" anchor="ctr" anchorCtr="0">
            <a:noAutofit/>
          </a:bodyPr>
          <a:lstStyle/>
          <a:p>
            <a:pPr lvl="0" eaLnBrk="1" fontAlgn="auto" hangingPunct="1">
              <a:spcAft>
                <a:spcPts val="0"/>
              </a:spcAft>
            </a:pPr>
            <a:r>
              <a:rPr lang="en-US" sz="3600" dirty="0">
                <a:solidFill>
                  <a:schemeClr val="tx2"/>
                </a:solidFill>
                <a:latin typeface="+mj-lt"/>
              </a:rPr>
              <a:t>Step 1: Model Construction</a:t>
            </a:r>
            <a:endParaRPr kumimoji="0" lang="en-US" sz="3600" b="0" i="0" u="none" strike="noStrike" kern="1200" cap="none" spc="0" normalizeH="0" baseline="0" noProof="0" dirty="0">
              <a:ln>
                <a:noFill/>
              </a:ln>
              <a:solidFill>
                <a:schemeClr val="tx2"/>
              </a:solidFill>
              <a:effectLst/>
              <a:uLnTx/>
              <a:uFillTx/>
              <a:latin typeface="+mj-lt"/>
              <a:ea typeface="+mj-ea"/>
              <a:cs typeface="+mj-cs"/>
            </a:endParaRPr>
          </a:p>
        </p:txBody>
      </p:sp>
      <p:grpSp>
        <p:nvGrpSpPr>
          <p:cNvPr id="2" name="Group 3"/>
          <p:cNvGrpSpPr>
            <a:grpSpLocks/>
          </p:cNvGrpSpPr>
          <p:nvPr/>
        </p:nvGrpSpPr>
        <p:grpSpPr bwMode="auto">
          <a:xfrm>
            <a:off x="2036763" y="1774825"/>
            <a:ext cx="1698625" cy="1506538"/>
            <a:chOff x="1283" y="1118"/>
            <a:chExt cx="1070" cy="949"/>
          </a:xfrm>
        </p:grpSpPr>
        <p:pic>
          <p:nvPicPr>
            <p:cNvPr id="9233" name="Picture 4"/>
            <p:cNvPicPr>
              <a:picLocks noChangeArrowheads="1"/>
            </p:cNvPicPr>
            <p:nvPr/>
          </p:nvPicPr>
          <p:blipFill>
            <a:blip r:embed="rId3" cstate="print"/>
            <a:srcRect/>
            <a:stretch>
              <a:fillRect/>
            </a:stretch>
          </p:blipFill>
          <p:spPr bwMode="auto">
            <a:xfrm>
              <a:off x="1283" y="1118"/>
              <a:ext cx="1070" cy="949"/>
            </a:xfrm>
            <a:prstGeom prst="rect">
              <a:avLst/>
            </a:prstGeom>
            <a:noFill/>
            <a:ln w="9525">
              <a:noFill/>
              <a:miter lim="800000"/>
              <a:headEnd/>
              <a:tailEnd/>
            </a:ln>
          </p:spPr>
        </p:pic>
        <p:sp>
          <p:nvSpPr>
            <p:cNvPr id="9234" name="Rectangle 5"/>
            <p:cNvSpPr>
              <a:spLocks noChangeArrowheads="1"/>
            </p:cNvSpPr>
            <p:nvPr/>
          </p:nvSpPr>
          <p:spPr bwMode="auto">
            <a:xfrm>
              <a:off x="1347" y="1427"/>
              <a:ext cx="934" cy="460"/>
            </a:xfrm>
            <a:prstGeom prst="rect">
              <a:avLst/>
            </a:prstGeom>
            <a:noFill/>
            <a:ln w="9525">
              <a:noFill/>
              <a:miter lim="800000"/>
              <a:headEnd/>
              <a:tailEnd/>
            </a:ln>
          </p:spPr>
          <p:txBody>
            <a:bodyPr lIns="92075" tIns="46038" rIns="92075" bIns="46038" anchor="ctr">
              <a:spAutoFit/>
            </a:bodyPr>
            <a:lstStyle/>
            <a:p>
              <a:pPr algn="ctr" eaLnBrk="0" hangingPunct="0"/>
              <a:r>
                <a:rPr lang="en-US" sz="2400">
                  <a:latin typeface="Times New Roman" pitchFamily="18" charset="0"/>
                </a:rPr>
                <a:t>Training</a:t>
              </a:r>
            </a:p>
            <a:p>
              <a:pPr algn="ctr" eaLnBrk="0" hangingPunct="0"/>
              <a:r>
                <a:rPr lang="en-US" sz="2400">
                  <a:latin typeface="Times New Roman" pitchFamily="18" charset="0"/>
                </a:rPr>
                <a:t>Data</a:t>
              </a:r>
            </a:p>
          </p:txBody>
        </p:sp>
      </p:grpSp>
      <p:graphicFrame>
        <p:nvGraphicFramePr>
          <p:cNvPr id="9221" name="Object 0"/>
          <p:cNvGraphicFramePr>
            <a:graphicFrameLocks/>
          </p:cNvGraphicFramePr>
          <p:nvPr/>
        </p:nvGraphicFramePr>
        <p:xfrm>
          <a:off x="304800" y="3886200"/>
          <a:ext cx="5437188" cy="2495550"/>
        </p:xfrm>
        <a:graphic>
          <a:graphicData uri="http://schemas.openxmlformats.org/presentationml/2006/ole">
            <mc:AlternateContent xmlns:mc="http://schemas.openxmlformats.org/markup-compatibility/2006">
              <mc:Choice xmlns:v="urn:schemas-microsoft-com:vml" Requires="v">
                <p:oleObj name="Worksheet" r:id="rId4" imgW="5437188" imgH="2495550" progId="Excel.Sheet.8">
                  <p:embed/>
                </p:oleObj>
              </mc:Choice>
              <mc:Fallback>
                <p:oleObj name="Worksheet" r:id="rId4" imgW="5437188" imgH="2495550" progId="Excel.Sheet.8">
                  <p:embed/>
                  <p:pic>
                    <p:nvPicPr>
                      <p:cNvPr id="0" name="Picture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3886200"/>
                        <a:ext cx="5437188"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2" name="Line 7"/>
          <p:cNvSpPr>
            <a:spLocks noChangeShapeType="1"/>
          </p:cNvSpPr>
          <p:nvPr/>
        </p:nvSpPr>
        <p:spPr bwMode="auto">
          <a:xfrm flipH="1">
            <a:off x="306388" y="3111500"/>
            <a:ext cx="1644650" cy="700088"/>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9223" name="Line 8"/>
          <p:cNvSpPr>
            <a:spLocks noChangeShapeType="1"/>
          </p:cNvSpPr>
          <p:nvPr/>
        </p:nvSpPr>
        <p:spPr bwMode="auto">
          <a:xfrm>
            <a:off x="3736975" y="3111500"/>
            <a:ext cx="2025650" cy="700088"/>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9224" name="Rectangle 9"/>
          <p:cNvSpPr>
            <a:spLocks noChangeArrowheads="1"/>
          </p:cNvSpPr>
          <p:nvPr/>
        </p:nvSpPr>
        <p:spPr bwMode="auto">
          <a:xfrm>
            <a:off x="6481763" y="1622425"/>
            <a:ext cx="1870075" cy="835025"/>
          </a:xfrm>
          <a:prstGeom prst="rect">
            <a:avLst/>
          </a:prstGeom>
          <a:solidFill>
            <a:srgbClr val="CCFFFF"/>
          </a:solidFill>
          <a:ln w="12700">
            <a:solidFill>
              <a:schemeClr val="tx1"/>
            </a:solidFill>
            <a:miter lim="800000"/>
            <a:headEnd/>
            <a:tailEnd/>
          </a:ln>
        </p:spPr>
        <p:txBody>
          <a:bodyPr wrap="none" lIns="92075" tIns="46038" rIns="92075" bIns="46038" anchor="ctr">
            <a:spAutoFit/>
          </a:bodyPr>
          <a:lstStyle/>
          <a:p>
            <a:pPr algn="ctr" eaLnBrk="0" hangingPunct="0"/>
            <a:r>
              <a:rPr lang="en-US" sz="2400">
                <a:latin typeface="Times New Roman" pitchFamily="18" charset="0"/>
              </a:rPr>
              <a:t>Classification</a:t>
            </a:r>
          </a:p>
          <a:p>
            <a:pPr algn="ctr" eaLnBrk="0" hangingPunct="0"/>
            <a:r>
              <a:rPr lang="en-US" sz="2400">
                <a:latin typeface="Times New Roman" pitchFamily="18" charset="0"/>
              </a:rPr>
              <a:t>Algorithms</a:t>
            </a:r>
          </a:p>
        </p:txBody>
      </p:sp>
      <p:sp>
        <p:nvSpPr>
          <p:cNvPr id="9225" name="AutoShape 10"/>
          <p:cNvSpPr>
            <a:spLocks noChangeArrowheads="1"/>
          </p:cNvSpPr>
          <p:nvPr/>
        </p:nvSpPr>
        <p:spPr bwMode="auto">
          <a:xfrm rot="-1140000">
            <a:off x="4235450" y="2074863"/>
            <a:ext cx="1657350" cy="484187"/>
          </a:xfrm>
          <a:prstGeom prst="rightArrow">
            <a:avLst>
              <a:gd name="adj1" fmla="val 50000"/>
              <a:gd name="adj2" fmla="val 85606"/>
            </a:avLst>
          </a:prstGeom>
          <a:solidFill>
            <a:srgbClr val="2597B8"/>
          </a:solidFill>
          <a:ln w="12700">
            <a:solidFill>
              <a:srgbClr val="000000"/>
            </a:solidFill>
            <a:miter lim="800000"/>
            <a:headEnd/>
            <a:tailEnd/>
          </a:ln>
        </p:spPr>
        <p:txBody>
          <a:bodyPr wrap="none" anchor="ctr"/>
          <a:lstStyle/>
          <a:p>
            <a:endParaRPr lang="en-US"/>
          </a:p>
        </p:txBody>
      </p:sp>
      <p:sp>
        <p:nvSpPr>
          <p:cNvPr id="9226" name="Rectangle 11"/>
          <p:cNvSpPr>
            <a:spLocks noChangeArrowheads="1"/>
          </p:cNvSpPr>
          <p:nvPr/>
        </p:nvSpPr>
        <p:spPr bwMode="auto">
          <a:xfrm>
            <a:off x="5948363" y="5311775"/>
            <a:ext cx="3008312" cy="1200150"/>
          </a:xfrm>
          <a:prstGeom prst="rect">
            <a:avLst/>
          </a:prstGeom>
          <a:solidFill>
            <a:srgbClr val="CCFFCC"/>
          </a:solidFill>
          <a:ln w="12700">
            <a:solidFill>
              <a:schemeClr val="tx1"/>
            </a:solidFill>
            <a:miter lim="800000"/>
            <a:headEnd/>
            <a:tailEnd/>
          </a:ln>
        </p:spPr>
        <p:txBody>
          <a:bodyPr wrap="none" lIns="92075" tIns="46038" rIns="92075" bIns="46038" anchor="ctr">
            <a:spAutoFit/>
          </a:bodyPr>
          <a:lstStyle/>
          <a:p>
            <a:pPr eaLnBrk="0" hangingPunct="0"/>
            <a:r>
              <a:rPr lang="en-US" sz="2400">
                <a:latin typeface="Times New Roman" pitchFamily="18" charset="0"/>
              </a:rPr>
              <a:t>IF rank = ‘professor’</a:t>
            </a:r>
          </a:p>
          <a:p>
            <a:pPr eaLnBrk="0" hangingPunct="0"/>
            <a:r>
              <a:rPr lang="en-US" sz="2400">
                <a:latin typeface="Times New Roman" pitchFamily="18" charset="0"/>
              </a:rPr>
              <a:t>OR years &gt; 6</a:t>
            </a:r>
          </a:p>
          <a:p>
            <a:pPr eaLnBrk="0" hangingPunct="0"/>
            <a:r>
              <a:rPr lang="en-US" sz="2400">
                <a:latin typeface="Times New Roman" pitchFamily="18" charset="0"/>
              </a:rPr>
              <a:t>THEN tenured = ‘yes’ </a:t>
            </a:r>
          </a:p>
        </p:txBody>
      </p:sp>
      <p:grpSp>
        <p:nvGrpSpPr>
          <p:cNvPr id="3" name="Group 12"/>
          <p:cNvGrpSpPr>
            <a:grpSpLocks/>
          </p:cNvGrpSpPr>
          <p:nvPr/>
        </p:nvGrpSpPr>
        <p:grpSpPr bwMode="auto">
          <a:xfrm>
            <a:off x="6478588" y="3216275"/>
            <a:ext cx="1889125" cy="1506538"/>
            <a:chOff x="4081" y="2026"/>
            <a:chExt cx="1190" cy="949"/>
          </a:xfrm>
        </p:grpSpPr>
        <p:pic>
          <p:nvPicPr>
            <p:cNvPr id="9231" name="Picture 13"/>
            <p:cNvPicPr>
              <a:picLocks noChangeArrowheads="1"/>
            </p:cNvPicPr>
            <p:nvPr/>
          </p:nvPicPr>
          <p:blipFill>
            <a:blip r:embed="rId6" cstate="print"/>
            <a:srcRect/>
            <a:stretch>
              <a:fillRect/>
            </a:stretch>
          </p:blipFill>
          <p:spPr bwMode="auto">
            <a:xfrm>
              <a:off x="4081" y="2026"/>
              <a:ext cx="1190" cy="949"/>
            </a:xfrm>
            <a:prstGeom prst="rect">
              <a:avLst/>
            </a:prstGeom>
            <a:noFill/>
            <a:ln w="9525">
              <a:noFill/>
              <a:miter lim="800000"/>
              <a:headEnd/>
              <a:tailEnd/>
            </a:ln>
          </p:spPr>
        </p:pic>
        <p:sp>
          <p:nvSpPr>
            <p:cNvPr id="9232" name="Rectangle 14"/>
            <p:cNvSpPr>
              <a:spLocks noChangeArrowheads="1"/>
            </p:cNvSpPr>
            <p:nvPr/>
          </p:nvSpPr>
          <p:spPr bwMode="auto">
            <a:xfrm>
              <a:off x="4245" y="2306"/>
              <a:ext cx="851" cy="518"/>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latin typeface="Times New Roman" pitchFamily="18" charset="0"/>
                </a:rPr>
                <a:t>Classifier</a:t>
              </a:r>
            </a:p>
            <a:p>
              <a:pPr algn="ctr" eaLnBrk="0" hangingPunct="0"/>
              <a:r>
                <a:rPr lang="en-US" sz="2400">
                  <a:latin typeface="Times New Roman" pitchFamily="18" charset="0"/>
                </a:rPr>
                <a:t>(Model)</a:t>
              </a:r>
            </a:p>
          </p:txBody>
        </p:sp>
      </p:grpSp>
      <p:sp>
        <p:nvSpPr>
          <p:cNvPr id="9228" name="Line 15"/>
          <p:cNvSpPr>
            <a:spLocks noChangeShapeType="1"/>
          </p:cNvSpPr>
          <p:nvPr/>
        </p:nvSpPr>
        <p:spPr bwMode="auto">
          <a:xfrm flipH="1">
            <a:off x="5946775" y="4621213"/>
            <a:ext cx="531813" cy="714375"/>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9229" name="Line 16"/>
          <p:cNvSpPr>
            <a:spLocks noChangeShapeType="1"/>
          </p:cNvSpPr>
          <p:nvPr/>
        </p:nvSpPr>
        <p:spPr bwMode="auto">
          <a:xfrm>
            <a:off x="8369300" y="4543425"/>
            <a:ext cx="577850" cy="790575"/>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9230" name="AutoShape 17"/>
          <p:cNvSpPr>
            <a:spLocks noChangeArrowheads="1"/>
          </p:cNvSpPr>
          <p:nvPr/>
        </p:nvSpPr>
        <p:spPr bwMode="auto">
          <a:xfrm>
            <a:off x="7143750" y="2576513"/>
            <a:ext cx="546100" cy="592137"/>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p>
            <a:endParaRPr lang="en-US"/>
          </a:p>
        </p:txBody>
      </p:sp>
      <p:sp>
        <p:nvSpPr>
          <p:cNvPr id="22" name="Slide Number Placeholder 21"/>
          <p:cNvSpPr>
            <a:spLocks noGrp="1"/>
          </p:cNvSpPr>
          <p:nvPr>
            <p:ph type="sldNum" sz="quarter" idx="11"/>
          </p:nvPr>
        </p:nvSpPr>
        <p:spPr/>
        <p:txBody>
          <a:bodyPr/>
          <a:lstStyle/>
          <a:p>
            <a:pPr>
              <a:defRPr/>
            </a:pPr>
            <a:fld id="{4635AE12-246C-49B1-92D7-252397D611F1}" type="slidenum">
              <a:rPr lang="en-US" smtClean="0"/>
              <a:pPr>
                <a:defRPr/>
              </a:pPr>
              <a:t>7</a:t>
            </a:fld>
            <a:endParaRPr 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0" y="228600"/>
            <a:ext cx="9144000" cy="762000"/>
          </a:xfrm>
          <a:noFill/>
        </p:spPr>
        <p:txBody>
          <a:bodyPr lIns="92075" tIns="46038" rIns="92075" bIns="46038">
            <a:normAutofit/>
          </a:bodyPr>
          <a:lstStyle/>
          <a:p>
            <a:pPr eaLnBrk="1" hangingPunct="1"/>
            <a:r>
              <a:rPr lang="en-US" sz="3600" dirty="0"/>
              <a:t>Step 2- Using the Model in Prediction </a:t>
            </a:r>
          </a:p>
        </p:txBody>
      </p:sp>
      <p:grpSp>
        <p:nvGrpSpPr>
          <p:cNvPr id="2" name="Group 3"/>
          <p:cNvGrpSpPr>
            <a:grpSpLocks/>
          </p:cNvGrpSpPr>
          <p:nvPr/>
        </p:nvGrpSpPr>
        <p:grpSpPr bwMode="auto">
          <a:xfrm>
            <a:off x="4445000" y="1570038"/>
            <a:ext cx="1889125" cy="1506537"/>
            <a:chOff x="2800" y="989"/>
            <a:chExt cx="1190" cy="949"/>
          </a:xfrm>
        </p:grpSpPr>
        <p:pic>
          <p:nvPicPr>
            <p:cNvPr id="10262" name="Picture 4"/>
            <p:cNvPicPr>
              <a:picLocks noChangeArrowheads="1"/>
            </p:cNvPicPr>
            <p:nvPr/>
          </p:nvPicPr>
          <p:blipFill>
            <a:blip r:embed="rId3" cstate="print"/>
            <a:srcRect/>
            <a:stretch>
              <a:fillRect/>
            </a:stretch>
          </p:blipFill>
          <p:spPr bwMode="auto">
            <a:xfrm>
              <a:off x="2800" y="989"/>
              <a:ext cx="1190" cy="949"/>
            </a:xfrm>
            <a:prstGeom prst="rect">
              <a:avLst/>
            </a:prstGeom>
            <a:noFill/>
            <a:ln w="9525">
              <a:noFill/>
              <a:miter lim="800000"/>
              <a:headEnd/>
              <a:tailEnd/>
            </a:ln>
          </p:spPr>
        </p:pic>
        <p:sp>
          <p:nvSpPr>
            <p:cNvPr id="10263" name="Rectangle 5"/>
            <p:cNvSpPr>
              <a:spLocks noChangeArrowheads="1"/>
            </p:cNvSpPr>
            <p:nvPr/>
          </p:nvSpPr>
          <p:spPr bwMode="auto">
            <a:xfrm>
              <a:off x="2964" y="1384"/>
              <a:ext cx="851" cy="288"/>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latin typeface="Times New Roman" pitchFamily="18" charset="0"/>
                </a:rPr>
                <a:t>Classifier</a:t>
              </a:r>
            </a:p>
          </p:txBody>
        </p:sp>
      </p:grpSp>
      <p:grpSp>
        <p:nvGrpSpPr>
          <p:cNvPr id="3" name="Group 6"/>
          <p:cNvGrpSpPr>
            <a:grpSpLocks/>
          </p:cNvGrpSpPr>
          <p:nvPr/>
        </p:nvGrpSpPr>
        <p:grpSpPr bwMode="auto">
          <a:xfrm>
            <a:off x="2157413" y="2735263"/>
            <a:ext cx="1698625" cy="1506537"/>
            <a:chOff x="1359" y="1723"/>
            <a:chExt cx="1070" cy="949"/>
          </a:xfrm>
        </p:grpSpPr>
        <p:pic>
          <p:nvPicPr>
            <p:cNvPr id="10260" name="Picture 7"/>
            <p:cNvPicPr>
              <a:picLocks noChangeArrowheads="1"/>
            </p:cNvPicPr>
            <p:nvPr/>
          </p:nvPicPr>
          <p:blipFill>
            <a:blip r:embed="rId4" cstate="print"/>
            <a:srcRect/>
            <a:stretch>
              <a:fillRect/>
            </a:stretch>
          </p:blipFill>
          <p:spPr bwMode="auto">
            <a:xfrm>
              <a:off x="1359" y="1723"/>
              <a:ext cx="1070" cy="949"/>
            </a:xfrm>
            <a:prstGeom prst="rect">
              <a:avLst/>
            </a:prstGeom>
            <a:noFill/>
            <a:ln w="9525">
              <a:noFill/>
              <a:miter lim="800000"/>
              <a:headEnd/>
              <a:tailEnd/>
            </a:ln>
          </p:spPr>
        </p:pic>
        <p:sp>
          <p:nvSpPr>
            <p:cNvPr id="10261" name="Rectangle 8"/>
            <p:cNvSpPr>
              <a:spLocks noChangeArrowheads="1"/>
            </p:cNvSpPr>
            <p:nvPr/>
          </p:nvSpPr>
          <p:spPr bwMode="auto">
            <a:xfrm>
              <a:off x="1423" y="2032"/>
              <a:ext cx="934" cy="460"/>
            </a:xfrm>
            <a:prstGeom prst="rect">
              <a:avLst/>
            </a:prstGeom>
            <a:noFill/>
            <a:ln w="9525">
              <a:noFill/>
              <a:miter lim="800000"/>
              <a:headEnd/>
              <a:tailEnd/>
            </a:ln>
          </p:spPr>
          <p:txBody>
            <a:bodyPr lIns="92075" tIns="46038" rIns="92075" bIns="46038" anchor="ctr">
              <a:spAutoFit/>
            </a:bodyPr>
            <a:lstStyle/>
            <a:p>
              <a:pPr algn="ctr" eaLnBrk="0" hangingPunct="0"/>
              <a:r>
                <a:rPr lang="en-US" sz="2400">
                  <a:latin typeface="Times New Roman" pitchFamily="18" charset="0"/>
                </a:rPr>
                <a:t>Testing</a:t>
              </a:r>
            </a:p>
            <a:p>
              <a:pPr algn="ctr" eaLnBrk="0" hangingPunct="0"/>
              <a:r>
                <a:rPr lang="en-US" sz="2400">
                  <a:latin typeface="Times New Roman" pitchFamily="18" charset="0"/>
                </a:rPr>
                <a:t>Data</a:t>
              </a:r>
            </a:p>
          </p:txBody>
        </p:sp>
      </p:grpSp>
      <p:graphicFrame>
        <p:nvGraphicFramePr>
          <p:cNvPr id="10246" name="Object 1024"/>
          <p:cNvGraphicFramePr>
            <a:graphicFrameLocks/>
          </p:cNvGraphicFramePr>
          <p:nvPr/>
        </p:nvGraphicFramePr>
        <p:xfrm>
          <a:off x="457200" y="4800600"/>
          <a:ext cx="5438775" cy="1765300"/>
        </p:xfrm>
        <a:graphic>
          <a:graphicData uri="http://schemas.openxmlformats.org/presentationml/2006/ole">
            <mc:AlternateContent xmlns:mc="http://schemas.openxmlformats.org/markup-compatibility/2006">
              <mc:Choice xmlns:v="urn:schemas-microsoft-com:vml" Requires="v">
                <p:oleObj name="Worksheet" r:id="rId5" imgW="5438775" imgH="1765300" progId="Excel.Sheet.8">
                  <p:embed/>
                </p:oleObj>
              </mc:Choice>
              <mc:Fallback>
                <p:oleObj name="Worksheet" r:id="rId5" imgW="5438775" imgH="1765300" progId="Excel.Sheet.8">
                  <p:embed/>
                  <p:pic>
                    <p:nvPicPr>
                      <p:cNvPr id="0" name="Picture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4800600"/>
                        <a:ext cx="5438775" cy="176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7" name="Line 10"/>
          <p:cNvSpPr>
            <a:spLocks noChangeShapeType="1"/>
          </p:cNvSpPr>
          <p:nvPr/>
        </p:nvSpPr>
        <p:spPr bwMode="auto">
          <a:xfrm flipH="1">
            <a:off x="427038" y="4071938"/>
            <a:ext cx="1644650" cy="70008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248" name="Line 11"/>
          <p:cNvSpPr>
            <a:spLocks noChangeShapeType="1"/>
          </p:cNvSpPr>
          <p:nvPr/>
        </p:nvSpPr>
        <p:spPr bwMode="auto">
          <a:xfrm>
            <a:off x="3857625" y="4071938"/>
            <a:ext cx="2025650" cy="70008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249" name="AutoShape 12"/>
          <p:cNvSpPr>
            <a:spLocks noChangeArrowheads="1"/>
          </p:cNvSpPr>
          <p:nvPr/>
        </p:nvSpPr>
        <p:spPr bwMode="auto">
          <a:xfrm>
            <a:off x="7793038" y="5000625"/>
            <a:ext cx="546100" cy="592138"/>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p>
            <a:endParaRPr lang="en-US"/>
          </a:p>
        </p:txBody>
      </p:sp>
      <p:sp>
        <p:nvSpPr>
          <p:cNvPr id="10250" name="Freeform 13"/>
          <p:cNvSpPr>
            <a:spLocks/>
          </p:cNvSpPr>
          <p:nvPr/>
        </p:nvSpPr>
        <p:spPr bwMode="auto">
          <a:xfrm>
            <a:off x="6523038" y="2173288"/>
            <a:ext cx="941387" cy="766762"/>
          </a:xfrm>
          <a:custGeom>
            <a:avLst/>
            <a:gdLst>
              <a:gd name="T0" fmla="*/ 0 w 593"/>
              <a:gd name="T1" fmla="*/ 2147483647 h 483"/>
              <a:gd name="T2" fmla="*/ 2147483647 w 593"/>
              <a:gd name="T3" fmla="*/ 0 h 483"/>
              <a:gd name="T4" fmla="*/ 2147483647 w 593"/>
              <a:gd name="T5" fmla="*/ 2147483647 h 483"/>
              <a:gd name="T6" fmla="*/ 2147483647 w 593"/>
              <a:gd name="T7" fmla="*/ 2147483647 h 483"/>
              <a:gd name="T8" fmla="*/ 2147483647 w 593"/>
              <a:gd name="T9" fmla="*/ 2147483647 h 483"/>
              <a:gd name="T10" fmla="*/ 2147483647 w 593"/>
              <a:gd name="T11" fmla="*/ 2147483647 h 483"/>
              <a:gd name="T12" fmla="*/ 2147483647 w 593"/>
              <a:gd name="T13" fmla="*/ 2147483647 h 483"/>
              <a:gd name="T14" fmla="*/ 2147483647 w 593"/>
              <a:gd name="T15" fmla="*/ 2147483647 h 483"/>
              <a:gd name="T16" fmla="*/ 2147483647 w 593"/>
              <a:gd name="T17" fmla="*/ 2147483647 h 483"/>
              <a:gd name="T18" fmla="*/ 2147483647 w 593"/>
              <a:gd name="T19" fmla="*/ 2147483647 h 483"/>
              <a:gd name="T20" fmla="*/ 0 w 593"/>
              <a:gd name="T21" fmla="*/ 2147483647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93"/>
              <a:gd name="T34" fmla="*/ 0 h 483"/>
              <a:gd name="T35" fmla="*/ 593 w 593"/>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93" h="483">
                <a:moveTo>
                  <a:pt x="0" y="34"/>
                </a:moveTo>
                <a:lnTo>
                  <a:pt x="200" y="0"/>
                </a:lnTo>
                <a:lnTo>
                  <a:pt x="159" y="58"/>
                </a:lnTo>
                <a:lnTo>
                  <a:pt x="515" y="306"/>
                </a:lnTo>
                <a:lnTo>
                  <a:pt x="555" y="248"/>
                </a:lnTo>
                <a:lnTo>
                  <a:pt x="592" y="448"/>
                </a:lnTo>
                <a:lnTo>
                  <a:pt x="392" y="482"/>
                </a:lnTo>
                <a:lnTo>
                  <a:pt x="433" y="424"/>
                </a:lnTo>
                <a:lnTo>
                  <a:pt x="77" y="176"/>
                </a:lnTo>
                <a:lnTo>
                  <a:pt x="37" y="234"/>
                </a:lnTo>
                <a:lnTo>
                  <a:pt x="0" y="34"/>
                </a:lnTo>
              </a:path>
            </a:pathLst>
          </a:custGeom>
          <a:solidFill>
            <a:srgbClr val="2597B8"/>
          </a:solidFill>
          <a:ln w="12700" cap="rnd">
            <a:solidFill>
              <a:srgbClr val="000000"/>
            </a:solidFill>
            <a:round/>
            <a:headEnd/>
            <a:tailEnd/>
          </a:ln>
        </p:spPr>
        <p:txBody>
          <a:bodyPr/>
          <a:lstStyle/>
          <a:p>
            <a:endParaRPr lang="en-US"/>
          </a:p>
        </p:txBody>
      </p:sp>
      <p:grpSp>
        <p:nvGrpSpPr>
          <p:cNvPr id="4" name="Group 14"/>
          <p:cNvGrpSpPr>
            <a:grpSpLocks/>
          </p:cNvGrpSpPr>
          <p:nvPr/>
        </p:nvGrpSpPr>
        <p:grpSpPr bwMode="auto">
          <a:xfrm>
            <a:off x="6646863" y="3187700"/>
            <a:ext cx="1781175" cy="815975"/>
            <a:chOff x="4187" y="2008"/>
            <a:chExt cx="1122" cy="514"/>
          </a:xfrm>
        </p:grpSpPr>
        <p:pic>
          <p:nvPicPr>
            <p:cNvPr id="10258" name="Picture 15"/>
            <p:cNvPicPr>
              <a:picLocks noChangeArrowheads="1"/>
            </p:cNvPicPr>
            <p:nvPr/>
          </p:nvPicPr>
          <p:blipFill>
            <a:blip r:embed="rId7" cstate="print"/>
            <a:srcRect/>
            <a:stretch>
              <a:fillRect/>
            </a:stretch>
          </p:blipFill>
          <p:spPr bwMode="auto">
            <a:xfrm>
              <a:off x="4187" y="2008"/>
              <a:ext cx="1122" cy="514"/>
            </a:xfrm>
            <a:prstGeom prst="rect">
              <a:avLst/>
            </a:prstGeom>
            <a:noFill/>
            <a:ln w="9525">
              <a:noFill/>
              <a:miter lim="800000"/>
              <a:headEnd/>
              <a:tailEnd/>
            </a:ln>
          </p:spPr>
        </p:pic>
        <p:sp>
          <p:nvSpPr>
            <p:cNvPr id="10259" name="Rectangle 16"/>
            <p:cNvSpPr>
              <a:spLocks noChangeArrowheads="1"/>
            </p:cNvSpPr>
            <p:nvPr/>
          </p:nvSpPr>
          <p:spPr bwMode="auto">
            <a:xfrm>
              <a:off x="4251" y="2180"/>
              <a:ext cx="986" cy="230"/>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latin typeface="Times New Roman" pitchFamily="18" charset="0"/>
                </a:rPr>
                <a:t>Unseen Data</a:t>
              </a:r>
            </a:p>
          </p:txBody>
        </p:sp>
      </p:grpSp>
      <p:sp>
        <p:nvSpPr>
          <p:cNvPr id="10252" name="Rectangle 17"/>
          <p:cNvSpPr>
            <a:spLocks noChangeArrowheads="1"/>
          </p:cNvSpPr>
          <p:nvPr/>
        </p:nvSpPr>
        <p:spPr bwMode="auto">
          <a:xfrm>
            <a:off x="6305550" y="4262438"/>
            <a:ext cx="2454275" cy="457200"/>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(Jeff, Professor, 4)</a:t>
            </a:r>
          </a:p>
        </p:txBody>
      </p:sp>
      <p:sp>
        <p:nvSpPr>
          <p:cNvPr id="10253" name="Line 18"/>
          <p:cNvSpPr>
            <a:spLocks noChangeShapeType="1"/>
          </p:cNvSpPr>
          <p:nvPr/>
        </p:nvSpPr>
        <p:spPr bwMode="auto">
          <a:xfrm flipH="1">
            <a:off x="6167438" y="3903663"/>
            <a:ext cx="471487" cy="39370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254" name="Line 19"/>
          <p:cNvSpPr>
            <a:spLocks noChangeShapeType="1"/>
          </p:cNvSpPr>
          <p:nvPr/>
        </p:nvSpPr>
        <p:spPr bwMode="auto">
          <a:xfrm>
            <a:off x="8448675" y="3903663"/>
            <a:ext cx="363538" cy="34925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255" name="Freeform 20"/>
          <p:cNvSpPr>
            <a:spLocks/>
          </p:cNvSpPr>
          <p:nvPr/>
        </p:nvSpPr>
        <p:spPr bwMode="auto">
          <a:xfrm>
            <a:off x="3360738" y="2032000"/>
            <a:ext cx="901700" cy="593725"/>
          </a:xfrm>
          <a:custGeom>
            <a:avLst/>
            <a:gdLst>
              <a:gd name="T0" fmla="*/ 2147483647 w 568"/>
              <a:gd name="T1" fmla="*/ 2147483647 h 374"/>
              <a:gd name="T2" fmla="*/ 2147483647 w 568"/>
              <a:gd name="T3" fmla="*/ 2147483647 h 374"/>
              <a:gd name="T4" fmla="*/ 2147483647 w 568"/>
              <a:gd name="T5" fmla="*/ 2147483647 h 374"/>
              <a:gd name="T6" fmla="*/ 2147483647 w 568"/>
              <a:gd name="T7" fmla="*/ 2147483647 h 374"/>
              <a:gd name="T8" fmla="*/ 2147483647 w 568"/>
              <a:gd name="T9" fmla="*/ 2147483647 h 374"/>
              <a:gd name="T10" fmla="*/ 0 w 568"/>
              <a:gd name="T11" fmla="*/ 2147483647 h 374"/>
              <a:gd name="T12" fmla="*/ 2147483647 w 568"/>
              <a:gd name="T13" fmla="*/ 2147483647 h 374"/>
              <a:gd name="T14" fmla="*/ 2147483647 w 568"/>
              <a:gd name="T15" fmla="*/ 2147483647 h 374"/>
              <a:gd name="T16" fmla="*/ 2147483647 w 568"/>
              <a:gd name="T17" fmla="*/ 2147483647 h 374"/>
              <a:gd name="T18" fmla="*/ 2147483647 w 568"/>
              <a:gd name="T19" fmla="*/ 0 h 374"/>
              <a:gd name="T20" fmla="*/ 2147483647 w 568"/>
              <a:gd name="T21" fmla="*/ 2147483647 h 3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8"/>
              <a:gd name="T34" fmla="*/ 0 h 374"/>
              <a:gd name="T35" fmla="*/ 568 w 568"/>
              <a:gd name="T36" fmla="*/ 374 h 3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8" h="374">
                <a:moveTo>
                  <a:pt x="567" y="59"/>
                </a:moveTo>
                <a:lnTo>
                  <a:pt x="503" y="220"/>
                </a:lnTo>
                <a:lnTo>
                  <a:pt x="478" y="165"/>
                </a:lnTo>
                <a:lnTo>
                  <a:pt x="138" y="318"/>
                </a:lnTo>
                <a:lnTo>
                  <a:pt x="163" y="373"/>
                </a:lnTo>
                <a:lnTo>
                  <a:pt x="0" y="314"/>
                </a:lnTo>
                <a:lnTo>
                  <a:pt x="64" y="153"/>
                </a:lnTo>
                <a:lnTo>
                  <a:pt x="89" y="208"/>
                </a:lnTo>
                <a:lnTo>
                  <a:pt x="429" y="55"/>
                </a:lnTo>
                <a:lnTo>
                  <a:pt x="404" y="0"/>
                </a:lnTo>
                <a:lnTo>
                  <a:pt x="567" y="59"/>
                </a:lnTo>
              </a:path>
            </a:pathLst>
          </a:custGeom>
          <a:solidFill>
            <a:srgbClr val="2597B8"/>
          </a:solidFill>
          <a:ln w="12700" cap="rnd">
            <a:solidFill>
              <a:srgbClr val="000000"/>
            </a:solidFill>
            <a:round/>
            <a:headEnd/>
            <a:tailEnd/>
          </a:ln>
        </p:spPr>
        <p:txBody>
          <a:bodyPr/>
          <a:lstStyle/>
          <a:p>
            <a:endParaRPr lang="en-US"/>
          </a:p>
        </p:txBody>
      </p:sp>
      <p:pic>
        <p:nvPicPr>
          <p:cNvPr id="10256" name="Picture 21"/>
          <p:cNvPicPr>
            <a:picLocks noChangeArrowheads="1"/>
          </p:cNvPicPr>
          <p:nvPr/>
        </p:nvPicPr>
        <p:blipFill>
          <a:blip r:embed="rId8" cstate="print"/>
          <a:srcRect/>
          <a:stretch>
            <a:fillRect/>
          </a:stretch>
        </p:blipFill>
        <p:spPr bwMode="auto">
          <a:xfrm>
            <a:off x="7720013" y="5738813"/>
            <a:ext cx="720725" cy="628650"/>
          </a:xfrm>
          <a:prstGeom prst="rect">
            <a:avLst/>
          </a:prstGeom>
          <a:noFill/>
          <a:ln w="9525">
            <a:noFill/>
            <a:miter lim="800000"/>
            <a:headEnd/>
            <a:tailEnd/>
          </a:ln>
        </p:spPr>
      </p:pic>
      <p:sp>
        <p:nvSpPr>
          <p:cNvPr id="10257" name="Rectangle 22"/>
          <p:cNvSpPr>
            <a:spLocks noChangeArrowheads="1"/>
          </p:cNvSpPr>
          <p:nvPr/>
        </p:nvSpPr>
        <p:spPr bwMode="auto">
          <a:xfrm>
            <a:off x="6221413" y="4959350"/>
            <a:ext cx="1525587" cy="519113"/>
          </a:xfrm>
          <a:prstGeom prst="rect">
            <a:avLst/>
          </a:prstGeom>
          <a:noFill/>
          <a:ln w="9525">
            <a:noFill/>
            <a:miter lim="800000"/>
            <a:headEnd/>
            <a:tailEnd/>
          </a:ln>
        </p:spPr>
        <p:txBody>
          <a:bodyPr wrap="none" lIns="92075" tIns="46038" rIns="92075" bIns="46038">
            <a:spAutoFit/>
          </a:bodyPr>
          <a:lstStyle/>
          <a:p>
            <a:pPr algn="ctr" eaLnBrk="0" hangingPunct="0"/>
            <a:r>
              <a:rPr lang="en-US" sz="2800">
                <a:latin typeface="Times New Roman" pitchFamily="18" charset="0"/>
              </a:rPr>
              <a:t>Tenured?</a:t>
            </a:r>
          </a:p>
        </p:txBody>
      </p:sp>
      <p:sp>
        <p:nvSpPr>
          <p:cNvPr id="25" name="Slide Number Placeholder 24"/>
          <p:cNvSpPr>
            <a:spLocks noGrp="1"/>
          </p:cNvSpPr>
          <p:nvPr>
            <p:ph type="sldNum" sz="quarter" idx="11"/>
          </p:nvPr>
        </p:nvSpPr>
        <p:spPr/>
        <p:txBody>
          <a:bodyPr/>
          <a:lstStyle/>
          <a:p>
            <a:pPr>
              <a:defRPr/>
            </a:pPr>
            <a:fld id="{4635AE12-246C-49B1-92D7-252397D611F1}" type="slidenum">
              <a:rPr lang="en-US" smtClean="0"/>
              <a:pPr>
                <a:defRPr/>
              </a:pPr>
              <a:t>8</a:t>
            </a:fld>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a:xfrm>
            <a:off x="457200" y="533400"/>
            <a:ext cx="7543800" cy="731838"/>
          </a:xfrm>
        </p:spPr>
        <p:txBody>
          <a:bodyPr/>
          <a:lstStyle/>
          <a:p>
            <a:pPr>
              <a:defRPr/>
            </a:pPr>
            <a:r>
              <a:rPr lang="en-US" dirty="0">
                <a:cs typeface="+mj-cs"/>
              </a:rPr>
              <a:t>Classification Techniques</a:t>
            </a:r>
          </a:p>
        </p:txBody>
      </p:sp>
      <p:sp>
        <p:nvSpPr>
          <p:cNvPr id="10242" name="Rectangle 5"/>
          <p:cNvSpPr>
            <a:spLocks noGrp="1" noChangeArrowheads="1"/>
          </p:cNvSpPr>
          <p:nvPr>
            <p:ph type="body" idx="1"/>
          </p:nvPr>
        </p:nvSpPr>
        <p:spPr>
          <a:xfrm>
            <a:off x="457200" y="1295400"/>
            <a:ext cx="8229600" cy="4411662"/>
          </a:xfrm>
        </p:spPr>
        <p:txBody>
          <a:bodyPr/>
          <a:lstStyle/>
          <a:p>
            <a:pPr>
              <a:lnSpc>
                <a:spcPct val="90000"/>
              </a:lnSpc>
            </a:pPr>
            <a:r>
              <a:rPr lang="en-US" altLang="en-US" dirty="0">
                <a:ea typeface="ＭＳ Ｐゴシック" pitchFamily="34" charset="-128"/>
              </a:rPr>
              <a:t>Base Classifiers</a:t>
            </a:r>
          </a:p>
          <a:p>
            <a:pPr lvl="1">
              <a:lnSpc>
                <a:spcPct val="90000"/>
              </a:lnSpc>
            </a:pPr>
            <a:r>
              <a:rPr lang="en-US" altLang="en-US" dirty="0">
                <a:ea typeface="ＭＳ Ｐゴシック" pitchFamily="34" charset="-128"/>
              </a:rPr>
              <a:t>Decision Tree based Methods</a:t>
            </a:r>
          </a:p>
          <a:p>
            <a:pPr lvl="1">
              <a:lnSpc>
                <a:spcPct val="90000"/>
              </a:lnSpc>
            </a:pPr>
            <a:r>
              <a:rPr lang="en-US" altLang="en-US" dirty="0">
                <a:ea typeface="ＭＳ Ｐゴシック" pitchFamily="34" charset="-128"/>
              </a:rPr>
              <a:t>Rule-based Methods</a:t>
            </a:r>
          </a:p>
          <a:p>
            <a:pPr lvl="1">
              <a:lnSpc>
                <a:spcPct val="90000"/>
              </a:lnSpc>
            </a:pPr>
            <a:r>
              <a:rPr lang="en-US" altLang="en-US" dirty="0">
                <a:ea typeface="ＭＳ Ｐゴシック" pitchFamily="34" charset="-128"/>
              </a:rPr>
              <a:t>Nearest-neighbor</a:t>
            </a:r>
          </a:p>
          <a:p>
            <a:pPr lvl="1">
              <a:lnSpc>
                <a:spcPct val="90000"/>
              </a:lnSpc>
            </a:pPr>
            <a:r>
              <a:rPr lang="en-US" altLang="en-US" dirty="0">
                <a:ea typeface="ＭＳ Ｐゴシック" pitchFamily="34" charset="-128"/>
              </a:rPr>
              <a:t>Neural Networks</a:t>
            </a:r>
          </a:p>
          <a:p>
            <a:pPr lvl="1">
              <a:lnSpc>
                <a:spcPct val="90000"/>
              </a:lnSpc>
            </a:pPr>
            <a:r>
              <a:rPr lang="en-US" altLang="en-US" dirty="0">
                <a:ea typeface="ＭＳ Ｐゴシック" pitchFamily="34" charset="-128"/>
              </a:rPr>
              <a:t>Deep Learning</a:t>
            </a:r>
          </a:p>
          <a:p>
            <a:pPr lvl="1">
              <a:lnSpc>
                <a:spcPct val="90000"/>
              </a:lnSpc>
            </a:pPr>
            <a:r>
              <a:rPr lang="en-US" altLang="en-US" dirty="0">
                <a:ea typeface="ＭＳ Ｐゴシック" pitchFamily="34" charset="-128"/>
              </a:rPr>
              <a:t>Naïve </a:t>
            </a:r>
            <a:r>
              <a:rPr lang="en-US" altLang="en-US" dirty="0" err="1">
                <a:ea typeface="ＭＳ Ｐゴシック" pitchFamily="34" charset="-128"/>
              </a:rPr>
              <a:t>Bayes</a:t>
            </a:r>
            <a:r>
              <a:rPr lang="en-US" altLang="en-US" dirty="0">
                <a:ea typeface="ＭＳ Ｐゴシック" pitchFamily="34" charset="-128"/>
              </a:rPr>
              <a:t> and Bayesian Belief Networks</a:t>
            </a:r>
          </a:p>
          <a:p>
            <a:pPr lvl="1">
              <a:lnSpc>
                <a:spcPct val="90000"/>
              </a:lnSpc>
            </a:pPr>
            <a:r>
              <a:rPr lang="en-US" altLang="en-US" dirty="0">
                <a:ea typeface="ＭＳ Ｐゴシック" pitchFamily="34" charset="-128"/>
              </a:rPr>
              <a:t>Support Vector Machines</a:t>
            </a:r>
          </a:p>
          <a:p>
            <a:pPr>
              <a:lnSpc>
                <a:spcPct val="90000"/>
              </a:lnSpc>
            </a:pPr>
            <a:endParaRPr lang="en-US" altLang="en-US" dirty="0">
              <a:ea typeface="ＭＳ Ｐゴシック" pitchFamily="34" charset="-128"/>
            </a:endParaRPr>
          </a:p>
          <a:p>
            <a:pPr>
              <a:lnSpc>
                <a:spcPct val="90000"/>
              </a:lnSpc>
            </a:pPr>
            <a:r>
              <a:rPr lang="en-US" altLang="en-US" dirty="0">
                <a:ea typeface="ＭＳ Ｐゴシック" pitchFamily="34" charset="-128"/>
              </a:rPr>
              <a:t>Ensemble Classifiers</a:t>
            </a:r>
          </a:p>
          <a:p>
            <a:pPr lvl="1">
              <a:lnSpc>
                <a:spcPct val="90000"/>
              </a:lnSpc>
            </a:pPr>
            <a:r>
              <a:rPr lang="en-US" altLang="en-US" dirty="0">
                <a:ea typeface="ＭＳ Ｐゴシック" pitchFamily="34" charset="-128"/>
              </a:rPr>
              <a:t>Boosting, Bagging, Random Forests</a:t>
            </a:r>
          </a:p>
        </p:txBody>
      </p:sp>
      <p:sp>
        <p:nvSpPr>
          <p:cNvPr id="4" name="Slide Number Placeholder 3"/>
          <p:cNvSpPr>
            <a:spLocks noGrp="1"/>
          </p:cNvSpPr>
          <p:nvPr>
            <p:ph type="sldNum" sz="quarter" idx="12"/>
          </p:nvPr>
        </p:nvSpPr>
        <p:spPr/>
        <p:txBody>
          <a:bodyPr/>
          <a:lstStyle/>
          <a:p>
            <a:fld id="{B2740FB1-53F8-4DD3-8B87-E5AAC281843C}" type="slidenum">
              <a:rPr lang="en-US"/>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381000" y="152400"/>
            <a:ext cx="7620000" cy="838200"/>
          </a:xfrm>
          <a:noFill/>
        </p:spPr>
        <p:txBody>
          <a:bodyPr vert="horz" lIns="92075" tIns="46038" rIns="92075" bIns="46038" rtlCol="0" anchor="b">
            <a:normAutofit/>
          </a:bodyPr>
          <a:lstStyle/>
          <a:p>
            <a:pPr eaLnBrk="1" hangingPunct="1"/>
            <a:r>
              <a:rPr lang="en-US" altLang="en-US" sz="4000" dirty="0"/>
              <a:t>Decision Tree Induction</a:t>
            </a:r>
            <a:endParaRPr lang="en-US" altLang="en-US" sz="4000" i="1" dirty="0"/>
          </a:p>
        </p:txBody>
      </p:sp>
      <p:sp>
        <p:nvSpPr>
          <p:cNvPr id="12294" name="Rectangle 1"/>
          <p:cNvSpPr>
            <a:spLocks noChangeArrowheads="1"/>
          </p:cNvSpPr>
          <p:nvPr/>
        </p:nvSpPr>
        <p:spPr bwMode="auto">
          <a:xfrm>
            <a:off x="397702" y="1186908"/>
            <a:ext cx="418753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eaLnBrk="1" hangingPunct="1">
              <a:spcBef>
                <a:spcPts val="600"/>
              </a:spcBef>
              <a:buClr>
                <a:srgbClr val="170981"/>
              </a:buClr>
              <a:buSzPct val="75000"/>
              <a:buFont typeface="Wingdings" panose="05000000000000000000" pitchFamily="2" charset="2"/>
              <a:buChar char="q"/>
            </a:pPr>
            <a:r>
              <a:rPr lang="en-US" altLang="en-US" sz="2000" b="1" dirty="0"/>
              <a:t>Decision tree construction</a:t>
            </a:r>
            <a:r>
              <a:rPr lang="en-US" altLang="en-US" sz="2000" dirty="0"/>
              <a:t>: </a:t>
            </a:r>
          </a:p>
          <a:p>
            <a:pPr lvl="1" eaLnBrk="1" hangingPunct="1">
              <a:spcBef>
                <a:spcPts val="600"/>
              </a:spcBef>
              <a:buClr>
                <a:srgbClr val="170981"/>
              </a:buClr>
              <a:buSzPct val="75000"/>
              <a:buFont typeface="Wingdings" panose="05000000000000000000" pitchFamily="2" charset="2"/>
              <a:buChar char="q"/>
            </a:pPr>
            <a:r>
              <a:rPr lang="en-US" altLang="en-US" sz="2000" dirty="0"/>
              <a:t> A top-down, recursive, divide-and-conquer process</a:t>
            </a:r>
          </a:p>
          <a:p>
            <a:pPr eaLnBrk="1" hangingPunct="1">
              <a:spcBef>
                <a:spcPts val="600"/>
              </a:spcBef>
              <a:buClr>
                <a:srgbClr val="170981"/>
              </a:buClr>
              <a:buSzPct val="75000"/>
              <a:buFont typeface="Wingdings" panose="05000000000000000000" pitchFamily="2" charset="2"/>
              <a:buChar char="q"/>
            </a:pPr>
            <a:r>
              <a:rPr lang="en-US" altLang="en-US" sz="2000" b="1" dirty="0"/>
              <a:t> Resulting tree:</a:t>
            </a:r>
          </a:p>
        </p:txBody>
      </p:sp>
      <p:sp>
        <p:nvSpPr>
          <p:cNvPr id="3" name="TextBox 2"/>
          <p:cNvSpPr txBox="1"/>
          <p:nvPr/>
        </p:nvSpPr>
        <p:spPr>
          <a:xfrm>
            <a:off x="5181600" y="762000"/>
            <a:ext cx="3274113" cy="369332"/>
          </a:xfrm>
          <a:prstGeom prst="rect">
            <a:avLst/>
          </a:prstGeom>
          <a:noFill/>
        </p:spPr>
        <p:txBody>
          <a:bodyPr wrap="square" rtlCol="0">
            <a:spAutoFit/>
          </a:bodyPr>
          <a:lstStyle/>
          <a:p>
            <a:pPr algn="ctr">
              <a:spcBef>
                <a:spcPts val="600"/>
              </a:spcBef>
              <a:buClr>
                <a:srgbClr val="170981"/>
              </a:buClr>
              <a:buSzPct val="75000"/>
            </a:pPr>
            <a:r>
              <a:rPr lang="en-US" altLang="en-US" dirty="0"/>
              <a:t>Training data set: Play Golf?</a:t>
            </a:r>
          </a:p>
        </p:txBody>
      </p:sp>
      <p:grpSp>
        <p:nvGrpSpPr>
          <p:cNvPr id="30" name="Group 29"/>
          <p:cNvGrpSpPr/>
          <p:nvPr/>
        </p:nvGrpSpPr>
        <p:grpSpPr>
          <a:xfrm>
            <a:off x="287219" y="3352800"/>
            <a:ext cx="3721063" cy="2914434"/>
            <a:chOff x="287219" y="2633594"/>
            <a:chExt cx="4883519" cy="3607192"/>
          </a:xfrm>
        </p:grpSpPr>
        <p:sp>
          <p:nvSpPr>
            <p:cNvPr id="12295" name="Rectangle 3"/>
            <p:cNvSpPr>
              <a:spLocks noChangeArrowheads="1"/>
            </p:cNvSpPr>
            <p:nvPr/>
          </p:nvSpPr>
          <p:spPr bwMode="auto">
            <a:xfrm>
              <a:off x="2100339" y="2633594"/>
              <a:ext cx="968028" cy="359120"/>
            </a:xfrm>
            <a:prstGeom prst="roundRect">
              <a:avLst/>
            </a:prstGeom>
            <a:solidFill>
              <a:schemeClr val="accent6">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b="1" dirty="0">
                  <a:latin typeface="Times New Roman" panose="02020603050405020304" pitchFamily="18" charset="0"/>
                </a:rPr>
                <a:t>outlook?</a:t>
              </a:r>
            </a:p>
          </p:txBody>
        </p:sp>
        <p:sp>
          <p:nvSpPr>
            <p:cNvPr id="12297" name="Rectangle 5"/>
            <p:cNvSpPr>
              <a:spLocks noChangeArrowheads="1"/>
            </p:cNvSpPr>
            <p:nvPr/>
          </p:nvSpPr>
          <p:spPr bwMode="auto">
            <a:xfrm>
              <a:off x="748672" y="4210359"/>
              <a:ext cx="852214" cy="359120"/>
            </a:xfrm>
            <a:prstGeom prst="roundRect">
              <a:avLst/>
            </a:prstGeom>
            <a:solidFill>
              <a:schemeClr val="accent6">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b="1" dirty="0">
                  <a:latin typeface="Times New Roman" panose="02020603050405020304" pitchFamily="18" charset="0"/>
                </a:rPr>
                <a:t>windy?</a:t>
              </a:r>
            </a:p>
          </p:txBody>
        </p:sp>
        <p:sp>
          <p:nvSpPr>
            <p:cNvPr id="12298" name="Rectangle 6"/>
            <p:cNvSpPr>
              <a:spLocks noChangeArrowheads="1"/>
            </p:cNvSpPr>
            <p:nvPr/>
          </p:nvSpPr>
          <p:spPr bwMode="auto">
            <a:xfrm>
              <a:off x="3578797" y="4210359"/>
              <a:ext cx="1125705" cy="359120"/>
            </a:xfrm>
            <a:prstGeom prst="roundRect">
              <a:avLst/>
            </a:prstGeom>
            <a:solidFill>
              <a:schemeClr val="accent6">
                <a:lumMod val="20000"/>
                <a:lumOff val="80000"/>
              </a:schemeClr>
            </a:solidFill>
            <a:ln>
              <a:headEnd/>
              <a:tailEnd/>
            </a:ln>
          </p:spPr>
          <p:style>
            <a:lnRef idx="2">
              <a:schemeClr val="dk1"/>
            </a:lnRef>
            <a:fillRef idx="1">
              <a:schemeClr val="lt1"/>
            </a:fillRef>
            <a:effectRef idx="0">
              <a:schemeClr val="dk1"/>
            </a:effectRef>
            <a:fontRef idx="minor">
              <a:schemeClr val="dk1"/>
            </a:fontRef>
          </p:style>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b="1" dirty="0">
                  <a:latin typeface="Times New Roman" panose="02020603050405020304" pitchFamily="18" charset="0"/>
                </a:rPr>
                <a:t>Humidity?</a:t>
              </a:r>
            </a:p>
          </p:txBody>
        </p:sp>
        <p:sp>
          <p:nvSpPr>
            <p:cNvPr id="12302" name="Rectangle 14"/>
            <p:cNvSpPr>
              <a:spLocks noChangeArrowheads="1"/>
            </p:cNvSpPr>
            <p:nvPr/>
          </p:nvSpPr>
          <p:spPr bwMode="auto">
            <a:xfrm>
              <a:off x="1366982" y="3248941"/>
              <a:ext cx="717387" cy="324589"/>
            </a:xfrm>
            <a:prstGeom prst="rect">
              <a:avLst/>
            </a:prstGeom>
            <a:noFill/>
            <a:ln w="12700">
              <a:solidFill>
                <a:schemeClr val="bg1"/>
              </a:solidFill>
              <a:miter lim="800000"/>
              <a:headEnd/>
              <a:tailEnd/>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Sunny</a:t>
              </a:r>
            </a:p>
          </p:txBody>
        </p:sp>
        <p:sp>
          <p:nvSpPr>
            <p:cNvPr id="12303" name="Rectangle 15"/>
            <p:cNvSpPr>
              <a:spLocks noChangeArrowheads="1"/>
            </p:cNvSpPr>
            <p:nvPr/>
          </p:nvSpPr>
          <p:spPr bwMode="auto">
            <a:xfrm>
              <a:off x="3114549" y="3252649"/>
              <a:ext cx="685832" cy="324589"/>
            </a:xfrm>
            <a:prstGeom prst="rect">
              <a:avLst/>
            </a:prstGeom>
            <a:noFill/>
            <a:ln>
              <a:no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Rainy</a:t>
              </a:r>
            </a:p>
          </p:txBody>
        </p:sp>
        <p:sp>
          <p:nvSpPr>
            <p:cNvPr id="12309" name="Rectangle 25"/>
            <p:cNvSpPr>
              <a:spLocks noChangeArrowheads="1"/>
            </p:cNvSpPr>
            <p:nvPr/>
          </p:nvSpPr>
          <p:spPr bwMode="auto">
            <a:xfrm>
              <a:off x="287219" y="5916197"/>
              <a:ext cx="532255" cy="324589"/>
            </a:xfrm>
            <a:prstGeom prst="rect">
              <a:avLst/>
            </a:prstGeom>
            <a:solidFill>
              <a:schemeClr val="accent2">
                <a:lumMod val="40000"/>
                <a:lumOff val="60000"/>
              </a:schemeClr>
            </a:solidFill>
            <a:ln w="12700">
              <a:solidFill>
                <a:srgbClr val="000000"/>
              </a:solid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Yes</a:t>
              </a:r>
            </a:p>
          </p:txBody>
        </p:sp>
        <p:sp>
          <p:nvSpPr>
            <p:cNvPr id="12310" name="Rectangle 27"/>
            <p:cNvSpPr>
              <a:spLocks noChangeArrowheads="1"/>
            </p:cNvSpPr>
            <p:nvPr/>
          </p:nvSpPr>
          <p:spPr bwMode="auto">
            <a:xfrm>
              <a:off x="1838767" y="5911073"/>
              <a:ext cx="471247" cy="324589"/>
            </a:xfrm>
            <a:prstGeom prst="rect">
              <a:avLst/>
            </a:prstGeom>
            <a:solidFill>
              <a:schemeClr val="bg2">
                <a:lumMod val="90000"/>
              </a:schemeClr>
            </a:solidFill>
            <a:ln w="12700">
              <a:solidFill>
                <a:schemeClr val="tx1"/>
              </a:solid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No</a:t>
              </a:r>
            </a:p>
          </p:txBody>
        </p:sp>
        <p:sp>
          <p:nvSpPr>
            <p:cNvPr id="12311" name="Rectangle 28"/>
            <p:cNvSpPr>
              <a:spLocks noChangeArrowheads="1"/>
            </p:cNvSpPr>
            <p:nvPr/>
          </p:nvSpPr>
          <p:spPr bwMode="auto">
            <a:xfrm>
              <a:off x="4699491" y="5910194"/>
              <a:ext cx="471247" cy="324589"/>
            </a:xfrm>
            <a:prstGeom prst="rect">
              <a:avLst/>
            </a:prstGeom>
            <a:solidFill>
              <a:schemeClr val="bg2">
                <a:lumMod val="90000"/>
              </a:schemeClr>
            </a:solidFill>
            <a:ln w="12700">
              <a:solidFill>
                <a:schemeClr val="tx1"/>
              </a:solid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No</a:t>
              </a:r>
            </a:p>
          </p:txBody>
        </p:sp>
        <p:sp>
          <p:nvSpPr>
            <p:cNvPr id="12313" name="Rectangle 30"/>
            <p:cNvSpPr>
              <a:spLocks noChangeArrowheads="1"/>
            </p:cNvSpPr>
            <p:nvPr/>
          </p:nvSpPr>
          <p:spPr bwMode="auto">
            <a:xfrm>
              <a:off x="2487353" y="3753546"/>
              <a:ext cx="800100" cy="304800"/>
            </a:xfrm>
            <a:prstGeom prst="rect">
              <a:avLst/>
            </a:prstGeom>
            <a:noFill/>
            <a:ln>
              <a:noFill/>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Overcast</a:t>
              </a:r>
            </a:p>
          </p:txBody>
        </p:sp>
        <p:sp>
          <p:nvSpPr>
            <p:cNvPr id="12314" name="Rectangle 62"/>
            <p:cNvSpPr>
              <a:spLocks noChangeArrowheads="1"/>
            </p:cNvSpPr>
            <p:nvPr/>
          </p:nvSpPr>
          <p:spPr bwMode="auto">
            <a:xfrm>
              <a:off x="3236463" y="5911822"/>
              <a:ext cx="532255" cy="324589"/>
            </a:xfrm>
            <a:prstGeom prst="rect">
              <a:avLst/>
            </a:prstGeom>
            <a:solidFill>
              <a:schemeClr val="accent2">
                <a:lumMod val="40000"/>
                <a:lumOff val="60000"/>
              </a:schemeClr>
            </a:solidFill>
            <a:ln w="12700">
              <a:solidFill>
                <a:srgbClr val="000000"/>
              </a:solid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Yes</a:t>
              </a:r>
            </a:p>
          </p:txBody>
        </p:sp>
        <p:sp>
          <p:nvSpPr>
            <p:cNvPr id="12315" name="Rectangle 9"/>
            <p:cNvSpPr>
              <a:spLocks noChangeArrowheads="1"/>
            </p:cNvSpPr>
            <p:nvPr/>
          </p:nvSpPr>
          <p:spPr bwMode="auto">
            <a:xfrm>
              <a:off x="4509030" y="5082867"/>
              <a:ext cx="614304" cy="324589"/>
            </a:xfrm>
            <a:prstGeom prst="rect">
              <a:avLst/>
            </a:prstGeom>
            <a:noFill/>
            <a:ln>
              <a:no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High</a:t>
              </a:r>
            </a:p>
          </p:txBody>
        </p:sp>
        <p:sp>
          <p:nvSpPr>
            <p:cNvPr id="12316" name="Rectangle 10"/>
            <p:cNvSpPr>
              <a:spLocks noChangeArrowheads="1"/>
            </p:cNvSpPr>
            <p:nvPr/>
          </p:nvSpPr>
          <p:spPr bwMode="auto">
            <a:xfrm>
              <a:off x="2927605" y="5082867"/>
              <a:ext cx="807851" cy="324589"/>
            </a:xfrm>
            <a:prstGeom prst="rect">
              <a:avLst/>
            </a:prstGeom>
            <a:noFill/>
            <a:ln>
              <a:no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Normal</a:t>
              </a:r>
            </a:p>
          </p:txBody>
        </p:sp>
        <p:sp>
          <p:nvSpPr>
            <p:cNvPr id="12317" name="Rectangle 8"/>
            <p:cNvSpPr>
              <a:spLocks noChangeArrowheads="1"/>
            </p:cNvSpPr>
            <p:nvPr/>
          </p:nvSpPr>
          <p:spPr bwMode="auto">
            <a:xfrm>
              <a:off x="1656901" y="5084926"/>
              <a:ext cx="593266" cy="324589"/>
            </a:xfrm>
            <a:prstGeom prst="rect">
              <a:avLst/>
            </a:prstGeom>
            <a:noFill/>
            <a:ln>
              <a:no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True</a:t>
              </a:r>
            </a:p>
          </p:txBody>
        </p:sp>
        <p:sp>
          <p:nvSpPr>
            <p:cNvPr id="12318" name="Rectangle 7"/>
            <p:cNvSpPr>
              <a:spLocks noChangeArrowheads="1"/>
            </p:cNvSpPr>
            <p:nvPr/>
          </p:nvSpPr>
          <p:spPr bwMode="auto">
            <a:xfrm>
              <a:off x="378233" y="5085039"/>
              <a:ext cx="635225" cy="324589"/>
            </a:xfrm>
            <a:prstGeom prst="rect">
              <a:avLst/>
            </a:prstGeom>
            <a:noFill/>
            <a:ln>
              <a:noFill/>
            </a:ln>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False</a:t>
              </a:r>
            </a:p>
          </p:txBody>
        </p:sp>
        <p:cxnSp>
          <p:nvCxnSpPr>
            <p:cNvPr id="5" name="Straight Arrow Connector 4">
              <a:extLst>
                <a:ext uri="{FF2B5EF4-FFF2-40B4-BE49-F238E27FC236}">
                  <a16:creationId xmlns:a16="http://schemas.microsoft.com/office/drawing/2014/main" id="{E31EAE0D-8D1B-E040-8BD8-A8A2EE3CD1C7}"/>
                </a:ext>
              </a:extLst>
            </p:cNvPr>
            <p:cNvCxnSpPr>
              <a:stCxn id="12295" idx="2"/>
              <a:endCxn id="12297" idx="0"/>
            </p:cNvCxnSpPr>
            <p:nvPr/>
          </p:nvCxnSpPr>
          <p:spPr>
            <a:xfrm rot="5400000">
              <a:off x="1270743" y="2896749"/>
              <a:ext cx="1217646" cy="14095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30FC3B3E-1B08-A740-91FB-D7EEDB23FB8B}"/>
                </a:ext>
              </a:extLst>
            </p:cNvPr>
            <p:cNvCxnSpPr>
              <a:stCxn id="12295" idx="2"/>
            </p:cNvCxnSpPr>
            <p:nvPr/>
          </p:nvCxnSpPr>
          <p:spPr>
            <a:xfrm rot="16200000" flipH="1">
              <a:off x="1989540" y="3587527"/>
              <a:ext cx="1218420" cy="287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533899FF-F2EB-3344-9A91-6FDE48E59570}"/>
                </a:ext>
              </a:extLst>
            </p:cNvPr>
            <p:cNvCxnSpPr>
              <a:cxnSpLocks/>
              <a:stCxn id="12295" idx="2"/>
              <a:endCxn id="12298" idx="0"/>
            </p:cNvCxnSpPr>
            <p:nvPr/>
          </p:nvCxnSpPr>
          <p:spPr>
            <a:xfrm rot="16200000" flipH="1">
              <a:off x="2754178" y="2822888"/>
              <a:ext cx="1217646" cy="15572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12412559-B354-FE45-B476-BA60C815BE19}"/>
                </a:ext>
              </a:extLst>
            </p:cNvPr>
            <p:cNvCxnSpPr>
              <a:stCxn id="12297" idx="2"/>
              <a:endCxn id="12309" idx="0"/>
            </p:cNvCxnSpPr>
            <p:nvPr/>
          </p:nvCxnSpPr>
          <p:spPr>
            <a:xfrm rot="5400000">
              <a:off x="190704" y="4932122"/>
              <a:ext cx="1346718" cy="6214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EDA5F44D-3748-C94E-9837-762125E2086A}"/>
                </a:ext>
              </a:extLst>
            </p:cNvPr>
            <p:cNvCxnSpPr>
              <a:stCxn id="12297" idx="2"/>
              <a:endCxn id="12310" idx="0"/>
            </p:cNvCxnSpPr>
            <p:nvPr/>
          </p:nvCxnSpPr>
          <p:spPr>
            <a:xfrm rot="16200000" flipH="1">
              <a:off x="953788" y="4790470"/>
              <a:ext cx="1341594" cy="8996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9A3F2F42-53E1-8A4A-B5DF-1768BDFBE8C4}"/>
                </a:ext>
              </a:extLst>
            </p:cNvPr>
            <p:cNvCxnSpPr>
              <a:stCxn id="12298" idx="2"/>
              <a:endCxn id="12314" idx="0"/>
            </p:cNvCxnSpPr>
            <p:nvPr/>
          </p:nvCxnSpPr>
          <p:spPr>
            <a:xfrm rot="5400000">
              <a:off x="3150950" y="4921121"/>
              <a:ext cx="1342343" cy="6390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75AB6471-018A-344A-B4E8-02FF108557E7}"/>
                </a:ext>
              </a:extLst>
            </p:cNvPr>
            <p:cNvCxnSpPr>
              <a:stCxn id="12298" idx="2"/>
              <a:endCxn id="12311" idx="0"/>
            </p:cNvCxnSpPr>
            <p:nvPr/>
          </p:nvCxnSpPr>
          <p:spPr>
            <a:xfrm rot="16200000" flipH="1">
              <a:off x="3868025" y="4843104"/>
              <a:ext cx="1340715" cy="79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Rectangle 25"/>
            <p:cNvSpPr>
              <a:spLocks noChangeArrowheads="1"/>
            </p:cNvSpPr>
            <p:nvPr/>
          </p:nvSpPr>
          <p:spPr bwMode="auto">
            <a:xfrm>
              <a:off x="2372986" y="4209482"/>
              <a:ext cx="532255" cy="324589"/>
            </a:xfrm>
            <a:prstGeom prst="rect">
              <a:avLst/>
            </a:prstGeom>
            <a:solidFill>
              <a:schemeClr val="accent2">
                <a:lumMod val="40000"/>
                <a:lumOff val="60000"/>
              </a:schemeClr>
            </a:solidFill>
            <a:ln w="12700">
              <a:solidFill>
                <a:srgbClr val="000000"/>
              </a:solidFill>
            </a:ln>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algn="ctr">
                <a:spcBef>
                  <a:spcPct val="0"/>
                </a:spcBef>
                <a:buClrTx/>
                <a:buSzTx/>
                <a:buFontTx/>
                <a:buNone/>
              </a:pPr>
              <a:r>
                <a:rPr lang="en-US" altLang="en-US" sz="1100" dirty="0">
                  <a:latin typeface="Times New Roman" panose="02020603050405020304" pitchFamily="18" charset="0"/>
                </a:rPr>
                <a:t>Yes</a:t>
              </a:r>
            </a:p>
          </p:txBody>
        </p:sp>
      </p:grpSp>
      <p:sp>
        <p:nvSpPr>
          <p:cNvPr id="4" name="TextBox 3"/>
          <p:cNvSpPr txBox="1"/>
          <p:nvPr/>
        </p:nvSpPr>
        <p:spPr>
          <a:xfrm>
            <a:off x="4734233" y="8273846"/>
            <a:ext cx="184731" cy="369332"/>
          </a:xfrm>
          <a:prstGeom prst="rect">
            <a:avLst/>
          </a:prstGeom>
          <a:noFill/>
        </p:spPr>
        <p:txBody>
          <a:bodyPr wrap="none" rtlCol="0">
            <a:spAutoFit/>
          </a:bodyPr>
          <a:lstStyle/>
          <a:p>
            <a:endParaRPr lang="en-US" dirty="0"/>
          </a:p>
        </p:txBody>
      </p:sp>
      <p:graphicFrame>
        <p:nvGraphicFramePr>
          <p:cNvPr id="31" name="Table 30"/>
          <p:cNvGraphicFramePr>
            <a:graphicFrameLocks noGrp="1"/>
          </p:cNvGraphicFramePr>
          <p:nvPr>
            <p:extLst>
              <p:ext uri="{D42A27DB-BD31-4B8C-83A1-F6EECF244321}">
                <p14:modId xmlns:p14="http://schemas.microsoft.com/office/powerpoint/2010/main" val="1557825159"/>
              </p:ext>
            </p:extLst>
          </p:nvPr>
        </p:nvGraphicFramePr>
        <p:xfrm>
          <a:off x="4343400" y="1031017"/>
          <a:ext cx="4495800" cy="5273040"/>
        </p:xfrm>
        <a:graphic>
          <a:graphicData uri="http://schemas.openxmlformats.org/drawingml/2006/table">
            <a:tbl>
              <a:tblPr firstRow="1" bandRow="1">
                <a:tableStyleId>{93296810-A885-4BE3-A3E7-6D5BEEA58F35}</a:tableStyleId>
              </a:tblPr>
              <a:tblGrid>
                <a:gridCol w="1031615">
                  <a:extLst>
                    <a:ext uri="{9D8B030D-6E8A-4147-A177-3AD203B41FA5}">
                      <a16:colId xmlns:a16="http://schemas.microsoft.com/office/drawing/2014/main" val="20000"/>
                    </a:ext>
                  </a:extLst>
                </a:gridCol>
                <a:gridCol w="738021">
                  <a:extLst>
                    <a:ext uri="{9D8B030D-6E8A-4147-A177-3AD203B41FA5}">
                      <a16:colId xmlns:a16="http://schemas.microsoft.com/office/drawing/2014/main" val="20001"/>
                    </a:ext>
                  </a:extLst>
                </a:gridCol>
                <a:gridCol w="1092271">
                  <a:extLst>
                    <a:ext uri="{9D8B030D-6E8A-4147-A177-3AD203B41FA5}">
                      <a16:colId xmlns:a16="http://schemas.microsoft.com/office/drawing/2014/main" val="20002"/>
                    </a:ext>
                  </a:extLst>
                </a:gridCol>
                <a:gridCol w="870865">
                  <a:extLst>
                    <a:ext uri="{9D8B030D-6E8A-4147-A177-3AD203B41FA5}">
                      <a16:colId xmlns:a16="http://schemas.microsoft.com/office/drawing/2014/main" val="20003"/>
                    </a:ext>
                  </a:extLst>
                </a:gridCol>
                <a:gridCol w="763028">
                  <a:extLst>
                    <a:ext uri="{9D8B030D-6E8A-4147-A177-3AD203B41FA5}">
                      <a16:colId xmlns:a16="http://schemas.microsoft.com/office/drawing/2014/main" val="20004"/>
                    </a:ext>
                  </a:extLst>
                </a:gridCol>
              </a:tblGrid>
              <a:tr h="545645">
                <a:tc>
                  <a:txBody>
                    <a:bodyPr/>
                    <a:lstStyle/>
                    <a:p>
                      <a:pPr>
                        <a:lnSpc>
                          <a:spcPct val="100000"/>
                        </a:lnSpc>
                      </a:pPr>
                      <a:r>
                        <a:rPr lang="en-US" sz="1600" dirty="0"/>
                        <a:t>Outlook</a:t>
                      </a:r>
                    </a:p>
                  </a:txBody>
                  <a:tcPr marL="68580" marR="68580" anchor="ctr"/>
                </a:tc>
                <a:tc>
                  <a:txBody>
                    <a:bodyPr/>
                    <a:lstStyle/>
                    <a:p>
                      <a:pPr>
                        <a:lnSpc>
                          <a:spcPct val="100000"/>
                        </a:lnSpc>
                      </a:pPr>
                      <a:r>
                        <a:rPr lang="en-US" sz="1600" dirty="0"/>
                        <a:t>Temp</a:t>
                      </a:r>
                    </a:p>
                  </a:txBody>
                  <a:tcPr marL="68580" marR="68580" anchor="ctr"/>
                </a:tc>
                <a:tc>
                  <a:txBody>
                    <a:bodyPr/>
                    <a:lstStyle/>
                    <a:p>
                      <a:pPr>
                        <a:lnSpc>
                          <a:spcPct val="100000"/>
                        </a:lnSpc>
                      </a:pPr>
                      <a:r>
                        <a:rPr lang="en-US" sz="1600" dirty="0"/>
                        <a:t>Humidity</a:t>
                      </a:r>
                    </a:p>
                  </a:txBody>
                  <a:tcPr marL="68580" marR="68580" anchor="ctr"/>
                </a:tc>
                <a:tc>
                  <a:txBody>
                    <a:bodyPr/>
                    <a:lstStyle/>
                    <a:p>
                      <a:pPr>
                        <a:lnSpc>
                          <a:spcPct val="100000"/>
                        </a:lnSpc>
                      </a:pPr>
                      <a:r>
                        <a:rPr lang="en-US" sz="1600" dirty="0"/>
                        <a:t>Windy</a:t>
                      </a:r>
                    </a:p>
                  </a:txBody>
                  <a:tcPr marL="68580" marR="68580" anchor="ctr"/>
                </a:tc>
                <a:tc>
                  <a:txBody>
                    <a:bodyPr/>
                    <a:lstStyle/>
                    <a:p>
                      <a:pPr>
                        <a:lnSpc>
                          <a:spcPct val="100000"/>
                        </a:lnSpc>
                      </a:pPr>
                      <a:r>
                        <a:rPr lang="en-US" sz="1600" dirty="0"/>
                        <a:t>Play Golf</a:t>
                      </a:r>
                    </a:p>
                  </a:txBody>
                  <a:tcPr marL="68580" marR="68580" anchor="ctr">
                    <a:solidFill>
                      <a:schemeClr val="accent2"/>
                    </a:solidFill>
                  </a:tcPr>
                </a:tc>
                <a:extLst>
                  <a:ext uri="{0D108BD9-81ED-4DB2-BD59-A6C34878D82A}">
                    <a16:rowId xmlns:a16="http://schemas.microsoft.com/office/drawing/2014/main" val="10000"/>
                  </a:ext>
                </a:extLst>
              </a:tr>
              <a:tr h="315900">
                <a:tc>
                  <a:txBody>
                    <a:bodyPr/>
                    <a:lstStyle/>
                    <a:p>
                      <a:pPr>
                        <a:lnSpc>
                          <a:spcPct val="100000"/>
                        </a:lnSpc>
                      </a:pPr>
                      <a:r>
                        <a:rPr lang="en-US" sz="1600" dirty="0"/>
                        <a:t>Rainy</a:t>
                      </a:r>
                    </a:p>
                  </a:txBody>
                  <a:tcPr marL="68580" marR="68580" anchor="ctr"/>
                </a:tc>
                <a:tc>
                  <a:txBody>
                    <a:bodyPr/>
                    <a:lstStyle/>
                    <a:p>
                      <a:pPr>
                        <a:lnSpc>
                          <a:spcPct val="100000"/>
                        </a:lnSpc>
                      </a:pPr>
                      <a:r>
                        <a:rPr lang="en-US" sz="1600" dirty="0"/>
                        <a:t>Hot</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1"/>
                  </a:ext>
                </a:extLst>
              </a:tr>
              <a:tr h="315900">
                <a:tc>
                  <a:txBody>
                    <a:bodyPr/>
                    <a:lstStyle/>
                    <a:p>
                      <a:pPr>
                        <a:lnSpc>
                          <a:spcPct val="100000"/>
                        </a:lnSpc>
                      </a:pPr>
                      <a:r>
                        <a:rPr lang="en-US" sz="1600" dirty="0"/>
                        <a:t>Rainy</a:t>
                      </a:r>
                    </a:p>
                  </a:txBody>
                  <a:tcPr marL="68580" marR="68580" anchor="ctr"/>
                </a:tc>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Hot</a:t>
                      </a:r>
                    </a:p>
                  </a:txBody>
                  <a:tcPr marL="68580" marR="68580" anchor="ctr"/>
                </a:tc>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High</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2"/>
                  </a:ext>
                </a:extLst>
              </a:tr>
              <a:tr h="315900">
                <a:tc>
                  <a:txBody>
                    <a:bodyPr/>
                    <a:lstStyle/>
                    <a:p>
                      <a:pPr>
                        <a:lnSpc>
                          <a:spcPct val="100000"/>
                        </a:lnSpc>
                      </a:pPr>
                      <a:r>
                        <a:rPr lang="en-US" sz="1600" dirty="0"/>
                        <a:t>Overcast</a:t>
                      </a:r>
                    </a:p>
                  </a:txBody>
                  <a:tcPr marL="68580" marR="68580" anchor="ctr"/>
                </a:tc>
                <a:tc>
                  <a:txBody>
                    <a:bodyPr/>
                    <a:lstStyle/>
                    <a:p>
                      <a:pPr>
                        <a:lnSpc>
                          <a:spcPct val="100000"/>
                        </a:lnSpc>
                      </a:pPr>
                      <a:r>
                        <a:rPr lang="en-US" sz="1600" dirty="0"/>
                        <a:t>Hot</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3"/>
                  </a:ext>
                </a:extLst>
              </a:tr>
              <a:tr h="315900">
                <a:tc>
                  <a:txBody>
                    <a:bodyPr/>
                    <a:lstStyle/>
                    <a:p>
                      <a:pPr>
                        <a:lnSpc>
                          <a:spcPct val="100000"/>
                        </a:lnSpc>
                      </a:pPr>
                      <a:r>
                        <a:rPr lang="en-US" sz="1600" dirty="0"/>
                        <a:t>Sunny</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4"/>
                  </a:ext>
                </a:extLst>
              </a:tr>
              <a:tr h="315900">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Sunny</a:t>
                      </a:r>
                    </a:p>
                  </a:txBody>
                  <a:tcPr marL="68580" marR="68580" anchor="ctr"/>
                </a:tc>
                <a:tc>
                  <a:txBody>
                    <a:bodyPr/>
                    <a:lstStyle/>
                    <a:p>
                      <a:pPr>
                        <a:lnSpc>
                          <a:spcPct val="100000"/>
                        </a:lnSpc>
                      </a:pPr>
                      <a:r>
                        <a:rPr lang="en-US" sz="1600" dirty="0"/>
                        <a:t>Cool</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5"/>
                  </a:ext>
                </a:extLst>
              </a:tr>
              <a:tr h="315900">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Sunny</a:t>
                      </a:r>
                    </a:p>
                  </a:txBody>
                  <a:tcPr marL="68580" marR="68580" anchor="ctr"/>
                </a:tc>
                <a:tc>
                  <a:txBody>
                    <a:bodyPr/>
                    <a:lstStyle/>
                    <a:p>
                      <a:pPr>
                        <a:lnSpc>
                          <a:spcPct val="100000"/>
                        </a:lnSpc>
                      </a:pPr>
                      <a:r>
                        <a:rPr lang="en-US" sz="1600" dirty="0"/>
                        <a:t>Cool</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6"/>
                  </a:ext>
                </a:extLst>
              </a:tr>
              <a:tr h="315900">
                <a:tc>
                  <a:txBody>
                    <a:bodyPr/>
                    <a:lstStyle/>
                    <a:p>
                      <a:pPr>
                        <a:lnSpc>
                          <a:spcPct val="100000"/>
                        </a:lnSpc>
                      </a:pPr>
                      <a:r>
                        <a:rPr lang="en-US" sz="1600" dirty="0"/>
                        <a:t>Overcast</a:t>
                      </a:r>
                    </a:p>
                  </a:txBody>
                  <a:tcPr marL="68580" marR="68580" anchor="ctr"/>
                </a:tc>
                <a:tc>
                  <a:txBody>
                    <a:bodyPr/>
                    <a:lstStyle/>
                    <a:p>
                      <a:pPr>
                        <a:lnSpc>
                          <a:spcPct val="100000"/>
                        </a:lnSpc>
                      </a:pPr>
                      <a:r>
                        <a:rPr lang="en-US" sz="1600" dirty="0"/>
                        <a:t>Cool</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a:t>Yes</a:t>
                      </a:r>
                      <a:endParaRPr lang="en-US" sz="1600" dirty="0"/>
                    </a:p>
                  </a:txBody>
                  <a:tcPr marL="68580" marR="68580" anchor="ctr">
                    <a:solidFill>
                      <a:schemeClr val="accent2">
                        <a:lumMod val="20000"/>
                        <a:lumOff val="80000"/>
                      </a:schemeClr>
                    </a:solidFill>
                  </a:tcPr>
                </a:tc>
                <a:extLst>
                  <a:ext uri="{0D108BD9-81ED-4DB2-BD59-A6C34878D82A}">
                    <a16:rowId xmlns:a16="http://schemas.microsoft.com/office/drawing/2014/main" val="10007"/>
                  </a:ext>
                </a:extLst>
              </a:tr>
              <a:tr h="315900">
                <a:tc>
                  <a:txBody>
                    <a:bodyPr/>
                    <a:lstStyle/>
                    <a:p>
                      <a:pPr>
                        <a:lnSpc>
                          <a:spcPct val="100000"/>
                        </a:lnSpc>
                      </a:pPr>
                      <a:r>
                        <a:rPr lang="en-US" sz="1600" dirty="0"/>
                        <a:t>Rainy</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8"/>
                  </a:ext>
                </a:extLst>
              </a:tr>
              <a:tr h="315900">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Rainy</a:t>
                      </a:r>
                    </a:p>
                  </a:txBody>
                  <a:tcPr marL="68580" marR="68580" anchor="ctr"/>
                </a:tc>
                <a:tc>
                  <a:txBody>
                    <a:bodyPr/>
                    <a:lstStyle/>
                    <a:p>
                      <a:pPr>
                        <a:lnSpc>
                          <a:spcPct val="100000"/>
                        </a:lnSpc>
                      </a:pPr>
                      <a:r>
                        <a:rPr lang="en-US" sz="1600" dirty="0"/>
                        <a:t>Cool</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9"/>
                  </a:ext>
                </a:extLst>
              </a:tr>
              <a:tr h="315900">
                <a:tc>
                  <a:txBody>
                    <a:bodyPr/>
                    <a:lstStyle/>
                    <a:p>
                      <a:pPr>
                        <a:lnSpc>
                          <a:spcPct val="100000"/>
                        </a:lnSpc>
                      </a:pPr>
                      <a:r>
                        <a:rPr lang="en-US" sz="1600" dirty="0"/>
                        <a:t>Sunny</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10"/>
                  </a:ext>
                </a:extLst>
              </a:tr>
              <a:tr h="315900">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Rainy</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11"/>
                  </a:ext>
                </a:extLst>
              </a:tr>
              <a:tr h="315900">
                <a:tc>
                  <a:txBody>
                    <a:bodyPr/>
                    <a:lstStyle/>
                    <a:p>
                      <a:pPr>
                        <a:lnSpc>
                          <a:spcPct val="100000"/>
                        </a:lnSpc>
                      </a:pPr>
                      <a:r>
                        <a:rPr lang="en-US" sz="1600" dirty="0"/>
                        <a:t>Overcast</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12"/>
                  </a:ext>
                </a:extLst>
              </a:tr>
              <a:tr h="315900">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Overcast</a:t>
                      </a:r>
                    </a:p>
                  </a:txBody>
                  <a:tcPr marL="68580" marR="68580" anchor="ctr"/>
                </a:tc>
                <a:tc>
                  <a:txBody>
                    <a:bodyPr/>
                    <a:lstStyle/>
                    <a:p>
                      <a:pPr>
                        <a:lnSpc>
                          <a:spcPct val="100000"/>
                        </a:lnSpc>
                      </a:pPr>
                      <a:r>
                        <a:rPr lang="en-US" sz="1600" dirty="0"/>
                        <a:t>Hot</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13"/>
                  </a:ext>
                </a:extLst>
              </a:tr>
              <a:tr h="315900">
                <a:tc>
                  <a:txBody>
                    <a:bodyPr/>
                    <a:lstStyle/>
                    <a:p>
                      <a:pPr>
                        <a:lnSpc>
                          <a:spcPct val="100000"/>
                        </a:lnSpc>
                      </a:pPr>
                      <a:r>
                        <a:rPr lang="en-US" sz="1600" dirty="0"/>
                        <a:t>Sunny</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14"/>
                  </a:ext>
                </a:extLst>
              </a:tr>
            </a:tbl>
          </a:graphicData>
        </a:graphic>
      </p:graphicFrame>
      <p:sp>
        <p:nvSpPr>
          <p:cNvPr id="6" name="TextBox 5"/>
          <p:cNvSpPr txBox="1"/>
          <p:nvPr/>
        </p:nvSpPr>
        <p:spPr>
          <a:xfrm>
            <a:off x="6302829" y="6644843"/>
            <a:ext cx="2815194" cy="246221"/>
          </a:xfrm>
          <a:prstGeom prst="rect">
            <a:avLst/>
          </a:prstGeom>
          <a:noFill/>
        </p:spPr>
        <p:txBody>
          <a:bodyPr wrap="none" rtlCol="0">
            <a:spAutoFit/>
          </a:bodyPr>
          <a:lstStyle/>
          <a:p>
            <a:r>
              <a:rPr lang="en-US" sz="1000" dirty="0"/>
              <a:t>https://www.saedsayad.co/decision_tree.htm</a:t>
            </a:r>
          </a:p>
        </p:txBody>
      </p:sp>
      <p:sp>
        <p:nvSpPr>
          <p:cNvPr id="2" name="Slide Number Placeholder 1"/>
          <p:cNvSpPr>
            <a:spLocks noGrp="1"/>
          </p:cNvSpPr>
          <p:nvPr>
            <p:ph type="sldNum" sz="quarter" idx="12"/>
          </p:nvPr>
        </p:nvSpPr>
        <p:spPr/>
        <p:txBody>
          <a:bodyPr/>
          <a:lstStyle/>
          <a:p>
            <a:pPr>
              <a:defRPr/>
            </a:pPr>
            <a:fld id="{DC454605-094D-467A-98B4-485DD38572BC}" type="slidenum">
              <a:rPr lang="en-US" altLang="en-US" smtClean="0"/>
              <a:pPr>
                <a:defRPr/>
              </a:pPr>
              <a:t>10</a:t>
            </a:fld>
            <a:endParaRPr lang="en-US" altLang="en-US"/>
          </a:p>
        </p:txBody>
      </p:sp>
    </p:spTree>
    <p:extLst>
      <p:ext uri="{BB962C8B-B14F-4D97-AF65-F5344CB8AC3E}">
        <p14:creationId xmlns:p14="http://schemas.microsoft.com/office/powerpoint/2010/main" val="147342384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1026"/>
          <p:cNvSpPr>
            <a:spLocks noGrp="1" noChangeArrowheads="1"/>
          </p:cNvSpPr>
          <p:nvPr>
            <p:ph type="title"/>
          </p:nvPr>
        </p:nvSpPr>
        <p:spPr>
          <a:xfrm>
            <a:off x="471487" y="152400"/>
            <a:ext cx="8151019" cy="762000"/>
          </a:xfrm>
        </p:spPr>
        <p:txBody>
          <a:bodyPr>
            <a:normAutofit fontScale="90000"/>
          </a:bodyPr>
          <a:lstStyle/>
          <a:p>
            <a:r>
              <a:rPr lang="en-US" altLang="en-US" sz="4000" dirty="0"/>
              <a:t>Decision Tree Induction: Algorithm</a:t>
            </a:r>
          </a:p>
        </p:txBody>
      </p:sp>
      <p:sp>
        <p:nvSpPr>
          <p:cNvPr id="13316" name="Rectangle 1027"/>
          <p:cNvSpPr>
            <a:spLocks noGrp="1" noChangeArrowheads="1"/>
          </p:cNvSpPr>
          <p:nvPr>
            <p:ph type="body" idx="1"/>
          </p:nvPr>
        </p:nvSpPr>
        <p:spPr>
          <a:xfrm>
            <a:off x="421481" y="1192306"/>
            <a:ext cx="8201025" cy="5324475"/>
          </a:xfrm>
        </p:spPr>
        <p:txBody>
          <a:bodyPr/>
          <a:lstStyle/>
          <a:p>
            <a:pPr eaLnBrk="1" hangingPunct="1"/>
            <a:r>
              <a:rPr lang="en-US" altLang="en-US" sz="2400" dirty="0"/>
              <a:t>Basic algorithm </a:t>
            </a:r>
          </a:p>
          <a:p>
            <a:pPr lvl="1"/>
            <a:r>
              <a:rPr lang="en-US" altLang="en-US" sz="2400" dirty="0"/>
              <a:t>Tree is constructed in a </a:t>
            </a:r>
            <a:r>
              <a:rPr lang="en-US" altLang="en-US" sz="2400" b="1" dirty="0"/>
              <a:t>top-down, recursive, divide-and-conquer manner</a:t>
            </a:r>
          </a:p>
          <a:p>
            <a:pPr lvl="1" eaLnBrk="1" hangingPunct="1"/>
            <a:r>
              <a:rPr lang="en-US" altLang="en-US" sz="2400" dirty="0"/>
              <a:t>At start, all the training examples are at the root</a:t>
            </a:r>
          </a:p>
          <a:p>
            <a:pPr lvl="1" eaLnBrk="1" hangingPunct="1"/>
            <a:r>
              <a:rPr lang="en-US" altLang="en-US" sz="2400" dirty="0"/>
              <a:t>Examples are partitioned recursively based on selected attributes</a:t>
            </a:r>
          </a:p>
          <a:p>
            <a:pPr lvl="1"/>
            <a:r>
              <a:rPr lang="en-US" altLang="en-US" sz="2400" dirty="0"/>
              <a:t>On each node, attributes are selected based on the training examples on that node, and a heuristic or statistical measure (e.g., </a:t>
            </a:r>
            <a:r>
              <a:rPr lang="en-US" altLang="en-US" sz="2400" b="1" dirty="0"/>
              <a:t>information gain, Gini index</a:t>
            </a:r>
            <a:r>
              <a:rPr lang="en-US" altLang="en-US" sz="2400" dirty="0"/>
              <a:t>)</a:t>
            </a:r>
          </a:p>
          <a:p>
            <a:endParaRPr lang="en-US" altLang="en-US" sz="2400" dirty="0"/>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11</a:t>
            </a:fld>
            <a:endParaRPr lang="en-US" altLang="en-US"/>
          </a:p>
        </p:txBody>
      </p:sp>
    </p:spTree>
    <p:extLst>
      <p:ext uri="{BB962C8B-B14F-4D97-AF65-F5344CB8AC3E}">
        <p14:creationId xmlns:p14="http://schemas.microsoft.com/office/powerpoint/2010/main" val="810804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1026"/>
          <p:cNvSpPr>
            <a:spLocks noGrp="1" noChangeArrowheads="1"/>
          </p:cNvSpPr>
          <p:nvPr>
            <p:ph type="title"/>
          </p:nvPr>
        </p:nvSpPr>
        <p:spPr>
          <a:xfrm>
            <a:off x="471487" y="152400"/>
            <a:ext cx="8151019" cy="762000"/>
          </a:xfrm>
        </p:spPr>
        <p:txBody>
          <a:bodyPr>
            <a:normAutofit fontScale="90000"/>
          </a:bodyPr>
          <a:lstStyle/>
          <a:p>
            <a:r>
              <a:rPr lang="en-US" altLang="en-US" sz="4000" dirty="0"/>
              <a:t>Decision Tree Induction: Algorithm</a:t>
            </a:r>
          </a:p>
        </p:txBody>
      </p:sp>
      <p:sp>
        <p:nvSpPr>
          <p:cNvPr id="13316" name="Rectangle 1027"/>
          <p:cNvSpPr>
            <a:spLocks noGrp="1" noChangeArrowheads="1"/>
          </p:cNvSpPr>
          <p:nvPr>
            <p:ph type="body" idx="1"/>
          </p:nvPr>
        </p:nvSpPr>
        <p:spPr>
          <a:xfrm>
            <a:off x="421481" y="1192306"/>
            <a:ext cx="8201025" cy="5324475"/>
          </a:xfrm>
        </p:spPr>
        <p:txBody>
          <a:bodyPr/>
          <a:lstStyle/>
          <a:p>
            <a:r>
              <a:rPr lang="en-US" altLang="en-US" sz="2400" dirty="0"/>
              <a:t>Conditions for stopping partitioning</a:t>
            </a:r>
          </a:p>
          <a:p>
            <a:pPr lvl="1"/>
            <a:r>
              <a:rPr lang="en-US" altLang="en-US" sz="2400" dirty="0"/>
              <a:t>All samples for a given node belong to the same class</a:t>
            </a:r>
          </a:p>
          <a:p>
            <a:pPr lvl="1"/>
            <a:r>
              <a:rPr lang="en-US" altLang="en-US" sz="2400" dirty="0"/>
              <a:t>There are no remaining attributes for further partitioning </a:t>
            </a:r>
          </a:p>
          <a:p>
            <a:pPr lvl="1"/>
            <a:r>
              <a:rPr lang="en-US" altLang="en-US" sz="2400" dirty="0"/>
              <a:t>There are no samples left</a:t>
            </a:r>
          </a:p>
          <a:p>
            <a:r>
              <a:rPr lang="en-US" altLang="en-US" sz="2400" dirty="0"/>
              <a:t>Prediction</a:t>
            </a:r>
          </a:p>
          <a:p>
            <a:pPr lvl="1"/>
            <a:r>
              <a:rPr lang="en-US" altLang="en-US" sz="2400" b="1" dirty="0"/>
              <a:t>Majority voting </a:t>
            </a:r>
            <a:r>
              <a:rPr lang="en-US" altLang="en-US" sz="2400" dirty="0"/>
              <a:t>is employed for classifying the leaf</a:t>
            </a:r>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12</a:t>
            </a:fld>
            <a:endParaRPr lang="en-US" altLang="en-US"/>
          </a:p>
        </p:txBody>
      </p:sp>
    </p:spTree>
    <p:extLst>
      <p:ext uri="{BB962C8B-B14F-4D97-AF65-F5344CB8AC3E}">
        <p14:creationId xmlns:p14="http://schemas.microsoft.com/office/powerpoint/2010/main" val="80545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t>Decision Tree Based Classification</a:t>
            </a:r>
          </a:p>
        </p:txBody>
      </p:sp>
      <p:sp>
        <p:nvSpPr>
          <p:cNvPr id="60419" name="Rectangle 3"/>
          <p:cNvSpPr>
            <a:spLocks noGrp="1" noChangeArrowheads="1"/>
          </p:cNvSpPr>
          <p:nvPr>
            <p:ph type="body" idx="1"/>
          </p:nvPr>
        </p:nvSpPr>
        <p:spPr/>
        <p:txBody>
          <a:bodyPr/>
          <a:lstStyle/>
          <a:p>
            <a:r>
              <a:rPr lang="en-US" dirty="0"/>
              <a:t>Advantages:</a:t>
            </a:r>
          </a:p>
          <a:p>
            <a:pPr lvl="1"/>
            <a:r>
              <a:rPr lang="en-US" dirty="0"/>
              <a:t>Inexpensive to construct</a:t>
            </a:r>
          </a:p>
          <a:p>
            <a:pPr lvl="1"/>
            <a:r>
              <a:rPr lang="en-US" dirty="0"/>
              <a:t>Extremely fast at classifying unknown records</a:t>
            </a:r>
          </a:p>
          <a:p>
            <a:pPr lvl="1"/>
            <a:r>
              <a:rPr lang="en-US" dirty="0"/>
              <a:t>Easy to interpret for small-sized trees</a:t>
            </a:r>
          </a:p>
          <a:p>
            <a:pPr lvl="1"/>
            <a:r>
              <a:rPr lang="en-US" dirty="0"/>
              <a:t>Accuracy is comparable to other classification techniques for many simple data sets</a:t>
            </a:r>
          </a:p>
          <a:p>
            <a:pPr lvl="1"/>
            <a:endParaRPr lang="en-US" dirty="0"/>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13</a:t>
            </a:fld>
            <a:endParaRPr lang="en-US" altLang="en-US"/>
          </a:p>
        </p:txBody>
      </p:sp>
    </p:spTree>
    <p:extLst>
      <p:ext uri="{BB962C8B-B14F-4D97-AF65-F5344CB8AC3E}">
        <p14:creationId xmlns:p14="http://schemas.microsoft.com/office/powerpoint/2010/main" val="1511601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AFBF0-468D-4585-94E6-54303DBFB816}"/>
              </a:ext>
            </a:extLst>
          </p:cNvPr>
          <p:cNvSpPr>
            <a:spLocks noGrp="1"/>
          </p:cNvSpPr>
          <p:nvPr>
            <p:ph type="title"/>
          </p:nvPr>
        </p:nvSpPr>
        <p:spPr>
          <a:xfrm>
            <a:off x="304800" y="228600"/>
            <a:ext cx="7543800" cy="808038"/>
          </a:xfrm>
        </p:spPr>
        <p:txBody>
          <a:bodyPr/>
          <a:lstStyle/>
          <a:p>
            <a:r>
              <a:rPr lang="en-US" dirty="0"/>
              <a:t>Pro’s and Con’s in Details</a:t>
            </a:r>
          </a:p>
        </p:txBody>
      </p:sp>
      <p:sp>
        <p:nvSpPr>
          <p:cNvPr id="3" name="Content Placeholder 2">
            <a:extLst>
              <a:ext uri="{FF2B5EF4-FFF2-40B4-BE49-F238E27FC236}">
                <a16:creationId xmlns:a16="http://schemas.microsoft.com/office/drawing/2014/main" id="{D934B765-ED53-4460-A470-E03689D52202}"/>
              </a:ext>
            </a:extLst>
          </p:cNvPr>
          <p:cNvSpPr>
            <a:spLocks noGrp="1"/>
          </p:cNvSpPr>
          <p:nvPr>
            <p:ph idx="1"/>
          </p:nvPr>
        </p:nvSpPr>
        <p:spPr>
          <a:xfrm>
            <a:off x="381000" y="1066800"/>
            <a:ext cx="8229600" cy="5486400"/>
          </a:xfrm>
        </p:spPr>
        <p:txBody>
          <a:bodyPr/>
          <a:lstStyle/>
          <a:p>
            <a:r>
              <a:rPr lang="en-US" dirty="0"/>
              <a:t>Pro’s</a:t>
            </a:r>
          </a:p>
          <a:p>
            <a:pPr lvl="1"/>
            <a:r>
              <a:rPr lang="en-US" dirty="0"/>
              <a:t>Easy to explain (even for non-expert)</a:t>
            </a:r>
          </a:p>
          <a:p>
            <a:pPr lvl="1"/>
            <a:r>
              <a:rPr lang="en-US" dirty="0"/>
              <a:t>Easy to implement (many software)</a:t>
            </a:r>
          </a:p>
          <a:p>
            <a:pPr lvl="1"/>
            <a:r>
              <a:rPr lang="en-US" dirty="0"/>
              <a:t>Efficient</a:t>
            </a:r>
          </a:p>
          <a:p>
            <a:pPr lvl="1"/>
            <a:r>
              <a:rPr lang="en-US" dirty="0"/>
              <a:t>Can tolerant missing data</a:t>
            </a:r>
          </a:p>
          <a:p>
            <a:pPr lvl="1"/>
            <a:r>
              <a:rPr lang="en-US" dirty="0"/>
              <a:t>White box</a:t>
            </a:r>
          </a:p>
          <a:p>
            <a:pPr lvl="1"/>
            <a:r>
              <a:rPr lang="en-US" dirty="0"/>
              <a:t>No need to normalize data</a:t>
            </a:r>
          </a:p>
          <a:p>
            <a:pPr lvl="1"/>
            <a:r>
              <a:rPr lang="en-US" dirty="0"/>
              <a:t>Non-parametric: No assumption on data distribution, no assumption on attribute independency</a:t>
            </a:r>
          </a:p>
          <a:p>
            <a:pPr lvl="1"/>
            <a:r>
              <a:rPr lang="en-US" dirty="0"/>
              <a:t>Can work on various attribute types</a:t>
            </a:r>
          </a:p>
        </p:txBody>
      </p:sp>
      <p:sp>
        <p:nvSpPr>
          <p:cNvPr id="4" name="Slide Number Placeholder 3"/>
          <p:cNvSpPr>
            <a:spLocks noGrp="1"/>
          </p:cNvSpPr>
          <p:nvPr>
            <p:ph type="sldNum" sz="quarter" idx="12"/>
          </p:nvPr>
        </p:nvSpPr>
        <p:spPr/>
        <p:txBody>
          <a:bodyPr/>
          <a:lstStyle/>
          <a:p>
            <a:pPr>
              <a:defRPr/>
            </a:pPr>
            <a:fld id="{D3D212DC-59E6-444E-AD7D-AB217D4E4668}" type="slidenum">
              <a:rPr lang="en-US" altLang="en-US" smtClean="0"/>
              <a:pPr>
                <a:defRPr/>
              </a:pPr>
              <a:t>14</a:t>
            </a:fld>
            <a:endParaRPr lang="en-US" altLang="en-US"/>
          </a:p>
        </p:txBody>
      </p:sp>
    </p:spTree>
    <p:extLst>
      <p:ext uri="{BB962C8B-B14F-4D97-AF65-F5344CB8AC3E}">
        <p14:creationId xmlns:p14="http://schemas.microsoft.com/office/powerpoint/2010/main" val="1205770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F2E7E-B4D2-431F-8F89-749E10EAF003}"/>
              </a:ext>
            </a:extLst>
          </p:cNvPr>
          <p:cNvSpPr>
            <a:spLocks noGrp="1"/>
          </p:cNvSpPr>
          <p:nvPr>
            <p:ph type="title"/>
          </p:nvPr>
        </p:nvSpPr>
        <p:spPr>
          <a:xfrm>
            <a:off x="381000" y="304800"/>
            <a:ext cx="7543800" cy="884238"/>
          </a:xfrm>
        </p:spPr>
        <p:txBody>
          <a:bodyPr/>
          <a:lstStyle/>
          <a:p>
            <a:r>
              <a:rPr lang="en-US" dirty="0"/>
              <a:t>Con’s</a:t>
            </a:r>
          </a:p>
        </p:txBody>
      </p:sp>
      <p:sp>
        <p:nvSpPr>
          <p:cNvPr id="3" name="Content Placeholder 2">
            <a:extLst>
              <a:ext uri="{FF2B5EF4-FFF2-40B4-BE49-F238E27FC236}">
                <a16:creationId xmlns:a16="http://schemas.microsoft.com/office/drawing/2014/main" id="{E9D71E08-5F52-460D-AB2B-FA2C1235027D}"/>
              </a:ext>
            </a:extLst>
          </p:cNvPr>
          <p:cNvSpPr>
            <a:spLocks noGrp="1"/>
          </p:cNvSpPr>
          <p:nvPr>
            <p:ph idx="1"/>
          </p:nvPr>
        </p:nvSpPr>
        <p:spPr>
          <a:xfrm>
            <a:off x="381000" y="1295400"/>
            <a:ext cx="8229600" cy="1938337"/>
          </a:xfrm>
        </p:spPr>
        <p:txBody>
          <a:bodyPr/>
          <a:lstStyle/>
          <a:p>
            <a:r>
              <a:rPr lang="en-US" sz="1800" dirty="0"/>
              <a:t>Con’s</a:t>
            </a:r>
          </a:p>
          <a:p>
            <a:pPr lvl="1"/>
            <a:r>
              <a:rPr lang="en-US" sz="1800" dirty="0"/>
              <a:t>Unstable. Sensitive to noise</a:t>
            </a:r>
          </a:p>
          <a:p>
            <a:pPr lvl="1"/>
            <a:r>
              <a:rPr lang="en-US" sz="1800" dirty="0"/>
              <a:t>Accuracy may be not good enough (depending on your data)</a:t>
            </a:r>
          </a:p>
          <a:p>
            <a:pPr lvl="1"/>
            <a:r>
              <a:rPr lang="en-US" sz="1800" dirty="0"/>
              <a:t>The optimal splitting is NP. Greedy algorithms are used</a:t>
            </a:r>
          </a:p>
          <a:p>
            <a:pPr lvl="1"/>
            <a:r>
              <a:rPr lang="en-US" sz="1800" dirty="0"/>
              <a:t>Overfitting  </a:t>
            </a:r>
          </a:p>
          <a:p>
            <a:pPr lvl="1"/>
            <a:endParaRPr lang="en-US" dirty="0"/>
          </a:p>
        </p:txBody>
      </p:sp>
      <p:pic>
        <p:nvPicPr>
          <p:cNvPr id="5" name="Picture 4">
            <a:extLst>
              <a:ext uri="{FF2B5EF4-FFF2-40B4-BE49-F238E27FC236}">
                <a16:creationId xmlns:a16="http://schemas.microsoft.com/office/drawing/2014/main" id="{42F751EC-6D51-411A-BF31-0DE351FC6AFD}"/>
              </a:ext>
            </a:extLst>
          </p:cNvPr>
          <p:cNvPicPr>
            <a:picLocks noChangeAspect="1"/>
          </p:cNvPicPr>
          <p:nvPr/>
        </p:nvPicPr>
        <p:blipFill>
          <a:blip r:embed="rId3"/>
          <a:stretch>
            <a:fillRect/>
          </a:stretch>
        </p:blipFill>
        <p:spPr>
          <a:xfrm>
            <a:off x="2052084" y="3495154"/>
            <a:ext cx="2405398" cy="3053838"/>
          </a:xfrm>
          <a:prstGeom prst="rect">
            <a:avLst/>
          </a:prstGeom>
        </p:spPr>
      </p:pic>
      <p:pic>
        <p:nvPicPr>
          <p:cNvPr id="7" name="Picture 6">
            <a:extLst>
              <a:ext uri="{FF2B5EF4-FFF2-40B4-BE49-F238E27FC236}">
                <a16:creationId xmlns:a16="http://schemas.microsoft.com/office/drawing/2014/main" id="{D608F46E-47A1-4301-BC18-E15ACF10D432}"/>
              </a:ext>
            </a:extLst>
          </p:cNvPr>
          <p:cNvPicPr>
            <a:picLocks noChangeAspect="1"/>
          </p:cNvPicPr>
          <p:nvPr/>
        </p:nvPicPr>
        <p:blipFill>
          <a:blip r:embed="rId4"/>
          <a:stretch>
            <a:fillRect/>
          </a:stretch>
        </p:blipFill>
        <p:spPr>
          <a:xfrm>
            <a:off x="4819448" y="3470912"/>
            <a:ext cx="2448051" cy="3137061"/>
          </a:xfrm>
          <a:prstGeom prst="rect">
            <a:avLst/>
          </a:prstGeom>
        </p:spPr>
      </p:pic>
      <p:sp>
        <p:nvSpPr>
          <p:cNvPr id="4" name="Slide Number Placeholder 3"/>
          <p:cNvSpPr>
            <a:spLocks noGrp="1"/>
          </p:cNvSpPr>
          <p:nvPr>
            <p:ph type="sldNum" sz="quarter" idx="12"/>
          </p:nvPr>
        </p:nvSpPr>
        <p:spPr/>
        <p:txBody>
          <a:bodyPr/>
          <a:lstStyle/>
          <a:p>
            <a:pPr>
              <a:defRPr/>
            </a:pPr>
            <a:fld id="{D3D212DC-59E6-444E-AD7D-AB217D4E4668}" type="slidenum">
              <a:rPr lang="en-US" altLang="en-US" smtClean="0"/>
              <a:pPr>
                <a:defRPr/>
              </a:pPr>
              <a:t>15</a:t>
            </a:fld>
            <a:endParaRPr lang="en-US" altLang="en-US"/>
          </a:p>
        </p:txBody>
      </p:sp>
    </p:spTree>
    <p:extLst>
      <p:ext uri="{BB962C8B-B14F-4D97-AF65-F5344CB8AC3E}">
        <p14:creationId xmlns:p14="http://schemas.microsoft.com/office/powerpoint/2010/main" val="1129830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4000" dirty="0"/>
              <a:t>Splitting Measures: Information Gain</a:t>
            </a:r>
            <a:endParaRPr lang="en-US" sz="4000" dirty="0"/>
          </a:p>
        </p:txBody>
      </p:sp>
      <p:sp>
        <p:nvSpPr>
          <p:cNvPr id="3" name="Content Placeholder 2"/>
          <p:cNvSpPr>
            <a:spLocks noGrp="1"/>
          </p:cNvSpPr>
          <p:nvPr>
            <p:ph idx="1"/>
          </p:nvPr>
        </p:nvSpPr>
        <p:spPr>
          <a:xfrm>
            <a:off x="441831" y="1171575"/>
            <a:ext cx="8466373" cy="5384800"/>
          </a:xfrm>
        </p:spPr>
        <p:txBody>
          <a:bodyPr/>
          <a:lstStyle/>
          <a:p>
            <a:r>
              <a:rPr lang="en-US" sz="1800" dirty="0"/>
              <a:t>Entropy (Information Theory)</a:t>
            </a:r>
          </a:p>
          <a:p>
            <a:pPr lvl="1"/>
            <a:r>
              <a:rPr lang="en-US" sz="1800" dirty="0"/>
              <a:t>A measure of uncertainty associated with a random number</a:t>
            </a:r>
          </a:p>
          <a:p>
            <a:pPr lvl="1"/>
            <a:r>
              <a:rPr lang="en-US" sz="1800" dirty="0"/>
              <a:t>Calculation:  For a discrete random variable Y taking m distinct values {y</a:t>
            </a:r>
            <a:r>
              <a:rPr lang="en-US" sz="1800" baseline="-25000" dirty="0"/>
              <a:t>1</a:t>
            </a:r>
            <a:r>
              <a:rPr lang="en-US" sz="1800" dirty="0"/>
              <a:t>, y</a:t>
            </a:r>
            <a:r>
              <a:rPr lang="en-US" sz="1800" baseline="-25000" dirty="0"/>
              <a:t>2</a:t>
            </a:r>
            <a:r>
              <a:rPr lang="en-US" sz="1800" dirty="0"/>
              <a:t>, …, </a:t>
            </a:r>
            <a:r>
              <a:rPr lang="en-US" sz="1800" dirty="0" err="1"/>
              <a:t>y</a:t>
            </a:r>
            <a:r>
              <a:rPr lang="en-US" sz="1800" baseline="-25000" dirty="0" err="1"/>
              <a:t>m</a:t>
            </a:r>
            <a:r>
              <a:rPr lang="en-US" sz="1800" dirty="0"/>
              <a:t>}</a:t>
            </a:r>
          </a:p>
          <a:p>
            <a:pPr lvl="1"/>
            <a:endParaRPr lang="en-US" sz="2000" dirty="0"/>
          </a:p>
          <a:p>
            <a:pPr lvl="1"/>
            <a:endParaRPr lang="en-US" sz="2000" dirty="0"/>
          </a:p>
          <a:p>
            <a:pPr lvl="1"/>
            <a:endParaRPr lang="en-US" sz="2000" dirty="0"/>
          </a:p>
          <a:p>
            <a:pPr lvl="1"/>
            <a:r>
              <a:rPr lang="en-US" sz="1800" dirty="0"/>
              <a:t>Interpretation</a:t>
            </a:r>
          </a:p>
          <a:p>
            <a:pPr lvl="2"/>
            <a:r>
              <a:rPr lang="en-US" sz="1800" dirty="0"/>
              <a:t>Higher entropy </a:t>
            </a:r>
            <a:r>
              <a:rPr lang="en-US" sz="1800" dirty="0">
                <a:latin typeface="Calibri" panose="020F0502020204030204" pitchFamily="34" charset="0"/>
              </a:rPr>
              <a:t>→ higher uncertainty</a:t>
            </a:r>
          </a:p>
          <a:p>
            <a:pPr lvl="2"/>
            <a:r>
              <a:rPr lang="en-US" sz="1800" dirty="0"/>
              <a:t>Lower entropy </a:t>
            </a:r>
            <a:r>
              <a:rPr lang="en-US" sz="1800" dirty="0">
                <a:latin typeface="Calibri" panose="020F0502020204030204" pitchFamily="34" charset="0"/>
              </a:rPr>
              <a:t>→ lower uncertainty</a:t>
            </a:r>
            <a:endParaRPr lang="en-US" sz="1800" dirty="0"/>
          </a:p>
          <a:p>
            <a:r>
              <a:rPr lang="en-US" sz="1800" dirty="0"/>
              <a:t>Conditional entropy</a:t>
            </a:r>
          </a:p>
        </p:txBody>
      </p:sp>
      <p:pic>
        <p:nvPicPr>
          <p:cNvPr id="74754" name="Picture 2" descr="Image result for entrop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2600" y="3124200"/>
            <a:ext cx="2947936" cy="291458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838200" y="2518884"/>
            <a:ext cx="5715000" cy="970496"/>
          </a:xfrm>
          <a:prstGeom prst="rect">
            <a:avLst/>
          </a:prstGeom>
        </p:spPr>
      </p:pic>
      <p:pic>
        <p:nvPicPr>
          <p:cNvPr id="5" name="Picture 4"/>
          <p:cNvPicPr>
            <a:picLocks noChangeAspect="1"/>
          </p:cNvPicPr>
          <p:nvPr/>
        </p:nvPicPr>
        <p:blipFill>
          <a:blip r:embed="rId5"/>
          <a:stretch>
            <a:fillRect/>
          </a:stretch>
        </p:blipFill>
        <p:spPr>
          <a:xfrm>
            <a:off x="1219200" y="5105400"/>
            <a:ext cx="4131469" cy="902235"/>
          </a:xfrm>
          <a:prstGeom prst="rect">
            <a:avLst/>
          </a:prstGeom>
        </p:spPr>
      </p:pic>
      <p:sp>
        <p:nvSpPr>
          <p:cNvPr id="7" name="TextBox 4"/>
          <p:cNvSpPr txBox="1">
            <a:spLocks noChangeArrowheads="1"/>
          </p:cNvSpPr>
          <p:nvPr/>
        </p:nvSpPr>
        <p:spPr bwMode="auto">
          <a:xfrm>
            <a:off x="7358063" y="6083532"/>
            <a:ext cx="801823" cy="338554"/>
          </a:xfrm>
          <a:prstGeom prst="rect">
            <a:avLst/>
          </a:prstGeom>
          <a:solidFill>
            <a:srgbClr val="FFFF00"/>
          </a:solidFill>
          <a:ln>
            <a:noFill/>
          </a:ln>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Calibri" panose="020F050202020403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defRPr>
            </a:lvl9pPr>
          </a:lstStyle>
          <a:p>
            <a:pPr eaLnBrk="1" hangingPunct="1">
              <a:spcBef>
                <a:spcPct val="0"/>
              </a:spcBef>
              <a:buClrTx/>
              <a:buSzTx/>
              <a:buFontTx/>
              <a:buNone/>
            </a:pPr>
            <a:r>
              <a:rPr lang="en-US" altLang="en-US" sz="1600" b="1" dirty="0">
                <a:latin typeface="Tahoma" panose="020B0604030504040204" pitchFamily="34" charset="0"/>
              </a:rPr>
              <a:t>m = 2</a:t>
            </a:r>
          </a:p>
        </p:txBody>
      </p:sp>
      <p:sp>
        <p:nvSpPr>
          <p:cNvPr id="6" name="Slide Number Placeholder 5"/>
          <p:cNvSpPr>
            <a:spLocks noGrp="1"/>
          </p:cNvSpPr>
          <p:nvPr>
            <p:ph type="sldNum" sz="quarter" idx="12"/>
          </p:nvPr>
        </p:nvSpPr>
        <p:spPr/>
        <p:txBody>
          <a:bodyPr/>
          <a:lstStyle/>
          <a:p>
            <a:pPr>
              <a:defRPr/>
            </a:pPr>
            <a:fld id="{D3D212DC-59E6-444E-AD7D-AB217D4E4668}" type="slidenum">
              <a:rPr lang="en-US" altLang="en-US" smtClean="0"/>
              <a:pPr>
                <a:defRPr/>
              </a:pPr>
              <a:t>16</a:t>
            </a:fld>
            <a:endParaRPr lang="en-US" altLang="en-US"/>
          </a:p>
        </p:txBody>
      </p:sp>
    </p:spTree>
    <p:extLst>
      <p:ext uri="{BB962C8B-B14F-4D97-AF65-F5344CB8AC3E}">
        <p14:creationId xmlns:p14="http://schemas.microsoft.com/office/powerpoint/2010/main" val="2784653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0" y="47547"/>
            <a:ext cx="9144000" cy="943053"/>
          </a:xfrm>
        </p:spPr>
        <p:txBody>
          <a:bodyPr>
            <a:noAutofit/>
          </a:bodyPr>
          <a:lstStyle/>
          <a:p>
            <a:pPr eaLnBrk="1" hangingPunct="1"/>
            <a:r>
              <a:rPr lang="en-US" altLang="en-US" sz="3600" dirty="0"/>
              <a:t>Example: Attribute Selection with Information Gain</a:t>
            </a:r>
          </a:p>
        </p:txBody>
      </p:sp>
      <p:graphicFrame>
        <p:nvGraphicFramePr>
          <p:cNvPr id="13" name="Table 12">
            <a:extLst>
              <a:ext uri="{FF2B5EF4-FFF2-40B4-BE49-F238E27FC236}">
                <a16:creationId xmlns:a16="http://schemas.microsoft.com/office/drawing/2014/main" id="{7255DB3D-81CE-0A44-B720-EE95960827D5}"/>
              </a:ext>
            </a:extLst>
          </p:cNvPr>
          <p:cNvGraphicFramePr>
            <a:graphicFrameLocks noGrp="1"/>
          </p:cNvGraphicFramePr>
          <p:nvPr>
            <p:extLst>
              <p:ext uri="{D42A27DB-BD31-4B8C-83A1-F6EECF244321}">
                <p14:modId xmlns:p14="http://schemas.microsoft.com/office/powerpoint/2010/main" val="1801245981"/>
              </p:ext>
            </p:extLst>
          </p:nvPr>
        </p:nvGraphicFramePr>
        <p:xfrm>
          <a:off x="4572000" y="2209800"/>
          <a:ext cx="2743200" cy="1371600"/>
        </p:xfrm>
        <a:graphic>
          <a:graphicData uri="http://schemas.openxmlformats.org/drawingml/2006/table">
            <a:tbl>
              <a:tblPr firstRow="1" bandRow="1">
                <a:tableStyleId>{2D5ABB26-0587-4C30-8999-92F81FD0307C}</a:tableStyleId>
              </a:tblPr>
              <a:tblGrid>
                <a:gridCol w="624623">
                  <a:extLst>
                    <a:ext uri="{9D8B030D-6E8A-4147-A177-3AD203B41FA5}">
                      <a16:colId xmlns:a16="http://schemas.microsoft.com/office/drawing/2014/main" val="3189156840"/>
                    </a:ext>
                  </a:extLst>
                </a:gridCol>
                <a:gridCol w="673396">
                  <a:extLst>
                    <a:ext uri="{9D8B030D-6E8A-4147-A177-3AD203B41FA5}">
                      <a16:colId xmlns:a16="http://schemas.microsoft.com/office/drawing/2014/main" val="713696415"/>
                    </a:ext>
                  </a:extLst>
                </a:gridCol>
                <a:gridCol w="602086">
                  <a:extLst>
                    <a:ext uri="{9D8B030D-6E8A-4147-A177-3AD203B41FA5}">
                      <a16:colId xmlns:a16="http://schemas.microsoft.com/office/drawing/2014/main" val="265858083"/>
                    </a:ext>
                  </a:extLst>
                </a:gridCol>
                <a:gridCol w="843095">
                  <a:extLst>
                    <a:ext uri="{9D8B030D-6E8A-4147-A177-3AD203B41FA5}">
                      <a16:colId xmlns:a16="http://schemas.microsoft.com/office/drawing/2014/main" val="1676482580"/>
                    </a:ext>
                  </a:extLst>
                </a:gridCol>
              </a:tblGrid>
              <a:tr h="195779">
                <a:tc>
                  <a:txBody>
                    <a:bodyPr/>
                    <a:lstStyle/>
                    <a:p>
                      <a:pPr algn="ctr"/>
                      <a:r>
                        <a:rPr lang="en-US" altLang="zh-CN" sz="1800" b="1" dirty="0">
                          <a:solidFill>
                            <a:schemeClr val="bg1"/>
                          </a:solidFill>
                        </a:rPr>
                        <a:t>Temp</a:t>
                      </a:r>
                      <a:endParaRPr lang="en-US" sz="1800" b="1" dirty="0">
                        <a:solidFill>
                          <a:schemeClr val="bg1"/>
                        </a:solidFill>
                      </a:endParaRP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800" b="1" dirty="0">
                          <a:solidFill>
                            <a:schemeClr val="bg1"/>
                          </a:solidFill>
                        </a:rPr>
                        <a:t>Yes</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800" b="1" dirty="0">
                          <a:solidFill>
                            <a:schemeClr val="bg1"/>
                          </a:solidFill>
                        </a:rPr>
                        <a:t>No</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800" b="1" dirty="0">
                          <a:solidFill>
                            <a:schemeClr val="bg1"/>
                          </a:solidFill>
                        </a:rPr>
                        <a:t>I(Yes,</a:t>
                      </a:r>
                      <a:r>
                        <a:rPr lang="en-US" sz="1800" b="1" baseline="0" dirty="0">
                          <a:solidFill>
                            <a:schemeClr val="bg1"/>
                          </a:solidFill>
                        </a:rPr>
                        <a:t> No)</a:t>
                      </a:r>
                      <a:endParaRPr lang="en-US" sz="1800" b="1" dirty="0">
                        <a:solidFill>
                          <a:schemeClr val="bg1"/>
                        </a:solidFill>
                      </a:endParaRP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495440297"/>
                  </a:ext>
                </a:extLst>
              </a:tr>
              <a:tr h="255526">
                <a:tc>
                  <a:txBody>
                    <a:bodyPr/>
                    <a:lstStyle/>
                    <a:p>
                      <a:pPr algn="ctr"/>
                      <a:r>
                        <a:rPr lang="en-US" sz="1800" dirty="0"/>
                        <a:t>Hot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800" dirty="0"/>
                        <a:t>2</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800" dirty="0"/>
                        <a:t>2</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800" dirty="0"/>
                        <a: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3622029562"/>
                  </a:ext>
                </a:extLst>
              </a:tr>
              <a:tr h="255526">
                <a:tc>
                  <a:txBody>
                    <a:bodyPr/>
                    <a:lstStyle/>
                    <a:p>
                      <a:pPr algn="ctr"/>
                      <a:r>
                        <a:rPr lang="en-US" sz="1800" dirty="0"/>
                        <a:t>Mild</a:t>
                      </a:r>
                    </a:p>
                  </a:txBody>
                  <a:tcPr marL="0" marR="0" marT="0" marB="0" anchor="ctr">
                    <a:solidFill>
                      <a:schemeClr val="tx2">
                        <a:lumMod val="20000"/>
                        <a:lumOff val="80000"/>
                      </a:schemeClr>
                    </a:solidFill>
                  </a:tcPr>
                </a:tc>
                <a:tc>
                  <a:txBody>
                    <a:bodyPr/>
                    <a:lstStyle/>
                    <a:p>
                      <a:pPr algn="ctr"/>
                      <a:r>
                        <a:rPr lang="en-US" sz="1800" dirty="0"/>
                        <a:t>4</a:t>
                      </a:r>
                    </a:p>
                  </a:txBody>
                  <a:tcPr marL="0" marR="0" marT="0" marB="0" anchor="ctr">
                    <a:solidFill>
                      <a:schemeClr val="tx2">
                        <a:lumMod val="20000"/>
                        <a:lumOff val="80000"/>
                      </a:schemeClr>
                    </a:solidFill>
                  </a:tcPr>
                </a:tc>
                <a:tc>
                  <a:txBody>
                    <a:bodyPr/>
                    <a:lstStyle/>
                    <a:p>
                      <a:pPr algn="ctr"/>
                      <a:r>
                        <a:rPr lang="en-US" sz="1800" dirty="0"/>
                        <a:t>2</a:t>
                      </a:r>
                    </a:p>
                  </a:txBody>
                  <a:tcPr marL="0" marR="0" marT="0" marB="0" anchor="ctr">
                    <a:solidFill>
                      <a:schemeClr val="tx2">
                        <a:lumMod val="20000"/>
                        <a:lumOff val="80000"/>
                      </a:schemeClr>
                    </a:solidFill>
                  </a:tcPr>
                </a:tc>
                <a:tc>
                  <a:txBody>
                    <a:bodyPr/>
                    <a:lstStyle/>
                    <a:p>
                      <a:pPr algn="ctr"/>
                      <a:r>
                        <a:rPr lang="en-US" sz="1800" dirty="0"/>
                        <a:t>?</a:t>
                      </a:r>
                    </a:p>
                  </a:txBody>
                  <a:tcPr marL="0" marR="0" marT="0" marB="0" anchor="ctr">
                    <a:solidFill>
                      <a:schemeClr val="tx2">
                        <a:lumMod val="20000"/>
                        <a:lumOff val="80000"/>
                      </a:schemeClr>
                    </a:solidFill>
                  </a:tcPr>
                </a:tc>
                <a:extLst>
                  <a:ext uri="{0D108BD9-81ED-4DB2-BD59-A6C34878D82A}">
                    <a16:rowId xmlns:a16="http://schemas.microsoft.com/office/drawing/2014/main" val="177184903"/>
                  </a:ext>
                </a:extLst>
              </a:tr>
              <a:tr h="255526">
                <a:tc>
                  <a:txBody>
                    <a:bodyPr/>
                    <a:lstStyle/>
                    <a:p>
                      <a:pPr algn="ctr"/>
                      <a:r>
                        <a:rPr lang="en-US" sz="1800" dirty="0"/>
                        <a:t>Cool</a:t>
                      </a:r>
                    </a:p>
                  </a:txBody>
                  <a:tcPr marL="0" marR="0" marT="0" marB="0" anchor="ctr">
                    <a:solidFill>
                      <a:schemeClr val="tx2">
                        <a:lumMod val="20000"/>
                        <a:lumOff val="80000"/>
                      </a:schemeClr>
                    </a:solidFill>
                  </a:tcPr>
                </a:tc>
                <a:tc>
                  <a:txBody>
                    <a:bodyPr/>
                    <a:lstStyle/>
                    <a:p>
                      <a:pPr algn="ctr"/>
                      <a:r>
                        <a:rPr lang="en-US" sz="1800" dirty="0"/>
                        <a:t>3</a:t>
                      </a:r>
                    </a:p>
                  </a:txBody>
                  <a:tcPr marL="0" marR="0" marT="0" marB="0" anchor="ctr">
                    <a:solidFill>
                      <a:schemeClr val="tx2">
                        <a:lumMod val="20000"/>
                        <a:lumOff val="80000"/>
                      </a:schemeClr>
                    </a:solidFill>
                  </a:tcPr>
                </a:tc>
                <a:tc>
                  <a:txBody>
                    <a:bodyPr/>
                    <a:lstStyle/>
                    <a:p>
                      <a:pPr algn="ctr"/>
                      <a:r>
                        <a:rPr lang="en-US" sz="1800" dirty="0"/>
                        <a:t>1</a:t>
                      </a:r>
                    </a:p>
                  </a:txBody>
                  <a:tcPr marL="0" marR="0" marT="0" marB="0" anchor="ctr">
                    <a:solidFill>
                      <a:schemeClr val="tx2">
                        <a:lumMod val="20000"/>
                        <a:lumOff val="80000"/>
                      </a:schemeClr>
                    </a:solidFill>
                  </a:tcPr>
                </a:tc>
                <a:tc>
                  <a:txBody>
                    <a:bodyPr/>
                    <a:lstStyle/>
                    <a:p>
                      <a:pPr algn="ctr"/>
                      <a:r>
                        <a:rPr lang="en-US" sz="1800" dirty="0"/>
                        <a:t>?</a:t>
                      </a:r>
                    </a:p>
                  </a:txBody>
                  <a:tcPr marL="0" marR="0" marT="0" marB="0" anchor="ctr">
                    <a:solidFill>
                      <a:schemeClr val="tx2">
                        <a:lumMod val="20000"/>
                        <a:lumOff val="80000"/>
                      </a:schemeClr>
                    </a:solidFill>
                  </a:tcPr>
                </a:tc>
                <a:extLst>
                  <a:ext uri="{0D108BD9-81ED-4DB2-BD59-A6C34878D82A}">
                    <a16:rowId xmlns:a16="http://schemas.microsoft.com/office/drawing/2014/main" val="3226009038"/>
                  </a:ext>
                </a:extLst>
              </a:tr>
            </a:tbl>
          </a:graphicData>
        </a:graphic>
      </p:graphicFrame>
      <p:graphicFrame>
        <p:nvGraphicFramePr>
          <p:cNvPr id="21" name="Table 20">
            <a:extLst>
              <a:ext uri="{FF2B5EF4-FFF2-40B4-BE49-F238E27FC236}">
                <a16:creationId xmlns:a16="http://schemas.microsoft.com/office/drawing/2014/main" id="{4CB5F134-5AE7-4A68-8A28-E9890D2610FB}"/>
              </a:ext>
            </a:extLst>
          </p:cNvPr>
          <p:cNvGraphicFramePr>
            <a:graphicFrameLocks noGrp="1"/>
          </p:cNvGraphicFramePr>
          <p:nvPr>
            <p:extLst>
              <p:ext uri="{D42A27DB-BD31-4B8C-83A1-F6EECF244321}">
                <p14:modId xmlns:p14="http://schemas.microsoft.com/office/powerpoint/2010/main" val="2031786435"/>
              </p:ext>
            </p:extLst>
          </p:nvPr>
        </p:nvGraphicFramePr>
        <p:xfrm>
          <a:off x="4419600" y="5257800"/>
          <a:ext cx="2896620" cy="1371600"/>
        </p:xfrm>
        <a:graphic>
          <a:graphicData uri="http://schemas.openxmlformats.org/drawingml/2006/table">
            <a:tbl>
              <a:tblPr firstRow="1" bandRow="1">
                <a:tableStyleId>{2D5ABB26-0587-4C30-8999-92F81FD0307C}</a:tableStyleId>
              </a:tblPr>
              <a:tblGrid>
                <a:gridCol w="660837">
                  <a:extLst>
                    <a:ext uri="{9D8B030D-6E8A-4147-A177-3AD203B41FA5}">
                      <a16:colId xmlns:a16="http://schemas.microsoft.com/office/drawing/2014/main" val="3189156840"/>
                    </a:ext>
                  </a:extLst>
                </a:gridCol>
                <a:gridCol w="712438">
                  <a:extLst>
                    <a:ext uri="{9D8B030D-6E8A-4147-A177-3AD203B41FA5}">
                      <a16:colId xmlns:a16="http://schemas.microsoft.com/office/drawing/2014/main" val="713696415"/>
                    </a:ext>
                  </a:extLst>
                </a:gridCol>
                <a:gridCol w="636993">
                  <a:extLst>
                    <a:ext uri="{9D8B030D-6E8A-4147-A177-3AD203B41FA5}">
                      <a16:colId xmlns:a16="http://schemas.microsoft.com/office/drawing/2014/main" val="265858083"/>
                    </a:ext>
                  </a:extLst>
                </a:gridCol>
                <a:gridCol w="886352">
                  <a:extLst>
                    <a:ext uri="{9D8B030D-6E8A-4147-A177-3AD203B41FA5}">
                      <a16:colId xmlns:a16="http://schemas.microsoft.com/office/drawing/2014/main" val="1676482580"/>
                    </a:ext>
                  </a:extLst>
                </a:gridCol>
              </a:tblGrid>
              <a:tr h="0">
                <a:tc>
                  <a:txBody>
                    <a:bodyPr/>
                    <a:lstStyle/>
                    <a:p>
                      <a:pPr algn="ctr"/>
                      <a:r>
                        <a:rPr lang="en-US" sz="1800" b="1" dirty="0">
                          <a:solidFill>
                            <a:schemeClr val="bg1"/>
                          </a:solidFill>
                        </a:rPr>
                        <a:t>Humidity</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800" b="1" dirty="0">
                          <a:solidFill>
                            <a:schemeClr val="bg1"/>
                          </a:solidFill>
                        </a:rPr>
                        <a:t>Yes</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800" b="1" dirty="0">
                          <a:solidFill>
                            <a:schemeClr val="bg1"/>
                          </a:solidFill>
                        </a:rPr>
                        <a:t>No</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800" b="1" dirty="0">
                          <a:solidFill>
                            <a:schemeClr val="bg1"/>
                          </a:solidFill>
                        </a:rPr>
                        <a:t>I(Yes,</a:t>
                      </a:r>
                      <a:r>
                        <a:rPr lang="en-US" sz="1800" b="1" baseline="0" dirty="0">
                          <a:solidFill>
                            <a:schemeClr val="bg1"/>
                          </a:solidFill>
                        </a:rPr>
                        <a:t> No)</a:t>
                      </a:r>
                      <a:endParaRPr lang="en-US" sz="1800" b="1" dirty="0">
                        <a:solidFill>
                          <a:schemeClr val="bg1"/>
                        </a:solidFill>
                      </a:endParaRP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495440297"/>
                  </a:ext>
                </a:extLst>
              </a:tr>
              <a:tr h="255526">
                <a:tc>
                  <a:txBody>
                    <a:bodyPr/>
                    <a:lstStyle/>
                    <a:p>
                      <a:pPr algn="ctr"/>
                      <a:r>
                        <a:rPr lang="en-US" sz="1800" dirty="0"/>
                        <a:t>Normal</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800" dirty="0"/>
                        <a:t>6</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800" dirty="0"/>
                        <a:t>1</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800" dirty="0"/>
                        <a: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3622029562"/>
                  </a:ext>
                </a:extLst>
              </a:tr>
              <a:tr h="255526">
                <a:tc>
                  <a:txBody>
                    <a:bodyPr/>
                    <a:lstStyle/>
                    <a:p>
                      <a:pPr algn="ctr"/>
                      <a:r>
                        <a:rPr lang="en-US" sz="1800" dirty="0"/>
                        <a:t>High</a:t>
                      </a:r>
                    </a:p>
                  </a:txBody>
                  <a:tcPr marL="0" marR="0" marT="0" marB="0" anchor="ctr">
                    <a:solidFill>
                      <a:schemeClr val="tx2">
                        <a:lumMod val="20000"/>
                        <a:lumOff val="80000"/>
                      </a:schemeClr>
                    </a:solidFill>
                  </a:tcPr>
                </a:tc>
                <a:tc>
                  <a:txBody>
                    <a:bodyPr/>
                    <a:lstStyle/>
                    <a:p>
                      <a:pPr algn="ctr"/>
                      <a:r>
                        <a:rPr lang="en-US" sz="1800" dirty="0"/>
                        <a:t>3</a:t>
                      </a:r>
                    </a:p>
                  </a:txBody>
                  <a:tcPr marL="0" marR="0" marT="0" marB="0" anchor="ctr">
                    <a:solidFill>
                      <a:schemeClr val="tx2">
                        <a:lumMod val="20000"/>
                        <a:lumOff val="80000"/>
                      </a:schemeClr>
                    </a:solidFill>
                  </a:tcPr>
                </a:tc>
                <a:tc>
                  <a:txBody>
                    <a:bodyPr/>
                    <a:lstStyle/>
                    <a:p>
                      <a:pPr algn="ctr"/>
                      <a:r>
                        <a:rPr lang="en-US" sz="1800" dirty="0"/>
                        <a:t>4</a:t>
                      </a:r>
                    </a:p>
                  </a:txBody>
                  <a:tcPr marL="0" marR="0" marT="0" marB="0" anchor="ctr">
                    <a:solidFill>
                      <a:schemeClr val="tx2">
                        <a:lumMod val="20000"/>
                        <a:lumOff val="80000"/>
                      </a:schemeClr>
                    </a:solidFill>
                  </a:tcPr>
                </a:tc>
                <a:tc>
                  <a:txBody>
                    <a:bodyPr/>
                    <a:lstStyle/>
                    <a:p>
                      <a:pPr algn="ctr"/>
                      <a:r>
                        <a:rPr lang="en-US" sz="1800" dirty="0"/>
                        <a:t>?</a:t>
                      </a:r>
                    </a:p>
                  </a:txBody>
                  <a:tcPr marL="0" marR="0" marT="0" marB="0" anchor="ctr">
                    <a:solidFill>
                      <a:schemeClr val="tx2">
                        <a:lumMod val="20000"/>
                        <a:lumOff val="80000"/>
                      </a:schemeClr>
                    </a:solidFill>
                  </a:tcPr>
                </a:tc>
                <a:extLst>
                  <a:ext uri="{0D108BD9-81ED-4DB2-BD59-A6C34878D82A}">
                    <a16:rowId xmlns:a16="http://schemas.microsoft.com/office/drawing/2014/main" val="177184903"/>
                  </a:ext>
                </a:extLst>
              </a:tr>
            </a:tbl>
          </a:graphicData>
        </a:graphic>
      </p:graphicFrame>
      <p:graphicFrame>
        <p:nvGraphicFramePr>
          <p:cNvPr id="22" name="Table 21">
            <a:extLst>
              <a:ext uri="{FF2B5EF4-FFF2-40B4-BE49-F238E27FC236}">
                <a16:creationId xmlns:a16="http://schemas.microsoft.com/office/drawing/2014/main" id="{D3B24DA5-A22A-4DE6-B6FA-3B16451E340E}"/>
              </a:ext>
            </a:extLst>
          </p:cNvPr>
          <p:cNvGraphicFramePr>
            <a:graphicFrameLocks noGrp="1"/>
          </p:cNvGraphicFramePr>
          <p:nvPr>
            <p:extLst>
              <p:ext uri="{D42A27DB-BD31-4B8C-83A1-F6EECF244321}">
                <p14:modId xmlns:p14="http://schemas.microsoft.com/office/powerpoint/2010/main" val="1580856854"/>
              </p:ext>
            </p:extLst>
          </p:nvPr>
        </p:nvGraphicFramePr>
        <p:xfrm>
          <a:off x="4495800" y="3733800"/>
          <a:ext cx="2688111" cy="1112438"/>
        </p:xfrm>
        <a:graphic>
          <a:graphicData uri="http://schemas.openxmlformats.org/drawingml/2006/table">
            <a:tbl>
              <a:tblPr firstRow="1" bandRow="1">
                <a:tableStyleId>{2D5ABB26-0587-4C30-8999-92F81FD0307C}</a:tableStyleId>
              </a:tblPr>
              <a:tblGrid>
                <a:gridCol w="613268">
                  <a:extLst>
                    <a:ext uri="{9D8B030D-6E8A-4147-A177-3AD203B41FA5}">
                      <a16:colId xmlns:a16="http://schemas.microsoft.com/office/drawing/2014/main" val="3189156840"/>
                    </a:ext>
                  </a:extLst>
                </a:gridCol>
                <a:gridCol w="661154">
                  <a:extLst>
                    <a:ext uri="{9D8B030D-6E8A-4147-A177-3AD203B41FA5}">
                      <a16:colId xmlns:a16="http://schemas.microsoft.com/office/drawing/2014/main" val="713696415"/>
                    </a:ext>
                  </a:extLst>
                </a:gridCol>
                <a:gridCol w="591140">
                  <a:extLst>
                    <a:ext uri="{9D8B030D-6E8A-4147-A177-3AD203B41FA5}">
                      <a16:colId xmlns:a16="http://schemas.microsoft.com/office/drawing/2014/main" val="265858083"/>
                    </a:ext>
                  </a:extLst>
                </a:gridCol>
                <a:gridCol w="822549">
                  <a:extLst>
                    <a:ext uri="{9D8B030D-6E8A-4147-A177-3AD203B41FA5}">
                      <a16:colId xmlns:a16="http://schemas.microsoft.com/office/drawing/2014/main" val="1676482580"/>
                    </a:ext>
                  </a:extLst>
                </a:gridCol>
              </a:tblGrid>
              <a:tr h="342087">
                <a:tc>
                  <a:txBody>
                    <a:bodyPr/>
                    <a:lstStyle/>
                    <a:p>
                      <a:pPr algn="ctr"/>
                      <a:r>
                        <a:rPr lang="en-US" sz="1800" b="1" dirty="0">
                          <a:solidFill>
                            <a:schemeClr val="bg1"/>
                          </a:solidFill>
                        </a:rPr>
                        <a:t>Windy</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800" b="1" dirty="0">
                          <a:solidFill>
                            <a:schemeClr val="bg1"/>
                          </a:solidFill>
                        </a:rPr>
                        <a:t>Yes</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800" b="1" dirty="0">
                          <a:solidFill>
                            <a:schemeClr val="bg1"/>
                          </a:solidFill>
                        </a:rPr>
                        <a:t>No</a:t>
                      </a: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tc>
                  <a:txBody>
                    <a:bodyPr/>
                    <a:lstStyle/>
                    <a:p>
                      <a:pPr algn="ctr"/>
                      <a:r>
                        <a:rPr lang="en-US" sz="1800" b="1" dirty="0">
                          <a:solidFill>
                            <a:schemeClr val="bg1"/>
                          </a:solidFill>
                        </a:rPr>
                        <a:t>I(Yes,</a:t>
                      </a:r>
                      <a:r>
                        <a:rPr lang="en-US" sz="1800" b="1" baseline="0" dirty="0">
                          <a:solidFill>
                            <a:schemeClr val="bg1"/>
                          </a:solidFill>
                        </a:rPr>
                        <a:t> No)</a:t>
                      </a:r>
                      <a:endParaRPr lang="en-US" sz="1800" b="1" dirty="0">
                        <a:solidFill>
                          <a:schemeClr val="bg1"/>
                        </a:solidFill>
                      </a:endParaRPr>
                    </a:p>
                  </a:txBody>
                  <a:tcPr marL="0" marR="0" marT="0" marB="0" anchor="ct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495440297"/>
                  </a:ext>
                </a:extLst>
              </a:tr>
              <a:tr h="281899">
                <a:tc>
                  <a:txBody>
                    <a:bodyPr/>
                    <a:lstStyle/>
                    <a:p>
                      <a:pPr algn="ctr"/>
                      <a:r>
                        <a:rPr lang="en-US" sz="1800" dirty="0"/>
                        <a:t>True</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800" dirty="0"/>
                        <a: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800" dirty="0"/>
                        <a: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tc>
                  <a:txBody>
                    <a:bodyPr/>
                    <a:lstStyle/>
                    <a:p>
                      <a:pPr algn="ctr"/>
                      <a:r>
                        <a:rPr lang="en-US" sz="1800" dirty="0"/>
                        <a:t>?</a:t>
                      </a:r>
                    </a:p>
                  </a:txBody>
                  <a:tcPr marL="0" marR="0" marT="0" marB="0" anchor="ctr">
                    <a:lnT w="19050" cap="flat" cmpd="sng" algn="ctr">
                      <a:noFill/>
                      <a:prstDash val="solid"/>
                      <a:round/>
                      <a:headEnd type="none" w="med" len="med"/>
                      <a:tailEnd type="none" w="med" len="med"/>
                    </a:lnT>
                    <a:solidFill>
                      <a:schemeClr val="tx2">
                        <a:lumMod val="20000"/>
                        <a:lumOff val="80000"/>
                      </a:schemeClr>
                    </a:solidFill>
                  </a:tcPr>
                </a:tc>
                <a:extLst>
                  <a:ext uri="{0D108BD9-81ED-4DB2-BD59-A6C34878D82A}">
                    <a16:rowId xmlns:a16="http://schemas.microsoft.com/office/drawing/2014/main" val="3622029562"/>
                  </a:ext>
                </a:extLst>
              </a:tr>
              <a:tr h="281899">
                <a:tc>
                  <a:txBody>
                    <a:bodyPr/>
                    <a:lstStyle/>
                    <a:p>
                      <a:pPr algn="ctr"/>
                      <a:r>
                        <a:rPr lang="en-US" sz="1800" dirty="0"/>
                        <a:t>False</a:t>
                      </a:r>
                    </a:p>
                  </a:txBody>
                  <a:tcPr marL="0" marR="0" marT="0" marB="0" anchor="ctr">
                    <a:solidFill>
                      <a:schemeClr val="tx2">
                        <a:lumMod val="20000"/>
                        <a:lumOff val="80000"/>
                      </a:schemeClr>
                    </a:solidFill>
                  </a:tcPr>
                </a:tc>
                <a:tc>
                  <a:txBody>
                    <a:bodyPr/>
                    <a:lstStyle/>
                    <a:p>
                      <a:pPr algn="ctr"/>
                      <a:r>
                        <a:rPr lang="en-US" sz="1800" dirty="0"/>
                        <a:t>?</a:t>
                      </a:r>
                    </a:p>
                  </a:txBody>
                  <a:tcPr marL="0" marR="0" marT="0" marB="0" anchor="ctr">
                    <a:solidFill>
                      <a:schemeClr val="tx2">
                        <a:lumMod val="20000"/>
                        <a:lumOff val="80000"/>
                      </a:schemeClr>
                    </a:solidFill>
                  </a:tcPr>
                </a:tc>
                <a:tc>
                  <a:txBody>
                    <a:bodyPr/>
                    <a:lstStyle/>
                    <a:p>
                      <a:pPr algn="ctr"/>
                      <a:r>
                        <a:rPr lang="en-US" sz="1800" dirty="0"/>
                        <a:t>?</a:t>
                      </a:r>
                    </a:p>
                  </a:txBody>
                  <a:tcPr marL="0" marR="0" marT="0" marB="0" anchor="ctr">
                    <a:solidFill>
                      <a:schemeClr val="tx2">
                        <a:lumMod val="20000"/>
                        <a:lumOff val="80000"/>
                      </a:schemeClr>
                    </a:solidFill>
                  </a:tcPr>
                </a:tc>
                <a:tc>
                  <a:txBody>
                    <a:bodyPr/>
                    <a:lstStyle/>
                    <a:p>
                      <a:pPr algn="ctr"/>
                      <a:r>
                        <a:rPr lang="en-US" sz="1800" dirty="0"/>
                        <a:t>?</a:t>
                      </a:r>
                    </a:p>
                  </a:txBody>
                  <a:tcPr marL="0" marR="0" marT="0" marB="0" anchor="ctr">
                    <a:solidFill>
                      <a:schemeClr val="tx2">
                        <a:lumMod val="20000"/>
                        <a:lumOff val="80000"/>
                      </a:schemeClr>
                    </a:solidFill>
                  </a:tcPr>
                </a:tc>
                <a:extLst>
                  <a:ext uri="{0D108BD9-81ED-4DB2-BD59-A6C34878D82A}">
                    <a16:rowId xmlns:a16="http://schemas.microsoft.com/office/drawing/2014/main" val="177184903"/>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211327015"/>
              </p:ext>
            </p:extLst>
          </p:nvPr>
        </p:nvGraphicFramePr>
        <p:xfrm>
          <a:off x="81078" y="1204561"/>
          <a:ext cx="4109921" cy="5273040"/>
        </p:xfrm>
        <a:graphic>
          <a:graphicData uri="http://schemas.openxmlformats.org/drawingml/2006/table">
            <a:tbl>
              <a:tblPr firstRow="1" bandRow="1">
                <a:tableStyleId>{93296810-A885-4BE3-A3E7-6D5BEEA58F35}</a:tableStyleId>
              </a:tblPr>
              <a:tblGrid>
                <a:gridCol w="980690">
                  <a:extLst>
                    <a:ext uri="{9D8B030D-6E8A-4147-A177-3AD203B41FA5}">
                      <a16:colId xmlns:a16="http://schemas.microsoft.com/office/drawing/2014/main" val="20000"/>
                    </a:ext>
                  </a:extLst>
                </a:gridCol>
                <a:gridCol w="686494">
                  <a:extLst>
                    <a:ext uri="{9D8B030D-6E8A-4147-A177-3AD203B41FA5}">
                      <a16:colId xmlns:a16="http://schemas.microsoft.com/office/drawing/2014/main" val="20001"/>
                    </a:ext>
                  </a:extLst>
                </a:gridCol>
                <a:gridCol w="1017807">
                  <a:extLst>
                    <a:ext uri="{9D8B030D-6E8A-4147-A177-3AD203B41FA5}">
                      <a16:colId xmlns:a16="http://schemas.microsoft.com/office/drawing/2014/main" val="20002"/>
                    </a:ext>
                  </a:extLst>
                </a:gridCol>
                <a:gridCol w="778323">
                  <a:extLst>
                    <a:ext uri="{9D8B030D-6E8A-4147-A177-3AD203B41FA5}">
                      <a16:colId xmlns:a16="http://schemas.microsoft.com/office/drawing/2014/main" val="20003"/>
                    </a:ext>
                  </a:extLst>
                </a:gridCol>
                <a:gridCol w="646607">
                  <a:extLst>
                    <a:ext uri="{9D8B030D-6E8A-4147-A177-3AD203B41FA5}">
                      <a16:colId xmlns:a16="http://schemas.microsoft.com/office/drawing/2014/main" val="20004"/>
                    </a:ext>
                  </a:extLst>
                </a:gridCol>
              </a:tblGrid>
              <a:tr h="289456">
                <a:tc>
                  <a:txBody>
                    <a:bodyPr/>
                    <a:lstStyle/>
                    <a:p>
                      <a:pPr>
                        <a:lnSpc>
                          <a:spcPct val="100000"/>
                        </a:lnSpc>
                      </a:pPr>
                      <a:r>
                        <a:rPr lang="en-US" sz="1600" dirty="0"/>
                        <a:t>Outlook</a:t>
                      </a:r>
                    </a:p>
                  </a:txBody>
                  <a:tcPr marL="68580" marR="68580" anchor="ctr"/>
                </a:tc>
                <a:tc>
                  <a:txBody>
                    <a:bodyPr/>
                    <a:lstStyle/>
                    <a:p>
                      <a:pPr>
                        <a:lnSpc>
                          <a:spcPct val="100000"/>
                        </a:lnSpc>
                      </a:pPr>
                      <a:r>
                        <a:rPr lang="en-US" sz="1600" dirty="0"/>
                        <a:t>Temp</a:t>
                      </a:r>
                    </a:p>
                  </a:txBody>
                  <a:tcPr marL="68580" marR="68580" anchor="ctr"/>
                </a:tc>
                <a:tc>
                  <a:txBody>
                    <a:bodyPr/>
                    <a:lstStyle/>
                    <a:p>
                      <a:pPr>
                        <a:lnSpc>
                          <a:spcPct val="100000"/>
                        </a:lnSpc>
                      </a:pPr>
                      <a:r>
                        <a:rPr lang="en-US" sz="1600" dirty="0"/>
                        <a:t>Humidity</a:t>
                      </a:r>
                    </a:p>
                  </a:txBody>
                  <a:tcPr marL="68580" marR="68580" anchor="ctr"/>
                </a:tc>
                <a:tc>
                  <a:txBody>
                    <a:bodyPr/>
                    <a:lstStyle/>
                    <a:p>
                      <a:pPr>
                        <a:lnSpc>
                          <a:spcPct val="100000"/>
                        </a:lnSpc>
                      </a:pPr>
                      <a:r>
                        <a:rPr lang="en-US" sz="1600" dirty="0"/>
                        <a:t>Windy</a:t>
                      </a:r>
                    </a:p>
                  </a:txBody>
                  <a:tcPr marL="68580" marR="68580" anchor="ctr"/>
                </a:tc>
                <a:tc>
                  <a:txBody>
                    <a:bodyPr/>
                    <a:lstStyle/>
                    <a:p>
                      <a:pPr>
                        <a:lnSpc>
                          <a:spcPct val="100000"/>
                        </a:lnSpc>
                      </a:pPr>
                      <a:r>
                        <a:rPr lang="en-US" sz="1600" dirty="0"/>
                        <a:t>Play Golf</a:t>
                      </a:r>
                    </a:p>
                  </a:txBody>
                  <a:tcPr marL="68580" marR="68580" anchor="ctr">
                    <a:solidFill>
                      <a:schemeClr val="accent2"/>
                    </a:solidFill>
                  </a:tcPr>
                </a:tc>
                <a:extLst>
                  <a:ext uri="{0D108BD9-81ED-4DB2-BD59-A6C34878D82A}">
                    <a16:rowId xmlns:a16="http://schemas.microsoft.com/office/drawing/2014/main" val="10000"/>
                  </a:ext>
                </a:extLst>
              </a:tr>
              <a:tr h="289456">
                <a:tc>
                  <a:txBody>
                    <a:bodyPr/>
                    <a:lstStyle/>
                    <a:p>
                      <a:pPr>
                        <a:lnSpc>
                          <a:spcPct val="100000"/>
                        </a:lnSpc>
                      </a:pPr>
                      <a:r>
                        <a:rPr lang="en-US" sz="1600" dirty="0"/>
                        <a:t>Rainy</a:t>
                      </a:r>
                    </a:p>
                  </a:txBody>
                  <a:tcPr marL="68580" marR="68580" anchor="ctr"/>
                </a:tc>
                <a:tc>
                  <a:txBody>
                    <a:bodyPr/>
                    <a:lstStyle/>
                    <a:p>
                      <a:pPr>
                        <a:lnSpc>
                          <a:spcPct val="100000"/>
                        </a:lnSpc>
                      </a:pPr>
                      <a:r>
                        <a:rPr lang="en-US" sz="1600" dirty="0"/>
                        <a:t>Hot</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1"/>
                  </a:ext>
                </a:extLst>
              </a:tr>
              <a:tr h="289456">
                <a:tc>
                  <a:txBody>
                    <a:bodyPr/>
                    <a:lstStyle/>
                    <a:p>
                      <a:pPr>
                        <a:lnSpc>
                          <a:spcPct val="100000"/>
                        </a:lnSpc>
                      </a:pPr>
                      <a:r>
                        <a:rPr lang="en-US" sz="1600" dirty="0"/>
                        <a:t>Rainy</a:t>
                      </a:r>
                    </a:p>
                  </a:txBody>
                  <a:tcPr marL="68580" marR="68580" anchor="ctr"/>
                </a:tc>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Hot</a:t>
                      </a:r>
                    </a:p>
                  </a:txBody>
                  <a:tcPr marL="68580" marR="68580" anchor="ctr"/>
                </a:tc>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High</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2"/>
                  </a:ext>
                </a:extLst>
              </a:tr>
              <a:tr h="289456">
                <a:tc>
                  <a:txBody>
                    <a:bodyPr/>
                    <a:lstStyle/>
                    <a:p>
                      <a:pPr>
                        <a:lnSpc>
                          <a:spcPct val="100000"/>
                        </a:lnSpc>
                      </a:pPr>
                      <a:r>
                        <a:rPr lang="en-US" sz="1600" dirty="0"/>
                        <a:t>Overcast</a:t>
                      </a:r>
                    </a:p>
                  </a:txBody>
                  <a:tcPr marL="68580" marR="68580" anchor="ctr"/>
                </a:tc>
                <a:tc>
                  <a:txBody>
                    <a:bodyPr/>
                    <a:lstStyle/>
                    <a:p>
                      <a:pPr>
                        <a:lnSpc>
                          <a:spcPct val="100000"/>
                        </a:lnSpc>
                      </a:pPr>
                      <a:r>
                        <a:rPr lang="en-US" sz="1600" dirty="0"/>
                        <a:t>Hot</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3"/>
                  </a:ext>
                </a:extLst>
              </a:tr>
              <a:tr h="289456">
                <a:tc>
                  <a:txBody>
                    <a:bodyPr/>
                    <a:lstStyle/>
                    <a:p>
                      <a:pPr>
                        <a:lnSpc>
                          <a:spcPct val="100000"/>
                        </a:lnSpc>
                      </a:pPr>
                      <a:r>
                        <a:rPr lang="en-US" sz="1600" dirty="0"/>
                        <a:t>Sunny</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4"/>
                  </a:ext>
                </a:extLst>
              </a:tr>
              <a:tr h="289456">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Sunny</a:t>
                      </a:r>
                    </a:p>
                  </a:txBody>
                  <a:tcPr marL="68580" marR="68580" anchor="ctr"/>
                </a:tc>
                <a:tc>
                  <a:txBody>
                    <a:bodyPr/>
                    <a:lstStyle/>
                    <a:p>
                      <a:pPr>
                        <a:lnSpc>
                          <a:spcPct val="100000"/>
                        </a:lnSpc>
                      </a:pPr>
                      <a:r>
                        <a:rPr lang="en-US" sz="1600" dirty="0"/>
                        <a:t>Cool</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5"/>
                  </a:ext>
                </a:extLst>
              </a:tr>
              <a:tr h="289456">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Sunny</a:t>
                      </a:r>
                    </a:p>
                  </a:txBody>
                  <a:tcPr marL="68580" marR="68580" anchor="ctr"/>
                </a:tc>
                <a:tc>
                  <a:txBody>
                    <a:bodyPr/>
                    <a:lstStyle/>
                    <a:p>
                      <a:pPr>
                        <a:lnSpc>
                          <a:spcPct val="100000"/>
                        </a:lnSpc>
                      </a:pPr>
                      <a:r>
                        <a:rPr lang="en-US" sz="1600" dirty="0"/>
                        <a:t>Cool</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6"/>
                  </a:ext>
                </a:extLst>
              </a:tr>
              <a:tr h="314046">
                <a:tc>
                  <a:txBody>
                    <a:bodyPr/>
                    <a:lstStyle/>
                    <a:p>
                      <a:pPr>
                        <a:lnSpc>
                          <a:spcPct val="100000"/>
                        </a:lnSpc>
                      </a:pPr>
                      <a:r>
                        <a:rPr lang="en-US" sz="1600" dirty="0"/>
                        <a:t>Overcast</a:t>
                      </a:r>
                    </a:p>
                  </a:txBody>
                  <a:tcPr marL="68580" marR="68580" anchor="ctr"/>
                </a:tc>
                <a:tc>
                  <a:txBody>
                    <a:bodyPr/>
                    <a:lstStyle/>
                    <a:p>
                      <a:pPr>
                        <a:lnSpc>
                          <a:spcPct val="100000"/>
                        </a:lnSpc>
                      </a:pPr>
                      <a:r>
                        <a:rPr lang="en-US" sz="1600" dirty="0"/>
                        <a:t>Cool</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7"/>
                  </a:ext>
                </a:extLst>
              </a:tr>
              <a:tr h="256211">
                <a:tc>
                  <a:txBody>
                    <a:bodyPr/>
                    <a:lstStyle/>
                    <a:p>
                      <a:pPr>
                        <a:lnSpc>
                          <a:spcPct val="100000"/>
                        </a:lnSpc>
                      </a:pPr>
                      <a:r>
                        <a:rPr lang="en-US" sz="1600" dirty="0"/>
                        <a:t>Rainy</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08"/>
                  </a:ext>
                </a:extLst>
              </a:tr>
              <a:tr h="289456">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Rainy</a:t>
                      </a:r>
                    </a:p>
                  </a:txBody>
                  <a:tcPr marL="68580" marR="68580" anchor="ctr"/>
                </a:tc>
                <a:tc>
                  <a:txBody>
                    <a:bodyPr/>
                    <a:lstStyle/>
                    <a:p>
                      <a:pPr>
                        <a:lnSpc>
                          <a:spcPct val="100000"/>
                        </a:lnSpc>
                      </a:pPr>
                      <a:r>
                        <a:rPr lang="en-US" sz="1600" dirty="0"/>
                        <a:t>Cool</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09"/>
                  </a:ext>
                </a:extLst>
              </a:tr>
              <a:tr h="289456">
                <a:tc>
                  <a:txBody>
                    <a:bodyPr/>
                    <a:lstStyle/>
                    <a:p>
                      <a:pPr>
                        <a:lnSpc>
                          <a:spcPct val="100000"/>
                        </a:lnSpc>
                      </a:pPr>
                      <a:r>
                        <a:rPr lang="en-US" sz="1600" dirty="0"/>
                        <a:t>Sunny</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10"/>
                  </a:ext>
                </a:extLst>
              </a:tr>
              <a:tr h="289456">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Rainy</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11"/>
                  </a:ext>
                </a:extLst>
              </a:tr>
              <a:tr h="289456">
                <a:tc>
                  <a:txBody>
                    <a:bodyPr/>
                    <a:lstStyle/>
                    <a:p>
                      <a:pPr>
                        <a:lnSpc>
                          <a:spcPct val="100000"/>
                        </a:lnSpc>
                      </a:pPr>
                      <a:r>
                        <a:rPr lang="en-US" sz="1600" dirty="0"/>
                        <a:t>Overcast</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12"/>
                  </a:ext>
                </a:extLst>
              </a:tr>
              <a:tr h="289456">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600" dirty="0"/>
                        <a:t>Overcast</a:t>
                      </a:r>
                    </a:p>
                  </a:txBody>
                  <a:tcPr marL="68580" marR="68580" anchor="ctr"/>
                </a:tc>
                <a:tc>
                  <a:txBody>
                    <a:bodyPr/>
                    <a:lstStyle/>
                    <a:p>
                      <a:pPr>
                        <a:lnSpc>
                          <a:spcPct val="100000"/>
                        </a:lnSpc>
                      </a:pPr>
                      <a:r>
                        <a:rPr lang="en-US" sz="1600" dirty="0"/>
                        <a:t>Hot</a:t>
                      </a:r>
                    </a:p>
                  </a:txBody>
                  <a:tcPr marL="68580" marR="68580" anchor="ctr"/>
                </a:tc>
                <a:tc>
                  <a:txBody>
                    <a:bodyPr/>
                    <a:lstStyle/>
                    <a:p>
                      <a:pPr>
                        <a:lnSpc>
                          <a:spcPct val="100000"/>
                        </a:lnSpc>
                      </a:pPr>
                      <a:r>
                        <a:rPr lang="en-US" sz="1600" dirty="0"/>
                        <a:t>Normal</a:t>
                      </a:r>
                    </a:p>
                  </a:txBody>
                  <a:tcPr marL="68580" marR="68580" anchor="ctr"/>
                </a:tc>
                <a:tc>
                  <a:txBody>
                    <a:bodyPr/>
                    <a:lstStyle/>
                    <a:p>
                      <a:pPr>
                        <a:lnSpc>
                          <a:spcPct val="100000"/>
                        </a:lnSpc>
                      </a:pPr>
                      <a:r>
                        <a:rPr lang="en-US" sz="1600" dirty="0"/>
                        <a:t>False</a:t>
                      </a:r>
                    </a:p>
                  </a:txBody>
                  <a:tcPr marL="68580" marR="68580" anchor="ctr"/>
                </a:tc>
                <a:tc>
                  <a:txBody>
                    <a:bodyPr/>
                    <a:lstStyle/>
                    <a:p>
                      <a:pPr>
                        <a:lnSpc>
                          <a:spcPct val="100000"/>
                        </a:lnSpc>
                      </a:pPr>
                      <a:r>
                        <a:rPr lang="en-US" sz="1600" dirty="0"/>
                        <a:t>Yes</a:t>
                      </a:r>
                    </a:p>
                  </a:txBody>
                  <a:tcPr marL="68580" marR="68580" anchor="ctr">
                    <a:solidFill>
                      <a:schemeClr val="accent2">
                        <a:lumMod val="20000"/>
                        <a:lumOff val="80000"/>
                      </a:schemeClr>
                    </a:solidFill>
                  </a:tcPr>
                </a:tc>
                <a:extLst>
                  <a:ext uri="{0D108BD9-81ED-4DB2-BD59-A6C34878D82A}">
                    <a16:rowId xmlns:a16="http://schemas.microsoft.com/office/drawing/2014/main" val="10013"/>
                  </a:ext>
                </a:extLst>
              </a:tr>
              <a:tr h="289456">
                <a:tc>
                  <a:txBody>
                    <a:bodyPr/>
                    <a:lstStyle/>
                    <a:p>
                      <a:pPr>
                        <a:lnSpc>
                          <a:spcPct val="100000"/>
                        </a:lnSpc>
                      </a:pPr>
                      <a:r>
                        <a:rPr lang="en-US" sz="1600" dirty="0"/>
                        <a:t>Sunny</a:t>
                      </a:r>
                    </a:p>
                  </a:txBody>
                  <a:tcPr marL="68580" marR="68580" anchor="ctr"/>
                </a:tc>
                <a:tc>
                  <a:txBody>
                    <a:bodyPr/>
                    <a:lstStyle/>
                    <a:p>
                      <a:pPr>
                        <a:lnSpc>
                          <a:spcPct val="100000"/>
                        </a:lnSpc>
                      </a:pPr>
                      <a:r>
                        <a:rPr lang="en-US" sz="1600" dirty="0"/>
                        <a:t>Mild</a:t>
                      </a:r>
                    </a:p>
                  </a:txBody>
                  <a:tcPr marL="68580" marR="68580" anchor="ctr"/>
                </a:tc>
                <a:tc>
                  <a:txBody>
                    <a:bodyPr/>
                    <a:lstStyle/>
                    <a:p>
                      <a:pPr>
                        <a:lnSpc>
                          <a:spcPct val="100000"/>
                        </a:lnSpc>
                      </a:pPr>
                      <a:r>
                        <a:rPr lang="en-US" sz="1600" dirty="0"/>
                        <a:t>High</a:t>
                      </a:r>
                    </a:p>
                  </a:txBody>
                  <a:tcPr marL="68580" marR="68580" anchor="ctr"/>
                </a:tc>
                <a:tc>
                  <a:txBody>
                    <a:bodyPr/>
                    <a:lstStyle/>
                    <a:p>
                      <a:pPr>
                        <a:lnSpc>
                          <a:spcPct val="100000"/>
                        </a:lnSpc>
                      </a:pPr>
                      <a:r>
                        <a:rPr lang="en-US" sz="1600" dirty="0"/>
                        <a:t>True</a:t>
                      </a:r>
                    </a:p>
                  </a:txBody>
                  <a:tcPr marL="68580" marR="68580" anchor="ctr"/>
                </a:tc>
                <a:tc>
                  <a:txBody>
                    <a:bodyPr/>
                    <a:lstStyle/>
                    <a:p>
                      <a:pPr>
                        <a:lnSpc>
                          <a:spcPct val="100000"/>
                        </a:lnSpc>
                      </a:pPr>
                      <a:r>
                        <a:rPr lang="en-US" sz="1600" dirty="0"/>
                        <a:t>No</a:t>
                      </a:r>
                    </a:p>
                  </a:txBody>
                  <a:tcPr marL="68580" marR="68580" anchor="ctr">
                    <a:solidFill>
                      <a:schemeClr val="accent2">
                        <a:lumMod val="20000"/>
                        <a:lumOff val="80000"/>
                      </a:schemeClr>
                    </a:solidFill>
                  </a:tcPr>
                </a:tc>
                <a:extLst>
                  <a:ext uri="{0D108BD9-81ED-4DB2-BD59-A6C34878D82A}">
                    <a16:rowId xmlns:a16="http://schemas.microsoft.com/office/drawing/2014/main" val="10014"/>
                  </a:ext>
                </a:extLst>
              </a:tr>
            </a:tbl>
          </a:graphicData>
        </a:graphic>
      </p:graphicFrame>
      <p:sp>
        <p:nvSpPr>
          <p:cNvPr id="11" name="TextBox 10"/>
          <p:cNvSpPr txBox="1"/>
          <p:nvPr/>
        </p:nvSpPr>
        <p:spPr>
          <a:xfrm>
            <a:off x="4572000" y="762000"/>
            <a:ext cx="3200400" cy="1200329"/>
          </a:xfrm>
          <a:prstGeom prst="rect">
            <a:avLst/>
          </a:prstGeom>
          <a:noFill/>
        </p:spPr>
        <p:txBody>
          <a:bodyPr wrap="square" rtlCol="0">
            <a:spAutoFit/>
          </a:bodyPr>
          <a:lstStyle/>
          <a:p>
            <a:r>
              <a:rPr lang="en-US" dirty="0"/>
              <a:t>Gain(Temp)=.029</a:t>
            </a:r>
          </a:p>
          <a:p>
            <a:r>
              <a:rPr lang="en-US" dirty="0"/>
              <a:t>Gain (Humidity)=.151</a:t>
            </a:r>
          </a:p>
          <a:p>
            <a:r>
              <a:rPr lang="en-US" dirty="0"/>
              <a:t>Gain (Windy)=.048</a:t>
            </a:r>
          </a:p>
          <a:p>
            <a:endParaRPr lang="en-US" dirty="0"/>
          </a:p>
        </p:txBody>
      </p:sp>
      <p:sp>
        <p:nvSpPr>
          <p:cNvPr id="2" name="Slide Number Placeholder 1"/>
          <p:cNvSpPr>
            <a:spLocks noGrp="1"/>
          </p:cNvSpPr>
          <p:nvPr>
            <p:ph type="sldNum" sz="quarter" idx="12"/>
          </p:nvPr>
        </p:nvSpPr>
        <p:spPr/>
        <p:txBody>
          <a:bodyPr/>
          <a:lstStyle/>
          <a:p>
            <a:pPr>
              <a:defRPr/>
            </a:pPr>
            <a:fld id="{E7C7241A-14B4-47C9-97AA-E825931DEA7A}" type="slidenum">
              <a:rPr lang="en-US" altLang="en-US" smtClean="0"/>
              <a:pPr>
                <a:defRPr/>
              </a:pPr>
              <a:t>17</a:t>
            </a:fld>
            <a:endParaRPr lang="en-US" altLang="en-US"/>
          </a:p>
        </p:txBody>
      </p:sp>
    </p:spTree>
    <p:extLst>
      <p:ext uri="{BB962C8B-B14F-4D97-AF65-F5344CB8AC3E}">
        <p14:creationId xmlns:p14="http://schemas.microsoft.com/office/powerpoint/2010/main" val="66514535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p:cNvSpPr>
            <a:spLocks noGrp="1" noChangeArrowheads="1"/>
          </p:cNvSpPr>
          <p:nvPr>
            <p:ph type="title"/>
          </p:nvPr>
        </p:nvSpPr>
        <p:spPr>
          <a:xfrm>
            <a:off x="381000" y="152400"/>
            <a:ext cx="8610600" cy="1295400"/>
          </a:xfrm>
        </p:spPr>
        <p:txBody>
          <a:bodyPr/>
          <a:lstStyle/>
          <a:p>
            <a:pPr>
              <a:defRPr/>
            </a:pPr>
            <a:r>
              <a:rPr lang="en-US" dirty="0">
                <a:cs typeface="+mj-cs"/>
              </a:rPr>
              <a:t>Design Issues of Decision Tree Induction</a:t>
            </a:r>
          </a:p>
        </p:txBody>
      </p:sp>
      <p:sp>
        <p:nvSpPr>
          <p:cNvPr id="20483" name="Rectangle 7"/>
          <p:cNvSpPr>
            <a:spLocks noGrp="1" noChangeArrowheads="1"/>
          </p:cNvSpPr>
          <p:nvPr>
            <p:ph type="body" idx="1"/>
          </p:nvPr>
        </p:nvSpPr>
        <p:spPr/>
        <p:txBody>
          <a:bodyPr/>
          <a:lstStyle/>
          <a:p>
            <a:r>
              <a:rPr lang="en-US" dirty="0">
                <a:solidFill>
                  <a:srgbClr val="FF0000"/>
                </a:solidFill>
                <a:ea typeface="ＭＳ Ｐゴシック" pitchFamily="34" charset="-128"/>
              </a:rPr>
              <a:t>How should training records be split?</a:t>
            </a:r>
          </a:p>
          <a:p>
            <a:pPr lvl="1"/>
            <a:r>
              <a:rPr lang="en-US" dirty="0">
                <a:ea typeface="ＭＳ Ｐゴシック" pitchFamily="34" charset="-128"/>
              </a:rPr>
              <a:t>Method for specifying test condition </a:t>
            </a:r>
          </a:p>
          <a:p>
            <a:pPr lvl="2"/>
            <a:r>
              <a:rPr lang="en-US" dirty="0">
                <a:ea typeface="ＭＳ Ｐゴシック" pitchFamily="34" charset="-128"/>
              </a:rPr>
              <a:t> depending on attribute types</a:t>
            </a:r>
          </a:p>
          <a:p>
            <a:pPr lvl="1"/>
            <a:r>
              <a:rPr lang="en-US" dirty="0">
                <a:ea typeface="ＭＳ Ｐゴシック" pitchFamily="34" charset="-128"/>
              </a:rPr>
              <a:t>Measure for evaluating the goodness of a test condition</a:t>
            </a:r>
          </a:p>
          <a:p>
            <a:pPr lvl="1"/>
            <a:endParaRPr lang="en-US" dirty="0">
              <a:ea typeface="ＭＳ Ｐゴシック" pitchFamily="34" charset="-128"/>
            </a:endParaRPr>
          </a:p>
          <a:p>
            <a:r>
              <a:rPr lang="en-US" dirty="0">
                <a:solidFill>
                  <a:srgbClr val="FF0000"/>
                </a:solidFill>
                <a:ea typeface="ＭＳ Ｐゴシック" pitchFamily="34" charset="-128"/>
              </a:rPr>
              <a:t>How should the splitting procedure stop?</a:t>
            </a:r>
          </a:p>
          <a:p>
            <a:pPr lvl="1"/>
            <a:r>
              <a:rPr lang="en-US" dirty="0">
                <a:ea typeface="ＭＳ Ｐゴシック" pitchFamily="34" charset="-128"/>
              </a:rPr>
              <a:t>Stop splitting </a:t>
            </a:r>
            <a:r>
              <a:rPr lang="en-US" i="1" dirty="0">
                <a:ea typeface="ＭＳ Ｐゴシック" pitchFamily="34" charset="-128"/>
              </a:rPr>
              <a:t>if all the records belong to the same class or have identical attribute values</a:t>
            </a:r>
          </a:p>
          <a:p>
            <a:pPr lvl="1"/>
            <a:r>
              <a:rPr lang="en-US" dirty="0">
                <a:ea typeface="ＭＳ Ｐゴシック" pitchFamily="34" charset="-128"/>
              </a:rPr>
              <a:t>Early termination </a:t>
            </a:r>
          </a:p>
        </p:txBody>
      </p:sp>
      <p:sp>
        <p:nvSpPr>
          <p:cNvPr id="4" name="Slide Number Placeholder 3"/>
          <p:cNvSpPr>
            <a:spLocks noGrp="1"/>
          </p:cNvSpPr>
          <p:nvPr>
            <p:ph type="sldNum" sz="quarter" idx="12"/>
          </p:nvPr>
        </p:nvSpPr>
        <p:spPr/>
        <p:txBody>
          <a:bodyPr/>
          <a:lstStyle/>
          <a:p>
            <a:fld id="{247B6DAE-5EEC-4C38-8D0F-CC85C3D3A145}" type="slidenum">
              <a:rPr lang="en-US"/>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defRPr/>
            </a:pPr>
            <a:r>
              <a:rPr lang="en-US">
                <a:cs typeface="+mj-cs"/>
              </a:rPr>
              <a:t>Methods for Expressing Test Conditions</a:t>
            </a:r>
          </a:p>
        </p:txBody>
      </p:sp>
      <p:sp>
        <p:nvSpPr>
          <p:cNvPr id="21507" name="Rectangle 3"/>
          <p:cNvSpPr>
            <a:spLocks noGrp="1" noChangeArrowheads="1"/>
          </p:cNvSpPr>
          <p:nvPr>
            <p:ph type="body" idx="1"/>
          </p:nvPr>
        </p:nvSpPr>
        <p:spPr/>
        <p:txBody>
          <a:bodyPr/>
          <a:lstStyle/>
          <a:p>
            <a:r>
              <a:rPr lang="en-US" dirty="0">
                <a:ea typeface="ＭＳ Ｐゴシック" pitchFamily="34" charset="-128"/>
              </a:rPr>
              <a:t>Depends on attribute types</a:t>
            </a:r>
          </a:p>
          <a:p>
            <a:pPr lvl="1"/>
            <a:r>
              <a:rPr lang="en-US" dirty="0">
                <a:ea typeface="ＭＳ Ｐゴシック" pitchFamily="34" charset="-128"/>
              </a:rPr>
              <a:t>Binary</a:t>
            </a:r>
          </a:p>
          <a:p>
            <a:pPr lvl="1"/>
            <a:r>
              <a:rPr lang="en-US" dirty="0">
                <a:ea typeface="ＭＳ Ｐゴシック" pitchFamily="34" charset="-128"/>
              </a:rPr>
              <a:t>Nominal</a:t>
            </a:r>
          </a:p>
          <a:p>
            <a:pPr lvl="1"/>
            <a:r>
              <a:rPr lang="en-US" dirty="0">
                <a:ea typeface="ＭＳ Ｐゴシック" pitchFamily="34" charset="-128"/>
              </a:rPr>
              <a:t>Ordinal</a:t>
            </a:r>
          </a:p>
          <a:p>
            <a:pPr lvl="1"/>
            <a:r>
              <a:rPr lang="en-US" dirty="0">
                <a:ea typeface="ＭＳ Ｐゴシック" pitchFamily="34" charset="-128"/>
              </a:rPr>
              <a:t>Continuous</a:t>
            </a:r>
          </a:p>
          <a:p>
            <a:pPr lvl="1"/>
            <a:endParaRPr lang="en-US" dirty="0">
              <a:ea typeface="ＭＳ Ｐゴシック" pitchFamily="34" charset="-128"/>
            </a:endParaRPr>
          </a:p>
          <a:p>
            <a:r>
              <a:rPr lang="en-US" dirty="0">
                <a:ea typeface="ＭＳ Ｐゴシック" pitchFamily="34" charset="-128"/>
              </a:rPr>
              <a:t>Depends on number of ways to split</a:t>
            </a:r>
          </a:p>
          <a:p>
            <a:pPr lvl="1"/>
            <a:r>
              <a:rPr lang="en-US" dirty="0">
                <a:ea typeface="ＭＳ Ｐゴシック" pitchFamily="34" charset="-128"/>
              </a:rPr>
              <a:t>2-way split</a:t>
            </a:r>
          </a:p>
          <a:p>
            <a:pPr lvl="1"/>
            <a:r>
              <a:rPr lang="en-US" dirty="0">
                <a:ea typeface="ＭＳ Ｐゴシック" pitchFamily="34" charset="-128"/>
              </a:rPr>
              <a:t>Multi-way split</a:t>
            </a:r>
          </a:p>
        </p:txBody>
      </p:sp>
      <p:sp>
        <p:nvSpPr>
          <p:cNvPr id="4" name="Slide Number Placeholder 3"/>
          <p:cNvSpPr>
            <a:spLocks noGrp="1"/>
          </p:cNvSpPr>
          <p:nvPr>
            <p:ph type="sldNum" sz="quarter" idx="12"/>
          </p:nvPr>
        </p:nvSpPr>
        <p:spPr/>
        <p:txBody>
          <a:bodyPr/>
          <a:lstStyle/>
          <a:p>
            <a:fld id="{346C49F1-1335-4811-8BFC-116C5A80B492}" type="slidenum">
              <a:rPr lang="en-US"/>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1026"/>
          <p:cNvSpPr>
            <a:spLocks noGrp="1" noChangeArrowheads="1"/>
          </p:cNvSpPr>
          <p:nvPr>
            <p:ph type="title"/>
          </p:nvPr>
        </p:nvSpPr>
        <p:spPr>
          <a:xfrm>
            <a:off x="0" y="304800"/>
            <a:ext cx="9144000" cy="609600"/>
          </a:xfrm>
        </p:spPr>
        <p:txBody>
          <a:bodyPr>
            <a:normAutofit fontScale="90000"/>
          </a:bodyPr>
          <a:lstStyle/>
          <a:p>
            <a:pPr eaLnBrk="1" hangingPunct="1"/>
            <a:r>
              <a:rPr lang="en-US" dirty="0"/>
              <a:t>Three Possible Partition Scenarios</a:t>
            </a:r>
          </a:p>
        </p:txBody>
      </p:sp>
      <p:pic>
        <p:nvPicPr>
          <p:cNvPr id="244738" name="Picture 2"/>
          <p:cNvPicPr>
            <a:picLocks noChangeAspect="1" noChangeArrowheads="1"/>
          </p:cNvPicPr>
          <p:nvPr/>
        </p:nvPicPr>
        <p:blipFill>
          <a:blip r:embed="rId3" cstate="print"/>
          <a:srcRect/>
          <a:stretch>
            <a:fillRect/>
          </a:stretch>
        </p:blipFill>
        <p:spPr bwMode="auto">
          <a:xfrm>
            <a:off x="693095" y="1278320"/>
            <a:ext cx="8120063" cy="4882515"/>
          </a:xfrm>
          <a:prstGeom prst="rect">
            <a:avLst/>
          </a:prstGeom>
          <a:noFill/>
          <a:ln w="9525">
            <a:noFill/>
            <a:miter lim="800000"/>
            <a:headEnd/>
            <a:tailEnd/>
          </a:ln>
        </p:spPr>
      </p:pic>
      <p:sp>
        <p:nvSpPr>
          <p:cNvPr id="7" name="Slide Number Placeholder 6"/>
          <p:cNvSpPr>
            <a:spLocks noGrp="1"/>
          </p:cNvSpPr>
          <p:nvPr>
            <p:ph type="sldNum" sz="quarter" idx="11"/>
          </p:nvPr>
        </p:nvSpPr>
        <p:spPr/>
        <p:txBody>
          <a:bodyPr/>
          <a:lstStyle/>
          <a:p>
            <a:pPr>
              <a:defRPr/>
            </a:pPr>
            <a:fld id="{4635AE12-246C-49B1-92D7-252397D611F1}" type="slidenum">
              <a:rPr lang="en-US" smtClean="0"/>
              <a:pPr>
                <a:defRPr/>
              </a:pPr>
              <a:t>20</a:t>
            </a:fld>
            <a:endParaRPr lang="en-US"/>
          </a:p>
        </p:txBody>
      </p:sp>
    </p:spTree>
    <p:extLst>
      <p:ext uri="{BB962C8B-B14F-4D97-AF65-F5344CB8AC3E}">
        <p14:creationId xmlns:p14="http://schemas.microsoft.com/office/powerpoint/2010/main" val="371751324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a:spLocks noGrp="1" noChangeArrowheads="1"/>
          </p:cNvSpPr>
          <p:nvPr>
            <p:ph type="body" idx="1"/>
          </p:nvPr>
        </p:nvSpPr>
        <p:spPr/>
        <p:txBody>
          <a:bodyPr/>
          <a:lstStyle/>
          <a:p>
            <a:r>
              <a:rPr lang="en-US" altLang="en-US">
                <a:ea typeface="ＭＳ Ｐゴシック" pitchFamily="34" charset="-128"/>
              </a:rPr>
              <a:t>Different ways of handling</a:t>
            </a:r>
          </a:p>
          <a:p>
            <a:pPr lvl="1"/>
            <a:r>
              <a:rPr lang="en-US" altLang="en-US">
                <a:solidFill>
                  <a:srgbClr val="CC3300"/>
                </a:solidFill>
                <a:ea typeface="ＭＳ Ｐゴシック" pitchFamily="34" charset="-128"/>
              </a:rPr>
              <a:t>Discretization</a:t>
            </a:r>
            <a:r>
              <a:rPr lang="en-US" altLang="en-US">
                <a:ea typeface="ＭＳ Ｐゴシック" pitchFamily="34" charset="-128"/>
              </a:rPr>
              <a:t> to form an ordinal categorical attribute</a:t>
            </a:r>
          </a:p>
          <a:p>
            <a:pPr lvl="2">
              <a:buFont typeface="Wingdings" pitchFamily="2" charset="2"/>
              <a:buNone/>
            </a:pPr>
            <a:r>
              <a:rPr lang="en-US" altLang="en-US">
                <a:ea typeface="ＭＳ Ｐゴシック" pitchFamily="34" charset="-128"/>
              </a:rPr>
              <a:t> Ranges can be found by equal interval bucketing, equal frequency bucketing (percentiles), or clustering.</a:t>
            </a:r>
          </a:p>
          <a:p>
            <a:pPr lvl="2"/>
            <a:r>
              <a:rPr lang="en-US" altLang="en-US">
                <a:ea typeface="ＭＳ Ｐゴシック" pitchFamily="34" charset="-128"/>
              </a:rPr>
              <a:t> Static – discretize once at the beginning</a:t>
            </a:r>
          </a:p>
          <a:p>
            <a:pPr lvl="2"/>
            <a:r>
              <a:rPr lang="en-US" altLang="en-US">
                <a:ea typeface="ＭＳ Ｐゴシック" pitchFamily="34" charset="-128"/>
              </a:rPr>
              <a:t> Dynamic – repeat at each node</a:t>
            </a:r>
          </a:p>
          <a:p>
            <a:pPr lvl="4"/>
            <a:endParaRPr lang="en-US" altLang="en-US">
              <a:solidFill>
                <a:srgbClr val="CC3300"/>
              </a:solidFill>
              <a:ea typeface="ＭＳ Ｐゴシック" pitchFamily="34" charset="-128"/>
            </a:endParaRPr>
          </a:p>
          <a:p>
            <a:pPr lvl="1"/>
            <a:r>
              <a:rPr lang="en-US" altLang="en-US">
                <a:solidFill>
                  <a:srgbClr val="CC3300"/>
                </a:solidFill>
                <a:ea typeface="ＭＳ Ｐゴシック" pitchFamily="34" charset="-128"/>
              </a:rPr>
              <a:t>Binary Decision</a:t>
            </a:r>
            <a:r>
              <a:rPr lang="en-US" altLang="en-US">
                <a:ea typeface="ＭＳ Ｐゴシック" pitchFamily="34" charset="-128"/>
              </a:rPr>
              <a:t>: (A &lt; v) or (A </a:t>
            </a:r>
            <a:r>
              <a:rPr lang="en-US" altLang="en-US">
                <a:ea typeface="ＭＳ Ｐゴシック" pitchFamily="34" charset="-128"/>
                <a:sym typeface="Symbol" pitchFamily="18" charset="2"/>
              </a:rPr>
              <a:t> v)</a:t>
            </a:r>
            <a:endParaRPr lang="en-US" altLang="en-US">
              <a:ea typeface="ＭＳ Ｐゴシック" pitchFamily="34" charset="-128"/>
            </a:endParaRPr>
          </a:p>
          <a:p>
            <a:pPr lvl="2"/>
            <a:r>
              <a:rPr lang="en-US" altLang="en-US">
                <a:ea typeface="ＭＳ Ｐゴシック" pitchFamily="34" charset="-128"/>
              </a:rPr>
              <a:t> consider all possible splits and finds the best cut</a:t>
            </a:r>
          </a:p>
          <a:p>
            <a:pPr lvl="2"/>
            <a:r>
              <a:rPr lang="en-US" altLang="en-US">
                <a:ea typeface="ＭＳ Ｐゴシック" pitchFamily="34" charset="-128"/>
              </a:rPr>
              <a:t> can be more compute intensive</a:t>
            </a:r>
          </a:p>
        </p:txBody>
      </p:sp>
      <p:sp>
        <p:nvSpPr>
          <p:cNvPr id="4" name="Slide Number Placeholder 3"/>
          <p:cNvSpPr>
            <a:spLocks noGrp="1"/>
          </p:cNvSpPr>
          <p:nvPr>
            <p:ph type="sldNum" sz="quarter" idx="12"/>
          </p:nvPr>
        </p:nvSpPr>
        <p:spPr/>
        <p:txBody>
          <a:bodyPr/>
          <a:lstStyle/>
          <a:p>
            <a:fld id="{F16B0707-FA99-4213-A34A-63FDE2B74693}" type="slidenum">
              <a:rPr lang="en-US"/>
              <a:pPr/>
              <a:t>21</a:t>
            </a:fld>
            <a:endParaRPr lang="en-US"/>
          </a:p>
        </p:txBody>
      </p:sp>
      <p:sp>
        <p:nvSpPr>
          <p:cNvPr id="5" name="Rectangle 2"/>
          <p:cNvSpPr>
            <a:spLocks noGrp="1" noChangeArrowheads="1"/>
          </p:cNvSpPr>
          <p:nvPr>
            <p:ph type="title"/>
          </p:nvPr>
        </p:nvSpPr>
        <p:spPr>
          <a:xfrm>
            <a:off x="381000" y="304800"/>
            <a:ext cx="8302929" cy="1021976"/>
          </a:xfrm>
        </p:spPr>
        <p:txBody>
          <a:bodyPr>
            <a:noAutofit/>
          </a:bodyPr>
          <a:lstStyle/>
          <a:p>
            <a:pPr eaLnBrk="1" hangingPunct="1"/>
            <a:r>
              <a:rPr lang="en-US" altLang="en-US" sz="3600" dirty="0"/>
              <a:t>How to Handle Continuous-Valued Attributes?</a:t>
            </a:r>
            <a:endParaRPr lang="en-US" altLang="en-US" sz="3600" i="1" dirty="0">
              <a:solidFill>
                <a:srgbClr val="CC0000"/>
              </a:solidFill>
            </a:endParaRPr>
          </a:p>
        </p:txBody>
      </p:sp>
    </p:spTree>
    <p:extLst>
      <p:ext uri="{BB962C8B-B14F-4D97-AF65-F5344CB8AC3E}">
        <p14:creationId xmlns:p14="http://schemas.microsoft.com/office/powerpoint/2010/main" val="237369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381000" y="304800"/>
            <a:ext cx="8302929" cy="1021976"/>
          </a:xfrm>
        </p:spPr>
        <p:txBody>
          <a:bodyPr>
            <a:noAutofit/>
          </a:bodyPr>
          <a:lstStyle/>
          <a:p>
            <a:pPr eaLnBrk="1" hangingPunct="1"/>
            <a:r>
              <a:rPr lang="en-US" altLang="en-US" sz="3600" dirty="0"/>
              <a:t>How to Handle Continuous-Valued Attributes?</a:t>
            </a:r>
            <a:endParaRPr lang="en-US" altLang="en-US" sz="3600" i="1" dirty="0">
              <a:solidFill>
                <a:srgbClr val="CC0000"/>
              </a:solidFill>
            </a:endParaRPr>
          </a:p>
        </p:txBody>
      </p:sp>
      <p:sp>
        <p:nvSpPr>
          <p:cNvPr id="17412" name="Rectangle 3"/>
          <p:cNvSpPr>
            <a:spLocks noGrp="1" noChangeArrowheads="1"/>
          </p:cNvSpPr>
          <p:nvPr>
            <p:ph type="body" idx="1"/>
          </p:nvPr>
        </p:nvSpPr>
        <p:spPr>
          <a:xfrm>
            <a:off x="451106" y="1194573"/>
            <a:ext cx="7795856" cy="5437719"/>
          </a:xfrm>
        </p:spPr>
        <p:txBody>
          <a:bodyPr/>
          <a:lstStyle/>
          <a:p>
            <a:pPr eaLnBrk="1" hangingPunct="1">
              <a:lnSpc>
                <a:spcPct val="115000"/>
              </a:lnSpc>
              <a:spcBef>
                <a:spcPct val="25000"/>
              </a:spcBef>
            </a:pPr>
            <a:r>
              <a:rPr lang="en-US" altLang="en-US" sz="2000" dirty="0">
                <a:solidFill>
                  <a:srgbClr val="FF0000"/>
                </a:solidFill>
              </a:rPr>
              <a:t>Method 1:</a:t>
            </a:r>
            <a:r>
              <a:rPr lang="en-US" altLang="en-US" sz="2000" dirty="0"/>
              <a:t> Discretize continuous values and treat them as categorical values</a:t>
            </a:r>
          </a:p>
          <a:p>
            <a:pPr lvl="1">
              <a:lnSpc>
                <a:spcPct val="115000"/>
              </a:lnSpc>
              <a:spcBef>
                <a:spcPct val="25000"/>
              </a:spcBef>
            </a:pPr>
            <a:r>
              <a:rPr lang="en-US" altLang="en-US" sz="2000" dirty="0"/>
              <a:t>E.g., age: &lt; 20, 20..30, 30..40, 40..50, &gt; 50</a:t>
            </a:r>
          </a:p>
          <a:p>
            <a:pPr>
              <a:lnSpc>
                <a:spcPct val="115000"/>
              </a:lnSpc>
              <a:spcBef>
                <a:spcPct val="25000"/>
              </a:spcBef>
            </a:pPr>
            <a:r>
              <a:rPr lang="en-US" altLang="en-US" sz="2000" dirty="0">
                <a:solidFill>
                  <a:srgbClr val="FF0000"/>
                </a:solidFill>
              </a:rPr>
              <a:t>Method 2</a:t>
            </a:r>
            <a:r>
              <a:rPr lang="en-US" altLang="en-US" sz="2000" dirty="0"/>
              <a:t>: Determine the </a:t>
            </a:r>
            <a:r>
              <a:rPr lang="en-US" altLang="en-US" sz="2000" b="1" i="1" dirty="0"/>
              <a:t>best split point</a:t>
            </a:r>
            <a:r>
              <a:rPr lang="en-US" altLang="en-US" sz="2000" b="1" dirty="0"/>
              <a:t> </a:t>
            </a:r>
            <a:r>
              <a:rPr lang="en-US" altLang="en-US" sz="2000" dirty="0"/>
              <a:t>for continuous-valued attribute A</a:t>
            </a:r>
          </a:p>
          <a:p>
            <a:pPr lvl="1" eaLnBrk="1" hangingPunct="1">
              <a:lnSpc>
                <a:spcPct val="115000"/>
              </a:lnSpc>
              <a:spcBef>
                <a:spcPct val="25000"/>
              </a:spcBef>
            </a:pPr>
            <a:r>
              <a:rPr lang="en-US" altLang="en-US" sz="2000" dirty="0"/>
              <a:t>Sort:, e.g. 15, 18, 21, 22, 24, 25, 29, 31, </a:t>
            </a:r>
            <a:r>
              <a:rPr lang="mr-IN" altLang="en-US" sz="2000" dirty="0"/>
              <a:t>…</a:t>
            </a:r>
            <a:endParaRPr lang="en-US" altLang="en-US" sz="2000" dirty="0"/>
          </a:p>
          <a:p>
            <a:pPr lvl="1">
              <a:lnSpc>
                <a:spcPct val="115000"/>
              </a:lnSpc>
              <a:spcBef>
                <a:spcPct val="25000"/>
              </a:spcBef>
            </a:pPr>
            <a:r>
              <a:rPr lang="en-US" altLang="en-US" sz="2000" i="1" dirty="0"/>
              <a:t>Possible split point: </a:t>
            </a:r>
            <a:r>
              <a:rPr lang="en-US" altLang="en-US" sz="2000" dirty="0"/>
              <a:t>(a</a:t>
            </a:r>
            <a:r>
              <a:rPr lang="en-US" altLang="en-US" sz="2000" baseline="-25000" dirty="0"/>
              <a:t>i</a:t>
            </a:r>
            <a:r>
              <a:rPr lang="en-US" altLang="en-US" sz="2000" dirty="0"/>
              <a:t>+a</a:t>
            </a:r>
            <a:r>
              <a:rPr lang="en-US" altLang="en-US" sz="2000" baseline="-25000" dirty="0"/>
              <a:t>i+1</a:t>
            </a:r>
            <a:r>
              <a:rPr lang="en-US" altLang="en-US" sz="2000" dirty="0"/>
              <a:t>)/2 </a:t>
            </a:r>
            <a:endParaRPr lang="en-US" altLang="en-US" sz="2000" i="1" dirty="0"/>
          </a:p>
          <a:p>
            <a:pPr lvl="2">
              <a:lnSpc>
                <a:spcPct val="115000"/>
              </a:lnSpc>
              <a:spcBef>
                <a:spcPct val="25000"/>
              </a:spcBef>
            </a:pPr>
            <a:r>
              <a:rPr lang="en-US" altLang="en-US" sz="2000" dirty="0"/>
              <a:t>e.g., (15+18)/2 = 16.5, 19.5, 21.5, 23, 24.5, 27, 30, </a:t>
            </a:r>
            <a:r>
              <a:rPr lang="mr-IN" altLang="en-US" sz="2000" dirty="0"/>
              <a:t>…</a:t>
            </a:r>
            <a:endParaRPr lang="en-US" altLang="en-US" sz="2000" dirty="0"/>
          </a:p>
          <a:p>
            <a:pPr lvl="1">
              <a:lnSpc>
                <a:spcPct val="115000"/>
              </a:lnSpc>
              <a:spcBef>
                <a:spcPct val="25000"/>
              </a:spcBef>
            </a:pPr>
            <a:r>
              <a:rPr lang="en-US" altLang="en-US" sz="2000" dirty="0"/>
              <a:t>The point with the </a:t>
            </a:r>
            <a:r>
              <a:rPr lang="en-US" altLang="en-US" sz="2000" i="1" dirty="0"/>
              <a:t>maximum information gain </a:t>
            </a:r>
            <a:r>
              <a:rPr lang="en-US" altLang="en-US" sz="2000" dirty="0"/>
              <a:t>for A is selected as the </a:t>
            </a:r>
            <a:r>
              <a:rPr lang="en-US" altLang="en-US" sz="2000" b="1" dirty="0"/>
              <a:t>split-point</a:t>
            </a:r>
            <a:r>
              <a:rPr lang="en-US" altLang="en-US" sz="2000" dirty="0"/>
              <a:t> for A</a:t>
            </a:r>
          </a:p>
          <a:p>
            <a:pPr eaLnBrk="1" hangingPunct="1">
              <a:lnSpc>
                <a:spcPct val="115000"/>
              </a:lnSpc>
            </a:pPr>
            <a:r>
              <a:rPr lang="en-US" altLang="en-US" sz="2000" dirty="0"/>
              <a:t>Split:  Based on split point P</a:t>
            </a:r>
          </a:p>
          <a:p>
            <a:pPr lvl="1">
              <a:lnSpc>
                <a:spcPct val="115000"/>
              </a:lnSpc>
            </a:pPr>
            <a:r>
              <a:rPr lang="en-US" altLang="en-US" sz="2000" dirty="0"/>
              <a:t>The set of tuples in D satisfying A ≤ P vs. those with A &gt; P</a:t>
            </a:r>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22</a:t>
            </a:fld>
            <a:endParaRPr lang="en-US" altLang="en-US"/>
          </a:p>
        </p:txBody>
      </p:sp>
    </p:spTree>
    <p:extLst>
      <p:ext uri="{BB962C8B-B14F-4D97-AF65-F5344CB8AC3E}">
        <p14:creationId xmlns:p14="http://schemas.microsoft.com/office/powerpoint/2010/main" val="3005299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04800" y="381000"/>
            <a:ext cx="8402638" cy="914400"/>
          </a:xfrm>
        </p:spPr>
        <p:txBody>
          <a:bodyPr/>
          <a:lstStyle/>
          <a:p>
            <a:pPr>
              <a:defRPr/>
            </a:pPr>
            <a:r>
              <a:rPr lang="en-US" dirty="0">
                <a:cs typeface="+mj-cs"/>
              </a:rPr>
              <a:t>Test Condition for Nominal Attributes</a:t>
            </a:r>
          </a:p>
        </p:txBody>
      </p:sp>
      <p:sp>
        <p:nvSpPr>
          <p:cNvPr id="22531" name="Rectangle 3"/>
          <p:cNvSpPr>
            <a:spLocks noGrp="1" noChangeArrowheads="1"/>
          </p:cNvSpPr>
          <p:nvPr>
            <p:ph type="body" sz="half" idx="1"/>
          </p:nvPr>
        </p:nvSpPr>
        <p:spPr>
          <a:xfrm>
            <a:off x="411163" y="1524000"/>
            <a:ext cx="5075237" cy="4800600"/>
          </a:xfrm>
        </p:spPr>
        <p:txBody>
          <a:bodyPr/>
          <a:lstStyle/>
          <a:p>
            <a:pPr marL="342900" indent="-342900"/>
            <a:r>
              <a:rPr lang="en-US" altLang="en-US" sz="2400" dirty="0">
                <a:solidFill>
                  <a:srgbClr val="FF0000"/>
                </a:solidFill>
                <a:ea typeface="ＭＳ Ｐゴシック" pitchFamily="34" charset="-128"/>
              </a:rPr>
              <a:t>Multi-way split:</a:t>
            </a:r>
            <a:r>
              <a:rPr lang="en-US" altLang="en-US" sz="2400" dirty="0">
                <a:ea typeface="ＭＳ Ｐゴシック" pitchFamily="34" charset="-128"/>
              </a:rPr>
              <a:t> </a:t>
            </a:r>
          </a:p>
          <a:p>
            <a:pPr marL="742950" lvl="1" indent="-285750"/>
            <a:r>
              <a:rPr lang="en-US" altLang="en-US" sz="2400" dirty="0">
                <a:ea typeface="ＭＳ Ｐゴシック" pitchFamily="34" charset="-128"/>
              </a:rPr>
              <a:t>Use as many partitions as distinct values. </a:t>
            </a:r>
          </a:p>
          <a:p>
            <a:pPr marL="342900" indent="-342900">
              <a:buFont typeface="Monotype Sorts" pitchFamily="2" charset="2"/>
              <a:buNone/>
            </a:pPr>
            <a:endParaRPr lang="en-US" altLang="en-US" sz="2400" dirty="0">
              <a:ea typeface="ＭＳ Ｐゴシック" pitchFamily="34" charset="-128"/>
            </a:endParaRPr>
          </a:p>
          <a:p>
            <a:pPr marL="342900" indent="-342900">
              <a:buFont typeface="Monotype Sorts" pitchFamily="2" charset="2"/>
              <a:buNone/>
            </a:pPr>
            <a:endParaRPr lang="en-US" altLang="en-US" sz="2400" dirty="0">
              <a:ea typeface="ＭＳ Ｐゴシック" pitchFamily="34" charset="-128"/>
            </a:endParaRPr>
          </a:p>
          <a:p>
            <a:pPr marL="342900" indent="-342900"/>
            <a:r>
              <a:rPr lang="en-US" altLang="en-US" sz="2400" dirty="0">
                <a:solidFill>
                  <a:srgbClr val="FF0000"/>
                </a:solidFill>
                <a:ea typeface="ＭＳ Ｐゴシック" pitchFamily="34" charset="-128"/>
              </a:rPr>
              <a:t>Binary split:</a:t>
            </a:r>
            <a:r>
              <a:rPr lang="en-US" altLang="en-US" sz="2400" dirty="0">
                <a:ea typeface="ＭＳ Ｐゴシック" pitchFamily="34" charset="-128"/>
              </a:rPr>
              <a:t>  </a:t>
            </a:r>
          </a:p>
          <a:p>
            <a:pPr marL="742950" lvl="1" indent="-285750"/>
            <a:r>
              <a:rPr lang="en-US" altLang="en-US" sz="2400" dirty="0">
                <a:ea typeface="ＭＳ Ｐゴシック" pitchFamily="34" charset="-128"/>
              </a:rPr>
              <a:t>Divides values into two subsets</a:t>
            </a:r>
          </a:p>
        </p:txBody>
      </p:sp>
      <p:graphicFrame>
        <p:nvGraphicFramePr>
          <p:cNvPr id="28675" name="Object 25"/>
          <p:cNvGraphicFramePr>
            <a:graphicFrameLocks noGrp="1" noChangeAspect="1"/>
          </p:cNvGraphicFramePr>
          <p:nvPr>
            <p:ph sz="quarter" idx="2"/>
          </p:nvPr>
        </p:nvGraphicFramePr>
        <p:xfrm>
          <a:off x="5334000" y="1371600"/>
          <a:ext cx="3352800" cy="1827213"/>
        </p:xfrm>
        <a:graphic>
          <a:graphicData uri="http://schemas.openxmlformats.org/presentationml/2006/ole">
            <mc:AlternateContent xmlns:mc="http://schemas.openxmlformats.org/markup-compatibility/2006">
              <mc:Choice xmlns:v="urn:schemas-microsoft-com:vml" Requires="v">
                <p:oleObj name="Visio" r:id="rId2" imgW="3999078" imgH="2177316" progId="">
                  <p:embed/>
                </p:oleObj>
              </mc:Choice>
              <mc:Fallback>
                <p:oleObj name="Visio" r:id="rId2" imgW="3999078" imgH="2177316" progId="">
                  <p:embed/>
                  <p:pic>
                    <p:nvPicPr>
                      <p:cNvPr id="0" name="Picture 1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371600"/>
                        <a:ext cx="3352800" cy="182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76" name="Object 27"/>
          <p:cNvGraphicFramePr>
            <a:graphicFrameLocks noGrp="1" noChangeAspect="1"/>
          </p:cNvGraphicFramePr>
          <p:nvPr>
            <p:ph sz="quarter" idx="3"/>
          </p:nvPr>
        </p:nvGraphicFramePr>
        <p:xfrm>
          <a:off x="3810000" y="4495800"/>
          <a:ext cx="3471863" cy="1808163"/>
        </p:xfrm>
        <a:graphic>
          <a:graphicData uri="http://schemas.openxmlformats.org/presentationml/2006/ole">
            <mc:AlternateContent xmlns:mc="http://schemas.openxmlformats.org/markup-compatibility/2006">
              <mc:Choice xmlns:v="urn:schemas-microsoft-com:vml" Requires="v">
                <p:oleObj name="Visio" r:id="rId4" imgW="4806645" imgH="2503269" progId="">
                  <p:embed/>
                </p:oleObj>
              </mc:Choice>
              <mc:Fallback>
                <p:oleObj name="Visio" r:id="rId4" imgW="4806645" imgH="2503269" progId="">
                  <p:embed/>
                  <p:pic>
                    <p:nvPicPr>
                      <p:cNvPr id="0" name="Picture 1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4495800"/>
                        <a:ext cx="3471863" cy="180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77" name="Object 29"/>
          <p:cNvGraphicFramePr>
            <a:graphicFrameLocks noChangeAspect="1"/>
          </p:cNvGraphicFramePr>
          <p:nvPr/>
        </p:nvGraphicFramePr>
        <p:xfrm>
          <a:off x="7086600" y="4495800"/>
          <a:ext cx="2022475" cy="1806575"/>
        </p:xfrm>
        <a:graphic>
          <a:graphicData uri="http://schemas.openxmlformats.org/presentationml/2006/ole">
            <mc:AlternateContent xmlns:mc="http://schemas.openxmlformats.org/markup-compatibility/2006">
              <mc:Choice xmlns:v="urn:schemas-microsoft-com:vml" Requires="v">
                <p:oleObj name="Visio" r:id="rId6" imgW="2708605" imgH="2420129" progId="">
                  <p:embed/>
                </p:oleObj>
              </mc:Choice>
              <mc:Fallback>
                <p:oleObj name="Visio" r:id="rId6" imgW="2708605" imgH="2420129" progId="">
                  <p:embed/>
                  <p:pic>
                    <p:nvPicPr>
                      <p:cNvPr id="0"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86600" y="4495800"/>
                        <a:ext cx="2022475" cy="180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 name="Slide Number Placeholder 2"/>
          <p:cNvSpPr>
            <a:spLocks noGrp="1"/>
          </p:cNvSpPr>
          <p:nvPr>
            <p:ph type="sldNum" sz="quarter" idx="10"/>
          </p:nvPr>
        </p:nvSpPr>
        <p:spPr/>
        <p:txBody>
          <a:bodyPr/>
          <a:lstStyle/>
          <a:p>
            <a:pPr>
              <a:defRPr/>
            </a:pPr>
            <a:fld id="{327AFD74-5170-4EB8-8EBC-53EAF0F4BFEE}" type="slidenum">
              <a:rPr lang="en-US" smtClean="0"/>
              <a:pPr>
                <a:defRPr/>
              </a:pPr>
              <a:t>23</a:t>
            </a:fld>
            <a:endParaRPr lang="en-US"/>
          </a:p>
        </p:txBody>
      </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7"/>
          <p:cNvSpPr>
            <a:spLocks noGrp="1" noChangeArrowheads="1"/>
          </p:cNvSpPr>
          <p:nvPr>
            <p:ph type="title"/>
          </p:nvPr>
        </p:nvSpPr>
        <p:spPr>
          <a:xfrm>
            <a:off x="304800" y="381000"/>
            <a:ext cx="8402638" cy="990600"/>
          </a:xfrm>
        </p:spPr>
        <p:txBody>
          <a:bodyPr/>
          <a:lstStyle/>
          <a:p>
            <a:pPr>
              <a:defRPr/>
            </a:pPr>
            <a:r>
              <a:rPr lang="en-US" dirty="0">
                <a:cs typeface="+mj-cs"/>
              </a:rPr>
              <a:t>Test Condition for Ordinal Attributes</a:t>
            </a:r>
          </a:p>
        </p:txBody>
      </p:sp>
      <p:sp>
        <p:nvSpPr>
          <p:cNvPr id="23555" name="Rectangle 30"/>
          <p:cNvSpPr>
            <a:spLocks noGrp="1" noChangeArrowheads="1"/>
          </p:cNvSpPr>
          <p:nvPr>
            <p:ph type="body" sz="half" idx="1"/>
          </p:nvPr>
        </p:nvSpPr>
        <p:spPr/>
        <p:txBody>
          <a:bodyPr/>
          <a:lstStyle/>
          <a:p>
            <a:pPr marL="342900" indent="-342900"/>
            <a:r>
              <a:rPr lang="en-US" sz="2400">
                <a:solidFill>
                  <a:srgbClr val="FF0000"/>
                </a:solidFill>
                <a:ea typeface="ＭＳ Ｐゴシック" pitchFamily="34" charset="-128"/>
              </a:rPr>
              <a:t>Multi-way split:</a:t>
            </a:r>
            <a:r>
              <a:rPr lang="en-US" sz="2400">
                <a:ea typeface="ＭＳ Ｐゴシック" pitchFamily="34" charset="-128"/>
              </a:rPr>
              <a:t> </a:t>
            </a:r>
          </a:p>
          <a:p>
            <a:pPr marL="742950" lvl="1" indent="-285750"/>
            <a:r>
              <a:rPr lang="en-US" sz="2400">
                <a:ea typeface="ＭＳ Ｐゴシック" pitchFamily="34" charset="-128"/>
              </a:rPr>
              <a:t>Use as many partitions as distinct values</a:t>
            </a:r>
          </a:p>
          <a:p>
            <a:pPr marL="742950" lvl="1" indent="-285750"/>
            <a:endParaRPr lang="en-US" sz="2400">
              <a:ea typeface="ＭＳ Ｐゴシック" pitchFamily="34" charset="-128"/>
            </a:endParaRPr>
          </a:p>
          <a:p>
            <a:pPr marL="342900" indent="-342900"/>
            <a:r>
              <a:rPr lang="en-US" sz="2400">
                <a:solidFill>
                  <a:srgbClr val="FF0000"/>
                </a:solidFill>
                <a:ea typeface="ＭＳ Ｐゴシック" pitchFamily="34" charset="-128"/>
              </a:rPr>
              <a:t>Binary split:</a:t>
            </a:r>
            <a:r>
              <a:rPr lang="en-US" sz="2400">
                <a:ea typeface="ＭＳ Ｐゴシック" pitchFamily="34" charset="-128"/>
              </a:rPr>
              <a:t>  </a:t>
            </a:r>
          </a:p>
          <a:p>
            <a:pPr marL="742950" lvl="1" indent="-285750"/>
            <a:r>
              <a:rPr lang="en-US" sz="2400">
                <a:ea typeface="ＭＳ Ｐゴシック" pitchFamily="34" charset="-128"/>
              </a:rPr>
              <a:t>Divides values into two subsets</a:t>
            </a:r>
          </a:p>
          <a:p>
            <a:pPr marL="742950" lvl="1" indent="-285750"/>
            <a:r>
              <a:rPr lang="en-US" sz="2400">
                <a:ea typeface="ＭＳ Ｐゴシック" pitchFamily="34" charset="-128"/>
              </a:rPr>
              <a:t>Preserve order property among attribute values</a:t>
            </a:r>
          </a:p>
        </p:txBody>
      </p:sp>
      <p:graphicFrame>
        <p:nvGraphicFramePr>
          <p:cNvPr id="29699" name="Object 40"/>
          <p:cNvGraphicFramePr>
            <a:graphicFrameLocks noGrp="1" noChangeAspect="1"/>
          </p:cNvGraphicFramePr>
          <p:nvPr>
            <p:ph sz="quarter" idx="2"/>
          </p:nvPr>
        </p:nvGraphicFramePr>
        <p:xfrm>
          <a:off x="5334000" y="1143000"/>
          <a:ext cx="2951163" cy="1582738"/>
        </p:xfrm>
        <a:graphic>
          <a:graphicData uri="http://schemas.openxmlformats.org/presentationml/2006/ole">
            <mc:AlternateContent xmlns:mc="http://schemas.openxmlformats.org/markup-compatibility/2006">
              <mc:Choice xmlns:v="urn:schemas-microsoft-com:vml" Requires="v">
                <p:oleObj name="Visio" r:id="rId2" imgW="3956406" imgH="2120265" progId="">
                  <p:embed/>
                </p:oleObj>
              </mc:Choice>
              <mc:Fallback>
                <p:oleObj name="Visio" r:id="rId2" imgW="3956406" imgH="2120265" progId="">
                  <p:embed/>
                  <p:pic>
                    <p:nvPicPr>
                      <p:cNvPr id="0" name="Picture 11"/>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143000"/>
                        <a:ext cx="2951163" cy="15827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29700" name="Object 41"/>
          <p:cNvGraphicFramePr>
            <a:graphicFrameLocks noGrp="1" noChangeAspect="1"/>
          </p:cNvGraphicFramePr>
          <p:nvPr>
            <p:ph sz="quarter" idx="3"/>
          </p:nvPr>
        </p:nvGraphicFramePr>
        <p:xfrm>
          <a:off x="5029200" y="2819400"/>
          <a:ext cx="3352800" cy="1744663"/>
        </p:xfrm>
        <a:graphic>
          <a:graphicData uri="http://schemas.openxmlformats.org/presentationml/2006/ole">
            <mc:AlternateContent xmlns:mc="http://schemas.openxmlformats.org/markup-compatibility/2006">
              <mc:Choice xmlns:v="urn:schemas-microsoft-com:vml" Requires="v">
                <p:oleObj name="Visio" r:id="rId4" imgW="4449267" imgH="2315420" progId="">
                  <p:embed/>
                </p:oleObj>
              </mc:Choice>
              <mc:Fallback>
                <p:oleObj name="Visio" r:id="rId4" imgW="4449267" imgH="2315420" progId="">
                  <p:embed/>
                  <p:pic>
                    <p:nvPicPr>
                      <p:cNvPr id="0" name="Picture 1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2819400"/>
                        <a:ext cx="3352800" cy="174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1" name="Object 43"/>
          <p:cNvGraphicFramePr>
            <a:graphicFrameLocks noChangeAspect="1"/>
          </p:cNvGraphicFramePr>
          <p:nvPr/>
        </p:nvGraphicFramePr>
        <p:xfrm>
          <a:off x="4953000" y="4648200"/>
          <a:ext cx="1460500" cy="1768475"/>
        </p:xfrm>
        <a:graphic>
          <a:graphicData uri="http://schemas.openxmlformats.org/presentationml/2006/ole">
            <mc:AlternateContent xmlns:mc="http://schemas.openxmlformats.org/markup-compatibility/2006">
              <mc:Choice xmlns:v="urn:schemas-microsoft-com:vml" Requires="v">
                <p:oleObj name="Visio" r:id="rId6" imgW="1910994" imgH="2315420" progId="">
                  <p:embed/>
                </p:oleObj>
              </mc:Choice>
              <mc:Fallback>
                <p:oleObj name="Visio" r:id="rId6" imgW="1910994" imgH="2315420" progId="">
                  <p:embed/>
                  <p:pic>
                    <p:nvPicPr>
                      <p:cNvPr id="0"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4648200"/>
                        <a:ext cx="1460500"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36653" name="AutoShape 45"/>
          <p:cNvSpPr>
            <a:spLocks/>
          </p:cNvSpPr>
          <p:nvPr/>
        </p:nvSpPr>
        <p:spPr bwMode="auto">
          <a:xfrm>
            <a:off x="6961909" y="4876800"/>
            <a:ext cx="1676400" cy="990600"/>
          </a:xfrm>
          <a:prstGeom prst="borderCallout2">
            <a:avLst>
              <a:gd name="adj1" fmla="val 15792"/>
              <a:gd name="adj2" fmla="val -5000"/>
              <a:gd name="adj3" fmla="val 15792"/>
              <a:gd name="adj4" fmla="val -29898"/>
              <a:gd name="adj5" fmla="val 134948"/>
              <a:gd name="adj6" fmla="val -53972"/>
            </a:avLst>
          </a:prstGeom>
          <a:noFill/>
          <a:ln w="12700">
            <a:solidFill>
              <a:schemeClr val="tx1"/>
            </a:solidFill>
            <a:miter lim="800000"/>
            <a:headEnd/>
            <a:tailEnd/>
          </a:ln>
        </p:spPr>
        <p:txBody>
          <a:bodyPr/>
          <a:lstStyle/>
          <a:p>
            <a:pPr>
              <a:spcBef>
                <a:spcPct val="50000"/>
              </a:spcBef>
            </a:pPr>
            <a:r>
              <a:rPr lang="en-US" altLang="en-US" dirty="0"/>
              <a:t>This grouping violates order property</a:t>
            </a:r>
          </a:p>
          <a:p>
            <a:pPr algn="ctr"/>
            <a:endParaRPr lang="en-US" altLang="en-US" dirty="0"/>
          </a:p>
        </p:txBody>
      </p:sp>
      <p:sp>
        <p:nvSpPr>
          <p:cNvPr id="2" name="Slide Number Placeholder 1"/>
          <p:cNvSpPr>
            <a:spLocks noGrp="1"/>
          </p:cNvSpPr>
          <p:nvPr>
            <p:ph type="sldNum" sz="quarter" idx="10"/>
          </p:nvPr>
        </p:nvSpPr>
        <p:spPr/>
        <p:txBody>
          <a:bodyPr/>
          <a:lstStyle/>
          <a:p>
            <a:pPr>
              <a:defRPr/>
            </a:pPr>
            <a:fld id="{327AFD74-5170-4EB8-8EBC-53EAF0F4BFEE}" type="slidenum">
              <a:rPr lang="en-US" smtClean="0"/>
              <a:pPr>
                <a:defRPr/>
              </a:pPr>
              <a:t>24</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66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665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81000" y="152400"/>
            <a:ext cx="8534400" cy="1066800"/>
          </a:xfrm>
        </p:spPr>
        <p:txBody>
          <a:bodyPr/>
          <a:lstStyle/>
          <a:p>
            <a:pPr>
              <a:defRPr/>
            </a:pPr>
            <a:r>
              <a:rPr lang="en-US" dirty="0">
                <a:cs typeface="+mj-cs"/>
              </a:rPr>
              <a:t>Test Condition for Continuous Attributes</a:t>
            </a:r>
          </a:p>
        </p:txBody>
      </p:sp>
      <p:graphicFrame>
        <p:nvGraphicFramePr>
          <p:cNvPr id="30722" name="Object 4"/>
          <p:cNvGraphicFramePr>
            <a:graphicFrameLocks noGrp="1" noChangeAspect="1"/>
          </p:cNvGraphicFramePr>
          <p:nvPr>
            <p:ph idx="1"/>
          </p:nvPr>
        </p:nvGraphicFramePr>
        <p:xfrm>
          <a:off x="738188" y="1746250"/>
          <a:ext cx="7608887" cy="3282950"/>
        </p:xfrm>
        <a:graphic>
          <a:graphicData uri="http://schemas.openxmlformats.org/presentationml/2006/ole">
            <mc:AlternateContent xmlns:mc="http://schemas.openxmlformats.org/markup-compatibility/2006">
              <mc:Choice xmlns:v="urn:schemas-microsoft-com:vml" Requires="v">
                <p:oleObj name="Visio" r:id="rId2" imgW="8538667" imgH="3684287" progId="">
                  <p:embed/>
                </p:oleObj>
              </mc:Choice>
              <mc:Fallback>
                <p:oleObj name="Visio" r:id="rId2" imgW="8538667" imgH="3684287" progId="">
                  <p:embed/>
                  <p:pic>
                    <p:nvPicPr>
                      <p:cNvPr id="0" name="Picture 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188" y="1746250"/>
                        <a:ext cx="7608887" cy="328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Slide Number Placeholder 3"/>
          <p:cNvSpPr>
            <a:spLocks noGrp="1"/>
          </p:cNvSpPr>
          <p:nvPr>
            <p:ph type="sldNum" sz="quarter" idx="12"/>
          </p:nvPr>
        </p:nvSpPr>
        <p:spPr/>
        <p:txBody>
          <a:bodyPr/>
          <a:lstStyle/>
          <a:p>
            <a:fld id="{140B02F9-F986-4670-A28E-744880910825}" type="slidenum">
              <a:rPr lang="en-US"/>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
          <p:cNvSpPr txBox="1">
            <a:spLocks noChangeArrowheads="1"/>
          </p:cNvSpPr>
          <p:nvPr/>
        </p:nvSpPr>
        <p:spPr>
          <a:xfrm>
            <a:off x="228600" y="1143000"/>
            <a:ext cx="8382000" cy="5105400"/>
          </a:xfrm>
          <a:prstGeom prst="rect">
            <a:avLst/>
          </a:prstGeom>
          <a:noFill/>
        </p:spPr>
        <p:txBody>
          <a:bodyPr lIns="92075" tIns="46038" rIns="92075" bIns="46038">
            <a:normAutofit/>
          </a:bodyPr>
          <a:lstStyle/>
          <a:p>
            <a:pPr marL="274320" marR="0" lvl="0" indent="-274320" algn="l" defTabSz="914400" rtl="0" eaLnBrk="1" fontAlgn="auto" latinLnBrk="0" hangingPunct="1">
              <a:lnSpc>
                <a:spcPct val="130000"/>
              </a:lnSpc>
              <a:spcBef>
                <a:spcPts val="580"/>
              </a:spcBef>
              <a:spcAft>
                <a:spcPts val="0"/>
              </a:spcAft>
              <a:buClr>
                <a:schemeClr val="accent1"/>
              </a:buClr>
              <a:buSzPct val="85000"/>
              <a:buFont typeface="Wingdings 2"/>
              <a:buChar char=""/>
              <a:tabLst/>
              <a:defRPr/>
            </a:pPr>
            <a:r>
              <a:rPr lang="en-US" sz="2800" dirty="0">
                <a:latin typeface="+mn-lt"/>
              </a:rPr>
              <a:t>Training data set: </a:t>
            </a:r>
          </a:p>
          <a:p>
            <a:pPr marL="274320" marR="0" lvl="0" indent="-274320" algn="l" defTabSz="914400" rtl="0" eaLnBrk="1" fontAlgn="auto" latinLnBrk="0" hangingPunct="1">
              <a:lnSpc>
                <a:spcPct val="130000"/>
              </a:lnSpc>
              <a:spcBef>
                <a:spcPts val="580"/>
              </a:spcBef>
              <a:spcAft>
                <a:spcPts val="0"/>
              </a:spcAft>
              <a:buClr>
                <a:schemeClr val="accent1"/>
              </a:buClr>
              <a:buSzPct val="85000"/>
              <a:tabLst/>
              <a:defRPr/>
            </a:pPr>
            <a:r>
              <a:rPr lang="en-US" sz="2800" dirty="0" err="1">
                <a:latin typeface="+mn-lt"/>
              </a:rPr>
              <a:t>Buys_computer</a:t>
            </a:r>
            <a:endParaRPr lang="en-US" sz="2800" dirty="0">
              <a:latin typeface="+mn-lt"/>
            </a:endParaRPr>
          </a:p>
          <a:p>
            <a:pPr marL="274320" marR="0" lvl="0" indent="-274320" algn="l" defTabSz="914400" rtl="0" eaLnBrk="1" fontAlgn="auto" latinLnBrk="0" hangingPunct="1">
              <a:lnSpc>
                <a:spcPct val="130000"/>
              </a:lnSpc>
              <a:spcBef>
                <a:spcPts val="580"/>
              </a:spcBef>
              <a:spcAft>
                <a:spcPts val="0"/>
              </a:spcAft>
              <a:buClr>
                <a:schemeClr val="accent1"/>
              </a:buClr>
              <a:buSzPct val="85000"/>
              <a:buFont typeface="Wingdings 2"/>
              <a:buChar char=""/>
              <a:tabLst/>
              <a:defRPr/>
            </a:pPr>
            <a:r>
              <a:rPr lang="en-US" sz="2800" dirty="0">
                <a:latin typeface="+mn-lt"/>
              </a:rPr>
              <a:t>Resulting tree:</a:t>
            </a:r>
          </a:p>
        </p:txBody>
      </p:sp>
      <p:sp>
        <p:nvSpPr>
          <p:cNvPr id="32" name="Rectangle 2"/>
          <p:cNvSpPr txBox="1">
            <a:spLocks noChangeArrowheads="1"/>
          </p:cNvSpPr>
          <p:nvPr/>
        </p:nvSpPr>
        <p:spPr>
          <a:xfrm>
            <a:off x="0" y="381000"/>
            <a:ext cx="9144000" cy="609600"/>
          </a:xfrm>
          <a:prstGeom prst="rect">
            <a:avLst/>
          </a:prstGeom>
          <a:noFill/>
        </p:spPr>
        <p:txBody>
          <a:bodyPr lIns="92075" tIns="46038" rIns="92075" bIns="46038" anchor="ctr" anchorCtr="0">
            <a:noAutofit/>
          </a:bodyPr>
          <a:lstStyle/>
          <a:p>
            <a:pPr lvl="0" eaLnBrk="1" fontAlgn="auto" hangingPunct="1">
              <a:spcAft>
                <a:spcPts val="0"/>
              </a:spcAft>
            </a:pPr>
            <a:r>
              <a:rPr lang="en-US" sz="3600" b="1" dirty="0">
                <a:solidFill>
                  <a:schemeClr val="tx2"/>
                </a:solidFill>
                <a:latin typeface="+mj-lt"/>
              </a:rPr>
              <a:t>Decision Tree Induction: Example-2</a:t>
            </a:r>
            <a:endParaRPr kumimoji="0" lang="en-US" sz="3600" b="1" i="0" u="none" strike="noStrike" kern="1200" cap="none" spc="0" normalizeH="0" baseline="0" noProof="0" dirty="0">
              <a:ln>
                <a:noFill/>
              </a:ln>
              <a:solidFill>
                <a:schemeClr val="tx2"/>
              </a:solidFill>
              <a:effectLst/>
              <a:uLnTx/>
              <a:uFillTx/>
              <a:latin typeface="+mj-lt"/>
              <a:ea typeface="+mj-ea"/>
              <a:cs typeface="+mj-cs"/>
            </a:endParaRPr>
          </a:p>
        </p:txBody>
      </p:sp>
      <p:grpSp>
        <p:nvGrpSpPr>
          <p:cNvPr id="2" name="Group 63"/>
          <p:cNvGrpSpPr>
            <a:grpSpLocks/>
          </p:cNvGrpSpPr>
          <p:nvPr/>
        </p:nvGrpSpPr>
        <p:grpSpPr bwMode="auto">
          <a:xfrm>
            <a:off x="95250" y="2819400"/>
            <a:ext cx="6305550" cy="3810000"/>
            <a:chOff x="768" y="1152"/>
            <a:chExt cx="3972" cy="2400"/>
          </a:xfrm>
        </p:grpSpPr>
        <p:sp>
          <p:nvSpPr>
            <p:cNvPr id="12295" name="Rectangle 3"/>
            <p:cNvSpPr>
              <a:spLocks noChangeArrowheads="1"/>
            </p:cNvSpPr>
            <p:nvPr/>
          </p:nvSpPr>
          <p:spPr bwMode="auto">
            <a:xfrm>
              <a:off x="2387" y="1152"/>
              <a:ext cx="475" cy="296"/>
            </a:xfrm>
            <a:prstGeom prst="rect">
              <a:avLst/>
            </a:prstGeom>
            <a:solidFill>
              <a:srgbClr val="00CCFF"/>
            </a:solidFill>
            <a:ln w="12700">
              <a:solidFill>
                <a:schemeClr val="tx1"/>
              </a:solidFill>
              <a:miter lim="800000"/>
              <a:headEnd/>
              <a:tailEnd/>
            </a:ln>
          </p:spPr>
          <p:txBody>
            <a:bodyPr wrap="none" lIns="92075" tIns="46038" rIns="92075" bIns="46038">
              <a:spAutoFit/>
            </a:bodyPr>
            <a:lstStyle/>
            <a:p>
              <a:pPr algn="ctr" eaLnBrk="0" hangingPunct="0"/>
              <a:r>
                <a:rPr lang="en-US" sz="2400" dirty="0">
                  <a:latin typeface="Times New Roman" pitchFamily="18" charset="0"/>
                </a:rPr>
                <a:t>age?</a:t>
              </a:r>
            </a:p>
          </p:txBody>
        </p:sp>
        <p:sp>
          <p:nvSpPr>
            <p:cNvPr id="12296" name="Rectangle 4"/>
            <p:cNvSpPr>
              <a:spLocks noChangeArrowheads="1"/>
            </p:cNvSpPr>
            <p:nvPr/>
          </p:nvSpPr>
          <p:spPr bwMode="auto">
            <a:xfrm>
              <a:off x="2245" y="1766"/>
              <a:ext cx="755" cy="288"/>
            </a:xfrm>
            <a:prstGeom prst="rect">
              <a:avLst/>
            </a:prstGeom>
            <a:no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overcast</a:t>
              </a:r>
            </a:p>
          </p:txBody>
        </p:sp>
        <p:sp>
          <p:nvSpPr>
            <p:cNvPr id="12297" name="Rectangle 5"/>
            <p:cNvSpPr>
              <a:spLocks noChangeArrowheads="1"/>
            </p:cNvSpPr>
            <p:nvPr/>
          </p:nvSpPr>
          <p:spPr bwMode="auto">
            <a:xfrm>
              <a:off x="1229" y="2342"/>
              <a:ext cx="763" cy="296"/>
            </a:xfrm>
            <a:prstGeom prst="rect">
              <a:avLst/>
            </a:prstGeom>
            <a:solidFill>
              <a:srgbClr val="00FFCC"/>
            </a:solidFill>
            <a:ln w="12700">
              <a:solidFill>
                <a:schemeClr val="tx1"/>
              </a:solidFill>
              <a:miter lim="800000"/>
              <a:headEnd/>
              <a:tailEnd/>
            </a:ln>
          </p:spPr>
          <p:txBody>
            <a:bodyPr wrap="none" lIns="92075" tIns="46038" rIns="92075" bIns="46038">
              <a:spAutoFit/>
            </a:bodyPr>
            <a:lstStyle/>
            <a:p>
              <a:pPr algn="ctr" eaLnBrk="0" hangingPunct="0"/>
              <a:r>
                <a:rPr lang="en-US" sz="2400">
                  <a:latin typeface="Times New Roman" pitchFamily="18" charset="0"/>
                </a:rPr>
                <a:t>student?</a:t>
              </a:r>
            </a:p>
          </p:txBody>
        </p:sp>
        <p:sp>
          <p:nvSpPr>
            <p:cNvPr id="12298" name="Rectangle 6"/>
            <p:cNvSpPr>
              <a:spLocks noChangeArrowheads="1"/>
            </p:cNvSpPr>
            <p:nvPr/>
          </p:nvSpPr>
          <p:spPr bwMode="auto">
            <a:xfrm>
              <a:off x="3432" y="2342"/>
              <a:ext cx="1140" cy="296"/>
            </a:xfrm>
            <a:prstGeom prst="rect">
              <a:avLst/>
            </a:prstGeom>
            <a:solidFill>
              <a:srgbClr val="99CCFF"/>
            </a:solidFill>
            <a:ln w="12700">
              <a:solidFill>
                <a:schemeClr val="tx1"/>
              </a:solidFill>
              <a:miter lim="800000"/>
              <a:headEnd/>
              <a:tailEnd/>
            </a:ln>
          </p:spPr>
          <p:txBody>
            <a:bodyPr wrap="none" lIns="92075" tIns="46038" rIns="92075" bIns="46038">
              <a:spAutoFit/>
            </a:bodyPr>
            <a:lstStyle/>
            <a:p>
              <a:pPr algn="ctr" eaLnBrk="0" hangingPunct="0"/>
              <a:r>
                <a:rPr lang="en-US" sz="2400">
                  <a:latin typeface="Times New Roman" pitchFamily="18" charset="0"/>
                </a:rPr>
                <a:t>credit rating?</a:t>
              </a:r>
            </a:p>
          </p:txBody>
        </p:sp>
        <p:sp>
          <p:nvSpPr>
            <p:cNvPr id="12299" name="Line 11"/>
            <p:cNvSpPr>
              <a:spLocks noChangeShapeType="1"/>
            </p:cNvSpPr>
            <p:nvPr/>
          </p:nvSpPr>
          <p:spPr bwMode="auto">
            <a:xfrm flipH="1">
              <a:off x="1619" y="1462"/>
              <a:ext cx="625" cy="83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2300" name="Line 12"/>
            <p:cNvSpPr>
              <a:spLocks noChangeShapeType="1"/>
            </p:cNvSpPr>
            <p:nvPr/>
          </p:nvSpPr>
          <p:spPr bwMode="auto">
            <a:xfrm flipH="1">
              <a:off x="2622" y="1491"/>
              <a:ext cx="1" cy="34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2301" name="Line 13"/>
            <p:cNvSpPr>
              <a:spLocks noChangeShapeType="1"/>
            </p:cNvSpPr>
            <p:nvPr/>
          </p:nvSpPr>
          <p:spPr bwMode="auto">
            <a:xfrm>
              <a:off x="2928" y="1440"/>
              <a:ext cx="1051" cy="895"/>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2302" name="Rectangle 14"/>
            <p:cNvSpPr>
              <a:spLocks noChangeArrowheads="1"/>
            </p:cNvSpPr>
            <p:nvPr/>
          </p:nvSpPr>
          <p:spPr bwMode="auto">
            <a:xfrm>
              <a:off x="1513" y="1730"/>
              <a:ext cx="534" cy="296"/>
            </a:xfrm>
            <a:prstGeom prst="rect">
              <a:avLst/>
            </a:prstGeom>
            <a:solidFill>
              <a:srgbClr val="FFFF00"/>
            </a:solidFill>
            <a:ln w="12700">
              <a:solidFill>
                <a:schemeClr val="bg1"/>
              </a:solidFill>
              <a:miter lim="800000"/>
              <a:headEnd/>
              <a:tailEnd/>
            </a:ln>
          </p:spPr>
          <p:txBody>
            <a:bodyPr wrap="none" lIns="92075" tIns="46038" rIns="92075" bIns="46038">
              <a:spAutoFit/>
            </a:bodyPr>
            <a:lstStyle/>
            <a:p>
              <a:pPr algn="ctr" eaLnBrk="0" hangingPunct="0"/>
              <a:r>
                <a:rPr lang="en-US" sz="2400" b="1">
                  <a:latin typeface="Times New Roman" pitchFamily="18" charset="0"/>
                </a:rPr>
                <a:t>&lt;=30</a:t>
              </a:r>
              <a:endParaRPr lang="en-US" sz="2400">
                <a:latin typeface="Times New Roman" pitchFamily="18" charset="0"/>
              </a:endParaRPr>
            </a:p>
          </p:txBody>
        </p:sp>
        <p:sp>
          <p:nvSpPr>
            <p:cNvPr id="12303" name="Rectangle 15"/>
            <p:cNvSpPr>
              <a:spLocks noChangeArrowheads="1"/>
            </p:cNvSpPr>
            <p:nvPr/>
          </p:nvSpPr>
          <p:spPr bwMode="auto">
            <a:xfrm>
              <a:off x="3364" y="1804"/>
              <a:ext cx="417"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&gt;40</a:t>
              </a:r>
              <a:endParaRPr lang="en-US" sz="2400">
                <a:latin typeface="Times New Roman" pitchFamily="18" charset="0"/>
              </a:endParaRPr>
            </a:p>
          </p:txBody>
        </p:sp>
        <p:sp>
          <p:nvSpPr>
            <p:cNvPr id="12304" name="Line 16"/>
            <p:cNvSpPr>
              <a:spLocks noChangeShapeType="1"/>
            </p:cNvSpPr>
            <p:nvPr/>
          </p:nvSpPr>
          <p:spPr bwMode="auto">
            <a:xfrm flipH="1">
              <a:off x="960" y="2640"/>
              <a:ext cx="528" cy="62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2305" name="Line 17"/>
            <p:cNvSpPr>
              <a:spLocks noChangeShapeType="1"/>
            </p:cNvSpPr>
            <p:nvPr/>
          </p:nvSpPr>
          <p:spPr bwMode="auto">
            <a:xfrm>
              <a:off x="1728" y="2640"/>
              <a:ext cx="480" cy="624"/>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2306" name="Line 18"/>
            <p:cNvSpPr>
              <a:spLocks noChangeShapeType="1"/>
            </p:cNvSpPr>
            <p:nvPr/>
          </p:nvSpPr>
          <p:spPr bwMode="auto">
            <a:xfrm flipH="1">
              <a:off x="3360" y="2640"/>
              <a:ext cx="480" cy="576"/>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2307" name="Line 19"/>
            <p:cNvSpPr>
              <a:spLocks noChangeShapeType="1"/>
            </p:cNvSpPr>
            <p:nvPr/>
          </p:nvSpPr>
          <p:spPr bwMode="auto">
            <a:xfrm>
              <a:off x="4128" y="2640"/>
              <a:ext cx="432" cy="576"/>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2308" name="Line 24"/>
            <p:cNvSpPr>
              <a:spLocks noChangeShapeType="1"/>
            </p:cNvSpPr>
            <p:nvPr/>
          </p:nvSpPr>
          <p:spPr bwMode="auto">
            <a:xfrm>
              <a:off x="2623" y="2029"/>
              <a:ext cx="0" cy="27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2309" name="Rectangle 25"/>
            <p:cNvSpPr>
              <a:spLocks noChangeArrowheads="1"/>
            </p:cNvSpPr>
            <p:nvPr/>
          </p:nvSpPr>
          <p:spPr bwMode="auto">
            <a:xfrm>
              <a:off x="768" y="3264"/>
              <a:ext cx="308" cy="288"/>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no</a:t>
              </a:r>
            </a:p>
          </p:txBody>
        </p:sp>
        <p:sp>
          <p:nvSpPr>
            <p:cNvPr id="12310" name="Rectangle 27"/>
            <p:cNvSpPr>
              <a:spLocks noChangeArrowheads="1"/>
            </p:cNvSpPr>
            <p:nvPr/>
          </p:nvSpPr>
          <p:spPr bwMode="auto">
            <a:xfrm>
              <a:off x="2028" y="3264"/>
              <a:ext cx="372" cy="288"/>
            </a:xfrm>
            <a:prstGeom prst="rect">
              <a:avLst/>
            </a:prstGeom>
            <a:solidFill>
              <a:srgbClr val="00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12311" name="Rectangle 28"/>
            <p:cNvSpPr>
              <a:spLocks noChangeArrowheads="1"/>
            </p:cNvSpPr>
            <p:nvPr/>
          </p:nvSpPr>
          <p:spPr bwMode="auto">
            <a:xfrm>
              <a:off x="4368" y="3216"/>
              <a:ext cx="372" cy="288"/>
            </a:xfrm>
            <a:prstGeom prst="rect">
              <a:avLst/>
            </a:prstGeom>
            <a:solidFill>
              <a:srgbClr val="00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12312" name="Rectangle 29"/>
            <p:cNvSpPr>
              <a:spLocks noChangeArrowheads="1"/>
            </p:cNvSpPr>
            <p:nvPr/>
          </p:nvSpPr>
          <p:spPr bwMode="auto">
            <a:xfrm>
              <a:off x="2437" y="2344"/>
              <a:ext cx="372" cy="288"/>
            </a:xfrm>
            <a:prstGeom prst="rect">
              <a:avLst/>
            </a:prstGeom>
            <a:solidFill>
              <a:srgbClr val="00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12313" name="Rectangle 30"/>
            <p:cNvSpPr>
              <a:spLocks noChangeArrowheads="1"/>
            </p:cNvSpPr>
            <p:nvPr/>
          </p:nvSpPr>
          <p:spPr bwMode="auto">
            <a:xfrm>
              <a:off x="2256" y="1824"/>
              <a:ext cx="672" cy="192"/>
            </a:xfrm>
            <a:prstGeom prst="rect">
              <a:avLst/>
            </a:prstGeom>
            <a:solidFill>
              <a:srgbClr val="FFFF00"/>
            </a:solidFill>
            <a:ln w="12700">
              <a:noFill/>
              <a:miter lim="800000"/>
              <a:headEnd type="none" w="sm" len="sm"/>
              <a:tailEnd type="none" w="sm" len="sm"/>
            </a:ln>
          </p:spPr>
          <p:txBody>
            <a:bodyPr wrap="none" anchor="ctr"/>
            <a:lstStyle/>
            <a:p>
              <a:pPr algn="ctr" eaLnBrk="0" hangingPunct="0"/>
              <a:r>
                <a:rPr lang="en-US" sz="2000" b="1">
                  <a:latin typeface="Times New Roman" pitchFamily="18" charset="0"/>
                </a:rPr>
                <a:t>31..40</a:t>
              </a:r>
              <a:endParaRPr lang="en-US">
                <a:latin typeface="Times New Roman" pitchFamily="18" charset="0"/>
              </a:endParaRPr>
            </a:p>
          </p:txBody>
        </p:sp>
        <p:sp>
          <p:nvSpPr>
            <p:cNvPr id="12314" name="Rectangle 62"/>
            <p:cNvSpPr>
              <a:spLocks noChangeArrowheads="1"/>
            </p:cNvSpPr>
            <p:nvPr/>
          </p:nvSpPr>
          <p:spPr bwMode="auto">
            <a:xfrm rot="-143156">
              <a:off x="3168" y="3216"/>
              <a:ext cx="308" cy="288"/>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no</a:t>
              </a:r>
            </a:p>
          </p:txBody>
        </p:sp>
        <p:sp>
          <p:nvSpPr>
            <p:cNvPr id="12315" name="Rectangle 9"/>
            <p:cNvSpPr>
              <a:spLocks noChangeArrowheads="1"/>
            </p:cNvSpPr>
            <p:nvPr/>
          </p:nvSpPr>
          <p:spPr bwMode="auto">
            <a:xfrm>
              <a:off x="4176" y="2784"/>
              <a:ext cx="382"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fair</a:t>
              </a:r>
            </a:p>
          </p:txBody>
        </p:sp>
        <p:sp>
          <p:nvSpPr>
            <p:cNvPr id="12316" name="Rectangle 10"/>
            <p:cNvSpPr>
              <a:spLocks noChangeArrowheads="1"/>
            </p:cNvSpPr>
            <p:nvPr/>
          </p:nvSpPr>
          <p:spPr bwMode="auto">
            <a:xfrm>
              <a:off x="3072" y="2784"/>
              <a:ext cx="807"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excellent</a:t>
              </a:r>
            </a:p>
          </p:txBody>
        </p:sp>
        <p:sp>
          <p:nvSpPr>
            <p:cNvPr id="12317" name="Rectangle 8"/>
            <p:cNvSpPr>
              <a:spLocks noChangeArrowheads="1"/>
            </p:cNvSpPr>
            <p:nvPr/>
          </p:nvSpPr>
          <p:spPr bwMode="auto">
            <a:xfrm>
              <a:off x="1872" y="2832"/>
              <a:ext cx="372" cy="288"/>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12318" name="Rectangle 7"/>
            <p:cNvSpPr>
              <a:spLocks noChangeArrowheads="1"/>
            </p:cNvSpPr>
            <p:nvPr/>
          </p:nvSpPr>
          <p:spPr bwMode="auto">
            <a:xfrm>
              <a:off x="960" y="2832"/>
              <a:ext cx="432" cy="288"/>
            </a:xfrm>
            <a:prstGeom prst="rect">
              <a:avLst/>
            </a:prstGeom>
            <a:solidFill>
              <a:srgbClr val="FFFF00"/>
            </a:solidFill>
            <a:ln w="9525">
              <a:noFill/>
              <a:miter lim="800000"/>
              <a:headEnd/>
              <a:tailEnd/>
            </a:ln>
          </p:spPr>
          <p:txBody>
            <a:bodyPr lIns="92075" tIns="46038" rIns="92075" bIns="46038">
              <a:spAutoFit/>
            </a:bodyPr>
            <a:lstStyle/>
            <a:p>
              <a:pPr algn="ctr" eaLnBrk="0" hangingPunct="0"/>
              <a:r>
                <a:rPr lang="en-US" sz="2400">
                  <a:latin typeface="Times New Roman" pitchFamily="18" charset="0"/>
                </a:rPr>
                <a:t>no</a:t>
              </a:r>
            </a:p>
          </p:txBody>
        </p:sp>
      </p:grpSp>
      <p:graphicFrame>
        <p:nvGraphicFramePr>
          <p:cNvPr id="12293" name="Object 1024"/>
          <p:cNvGraphicFramePr>
            <a:graphicFrameLocks/>
          </p:cNvGraphicFramePr>
          <p:nvPr/>
        </p:nvGraphicFramePr>
        <p:xfrm>
          <a:off x="4953000" y="914400"/>
          <a:ext cx="3951287" cy="3429000"/>
        </p:xfrm>
        <a:graphic>
          <a:graphicData uri="http://schemas.openxmlformats.org/presentationml/2006/ole">
            <mc:AlternateContent xmlns:mc="http://schemas.openxmlformats.org/markup-compatibility/2006">
              <mc:Choice xmlns:v="urn:schemas-microsoft-com:vml" Requires="v">
                <p:oleObj name="Worksheet" r:id="rId3" imgW="5772150" imgH="4457700" progId="Excel.Sheet.8">
                  <p:embed/>
                </p:oleObj>
              </mc:Choice>
              <mc:Fallback>
                <p:oleObj name="Worksheet" r:id="rId3" imgW="5772150" imgH="4457700" progId="Excel.Sheet.8">
                  <p:embed/>
                  <p:pic>
                    <p:nvPicPr>
                      <p:cNvPr id="0" name="Picture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914400"/>
                        <a:ext cx="3951287" cy="342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Slide Number Placeholder 32"/>
          <p:cNvSpPr>
            <a:spLocks noGrp="1"/>
          </p:cNvSpPr>
          <p:nvPr>
            <p:ph type="sldNum" sz="quarter" idx="12"/>
          </p:nvPr>
        </p:nvSpPr>
        <p:spPr/>
        <p:txBody>
          <a:bodyPr/>
          <a:lstStyle/>
          <a:p>
            <a:pPr>
              <a:defRPr/>
            </a:pPr>
            <a:fld id="{28A57868-5B4B-4F42-A149-19F358BE3B7B}" type="slidenum">
              <a:rPr lang="en-US" smtClean="0"/>
              <a:pPr>
                <a:defRPr/>
              </a:pPr>
              <a:t>26</a:t>
            </a:fld>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1027"/>
          <p:cNvSpPr>
            <a:spLocks noGrp="1" noChangeArrowheads="1"/>
          </p:cNvSpPr>
          <p:nvPr>
            <p:ph type="body" idx="1"/>
          </p:nvPr>
        </p:nvSpPr>
        <p:spPr>
          <a:xfrm>
            <a:off x="228600" y="1066800"/>
            <a:ext cx="8763000" cy="5562600"/>
          </a:xfrm>
        </p:spPr>
        <p:txBody>
          <a:bodyPr>
            <a:normAutofit fontScale="92500" lnSpcReduction="10000"/>
          </a:bodyPr>
          <a:lstStyle/>
          <a:p>
            <a:r>
              <a:rPr lang="en-AU" sz="2400" dirty="0"/>
              <a:t>An attribute selection measure is a heuristic for selecting the splitting criterion that “best” separates a given data partition D</a:t>
            </a:r>
          </a:p>
          <a:p>
            <a:r>
              <a:rPr lang="en-AU" sz="2400" dirty="0"/>
              <a:t>Ideally</a:t>
            </a:r>
          </a:p>
          <a:p>
            <a:pPr lvl="1"/>
            <a:r>
              <a:rPr lang="en-AU" sz="2200" dirty="0"/>
              <a:t>Each resulting partition would be pure</a:t>
            </a:r>
          </a:p>
          <a:p>
            <a:pPr lvl="1"/>
            <a:r>
              <a:rPr lang="en-AU" sz="2200" dirty="0"/>
              <a:t>A pure partition is a partition containing </a:t>
            </a:r>
            <a:r>
              <a:rPr lang="en-AU" sz="2200" dirty="0" err="1"/>
              <a:t>tuples</a:t>
            </a:r>
            <a:r>
              <a:rPr lang="en-AU" sz="2200" dirty="0"/>
              <a:t> that all belong to the same class</a:t>
            </a:r>
          </a:p>
          <a:p>
            <a:pPr lvl="1"/>
            <a:endParaRPr lang="en-AU" sz="2200" dirty="0"/>
          </a:p>
          <a:p>
            <a:r>
              <a:rPr lang="en-AU" sz="2400" dirty="0"/>
              <a:t>Attribute selection measures (splitting rules)</a:t>
            </a:r>
          </a:p>
          <a:p>
            <a:pPr lvl="1"/>
            <a:r>
              <a:rPr lang="en-AU" sz="2200" dirty="0"/>
              <a:t>Determine how the </a:t>
            </a:r>
            <a:r>
              <a:rPr lang="en-AU" sz="2200" dirty="0" err="1"/>
              <a:t>tuples</a:t>
            </a:r>
            <a:r>
              <a:rPr lang="en-AU" sz="2200" dirty="0"/>
              <a:t> at a given node are to be split</a:t>
            </a:r>
          </a:p>
          <a:p>
            <a:pPr lvl="1"/>
            <a:r>
              <a:rPr lang="en-AU" sz="2200" dirty="0"/>
              <a:t>Provide ranking for each attribute describing the </a:t>
            </a:r>
            <a:r>
              <a:rPr lang="en-AU" sz="2200" dirty="0" err="1"/>
              <a:t>tuples</a:t>
            </a:r>
            <a:endParaRPr lang="en-AU" sz="2200" dirty="0"/>
          </a:p>
          <a:p>
            <a:pPr lvl="1"/>
            <a:endParaRPr lang="en-AU" sz="2200" dirty="0"/>
          </a:p>
          <a:p>
            <a:r>
              <a:rPr lang="en-AU" sz="2400" b="1" dirty="0"/>
              <a:t>Methods</a:t>
            </a:r>
          </a:p>
          <a:p>
            <a:pPr lvl="1"/>
            <a:r>
              <a:rPr lang="en-AU" sz="2200" dirty="0"/>
              <a:t>Information gain</a:t>
            </a:r>
          </a:p>
          <a:p>
            <a:pPr lvl="1"/>
            <a:r>
              <a:rPr lang="en-AU" sz="2200" dirty="0"/>
              <a:t>Gain ratio</a:t>
            </a:r>
          </a:p>
          <a:p>
            <a:pPr lvl="1"/>
            <a:r>
              <a:rPr lang="en-AU" sz="2200" dirty="0" err="1"/>
              <a:t>Gini</a:t>
            </a:r>
            <a:r>
              <a:rPr lang="en-AU" sz="2200" dirty="0"/>
              <a:t> Index</a:t>
            </a:r>
            <a:endParaRPr lang="en-US" sz="2000" dirty="0"/>
          </a:p>
        </p:txBody>
      </p:sp>
      <p:sp>
        <p:nvSpPr>
          <p:cNvPr id="13315" name="Rectangle 1026"/>
          <p:cNvSpPr>
            <a:spLocks noGrp="1" noChangeArrowheads="1"/>
          </p:cNvSpPr>
          <p:nvPr>
            <p:ph type="title"/>
          </p:nvPr>
        </p:nvSpPr>
        <p:spPr>
          <a:xfrm>
            <a:off x="0" y="304800"/>
            <a:ext cx="9144000" cy="609600"/>
          </a:xfrm>
        </p:spPr>
        <p:txBody>
          <a:bodyPr>
            <a:normAutofit fontScale="90000"/>
          </a:bodyPr>
          <a:lstStyle/>
          <a:p>
            <a:pPr eaLnBrk="1" hangingPunct="1"/>
            <a:r>
              <a:rPr lang="en-US" dirty="0"/>
              <a:t>Attribute Selection Measures</a:t>
            </a:r>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27</a:t>
            </a:fld>
            <a:endParaRPr 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idx="4294967295"/>
          </p:nvPr>
        </p:nvSpPr>
        <p:spPr>
          <a:xfrm>
            <a:off x="0" y="381000"/>
            <a:ext cx="9144000" cy="609600"/>
          </a:xfrm>
          <a:noFill/>
        </p:spPr>
        <p:txBody>
          <a:bodyPr lIns="92075" tIns="46038" rIns="92075" bIns="46038" anchor="ctr">
            <a:normAutofit fontScale="90000"/>
          </a:bodyPr>
          <a:lstStyle/>
          <a:p>
            <a:r>
              <a:rPr lang="en-US" dirty="0"/>
              <a:t>Attribute Selection: Information Gain</a:t>
            </a:r>
          </a:p>
        </p:txBody>
      </p:sp>
      <p:sp>
        <p:nvSpPr>
          <p:cNvPr id="11268" name="Rectangle 3"/>
          <p:cNvSpPr>
            <a:spLocks noGrp="1" noChangeArrowheads="1"/>
          </p:cNvSpPr>
          <p:nvPr>
            <p:ph type="body" sz="half" idx="4294967295"/>
          </p:nvPr>
        </p:nvSpPr>
        <p:spPr>
          <a:xfrm>
            <a:off x="304800" y="1447800"/>
            <a:ext cx="8382000" cy="5105400"/>
          </a:xfrm>
          <a:noFill/>
        </p:spPr>
        <p:txBody>
          <a:bodyPr lIns="92075" tIns="46038" rIns="92075" bIns="46038">
            <a:normAutofit fontScale="85000" lnSpcReduction="20000"/>
          </a:bodyPr>
          <a:lstStyle/>
          <a:p>
            <a:pPr>
              <a:lnSpc>
                <a:spcPct val="130000"/>
              </a:lnSpc>
            </a:pPr>
            <a:r>
              <a:rPr lang="en-US" dirty="0"/>
              <a:t>Select the attribute with the highest information gain</a:t>
            </a:r>
          </a:p>
          <a:p>
            <a:pPr>
              <a:lnSpc>
                <a:spcPct val="130000"/>
              </a:lnSpc>
            </a:pPr>
            <a:r>
              <a:rPr lang="en-US" dirty="0"/>
              <a:t>Let </a:t>
            </a:r>
            <a:r>
              <a:rPr lang="en-US" i="1" dirty="0"/>
              <a:t>p</a:t>
            </a:r>
            <a:r>
              <a:rPr lang="en-US" i="1" baseline="-25000" dirty="0"/>
              <a:t>i</a:t>
            </a:r>
            <a:r>
              <a:rPr lang="en-US" dirty="0"/>
              <a:t> be the probability that an arbitrary </a:t>
            </a:r>
            <a:r>
              <a:rPr lang="en-US" dirty="0" err="1"/>
              <a:t>tuple</a:t>
            </a:r>
            <a:r>
              <a:rPr lang="en-US" dirty="0"/>
              <a:t> in D belongs to class </a:t>
            </a:r>
            <a:r>
              <a:rPr lang="en-US" i="1" dirty="0" err="1"/>
              <a:t>C</a:t>
            </a:r>
            <a:r>
              <a:rPr lang="en-US" i="1" baseline="-25000" dirty="0" err="1"/>
              <a:t>i</a:t>
            </a:r>
            <a:r>
              <a:rPr lang="en-US" dirty="0"/>
              <a:t>, estimated by |</a:t>
            </a:r>
            <a:r>
              <a:rPr lang="en-US" dirty="0" err="1"/>
              <a:t>C</a:t>
            </a:r>
            <a:r>
              <a:rPr lang="en-US" i="1" baseline="-25000" dirty="0" err="1"/>
              <a:t>i</a:t>
            </a:r>
            <a:r>
              <a:rPr lang="en-US" baseline="-25000" dirty="0"/>
              <a:t>, D</a:t>
            </a:r>
            <a:r>
              <a:rPr lang="en-US" dirty="0"/>
              <a:t>|/|D|</a:t>
            </a:r>
          </a:p>
          <a:p>
            <a:pPr>
              <a:lnSpc>
                <a:spcPct val="130000"/>
              </a:lnSpc>
            </a:pPr>
            <a:r>
              <a:rPr lang="en-US" dirty="0">
                <a:solidFill>
                  <a:schemeClr val="hlink"/>
                </a:solidFill>
              </a:rPr>
              <a:t>Expected information</a:t>
            </a:r>
            <a:r>
              <a:rPr lang="en-US" dirty="0"/>
              <a:t> (entropy) needed to classify a </a:t>
            </a:r>
            <a:r>
              <a:rPr lang="en-US" dirty="0" err="1"/>
              <a:t>tuple</a:t>
            </a:r>
            <a:r>
              <a:rPr lang="en-US" dirty="0"/>
              <a:t> in D:</a:t>
            </a:r>
          </a:p>
          <a:p>
            <a:pPr>
              <a:lnSpc>
                <a:spcPct val="130000"/>
              </a:lnSpc>
            </a:pPr>
            <a:endParaRPr lang="en-US" dirty="0">
              <a:solidFill>
                <a:schemeClr val="hlink"/>
              </a:solidFill>
            </a:endParaRPr>
          </a:p>
          <a:p>
            <a:pPr>
              <a:lnSpc>
                <a:spcPct val="130000"/>
              </a:lnSpc>
            </a:pPr>
            <a:r>
              <a:rPr lang="en-US" dirty="0">
                <a:solidFill>
                  <a:schemeClr val="hlink"/>
                </a:solidFill>
              </a:rPr>
              <a:t>Information</a:t>
            </a:r>
            <a:r>
              <a:rPr lang="en-US" dirty="0"/>
              <a:t> needed (after using A to split D into v partitions) to classify D:</a:t>
            </a:r>
          </a:p>
          <a:p>
            <a:pPr>
              <a:lnSpc>
                <a:spcPct val="130000"/>
              </a:lnSpc>
            </a:pPr>
            <a:endParaRPr lang="en-US" dirty="0">
              <a:solidFill>
                <a:schemeClr val="hlink"/>
              </a:solidFill>
            </a:endParaRPr>
          </a:p>
          <a:p>
            <a:pPr>
              <a:lnSpc>
                <a:spcPct val="130000"/>
              </a:lnSpc>
            </a:pPr>
            <a:r>
              <a:rPr lang="en-US" dirty="0">
                <a:solidFill>
                  <a:schemeClr val="hlink"/>
                </a:solidFill>
              </a:rPr>
              <a:t>Information gained</a:t>
            </a:r>
            <a:r>
              <a:rPr lang="en-US" dirty="0"/>
              <a:t> by branching on attribute A</a:t>
            </a:r>
          </a:p>
          <a:p>
            <a:pPr>
              <a:lnSpc>
                <a:spcPct val="130000"/>
              </a:lnSpc>
            </a:pPr>
            <a:endParaRPr lang="en-US" dirty="0"/>
          </a:p>
        </p:txBody>
      </p:sp>
      <p:graphicFrame>
        <p:nvGraphicFramePr>
          <p:cNvPr id="150530" name="Object 4"/>
          <p:cNvGraphicFramePr>
            <a:graphicFrameLocks noChangeAspect="1"/>
          </p:cNvGraphicFramePr>
          <p:nvPr/>
        </p:nvGraphicFramePr>
        <p:xfrm>
          <a:off x="2224087" y="3390900"/>
          <a:ext cx="3871913" cy="968375"/>
        </p:xfrm>
        <a:graphic>
          <a:graphicData uri="http://schemas.openxmlformats.org/presentationml/2006/ole">
            <mc:AlternateContent xmlns:mc="http://schemas.openxmlformats.org/markup-compatibility/2006">
              <mc:Choice xmlns:v="urn:schemas-microsoft-com:vml" Requires="v">
                <p:oleObj name="Equation" r:id="rId3" imgW="1612900" imgH="431800" progId="Equation.3">
                  <p:embed/>
                </p:oleObj>
              </mc:Choice>
              <mc:Fallback>
                <p:oleObj name="Equation" r:id="rId3" imgW="1612900" imgH="431800" progId="Equation.3">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4087" y="3390900"/>
                        <a:ext cx="3871913"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0531" name="Object 5"/>
          <p:cNvGraphicFramePr>
            <a:graphicFrameLocks noChangeAspect="1"/>
          </p:cNvGraphicFramePr>
          <p:nvPr/>
        </p:nvGraphicFramePr>
        <p:xfrm>
          <a:off x="4648200" y="4953000"/>
          <a:ext cx="4038600" cy="796925"/>
        </p:xfrm>
        <a:graphic>
          <a:graphicData uri="http://schemas.openxmlformats.org/presentationml/2006/ole">
            <mc:AlternateContent xmlns:mc="http://schemas.openxmlformats.org/markup-compatibility/2006">
              <mc:Choice xmlns:v="urn:schemas-microsoft-com:vml" Requires="v">
                <p:oleObj name="Equation" r:id="rId5" imgW="1892300" imgH="457200" progId="Equation.3">
                  <p:embed/>
                </p:oleObj>
              </mc:Choice>
              <mc:Fallback>
                <p:oleObj name="Equation" r:id="rId5" imgW="1892300" imgH="457200" progId="Equation.3">
                  <p:embed/>
                  <p:pic>
                    <p:nvPicPr>
                      <p:cNvPr id="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4953000"/>
                        <a:ext cx="4038600" cy="796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0532" name="Object 6"/>
          <p:cNvGraphicFramePr>
            <a:graphicFrameLocks noChangeAspect="1"/>
          </p:cNvGraphicFramePr>
          <p:nvPr/>
        </p:nvGraphicFramePr>
        <p:xfrm>
          <a:off x="2057400" y="6248400"/>
          <a:ext cx="4589462" cy="419100"/>
        </p:xfrm>
        <a:graphic>
          <a:graphicData uri="http://schemas.openxmlformats.org/presentationml/2006/ole">
            <mc:AlternateContent xmlns:mc="http://schemas.openxmlformats.org/markup-compatibility/2006">
              <mc:Choice xmlns:v="urn:schemas-microsoft-com:vml" Requires="v">
                <p:oleObj name="Equation" r:id="rId7" imgW="1790700" imgH="215900" progId="Equation.3">
                  <p:embed/>
                </p:oleObj>
              </mc:Choice>
              <mc:Fallback>
                <p:oleObj name="Equation" r:id="rId7" imgW="1790700" imgH="215900" progId="Equation.3">
                  <p:embed/>
                  <p:pic>
                    <p:nvPicPr>
                      <p:cNvPr id="0"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6248400"/>
                        <a:ext cx="4589462"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pPr>
              <a:defRPr/>
            </a:pPr>
            <a:fld id="{AE613613-FD62-4FDA-8444-F94981C0198F}" type="slidenum">
              <a:rPr lang="en-US" smtClean="0"/>
              <a:pPr>
                <a:defRPr/>
              </a:pPr>
              <a:t>28</a:t>
            </a:fld>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
          <p:cNvSpPr>
            <a:spLocks noGrp="1" noChangeArrowheads="1"/>
          </p:cNvSpPr>
          <p:nvPr>
            <p:ph type="body" sz="half" idx="1"/>
          </p:nvPr>
        </p:nvSpPr>
        <p:spPr>
          <a:xfrm>
            <a:off x="304800" y="1371600"/>
            <a:ext cx="4152900" cy="1600200"/>
          </a:xfrm>
        </p:spPr>
        <p:txBody>
          <a:bodyPr/>
          <a:lstStyle/>
          <a:p>
            <a:pPr eaLnBrk="1" hangingPunct="1">
              <a:lnSpc>
                <a:spcPct val="80000"/>
              </a:lnSpc>
              <a:spcBef>
                <a:spcPct val="30000"/>
              </a:spcBef>
              <a:buSzPct val="80000"/>
              <a:buFont typeface="Marlett" pitchFamily="2" charset="2"/>
              <a:buChar char="g"/>
            </a:pPr>
            <a:r>
              <a:rPr lang="en-US" sz="2000" dirty="0">
                <a:solidFill>
                  <a:srgbClr val="121328"/>
                </a:solidFill>
              </a:rPr>
              <a:t>Class P: </a:t>
            </a:r>
            <a:r>
              <a:rPr lang="en-US" sz="2000" dirty="0" err="1">
                <a:solidFill>
                  <a:srgbClr val="121328"/>
                </a:solidFill>
              </a:rPr>
              <a:t>buys_computer</a:t>
            </a:r>
            <a:r>
              <a:rPr lang="en-US" sz="2000" dirty="0">
                <a:solidFill>
                  <a:srgbClr val="121328"/>
                </a:solidFill>
              </a:rPr>
              <a:t> = “yes”</a:t>
            </a:r>
          </a:p>
          <a:p>
            <a:pPr eaLnBrk="1" hangingPunct="1">
              <a:lnSpc>
                <a:spcPct val="80000"/>
              </a:lnSpc>
              <a:spcBef>
                <a:spcPct val="30000"/>
              </a:spcBef>
              <a:buSzPct val="80000"/>
              <a:buFont typeface="Marlett" pitchFamily="2" charset="2"/>
              <a:buChar char="g"/>
            </a:pPr>
            <a:r>
              <a:rPr lang="en-US" sz="2000" dirty="0">
                <a:solidFill>
                  <a:srgbClr val="121328"/>
                </a:solidFill>
              </a:rPr>
              <a:t>Class N: </a:t>
            </a:r>
            <a:r>
              <a:rPr lang="en-US" sz="2000" dirty="0" err="1">
                <a:solidFill>
                  <a:srgbClr val="121328"/>
                </a:solidFill>
              </a:rPr>
              <a:t>buys_computer</a:t>
            </a:r>
            <a:r>
              <a:rPr lang="en-US" sz="2000" dirty="0">
                <a:solidFill>
                  <a:srgbClr val="121328"/>
                </a:solidFill>
              </a:rPr>
              <a:t> = “no”</a:t>
            </a:r>
            <a:endParaRPr lang="en-US" sz="2000" dirty="0"/>
          </a:p>
        </p:txBody>
      </p:sp>
      <p:sp>
        <p:nvSpPr>
          <p:cNvPr id="16389" name="Rectangle 4"/>
          <p:cNvSpPr>
            <a:spLocks noGrp="1" noChangeArrowheads="1"/>
          </p:cNvSpPr>
          <p:nvPr>
            <p:ph type="body" sz="half" idx="2"/>
          </p:nvPr>
        </p:nvSpPr>
        <p:spPr>
          <a:xfrm>
            <a:off x="4724400" y="2743200"/>
            <a:ext cx="4152900" cy="2209800"/>
          </a:xfrm>
        </p:spPr>
        <p:txBody>
          <a:bodyPr>
            <a:normAutofit fontScale="92500" lnSpcReduction="10000"/>
          </a:bodyPr>
          <a:lstStyle/>
          <a:p>
            <a:pPr eaLnBrk="1" hangingPunct="1">
              <a:lnSpc>
                <a:spcPct val="130000"/>
              </a:lnSpc>
              <a:buFont typeface="Wingdings" pitchFamily="2" charset="2"/>
              <a:buNone/>
            </a:pPr>
            <a:r>
              <a:rPr lang="en-US" sz="2000" dirty="0">
                <a:solidFill>
                  <a:srgbClr val="121328"/>
                </a:solidFill>
              </a:rPr>
              <a:t>             </a:t>
            </a:r>
            <a:r>
              <a:rPr lang="en-US" sz="2200" dirty="0">
                <a:solidFill>
                  <a:srgbClr val="121328"/>
                </a:solidFill>
              </a:rPr>
              <a:t>means “age &lt;=30” has 5 out of 14 samples, with 2 yes’s  and 3 no’s.   Hence</a:t>
            </a:r>
            <a:endParaRPr lang="en-US" sz="2200" dirty="0"/>
          </a:p>
          <a:p>
            <a:pPr eaLnBrk="1" hangingPunct="1">
              <a:lnSpc>
                <a:spcPct val="90000"/>
              </a:lnSpc>
              <a:buClr>
                <a:schemeClr val="accent1"/>
              </a:buClr>
              <a:buFont typeface="Wingdings 2" pitchFamily="18" charset="2"/>
              <a:buNone/>
            </a:pPr>
            <a:endParaRPr lang="en-US" sz="2000" dirty="0"/>
          </a:p>
          <a:p>
            <a:pPr eaLnBrk="1" hangingPunct="1">
              <a:lnSpc>
                <a:spcPct val="90000"/>
              </a:lnSpc>
              <a:buClr>
                <a:schemeClr val="accent1"/>
              </a:buClr>
              <a:buFont typeface="Wingdings 2" pitchFamily="18" charset="2"/>
              <a:buNone/>
            </a:pPr>
            <a:endParaRPr lang="en-US" sz="2000" dirty="0">
              <a:solidFill>
                <a:srgbClr val="121328"/>
              </a:solidFill>
            </a:endParaRPr>
          </a:p>
          <a:p>
            <a:pPr eaLnBrk="1" hangingPunct="1">
              <a:lnSpc>
                <a:spcPct val="90000"/>
              </a:lnSpc>
              <a:buClr>
                <a:schemeClr val="accent1"/>
              </a:buClr>
              <a:buFont typeface="Wingdings 2" pitchFamily="18" charset="2"/>
              <a:buNone/>
            </a:pPr>
            <a:r>
              <a:rPr lang="en-US" sz="2600" dirty="0">
                <a:solidFill>
                  <a:srgbClr val="121328"/>
                </a:solidFill>
              </a:rPr>
              <a:t>Similarly,</a:t>
            </a:r>
          </a:p>
        </p:txBody>
      </p:sp>
      <p:graphicFrame>
        <p:nvGraphicFramePr>
          <p:cNvPr id="16390" name="Object 5"/>
          <p:cNvGraphicFramePr>
            <a:graphicFrameLocks noChangeAspect="1"/>
          </p:cNvGraphicFramePr>
          <p:nvPr/>
        </p:nvGraphicFramePr>
        <p:xfrm>
          <a:off x="762000" y="2590800"/>
          <a:ext cx="3354388" cy="1439863"/>
        </p:xfrm>
        <a:graphic>
          <a:graphicData uri="http://schemas.openxmlformats.org/presentationml/2006/ole">
            <mc:AlternateContent xmlns:mc="http://schemas.openxmlformats.org/markup-compatibility/2006">
              <mc:Choice xmlns:v="urn:schemas-microsoft-com:vml" Requires="v">
                <p:oleObj name="Worksheet" r:id="rId3" imgW="3352800" imgH="1438250" progId="Excel.Sheet.8">
                  <p:embed/>
                </p:oleObj>
              </mc:Choice>
              <mc:Fallback>
                <p:oleObj name="Worksheet" r:id="rId3" imgW="3352800" imgH="1438250" progId="Excel.Sheet.8">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590800"/>
                        <a:ext cx="3354388"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1" name="Object 6"/>
          <p:cNvGraphicFramePr>
            <a:graphicFrameLocks noChangeAspect="1"/>
          </p:cNvGraphicFramePr>
          <p:nvPr/>
        </p:nvGraphicFramePr>
        <p:xfrm>
          <a:off x="4876800" y="1371600"/>
          <a:ext cx="3754438" cy="1371600"/>
        </p:xfrm>
        <a:graphic>
          <a:graphicData uri="http://schemas.openxmlformats.org/presentationml/2006/ole">
            <mc:AlternateContent xmlns:mc="http://schemas.openxmlformats.org/markup-compatibility/2006">
              <mc:Choice xmlns:v="urn:schemas-microsoft-com:vml" Requires="v">
                <p:oleObj name="Equation" r:id="rId5" imgW="2044700" imgH="812800" progId="Equation.3">
                  <p:embed/>
                </p:oleObj>
              </mc:Choice>
              <mc:Fallback>
                <p:oleObj name="Equation" r:id="rId5" imgW="2044700" imgH="812800" progId="Equation.3">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1371600"/>
                        <a:ext cx="3754438"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2" name="Object 7"/>
          <p:cNvGraphicFramePr>
            <a:graphicFrameLocks noChangeAspect="1"/>
          </p:cNvGraphicFramePr>
          <p:nvPr/>
        </p:nvGraphicFramePr>
        <p:xfrm>
          <a:off x="4800600" y="5105400"/>
          <a:ext cx="3675063" cy="1327150"/>
        </p:xfrm>
        <a:graphic>
          <a:graphicData uri="http://schemas.openxmlformats.org/presentationml/2006/ole">
            <mc:AlternateContent xmlns:mc="http://schemas.openxmlformats.org/markup-compatibility/2006">
              <mc:Choice xmlns:v="urn:schemas-microsoft-com:vml" Requires="v">
                <p:oleObj name="Equation" r:id="rId7" imgW="1828800" imgH="660400" progId="Equation.3">
                  <p:embed/>
                </p:oleObj>
              </mc:Choice>
              <mc:Fallback>
                <p:oleObj name="Equation" r:id="rId7" imgW="1828800" imgH="660400" progId="Equation.3">
                  <p:embed/>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0600" y="5105400"/>
                        <a:ext cx="3675063" cy="1327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3" name="Object 8"/>
          <p:cNvGraphicFramePr>
            <a:graphicFrameLocks noChangeAspect="1"/>
          </p:cNvGraphicFramePr>
          <p:nvPr>
            <p:extLst>
              <p:ext uri="{D42A27DB-BD31-4B8C-83A1-F6EECF244321}">
                <p14:modId xmlns:p14="http://schemas.microsoft.com/office/powerpoint/2010/main" val="1831092935"/>
              </p:ext>
            </p:extLst>
          </p:nvPr>
        </p:nvGraphicFramePr>
        <p:xfrm>
          <a:off x="4648200" y="3962400"/>
          <a:ext cx="4114800" cy="443797"/>
        </p:xfrm>
        <a:graphic>
          <a:graphicData uri="http://schemas.openxmlformats.org/presentationml/2006/ole">
            <mc:AlternateContent xmlns:mc="http://schemas.openxmlformats.org/markup-compatibility/2006">
              <mc:Choice xmlns:v="urn:schemas-microsoft-com:vml" Requires="v">
                <p:oleObj name="Equation" r:id="rId9" imgW="2552700" imgH="241300" progId="Equation.3">
                  <p:embed/>
                </p:oleObj>
              </mc:Choice>
              <mc:Fallback>
                <p:oleObj name="Equation" r:id="rId9" imgW="2552700" imgH="241300" progId="Equation.3">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8200" y="3962400"/>
                        <a:ext cx="4114800" cy="4437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4" name="Object 9"/>
          <p:cNvGraphicFramePr>
            <a:graphicFrameLocks/>
          </p:cNvGraphicFramePr>
          <p:nvPr/>
        </p:nvGraphicFramePr>
        <p:xfrm>
          <a:off x="152400" y="4114800"/>
          <a:ext cx="4419600" cy="2667000"/>
        </p:xfrm>
        <a:graphic>
          <a:graphicData uri="http://schemas.openxmlformats.org/presentationml/2006/ole">
            <mc:AlternateContent xmlns:mc="http://schemas.openxmlformats.org/markup-compatibility/2006">
              <mc:Choice xmlns:v="urn:schemas-microsoft-com:vml" Requires="v">
                <p:oleObj name="Worksheet" r:id="rId11" imgW="5778000" imgH="3948840" progId="Excel.Sheet.8">
                  <p:embed/>
                </p:oleObj>
              </mc:Choice>
              <mc:Fallback>
                <p:oleObj name="Worksheet" r:id="rId11" imgW="5778000" imgH="3948840" progId="Excel.Sheet.8">
                  <p:embed/>
                  <p:pic>
                    <p:nvPicPr>
                      <p:cNvPr id="0" name="Picture 3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400" y="4114800"/>
                        <a:ext cx="44196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5" name="Object 10"/>
          <p:cNvGraphicFramePr>
            <a:graphicFrameLocks noChangeAspect="1"/>
          </p:cNvGraphicFramePr>
          <p:nvPr/>
        </p:nvGraphicFramePr>
        <p:xfrm>
          <a:off x="4381500" y="2667000"/>
          <a:ext cx="1073150" cy="665163"/>
        </p:xfrm>
        <a:graphic>
          <a:graphicData uri="http://schemas.openxmlformats.org/presentationml/2006/ole">
            <mc:AlternateContent xmlns:mc="http://schemas.openxmlformats.org/markup-compatibility/2006">
              <mc:Choice xmlns:v="urn:schemas-microsoft-com:vml" Requires="v">
                <p:oleObj name="Equation" r:id="rId13" imgW="583947" imgH="393529" progId="Equation.3">
                  <p:embed/>
                </p:oleObj>
              </mc:Choice>
              <mc:Fallback>
                <p:oleObj name="Equation" r:id="rId13" imgW="583947" imgH="393529" progId="Equation.3">
                  <p:embed/>
                  <p:pic>
                    <p:nvPicPr>
                      <p:cNvPr id="0" name="Picture 3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81500" y="2667000"/>
                        <a:ext cx="1073150" cy="665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6" name="Object 11"/>
          <p:cNvGraphicFramePr>
            <a:graphicFrameLocks noChangeAspect="1"/>
          </p:cNvGraphicFramePr>
          <p:nvPr/>
        </p:nvGraphicFramePr>
        <p:xfrm>
          <a:off x="76200" y="2057400"/>
          <a:ext cx="4800600" cy="523875"/>
        </p:xfrm>
        <a:graphic>
          <a:graphicData uri="http://schemas.openxmlformats.org/presentationml/2006/ole">
            <mc:AlternateContent xmlns:mc="http://schemas.openxmlformats.org/markup-compatibility/2006">
              <mc:Choice xmlns:v="urn:schemas-microsoft-com:vml" Requires="v">
                <p:oleObj name="Equation" r:id="rId15" imgW="3314700" imgH="393700" progId="Equation.3">
                  <p:embed/>
                </p:oleObj>
              </mc:Choice>
              <mc:Fallback>
                <p:oleObj name="Equation" r:id="rId15" imgW="3314700" imgH="393700" progId="Equation.3">
                  <p:embed/>
                  <p:pic>
                    <p:nvPicPr>
                      <p:cNvPr id="0" name="Picture 3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200" y="2057400"/>
                        <a:ext cx="4800600"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2"/>
          <p:cNvSpPr>
            <a:spLocks noGrp="1" noChangeArrowheads="1"/>
          </p:cNvSpPr>
          <p:nvPr>
            <p:ph type="title" idx="4294967295"/>
          </p:nvPr>
        </p:nvSpPr>
        <p:spPr>
          <a:xfrm>
            <a:off x="0" y="381000"/>
            <a:ext cx="9144000" cy="609600"/>
          </a:xfrm>
          <a:noFill/>
        </p:spPr>
        <p:txBody>
          <a:bodyPr lIns="92075" tIns="46038" rIns="92075" bIns="46038" anchor="ctr">
            <a:normAutofit fontScale="90000"/>
          </a:bodyPr>
          <a:lstStyle/>
          <a:p>
            <a:r>
              <a:rPr lang="en-US" dirty="0"/>
              <a:t>Attribute Selection: Information Gain</a:t>
            </a:r>
          </a:p>
        </p:txBody>
      </p:sp>
      <p:sp>
        <p:nvSpPr>
          <p:cNvPr id="15" name="Slide Number Placeholder 14"/>
          <p:cNvSpPr>
            <a:spLocks noGrp="1"/>
          </p:cNvSpPr>
          <p:nvPr>
            <p:ph type="sldNum" sz="quarter" idx="12"/>
          </p:nvPr>
        </p:nvSpPr>
        <p:spPr/>
        <p:txBody>
          <a:bodyPr/>
          <a:lstStyle/>
          <a:p>
            <a:pPr>
              <a:defRPr/>
            </a:pPr>
            <a:fld id="{F03F0DF0-5EF9-43CE-A54F-AA7EC7B02B7E}" type="slidenum">
              <a:rPr lang="en-US" smtClean="0"/>
              <a:pPr>
                <a:defRPr/>
              </a:pPr>
              <a:t>29</a:t>
            </a:fld>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3"/>
          <p:cNvGrpSpPr>
            <a:grpSpLocks/>
          </p:cNvGrpSpPr>
          <p:nvPr/>
        </p:nvGrpSpPr>
        <p:grpSpPr bwMode="auto">
          <a:xfrm>
            <a:off x="182579" y="1093718"/>
            <a:ext cx="4119563" cy="2351088"/>
            <a:chOff x="1509" y="1152"/>
            <a:chExt cx="2595" cy="1481"/>
          </a:xfrm>
        </p:grpSpPr>
        <p:sp>
          <p:nvSpPr>
            <p:cNvPr id="6" name="Rectangle 3"/>
            <p:cNvSpPr>
              <a:spLocks noChangeArrowheads="1"/>
            </p:cNvSpPr>
            <p:nvPr/>
          </p:nvSpPr>
          <p:spPr bwMode="auto">
            <a:xfrm>
              <a:off x="2387" y="1152"/>
              <a:ext cx="475" cy="296"/>
            </a:xfrm>
            <a:prstGeom prst="rect">
              <a:avLst/>
            </a:prstGeom>
            <a:solidFill>
              <a:srgbClr val="00CCFF"/>
            </a:solidFill>
            <a:ln w="12700">
              <a:solidFill>
                <a:schemeClr val="tx1"/>
              </a:solidFill>
              <a:miter lim="800000"/>
              <a:headEnd/>
              <a:tailEnd/>
            </a:ln>
          </p:spPr>
          <p:txBody>
            <a:bodyPr wrap="none" lIns="92075" tIns="46038" rIns="92075" bIns="46038">
              <a:spAutoFit/>
            </a:bodyPr>
            <a:lstStyle/>
            <a:p>
              <a:pPr algn="ctr" eaLnBrk="0" hangingPunct="0"/>
              <a:r>
                <a:rPr lang="en-US" sz="2400">
                  <a:latin typeface="Times New Roman" pitchFamily="18" charset="0"/>
                </a:rPr>
                <a:t>age?</a:t>
              </a:r>
            </a:p>
          </p:txBody>
        </p:sp>
        <p:sp>
          <p:nvSpPr>
            <p:cNvPr id="7" name="Rectangle 4"/>
            <p:cNvSpPr>
              <a:spLocks noChangeArrowheads="1"/>
            </p:cNvSpPr>
            <p:nvPr/>
          </p:nvSpPr>
          <p:spPr bwMode="auto">
            <a:xfrm>
              <a:off x="2245" y="1766"/>
              <a:ext cx="7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sz="2400">
                  <a:latin typeface="Times New Roman" pitchFamily="18" charset="0"/>
                </a:rPr>
                <a:t>overcast</a:t>
              </a:r>
            </a:p>
          </p:txBody>
        </p:sp>
        <p:sp>
          <p:nvSpPr>
            <p:cNvPr id="8" name="Rectangle 5"/>
            <p:cNvSpPr>
              <a:spLocks noChangeArrowheads="1"/>
            </p:cNvSpPr>
            <p:nvPr/>
          </p:nvSpPr>
          <p:spPr bwMode="auto">
            <a:xfrm>
              <a:off x="1509" y="2342"/>
              <a:ext cx="203" cy="291"/>
            </a:xfrm>
            <a:prstGeom prst="rect">
              <a:avLst/>
            </a:prstGeom>
            <a:solidFill>
              <a:srgbClr val="00FFCC"/>
            </a:solidFill>
            <a:ln w="12700">
              <a:solidFill>
                <a:schemeClr val="tx1"/>
              </a:solidFill>
              <a:miter lim="800000"/>
              <a:headEnd/>
              <a:tailEnd/>
            </a:ln>
          </p:spPr>
          <p:txBody>
            <a:bodyPr wrap="none" lIns="92075" tIns="46038" rIns="92075" bIns="46038">
              <a:spAutoFit/>
            </a:bodyPr>
            <a:lstStyle/>
            <a:p>
              <a:pPr algn="ctr" eaLnBrk="0" hangingPunct="0"/>
              <a:r>
                <a:rPr lang="en-US" sz="2400" dirty="0">
                  <a:latin typeface="Times New Roman" pitchFamily="18" charset="0"/>
                </a:rPr>
                <a:t>?</a:t>
              </a:r>
            </a:p>
          </p:txBody>
        </p:sp>
        <p:sp>
          <p:nvSpPr>
            <p:cNvPr id="9" name="Rectangle 6"/>
            <p:cNvSpPr>
              <a:spLocks noChangeArrowheads="1"/>
            </p:cNvSpPr>
            <p:nvPr/>
          </p:nvSpPr>
          <p:spPr bwMode="auto">
            <a:xfrm>
              <a:off x="3901" y="2342"/>
              <a:ext cx="203" cy="291"/>
            </a:xfrm>
            <a:prstGeom prst="rect">
              <a:avLst/>
            </a:prstGeom>
            <a:solidFill>
              <a:srgbClr val="99CCFF"/>
            </a:solidFill>
            <a:ln w="12700">
              <a:solidFill>
                <a:schemeClr val="tx1"/>
              </a:solidFill>
              <a:miter lim="800000"/>
              <a:headEnd/>
              <a:tailEnd/>
            </a:ln>
          </p:spPr>
          <p:txBody>
            <a:bodyPr wrap="none" lIns="92075" tIns="46038" rIns="92075" bIns="46038">
              <a:spAutoFit/>
            </a:bodyPr>
            <a:lstStyle/>
            <a:p>
              <a:pPr algn="ctr" eaLnBrk="0" hangingPunct="0"/>
              <a:r>
                <a:rPr lang="en-US" sz="2400" dirty="0">
                  <a:latin typeface="Times New Roman" pitchFamily="18" charset="0"/>
                </a:rPr>
                <a:t>?</a:t>
              </a:r>
            </a:p>
          </p:txBody>
        </p:sp>
        <p:sp>
          <p:nvSpPr>
            <p:cNvPr id="10" name="Line 11"/>
            <p:cNvSpPr>
              <a:spLocks noChangeShapeType="1"/>
            </p:cNvSpPr>
            <p:nvPr/>
          </p:nvSpPr>
          <p:spPr bwMode="auto">
            <a:xfrm flipH="1">
              <a:off x="1619" y="1462"/>
              <a:ext cx="625" cy="83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 name="Line 12"/>
            <p:cNvSpPr>
              <a:spLocks noChangeShapeType="1"/>
            </p:cNvSpPr>
            <p:nvPr/>
          </p:nvSpPr>
          <p:spPr bwMode="auto">
            <a:xfrm flipH="1">
              <a:off x="2622" y="1491"/>
              <a:ext cx="1" cy="3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 name="Line 13"/>
            <p:cNvSpPr>
              <a:spLocks noChangeShapeType="1"/>
            </p:cNvSpPr>
            <p:nvPr/>
          </p:nvSpPr>
          <p:spPr bwMode="auto">
            <a:xfrm>
              <a:off x="2928" y="1440"/>
              <a:ext cx="1051" cy="89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 name="Rectangle 14"/>
            <p:cNvSpPr>
              <a:spLocks noChangeArrowheads="1"/>
            </p:cNvSpPr>
            <p:nvPr/>
          </p:nvSpPr>
          <p:spPr bwMode="auto">
            <a:xfrm>
              <a:off x="1513" y="1730"/>
              <a:ext cx="534" cy="296"/>
            </a:xfrm>
            <a:prstGeom prst="rect">
              <a:avLst/>
            </a:prstGeom>
            <a:solidFill>
              <a:srgbClr val="FFFF00"/>
            </a:solidFill>
            <a:ln w="12700">
              <a:solidFill>
                <a:schemeClr val="bg1"/>
              </a:solidFill>
              <a:miter lim="800000"/>
              <a:headEnd/>
              <a:tailEnd/>
            </a:ln>
          </p:spPr>
          <p:txBody>
            <a:bodyPr wrap="none" lIns="92075" tIns="46038" rIns="92075" bIns="46038">
              <a:spAutoFit/>
            </a:bodyPr>
            <a:lstStyle/>
            <a:p>
              <a:pPr algn="ctr" eaLnBrk="0" hangingPunct="0"/>
              <a:r>
                <a:rPr lang="en-US" sz="2400" b="1">
                  <a:latin typeface="Times New Roman" pitchFamily="18" charset="0"/>
                </a:rPr>
                <a:t>&lt;=30</a:t>
              </a:r>
              <a:endParaRPr lang="en-US" sz="2400">
                <a:latin typeface="Times New Roman" pitchFamily="18" charset="0"/>
              </a:endParaRPr>
            </a:p>
          </p:txBody>
        </p:sp>
        <p:sp>
          <p:nvSpPr>
            <p:cNvPr id="14" name="Rectangle 15"/>
            <p:cNvSpPr>
              <a:spLocks noChangeArrowheads="1"/>
            </p:cNvSpPr>
            <p:nvPr/>
          </p:nvSpPr>
          <p:spPr bwMode="auto">
            <a:xfrm>
              <a:off x="3364" y="1804"/>
              <a:ext cx="417"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sz="2400" b="1">
                  <a:latin typeface="Times New Roman" pitchFamily="18" charset="0"/>
                </a:rPr>
                <a:t>&gt;40</a:t>
              </a:r>
              <a:endParaRPr lang="en-US" sz="2400">
                <a:latin typeface="Times New Roman" pitchFamily="18" charset="0"/>
              </a:endParaRPr>
            </a:p>
          </p:txBody>
        </p:sp>
        <p:sp>
          <p:nvSpPr>
            <p:cNvPr id="19" name="Line 24"/>
            <p:cNvSpPr>
              <a:spLocks noChangeShapeType="1"/>
            </p:cNvSpPr>
            <p:nvPr/>
          </p:nvSpPr>
          <p:spPr bwMode="auto">
            <a:xfrm>
              <a:off x="2623" y="2029"/>
              <a:ext cx="0" cy="27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 name="Rectangle 29"/>
            <p:cNvSpPr>
              <a:spLocks noChangeArrowheads="1"/>
            </p:cNvSpPr>
            <p:nvPr/>
          </p:nvSpPr>
          <p:spPr bwMode="auto">
            <a:xfrm>
              <a:off x="2437" y="2344"/>
              <a:ext cx="372" cy="2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sz="2400">
                  <a:latin typeface="Times New Roman" pitchFamily="18" charset="0"/>
                </a:rPr>
                <a:t>yes</a:t>
              </a:r>
            </a:p>
          </p:txBody>
        </p:sp>
        <p:sp>
          <p:nvSpPr>
            <p:cNvPr id="24" name="Rectangle 30"/>
            <p:cNvSpPr>
              <a:spLocks noChangeArrowheads="1"/>
            </p:cNvSpPr>
            <p:nvPr/>
          </p:nvSpPr>
          <p:spPr bwMode="auto">
            <a:xfrm>
              <a:off x="2256" y="1824"/>
              <a:ext cx="672" cy="192"/>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p>
              <a:pPr algn="ctr" eaLnBrk="0" hangingPunct="0"/>
              <a:r>
                <a:rPr lang="en-US" sz="2000" b="1">
                  <a:latin typeface="Times New Roman" pitchFamily="18" charset="0"/>
                </a:rPr>
                <a:t>31..40</a:t>
              </a:r>
              <a:endParaRPr lang="en-US">
                <a:latin typeface="Times New Roman" pitchFamily="18" charset="0"/>
              </a:endParaRPr>
            </a:p>
          </p:txBody>
        </p:sp>
      </p:grpSp>
      <p:cxnSp>
        <p:nvCxnSpPr>
          <p:cNvPr id="31" name="Straight Arrow Connector 30"/>
          <p:cNvCxnSpPr>
            <a:stCxn id="33" idx="1"/>
            <a:endCxn id="8" idx="2"/>
          </p:cNvCxnSpPr>
          <p:nvPr/>
        </p:nvCxnSpPr>
        <p:spPr>
          <a:xfrm flipV="1">
            <a:off x="234038" y="3444806"/>
            <a:ext cx="109673" cy="68867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3" name="TextBox 32"/>
          <p:cNvSpPr txBox="1"/>
          <p:nvPr/>
        </p:nvSpPr>
        <p:spPr>
          <a:xfrm>
            <a:off x="234038" y="3948815"/>
            <a:ext cx="2233881" cy="369332"/>
          </a:xfrm>
          <a:prstGeom prst="rect">
            <a:avLst/>
          </a:prstGeom>
          <a:noFill/>
        </p:spPr>
        <p:txBody>
          <a:bodyPr wrap="none" rtlCol="0">
            <a:spAutoFit/>
          </a:bodyPr>
          <a:lstStyle/>
          <a:p>
            <a:r>
              <a:rPr lang="en-US" dirty="0"/>
              <a:t>Which attribute next?</a:t>
            </a:r>
          </a:p>
        </p:txBody>
      </p:sp>
      <p:graphicFrame>
        <p:nvGraphicFramePr>
          <p:cNvPr id="34" name="Object 33"/>
          <p:cNvGraphicFramePr>
            <a:graphicFrameLocks/>
          </p:cNvGraphicFramePr>
          <p:nvPr>
            <p:extLst>
              <p:ext uri="{D42A27DB-BD31-4B8C-83A1-F6EECF244321}">
                <p14:modId xmlns:p14="http://schemas.microsoft.com/office/powerpoint/2010/main" val="1224083464"/>
              </p:ext>
            </p:extLst>
          </p:nvPr>
        </p:nvGraphicFramePr>
        <p:xfrm>
          <a:off x="96854" y="4479925"/>
          <a:ext cx="4676775" cy="1209675"/>
        </p:xfrm>
        <a:graphic>
          <a:graphicData uri="http://schemas.openxmlformats.org/presentationml/2006/ole">
            <mc:AlternateContent xmlns:mc="http://schemas.openxmlformats.org/markup-compatibility/2006">
              <mc:Choice xmlns:v="urn:schemas-microsoft-com:vml" Requires="v">
                <p:oleObj name="Worksheet" r:id="rId2" imgW="6115151" imgH="1790772" progId="Excel.Sheet.8">
                  <p:embed/>
                </p:oleObj>
              </mc:Choice>
              <mc:Fallback>
                <p:oleObj name="Worksheet" r:id="rId2" imgW="6115151" imgH="1790772" progId="Excel.Sheet.8">
                  <p:embed/>
                  <p:pic>
                    <p:nvPicPr>
                      <p:cNvPr id="0"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54" y="4479925"/>
                        <a:ext cx="4676775" cy="120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5" name="TextBox 34"/>
              <p:cNvSpPr txBox="1"/>
              <p:nvPr/>
            </p:nvSpPr>
            <p:spPr>
              <a:xfrm>
                <a:off x="1742281" y="5709549"/>
                <a:ext cx="1008096" cy="3919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a:rPr>
                            <m:t>𝐷</m:t>
                          </m:r>
                        </m:e>
                        <m:sub>
                          <m:r>
                            <a:rPr lang="en-US" b="0" i="1" dirty="0" smtClean="0">
                              <a:latin typeface="Cambria Math"/>
                            </a:rPr>
                            <m:t>𝑎𝑔𝑒</m:t>
                          </m:r>
                          <m:r>
                            <a:rPr lang="en-US" b="0" i="1" dirty="0" smtClean="0">
                              <a:latin typeface="Cambria Math"/>
                              <a:ea typeface="Cambria Math"/>
                            </a:rPr>
                            <m:t>≤</m:t>
                          </m:r>
                          <m:r>
                            <a:rPr lang="en-US" b="0" i="1" dirty="0" smtClean="0">
                              <a:latin typeface="Cambria Math"/>
                              <a:ea typeface="Cambria Math"/>
                            </a:rPr>
                            <m:t>30</m:t>
                          </m:r>
                        </m:sub>
                      </m:sSub>
                    </m:oMath>
                  </m:oMathPara>
                </a14:m>
                <a:endParaRPr lang="en-US" dirty="0"/>
              </a:p>
            </p:txBody>
          </p:sp>
        </mc:Choice>
        <mc:Fallback xmlns="">
          <p:sp>
            <p:nvSpPr>
              <p:cNvPr id="35" name="TextBox 34"/>
              <p:cNvSpPr txBox="1">
                <a:spLocks noRot="1" noChangeAspect="1" noMove="1" noResize="1" noEditPoints="1" noAdjustHandles="1" noChangeArrowheads="1" noChangeShapeType="1" noTextEdit="1"/>
              </p:cNvSpPr>
              <p:nvPr/>
            </p:nvSpPr>
            <p:spPr>
              <a:xfrm>
                <a:off x="1742281" y="5709549"/>
                <a:ext cx="1008096" cy="391902"/>
              </a:xfrm>
              <a:prstGeom prst="rect">
                <a:avLst/>
              </a:prstGeom>
              <a:blipFill rotWithShape="1">
                <a:blip r:embed="rId4" cstate="print"/>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3941247" y="1069406"/>
                <a:ext cx="5479705" cy="1703800"/>
              </a:xfrm>
              <a:prstGeom prst="rect">
                <a:avLst/>
              </a:prstGeom>
              <a:noFill/>
            </p:spPr>
            <p:txBody>
              <a:bodyPr wrap="none" rtlCol="0">
                <a:spAutoFit/>
              </a:bodyPr>
              <a:lstStyle/>
              <a:p>
                <a:pPr marL="285750" indent="-285750">
                  <a:buFont typeface="Arial" pitchFamily="34" charset="0"/>
                  <a:buChar char="•"/>
                </a:pPr>
                <a14:m>
                  <m:oMath xmlns:m="http://schemas.openxmlformats.org/officeDocument/2006/math">
                    <m:r>
                      <a:rPr lang="en-US" b="0" i="1" smtClean="0">
                        <a:latin typeface="Cambria Math"/>
                      </a:rPr>
                      <m:t>𝐼𝑛𝑓𝑜</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𝐷</m:t>
                            </m:r>
                          </m:e>
                          <m:sub>
                            <m:r>
                              <a:rPr lang="en-US" b="0" i="1" smtClean="0">
                                <a:latin typeface="Cambria Math"/>
                              </a:rPr>
                              <m:t>𝑎𝑔𝑒</m:t>
                            </m:r>
                            <m:r>
                              <a:rPr lang="en-US" b="0" i="1" smtClean="0">
                                <a:latin typeface="Cambria Math"/>
                                <a:ea typeface="Cambria Math"/>
                              </a:rPr>
                              <m:t>≤</m:t>
                            </m:r>
                            <m:r>
                              <a:rPr lang="en-US" b="0" i="1" smtClean="0">
                                <a:latin typeface="Cambria Math"/>
                                <a:ea typeface="Cambria Math"/>
                              </a:rPr>
                              <m:t>30</m:t>
                            </m:r>
                          </m:sub>
                        </m:sSub>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2</m:t>
                        </m:r>
                      </m:num>
                      <m:den>
                        <m:r>
                          <a:rPr lang="en-US" b="0" i="1" smtClean="0">
                            <a:latin typeface="Cambria Math"/>
                          </a:rPr>
                          <m:t>5</m:t>
                        </m:r>
                      </m:den>
                    </m:f>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a:rPr>
                              <m:t>log</m:t>
                            </m:r>
                          </m:e>
                          <m:sub>
                            <m:r>
                              <a:rPr lang="en-US" b="0" i="1" smtClean="0">
                                <a:latin typeface="Cambria Math"/>
                              </a:rPr>
                              <m:t>2</m:t>
                            </m:r>
                          </m:sub>
                        </m:sSub>
                      </m:fName>
                      <m:e>
                        <m:f>
                          <m:fPr>
                            <m:ctrlPr>
                              <a:rPr lang="en-US" b="0" i="1" smtClean="0">
                                <a:latin typeface="Cambria Math" panose="02040503050406030204" pitchFamily="18" charset="0"/>
                              </a:rPr>
                            </m:ctrlPr>
                          </m:fPr>
                          <m:num>
                            <m:r>
                              <a:rPr lang="en-US" b="0" i="1" smtClean="0">
                                <a:latin typeface="Cambria Math"/>
                              </a:rPr>
                              <m:t>2</m:t>
                            </m:r>
                          </m:num>
                          <m:den>
                            <m:r>
                              <a:rPr lang="en-US" b="0" i="1" smtClean="0">
                                <a:latin typeface="Cambria Math"/>
                              </a:rPr>
                              <m:t>5</m:t>
                            </m:r>
                          </m:den>
                        </m:f>
                      </m:e>
                    </m:func>
                    <m:r>
                      <a:rPr lang="en-US" b="0" i="1" smtClean="0">
                        <a:latin typeface="Cambria Math"/>
                      </a:rPr>
                      <m:t>−</m:t>
                    </m:r>
                    <m:f>
                      <m:fPr>
                        <m:ctrlPr>
                          <a:rPr lang="en-US" i="1">
                            <a:latin typeface="Cambria Math" panose="02040503050406030204" pitchFamily="18" charset="0"/>
                          </a:rPr>
                        </m:ctrlPr>
                      </m:fPr>
                      <m:num>
                        <m:r>
                          <a:rPr lang="en-US" b="0" i="1" smtClean="0">
                            <a:latin typeface="Cambria Math"/>
                          </a:rPr>
                          <m:t>3</m:t>
                        </m:r>
                      </m:num>
                      <m:den>
                        <m:r>
                          <a:rPr lang="en-US" i="1">
                            <a:latin typeface="Cambria Math"/>
                          </a:rPr>
                          <m:t>5</m:t>
                        </m:r>
                      </m:den>
                    </m:f>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a:rPr>
                              <m:t>log</m:t>
                            </m:r>
                          </m:e>
                          <m:sub>
                            <m:r>
                              <a:rPr lang="en-US" i="1">
                                <a:latin typeface="Cambria Math"/>
                              </a:rPr>
                              <m:t>2</m:t>
                            </m:r>
                          </m:sub>
                        </m:sSub>
                      </m:fName>
                      <m:e>
                        <m:f>
                          <m:fPr>
                            <m:ctrlPr>
                              <a:rPr lang="en-US" i="1">
                                <a:latin typeface="Cambria Math" panose="02040503050406030204" pitchFamily="18" charset="0"/>
                              </a:rPr>
                            </m:ctrlPr>
                          </m:fPr>
                          <m:num>
                            <m:r>
                              <a:rPr lang="en-US" b="0" i="1" smtClean="0">
                                <a:latin typeface="Cambria Math"/>
                              </a:rPr>
                              <m:t>3</m:t>
                            </m:r>
                          </m:num>
                          <m:den>
                            <m:r>
                              <a:rPr lang="en-US" i="1">
                                <a:latin typeface="Cambria Math"/>
                              </a:rPr>
                              <m:t>5</m:t>
                            </m:r>
                          </m:den>
                        </m:f>
                      </m:e>
                    </m:func>
                    <m:r>
                      <a:rPr lang="en-US" b="0" i="1" smtClean="0">
                        <a:latin typeface="Cambria Math"/>
                      </a:rPr>
                      <m:t>=</m:t>
                    </m:r>
                    <m:r>
                      <a:rPr lang="en-US" b="0" i="1" smtClean="0">
                        <a:latin typeface="Cambria Math"/>
                      </a:rPr>
                      <m:t>0</m:t>
                    </m:r>
                    <m:r>
                      <a:rPr lang="en-US" b="0" i="1" smtClean="0">
                        <a:latin typeface="Cambria Math"/>
                      </a:rPr>
                      <m:t>.</m:t>
                    </m:r>
                    <m:r>
                      <a:rPr lang="en-US" b="0" i="1" smtClean="0">
                        <a:latin typeface="Cambria Math"/>
                      </a:rPr>
                      <m:t>971</m:t>
                    </m:r>
                  </m:oMath>
                </a14:m>
                <a:endParaRPr lang="en-US" b="0" dirty="0"/>
              </a:p>
              <a:p>
                <a:pPr marL="285750" indent="-285750">
                  <a:buFont typeface="Arial" pitchFamily="34" charset="0"/>
                  <a:buChar char="•"/>
                </a:pPr>
                <a14:m>
                  <m:oMath xmlns:m="http://schemas.openxmlformats.org/officeDocument/2006/math">
                    <m:r>
                      <a:rPr lang="en-US" i="1" dirty="0" smtClean="0">
                        <a:latin typeface="Cambria Math"/>
                      </a:rPr>
                      <m:t>𝐺𝑎𝑖</m:t>
                    </m:r>
                    <m:sSub>
                      <m:sSubPr>
                        <m:ctrlPr>
                          <a:rPr lang="en-US" b="0" i="1" dirty="0" smtClean="0">
                            <a:latin typeface="Cambria Math" panose="02040503050406030204" pitchFamily="18" charset="0"/>
                          </a:rPr>
                        </m:ctrlPr>
                      </m:sSubPr>
                      <m:e>
                        <m:r>
                          <a:rPr lang="en-US" i="1" dirty="0" smtClean="0">
                            <a:latin typeface="Cambria Math"/>
                          </a:rPr>
                          <m:t>𝑛</m:t>
                        </m:r>
                      </m:e>
                      <m:sub>
                        <m:r>
                          <a:rPr lang="en-US" b="0" i="1" dirty="0" smtClean="0">
                            <a:latin typeface="Cambria Math"/>
                          </a:rPr>
                          <m:t>𝑎𝑔𝑒</m:t>
                        </m:r>
                        <m:r>
                          <a:rPr lang="en-US" b="0" i="1" dirty="0" smtClean="0">
                            <a:latin typeface="Cambria Math"/>
                            <a:ea typeface="Cambria Math"/>
                          </a:rPr>
                          <m:t>≤</m:t>
                        </m:r>
                        <m:r>
                          <a:rPr lang="en-US" b="0" i="1" dirty="0" smtClean="0">
                            <a:latin typeface="Cambria Math"/>
                            <a:ea typeface="Cambria Math"/>
                          </a:rPr>
                          <m:t>30</m:t>
                        </m:r>
                      </m:sub>
                    </m:sSub>
                    <m:d>
                      <m:dPr>
                        <m:ctrlPr>
                          <a:rPr lang="en-US" b="0" i="1" dirty="0" smtClean="0">
                            <a:latin typeface="Cambria Math" panose="02040503050406030204" pitchFamily="18" charset="0"/>
                          </a:rPr>
                        </m:ctrlPr>
                      </m:dPr>
                      <m:e>
                        <m:r>
                          <a:rPr lang="en-US" b="0" i="1" dirty="0" smtClean="0">
                            <a:latin typeface="Cambria Math"/>
                          </a:rPr>
                          <m:t>𝑖𝑛𝑐𝑜𝑚𝑒</m:t>
                        </m:r>
                      </m:e>
                    </m:d>
                  </m:oMath>
                </a14:m>
                <a:endParaRPr lang="en-US" b="0" i="1" dirty="0">
                  <a:latin typeface="Cambria Math"/>
                </a:endParaRPr>
              </a:p>
              <a:p>
                <a:pPr/>
                <a14:m>
                  <m:oMathPara xmlns:m="http://schemas.openxmlformats.org/officeDocument/2006/math">
                    <m:oMathParaPr>
                      <m:jc m:val="centerGroup"/>
                    </m:oMathParaPr>
                    <m:oMath xmlns:m="http://schemas.openxmlformats.org/officeDocument/2006/math">
                      <m:r>
                        <a:rPr lang="en-US" b="0" i="1" dirty="0" smtClean="0">
                          <a:latin typeface="Cambria Math"/>
                        </a:rPr>
                        <m:t>=</m:t>
                      </m:r>
                      <m:r>
                        <a:rPr lang="en-US" b="0" i="1" dirty="0" smtClean="0">
                          <a:latin typeface="Cambria Math"/>
                        </a:rPr>
                        <m:t>𝐼𝑛𝑓𝑜</m:t>
                      </m:r>
                      <m:d>
                        <m:dPr>
                          <m:ctrlPr>
                            <a:rPr lang="en-US" b="0" i="1" dirty="0"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𝐷</m:t>
                              </m:r>
                            </m:e>
                            <m:sub>
                              <m:r>
                                <a:rPr lang="en-US" i="1">
                                  <a:latin typeface="Cambria Math"/>
                                </a:rPr>
                                <m:t>𝑎𝑔𝑒</m:t>
                              </m:r>
                              <m:r>
                                <a:rPr lang="en-US" i="1">
                                  <a:latin typeface="Cambria Math"/>
                                  <a:ea typeface="Cambria Math"/>
                                </a:rPr>
                                <m:t>≤</m:t>
                              </m:r>
                              <m:r>
                                <a:rPr lang="en-US" i="1">
                                  <a:latin typeface="Cambria Math"/>
                                  <a:ea typeface="Cambria Math"/>
                                </a:rPr>
                                <m:t>30</m:t>
                              </m:r>
                            </m:sub>
                          </m:sSub>
                        </m:e>
                      </m:d>
                      <m:r>
                        <a:rPr lang="en-US" b="0" i="1" dirty="0" smtClean="0">
                          <a:latin typeface="Cambria Math"/>
                        </a:rPr>
                        <m:t>−</m:t>
                      </m:r>
                      <m:r>
                        <a:rPr lang="en-US" b="0" i="1" dirty="0" smtClean="0">
                          <a:latin typeface="Cambria Math"/>
                        </a:rPr>
                        <m:t>𝐼𝑛𝑓</m:t>
                      </m:r>
                      <m:sSub>
                        <m:sSubPr>
                          <m:ctrlPr>
                            <a:rPr lang="en-US" b="0" i="1" dirty="0" smtClean="0">
                              <a:latin typeface="Cambria Math" panose="02040503050406030204" pitchFamily="18" charset="0"/>
                            </a:rPr>
                          </m:ctrlPr>
                        </m:sSubPr>
                        <m:e>
                          <m:r>
                            <a:rPr lang="en-US" b="0" i="1" dirty="0" smtClean="0">
                              <a:latin typeface="Cambria Math"/>
                            </a:rPr>
                            <m:t>𝑜</m:t>
                          </m:r>
                        </m:e>
                        <m:sub>
                          <m:r>
                            <a:rPr lang="en-US" b="0" i="1" dirty="0" smtClean="0">
                              <a:latin typeface="Cambria Math"/>
                            </a:rPr>
                            <m:t>𝑖𝑛𝑐𝑜𝑚𝑒</m:t>
                          </m:r>
                        </m:sub>
                      </m:sSub>
                      <m:d>
                        <m:dPr>
                          <m:ctrlPr>
                            <a:rPr lang="en-US" b="0" i="1" dirty="0"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𝐷</m:t>
                              </m:r>
                            </m:e>
                            <m:sub>
                              <m:r>
                                <a:rPr lang="en-US" i="1">
                                  <a:latin typeface="Cambria Math"/>
                                </a:rPr>
                                <m:t>𝑎𝑔𝑒</m:t>
                              </m:r>
                              <m:r>
                                <a:rPr lang="en-US" i="1">
                                  <a:latin typeface="Cambria Math"/>
                                  <a:ea typeface="Cambria Math"/>
                                </a:rPr>
                                <m:t>≤</m:t>
                              </m:r>
                              <m:r>
                                <a:rPr lang="en-US" i="1">
                                  <a:latin typeface="Cambria Math"/>
                                  <a:ea typeface="Cambria Math"/>
                                </a:rPr>
                                <m:t>30</m:t>
                              </m:r>
                            </m:sub>
                          </m:sSub>
                        </m:e>
                      </m:d>
                      <m:r>
                        <a:rPr lang="en-US" b="0" i="0" dirty="0" smtClean="0">
                          <a:latin typeface="Cambria Math"/>
                        </a:rPr>
                        <m:t>=</m:t>
                      </m:r>
                      <m:r>
                        <a:rPr lang="en-US" b="0" i="0" dirty="0" smtClean="0">
                          <a:latin typeface="Cambria Math"/>
                        </a:rPr>
                        <m:t>0</m:t>
                      </m:r>
                      <m:r>
                        <a:rPr lang="en-US" b="0" i="0" dirty="0" smtClean="0">
                          <a:latin typeface="Cambria Math"/>
                        </a:rPr>
                        <m:t>.</m:t>
                      </m:r>
                      <m:r>
                        <a:rPr lang="en-US" b="0" i="1" dirty="0" smtClean="0">
                          <a:latin typeface="Cambria Math"/>
                        </a:rPr>
                        <m:t>571</m:t>
                      </m:r>
                    </m:oMath>
                  </m:oMathPara>
                </a14:m>
                <a:endParaRPr lang="en-US" b="0" i="1" dirty="0">
                  <a:latin typeface="Cambria Math"/>
                </a:endParaRPr>
              </a:p>
              <a:p>
                <a:pPr marL="285750" indent="-285750">
                  <a:buFont typeface="Arial" pitchFamily="34" charset="0"/>
                  <a:buChar char="•"/>
                </a:pPr>
                <a14:m>
                  <m:oMath xmlns:m="http://schemas.openxmlformats.org/officeDocument/2006/math">
                    <m:r>
                      <a:rPr lang="en-US" i="1" dirty="0">
                        <a:latin typeface="Cambria Math"/>
                      </a:rPr>
                      <m:t>𝐺𝑎𝑖</m:t>
                    </m:r>
                    <m:sSub>
                      <m:sSubPr>
                        <m:ctrlPr>
                          <a:rPr lang="en-US" i="1" dirty="0">
                            <a:latin typeface="Cambria Math" panose="02040503050406030204" pitchFamily="18" charset="0"/>
                          </a:rPr>
                        </m:ctrlPr>
                      </m:sSubPr>
                      <m:e>
                        <m:r>
                          <a:rPr lang="en-US" i="1" dirty="0">
                            <a:latin typeface="Cambria Math"/>
                          </a:rPr>
                          <m:t>𝑛</m:t>
                        </m:r>
                      </m:e>
                      <m:sub>
                        <m:r>
                          <a:rPr lang="en-US" i="1" dirty="0">
                            <a:latin typeface="Cambria Math"/>
                          </a:rPr>
                          <m:t>𝑎𝑔𝑒</m:t>
                        </m:r>
                        <m:r>
                          <a:rPr lang="en-US" i="1" dirty="0">
                            <a:latin typeface="Cambria Math"/>
                            <a:ea typeface="Cambria Math"/>
                          </a:rPr>
                          <m:t>≤</m:t>
                        </m:r>
                        <m:r>
                          <a:rPr lang="en-US" i="1" dirty="0">
                            <a:latin typeface="Cambria Math"/>
                            <a:ea typeface="Cambria Math"/>
                          </a:rPr>
                          <m:t>30</m:t>
                        </m:r>
                      </m:sub>
                    </m:sSub>
                    <m:d>
                      <m:dPr>
                        <m:ctrlPr>
                          <a:rPr lang="en-US" i="1" dirty="0" smtClean="0">
                            <a:latin typeface="Cambria Math" panose="02040503050406030204" pitchFamily="18" charset="0"/>
                          </a:rPr>
                        </m:ctrlPr>
                      </m:dPr>
                      <m:e>
                        <m:r>
                          <a:rPr lang="en-US" b="0" i="1" dirty="0" smtClean="0">
                            <a:latin typeface="Cambria Math"/>
                          </a:rPr>
                          <m:t>𝑠𝑡𝑢𝑑𝑒𝑛𝑡</m:t>
                        </m:r>
                      </m:e>
                    </m:d>
                    <m:r>
                      <a:rPr lang="en-US" b="0" i="1" dirty="0" smtClean="0">
                        <a:latin typeface="Cambria Math"/>
                      </a:rPr>
                      <m:t>=</m:t>
                    </m:r>
                    <m:r>
                      <a:rPr lang="en-US" b="0" i="1" dirty="0" smtClean="0">
                        <a:latin typeface="Cambria Math"/>
                      </a:rPr>
                      <m:t>0</m:t>
                    </m:r>
                    <m:r>
                      <a:rPr lang="en-US" b="0" i="1" dirty="0" smtClean="0">
                        <a:latin typeface="Cambria Math"/>
                      </a:rPr>
                      <m:t>.</m:t>
                    </m:r>
                    <m:r>
                      <a:rPr lang="en-US" b="0" i="1" dirty="0" smtClean="0">
                        <a:latin typeface="Cambria Math"/>
                      </a:rPr>
                      <m:t>971</m:t>
                    </m:r>
                  </m:oMath>
                </a14:m>
                <a:endParaRPr lang="en-US" b="0" i="1" dirty="0">
                  <a:latin typeface="Cambria Math"/>
                </a:endParaRPr>
              </a:p>
              <a:p>
                <a:pPr marL="285750" indent="-285750">
                  <a:buFont typeface="Arial" pitchFamily="34" charset="0"/>
                  <a:buChar char="•"/>
                </a:pPr>
                <a14:m>
                  <m:oMath xmlns:m="http://schemas.openxmlformats.org/officeDocument/2006/math">
                    <m:r>
                      <a:rPr lang="en-US" i="1" dirty="0">
                        <a:latin typeface="Cambria Math"/>
                      </a:rPr>
                      <m:t>𝐺𝑎𝑖</m:t>
                    </m:r>
                    <m:sSub>
                      <m:sSubPr>
                        <m:ctrlPr>
                          <a:rPr lang="en-US" i="1" dirty="0">
                            <a:latin typeface="Cambria Math" panose="02040503050406030204" pitchFamily="18" charset="0"/>
                          </a:rPr>
                        </m:ctrlPr>
                      </m:sSubPr>
                      <m:e>
                        <m:r>
                          <a:rPr lang="en-US" i="1" dirty="0">
                            <a:latin typeface="Cambria Math"/>
                          </a:rPr>
                          <m:t>𝑛</m:t>
                        </m:r>
                      </m:e>
                      <m:sub>
                        <m:r>
                          <a:rPr lang="en-US" i="1" dirty="0">
                            <a:latin typeface="Cambria Math"/>
                          </a:rPr>
                          <m:t>𝑎𝑔𝑒</m:t>
                        </m:r>
                        <m:r>
                          <a:rPr lang="en-US" i="1" dirty="0">
                            <a:latin typeface="Cambria Math"/>
                            <a:ea typeface="Cambria Math"/>
                          </a:rPr>
                          <m:t>≤</m:t>
                        </m:r>
                        <m:r>
                          <a:rPr lang="en-US" i="1" dirty="0">
                            <a:latin typeface="Cambria Math"/>
                            <a:ea typeface="Cambria Math"/>
                          </a:rPr>
                          <m:t>30</m:t>
                        </m:r>
                      </m:sub>
                    </m:sSub>
                    <m:d>
                      <m:dPr>
                        <m:ctrlPr>
                          <a:rPr lang="en-US" i="1" dirty="0">
                            <a:latin typeface="Cambria Math" panose="02040503050406030204" pitchFamily="18" charset="0"/>
                          </a:rPr>
                        </m:ctrlPr>
                      </m:dPr>
                      <m:e>
                        <m:r>
                          <a:rPr lang="en-US" b="0" i="1" dirty="0" smtClean="0">
                            <a:latin typeface="Cambria Math"/>
                          </a:rPr>
                          <m:t>𝑐𝑟𝑒𝑑𝑖𝑡</m:t>
                        </m:r>
                        <m:r>
                          <a:rPr lang="en-US" b="0" i="1" dirty="0" smtClean="0">
                            <a:latin typeface="Cambria Math"/>
                          </a:rPr>
                          <m:t>_</m:t>
                        </m:r>
                        <m:r>
                          <a:rPr lang="en-US" b="0" i="1" dirty="0" smtClean="0">
                            <a:latin typeface="Cambria Math"/>
                          </a:rPr>
                          <m:t>𝑟𝑎𝑡𝑖𝑛𝑔</m:t>
                        </m:r>
                      </m:e>
                    </m:d>
                    <m:r>
                      <a:rPr lang="en-US" b="0" i="1" dirty="0" smtClean="0">
                        <a:latin typeface="Cambria Math"/>
                      </a:rPr>
                      <m:t>=</m:t>
                    </m:r>
                    <m:r>
                      <a:rPr lang="en-US" b="0" i="1" dirty="0" smtClean="0">
                        <a:latin typeface="Cambria Math"/>
                      </a:rPr>
                      <m:t>0</m:t>
                    </m:r>
                    <m:r>
                      <a:rPr lang="en-US" b="0" i="1" dirty="0" smtClean="0">
                        <a:latin typeface="Cambria Math"/>
                      </a:rPr>
                      <m:t>.</m:t>
                    </m:r>
                    <m:r>
                      <a:rPr lang="en-US" b="0" i="1" dirty="0" smtClean="0">
                        <a:latin typeface="Cambria Math"/>
                      </a:rPr>
                      <m:t>02</m:t>
                    </m:r>
                  </m:oMath>
                </a14:m>
                <a:endParaRPr lang="en-US" i="1" dirty="0">
                  <a:latin typeface="Cambria Math"/>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3941247" y="1069406"/>
                <a:ext cx="5479705" cy="1703800"/>
              </a:xfrm>
              <a:prstGeom prst="rect">
                <a:avLst/>
              </a:prstGeom>
              <a:blipFill rotWithShape="1">
                <a:blip r:embed="rId5" cstate="print"/>
                <a:stretch>
                  <a:fillRect l="-780" b="-2143"/>
                </a:stretch>
              </a:blipFill>
            </p:spPr>
            <p:txBody>
              <a:bodyPr/>
              <a:lstStyle/>
              <a:p>
                <a:r>
                  <a:rPr lang="en-US">
                    <a:noFill/>
                  </a:rPr>
                  <a:t> </a:t>
                </a:r>
              </a:p>
            </p:txBody>
          </p:sp>
        </mc:Fallback>
      </mc:AlternateContent>
      <p:grpSp>
        <p:nvGrpSpPr>
          <p:cNvPr id="3" name="Group 63"/>
          <p:cNvGrpSpPr>
            <a:grpSpLocks/>
          </p:cNvGrpSpPr>
          <p:nvPr/>
        </p:nvGrpSpPr>
        <p:grpSpPr bwMode="auto">
          <a:xfrm>
            <a:off x="4953000" y="3048000"/>
            <a:ext cx="4132280" cy="3810000"/>
            <a:chOff x="768" y="1152"/>
            <a:chExt cx="3336" cy="2400"/>
          </a:xfrm>
        </p:grpSpPr>
        <p:sp>
          <p:nvSpPr>
            <p:cNvPr id="41" name="Rectangle 3"/>
            <p:cNvSpPr>
              <a:spLocks noChangeArrowheads="1"/>
            </p:cNvSpPr>
            <p:nvPr/>
          </p:nvSpPr>
          <p:spPr bwMode="auto">
            <a:xfrm>
              <a:off x="2387" y="1152"/>
              <a:ext cx="475" cy="296"/>
            </a:xfrm>
            <a:prstGeom prst="rect">
              <a:avLst/>
            </a:prstGeom>
            <a:solidFill>
              <a:srgbClr val="00CCFF"/>
            </a:solidFill>
            <a:ln w="12700">
              <a:solidFill>
                <a:schemeClr val="tx1"/>
              </a:solidFill>
              <a:miter lim="800000"/>
              <a:headEnd/>
              <a:tailEnd/>
            </a:ln>
          </p:spPr>
          <p:txBody>
            <a:bodyPr wrap="none" lIns="92075" tIns="46038" rIns="92075" bIns="46038">
              <a:spAutoFit/>
            </a:bodyPr>
            <a:lstStyle/>
            <a:p>
              <a:pPr algn="ctr" eaLnBrk="0" hangingPunct="0"/>
              <a:r>
                <a:rPr lang="en-US" sz="2400" dirty="0">
                  <a:latin typeface="Times New Roman" pitchFamily="18" charset="0"/>
                </a:rPr>
                <a:t>age?</a:t>
              </a:r>
            </a:p>
          </p:txBody>
        </p:sp>
        <p:sp>
          <p:nvSpPr>
            <p:cNvPr id="42" name="Rectangle 4"/>
            <p:cNvSpPr>
              <a:spLocks noChangeArrowheads="1"/>
            </p:cNvSpPr>
            <p:nvPr/>
          </p:nvSpPr>
          <p:spPr bwMode="auto">
            <a:xfrm>
              <a:off x="2245" y="1766"/>
              <a:ext cx="7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sz="2400">
                  <a:latin typeface="Times New Roman" pitchFamily="18" charset="0"/>
                </a:rPr>
                <a:t>overcast</a:t>
              </a:r>
            </a:p>
          </p:txBody>
        </p:sp>
        <p:sp>
          <p:nvSpPr>
            <p:cNvPr id="43" name="Rectangle 5"/>
            <p:cNvSpPr>
              <a:spLocks noChangeArrowheads="1"/>
            </p:cNvSpPr>
            <p:nvPr/>
          </p:nvSpPr>
          <p:spPr bwMode="auto">
            <a:xfrm>
              <a:off x="1229" y="2342"/>
              <a:ext cx="763" cy="296"/>
            </a:xfrm>
            <a:prstGeom prst="rect">
              <a:avLst/>
            </a:prstGeom>
            <a:solidFill>
              <a:srgbClr val="00FFCC"/>
            </a:solidFill>
            <a:ln w="12700">
              <a:solidFill>
                <a:schemeClr val="tx1"/>
              </a:solidFill>
              <a:miter lim="800000"/>
              <a:headEnd/>
              <a:tailEnd/>
            </a:ln>
          </p:spPr>
          <p:txBody>
            <a:bodyPr wrap="none" lIns="92075" tIns="46038" rIns="92075" bIns="46038">
              <a:spAutoFit/>
            </a:bodyPr>
            <a:lstStyle/>
            <a:p>
              <a:pPr algn="ctr" eaLnBrk="0" hangingPunct="0"/>
              <a:r>
                <a:rPr lang="en-US" sz="2400">
                  <a:latin typeface="Times New Roman" pitchFamily="18" charset="0"/>
                </a:rPr>
                <a:t>student?</a:t>
              </a:r>
            </a:p>
          </p:txBody>
        </p:sp>
        <p:sp>
          <p:nvSpPr>
            <p:cNvPr id="44" name="Rectangle 6"/>
            <p:cNvSpPr>
              <a:spLocks noChangeArrowheads="1"/>
            </p:cNvSpPr>
            <p:nvPr/>
          </p:nvSpPr>
          <p:spPr bwMode="auto">
            <a:xfrm>
              <a:off x="3901" y="2342"/>
              <a:ext cx="203" cy="291"/>
            </a:xfrm>
            <a:prstGeom prst="rect">
              <a:avLst/>
            </a:prstGeom>
            <a:solidFill>
              <a:srgbClr val="99CCFF"/>
            </a:solidFill>
            <a:ln w="12700">
              <a:solidFill>
                <a:schemeClr val="tx1"/>
              </a:solidFill>
              <a:miter lim="800000"/>
              <a:headEnd/>
              <a:tailEnd/>
            </a:ln>
          </p:spPr>
          <p:txBody>
            <a:bodyPr wrap="none" lIns="92075" tIns="46038" rIns="92075" bIns="46038">
              <a:spAutoFit/>
            </a:bodyPr>
            <a:lstStyle/>
            <a:p>
              <a:pPr algn="ctr" eaLnBrk="0" hangingPunct="0"/>
              <a:r>
                <a:rPr lang="en-US" sz="2400" dirty="0">
                  <a:latin typeface="Times New Roman" pitchFamily="18" charset="0"/>
                </a:rPr>
                <a:t>?</a:t>
              </a:r>
            </a:p>
          </p:txBody>
        </p:sp>
        <p:sp>
          <p:nvSpPr>
            <p:cNvPr id="45" name="Line 11"/>
            <p:cNvSpPr>
              <a:spLocks noChangeShapeType="1"/>
            </p:cNvSpPr>
            <p:nvPr/>
          </p:nvSpPr>
          <p:spPr bwMode="auto">
            <a:xfrm flipH="1">
              <a:off x="1619" y="1462"/>
              <a:ext cx="625" cy="83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6" name="Line 12"/>
            <p:cNvSpPr>
              <a:spLocks noChangeShapeType="1"/>
            </p:cNvSpPr>
            <p:nvPr/>
          </p:nvSpPr>
          <p:spPr bwMode="auto">
            <a:xfrm flipH="1">
              <a:off x="2622" y="1491"/>
              <a:ext cx="1" cy="3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 name="Line 13"/>
            <p:cNvSpPr>
              <a:spLocks noChangeShapeType="1"/>
            </p:cNvSpPr>
            <p:nvPr/>
          </p:nvSpPr>
          <p:spPr bwMode="auto">
            <a:xfrm>
              <a:off x="2928" y="1440"/>
              <a:ext cx="1051" cy="89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8" name="Rectangle 14"/>
            <p:cNvSpPr>
              <a:spLocks noChangeArrowheads="1"/>
            </p:cNvSpPr>
            <p:nvPr/>
          </p:nvSpPr>
          <p:spPr bwMode="auto">
            <a:xfrm>
              <a:off x="1513" y="1730"/>
              <a:ext cx="534" cy="296"/>
            </a:xfrm>
            <a:prstGeom prst="rect">
              <a:avLst/>
            </a:prstGeom>
            <a:solidFill>
              <a:srgbClr val="FFFF00"/>
            </a:solidFill>
            <a:ln w="12700">
              <a:solidFill>
                <a:schemeClr val="bg1"/>
              </a:solidFill>
              <a:miter lim="800000"/>
              <a:headEnd/>
              <a:tailEnd/>
            </a:ln>
          </p:spPr>
          <p:txBody>
            <a:bodyPr wrap="none" lIns="92075" tIns="46038" rIns="92075" bIns="46038">
              <a:spAutoFit/>
            </a:bodyPr>
            <a:lstStyle/>
            <a:p>
              <a:pPr algn="ctr" eaLnBrk="0" hangingPunct="0"/>
              <a:r>
                <a:rPr lang="en-US" sz="2400" b="1">
                  <a:latin typeface="Times New Roman" pitchFamily="18" charset="0"/>
                </a:rPr>
                <a:t>&lt;=30</a:t>
              </a:r>
              <a:endParaRPr lang="en-US" sz="2400">
                <a:latin typeface="Times New Roman" pitchFamily="18" charset="0"/>
              </a:endParaRPr>
            </a:p>
          </p:txBody>
        </p:sp>
        <p:sp>
          <p:nvSpPr>
            <p:cNvPr id="49" name="Rectangle 15"/>
            <p:cNvSpPr>
              <a:spLocks noChangeArrowheads="1"/>
            </p:cNvSpPr>
            <p:nvPr/>
          </p:nvSpPr>
          <p:spPr bwMode="auto">
            <a:xfrm>
              <a:off x="3364" y="1804"/>
              <a:ext cx="417"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sz="2400" b="1" dirty="0">
                  <a:latin typeface="Times New Roman" pitchFamily="18" charset="0"/>
                </a:rPr>
                <a:t>&gt;40</a:t>
              </a:r>
              <a:endParaRPr lang="en-US" sz="2400" dirty="0">
                <a:latin typeface="Times New Roman" pitchFamily="18" charset="0"/>
              </a:endParaRPr>
            </a:p>
          </p:txBody>
        </p:sp>
        <p:sp>
          <p:nvSpPr>
            <p:cNvPr id="50" name="Line 16"/>
            <p:cNvSpPr>
              <a:spLocks noChangeShapeType="1"/>
            </p:cNvSpPr>
            <p:nvPr/>
          </p:nvSpPr>
          <p:spPr bwMode="auto">
            <a:xfrm flipH="1">
              <a:off x="960" y="2640"/>
              <a:ext cx="528" cy="62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 name="Line 17"/>
            <p:cNvSpPr>
              <a:spLocks noChangeShapeType="1"/>
            </p:cNvSpPr>
            <p:nvPr/>
          </p:nvSpPr>
          <p:spPr bwMode="auto">
            <a:xfrm>
              <a:off x="1728" y="2640"/>
              <a:ext cx="480" cy="62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4" name="Line 24"/>
            <p:cNvSpPr>
              <a:spLocks noChangeShapeType="1"/>
            </p:cNvSpPr>
            <p:nvPr/>
          </p:nvSpPr>
          <p:spPr bwMode="auto">
            <a:xfrm>
              <a:off x="2623" y="2029"/>
              <a:ext cx="0" cy="27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 name="Rectangle 25"/>
            <p:cNvSpPr>
              <a:spLocks noChangeArrowheads="1"/>
            </p:cNvSpPr>
            <p:nvPr/>
          </p:nvSpPr>
          <p:spPr bwMode="auto">
            <a:xfrm>
              <a:off x="768" y="3264"/>
              <a:ext cx="308" cy="28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sz="2400">
                  <a:latin typeface="Times New Roman" pitchFamily="18" charset="0"/>
                </a:rPr>
                <a:t>no</a:t>
              </a:r>
            </a:p>
          </p:txBody>
        </p:sp>
        <p:sp>
          <p:nvSpPr>
            <p:cNvPr id="56" name="Rectangle 27"/>
            <p:cNvSpPr>
              <a:spLocks noChangeArrowheads="1"/>
            </p:cNvSpPr>
            <p:nvPr/>
          </p:nvSpPr>
          <p:spPr bwMode="auto">
            <a:xfrm>
              <a:off x="2028" y="3264"/>
              <a:ext cx="372" cy="2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sz="2400">
                  <a:latin typeface="Times New Roman" pitchFamily="18" charset="0"/>
                </a:rPr>
                <a:t>yes</a:t>
              </a:r>
            </a:p>
          </p:txBody>
        </p:sp>
        <p:sp>
          <p:nvSpPr>
            <p:cNvPr id="58" name="Rectangle 29"/>
            <p:cNvSpPr>
              <a:spLocks noChangeArrowheads="1"/>
            </p:cNvSpPr>
            <p:nvPr/>
          </p:nvSpPr>
          <p:spPr bwMode="auto">
            <a:xfrm>
              <a:off x="2437" y="2344"/>
              <a:ext cx="372" cy="2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sz="2400">
                  <a:latin typeface="Times New Roman" pitchFamily="18" charset="0"/>
                </a:rPr>
                <a:t>yes</a:t>
              </a:r>
            </a:p>
          </p:txBody>
        </p:sp>
        <p:sp>
          <p:nvSpPr>
            <p:cNvPr id="59" name="Rectangle 30"/>
            <p:cNvSpPr>
              <a:spLocks noChangeArrowheads="1"/>
            </p:cNvSpPr>
            <p:nvPr/>
          </p:nvSpPr>
          <p:spPr bwMode="auto">
            <a:xfrm>
              <a:off x="2256" y="1824"/>
              <a:ext cx="672" cy="192"/>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p>
              <a:pPr algn="ctr" eaLnBrk="0" hangingPunct="0"/>
              <a:r>
                <a:rPr lang="en-US" sz="2000" b="1">
                  <a:latin typeface="Times New Roman" pitchFamily="18" charset="0"/>
                </a:rPr>
                <a:t>31..40</a:t>
              </a:r>
              <a:endParaRPr lang="en-US">
                <a:latin typeface="Times New Roman" pitchFamily="18" charset="0"/>
              </a:endParaRPr>
            </a:p>
          </p:txBody>
        </p:sp>
        <p:sp>
          <p:nvSpPr>
            <p:cNvPr id="63" name="Rectangle 8"/>
            <p:cNvSpPr>
              <a:spLocks noChangeArrowheads="1"/>
            </p:cNvSpPr>
            <p:nvPr/>
          </p:nvSpPr>
          <p:spPr bwMode="auto">
            <a:xfrm>
              <a:off x="1872" y="2832"/>
              <a:ext cx="372"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lang="en-US" sz="2400">
                  <a:latin typeface="Times New Roman" pitchFamily="18" charset="0"/>
                </a:rPr>
                <a:t>yes</a:t>
              </a:r>
            </a:p>
          </p:txBody>
        </p:sp>
        <p:sp>
          <p:nvSpPr>
            <p:cNvPr id="64" name="Rectangle 7"/>
            <p:cNvSpPr>
              <a:spLocks noChangeArrowheads="1"/>
            </p:cNvSpPr>
            <p:nvPr/>
          </p:nvSpPr>
          <p:spPr bwMode="auto">
            <a:xfrm>
              <a:off x="960" y="2832"/>
              <a:ext cx="432"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lang="en-US" sz="2400">
                  <a:latin typeface="Times New Roman" pitchFamily="18" charset="0"/>
                </a:rPr>
                <a:t>no</a:t>
              </a:r>
            </a:p>
          </p:txBody>
        </p:sp>
      </p:grpSp>
      <p:sp>
        <p:nvSpPr>
          <p:cNvPr id="60" name="Rectangle 2"/>
          <p:cNvSpPr>
            <a:spLocks noGrp="1" noChangeArrowheads="1"/>
          </p:cNvSpPr>
          <p:nvPr>
            <p:ph type="title" idx="4294967295"/>
          </p:nvPr>
        </p:nvSpPr>
        <p:spPr>
          <a:xfrm>
            <a:off x="0" y="381000"/>
            <a:ext cx="9144000" cy="609600"/>
          </a:xfrm>
          <a:noFill/>
        </p:spPr>
        <p:txBody>
          <a:bodyPr lIns="92075" tIns="46038" rIns="92075" bIns="46038" anchor="ctr">
            <a:normAutofit fontScale="90000"/>
          </a:bodyPr>
          <a:lstStyle/>
          <a:p>
            <a:r>
              <a:rPr lang="en-US" dirty="0"/>
              <a:t>Attribute Selection : Information Gain</a:t>
            </a:r>
          </a:p>
        </p:txBody>
      </p:sp>
      <p:sp>
        <p:nvSpPr>
          <p:cNvPr id="53" name="Slide Number Placeholder 52"/>
          <p:cNvSpPr>
            <a:spLocks noGrp="1"/>
          </p:cNvSpPr>
          <p:nvPr>
            <p:ph type="sldNum" sz="quarter" idx="11"/>
          </p:nvPr>
        </p:nvSpPr>
        <p:spPr/>
        <p:txBody>
          <a:bodyPr/>
          <a:lstStyle/>
          <a:p>
            <a:pPr>
              <a:defRPr/>
            </a:pPr>
            <a:fld id="{4635AE12-246C-49B1-92D7-252397D611F1}" type="slidenum">
              <a:rPr lang="en-US" smtClean="0"/>
              <a:pPr>
                <a:defRPr/>
              </a:pPr>
              <a:t>30</a:t>
            </a:fld>
            <a:endParaRPr lang="en-US"/>
          </a:p>
        </p:txBody>
      </p:sp>
    </p:spTree>
    <p:extLst>
      <p:ext uri="{BB962C8B-B14F-4D97-AF65-F5344CB8AC3E}">
        <p14:creationId xmlns:p14="http://schemas.microsoft.com/office/powerpoint/2010/main" val="26318488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3"/>
          <p:cNvSpPr>
            <a:spLocks noGrp="1" noChangeArrowheads="1"/>
          </p:cNvSpPr>
          <p:nvPr>
            <p:ph type="body" idx="1"/>
          </p:nvPr>
        </p:nvSpPr>
        <p:spPr>
          <a:xfrm>
            <a:off x="304800" y="1295400"/>
            <a:ext cx="8610600" cy="5273675"/>
          </a:xfrm>
        </p:spPr>
        <p:txBody>
          <a:bodyPr/>
          <a:lstStyle/>
          <a:p>
            <a:pPr eaLnBrk="1" hangingPunct="1">
              <a:lnSpc>
                <a:spcPct val="115000"/>
              </a:lnSpc>
              <a:spcBef>
                <a:spcPct val="25000"/>
              </a:spcBef>
            </a:pPr>
            <a:r>
              <a:rPr lang="en-US" sz="2400" dirty="0"/>
              <a:t>Let attribute A be a continuous-valued attribute</a:t>
            </a:r>
          </a:p>
          <a:p>
            <a:pPr eaLnBrk="1" hangingPunct="1">
              <a:lnSpc>
                <a:spcPct val="115000"/>
              </a:lnSpc>
              <a:spcBef>
                <a:spcPct val="25000"/>
              </a:spcBef>
            </a:pPr>
            <a:r>
              <a:rPr lang="en-US" sz="2400" dirty="0"/>
              <a:t>Must determine the </a:t>
            </a:r>
            <a:r>
              <a:rPr lang="en-US" sz="2400" i="1" dirty="0">
                <a:solidFill>
                  <a:srgbClr val="FF0000"/>
                </a:solidFill>
              </a:rPr>
              <a:t>best split point</a:t>
            </a:r>
            <a:r>
              <a:rPr lang="en-US" sz="2400" dirty="0">
                <a:solidFill>
                  <a:srgbClr val="FF0000"/>
                </a:solidFill>
              </a:rPr>
              <a:t> </a:t>
            </a:r>
            <a:r>
              <a:rPr lang="en-US" sz="2400" dirty="0"/>
              <a:t>for A</a:t>
            </a:r>
          </a:p>
          <a:p>
            <a:pPr lvl="1" eaLnBrk="1" hangingPunct="1">
              <a:lnSpc>
                <a:spcPct val="115000"/>
              </a:lnSpc>
              <a:spcBef>
                <a:spcPct val="25000"/>
              </a:spcBef>
            </a:pPr>
            <a:r>
              <a:rPr lang="en-US" sz="2400" dirty="0"/>
              <a:t>Sort the value A in increasing order</a:t>
            </a:r>
          </a:p>
          <a:p>
            <a:pPr lvl="1" eaLnBrk="1" hangingPunct="1">
              <a:lnSpc>
                <a:spcPct val="115000"/>
              </a:lnSpc>
              <a:spcBef>
                <a:spcPct val="25000"/>
              </a:spcBef>
            </a:pPr>
            <a:r>
              <a:rPr lang="en-US" sz="2400" dirty="0"/>
              <a:t>Typically, the midpoint between each pair of adjacent values is considered as a possible </a:t>
            </a:r>
            <a:r>
              <a:rPr lang="en-US" sz="2400" i="1" dirty="0"/>
              <a:t>split point</a:t>
            </a:r>
          </a:p>
          <a:p>
            <a:pPr lvl="2" eaLnBrk="1" hangingPunct="1">
              <a:lnSpc>
                <a:spcPct val="115000"/>
              </a:lnSpc>
              <a:spcBef>
                <a:spcPct val="25000"/>
              </a:spcBef>
            </a:pPr>
            <a:r>
              <a:rPr lang="en-US" sz="2000" dirty="0"/>
              <a:t>(a</a:t>
            </a:r>
            <a:r>
              <a:rPr lang="en-US" sz="2000" baseline="-25000" dirty="0"/>
              <a:t>i</a:t>
            </a:r>
            <a:r>
              <a:rPr lang="en-US" sz="2000" dirty="0"/>
              <a:t>+a</a:t>
            </a:r>
            <a:r>
              <a:rPr lang="en-US" sz="2000" baseline="-25000" dirty="0"/>
              <a:t>i+1</a:t>
            </a:r>
            <a:r>
              <a:rPr lang="en-US" sz="2000" dirty="0"/>
              <a:t>)/2 is the midpoint between the values of </a:t>
            </a:r>
            <a:r>
              <a:rPr lang="en-US" sz="2000" dirty="0" err="1"/>
              <a:t>a</a:t>
            </a:r>
            <a:r>
              <a:rPr lang="en-US" sz="2000" baseline="-25000" dirty="0" err="1"/>
              <a:t>i</a:t>
            </a:r>
            <a:r>
              <a:rPr lang="en-US" sz="2000" dirty="0"/>
              <a:t> and a</a:t>
            </a:r>
            <a:r>
              <a:rPr lang="en-US" sz="2000" baseline="-25000" dirty="0"/>
              <a:t>i+1</a:t>
            </a:r>
          </a:p>
          <a:p>
            <a:pPr lvl="1" eaLnBrk="1" hangingPunct="1">
              <a:lnSpc>
                <a:spcPct val="115000"/>
              </a:lnSpc>
              <a:spcBef>
                <a:spcPct val="25000"/>
              </a:spcBef>
            </a:pPr>
            <a:r>
              <a:rPr lang="en-US" sz="2400" dirty="0"/>
              <a:t>The point with the </a:t>
            </a:r>
            <a:r>
              <a:rPr lang="en-US" sz="2400" i="1" dirty="0"/>
              <a:t>minimum expected information requirement</a:t>
            </a:r>
            <a:r>
              <a:rPr lang="en-US" sz="2400" dirty="0"/>
              <a:t> for A is selected as the split-point for A</a:t>
            </a:r>
          </a:p>
          <a:p>
            <a:pPr eaLnBrk="1" hangingPunct="1">
              <a:lnSpc>
                <a:spcPct val="115000"/>
              </a:lnSpc>
            </a:pPr>
            <a:r>
              <a:rPr lang="en-US" sz="2400" dirty="0"/>
              <a:t>Split:</a:t>
            </a:r>
          </a:p>
          <a:p>
            <a:pPr lvl="1" eaLnBrk="1" hangingPunct="1">
              <a:lnSpc>
                <a:spcPct val="115000"/>
              </a:lnSpc>
            </a:pPr>
            <a:r>
              <a:rPr lang="en-US" sz="2400" dirty="0"/>
              <a:t>D1 is the set of </a:t>
            </a:r>
            <a:r>
              <a:rPr lang="en-US" sz="2400" dirty="0" err="1"/>
              <a:t>tuples</a:t>
            </a:r>
            <a:r>
              <a:rPr lang="en-US" sz="2400" dirty="0"/>
              <a:t> in D satisfying A ≤ split-point, and D2 is the set of </a:t>
            </a:r>
            <a:r>
              <a:rPr lang="en-US" sz="2400" dirty="0" err="1"/>
              <a:t>tuples</a:t>
            </a:r>
            <a:r>
              <a:rPr lang="en-US" sz="2400" dirty="0"/>
              <a:t> in D satisfying A &gt; split-point</a:t>
            </a:r>
          </a:p>
        </p:txBody>
      </p:sp>
      <p:sp>
        <p:nvSpPr>
          <p:cNvPr id="5" name="Rectangle 2"/>
          <p:cNvSpPr txBox="1">
            <a:spLocks noChangeArrowheads="1"/>
          </p:cNvSpPr>
          <p:nvPr/>
        </p:nvSpPr>
        <p:spPr>
          <a:xfrm>
            <a:off x="0" y="0"/>
            <a:ext cx="9144000" cy="990600"/>
          </a:xfrm>
          <a:prstGeom prst="rect">
            <a:avLst/>
          </a:prstGeom>
          <a:noFill/>
        </p:spPr>
        <p:txBody>
          <a:bodyPr lIns="92075" tIns="46038" rIns="92075" bIns="46038" anchor="ctr" anchorCtr="0">
            <a:noAutofit/>
          </a:bodyPr>
          <a:lstStyle/>
          <a:p>
            <a:pPr lvl="0" eaLnBrk="1" fontAlgn="auto" hangingPunct="1">
              <a:spcAft>
                <a:spcPts val="0"/>
              </a:spcAft>
            </a:pPr>
            <a:r>
              <a:rPr lang="en-US" sz="3600" dirty="0">
                <a:solidFill>
                  <a:schemeClr val="tx2"/>
                </a:solidFill>
                <a:latin typeface="+mj-lt"/>
              </a:rPr>
              <a:t>Computing </a:t>
            </a:r>
            <a:r>
              <a:rPr lang="en-US" sz="3600" b="1" i="1" dirty="0">
                <a:solidFill>
                  <a:schemeClr val="tx2"/>
                </a:solidFill>
                <a:latin typeface="+mj-lt"/>
              </a:rPr>
              <a:t>Information-Gain</a:t>
            </a:r>
            <a:r>
              <a:rPr lang="en-US" sz="3600" dirty="0">
                <a:solidFill>
                  <a:schemeClr val="tx2"/>
                </a:solidFill>
                <a:latin typeface="+mj-lt"/>
              </a:rPr>
              <a:t> for </a:t>
            </a:r>
          </a:p>
          <a:p>
            <a:pPr lvl="0" eaLnBrk="1" fontAlgn="auto" hangingPunct="1">
              <a:spcAft>
                <a:spcPts val="0"/>
              </a:spcAft>
            </a:pPr>
            <a:r>
              <a:rPr lang="en-US" sz="3600" dirty="0">
                <a:solidFill>
                  <a:schemeClr val="tx2"/>
                </a:solidFill>
                <a:latin typeface="+mj-lt"/>
              </a:rPr>
              <a:t>Continuous-Valued Attributes</a:t>
            </a:r>
            <a:endParaRPr kumimoji="0" lang="en-US" sz="3600" i="0" u="none" strike="noStrike" kern="1200" cap="none" spc="0" normalizeH="0" baseline="0" noProof="0" dirty="0">
              <a:ln>
                <a:noFill/>
              </a:ln>
              <a:solidFill>
                <a:schemeClr val="tx2"/>
              </a:solidFill>
              <a:effectLst/>
              <a:uLnTx/>
              <a:uFillTx/>
              <a:latin typeface="+mj-lt"/>
              <a:ea typeface="+mj-ea"/>
              <a:cs typeface="+mj-cs"/>
            </a:endParaRPr>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31</a:t>
            </a:fld>
            <a:endParaRPr lang="en-US"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051"/>
          <p:cNvSpPr>
            <a:spLocks noGrp="1" noChangeArrowheads="1"/>
          </p:cNvSpPr>
          <p:nvPr>
            <p:ph type="body" sz="half" idx="1"/>
          </p:nvPr>
        </p:nvSpPr>
        <p:spPr>
          <a:xfrm>
            <a:off x="304800" y="1371600"/>
            <a:ext cx="8458200" cy="5105400"/>
          </a:xfrm>
        </p:spPr>
        <p:txBody>
          <a:bodyPr>
            <a:normAutofit/>
          </a:bodyPr>
          <a:lstStyle/>
          <a:p>
            <a:pPr eaLnBrk="1" hangingPunct="1"/>
            <a:r>
              <a:rPr lang="en-US" sz="2400" dirty="0"/>
              <a:t>Information gain measure is biased towards attributes with a large number of values</a:t>
            </a:r>
          </a:p>
          <a:p>
            <a:r>
              <a:rPr lang="en-AU" sz="2400" dirty="0" err="1"/>
              <a:t>E.g</a:t>
            </a:r>
            <a:r>
              <a:rPr lang="en-AU" sz="2400" dirty="0"/>
              <a:t>: attribute acting as unique identifier</a:t>
            </a:r>
          </a:p>
          <a:p>
            <a:pPr lvl="1"/>
            <a:r>
              <a:rPr lang="en-AU" sz="2200" dirty="0"/>
              <a:t> Produce a large number of partitions (1 </a:t>
            </a:r>
            <a:r>
              <a:rPr lang="en-AU" sz="2200" dirty="0" err="1"/>
              <a:t>tuple</a:t>
            </a:r>
            <a:r>
              <a:rPr lang="en-AU" sz="2200" dirty="0"/>
              <a:t> per partition)</a:t>
            </a:r>
          </a:p>
          <a:p>
            <a:pPr lvl="1"/>
            <a:r>
              <a:rPr lang="en-AU" sz="2200" dirty="0"/>
              <a:t> Each resulting partition D is pure Info(D)=0 </a:t>
            </a:r>
          </a:p>
          <a:p>
            <a:pPr lvl="1"/>
            <a:r>
              <a:rPr lang="en-AU" sz="2200" dirty="0"/>
              <a:t> The information gain is maximized</a:t>
            </a:r>
          </a:p>
          <a:p>
            <a:pPr lvl="1"/>
            <a:endParaRPr lang="en-AU" sz="2200" dirty="0"/>
          </a:p>
          <a:p>
            <a:r>
              <a:rPr lang="en-AU" sz="2400" dirty="0"/>
              <a:t>Extension to Information Gain</a:t>
            </a:r>
          </a:p>
          <a:p>
            <a:pPr lvl="1"/>
            <a:r>
              <a:rPr lang="en-AU" sz="2200" dirty="0"/>
              <a:t>known as gain ratio</a:t>
            </a:r>
          </a:p>
          <a:p>
            <a:pPr lvl="1"/>
            <a:r>
              <a:rPr lang="en-AU" sz="2200" dirty="0"/>
              <a:t>Overcomes the </a:t>
            </a:r>
            <a:r>
              <a:rPr lang="en-AU" sz="2200" dirty="0">
                <a:solidFill>
                  <a:srgbClr val="FF0000"/>
                </a:solidFill>
              </a:rPr>
              <a:t>bias </a:t>
            </a:r>
            <a:r>
              <a:rPr lang="en-AU" sz="2200" dirty="0"/>
              <a:t>of Information gain</a:t>
            </a:r>
          </a:p>
          <a:p>
            <a:pPr lvl="1"/>
            <a:r>
              <a:rPr lang="en-AU" sz="2200" dirty="0"/>
              <a:t> Applies a kind of </a:t>
            </a:r>
            <a:r>
              <a:rPr lang="en-AU" sz="2200" dirty="0">
                <a:solidFill>
                  <a:srgbClr val="FF0000"/>
                </a:solidFill>
              </a:rPr>
              <a:t>normalization</a:t>
            </a:r>
            <a:r>
              <a:rPr lang="en-AU" sz="2200" dirty="0"/>
              <a:t> to information gain using a split </a:t>
            </a:r>
            <a:r>
              <a:rPr lang="en-AU" sz="2400" dirty="0"/>
              <a:t>information value</a:t>
            </a:r>
          </a:p>
          <a:p>
            <a:endParaRPr lang="en-AU" sz="2400" dirty="0"/>
          </a:p>
          <a:p>
            <a:pPr eaLnBrk="1" hangingPunct="1"/>
            <a:endParaRPr lang="en-US" sz="2400" dirty="0"/>
          </a:p>
        </p:txBody>
      </p:sp>
      <p:sp>
        <p:nvSpPr>
          <p:cNvPr id="8" name="Rectangle 2"/>
          <p:cNvSpPr txBox="1">
            <a:spLocks noChangeArrowheads="1"/>
          </p:cNvSpPr>
          <p:nvPr/>
        </p:nvSpPr>
        <p:spPr>
          <a:xfrm>
            <a:off x="0" y="381000"/>
            <a:ext cx="9144000" cy="609600"/>
          </a:xfrm>
          <a:prstGeom prst="rect">
            <a:avLst/>
          </a:prstGeom>
          <a:noFill/>
        </p:spPr>
        <p:txBody>
          <a:bodyPr lIns="92075" tIns="46038" rIns="92075" bIns="46038" anchor="ctr" anchorCtr="0">
            <a:normAutofit fontScale="90000" lnSpcReduction="1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a:ln>
                  <a:noFill/>
                </a:ln>
                <a:solidFill>
                  <a:schemeClr val="tx2"/>
                </a:solidFill>
                <a:effectLst/>
                <a:uLnTx/>
                <a:uFillTx/>
                <a:latin typeface="+mj-lt"/>
                <a:ea typeface="+mj-ea"/>
                <a:cs typeface="+mj-cs"/>
              </a:rPr>
              <a:t>Attribute Selection Measure: </a:t>
            </a:r>
            <a:r>
              <a:rPr kumimoji="0" lang="en-US" sz="4000" b="0" i="1" u="none" strike="noStrike" kern="1200" cap="none" spc="0" normalizeH="0" baseline="0" noProof="0" dirty="0">
                <a:ln>
                  <a:noFill/>
                </a:ln>
                <a:solidFill>
                  <a:schemeClr val="tx2"/>
                </a:solidFill>
                <a:effectLst/>
                <a:uLnTx/>
                <a:uFillTx/>
                <a:latin typeface="+mj-lt"/>
                <a:ea typeface="+mj-ea"/>
                <a:cs typeface="+mj-cs"/>
              </a:rPr>
              <a:t>Gain Ratio</a:t>
            </a:r>
          </a:p>
        </p:txBody>
      </p:sp>
      <p:sp>
        <p:nvSpPr>
          <p:cNvPr id="5" name="Slide Number Placeholder 4"/>
          <p:cNvSpPr>
            <a:spLocks noGrp="1"/>
          </p:cNvSpPr>
          <p:nvPr>
            <p:ph type="sldNum" sz="quarter" idx="10"/>
          </p:nvPr>
        </p:nvSpPr>
        <p:spPr/>
        <p:txBody>
          <a:bodyPr/>
          <a:lstStyle/>
          <a:p>
            <a:pPr>
              <a:defRPr/>
            </a:pPr>
            <a:fld id="{327AFD74-5170-4EB8-8EBC-53EAF0F4BFEE}" type="slidenum">
              <a:rPr lang="en-US" smtClean="0"/>
              <a:pPr>
                <a:defRPr/>
              </a:pPr>
              <a:t>32</a:t>
            </a:fld>
            <a:endParaRPr lang="en-US"/>
          </a:p>
        </p:txBody>
      </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051"/>
          <p:cNvSpPr>
            <a:spLocks noGrp="1" noChangeArrowheads="1"/>
          </p:cNvSpPr>
          <p:nvPr>
            <p:ph type="body" sz="half" idx="1"/>
          </p:nvPr>
        </p:nvSpPr>
        <p:spPr>
          <a:xfrm>
            <a:off x="304800" y="1371600"/>
            <a:ext cx="8458200" cy="5105400"/>
          </a:xfrm>
        </p:spPr>
        <p:txBody>
          <a:bodyPr>
            <a:normAutofit fontScale="92500"/>
          </a:bodyPr>
          <a:lstStyle/>
          <a:p>
            <a:r>
              <a:rPr lang="en-AU" sz="2400" dirty="0"/>
              <a:t>The split information value represents the potential information generated by splitting the training data set D into v partitions, corresponding to v outcomes on attribute A</a:t>
            </a:r>
          </a:p>
          <a:p>
            <a:pPr eaLnBrk="1" hangingPunct="1"/>
            <a:endParaRPr lang="en-US" sz="2400" dirty="0"/>
          </a:p>
          <a:p>
            <a:pPr eaLnBrk="1" hangingPunct="1"/>
            <a:endParaRPr lang="en-US" sz="2400" dirty="0"/>
          </a:p>
          <a:p>
            <a:pPr lvl="1" eaLnBrk="1" hangingPunct="1"/>
            <a:r>
              <a:rPr lang="en-US" sz="2400" dirty="0" err="1"/>
              <a:t>GainRatio</a:t>
            </a:r>
            <a:r>
              <a:rPr lang="en-US" sz="2400" dirty="0"/>
              <a:t>(A) = Gain(A)/</a:t>
            </a:r>
            <a:r>
              <a:rPr lang="en-US" sz="2400" dirty="0" err="1"/>
              <a:t>SplitInfo</a:t>
            </a:r>
            <a:r>
              <a:rPr lang="en-US" sz="2400" dirty="0"/>
              <a:t>(A)</a:t>
            </a:r>
          </a:p>
          <a:p>
            <a:pPr lvl="1"/>
            <a:r>
              <a:rPr lang="en-AU" sz="2200" dirty="0"/>
              <a:t>High </a:t>
            </a:r>
            <a:r>
              <a:rPr lang="en-AU" sz="2200" dirty="0" err="1"/>
              <a:t>splitInfo</a:t>
            </a:r>
            <a:r>
              <a:rPr lang="en-AU" sz="2200" dirty="0"/>
              <a:t>: partitions have more or less the same size (uniform)</a:t>
            </a:r>
          </a:p>
          <a:p>
            <a:pPr lvl="1"/>
            <a:r>
              <a:rPr lang="en-AU" sz="2200" dirty="0"/>
              <a:t>Low split Info: few partitions hold most of the </a:t>
            </a:r>
            <a:r>
              <a:rPr lang="en-AU" sz="2200" dirty="0" err="1"/>
              <a:t>tuples</a:t>
            </a:r>
            <a:r>
              <a:rPr lang="en-AU" sz="2200" dirty="0"/>
              <a:t> (peaks)</a:t>
            </a:r>
          </a:p>
          <a:p>
            <a:pPr lvl="1" eaLnBrk="1" hangingPunct="1"/>
            <a:endParaRPr lang="en-US" sz="2400" dirty="0"/>
          </a:p>
          <a:p>
            <a:pPr eaLnBrk="1" hangingPunct="1"/>
            <a:r>
              <a:rPr lang="en-US" sz="2400" dirty="0"/>
              <a:t>Ex.</a:t>
            </a:r>
          </a:p>
          <a:p>
            <a:pPr lvl="1" eaLnBrk="1" hangingPunct="1"/>
            <a:r>
              <a:rPr lang="en-US" sz="2400" dirty="0" err="1"/>
              <a:t>gain_ratio</a:t>
            </a:r>
            <a:r>
              <a:rPr lang="en-US" sz="2400" dirty="0"/>
              <a:t>(income) = 0.029/1.557 = 0.019</a:t>
            </a:r>
          </a:p>
          <a:p>
            <a:pPr eaLnBrk="1" hangingPunct="1"/>
            <a:r>
              <a:rPr lang="en-US" sz="2400" dirty="0"/>
              <a:t>The attribute with the </a:t>
            </a:r>
            <a:r>
              <a:rPr lang="en-US" sz="2400" dirty="0">
                <a:solidFill>
                  <a:srgbClr val="FF0000"/>
                </a:solidFill>
              </a:rPr>
              <a:t>maximum gain ratio</a:t>
            </a:r>
            <a:r>
              <a:rPr lang="en-US" sz="2400" dirty="0"/>
              <a:t> is selected as the splitting attribute</a:t>
            </a:r>
          </a:p>
        </p:txBody>
      </p:sp>
      <p:graphicFrame>
        <p:nvGraphicFramePr>
          <p:cNvPr id="18437" name="Object 2048"/>
          <p:cNvGraphicFramePr>
            <a:graphicFrameLocks noGrp="1" noChangeAspect="1"/>
          </p:cNvGraphicFramePr>
          <p:nvPr>
            <p:ph sz="quarter" idx="2"/>
          </p:nvPr>
        </p:nvGraphicFramePr>
        <p:xfrm>
          <a:off x="1691625" y="2430470"/>
          <a:ext cx="4343400" cy="831850"/>
        </p:xfrm>
        <a:graphic>
          <a:graphicData uri="http://schemas.openxmlformats.org/presentationml/2006/ole">
            <mc:AlternateContent xmlns:mc="http://schemas.openxmlformats.org/markup-compatibility/2006">
              <mc:Choice xmlns:v="urn:schemas-microsoft-com:vml" Requires="v">
                <p:oleObj name="Equation" r:id="rId3" imgW="2387600" imgH="457200" progId="Equation.3">
                  <p:embed/>
                </p:oleObj>
              </mc:Choice>
              <mc:Fallback>
                <p:oleObj name="Equation" r:id="rId3" imgW="2387600" imgH="457200" progId="Equation.3">
                  <p:embed/>
                  <p:pic>
                    <p:nvPicPr>
                      <p:cNvPr id="0" name="Picture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25" y="2430470"/>
                        <a:ext cx="4343400"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8438" name="Picture 10" descr="8splitinfo"/>
          <p:cNvPicPr>
            <a:picLocks noChangeAspect="1" noChangeArrowheads="1"/>
          </p:cNvPicPr>
          <p:nvPr/>
        </p:nvPicPr>
        <p:blipFill>
          <a:blip r:embed="rId5" cstate="print"/>
          <a:srcRect/>
          <a:stretch>
            <a:fillRect/>
          </a:stretch>
        </p:blipFill>
        <p:spPr bwMode="auto">
          <a:xfrm>
            <a:off x="381000" y="4572000"/>
            <a:ext cx="7924800" cy="574675"/>
          </a:xfrm>
          <a:prstGeom prst="rect">
            <a:avLst/>
          </a:prstGeom>
          <a:noFill/>
          <a:ln w="9525">
            <a:noFill/>
            <a:miter lim="800000"/>
            <a:headEnd/>
            <a:tailEnd/>
          </a:ln>
        </p:spPr>
      </p:pic>
      <p:sp>
        <p:nvSpPr>
          <p:cNvPr id="8" name="Rectangle 2"/>
          <p:cNvSpPr txBox="1">
            <a:spLocks noChangeArrowheads="1"/>
          </p:cNvSpPr>
          <p:nvPr/>
        </p:nvSpPr>
        <p:spPr>
          <a:xfrm>
            <a:off x="0" y="381000"/>
            <a:ext cx="9144000" cy="609600"/>
          </a:xfrm>
          <a:prstGeom prst="rect">
            <a:avLst/>
          </a:prstGeom>
          <a:noFill/>
        </p:spPr>
        <p:txBody>
          <a:bodyPr lIns="92075" tIns="46038" rIns="92075" bIns="46038" anchor="ctr" anchorCtr="0">
            <a:normAutofit fontScale="90000" lnSpcReduction="1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a:ln>
                  <a:noFill/>
                </a:ln>
                <a:solidFill>
                  <a:schemeClr val="tx2"/>
                </a:solidFill>
                <a:effectLst/>
                <a:uLnTx/>
                <a:uFillTx/>
                <a:latin typeface="+mj-lt"/>
                <a:ea typeface="+mj-ea"/>
                <a:cs typeface="+mj-cs"/>
              </a:rPr>
              <a:t>Attribute Selection Measure: </a:t>
            </a:r>
            <a:r>
              <a:rPr kumimoji="0" lang="en-US" sz="4000" b="0" i="1" u="none" strike="noStrike" kern="1200" cap="none" spc="0" normalizeH="0" baseline="0" noProof="0" dirty="0">
                <a:ln>
                  <a:noFill/>
                </a:ln>
                <a:solidFill>
                  <a:schemeClr val="tx2"/>
                </a:solidFill>
                <a:effectLst/>
                <a:uLnTx/>
                <a:uFillTx/>
                <a:latin typeface="+mj-lt"/>
                <a:ea typeface="+mj-ea"/>
                <a:cs typeface="+mj-cs"/>
              </a:rPr>
              <a:t>Gain Ratio</a:t>
            </a:r>
          </a:p>
        </p:txBody>
      </p:sp>
      <p:sp>
        <p:nvSpPr>
          <p:cNvPr id="7" name="Slide Number Placeholder 6"/>
          <p:cNvSpPr>
            <a:spLocks noGrp="1"/>
          </p:cNvSpPr>
          <p:nvPr>
            <p:ph type="sldNum" sz="quarter" idx="10"/>
          </p:nvPr>
        </p:nvSpPr>
        <p:spPr/>
        <p:txBody>
          <a:bodyPr/>
          <a:lstStyle/>
          <a:p>
            <a:pPr>
              <a:defRPr/>
            </a:pPr>
            <a:fld id="{327AFD74-5170-4EB8-8EBC-53EAF0F4BFEE}" type="slidenum">
              <a:rPr lang="en-US" smtClean="0"/>
              <a:pPr>
                <a:defRPr/>
              </a:pPr>
              <a:t>33</a:t>
            </a:fld>
            <a:endParaRPr lang="en-US"/>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1027"/>
          <p:cNvSpPr>
            <a:spLocks noGrp="1" noChangeArrowheads="1"/>
          </p:cNvSpPr>
          <p:nvPr>
            <p:ph type="body" sz="half" idx="1"/>
          </p:nvPr>
        </p:nvSpPr>
        <p:spPr>
          <a:xfrm>
            <a:off x="304800" y="1371600"/>
            <a:ext cx="8534400" cy="5105400"/>
          </a:xfrm>
          <a:noFill/>
        </p:spPr>
        <p:txBody>
          <a:bodyPr lIns="92075" tIns="46038" rIns="92075" bIns="46038">
            <a:normAutofit lnSpcReduction="10000"/>
          </a:bodyPr>
          <a:lstStyle/>
          <a:p>
            <a:pPr eaLnBrk="1" hangingPunct="1">
              <a:spcBef>
                <a:spcPts val="600"/>
              </a:spcBef>
              <a:spcAft>
                <a:spcPts val="200"/>
              </a:spcAft>
            </a:pPr>
            <a:r>
              <a:rPr lang="en-US" sz="2400" dirty="0"/>
              <a:t>If a data set </a:t>
            </a:r>
            <a:r>
              <a:rPr lang="en-US" sz="2400" i="1" dirty="0"/>
              <a:t>D </a:t>
            </a:r>
            <a:r>
              <a:rPr lang="en-US" sz="2400" dirty="0"/>
              <a:t>contains examples from </a:t>
            </a:r>
            <a:r>
              <a:rPr lang="en-US" sz="2400" i="1" dirty="0"/>
              <a:t>n</a:t>
            </a:r>
            <a:r>
              <a:rPr lang="en-US" sz="2400" dirty="0"/>
              <a:t> classes, </a:t>
            </a:r>
            <a:r>
              <a:rPr lang="en-US" sz="2400" dirty="0" err="1"/>
              <a:t>gini</a:t>
            </a:r>
            <a:r>
              <a:rPr lang="en-US" sz="2400" dirty="0"/>
              <a:t> index, </a:t>
            </a:r>
            <a:r>
              <a:rPr lang="en-US" sz="2400" i="1" dirty="0" err="1"/>
              <a:t>gini</a:t>
            </a:r>
            <a:r>
              <a:rPr lang="en-US" sz="2400" dirty="0"/>
              <a:t>(</a:t>
            </a:r>
            <a:r>
              <a:rPr lang="en-US" sz="2400" i="1" dirty="0"/>
              <a:t>D</a:t>
            </a:r>
            <a:r>
              <a:rPr lang="en-US" sz="2400" dirty="0"/>
              <a:t>) is defined as</a:t>
            </a:r>
          </a:p>
          <a:p>
            <a:pPr eaLnBrk="1" hangingPunct="1">
              <a:spcBef>
                <a:spcPts val="600"/>
              </a:spcBef>
              <a:spcAft>
                <a:spcPts val="200"/>
              </a:spcAft>
              <a:buNone/>
            </a:pPr>
            <a:endParaRPr lang="en-US" sz="2400" dirty="0"/>
          </a:p>
          <a:p>
            <a:pPr eaLnBrk="1" hangingPunct="1">
              <a:spcBef>
                <a:spcPts val="600"/>
              </a:spcBef>
              <a:spcAft>
                <a:spcPts val="200"/>
              </a:spcAft>
              <a:buFont typeface="Wingdings" pitchFamily="2" charset="2"/>
              <a:buNone/>
            </a:pPr>
            <a:r>
              <a:rPr lang="en-US" sz="2400" dirty="0"/>
              <a:t>    		where </a:t>
            </a:r>
            <a:r>
              <a:rPr lang="en-US" sz="2400" i="1" dirty="0" err="1"/>
              <a:t>p</a:t>
            </a:r>
            <a:r>
              <a:rPr lang="en-US" sz="2400" i="1" baseline="-25000" dirty="0" err="1"/>
              <a:t>j</a:t>
            </a:r>
            <a:r>
              <a:rPr lang="en-US" sz="2400" dirty="0"/>
              <a:t> is the </a:t>
            </a:r>
            <a:r>
              <a:rPr lang="en-US" sz="2400" dirty="0">
                <a:solidFill>
                  <a:srgbClr val="FF0000"/>
                </a:solidFill>
              </a:rPr>
              <a:t>relative frequency </a:t>
            </a:r>
            <a:r>
              <a:rPr lang="en-US" sz="2400" dirty="0"/>
              <a:t>of class </a:t>
            </a:r>
            <a:r>
              <a:rPr lang="en-US" sz="2400" i="1" dirty="0"/>
              <a:t>j</a:t>
            </a:r>
            <a:r>
              <a:rPr lang="en-US" sz="2400" dirty="0"/>
              <a:t> in </a:t>
            </a:r>
            <a:r>
              <a:rPr lang="en-US" sz="2400" i="1" dirty="0"/>
              <a:t>D</a:t>
            </a:r>
          </a:p>
          <a:p>
            <a:pPr eaLnBrk="1" hangingPunct="1">
              <a:spcBef>
                <a:spcPts val="600"/>
              </a:spcBef>
              <a:spcAft>
                <a:spcPts val="200"/>
              </a:spcAft>
            </a:pPr>
            <a:r>
              <a:rPr lang="en-US" sz="2400" dirty="0"/>
              <a:t>If a data set </a:t>
            </a:r>
            <a:r>
              <a:rPr lang="en-US" sz="2400" i="1" dirty="0"/>
              <a:t>D</a:t>
            </a:r>
            <a:r>
              <a:rPr lang="en-US" sz="2400" dirty="0"/>
              <a:t>  is split on </a:t>
            </a:r>
            <a:r>
              <a:rPr lang="en-US" sz="2400" i="1" dirty="0"/>
              <a:t>A</a:t>
            </a:r>
            <a:r>
              <a:rPr lang="en-US" sz="2400" dirty="0"/>
              <a:t> into two subsets </a:t>
            </a:r>
            <a:r>
              <a:rPr lang="en-US" sz="2400" i="1" dirty="0"/>
              <a:t>D</a:t>
            </a:r>
            <a:r>
              <a:rPr lang="en-US" sz="2400" i="1" baseline="-25000" dirty="0"/>
              <a:t>1</a:t>
            </a:r>
            <a:r>
              <a:rPr lang="en-US" sz="2400" dirty="0"/>
              <a:t> and </a:t>
            </a:r>
            <a:r>
              <a:rPr lang="en-US" sz="2400" i="1" dirty="0"/>
              <a:t>D</a:t>
            </a:r>
            <a:r>
              <a:rPr lang="en-US" sz="2400" i="1" baseline="-25000" dirty="0"/>
              <a:t>2</a:t>
            </a:r>
            <a:r>
              <a:rPr lang="en-US" sz="2400" dirty="0"/>
              <a:t>, the </a:t>
            </a:r>
            <a:r>
              <a:rPr lang="en-US" sz="2400" i="1" dirty="0" err="1"/>
              <a:t>gini</a:t>
            </a:r>
            <a:r>
              <a:rPr lang="en-US" sz="2400" dirty="0"/>
              <a:t> index </a:t>
            </a:r>
            <a:r>
              <a:rPr lang="en-US" sz="2400" i="1" dirty="0" err="1"/>
              <a:t>gini</a:t>
            </a:r>
            <a:r>
              <a:rPr lang="en-US" sz="2400" dirty="0"/>
              <a:t>(</a:t>
            </a:r>
            <a:r>
              <a:rPr lang="en-US" sz="2400" i="1" dirty="0"/>
              <a:t>D</a:t>
            </a:r>
            <a:r>
              <a:rPr lang="en-US" sz="2400" dirty="0"/>
              <a:t>) is defined as</a:t>
            </a:r>
          </a:p>
          <a:p>
            <a:pPr eaLnBrk="1" hangingPunct="1">
              <a:spcBef>
                <a:spcPts val="600"/>
              </a:spcBef>
              <a:spcAft>
                <a:spcPts val="200"/>
              </a:spcAft>
            </a:pPr>
            <a:endParaRPr lang="en-US" sz="2400" dirty="0"/>
          </a:p>
          <a:p>
            <a:pPr eaLnBrk="1" hangingPunct="1">
              <a:spcBef>
                <a:spcPts val="600"/>
              </a:spcBef>
              <a:spcAft>
                <a:spcPts val="200"/>
              </a:spcAft>
            </a:pPr>
            <a:r>
              <a:rPr lang="en-US" sz="2400" dirty="0"/>
              <a:t>Reduction in Impurity:</a:t>
            </a:r>
          </a:p>
          <a:p>
            <a:pPr eaLnBrk="1" hangingPunct="1">
              <a:spcBef>
                <a:spcPts val="600"/>
              </a:spcBef>
              <a:spcAft>
                <a:spcPts val="200"/>
              </a:spcAft>
            </a:pPr>
            <a:endParaRPr lang="en-US" sz="2400" dirty="0"/>
          </a:p>
          <a:p>
            <a:pPr eaLnBrk="1" hangingPunct="1">
              <a:spcBef>
                <a:spcPts val="600"/>
              </a:spcBef>
              <a:spcAft>
                <a:spcPts val="200"/>
              </a:spcAft>
            </a:pPr>
            <a:r>
              <a:rPr lang="en-US" sz="2400" dirty="0"/>
              <a:t>The attribute provides the smallest </a:t>
            </a:r>
            <a:r>
              <a:rPr lang="en-US" sz="2400" i="1" dirty="0" err="1"/>
              <a:t>gini</a:t>
            </a:r>
            <a:r>
              <a:rPr lang="en-US" sz="2400" i="1" baseline="-25000" dirty="0" err="1"/>
              <a:t>split</a:t>
            </a:r>
            <a:r>
              <a:rPr lang="en-US" sz="2400" dirty="0"/>
              <a:t>(</a:t>
            </a:r>
            <a:r>
              <a:rPr lang="en-US" sz="2400" i="1" dirty="0"/>
              <a:t>D</a:t>
            </a:r>
            <a:r>
              <a:rPr lang="en-US" sz="2400" dirty="0"/>
              <a:t>) (or the largest reduction in impurity) is chosen to split the node (</a:t>
            </a:r>
            <a:r>
              <a:rPr lang="en-US" sz="2400" i="1" dirty="0">
                <a:solidFill>
                  <a:srgbClr val="CC0000"/>
                </a:solidFill>
              </a:rPr>
              <a:t>need to enumerate all the possible splitting points for each attribute</a:t>
            </a:r>
            <a:r>
              <a:rPr lang="en-US" sz="2400" dirty="0"/>
              <a:t>)</a:t>
            </a:r>
          </a:p>
        </p:txBody>
      </p:sp>
      <p:graphicFrame>
        <p:nvGraphicFramePr>
          <p:cNvPr id="19461" name="Object 1024"/>
          <p:cNvGraphicFramePr>
            <a:graphicFrameLocks/>
          </p:cNvGraphicFramePr>
          <p:nvPr/>
        </p:nvGraphicFramePr>
        <p:xfrm>
          <a:off x="4572000" y="1752600"/>
          <a:ext cx="2895600" cy="838200"/>
        </p:xfrm>
        <a:graphic>
          <a:graphicData uri="http://schemas.openxmlformats.org/presentationml/2006/ole">
            <mc:AlternateContent xmlns:mc="http://schemas.openxmlformats.org/markup-compatibility/2006">
              <mc:Choice xmlns:v="urn:schemas-microsoft-com:vml" Requires="v">
                <p:oleObj name="Equation" r:id="rId3" imgW="1777229" imgH="761669" progId="Equation.3">
                  <p:embed/>
                </p:oleObj>
              </mc:Choice>
              <mc:Fallback>
                <p:oleObj name="Equation" r:id="rId3" imgW="1777229" imgH="761669" progId="Equation.3">
                  <p:embed/>
                  <p:pic>
                    <p:nvPicPr>
                      <p:cNvPr id="0" name="Picture 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752600"/>
                        <a:ext cx="2895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2" name="Object 1025"/>
          <p:cNvGraphicFramePr>
            <a:graphicFrameLocks noChangeAspect="1"/>
          </p:cNvGraphicFramePr>
          <p:nvPr/>
        </p:nvGraphicFramePr>
        <p:xfrm>
          <a:off x="3440112" y="3429000"/>
          <a:ext cx="5703888" cy="815975"/>
        </p:xfrm>
        <a:graphic>
          <a:graphicData uri="http://schemas.openxmlformats.org/presentationml/2006/ole">
            <mc:AlternateContent xmlns:mc="http://schemas.openxmlformats.org/markup-compatibility/2006">
              <mc:Choice xmlns:v="urn:schemas-microsoft-com:vml" Requires="v">
                <p:oleObj name="Equation" r:id="rId5" imgW="3441700" imgH="596900" progId="Equation.3">
                  <p:embed/>
                </p:oleObj>
              </mc:Choice>
              <mc:Fallback>
                <p:oleObj name="Equation" r:id="rId5" imgW="3441700" imgH="596900" progId="Equation.3">
                  <p:embed/>
                  <p:pic>
                    <p:nvPicPr>
                      <p:cNvPr id="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0112" y="3429000"/>
                        <a:ext cx="5703888" cy="815975"/>
                      </a:xfrm>
                      <a:prstGeom prst="rect">
                        <a:avLst/>
                      </a:prstGeom>
                      <a:noFill/>
                      <a:extLst>
                        <a:ext uri="{909E8E84-426E-40DD-AFC4-6F175D3DCCD1}">
                          <a14:hiddenFill xmlns:a14="http://schemas.microsoft.com/office/drawing/2010/main">
                            <a:solidFill>
                              <a:srgbClr val="CCFFFF"/>
                            </a:solidFill>
                          </a14:hiddenFill>
                        </a:ext>
                      </a:extLst>
                    </p:spPr>
                  </p:pic>
                </p:oleObj>
              </mc:Fallback>
            </mc:AlternateContent>
          </a:graphicData>
        </a:graphic>
      </p:graphicFrame>
      <p:graphicFrame>
        <p:nvGraphicFramePr>
          <p:cNvPr id="19463" name="Object 1026"/>
          <p:cNvGraphicFramePr>
            <a:graphicFrameLocks noGrp="1" noChangeAspect="1"/>
          </p:cNvGraphicFramePr>
          <p:nvPr>
            <p:ph sz="half" idx="2"/>
          </p:nvPr>
        </p:nvGraphicFramePr>
        <p:xfrm>
          <a:off x="2963862" y="4583113"/>
          <a:ext cx="4618038" cy="522287"/>
        </p:xfrm>
        <a:graphic>
          <a:graphicData uri="http://schemas.openxmlformats.org/presentationml/2006/ole">
            <mc:AlternateContent xmlns:mc="http://schemas.openxmlformats.org/markup-compatibility/2006">
              <mc:Choice xmlns:v="urn:schemas-microsoft-com:vml" Requires="v">
                <p:oleObj name="Equation" r:id="rId7" imgW="2692400" imgH="304800" progId="Equation.3">
                  <p:embed/>
                </p:oleObj>
              </mc:Choice>
              <mc:Fallback>
                <p:oleObj name="Equation" r:id="rId7" imgW="2692400" imgH="304800" progId="Equation.3">
                  <p:embed/>
                  <p:pic>
                    <p:nvPicPr>
                      <p:cNvPr id="0" name="Picture 13"/>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63862" y="4583113"/>
                        <a:ext cx="4618038" cy="522287"/>
                      </a:xfrm>
                      <a:prstGeom prst="rect">
                        <a:avLst/>
                      </a:prstGeom>
                      <a:noFill/>
                      <a:extLst>
                        <a:ext uri="{909E8E84-426E-40DD-AFC4-6F175D3DCCD1}">
                          <a14:hiddenFill xmlns:a14="http://schemas.microsoft.com/office/drawing/2010/main">
                            <a:solidFill>
                              <a:srgbClr val="CCFFFF"/>
                            </a:solidFill>
                          </a14:hiddenFill>
                        </a:ext>
                      </a:extLst>
                    </p:spPr>
                  </p:pic>
                </p:oleObj>
              </mc:Fallback>
            </mc:AlternateContent>
          </a:graphicData>
        </a:graphic>
      </p:graphicFrame>
      <p:sp>
        <p:nvSpPr>
          <p:cNvPr id="9" name="Rectangle 2"/>
          <p:cNvSpPr txBox="1">
            <a:spLocks noChangeArrowheads="1"/>
          </p:cNvSpPr>
          <p:nvPr/>
        </p:nvSpPr>
        <p:spPr>
          <a:xfrm>
            <a:off x="0" y="381000"/>
            <a:ext cx="9144000" cy="609600"/>
          </a:xfrm>
          <a:prstGeom prst="rect">
            <a:avLst/>
          </a:prstGeom>
          <a:noFill/>
        </p:spPr>
        <p:txBody>
          <a:bodyPr lIns="92075" tIns="46038" rIns="92075" bIns="46038" anchor="ctr" anchorCtr="0">
            <a:normAutofit fontScale="90000" lnSpcReduction="1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a:ln>
                  <a:noFill/>
                </a:ln>
                <a:solidFill>
                  <a:schemeClr val="tx2"/>
                </a:solidFill>
                <a:effectLst/>
                <a:uLnTx/>
                <a:uFillTx/>
                <a:latin typeface="+mj-lt"/>
                <a:ea typeface="+mj-ea"/>
                <a:cs typeface="+mj-cs"/>
              </a:rPr>
              <a:t>Attribute Selection Measure: </a:t>
            </a:r>
            <a:r>
              <a:rPr kumimoji="0" lang="en-US" sz="4000" b="0" i="1" u="none" strike="noStrike" kern="1200" cap="none" spc="0" normalizeH="0" baseline="0" noProof="0" dirty="0" err="1">
                <a:ln>
                  <a:noFill/>
                </a:ln>
                <a:solidFill>
                  <a:schemeClr val="tx2"/>
                </a:solidFill>
                <a:effectLst/>
                <a:uLnTx/>
                <a:uFillTx/>
                <a:latin typeface="+mj-lt"/>
                <a:ea typeface="+mj-ea"/>
                <a:cs typeface="+mj-cs"/>
              </a:rPr>
              <a:t>Gini</a:t>
            </a:r>
            <a:r>
              <a:rPr kumimoji="0" lang="en-US" sz="4000" b="0" i="1" u="none" strike="noStrike" kern="1200" cap="none" spc="0" normalizeH="0" baseline="0" noProof="0" dirty="0">
                <a:ln>
                  <a:noFill/>
                </a:ln>
                <a:solidFill>
                  <a:schemeClr val="tx2"/>
                </a:solidFill>
                <a:effectLst/>
                <a:uLnTx/>
                <a:uFillTx/>
                <a:latin typeface="+mj-lt"/>
                <a:ea typeface="+mj-ea"/>
                <a:cs typeface="+mj-cs"/>
              </a:rPr>
              <a:t> Index</a:t>
            </a:r>
          </a:p>
        </p:txBody>
      </p:sp>
      <p:sp>
        <p:nvSpPr>
          <p:cNvPr id="8" name="Slide Number Placeholder 7"/>
          <p:cNvSpPr>
            <a:spLocks noGrp="1"/>
          </p:cNvSpPr>
          <p:nvPr>
            <p:ph type="sldNum" sz="quarter" idx="10"/>
          </p:nvPr>
        </p:nvSpPr>
        <p:spPr/>
        <p:txBody>
          <a:bodyPr/>
          <a:lstStyle/>
          <a:p>
            <a:pPr>
              <a:defRPr/>
            </a:pPr>
            <a:fld id="{12EFB4B7-C880-4E23-B63A-36FC71DF65C2}" type="slidenum">
              <a:rPr lang="en-US" smtClean="0"/>
              <a:pPr>
                <a:defRPr/>
              </a:pPr>
              <a:t>34</a:t>
            </a:fld>
            <a:endParaRPr lang="en-US"/>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1027"/>
          <p:cNvSpPr>
            <a:spLocks noGrp="1" noChangeArrowheads="1"/>
          </p:cNvSpPr>
          <p:nvPr>
            <p:ph type="body" sz="half" idx="1"/>
          </p:nvPr>
        </p:nvSpPr>
        <p:spPr>
          <a:xfrm>
            <a:off x="152400" y="990600"/>
            <a:ext cx="8839200" cy="5791200"/>
          </a:xfrm>
        </p:spPr>
        <p:txBody>
          <a:bodyPr/>
          <a:lstStyle/>
          <a:p>
            <a:pPr eaLnBrk="1" hangingPunct="1"/>
            <a:r>
              <a:rPr lang="en-US" sz="2400" dirty="0"/>
              <a:t>Example-  D has 9 </a:t>
            </a:r>
            <a:r>
              <a:rPr lang="en-US" sz="2400" dirty="0" err="1"/>
              <a:t>tuples</a:t>
            </a:r>
            <a:r>
              <a:rPr lang="en-US" sz="2400" dirty="0"/>
              <a:t> in </a:t>
            </a:r>
            <a:r>
              <a:rPr lang="en-US" sz="2400" dirty="0" err="1"/>
              <a:t>buys_computer</a:t>
            </a:r>
            <a:r>
              <a:rPr lang="en-US" sz="2400" dirty="0"/>
              <a:t> = “yes” and 5 in “no”</a:t>
            </a:r>
          </a:p>
          <a:p>
            <a:pPr eaLnBrk="1" hangingPunct="1"/>
            <a:endParaRPr lang="en-US" sz="2400" dirty="0"/>
          </a:p>
          <a:p>
            <a:pPr eaLnBrk="1" hangingPunct="1"/>
            <a:r>
              <a:rPr lang="en-US" sz="2400" dirty="0"/>
              <a:t>The attribute income partitions D into 10 in D</a:t>
            </a:r>
            <a:r>
              <a:rPr lang="en-US" sz="2400" baseline="-25000" dirty="0"/>
              <a:t>1</a:t>
            </a:r>
            <a:r>
              <a:rPr lang="en-US" sz="2400" dirty="0"/>
              <a:t>: {low, medium} and 4 in D</a:t>
            </a:r>
            <a:r>
              <a:rPr lang="en-US" sz="2400" baseline="-25000" dirty="0"/>
              <a:t>2</a:t>
            </a:r>
          </a:p>
          <a:p>
            <a:pPr eaLnBrk="1" hangingPunct="1"/>
            <a:endParaRPr lang="en-US" sz="2400" dirty="0"/>
          </a:p>
          <a:p>
            <a:pPr eaLnBrk="1" hangingPunct="1">
              <a:buNone/>
            </a:pPr>
            <a:endParaRPr lang="en-US" sz="2400" dirty="0"/>
          </a:p>
          <a:p>
            <a:pPr eaLnBrk="1" hangingPunct="1">
              <a:buNone/>
            </a:pPr>
            <a:endParaRPr lang="en-US" sz="2400" dirty="0"/>
          </a:p>
          <a:p>
            <a:pPr lvl="1" eaLnBrk="1" hangingPunct="1">
              <a:buFont typeface="Wingdings" pitchFamily="2" charset="2"/>
              <a:buNone/>
            </a:pPr>
            <a:r>
              <a:rPr lang="en-US" sz="2400" dirty="0"/>
              <a:t> </a:t>
            </a:r>
          </a:p>
          <a:p>
            <a:pPr lvl="1" eaLnBrk="1" hangingPunct="1">
              <a:buFont typeface="Wingdings" pitchFamily="2" charset="2"/>
              <a:buNone/>
            </a:pPr>
            <a:endParaRPr lang="en-US" sz="2400" dirty="0"/>
          </a:p>
          <a:p>
            <a:pPr lvl="1" eaLnBrk="1" hangingPunct="1">
              <a:buFont typeface="Wingdings" pitchFamily="2" charset="2"/>
              <a:buNone/>
            </a:pPr>
            <a:r>
              <a:rPr lang="en-US" sz="2400" dirty="0" err="1"/>
              <a:t>Gini</a:t>
            </a:r>
            <a:r>
              <a:rPr lang="en-US" sz="2400" baseline="-25000" dirty="0"/>
              <a:t>{</a:t>
            </a:r>
            <a:r>
              <a:rPr lang="en-US" sz="2400" baseline="-25000" dirty="0" err="1"/>
              <a:t>low,high</a:t>
            </a:r>
            <a:r>
              <a:rPr lang="en-US" sz="2400" baseline="-25000" dirty="0"/>
              <a:t>}</a:t>
            </a:r>
            <a:r>
              <a:rPr lang="en-US" sz="2400" dirty="0"/>
              <a:t> is 0.458; </a:t>
            </a:r>
            <a:r>
              <a:rPr lang="en-US" sz="2400" dirty="0" err="1"/>
              <a:t>Gini</a:t>
            </a:r>
            <a:r>
              <a:rPr lang="en-US" sz="2400" baseline="-25000" dirty="0"/>
              <a:t>{</a:t>
            </a:r>
            <a:r>
              <a:rPr lang="en-US" sz="2400" baseline="-25000" dirty="0" err="1"/>
              <a:t>medium,high</a:t>
            </a:r>
            <a:r>
              <a:rPr lang="en-US" sz="2400" baseline="-25000" dirty="0"/>
              <a:t>}</a:t>
            </a:r>
            <a:r>
              <a:rPr lang="en-US" sz="2400" dirty="0"/>
              <a:t> is 0.450.  Thus, split on the {</a:t>
            </a:r>
            <a:r>
              <a:rPr lang="en-US" sz="2400" dirty="0" err="1"/>
              <a:t>low,medium</a:t>
            </a:r>
            <a:r>
              <a:rPr lang="en-US" sz="2400" dirty="0"/>
              <a:t>} (and {high}) since it has the </a:t>
            </a:r>
            <a:r>
              <a:rPr lang="en-US" sz="2400" i="1" dirty="0">
                <a:solidFill>
                  <a:srgbClr val="FF0000"/>
                </a:solidFill>
              </a:rPr>
              <a:t>lowest </a:t>
            </a:r>
            <a:r>
              <a:rPr lang="en-US" sz="2400" i="1" dirty="0" err="1">
                <a:solidFill>
                  <a:srgbClr val="FF0000"/>
                </a:solidFill>
              </a:rPr>
              <a:t>Gini</a:t>
            </a:r>
            <a:r>
              <a:rPr lang="en-US" sz="2400" i="1" dirty="0">
                <a:solidFill>
                  <a:srgbClr val="FF0000"/>
                </a:solidFill>
              </a:rPr>
              <a:t> index</a:t>
            </a:r>
          </a:p>
        </p:txBody>
      </p:sp>
      <p:graphicFrame>
        <p:nvGraphicFramePr>
          <p:cNvPr id="20485" name="Object 2"/>
          <p:cNvGraphicFramePr>
            <a:graphicFrameLocks noGrp="1" noChangeAspect="1"/>
          </p:cNvGraphicFramePr>
          <p:nvPr>
            <p:ph sz="quarter" idx="2"/>
          </p:nvPr>
        </p:nvGraphicFramePr>
        <p:xfrm>
          <a:off x="2933700" y="1562100"/>
          <a:ext cx="3581400" cy="787400"/>
        </p:xfrm>
        <a:graphic>
          <a:graphicData uri="http://schemas.openxmlformats.org/presentationml/2006/ole">
            <mc:AlternateContent xmlns:mc="http://schemas.openxmlformats.org/markup-compatibility/2006">
              <mc:Choice xmlns:v="urn:schemas-microsoft-com:vml" Requires="v">
                <p:oleObj name="Equation" r:id="rId3" imgW="2222500" imgH="469900" progId="Equation.3">
                  <p:embed/>
                </p:oleObj>
              </mc:Choice>
              <mc:Fallback>
                <p:oleObj name="Equation" r:id="rId3" imgW="2222500" imgH="469900" progId="Equation.3">
                  <p:embed/>
                  <p:pic>
                    <p:nvPicPr>
                      <p:cNvPr id="0" name="Picture 10"/>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700" y="1562100"/>
                        <a:ext cx="3581400"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6" name="Object 3"/>
          <p:cNvGraphicFramePr>
            <a:graphicFrameLocks noChangeAspect="1"/>
          </p:cNvGraphicFramePr>
          <p:nvPr>
            <p:extLst>
              <p:ext uri="{D42A27DB-BD31-4B8C-83A1-F6EECF244321}">
                <p14:modId xmlns:p14="http://schemas.microsoft.com/office/powerpoint/2010/main" val="2049308079"/>
              </p:ext>
            </p:extLst>
          </p:nvPr>
        </p:nvGraphicFramePr>
        <p:xfrm>
          <a:off x="2590800" y="3124200"/>
          <a:ext cx="5040313" cy="652463"/>
        </p:xfrm>
        <a:graphic>
          <a:graphicData uri="http://schemas.openxmlformats.org/presentationml/2006/ole">
            <mc:AlternateContent xmlns:mc="http://schemas.openxmlformats.org/markup-compatibility/2006">
              <mc:Choice xmlns:v="urn:schemas-microsoft-com:vml" Requires="v">
                <p:oleObj name="Equation" r:id="rId5" imgW="3340100" imgH="431800" progId="Equation.3">
                  <p:embed/>
                </p:oleObj>
              </mc:Choice>
              <mc:Fallback>
                <p:oleObj name="Equation" r:id="rId5" imgW="3340100" imgH="431800" progId="Equation.3">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3124200"/>
                        <a:ext cx="5040313" cy="652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487" name="Picture 14" descr="8gini"/>
          <p:cNvPicPr>
            <a:picLocks noChangeAspect="1" noChangeArrowheads="1"/>
          </p:cNvPicPr>
          <p:nvPr/>
        </p:nvPicPr>
        <p:blipFill>
          <a:blip r:embed="rId7" cstate="print"/>
          <a:srcRect/>
          <a:stretch>
            <a:fillRect/>
          </a:stretch>
        </p:blipFill>
        <p:spPr bwMode="auto">
          <a:xfrm>
            <a:off x="2583872" y="3810000"/>
            <a:ext cx="5493327" cy="1270000"/>
          </a:xfrm>
          <a:prstGeom prst="rect">
            <a:avLst/>
          </a:prstGeom>
          <a:noFill/>
          <a:ln w="9525">
            <a:noFill/>
            <a:miter lim="800000"/>
            <a:headEnd/>
            <a:tailEnd/>
          </a:ln>
        </p:spPr>
      </p:pic>
      <p:sp>
        <p:nvSpPr>
          <p:cNvPr id="9" name="Rectangle 2"/>
          <p:cNvSpPr txBox="1">
            <a:spLocks noChangeArrowheads="1"/>
          </p:cNvSpPr>
          <p:nvPr/>
        </p:nvSpPr>
        <p:spPr>
          <a:xfrm>
            <a:off x="0" y="381000"/>
            <a:ext cx="9144000" cy="609600"/>
          </a:xfrm>
          <a:prstGeom prst="rect">
            <a:avLst/>
          </a:prstGeom>
          <a:noFill/>
        </p:spPr>
        <p:txBody>
          <a:bodyPr lIns="92075" tIns="46038" rIns="92075" bIns="46038" anchor="ctr" anchorCtr="0">
            <a:normAutofit fontScale="90000" lnSpcReduction="1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dirty="0">
                <a:ln>
                  <a:noFill/>
                </a:ln>
                <a:solidFill>
                  <a:schemeClr val="tx2"/>
                </a:solidFill>
                <a:effectLst/>
                <a:uLnTx/>
                <a:uFillTx/>
                <a:latin typeface="+mj-lt"/>
                <a:ea typeface="+mj-ea"/>
                <a:cs typeface="+mj-cs"/>
              </a:rPr>
              <a:t>Attribute Selection Measure: </a:t>
            </a:r>
            <a:r>
              <a:rPr kumimoji="0" lang="en-US" sz="4000" b="0" i="1" u="none" strike="noStrike" kern="1200" cap="none" spc="0" normalizeH="0" baseline="0" noProof="0" dirty="0" err="1">
                <a:ln>
                  <a:noFill/>
                </a:ln>
                <a:solidFill>
                  <a:schemeClr val="tx2"/>
                </a:solidFill>
                <a:effectLst/>
                <a:uLnTx/>
                <a:uFillTx/>
                <a:latin typeface="+mj-lt"/>
                <a:ea typeface="+mj-ea"/>
                <a:cs typeface="+mj-cs"/>
              </a:rPr>
              <a:t>Gini</a:t>
            </a:r>
            <a:r>
              <a:rPr kumimoji="0" lang="en-US" sz="4000" b="0" i="1" u="none" strike="noStrike" kern="1200" cap="none" spc="0" normalizeH="0" baseline="0" noProof="0" dirty="0">
                <a:ln>
                  <a:noFill/>
                </a:ln>
                <a:solidFill>
                  <a:schemeClr val="tx2"/>
                </a:solidFill>
                <a:effectLst/>
                <a:uLnTx/>
                <a:uFillTx/>
                <a:latin typeface="+mj-lt"/>
                <a:ea typeface="+mj-ea"/>
                <a:cs typeface="+mj-cs"/>
              </a:rPr>
              <a:t> Index</a:t>
            </a:r>
          </a:p>
        </p:txBody>
      </p:sp>
      <p:sp>
        <p:nvSpPr>
          <p:cNvPr id="8" name="Slide Number Placeholder 7"/>
          <p:cNvSpPr>
            <a:spLocks noGrp="1"/>
          </p:cNvSpPr>
          <p:nvPr>
            <p:ph type="sldNum" sz="quarter" idx="10"/>
          </p:nvPr>
        </p:nvSpPr>
        <p:spPr/>
        <p:txBody>
          <a:bodyPr/>
          <a:lstStyle/>
          <a:p>
            <a:pPr>
              <a:defRPr/>
            </a:pPr>
            <a:fld id="{327AFD74-5170-4EB8-8EBC-53EAF0F4BFEE}" type="slidenum">
              <a:rPr lang="en-US" smtClean="0"/>
              <a:pPr>
                <a:defRPr/>
              </a:pPr>
              <a:t>35</a:t>
            </a:fld>
            <a:endParaRPr lang="en-US"/>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051"/>
          <p:cNvSpPr>
            <a:spLocks noGrp="1" noChangeArrowheads="1"/>
          </p:cNvSpPr>
          <p:nvPr>
            <p:ph type="body" sz="half" idx="1"/>
          </p:nvPr>
        </p:nvSpPr>
        <p:spPr>
          <a:xfrm>
            <a:off x="304800" y="1371600"/>
            <a:ext cx="8458200" cy="5105400"/>
          </a:xfrm>
        </p:spPr>
        <p:txBody>
          <a:bodyPr>
            <a:normAutofit/>
          </a:bodyPr>
          <a:lstStyle/>
          <a:p>
            <a:pPr>
              <a:buNone/>
            </a:pPr>
            <a:r>
              <a:rPr lang="en-US" sz="2400" dirty="0">
                <a:hlinkClick r:id="rId3"/>
              </a:rPr>
              <a:t>http://www.learnbymarketing.com/481/decision-tree-flavors-gini-info-gain/</a:t>
            </a:r>
            <a:endParaRPr lang="en-US" sz="2400" dirty="0"/>
          </a:p>
          <a:p>
            <a:endParaRPr lang="en-US" sz="2400" dirty="0"/>
          </a:p>
          <a:p>
            <a:r>
              <a:rPr lang="en-US" sz="2400" dirty="0"/>
              <a:t>Favors splits with small counts but many unique values.</a:t>
            </a:r>
          </a:p>
          <a:p>
            <a:r>
              <a:rPr lang="en-US" sz="2400" dirty="0"/>
              <a:t>A smaller value of Entropy is better.  That makes the difference between the parent node’s entropy larger.</a:t>
            </a:r>
          </a:p>
          <a:p>
            <a:r>
              <a:rPr lang="en-US" sz="2400" dirty="0"/>
              <a:t>The maximum value for Entropy depends on the number of classes. </a:t>
            </a:r>
          </a:p>
          <a:p>
            <a:endParaRPr lang="en-US" sz="2400" dirty="0"/>
          </a:p>
        </p:txBody>
      </p:sp>
      <p:sp>
        <p:nvSpPr>
          <p:cNvPr id="8" name="Rectangle 2"/>
          <p:cNvSpPr txBox="1">
            <a:spLocks noChangeArrowheads="1"/>
          </p:cNvSpPr>
          <p:nvPr/>
        </p:nvSpPr>
        <p:spPr>
          <a:xfrm>
            <a:off x="0" y="381000"/>
            <a:ext cx="9144000" cy="609600"/>
          </a:xfrm>
          <a:prstGeom prst="rect">
            <a:avLst/>
          </a:prstGeom>
          <a:noFill/>
        </p:spPr>
        <p:txBody>
          <a:bodyPr lIns="92075" tIns="46038" rIns="92075" bIns="46038" anchor="ctr" anchorCtr="0">
            <a:normAutofit fontScale="90000" lnSpcReduction="1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4000" dirty="0">
                <a:solidFill>
                  <a:schemeClr val="tx2"/>
                </a:solidFill>
                <a:latin typeface="+mj-lt"/>
                <a:ea typeface="+mj-ea"/>
                <a:cs typeface="+mj-cs"/>
              </a:rPr>
              <a:t>         </a:t>
            </a:r>
            <a:r>
              <a:rPr lang="en-US" sz="4000" b="1" i="1" dirty="0">
                <a:solidFill>
                  <a:schemeClr val="tx2"/>
                </a:solidFill>
                <a:latin typeface="+mj-lt"/>
                <a:ea typeface="+mj-ea"/>
                <a:cs typeface="+mj-cs"/>
              </a:rPr>
              <a:t>Information Gain </a:t>
            </a:r>
            <a:r>
              <a:rPr lang="en-US" sz="4000" dirty="0">
                <a:solidFill>
                  <a:schemeClr val="tx2"/>
                </a:solidFill>
                <a:latin typeface="+mj-lt"/>
                <a:ea typeface="+mj-ea"/>
                <a:cs typeface="+mj-cs"/>
              </a:rPr>
              <a:t>vs. </a:t>
            </a:r>
            <a:r>
              <a:rPr lang="en-US" sz="4000" b="1" i="1" dirty="0" err="1">
                <a:solidFill>
                  <a:schemeClr val="tx2"/>
                </a:solidFill>
                <a:latin typeface="+mj-lt"/>
                <a:ea typeface="+mj-ea"/>
                <a:cs typeface="+mj-cs"/>
              </a:rPr>
              <a:t>Gini</a:t>
            </a:r>
            <a:r>
              <a:rPr lang="en-US" sz="4000" b="1" i="1" dirty="0">
                <a:solidFill>
                  <a:schemeClr val="tx2"/>
                </a:solidFill>
                <a:latin typeface="+mj-lt"/>
                <a:ea typeface="+mj-ea"/>
                <a:cs typeface="+mj-cs"/>
              </a:rPr>
              <a:t> Index</a:t>
            </a:r>
            <a:endParaRPr kumimoji="0" lang="en-US" sz="4000" b="1" i="1" u="none" strike="noStrike" kern="1200" cap="none" spc="0" normalizeH="0" baseline="0" noProof="0" dirty="0">
              <a:ln>
                <a:noFill/>
              </a:ln>
              <a:solidFill>
                <a:schemeClr val="tx2"/>
              </a:solidFill>
              <a:effectLst/>
              <a:uLnTx/>
              <a:uFillTx/>
              <a:latin typeface="+mj-lt"/>
              <a:ea typeface="+mj-ea"/>
              <a:cs typeface="+mj-cs"/>
            </a:endParaRPr>
          </a:p>
        </p:txBody>
      </p:sp>
      <p:sp>
        <p:nvSpPr>
          <p:cNvPr id="7" name="Slide Number Placeholder 6"/>
          <p:cNvSpPr>
            <a:spLocks noGrp="1"/>
          </p:cNvSpPr>
          <p:nvPr>
            <p:ph type="sldNum" sz="quarter" idx="10"/>
          </p:nvPr>
        </p:nvSpPr>
        <p:spPr/>
        <p:txBody>
          <a:bodyPr/>
          <a:lstStyle/>
          <a:p>
            <a:pPr>
              <a:defRPr/>
            </a:pPr>
            <a:fld id="{327AFD74-5170-4EB8-8EBC-53EAF0F4BFEE}" type="slidenum">
              <a:rPr lang="en-US" smtClean="0"/>
              <a:pPr>
                <a:defRPr/>
              </a:pPr>
              <a:t>36</a:t>
            </a:fld>
            <a:endParaRPr 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Gini</a:t>
            </a:r>
            <a:r>
              <a:rPr lang="en-US" dirty="0"/>
              <a:t> Index</a:t>
            </a:r>
          </a:p>
        </p:txBody>
      </p:sp>
      <p:sp>
        <p:nvSpPr>
          <p:cNvPr id="5" name="Content Placeholder 4"/>
          <p:cNvSpPr>
            <a:spLocks noGrp="1"/>
          </p:cNvSpPr>
          <p:nvPr>
            <p:ph sz="quarter" idx="3"/>
          </p:nvPr>
        </p:nvSpPr>
        <p:spPr>
          <a:xfrm>
            <a:off x="304800" y="1905000"/>
            <a:ext cx="8534400" cy="3886200"/>
          </a:xfrm>
        </p:spPr>
        <p:txBody>
          <a:bodyPr>
            <a:normAutofit/>
          </a:bodyPr>
          <a:lstStyle/>
          <a:p>
            <a:r>
              <a:rPr lang="en-US" dirty="0"/>
              <a:t>Favors larger partitions.</a:t>
            </a:r>
          </a:p>
          <a:p>
            <a:r>
              <a:rPr lang="en-US" dirty="0"/>
              <a:t>Uses squared proportion of classes.</a:t>
            </a:r>
          </a:p>
          <a:p>
            <a:r>
              <a:rPr lang="en-US" dirty="0"/>
              <a:t>If perfectly classified, </a:t>
            </a:r>
            <a:r>
              <a:rPr lang="en-US" dirty="0" err="1"/>
              <a:t>Gini</a:t>
            </a:r>
            <a:r>
              <a:rPr lang="en-US" dirty="0"/>
              <a:t> Index would be zero.</a:t>
            </a:r>
          </a:p>
          <a:p>
            <a:r>
              <a:rPr lang="en-US" dirty="0"/>
              <a:t>Evenly distributed would be 1 – (1/# Classes).</a:t>
            </a:r>
          </a:p>
          <a:p>
            <a:r>
              <a:rPr lang="en-US" dirty="0"/>
              <a:t> We want a variable split that has a low </a:t>
            </a:r>
            <a:r>
              <a:rPr lang="en-US" dirty="0" err="1"/>
              <a:t>Gini</a:t>
            </a:r>
            <a:r>
              <a:rPr lang="en-US" dirty="0"/>
              <a:t> Index.</a:t>
            </a:r>
          </a:p>
          <a:p>
            <a:endParaRPr lang="en-US" dirty="0"/>
          </a:p>
        </p:txBody>
      </p:sp>
      <p:sp>
        <p:nvSpPr>
          <p:cNvPr id="3" name="Slide Number Placeholder 2"/>
          <p:cNvSpPr>
            <a:spLocks noGrp="1"/>
          </p:cNvSpPr>
          <p:nvPr>
            <p:ph type="sldNum" sz="quarter" idx="10"/>
          </p:nvPr>
        </p:nvSpPr>
        <p:spPr/>
        <p:txBody>
          <a:bodyPr/>
          <a:lstStyle/>
          <a:p>
            <a:pPr>
              <a:defRPr/>
            </a:pPr>
            <a:fld id="{327AFD74-5170-4EB8-8EBC-53EAF0F4BFEE}" type="slidenum">
              <a:rPr lang="en-US" smtClean="0"/>
              <a:pPr>
                <a:defRPr/>
              </a:pPr>
              <a:t>37</a:t>
            </a:fld>
            <a:endParaRPr lang="en-US"/>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381000" y="914400"/>
            <a:ext cx="8534400" cy="533400"/>
          </a:xfrm>
        </p:spPr>
        <p:txBody>
          <a:bodyPr/>
          <a:lstStyle/>
          <a:p>
            <a:r>
              <a:rPr lang="en-US" sz="4000" dirty="0"/>
              <a:t>Splitting Criteria based on Misclassification Error</a:t>
            </a:r>
            <a:endParaRPr lang="en-US" dirty="0"/>
          </a:p>
        </p:txBody>
      </p:sp>
      <p:sp>
        <p:nvSpPr>
          <p:cNvPr id="54275" name="Rectangle 3"/>
          <p:cNvSpPr>
            <a:spLocks noGrp="1" noChangeArrowheads="1"/>
          </p:cNvSpPr>
          <p:nvPr>
            <p:ph type="body" idx="1"/>
          </p:nvPr>
        </p:nvSpPr>
        <p:spPr/>
        <p:txBody>
          <a:bodyPr/>
          <a:lstStyle/>
          <a:p>
            <a:r>
              <a:rPr lang="en-US" dirty="0"/>
              <a:t>Classification error at a node t :</a:t>
            </a:r>
          </a:p>
          <a:p>
            <a:endParaRPr lang="en-US" dirty="0"/>
          </a:p>
          <a:p>
            <a:endParaRPr lang="en-US" dirty="0"/>
          </a:p>
          <a:p>
            <a:endParaRPr lang="en-US" dirty="0"/>
          </a:p>
          <a:p>
            <a:r>
              <a:rPr lang="en-US" sz="2400" dirty="0"/>
              <a:t>Measures misclassification error made by a node. </a:t>
            </a:r>
          </a:p>
          <a:p>
            <a:pPr marL="1085850" lvl="2"/>
            <a:r>
              <a:rPr lang="en-US" sz="1800" dirty="0"/>
              <a:t>Maximum (1 - 1/</a:t>
            </a:r>
            <a:r>
              <a:rPr lang="en-US" sz="1800" dirty="0" err="1"/>
              <a:t>n</a:t>
            </a:r>
            <a:r>
              <a:rPr lang="en-US" sz="1800" baseline="-25000" dirty="0" err="1"/>
              <a:t>c</a:t>
            </a:r>
            <a:r>
              <a:rPr lang="en-US" sz="1800" dirty="0"/>
              <a:t>) when records are equally distributed among all classes, implying least interesting information</a:t>
            </a:r>
          </a:p>
          <a:p>
            <a:pPr marL="1085850" lvl="2"/>
            <a:r>
              <a:rPr lang="en-US" sz="1800" dirty="0"/>
              <a:t>Minimum (0.0) when all records belong to one class, implying most interesting information</a:t>
            </a:r>
          </a:p>
        </p:txBody>
      </p:sp>
      <p:graphicFrame>
        <p:nvGraphicFramePr>
          <p:cNvPr id="54276" name="Object 4"/>
          <p:cNvGraphicFramePr>
            <a:graphicFrameLocks noChangeAspect="1"/>
          </p:cNvGraphicFramePr>
          <p:nvPr/>
        </p:nvGraphicFramePr>
        <p:xfrm>
          <a:off x="1752600" y="2320925"/>
          <a:ext cx="4953000" cy="650875"/>
        </p:xfrm>
        <a:graphic>
          <a:graphicData uri="http://schemas.openxmlformats.org/presentationml/2006/ole">
            <mc:AlternateContent xmlns:mc="http://schemas.openxmlformats.org/markup-compatibility/2006">
              <mc:Choice xmlns:v="urn:schemas-microsoft-com:vml" Requires="v">
                <p:oleObj name="Equation" r:id="rId3" imgW="3073400" imgH="406400" progId="Equation.3">
                  <p:embed/>
                </p:oleObj>
              </mc:Choice>
              <mc:Fallback>
                <p:oleObj name="Equation" r:id="rId3" imgW="3073400" imgH="40640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320925"/>
                        <a:ext cx="4953000" cy="650875"/>
                      </a:xfrm>
                      <a:prstGeom prst="rect">
                        <a:avLst/>
                      </a:prstGeom>
                      <a:solidFill>
                        <a:srgbClr val="FFFFCC"/>
                      </a:solidFill>
                      <a:ln w="9525">
                        <a:solidFill>
                          <a:schemeClr val="tx1"/>
                        </a:solidFill>
                        <a:miter lim="800000"/>
                        <a:headEnd/>
                        <a:tailEnd/>
                      </a:ln>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38</a:t>
            </a:fld>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57200" y="381000"/>
            <a:ext cx="7543800" cy="1036638"/>
          </a:xfrm>
        </p:spPr>
        <p:txBody>
          <a:bodyPr/>
          <a:lstStyle/>
          <a:p>
            <a:r>
              <a:rPr lang="en-US" dirty="0"/>
              <a:t>Examples for Misclassification Error</a:t>
            </a:r>
          </a:p>
        </p:txBody>
      </p:sp>
      <p:graphicFrame>
        <p:nvGraphicFramePr>
          <p:cNvPr id="55299" name="Object 3"/>
          <p:cNvGraphicFramePr>
            <a:graphicFrameLocks noChangeAspect="1"/>
          </p:cNvGraphicFramePr>
          <p:nvPr/>
        </p:nvGraphicFramePr>
        <p:xfrm>
          <a:off x="304800" y="2339975"/>
          <a:ext cx="2362200" cy="936625"/>
        </p:xfrm>
        <a:graphic>
          <a:graphicData uri="http://schemas.openxmlformats.org/presentationml/2006/ole">
            <mc:AlternateContent xmlns:mc="http://schemas.openxmlformats.org/markup-compatibility/2006">
              <mc:Choice xmlns:v="urn:schemas-microsoft-com:vml" Requires="v">
                <p:oleObj name="Document" r:id="rId2" imgW="3238500" imgH="1357884" progId="Word.Document.8">
                  <p:embed/>
                </p:oleObj>
              </mc:Choice>
              <mc:Fallback>
                <p:oleObj name="Document" r:id="rId2" imgW="3238500" imgH="1357884" progId="Word.Document.8">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339975"/>
                        <a:ext cx="2362200"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300" name="Object 4"/>
          <p:cNvGraphicFramePr>
            <a:graphicFrameLocks noChangeAspect="1"/>
          </p:cNvGraphicFramePr>
          <p:nvPr/>
        </p:nvGraphicFramePr>
        <p:xfrm>
          <a:off x="381000" y="5181600"/>
          <a:ext cx="2286000" cy="938213"/>
        </p:xfrm>
        <a:graphic>
          <a:graphicData uri="http://schemas.openxmlformats.org/presentationml/2006/ole">
            <mc:AlternateContent xmlns:mc="http://schemas.openxmlformats.org/markup-compatibility/2006">
              <mc:Choice xmlns:v="urn:schemas-microsoft-com:vml" Requires="v">
                <p:oleObj name="Document" r:id="rId4" imgW="3238500" imgH="1382268" progId="Word.Document.8">
                  <p:embed/>
                </p:oleObj>
              </mc:Choice>
              <mc:Fallback>
                <p:oleObj name="Document" r:id="rId4" imgW="3238500" imgH="1382268" progId="Word.Document.8">
                  <p:embed/>
                  <p:pic>
                    <p:nvPicPr>
                      <p:cNvPr id="0" name="Picture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5181600"/>
                        <a:ext cx="2286000" cy="938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5301" name="Object 5"/>
          <p:cNvGraphicFramePr>
            <a:graphicFrameLocks noChangeAspect="1"/>
          </p:cNvGraphicFramePr>
          <p:nvPr/>
        </p:nvGraphicFramePr>
        <p:xfrm>
          <a:off x="381000" y="3817938"/>
          <a:ext cx="2286000" cy="906462"/>
        </p:xfrm>
        <a:graphic>
          <a:graphicData uri="http://schemas.openxmlformats.org/presentationml/2006/ole">
            <mc:AlternateContent xmlns:mc="http://schemas.openxmlformats.org/markup-compatibility/2006">
              <mc:Choice xmlns:v="urn:schemas-microsoft-com:vml" Requires="v">
                <p:oleObj name="Document" r:id="rId6" imgW="3238500" imgH="1357884" progId="Word.Document.8">
                  <p:embed/>
                </p:oleObj>
              </mc:Choice>
              <mc:Fallback>
                <p:oleObj name="Document" r:id="rId6" imgW="3238500" imgH="1357884" progId="Word.Document.8">
                  <p:embed/>
                  <p:pic>
                    <p:nvPicPr>
                      <p:cNvPr id="0" name="Picture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3817938"/>
                        <a:ext cx="2286000" cy="906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2" name="Text Box 6"/>
          <p:cNvSpPr txBox="1">
            <a:spLocks noChangeArrowheads="1"/>
          </p:cNvSpPr>
          <p:nvPr/>
        </p:nvSpPr>
        <p:spPr bwMode="auto">
          <a:xfrm>
            <a:off x="2895600" y="2339975"/>
            <a:ext cx="5943600" cy="854075"/>
          </a:xfrm>
          <a:prstGeom prst="rect">
            <a:avLst/>
          </a:prstGeom>
          <a:noFill/>
          <a:ln w="12700">
            <a:noFill/>
            <a:miter lim="800000"/>
            <a:headEnd/>
            <a:tailEnd/>
          </a:ln>
          <a:effectLst/>
        </p:spPr>
        <p:txBody>
          <a:bodyPr>
            <a:spAutoFit/>
          </a:bodyPr>
          <a:lstStyle/>
          <a:p>
            <a:pPr eaLnBrk="0" hangingPunct="0">
              <a:spcBef>
                <a:spcPct val="50000"/>
              </a:spcBef>
            </a:pPr>
            <a:r>
              <a:rPr lang="en-US" sz="2000" b="1"/>
              <a:t>P(C1) = 0/6 = 0     P(C2) = 6/6 = 1</a:t>
            </a:r>
          </a:p>
          <a:p>
            <a:pPr eaLnBrk="0" hangingPunct="0">
              <a:spcBef>
                <a:spcPct val="50000"/>
              </a:spcBef>
            </a:pPr>
            <a:r>
              <a:rPr lang="en-US" sz="2000" b="1"/>
              <a:t>Error = 1 – max (0, 1) = 1 – 1 = 0 </a:t>
            </a:r>
          </a:p>
        </p:txBody>
      </p:sp>
      <p:sp>
        <p:nvSpPr>
          <p:cNvPr id="55303" name="Text Box 7"/>
          <p:cNvSpPr txBox="1">
            <a:spLocks noChangeArrowheads="1"/>
          </p:cNvSpPr>
          <p:nvPr/>
        </p:nvSpPr>
        <p:spPr bwMode="auto">
          <a:xfrm>
            <a:off x="2971800" y="3733800"/>
            <a:ext cx="5105400" cy="854075"/>
          </a:xfrm>
          <a:prstGeom prst="rect">
            <a:avLst/>
          </a:prstGeom>
          <a:noFill/>
          <a:ln w="12700">
            <a:noFill/>
            <a:miter lim="800000"/>
            <a:headEnd/>
            <a:tailEnd/>
          </a:ln>
          <a:effectLst/>
        </p:spPr>
        <p:txBody>
          <a:bodyPr>
            <a:spAutoFit/>
          </a:bodyPr>
          <a:lstStyle/>
          <a:p>
            <a:pPr eaLnBrk="0" hangingPunct="0">
              <a:spcBef>
                <a:spcPct val="50000"/>
              </a:spcBef>
            </a:pPr>
            <a:r>
              <a:rPr lang="en-US" sz="2000" b="1"/>
              <a:t>P(C1) = 1/6          P(C2) = 5/6</a:t>
            </a:r>
          </a:p>
          <a:p>
            <a:pPr eaLnBrk="0" hangingPunct="0">
              <a:spcBef>
                <a:spcPct val="50000"/>
              </a:spcBef>
            </a:pPr>
            <a:r>
              <a:rPr lang="en-US" sz="2000" b="1"/>
              <a:t>Error = 1 – max (1/6, 5/6) = 1 – 5/6 = 1/6</a:t>
            </a:r>
          </a:p>
        </p:txBody>
      </p:sp>
      <p:sp>
        <p:nvSpPr>
          <p:cNvPr id="55304" name="Text Box 8"/>
          <p:cNvSpPr txBox="1">
            <a:spLocks noChangeArrowheads="1"/>
          </p:cNvSpPr>
          <p:nvPr/>
        </p:nvSpPr>
        <p:spPr bwMode="auto">
          <a:xfrm>
            <a:off x="2971800" y="5105400"/>
            <a:ext cx="6172200" cy="854075"/>
          </a:xfrm>
          <a:prstGeom prst="rect">
            <a:avLst/>
          </a:prstGeom>
          <a:noFill/>
          <a:ln w="12700">
            <a:noFill/>
            <a:miter lim="800000"/>
            <a:headEnd/>
            <a:tailEnd/>
          </a:ln>
          <a:effectLst/>
        </p:spPr>
        <p:txBody>
          <a:bodyPr>
            <a:spAutoFit/>
          </a:bodyPr>
          <a:lstStyle/>
          <a:p>
            <a:pPr eaLnBrk="0" hangingPunct="0">
              <a:spcBef>
                <a:spcPct val="50000"/>
              </a:spcBef>
            </a:pPr>
            <a:r>
              <a:rPr lang="en-US" sz="2000" b="1" dirty="0"/>
              <a:t>P(C1) = 2/6          P(C2) = 4/6</a:t>
            </a:r>
          </a:p>
          <a:p>
            <a:pPr eaLnBrk="0" hangingPunct="0">
              <a:spcBef>
                <a:spcPct val="50000"/>
              </a:spcBef>
            </a:pPr>
            <a:r>
              <a:rPr lang="en-US" sz="2000" b="1" dirty="0"/>
              <a:t>Error = 1 – max (2/6, 4/6) = 1 – 4/6 = 1/3</a:t>
            </a:r>
          </a:p>
        </p:txBody>
      </p:sp>
      <p:graphicFrame>
        <p:nvGraphicFramePr>
          <p:cNvPr id="55305" name="Object 9"/>
          <p:cNvGraphicFramePr>
            <a:graphicFrameLocks noChangeAspect="1"/>
          </p:cNvGraphicFramePr>
          <p:nvPr/>
        </p:nvGraphicFramePr>
        <p:xfrm>
          <a:off x="1905000" y="1600200"/>
          <a:ext cx="4953000" cy="650875"/>
        </p:xfrm>
        <a:graphic>
          <a:graphicData uri="http://schemas.openxmlformats.org/presentationml/2006/ole">
            <mc:AlternateContent xmlns:mc="http://schemas.openxmlformats.org/markup-compatibility/2006">
              <mc:Choice xmlns:v="urn:schemas-microsoft-com:vml" Requires="v">
                <p:oleObj name="Equation" r:id="rId8" imgW="3073400" imgH="406400" progId="Equation.3">
                  <p:embed/>
                </p:oleObj>
              </mc:Choice>
              <mc:Fallback>
                <p:oleObj name="Equation" r:id="rId8" imgW="3073400" imgH="406400" progId="Equation.3">
                  <p:embed/>
                  <p:pic>
                    <p:nvPicPr>
                      <p:cNvPr id="0"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5000" y="1600200"/>
                        <a:ext cx="4953000" cy="650875"/>
                      </a:xfrm>
                      <a:prstGeom prst="rect">
                        <a:avLst/>
                      </a:prstGeom>
                      <a:solidFill>
                        <a:srgbClr val="FFFFCC"/>
                      </a:solidFill>
                      <a:ln w="9525">
                        <a:solidFill>
                          <a:schemeClr val="tx1"/>
                        </a:solidFill>
                        <a:miter lim="800000"/>
                        <a:headEnd/>
                        <a:tailEnd/>
                      </a:ln>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DC454605-094D-467A-98B4-485DD38572BC}" type="slidenum">
              <a:rPr lang="en-US" altLang="en-US" smtClean="0"/>
              <a:pPr>
                <a:defRPr/>
              </a:pPr>
              <a:t>39</a:t>
            </a:fld>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52400" y="152400"/>
            <a:ext cx="8001000" cy="1371600"/>
          </a:xfrm>
        </p:spPr>
        <p:txBody>
          <a:bodyPr/>
          <a:lstStyle/>
          <a:p>
            <a:r>
              <a:rPr lang="en-US" i="1" dirty="0"/>
              <a:t>Classification Error </a:t>
            </a:r>
            <a:r>
              <a:rPr lang="en-US" dirty="0"/>
              <a:t>vs. </a:t>
            </a:r>
            <a:r>
              <a:rPr lang="en-US" i="1" dirty="0" err="1"/>
              <a:t>Gini</a:t>
            </a:r>
            <a:r>
              <a:rPr lang="en-US" i="1" dirty="0"/>
              <a:t> Index</a:t>
            </a:r>
          </a:p>
        </p:txBody>
      </p:sp>
      <p:sp>
        <p:nvSpPr>
          <p:cNvPr id="57347" name="Oval 3"/>
          <p:cNvSpPr>
            <a:spLocks noChangeArrowheads="1"/>
          </p:cNvSpPr>
          <p:nvPr/>
        </p:nvSpPr>
        <p:spPr bwMode="auto">
          <a:xfrm>
            <a:off x="3124200" y="1754188"/>
            <a:ext cx="1009650" cy="454025"/>
          </a:xfrm>
          <a:prstGeom prst="ellipse">
            <a:avLst/>
          </a:prstGeom>
          <a:solidFill>
            <a:srgbClr val="FFFFFF"/>
          </a:solidFill>
          <a:ln w="9525">
            <a:solidFill>
              <a:schemeClr val="tx1"/>
            </a:solidFill>
            <a:round/>
            <a:headEnd/>
            <a:tailEnd/>
          </a:ln>
          <a:effectLst/>
        </p:spPr>
        <p:txBody>
          <a:bodyPr wrap="none" anchor="ctr"/>
          <a:lstStyle/>
          <a:p>
            <a:pPr algn="ctr" eaLnBrk="0" hangingPunct="0"/>
            <a:r>
              <a:rPr lang="en-US" sz="2000">
                <a:latin typeface="Times New Roman" pitchFamily="18" charset="0"/>
              </a:rPr>
              <a:t>A?</a:t>
            </a:r>
            <a:endParaRPr lang="en-US" sz="2400">
              <a:latin typeface="Times New Roman" pitchFamily="18" charset="0"/>
            </a:endParaRPr>
          </a:p>
        </p:txBody>
      </p:sp>
      <p:sp>
        <p:nvSpPr>
          <p:cNvPr id="57348" name="Line 4"/>
          <p:cNvSpPr>
            <a:spLocks noChangeShapeType="1"/>
          </p:cNvSpPr>
          <p:nvPr/>
        </p:nvSpPr>
        <p:spPr bwMode="auto">
          <a:xfrm flipH="1">
            <a:off x="2549525" y="2211388"/>
            <a:ext cx="1108075" cy="725487"/>
          </a:xfrm>
          <a:prstGeom prst="line">
            <a:avLst/>
          </a:prstGeom>
          <a:noFill/>
          <a:ln w="9525">
            <a:solidFill>
              <a:schemeClr val="tx1"/>
            </a:solidFill>
            <a:round/>
            <a:headEnd/>
            <a:tailEnd/>
          </a:ln>
          <a:effectLst/>
        </p:spPr>
        <p:txBody>
          <a:bodyPr wrap="none" anchor="ctr"/>
          <a:lstStyle/>
          <a:p>
            <a:endParaRPr lang="en-US"/>
          </a:p>
        </p:txBody>
      </p:sp>
      <p:sp>
        <p:nvSpPr>
          <p:cNvPr id="57349" name="Line 5"/>
          <p:cNvSpPr>
            <a:spLocks noChangeShapeType="1"/>
          </p:cNvSpPr>
          <p:nvPr/>
        </p:nvSpPr>
        <p:spPr bwMode="auto">
          <a:xfrm>
            <a:off x="3657600" y="2211388"/>
            <a:ext cx="1184275" cy="725487"/>
          </a:xfrm>
          <a:prstGeom prst="line">
            <a:avLst/>
          </a:prstGeom>
          <a:noFill/>
          <a:ln w="9525">
            <a:solidFill>
              <a:schemeClr val="tx1"/>
            </a:solidFill>
            <a:round/>
            <a:headEnd/>
            <a:tailEnd/>
          </a:ln>
          <a:effectLst/>
        </p:spPr>
        <p:txBody>
          <a:bodyPr wrap="none" anchor="ctr"/>
          <a:lstStyle/>
          <a:p>
            <a:endParaRPr lang="en-US"/>
          </a:p>
        </p:txBody>
      </p:sp>
      <p:sp>
        <p:nvSpPr>
          <p:cNvPr id="57350" name="Text Box 6"/>
          <p:cNvSpPr txBox="1">
            <a:spLocks noChangeArrowheads="1"/>
          </p:cNvSpPr>
          <p:nvPr/>
        </p:nvSpPr>
        <p:spPr bwMode="auto">
          <a:xfrm>
            <a:off x="2276475" y="2327275"/>
            <a:ext cx="539750" cy="366713"/>
          </a:xfrm>
          <a:prstGeom prst="rect">
            <a:avLst/>
          </a:prstGeom>
          <a:noFill/>
          <a:ln w="9525">
            <a:noFill/>
            <a:miter lim="800000"/>
            <a:headEnd/>
            <a:tailEnd/>
          </a:ln>
          <a:effectLst/>
        </p:spPr>
        <p:txBody>
          <a:bodyPr wrap="none" anchor="ctr">
            <a:spAutoFit/>
          </a:bodyPr>
          <a:lstStyle/>
          <a:p>
            <a:pPr algn="ctr" eaLnBrk="0" hangingPunct="0"/>
            <a:r>
              <a:rPr lang="en-US">
                <a:latin typeface="Times New Roman" pitchFamily="18" charset="0"/>
              </a:rPr>
              <a:t>Yes</a:t>
            </a:r>
          </a:p>
        </p:txBody>
      </p:sp>
      <p:sp>
        <p:nvSpPr>
          <p:cNvPr id="57351" name="Text Box 7"/>
          <p:cNvSpPr txBox="1">
            <a:spLocks noChangeArrowheads="1"/>
          </p:cNvSpPr>
          <p:nvPr/>
        </p:nvSpPr>
        <p:spPr bwMode="auto">
          <a:xfrm>
            <a:off x="4765675" y="2327275"/>
            <a:ext cx="463550" cy="366713"/>
          </a:xfrm>
          <a:prstGeom prst="rect">
            <a:avLst/>
          </a:prstGeom>
          <a:noFill/>
          <a:ln w="9525">
            <a:noFill/>
            <a:miter lim="800000"/>
            <a:headEnd/>
            <a:tailEnd/>
          </a:ln>
          <a:effectLst/>
        </p:spPr>
        <p:txBody>
          <a:bodyPr wrap="none" anchor="ctr">
            <a:spAutoFit/>
          </a:bodyPr>
          <a:lstStyle/>
          <a:p>
            <a:pPr algn="ctr" eaLnBrk="0" hangingPunct="0"/>
            <a:r>
              <a:rPr lang="en-US">
                <a:latin typeface="Times New Roman" pitchFamily="18" charset="0"/>
              </a:rPr>
              <a:t>No</a:t>
            </a:r>
          </a:p>
        </p:txBody>
      </p:sp>
      <p:sp>
        <p:nvSpPr>
          <p:cNvPr id="57352" name="Rectangle 8"/>
          <p:cNvSpPr>
            <a:spLocks noChangeArrowheads="1"/>
          </p:cNvSpPr>
          <p:nvPr/>
        </p:nvSpPr>
        <p:spPr bwMode="auto">
          <a:xfrm>
            <a:off x="2133600" y="2936875"/>
            <a:ext cx="936625" cy="341313"/>
          </a:xfrm>
          <a:prstGeom prst="rect">
            <a:avLst/>
          </a:prstGeom>
          <a:solidFill>
            <a:srgbClr val="FFFFFF"/>
          </a:solidFill>
          <a:ln w="9525">
            <a:solidFill>
              <a:schemeClr val="tx1"/>
            </a:solidFill>
            <a:miter lim="800000"/>
            <a:headEnd/>
            <a:tailEnd/>
          </a:ln>
          <a:effectLst/>
        </p:spPr>
        <p:txBody>
          <a:bodyPr wrap="none" anchor="ctr"/>
          <a:lstStyle/>
          <a:p>
            <a:pPr algn="ctr" eaLnBrk="0" hangingPunct="0"/>
            <a:r>
              <a:rPr lang="en-US">
                <a:latin typeface="Times New Roman" pitchFamily="18" charset="0"/>
              </a:rPr>
              <a:t>Node N1</a:t>
            </a:r>
          </a:p>
        </p:txBody>
      </p:sp>
      <p:sp>
        <p:nvSpPr>
          <p:cNvPr id="57353" name="Rectangle 9"/>
          <p:cNvSpPr>
            <a:spLocks noChangeArrowheads="1"/>
          </p:cNvSpPr>
          <p:nvPr/>
        </p:nvSpPr>
        <p:spPr bwMode="auto">
          <a:xfrm>
            <a:off x="4321175" y="2936875"/>
            <a:ext cx="936625" cy="341313"/>
          </a:xfrm>
          <a:prstGeom prst="rect">
            <a:avLst/>
          </a:prstGeom>
          <a:solidFill>
            <a:srgbClr val="FFFFFF"/>
          </a:solidFill>
          <a:ln w="9525">
            <a:solidFill>
              <a:schemeClr val="tx1"/>
            </a:solidFill>
            <a:miter lim="800000"/>
            <a:headEnd/>
            <a:tailEnd/>
          </a:ln>
          <a:effectLst/>
        </p:spPr>
        <p:txBody>
          <a:bodyPr wrap="none" anchor="ctr"/>
          <a:lstStyle/>
          <a:p>
            <a:pPr algn="ctr" eaLnBrk="0" hangingPunct="0"/>
            <a:r>
              <a:rPr lang="en-US">
                <a:latin typeface="Times New Roman" pitchFamily="18" charset="0"/>
              </a:rPr>
              <a:t>Node N2</a:t>
            </a:r>
          </a:p>
        </p:txBody>
      </p:sp>
      <p:graphicFrame>
        <p:nvGraphicFramePr>
          <p:cNvPr id="57354" name="Object 10"/>
          <p:cNvGraphicFramePr>
            <a:graphicFrameLocks noChangeAspect="1"/>
          </p:cNvGraphicFramePr>
          <p:nvPr/>
        </p:nvGraphicFramePr>
        <p:xfrm>
          <a:off x="6243638" y="1676400"/>
          <a:ext cx="1968500" cy="1893888"/>
        </p:xfrm>
        <a:graphic>
          <a:graphicData uri="http://schemas.openxmlformats.org/presentationml/2006/ole">
            <mc:AlternateContent xmlns:mc="http://schemas.openxmlformats.org/markup-compatibility/2006">
              <mc:Choice xmlns:v="urn:schemas-microsoft-com:vml" Requires="v">
                <p:oleObj name="Document" r:id="rId3" imgW="3177540" imgH="3054096" progId="Word.Document.8">
                  <p:embed/>
                </p:oleObj>
              </mc:Choice>
              <mc:Fallback>
                <p:oleObj name="Document" r:id="rId3" imgW="3177540" imgH="3054096" progId="Word.Document.8">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3638" y="1676400"/>
                        <a:ext cx="1968500" cy="1893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5" name="Object 11"/>
          <p:cNvGraphicFramePr>
            <a:graphicFrameLocks noChangeAspect="1"/>
          </p:cNvGraphicFramePr>
          <p:nvPr/>
        </p:nvGraphicFramePr>
        <p:xfrm>
          <a:off x="2895600" y="3733800"/>
          <a:ext cx="1905000" cy="1471612"/>
        </p:xfrm>
        <a:graphic>
          <a:graphicData uri="http://schemas.openxmlformats.org/presentationml/2006/ole">
            <mc:AlternateContent xmlns:mc="http://schemas.openxmlformats.org/markup-compatibility/2006">
              <mc:Choice xmlns:v="urn:schemas-microsoft-com:vml" Requires="v">
                <p:oleObj name="Document" r:id="rId5" imgW="3257993" imgH="2543113" progId="Word.Document.8">
                  <p:embed/>
                </p:oleObj>
              </mc:Choice>
              <mc:Fallback>
                <p:oleObj name="Document" r:id="rId5" imgW="3257993" imgH="2543113" progId="Word.Document.8">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3733800"/>
                        <a:ext cx="1905000" cy="1471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6" name="Text Box 12"/>
          <p:cNvSpPr txBox="1">
            <a:spLocks noChangeArrowheads="1"/>
          </p:cNvSpPr>
          <p:nvPr/>
        </p:nvSpPr>
        <p:spPr bwMode="auto">
          <a:xfrm>
            <a:off x="304800" y="3810000"/>
            <a:ext cx="2438400" cy="2073275"/>
          </a:xfrm>
          <a:prstGeom prst="rect">
            <a:avLst/>
          </a:prstGeom>
          <a:noFill/>
          <a:ln w="12700">
            <a:noFill/>
            <a:miter lim="800000"/>
            <a:headEnd/>
            <a:tailEnd/>
          </a:ln>
          <a:effectLst/>
        </p:spPr>
        <p:txBody>
          <a:bodyPr>
            <a:spAutoFit/>
          </a:bodyPr>
          <a:lstStyle/>
          <a:p>
            <a:pPr eaLnBrk="0" hangingPunct="0">
              <a:spcBef>
                <a:spcPct val="50000"/>
              </a:spcBef>
            </a:pPr>
            <a:r>
              <a:rPr lang="en-US" sz="2000" b="1"/>
              <a:t>Gini(N1) </a:t>
            </a:r>
            <a:br>
              <a:rPr lang="en-US" sz="2000" b="1"/>
            </a:br>
            <a:r>
              <a:rPr lang="en-US" sz="2000" b="1"/>
              <a:t>= 1 – (3/3)</a:t>
            </a:r>
            <a:r>
              <a:rPr lang="en-US" sz="2000" b="1" baseline="30000"/>
              <a:t>2 </a:t>
            </a:r>
            <a:r>
              <a:rPr lang="en-US" sz="2000" b="1"/>
              <a:t>– (0/3)</a:t>
            </a:r>
            <a:r>
              <a:rPr lang="en-US" sz="2000" b="1" baseline="30000"/>
              <a:t>2</a:t>
            </a:r>
            <a:r>
              <a:rPr lang="en-US" sz="2000" b="1"/>
              <a:t> </a:t>
            </a:r>
            <a:br>
              <a:rPr lang="en-US" sz="2000" b="1"/>
            </a:br>
            <a:r>
              <a:rPr lang="en-US" sz="2000" b="1"/>
              <a:t>= 0 </a:t>
            </a:r>
          </a:p>
          <a:p>
            <a:pPr eaLnBrk="0" hangingPunct="0">
              <a:spcBef>
                <a:spcPct val="50000"/>
              </a:spcBef>
            </a:pPr>
            <a:r>
              <a:rPr lang="en-US" sz="2000" b="1"/>
              <a:t>Gini(N2) </a:t>
            </a:r>
            <a:br>
              <a:rPr lang="en-US" sz="2000" b="1"/>
            </a:br>
            <a:r>
              <a:rPr lang="en-US" sz="2000" b="1"/>
              <a:t>= 1 – (4/7)</a:t>
            </a:r>
            <a:r>
              <a:rPr lang="en-US" sz="2000" b="1" baseline="30000"/>
              <a:t>2 </a:t>
            </a:r>
            <a:r>
              <a:rPr lang="en-US" sz="2000" b="1"/>
              <a:t>– (3/7)</a:t>
            </a:r>
            <a:r>
              <a:rPr lang="en-US" sz="2000" b="1" baseline="30000"/>
              <a:t>2</a:t>
            </a:r>
            <a:r>
              <a:rPr lang="en-US" sz="2000" b="1"/>
              <a:t> </a:t>
            </a:r>
            <a:br>
              <a:rPr lang="en-US" sz="2000" b="1"/>
            </a:br>
            <a:r>
              <a:rPr lang="en-US" sz="2000" b="1"/>
              <a:t>= 0.489</a:t>
            </a:r>
          </a:p>
        </p:txBody>
      </p:sp>
      <p:sp>
        <p:nvSpPr>
          <p:cNvPr id="57357" name="Text Box 13"/>
          <p:cNvSpPr txBox="1">
            <a:spLocks noChangeArrowheads="1"/>
          </p:cNvSpPr>
          <p:nvPr/>
        </p:nvSpPr>
        <p:spPr bwMode="auto">
          <a:xfrm>
            <a:off x="5486400" y="3657600"/>
            <a:ext cx="2438400" cy="1311275"/>
          </a:xfrm>
          <a:prstGeom prst="rect">
            <a:avLst/>
          </a:prstGeom>
          <a:noFill/>
          <a:ln w="12700">
            <a:noFill/>
            <a:miter lim="800000"/>
            <a:headEnd/>
            <a:tailEnd/>
          </a:ln>
          <a:effectLst/>
        </p:spPr>
        <p:txBody>
          <a:bodyPr>
            <a:spAutoFit/>
          </a:bodyPr>
          <a:lstStyle/>
          <a:p>
            <a:pPr eaLnBrk="0" hangingPunct="0">
              <a:spcBef>
                <a:spcPct val="50000"/>
              </a:spcBef>
            </a:pPr>
            <a:r>
              <a:rPr lang="en-US" sz="2000" b="1" dirty="0" err="1"/>
              <a:t>Gini</a:t>
            </a:r>
            <a:r>
              <a:rPr lang="en-US" sz="2000" b="1" dirty="0"/>
              <a:t>(Children) </a:t>
            </a:r>
            <a:br>
              <a:rPr lang="en-US" sz="2000" b="1" dirty="0"/>
            </a:br>
            <a:r>
              <a:rPr lang="en-US" sz="2000" b="1" dirty="0"/>
              <a:t>= 3/10 * 0 </a:t>
            </a:r>
            <a:br>
              <a:rPr lang="en-US" sz="2000" b="1" dirty="0"/>
            </a:br>
            <a:r>
              <a:rPr lang="en-US" sz="2000" b="1" dirty="0"/>
              <a:t>+ 7/10 * 0.489</a:t>
            </a:r>
            <a:br>
              <a:rPr lang="en-US" sz="2000" b="1" dirty="0"/>
            </a:br>
            <a:r>
              <a:rPr lang="en-US" sz="2000" b="1" dirty="0"/>
              <a:t>= 0.342</a:t>
            </a:r>
          </a:p>
        </p:txBody>
      </p:sp>
      <p:sp>
        <p:nvSpPr>
          <p:cNvPr id="2" name="Slide Number Placeholder 1"/>
          <p:cNvSpPr>
            <a:spLocks noGrp="1"/>
          </p:cNvSpPr>
          <p:nvPr>
            <p:ph type="sldNum" sz="quarter" idx="12"/>
          </p:nvPr>
        </p:nvSpPr>
        <p:spPr/>
        <p:txBody>
          <a:bodyPr/>
          <a:lstStyle/>
          <a:p>
            <a:pPr>
              <a:defRPr/>
            </a:pPr>
            <a:fld id="{DC454605-094D-467A-98B4-485DD38572BC}" type="slidenum">
              <a:rPr lang="en-US" altLang="en-US" smtClean="0"/>
              <a:pPr>
                <a:defRPr/>
              </a:pPr>
              <a:t>40</a:t>
            </a:fld>
            <a:endParaRPr lang="en-US" altLang="en-US"/>
          </a:p>
        </p:txBody>
      </p:sp>
    </p:spTree>
    <p:extLst>
      <p:ext uri="{BB962C8B-B14F-4D97-AF65-F5344CB8AC3E}">
        <p14:creationId xmlns:p14="http://schemas.microsoft.com/office/powerpoint/2010/main" val="20698654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28600" y="122238"/>
            <a:ext cx="8153400" cy="1295400"/>
          </a:xfrm>
        </p:spPr>
        <p:txBody>
          <a:bodyPr/>
          <a:lstStyle/>
          <a:p>
            <a:r>
              <a:rPr lang="en-US" dirty="0"/>
              <a:t>Comparison - Three Splitting Criteria</a:t>
            </a:r>
          </a:p>
        </p:txBody>
      </p:sp>
      <p:pic>
        <p:nvPicPr>
          <p:cNvPr id="56323" name="Picture 3"/>
          <p:cNvPicPr>
            <a:picLocks noChangeAspect="1" noChangeArrowheads="1"/>
          </p:cNvPicPr>
          <p:nvPr/>
        </p:nvPicPr>
        <p:blipFill>
          <a:blip r:embed="rId3"/>
          <a:srcRect/>
          <a:stretch>
            <a:fillRect/>
          </a:stretch>
        </p:blipFill>
        <p:spPr bwMode="auto">
          <a:xfrm>
            <a:off x="1447800" y="1943100"/>
            <a:ext cx="6248400" cy="4686300"/>
          </a:xfrm>
          <a:prstGeom prst="rect">
            <a:avLst/>
          </a:prstGeom>
          <a:noFill/>
          <a:ln w="12700">
            <a:noFill/>
            <a:miter lim="800000"/>
            <a:headEnd/>
            <a:tailEnd/>
          </a:ln>
          <a:effectLst/>
        </p:spPr>
      </p:pic>
      <p:sp>
        <p:nvSpPr>
          <p:cNvPr id="56324" name="Text Box 4"/>
          <p:cNvSpPr txBox="1">
            <a:spLocks noChangeArrowheads="1"/>
          </p:cNvSpPr>
          <p:nvPr/>
        </p:nvSpPr>
        <p:spPr bwMode="auto">
          <a:xfrm>
            <a:off x="381000" y="1485900"/>
            <a:ext cx="4724400" cy="457200"/>
          </a:xfrm>
          <a:prstGeom prst="rect">
            <a:avLst/>
          </a:prstGeom>
          <a:noFill/>
          <a:ln w="12700">
            <a:noFill/>
            <a:miter lim="800000"/>
            <a:headEnd/>
            <a:tailEnd/>
          </a:ln>
          <a:effectLst/>
        </p:spPr>
        <p:txBody>
          <a:bodyPr>
            <a:spAutoFit/>
          </a:bodyPr>
          <a:lstStyle/>
          <a:p>
            <a:pPr eaLnBrk="0" hangingPunct="0">
              <a:spcBef>
                <a:spcPct val="50000"/>
              </a:spcBef>
            </a:pPr>
            <a:r>
              <a:rPr lang="en-US" sz="2400" b="1"/>
              <a:t>For a 2-class problem:</a:t>
            </a:r>
          </a:p>
        </p:txBody>
      </p:sp>
      <p:sp>
        <p:nvSpPr>
          <p:cNvPr id="2" name="Slide Number Placeholder 1"/>
          <p:cNvSpPr>
            <a:spLocks noGrp="1"/>
          </p:cNvSpPr>
          <p:nvPr>
            <p:ph type="sldNum" sz="quarter" idx="12"/>
          </p:nvPr>
        </p:nvSpPr>
        <p:spPr/>
        <p:txBody>
          <a:bodyPr/>
          <a:lstStyle/>
          <a:p>
            <a:pPr>
              <a:defRPr/>
            </a:pPr>
            <a:fld id="{DC454605-094D-467A-98B4-485DD38572BC}" type="slidenum">
              <a:rPr lang="en-US" altLang="en-US" smtClean="0"/>
              <a:pPr>
                <a:defRPr/>
              </a:pPr>
              <a:t>41</a:t>
            </a:fld>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57200" y="457200"/>
            <a:ext cx="7543800" cy="838200"/>
          </a:xfrm>
        </p:spPr>
        <p:txBody>
          <a:bodyPr/>
          <a:lstStyle/>
          <a:p>
            <a:r>
              <a:rPr lang="en-US"/>
              <a:t>Tree Induction</a:t>
            </a:r>
          </a:p>
        </p:txBody>
      </p:sp>
      <p:sp>
        <p:nvSpPr>
          <p:cNvPr id="58371" name="Rectangle 3"/>
          <p:cNvSpPr>
            <a:spLocks noGrp="1" noChangeArrowheads="1"/>
          </p:cNvSpPr>
          <p:nvPr>
            <p:ph type="body" idx="1"/>
          </p:nvPr>
        </p:nvSpPr>
        <p:spPr/>
        <p:txBody>
          <a:bodyPr/>
          <a:lstStyle/>
          <a:p>
            <a:r>
              <a:rPr lang="en-US"/>
              <a:t>Greedy strategy.</a:t>
            </a:r>
          </a:p>
          <a:p>
            <a:pPr lvl="1"/>
            <a:r>
              <a:rPr lang="en-US"/>
              <a:t>Split the records based on an attribute test that optimizes certain criterion.</a:t>
            </a:r>
          </a:p>
          <a:p>
            <a:endParaRPr lang="en-US"/>
          </a:p>
          <a:p>
            <a:r>
              <a:rPr lang="en-US"/>
              <a:t>Issues</a:t>
            </a:r>
          </a:p>
          <a:p>
            <a:pPr lvl="1"/>
            <a:r>
              <a:rPr lang="en-US"/>
              <a:t>Determine how to split the records</a:t>
            </a:r>
          </a:p>
          <a:p>
            <a:pPr lvl="2"/>
            <a:r>
              <a:rPr lang="en-US"/>
              <a:t>How to specify the attribute test condition?</a:t>
            </a:r>
          </a:p>
          <a:p>
            <a:pPr lvl="2"/>
            <a:r>
              <a:rPr lang="en-US"/>
              <a:t>How to determine the best split?</a:t>
            </a:r>
          </a:p>
          <a:p>
            <a:pPr lvl="1"/>
            <a:r>
              <a:rPr lang="en-US">
                <a:solidFill>
                  <a:srgbClr val="FF0000"/>
                </a:solidFill>
              </a:rPr>
              <a:t>Determine when to stop splitting</a:t>
            </a:r>
          </a:p>
          <a:p>
            <a:pPr lvl="1"/>
            <a:endParaRPr lang="en-US"/>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42</a:t>
            </a:fld>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t>Stopping Criteria for Tree Induction</a:t>
            </a:r>
          </a:p>
        </p:txBody>
      </p:sp>
      <p:sp>
        <p:nvSpPr>
          <p:cNvPr id="59395" name="Rectangle 3"/>
          <p:cNvSpPr>
            <a:spLocks noGrp="1" noChangeArrowheads="1"/>
          </p:cNvSpPr>
          <p:nvPr>
            <p:ph type="body" idx="1"/>
          </p:nvPr>
        </p:nvSpPr>
        <p:spPr/>
        <p:txBody>
          <a:bodyPr/>
          <a:lstStyle/>
          <a:p>
            <a:r>
              <a:rPr lang="en-US" dirty="0"/>
              <a:t>Stop expanding a node when all the records belong to the same class</a:t>
            </a:r>
          </a:p>
          <a:p>
            <a:endParaRPr lang="en-US" dirty="0"/>
          </a:p>
          <a:p>
            <a:r>
              <a:rPr lang="en-US" dirty="0"/>
              <a:t>Stop expanding a node when all the records have similar attribute values</a:t>
            </a:r>
          </a:p>
          <a:p>
            <a:endParaRPr lang="en-US" dirty="0"/>
          </a:p>
          <a:p>
            <a:r>
              <a:rPr lang="en-US" dirty="0"/>
              <a:t>Early termination</a:t>
            </a:r>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43</a:t>
            </a:fld>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t>Practical Issues of Classification</a:t>
            </a:r>
          </a:p>
        </p:txBody>
      </p:sp>
      <p:sp>
        <p:nvSpPr>
          <p:cNvPr id="62467" name="Rectangle 3"/>
          <p:cNvSpPr>
            <a:spLocks noGrp="1" noChangeArrowheads="1"/>
          </p:cNvSpPr>
          <p:nvPr>
            <p:ph type="body" idx="1"/>
          </p:nvPr>
        </p:nvSpPr>
        <p:spPr/>
        <p:txBody>
          <a:bodyPr/>
          <a:lstStyle/>
          <a:p>
            <a:r>
              <a:rPr lang="en-US"/>
              <a:t>Underfitting and Overfitting</a:t>
            </a:r>
          </a:p>
          <a:p>
            <a:endParaRPr lang="en-US"/>
          </a:p>
          <a:p>
            <a:r>
              <a:rPr lang="en-US"/>
              <a:t>Missing Values</a:t>
            </a:r>
          </a:p>
          <a:p>
            <a:endParaRPr lang="en-US"/>
          </a:p>
          <a:p>
            <a:r>
              <a:rPr lang="en-US"/>
              <a:t>Costs of Classification</a:t>
            </a:r>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44</a:t>
            </a:fld>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t>Underfitting and Overfitting (Example)</a:t>
            </a:r>
          </a:p>
        </p:txBody>
      </p:sp>
      <p:pic>
        <p:nvPicPr>
          <p:cNvPr id="63491" name="Picture 3"/>
          <p:cNvPicPr>
            <a:picLocks noChangeAspect="1" noChangeArrowheads="1"/>
          </p:cNvPicPr>
          <p:nvPr/>
        </p:nvPicPr>
        <p:blipFill>
          <a:blip r:embed="rId2"/>
          <a:srcRect l="8139" t="5307" r="5814" b="5804"/>
          <a:stretch>
            <a:fillRect/>
          </a:stretch>
        </p:blipFill>
        <p:spPr bwMode="auto">
          <a:xfrm>
            <a:off x="228600" y="1524000"/>
            <a:ext cx="5638800" cy="5105400"/>
          </a:xfrm>
          <a:prstGeom prst="rect">
            <a:avLst/>
          </a:prstGeom>
          <a:noFill/>
          <a:ln w="12700">
            <a:noFill/>
            <a:miter lim="800000"/>
            <a:headEnd/>
            <a:tailEnd/>
          </a:ln>
          <a:effectLst/>
        </p:spPr>
      </p:pic>
      <p:sp>
        <p:nvSpPr>
          <p:cNvPr id="63492" name="Text Box 4"/>
          <p:cNvSpPr txBox="1">
            <a:spLocks noChangeArrowheads="1"/>
          </p:cNvSpPr>
          <p:nvPr/>
        </p:nvSpPr>
        <p:spPr bwMode="auto">
          <a:xfrm>
            <a:off x="6096000" y="2286000"/>
            <a:ext cx="2743200" cy="3530600"/>
          </a:xfrm>
          <a:prstGeom prst="rect">
            <a:avLst/>
          </a:prstGeom>
          <a:noFill/>
          <a:ln w="12700">
            <a:noFill/>
            <a:miter lim="800000"/>
            <a:headEnd/>
            <a:tailEnd/>
          </a:ln>
          <a:effectLst/>
        </p:spPr>
        <p:txBody>
          <a:bodyPr>
            <a:spAutoFit/>
          </a:bodyPr>
          <a:lstStyle/>
          <a:p>
            <a:pPr eaLnBrk="0" hangingPunct="0">
              <a:spcBef>
                <a:spcPct val="50000"/>
              </a:spcBef>
            </a:pPr>
            <a:r>
              <a:rPr lang="en-US" b="1"/>
              <a:t>500 circular and 500 triangular data points.</a:t>
            </a:r>
          </a:p>
          <a:p>
            <a:pPr eaLnBrk="0" hangingPunct="0">
              <a:spcBef>
                <a:spcPct val="50000"/>
              </a:spcBef>
            </a:pPr>
            <a:endParaRPr lang="en-US" b="1"/>
          </a:p>
          <a:p>
            <a:pPr eaLnBrk="0" hangingPunct="0">
              <a:spcBef>
                <a:spcPct val="50000"/>
              </a:spcBef>
            </a:pPr>
            <a:r>
              <a:rPr lang="en-US" b="1"/>
              <a:t>Circular points:</a:t>
            </a:r>
          </a:p>
          <a:p>
            <a:pPr eaLnBrk="0" hangingPunct="0">
              <a:spcBef>
                <a:spcPct val="50000"/>
              </a:spcBef>
            </a:pPr>
            <a:r>
              <a:rPr lang="en-US" b="1"/>
              <a:t>0.5 </a:t>
            </a:r>
            <a:r>
              <a:rPr lang="en-US" b="1">
                <a:sym typeface="Symbol" pitchFamily="18" charset="2"/>
              </a:rPr>
              <a:t> sqrt(x</a:t>
            </a:r>
            <a:r>
              <a:rPr lang="en-US" b="1" baseline="-25000">
                <a:sym typeface="Symbol" pitchFamily="18" charset="2"/>
              </a:rPr>
              <a:t>1</a:t>
            </a:r>
            <a:r>
              <a:rPr lang="en-US" b="1" baseline="30000">
                <a:sym typeface="Symbol" pitchFamily="18" charset="2"/>
              </a:rPr>
              <a:t>2</a:t>
            </a:r>
            <a:r>
              <a:rPr lang="en-US" b="1">
                <a:sym typeface="Symbol" pitchFamily="18" charset="2"/>
              </a:rPr>
              <a:t>+x</a:t>
            </a:r>
            <a:r>
              <a:rPr lang="en-US" b="1" baseline="-25000">
                <a:sym typeface="Symbol" pitchFamily="18" charset="2"/>
              </a:rPr>
              <a:t>2</a:t>
            </a:r>
            <a:r>
              <a:rPr lang="en-US" b="1" baseline="30000">
                <a:sym typeface="Symbol" pitchFamily="18" charset="2"/>
              </a:rPr>
              <a:t>2</a:t>
            </a:r>
            <a:r>
              <a:rPr lang="en-US" b="1">
                <a:sym typeface="Symbol" pitchFamily="18" charset="2"/>
              </a:rPr>
              <a:t>)  1</a:t>
            </a:r>
            <a:endParaRPr lang="en-US" b="1"/>
          </a:p>
          <a:p>
            <a:pPr eaLnBrk="0" hangingPunct="0">
              <a:spcBef>
                <a:spcPct val="50000"/>
              </a:spcBef>
            </a:pPr>
            <a:endParaRPr lang="en-US" b="1"/>
          </a:p>
          <a:p>
            <a:pPr eaLnBrk="0" hangingPunct="0">
              <a:spcBef>
                <a:spcPct val="50000"/>
              </a:spcBef>
            </a:pPr>
            <a:r>
              <a:rPr lang="en-US" b="1"/>
              <a:t>Triangular points:</a:t>
            </a:r>
          </a:p>
          <a:p>
            <a:pPr eaLnBrk="0" hangingPunct="0">
              <a:spcBef>
                <a:spcPct val="50000"/>
              </a:spcBef>
            </a:pPr>
            <a:r>
              <a:rPr lang="en-US" b="1">
                <a:sym typeface="Symbol" pitchFamily="18" charset="2"/>
              </a:rPr>
              <a:t>sqrt(x</a:t>
            </a:r>
            <a:r>
              <a:rPr lang="en-US" b="1" baseline="-25000">
                <a:sym typeface="Symbol" pitchFamily="18" charset="2"/>
              </a:rPr>
              <a:t>1</a:t>
            </a:r>
            <a:r>
              <a:rPr lang="en-US" b="1" baseline="30000">
                <a:sym typeface="Symbol" pitchFamily="18" charset="2"/>
              </a:rPr>
              <a:t>2</a:t>
            </a:r>
            <a:r>
              <a:rPr lang="en-US" b="1">
                <a:sym typeface="Symbol" pitchFamily="18" charset="2"/>
              </a:rPr>
              <a:t>+x</a:t>
            </a:r>
            <a:r>
              <a:rPr lang="en-US" b="1" baseline="-25000">
                <a:sym typeface="Symbol" pitchFamily="18" charset="2"/>
              </a:rPr>
              <a:t>2</a:t>
            </a:r>
            <a:r>
              <a:rPr lang="en-US" b="1" baseline="30000">
                <a:sym typeface="Symbol" pitchFamily="18" charset="2"/>
              </a:rPr>
              <a:t>2</a:t>
            </a:r>
            <a:r>
              <a:rPr lang="en-US" b="1">
                <a:sym typeface="Symbol" pitchFamily="18" charset="2"/>
              </a:rPr>
              <a:t>) &gt; 0.5 or</a:t>
            </a:r>
          </a:p>
          <a:p>
            <a:pPr eaLnBrk="0" hangingPunct="0">
              <a:spcBef>
                <a:spcPct val="50000"/>
              </a:spcBef>
            </a:pPr>
            <a:r>
              <a:rPr lang="en-US" b="1">
                <a:sym typeface="Symbol" pitchFamily="18" charset="2"/>
              </a:rPr>
              <a:t>sqrt(x</a:t>
            </a:r>
            <a:r>
              <a:rPr lang="en-US" b="1" baseline="-25000">
                <a:sym typeface="Symbol" pitchFamily="18" charset="2"/>
              </a:rPr>
              <a:t>1</a:t>
            </a:r>
            <a:r>
              <a:rPr lang="en-US" b="1" baseline="30000">
                <a:sym typeface="Symbol" pitchFamily="18" charset="2"/>
              </a:rPr>
              <a:t>2</a:t>
            </a:r>
            <a:r>
              <a:rPr lang="en-US" b="1">
                <a:sym typeface="Symbol" pitchFamily="18" charset="2"/>
              </a:rPr>
              <a:t>+x</a:t>
            </a:r>
            <a:r>
              <a:rPr lang="en-US" b="1" baseline="-25000">
                <a:sym typeface="Symbol" pitchFamily="18" charset="2"/>
              </a:rPr>
              <a:t>2</a:t>
            </a:r>
            <a:r>
              <a:rPr lang="en-US" b="1" baseline="30000">
                <a:sym typeface="Symbol" pitchFamily="18" charset="2"/>
              </a:rPr>
              <a:t>2</a:t>
            </a:r>
            <a:r>
              <a:rPr lang="en-US" b="1">
                <a:sym typeface="Symbol" pitchFamily="18" charset="2"/>
              </a:rPr>
              <a:t>) &lt; 1</a:t>
            </a:r>
          </a:p>
        </p:txBody>
      </p:sp>
      <p:sp>
        <p:nvSpPr>
          <p:cNvPr id="2" name="Slide Number Placeholder 1"/>
          <p:cNvSpPr>
            <a:spLocks noGrp="1"/>
          </p:cNvSpPr>
          <p:nvPr>
            <p:ph type="sldNum" sz="quarter" idx="12"/>
          </p:nvPr>
        </p:nvSpPr>
        <p:spPr/>
        <p:txBody>
          <a:bodyPr/>
          <a:lstStyle/>
          <a:p>
            <a:pPr>
              <a:defRPr/>
            </a:pPr>
            <a:fld id="{DC454605-094D-467A-98B4-485DD38572BC}" type="slidenum">
              <a:rPr lang="en-US" altLang="en-US" smtClean="0"/>
              <a:pPr>
                <a:defRPr/>
              </a:pPr>
              <a:t>45</a:t>
            </a:fld>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52400" y="457200"/>
            <a:ext cx="9144000" cy="685800"/>
          </a:xfrm>
          <a:noFill/>
        </p:spPr>
        <p:txBody>
          <a:bodyPr lIns="92075" tIns="46038" rIns="92075" bIns="46038" anchor="ctr">
            <a:normAutofit fontScale="90000"/>
          </a:bodyPr>
          <a:lstStyle/>
          <a:p>
            <a:pPr eaLnBrk="1" hangingPunct="1"/>
            <a:r>
              <a:rPr lang="en-US" dirty="0" err="1"/>
              <a:t>Overfitting</a:t>
            </a:r>
            <a:r>
              <a:rPr lang="en-US" dirty="0"/>
              <a:t> Example</a:t>
            </a:r>
            <a:endParaRPr lang="en-US" sz="3200" dirty="0"/>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46</a:t>
            </a:fld>
            <a:endParaRPr lang="en-US"/>
          </a:p>
        </p:txBody>
      </p:sp>
      <p:sp>
        <p:nvSpPr>
          <p:cNvPr id="240641" name="Rectangle 1"/>
          <p:cNvSpPr>
            <a:spLocks noChangeArrowheads="1"/>
          </p:cNvSpPr>
          <p:nvPr/>
        </p:nvSpPr>
        <p:spPr bwMode="auto">
          <a:xfrm>
            <a:off x="381000" y="1219200"/>
            <a:ext cx="7315200" cy="20313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800" b="0" i="0" u="none" strike="noStrike" cap="none" normalizeH="0" baseline="0" dirty="0">
                <a:ln>
                  <a:noFill/>
                </a:ln>
                <a:solidFill>
                  <a:schemeClr val="tx1"/>
                </a:solidFill>
                <a:effectLst/>
                <a:latin typeface="Arial" charset="0"/>
                <a:cs typeface="Arial" charset="0"/>
              </a:rPr>
              <a:t>A model that has learned the noise instead of the signal is considered “</a:t>
            </a:r>
            <a:r>
              <a:rPr kumimoji="0" lang="en-US" sz="1800" b="0" i="0" u="none" strike="noStrike" cap="none" normalizeH="0" baseline="0" dirty="0" err="1">
                <a:ln>
                  <a:noFill/>
                </a:ln>
                <a:solidFill>
                  <a:schemeClr val="tx1"/>
                </a:solidFill>
                <a:effectLst/>
                <a:latin typeface="Arial" charset="0"/>
                <a:cs typeface="Arial" charset="0"/>
              </a:rPr>
              <a:t>overfit</a:t>
            </a:r>
            <a:r>
              <a:rPr kumimoji="0" lang="en-US" sz="1800" b="0" i="0" u="none" strike="noStrike" cap="none" normalizeH="0" baseline="0" dirty="0">
                <a:ln>
                  <a:noFill/>
                </a:ln>
                <a:solidFill>
                  <a:schemeClr val="tx1"/>
                </a:solidFill>
                <a:effectLst/>
                <a:latin typeface="Arial" charset="0"/>
                <a:cs typeface="Arial" charset="0"/>
              </a:rPr>
              <a:t>” because it fits the training dataset but has poor fit with new datasets.</a:t>
            </a:r>
          </a:p>
          <a:p>
            <a:pPr lvl="0">
              <a:buFont typeface="Arial" pitchFamily="34" charset="0"/>
              <a:buChar char="•"/>
            </a:pPr>
            <a:r>
              <a:rPr lang="en-US" dirty="0" err="1"/>
              <a:t>Underfitting</a:t>
            </a:r>
            <a:r>
              <a:rPr lang="en-US" dirty="0"/>
              <a:t> occurs when a model is too simple – informed by too few features or regularized too much – which makes it inflexible in learning from the dataset. (Black line-Good fit, Green Line-</a:t>
            </a:r>
            <a:r>
              <a:rPr lang="en-US" dirty="0" err="1"/>
              <a:t>Overfit</a:t>
            </a:r>
            <a:r>
              <a:rPr lang="en-US" dirty="0"/>
              <a:t>)</a:t>
            </a:r>
            <a:endParaRPr kumimoji="0" lang="en-US" sz="1800" b="0" i="0" u="none" strike="noStrike" cap="none" normalizeH="0" baseline="0" dirty="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  </a:t>
            </a:r>
            <a:endParaRPr kumimoji="0" lang="en-US" sz="19200" b="0" i="0" u="none" strike="noStrike" cap="none" normalizeH="0" baseline="0" dirty="0">
              <a:ln>
                <a:noFill/>
              </a:ln>
              <a:solidFill>
                <a:schemeClr val="tx1"/>
              </a:solidFill>
              <a:effectLst/>
              <a:latin typeface="Arial" charset="0"/>
              <a:cs typeface="Arial" charset="0"/>
            </a:endParaRPr>
          </a:p>
        </p:txBody>
      </p:sp>
      <p:pic>
        <p:nvPicPr>
          <p:cNvPr id="240642" name="Picture 2" descr="Overfit Lines"/>
          <p:cNvPicPr>
            <a:picLocks noChangeAspect="1" noChangeArrowheads="1"/>
          </p:cNvPicPr>
          <p:nvPr/>
        </p:nvPicPr>
        <p:blipFill>
          <a:blip r:embed="rId3"/>
          <a:srcRect/>
          <a:stretch>
            <a:fillRect/>
          </a:stretch>
        </p:blipFill>
        <p:spPr bwMode="auto">
          <a:xfrm>
            <a:off x="3200400" y="3124200"/>
            <a:ext cx="3048000" cy="3048000"/>
          </a:xfrm>
          <a:prstGeom prst="rect">
            <a:avLst/>
          </a:prstGeom>
          <a:noFill/>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t>Underfitting and Overfitting</a:t>
            </a:r>
          </a:p>
        </p:txBody>
      </p:sp>
      <p:pic>
        <p:nvPicPr>
          <p:cNvPr id="64515" name="Picture 3"/>
          <p:cNvPicPr>
            <a:picLocks noChangeAspect="1" noChangeArrowheads="1"/>
          </p:cNvPicPr>
          <p:nvPr/>
        </p:nvPicPr>
        <p:blipFill>
          <a:blip r:embed="rId2"/>
          <a:srcRect/>
          <a:stretch>
            <a:fillRect/>
          </a:stretch>
        </p:blipFill>
        <p:spPr bwMode="auto">
          <a:xfrm>
            <a:off x="609600" y="1447800"/>
            <a:ext cx="6096000" cy="4572000"/>
          </a:xfrm>
          <a:prstGeom prst="rect">
            <a:avLst/>
          </a:prstGeom>
          <a:noFill/>
          <a:ln w="12700">
            <a:noFill/>
            <a:miter lim="800000"/>
            <a:headEnd/>
            <a:tailEnd/>
          </a:ln>
          <a:effectLst/>
        </p:spPr>
      </p:pic>
      <p:sp>
        <p:nvSpPr>
          <p:cNvPr id="64516" name="Line 4"/>
          <p:cNvSpPr>
            <a:spLocks noChangeShapeType="1"/>
          </p:cNvSpPr>
          <p:nvPr/>
        </p:nvSpPr>
        <p:spPr bwMode="auto">
          <a:xfrm>
            <a:off x="4267200" y="1600200"/>
            <a:ext cx="0" cy="4114800"/>
          </a:xfrm>
          <a:prstGeom prst="line">
            <a:avLst/>
          </a:prstGeom>
          <a:noFill/>
          <a:ln w="25400">
            <a:solidFill>
              <a:srgbClr val="800000"/>
            </a:solidFill>
            <a:prstDash val="dash"/>
            <a:round/>
            <a:headEnd/>
            <a:tailEnd/>
          </a:ln>
          <a:effectLst/>
        </p:spPr>
        <p:txBody>
          <a:bodyPr/>
          <a:lstStyle/>
          <a:p>
            <a:endParaRPr lang="en-US"/>
          </a:p>
        </p:txBody>
      </p:sp>
      <p:sp>
        <p:nvSpPr>
          <p:cNvPr id="64517" name="Text Box 5"/>
          <p:cNvSpPr txBox="1">
            <a:spLocks noChangeArrowheads="1"/>
          </p:cNvSpPr>
          <p:nvPr/>
        </p:nvSpPr>
        <p:spPr bwMode="auto">
          <a:xfrm>
            <a:off x="4343400" y="1828800"/>
            <a:ext cx="1600200" cy="366713"/>
          </a:xfrm>
          <a:prstGeom prst="rect">
            <a:avLst/>
          </a:prstGeom>
          <a:noFill/>
          <a:ln w="12700">
            <a:noFill/>
            <a:miter lim="800000"/>
            <a:headEnd/>
            <a:tailEnd/>
          </a:ln>
          <a:effectLst/>
        </p:spPr>
        <p:txBody>
          <a:bodyPr>
            <a:spAutoFit/>
          </a:bodyPr>
          <a:lstStyle/>
          <a:p>
            <a:pPr eaLnBrk="0" hangingPunct="0">
              <a:spcBef>
                <a:spcPct val="50000"/>
              </a:spcBef>
            </a:pPr>
            <a:r>
              <a:rPr lang="en-US" b="1"/>
              <a:t>Overfitting</a:t>
            </a:r>
            <a:endParaRPr lang="en-US" b="1">
              <a:sym typeface="Symbol" pitchFamily="18" charset="2"/>
            </a:endParaRPr>
          </a:p>
        </p:txBody>
      </p:sp>
      <p:sp>
        <p:nvSpPr>
          <p:cNvPr id="64518" name="Text Box 6"/>
          <p:cNvSpPr txBox="1">
            <a:spLocks noChangeArrowheads="1"/>
          </p:cNvSpPr>
          <p:nvPr/>
        </p:nvSpPr>
        <p:spPr bwMode="auto">
          <a:xfrm>
            <a:off x="457200" y="6096000"/>
            <a:ext cx="8458200" cy="366713"/>
          </a:xfrm>
          <a:prstGeom prst="rect">
            <a:avLst/>
          </a:prstGeom>
          <a:noFill/>
          <a:ln w="12700">
            <a:noFill/>
            <a:miter lim="800000"/>
            <a:headEnd/>
            <a:tailEnd/>
          </a:ln>
          <a:effectLst/>
        </p:spPr>
        <p:txBody>
          <a:bodyPr>
            <a:spAutoFit/>
          </a:bodyPr>
          <a:lstStyle/>
          <a:p>
            <a:pPr eaLnBrk="0" hangingPunct="0">
              <a:spcBef>
                <a:spcPct val="50000"/>
              </a:spcBef>
            </a:pPr>
            <a:r>
              <a:rPr lang="en-US" b="1"/>
              <a:t>Underfitting</a:t>
            </a:r>
            <a:r>
              <a:rPr lang="en-US"/>
              <a:t>: when model is too simple, both training and test errors are large </a:t>
            </a:r>
            <a:endParaRPr lang="en-US">
              <a:sym typeface="Symbol" pitchFamily="18" charset="2"/>
            </a:endParaRPr>
          </a:p>
        </p:txBody>
      </p:sp>
      <p:sp>
        <p:nvSpPr>
          <p:cNvPr id="2" name="Slide Number Placeholder 1"/>
          <p:cNvSpPr>
            <a:spLocks noGrp="1"/>
          </p:cNvSpPr>
          <p:nvPr>
            <p:ph type="sldNum" sz="quarter" idx="12"/>
          </p:nvPr>
        </p:nvSpPr>
        <p:spPr/>
        <p:txBody>
          <a:bodyPr/>
          <a:lstStyle/>
          <a:p>
            <a:pPr>
              <a:defRPr/>
            </a:pPr>
            <a:fld id="{DC454605-094D-467A-98B4-485DD38572BC}" type="slidenum">
              <a:rPr lang="en-US" altLang="en-US" smtClean="0"/>
              <a:pPr>
                <a:defRPr/>
              </a:pPr>
              <a:t>47</a:t>
            </a:fld>
            <a:endParaRPr lang="en-US" altLang="en-US"/>
          </a:p>
        </p:txBody>
      </p:sp>
    </p:spTree>
    <p:extLst>
      <p:ext uri="{BB962C8B-B14F-4D97-AF65-F5344CB8AC3E}">
        <p14:creationId xmlns:p14="http://schemas.microsoft.com/office/powerpoint/2010/main" val="3566680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t>Overfitting due to Noise </a:t>
            </a:r>
          </a:p>
        </p:txBody>
      </p:sp>
      <p:pic>
        <p:nvPicPr>
          <p:cNvPr id="65539" name="Picture 3"/>
          <p:cNvPicPr>
            <a:picLocks noChangeAspect="1" noChangeArrowheads="1"/>
          </p:cNvPicPr>
          <p:nvPr/>
        </p:nvPicPr>
        <p:blipFill>
          <a:blip r:embed="rId2"/>
          <a:srcRect t="4819" b="3615"/>
          <a:stretch>
            <a:fillRect/>
          </a:stretch>
        </p:blipFill>
        <p:spPr bwMode="auto">
          <a:xfrm>
            <a:off x="1295400" y="1524000"/>
            <a:ext cx="6324600" cy="4343400"/>
          </a:xfrm>
          <a:prstGeom prst="rect">
            <a:avLst/>
          </a:prstGeom>
          <a:noFill/>
          <a:ln w="12700">
            <a:noFill/>
            <a:miter lim="800000"/>
            <a:headEnd/>
            <a:tailEnd/>
          </a:ln>
          <a:effectLst/>
        </p:spPr>
      </p:pic>
      <p:sp>
        <p:nvSpPr>
          <p:cNvPr id="65540" name="Text Box 4"/>
          <p:cNvSpPr txBox="1">
            <a:spLocks noChangeArrowheads="1"/>
          </p:cNvSpPr>
          <p:nvPr/>
        </p:nvSpPr>
        <p:spPr bwMode="auto">
          <a:xfrm>
            <a:off x="1676400" y="6172200"/>
            <a:ext cx="5791200" cy="366713"/>
          </a:xfrm>
          <a:prstGeom prst="rect">
            <a:avLst/>
          </a:prstGeom>
          <a:noFill/>
          <a:ln w="12700">
            <a:noFill/>
            <a:miter lim="800000"/>
            <a:headEnd/>
            <a:tailEnd/>
          </a:ln>
          <a:effectLst/>
        </p:spPr>
        <p:txBody>
          <a:bodyPr>
            <a:spAutoFit/>
          </a:bodyPr>
          <a:lstStyle/>
          <a:p>
            <a:pPr eaLnBrk="0" hangingPunct="0">
              <a:spcBef>
                <a:spcPct val="50000"/>
              </a:spcBef>
            </a:pPr>
            <a:r>
              <a:rPr lang="en-US" b="1"/>
              <a:t>Decision boundary is distorted by noise point</a:t>
            </a:r>
            <a:endParaRPr lang="en-US" b="1">
              <a:sym typeface="Symbol" pitchFamily="18" charset="2"/>
            </a:endParaRPr>
          </a:p>
        </p:txBody>
      </p:sp>
      <p:sp>
        <p:nvSpPr>
          <p:cNvPr id="2" name="Slide Number Placeholder 1"/>
          <p:cNvSpPr>
            <a:spLocks noGrp="1"/>
          </p:cNvSpPr>
          <p:nvPr>
            <p:ph type="sldNum" sz="quarter" idx="12"/>
          </p:nvPr>
        </p:nvSpPr>
        <p:spPr/>
        <p:txBody>
          <a:bodyPr/>
          <a:lstStyle/>
          <a:p>
            <a:pPr>
              <a:defRPr/>
            </a:pPr>
            <a:fld id="{DC454605-094D-467A-98B4-485DD38572BC}" type="slidenum">
              <a:rPr lang="en-US" altLang="en-US" smtClean="0"/>
              <a:pPr>
                <a:defRPr/>
              </a:pPr>
              <a:t>48</a:t>
            </a:fld>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81000" y="914400"/>
            <a:ext cx="8610600" cy="533400"/>
          </a:xfrm>
        </p:spPr>
        <p:txBody>
          <a:bodyPr/>
          <a:lstStyle/>
          <a:p>
            <a:r>
              <a:rPr lang="en-US"/>
              <a:t>Overfitting due to Insufficient Examples</a:t>
            </a:r>
          </a:p>
        </p:txBody>
      </p:sp>
      <p:sp>
        <p:nvSpPr>
          <p:cNvPr id="66563" name="Text Box 3"/>
          <p:cNvSpPr txBox="1">
            <a:spLocks noChangeArrowheads="1"/>
          </p:cNvSpPr>
          <p:nvPr/>
        </p:nvSpPr>
        <p:spPr bwMode="auto">
          <a:xfrm>
            <a:off x="152400" y="1752600"/>
            <a:ext cx="5105400" cy="4893647"/>
          </a:xfrm>
          <a:prstGeom prst="rect">
            <a:avLst/>
          </a:prstGeom>
          <a:noFill/>
          <a:ln w="12700">
            <a:noFill/>
            <a:miter lim="800000"/>
            <a:headEnd/>
            <a:tailEnd/>
          </a:ln>
          <a:effectLst/>
        </p:spPr>
        <p:txBody>
          <a:bodyPr wrap="square">
            <a:spAutoFit/>
          </a:bodyPr>
          <a:lstStyle/>
          <a:p>
            <a:pPr eaLnBrk="0" hangingPunct="0">
              <a:spcBef>
                <a:spcPct val="50000"/>
              </a:spcBef>
              <a:buFont typeface="Arial" pitchFamily="34" charset="0"/>
              <a:buChar char="•"/>
            </a:pPr>
            <a:r>
              <a:rPr lang="en-US" sz="2400" dirty="0">
                <a:sym typeface="Symbol" pitchFamily="18" charset="2"/>
              </a:rPr>
              <a:t>Lack of data points in the lower half of the diagram makes it difficult to predict correctly the class labels of that region </a:t>
            </a:r>
          </a:p>
          <a:p>
            <a:pPr eaLnBrk="0" hangingPunct="0">
              <a:spcBef>
                <a:spcPct val="50000"/>
              </a:spcBef>
              <a:buFont typeface="Arial" pitchFamily="34" charset="0"/>
              <a:buChar char="•"/>
            </a:pPr>
            <a:r>
              <a:rPr lang="en-US" sz="2400" dirty="0"/>
              <a:t>Insufficient number of training records in the region causes the decision tree to predict the test examples using other training records that are irrelevant to the classification task </a:t>
            </a:r>
          </a:p>
          <a:p>
            <a:pPr eaLnBrk="0" hangingPunct="0">
              <a:spcBef>
                <a:spcPct val="50000"/>
              </a:spcBef>
              <a:buFont typeface="Arial" pitchFamily="34" charset="0"/>
              <a:buChar char="•"/>
            </a:pPr>
            <a:r>
              <a:rPr lang="en-US" sz="2400" dirty="0"/>
              <a:t>(green is the boundary, two red data for training in the class)</a:t>
            </a:r>
            <a:endParaRPr lang="en-US" sz="2400" dirty="0">
              <a:sym typeface="Symbol" pitchFamily="18" charset="2"/>
            </a:endParaRPr>
          </a:p>
        </p:txBody>
      </p:sp>
      <p:pic>
        <p:nvPicPr>
          <p:cNvPr id="66564" name="Picture 4"/>
          <p:cNvPicPr>
            <a:picLocks noGrp="1" noChangeAspect="1" noChangeArrowheads="1"/>
          </p:cNvPicPr>
          <p:nvPr>
            <p:ph idx="1"/>
          </p:nvPr>
        </p:nvPicPr>
        <p:blipFill>
          <a:blip r:embed="rId3"/>
          <a:srcRect l="7072" t="4857" r="5357" b="4857"/>
          <a:stretch>
            <a:fillRect/>
          </a:stretch>
        </p:blipFill>
        <p:spPr>
          <a:xfrm>
            <a:off x="5105400" y="1905000"/>
            <a:ext cx="3914775" cy="2998788"/>
          </a:xfrm>
          <a:noFill/>
          <a:ln/>
        </p:spPr>
      </p:pic>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49</a:t>
            </a:fld>
            <a:endParaRPr lang="en-US"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52400" y="457200"/>
            <a:ext cx="9144000" cy="685800"/>
          </a:xfrm>
          <a:noFill/>
        </p:spPr>
        <p:txBody>
          <a:bodyPr lIns="92075" tIns="46038" rIns="92075" bIns="46038" anchor="ctr">
            <a:normAutofit fontScale="90000"/>
          </a:bodyPr>
          <a:lstStyle/>
          <a:p>
            <a:pPr eaLnBrk="1" hangingPunct="1"/>
            <a:r>
              <a:rPr lang="en-US" dirty="0" err="1"/>
              <a:t>Overfitting</a:t>
            </a:r>
            <a:r>
              <a:rPr lang="en-US" dirty="0"/>
              <a:t> and Tree Pruning</a:t>
            </a:r>
            <a:endParaRPr lang="en-US" sz="3200" dirty="0"/>
          </a:p>
        </p:txBody>
      </p:sp>
      <p:sp>
        <p:nvSpPr>
          <p:cNvPr id="23556" name="Rectangle 3"/>
          <p:cNvSpPr>
            <a:spLocks noGrp="1" noChangeArrowheads="1"/>
          </p:cNvSpPr>
          <p:nvPr>
            <p:ph type="body" idx="1"/>
          </p:nvPr>
        </p:nvSpPr>
        <p:spPr>
          <a:xfrm>
            <a:off x="304800" y="1371600"/>
            <a:ext cx="8458200" cy="5257800"/>
          </a:xfrm>
          <a:noFill/>
        </p:spPr>
        <p:txBody>
          <a:bodyPr lIns="92075" tIns="46038" rIns="92075" bIns="46038">
            <a:normAutofit lnSpcReduction="10000"/>
          </a:bodyPr>
          <a:lstStyle/>
          <a:p>
            <a:pPr eaLnBrk="1" hangingPunct="1"/>
            <a:r>
              <a:rPr lang="en-US" sz="2400" u="sng" dirty="0" err="1"/>
              <a:t>Overfitting</a:t>
            </a:r>
            <a:r>
              <a:rPr lang="en-US" sz="2400" dirty="0"/>
              <a:t>:  An induced tree may </a:t>
            </a:r>
            <a:r>
              <a:rPr lang="en-US" sz="2400" dirty="0" err="1"/>
              <a:t>overfit</a:t>
            </a:r>
            <a:r>
              <a:rPr lang="en-US" sz="2400" dirty="0"/>
              <a:t> the training data </a:t>
            </a:r>
          </a:p>
          <a:p>
            <a:pPr lvl="1" eaLnBrk="1" hangingPunct="1"/>
            <a:r>
              <a:rPr lang="en-US" sz="2400" dirty="0">
                <a:solidFill>
                  <a:srgbClr val="FF0000"/>
                </a:solidFill>
              </a:rPr>
              <a:t>Too many branches</a:t>
            </a:r>
            <a:r>
              <a:rPr lang="en-US" sz="2400" dirty="0"/>
              <a:t>, some may reflect anomalies due to noise or outliers</a:t>
            </a:r>
          </a:p>
          <a:p>
            <a:pPr lvl="1" eaLnBrk="1" hangingPunct="1"/>
            <a:r>
              <a:rPr lang="en-US" sz="2400" dirty="0"/>
              <a:t>Poor accuracy for unseen samples during testing</a:t>
            </a:r>
          </a:p>
          <a:p>
            <a:pPr eaLnBrk="1" hangingPunct="1"/>
            <a:r>
              <a:rPr lang="en-US" sz="2400" dirty="0"/>
              <a:t>Two approaches to avoid </a:t>
            </a:r>
            <a:r>
              <a:rPr lang="en-US" sz="2400" dirty="0" err="1"/>
              <a:t>overfitting</a:t>
            </a:r>
            <a:r>
              <a:rPr lang="en-US" sz="2400" dirty="0"/>
              <a:t> </a:t>
            </a:r>
          </a:p>
          <a:p>
            <a:pPr lvl="1" eaLnBrk="1" hangingPunct="1"/>
            <a:r>
              <a:rPr lang="en-US" sz="2400" u="sng" dirty="0" err="1"/>
              <a:t>Prepruning</a:t>
            </a:r>
            <a:r>
              <a:rPr lang="en-US" sz="2400" dirty="0"/>
              <a:t>: </a:t>
            </a:r>
            <a:r>
              <a:rPr lang="en-US" sz="2400" i="1" dirty="0"/>
              <a:t>Halt tree construction early</a:t>
            </a:r>
            <a:r>
              <a:rPr lang="en-US" sz="2400" dirty="0"/>
              <a:t> </a:t>
            </a:r>
            <a:r>
              <a:rPr lang="en-US" sz="2400" dirty="0">
                <a:cs typeface="Tahoma" pitchFamily="34" charset="0"/>
              </a:rPr>
              <a:t>̵</a:t>
            </a:r>
            <a:r>
              <a:rPr lang="en-US" sz="2400" dirty="0"/>
              <a:t> do not split a node if this would result in the goodness measure falling below a threshold</a:t>
            </a:r>
          </a:p>
          <a:p>
            <a:pPr lvl="2" eaLnBrk="1" hangingPunct="1"/>
            <a:r>
              <a:rPr lang="en-US" dirty="0"/>
              <a:t>Problem-</a:t>
            </a:r>
            <a:r>
              <a:rPr lang="en-US" i="1" dirty="0"/>
              <a:t>Difficult to choose an appropriate threshold</a:t>
            </a:r>
          </a:p>
          <a:p>
            <a:pPr lvl="1" eaLnBrk="1" hangingPunct="1"/>
            <a:r>
              <a:rPr lang="en-US" sz="2400" u="sng" dirty="0" err="1"/>
              <a:t>Postpruning</a:t>
            </a:r>
            <a:r>
              <a:rPr lang="en-US" sz="2400" dirty="0"/>
              <a:t>: </a:t>
            </a:r>
            <a:r>
              <a:rPr lang="en-US" sz="2400" i="1" dirty="0"/>
              <a:t>Remove branches</a:t>
            </a:r>
            <a:r>
              <a:rPr lang="en-US" sz="2400" dirty="0"/>
              <a:t> from a “fully grown” tree—get a sequence of progressively pruned trees</a:t>
            </a:r>
          </a:p>
          <a:p>
            <a:pPr lvl="2" eaLnBrk="1" hangingPunct="1"/>
            <a:r>
              <a:rPr lang="en-US" dirty="0"/>
              <a:t>Problem-</a:t>
            </a:r>
            <a:r>
              <a:rPr lang="en-US" i="1" dirty="0"/>
              <a:t>Use a set of data different from the training data to decide which is the “best pruned tree”</a:t>
            </a:r>
          </a:p>
        </p:txBody>
      </p:sp>
      <p:sp>
        <p:nvSpPr>
          <p:cNvPr id="6" name="Slide Number Placeholder 5"/>
          <p:cNvSpPr>
            <a:spLocks noGrp="1"/>
          </p:cNvSpPr>
          <p:nvPr>
            <p:ph type="sldNum" sz="quarter" idx="11"/>
          </p:nvPr>
        </p:nvSpPr>
        <p:spPr/>
        <p:txBody>
          <a:bodyPr/>
          <a:lstStyle/>
          <a:p>
            <a:pPr>
              <a:defRPr/>
            </a:pPr>
            <a:fld id="{4635AE12-246C-49B1-92D7-252397D611F1}" type="slidenum">
              <a:rPr lang="en-US" smtClean="0"/>
              <a:pPr>
                <a:defRPr/>
              </a:pPr>
              <a:t>50</a:t>
            </a:fld>
            <a:endParaRPr 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3266" name="Picture 2"/>
          <p:cNvPicPr>
            <a:picLocks noChangeAspect="1" noChangeArrowheads="1"/>
          </p:cNvPicPr>
          <p:nvPr/>
        </p:nvPicPr>
        <p:blipFill>
          <a:blip r:embed="rId2"/>
          <a:srcRect/>
          <a:stretch>
            <a:fillRect/>
          </a:stretch>
        </p:blipFill>
        <p:spPr bwMode="auto">
          <a:xfrm>
            <a:off x="266700" y="1200150"/>
            <a:ext cx="8610600" cy="4457700"/>
          </a:xfrm>
          <a:prstGeom prst="rect">
            <a:avLst/>
          </a:prstGeom>
          <a:noFill/>
          <a:ln w="9525">
            <a:noFill/>
            <a:miter lim="800000"/>
            <a:headEnd/>
            <a:tailEnd/>
          </a:ln>
          <a:effectLst/>
        </p:spPr>
      </p:pic>
      <p:sp>
        <p:nvSpPr>
          <p:cNvPr id="3" name="Rectangle 2"/>
          <p:cNvSpPr>
            <a:spLocks noGrp="1" noChangeArrowheads="1"/>
          </p:cNvSpPr>
          <p:nvPr>
            <p:ph type="title"/>
          </p:nvPr>
        </p:nvSpPr>
        <p:spPr>
          <a:xfrm>
            <a:off x="152400" y="457200"/>
            <a:ext cx="9144000" cy="685800"/>
          </a:xfrm>
          <a:noFill/>
        </p:spPr>
        <p:txBody>
          <a:bodyPr lIns="92075" tIns="46038" rIns="92075" bIns="46038" anchor="ctr">
            <a:normAutofit fontScale="90000"/>
          </a:bodyPr>
          <a:lstStyle/>
          <a:p>
            <a:pPr eaLnBrk="1" hangingPunct="1"/>
            <a:r>
              <a:rPr lang="en-US" dirty="0"/>
              <a:t> Pruning  with </a:t>
            </a:r>
            <a:r>
              <a:rPr lang="en-US" i="1" dirty="0"/>
              <a:t>Majority Class</a:t>
            </a:r>
            <a:endParaRPr lang="en-US" sz="3200" i="1" dirty="0"/>
          </a:p>
        </p:txBody>
      </p:sp>
      <p:sp>
        <p:nvSpPr>
          <p:cNvPr id="4" name="Oval 3"/>
          <p:cNvSpPr/>
          <p:nvPr/>
        </p:nvSpPr>
        <p:spPr>
          <a:xfrm>
            <a:off x="7620000" y="2514600"/>
            <a:ext cx="1524000" cy="76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590800" y="4800600"/>
            <a:ext cx="1066800" cy="76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191000" y="3657600"/>
            <a:ext cx="1219200" cy="76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51</a:t>
            </a:fld>
            <a:endParaRPr lang="en-US"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4290" name="Picture 2"/>
          <p:cNvPicPr>
            <a:picLocks noChangeAspect="1" noChangeArrowheads="1"/>
          </p:cNvPicPr>
          <p:nvPr/>
        </p:nvPicPr>
        <p:blipFill>
          <a:blip r:embed="rId2"/>
          <a:srcRect/>
          <a:stretch>
            <a:fillRect/>
          </a:stretch>
        </p:blipFill>
        <p:spPr bwMode="auto">
          <a:xfrm>
            <a:off x="0" y="914400"/>
            <a:ext cx="3888259" cy="2438400"/>
          </a:xfrm>
          <a:prstGeom prst="rect">
            <a:avLst/>
          </a:prstGeom>
          <a:noFill/>
          <a:ln w="9525">
            <a:noFill/>
            <a:miter lim="800000"/>
            <a:headEnd/>
            <a:tailEnd/>
          </a:ln>
          <a:effectLst/>
        </p:spPr>
      </p:pic>
      <p:pic>
        <p:nvPicPr>
          <p:cNvPr id="524291" name="Picture 3"/>
          <p:cNvPicPr>
            <a:picLocks noChangeAspect="1" noChangeArrowheads="1"/>
          </p:cNvPicPr>
          <p:nvPr/>
        </p:nvPicPr>
        <p:blipFill>
          <a:blip r:embed="rId3"/>
          <a:srcRect/>
          <a:stretch>
            <a:fillRect/>
          </a:stretch>
        </p:blipFill>
        <p:spPr bwMode="auto">
          <a:xfrm>
            <a:off x="2962275" y="2743200"/>
            <a:ext cx="6181725" cy="3937856"/>
          </a:xfrm>
          <a:prstGeom prst="rect">
            <a:avLst/>
          </a:prstGeom>
          <a:noFill/>
          <a:ln w="9525">
            <a:noFill/>
            <a:miter lim="800000"/>
            <a:headEnd/>
            <a:tailEnd/>
          </a:ln>
          <a:effectLst/>
        </p:spPr>
      </p:pic>
      <p:sp>
        <p:nvSpPr>
          <p:cNvPr id="4" name="Rectangle 2"/>
          <p:cNvSpPr>
            <a:spLocks noGrp="1" noChangeArrowheads="1"/>
          </p:cNvSpPr>
          <p:nvPr>
            <p:ph type="title"/>
          </p:nvPr>
        </p:nvSpPr>
        <p:spPr>
          <a:xfrm>
            <a:off x="152400" y="228600"/>
            <a:ext cx="9144000" cy="685800"/>
          </a:xfrm>
          <a:noFill/>
        </p:spPr>
        <p:txBody>
          <a:bodyPr lIns="92075" tIns="46038" rIns="92075" bIns="46038" anchor="ctr">
            <a:normAutofit fontScale="90000"/>
          </a:bodyPr>
          <a:lstStyle/>
          <a:p>
            <a:pPr eaLnBrk="1" hangingPunct="1"/>
            <a:r>
              <a:rPr lang="en-US" dirty="0"/>
              <a:t> Pruning  by </a:t>
            </a:r>
            <a:r>
              <a:rPr lang="en-US" i="1" dirty="0"/>
              <a:t>Eliminating Repetition</a:t>
            </a:r>
            <a:endParaRPr lang="en-US" sz="3200" i="1" dirty="0"/>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52</a:t>
            </a:fld>
            <a:endParaRPr lang="en-US"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AutoShape 3"/>
          <p:cNvSpPr>
            <a:spLocks noGrp="1" noChangeArrowheads="1"/>
          </p:cNvSpPr>
          <p:nvPr>
            <p:ph type="body" idx="1"/>
          </p:nvPr>
        </p:nvSpPr>
        <p:spPr>
          <a:xfrm>
            <a:off x="228600" y="1371600"/>
            <a:ext cx="8534400" cy="5105400"/>
          </a:xfrm>
          <a:prstGeom prst="flowChartProcess">
            <a:avLst/>
          </a:prstGeom>
          <a:noFill/>
        </p:spPr>
        <p:txBody>
          <a:bodyPr lIns="92075" tIns="46038" rIns="92075" bIns="46038"/>
          <a:lstStyle/>
          <a:p>
            <a:pPr eaLnBrk="1" hangingPunct="1">
              <a:lnSpc>
                <a:spcPct val="105000"/>
              </a:lnSpc>
              <a:spcBef>
                <a:spcPct val="25000"/>
              </a:spcBef>
            </a:pPr>
            <a:r>
              <a:rPr lang="en-US" sz="2400" dirty="0"/>
              <a:t>Allow for </a:t>
            </a:r>
            <a:r>
              <a:rPr lang="en-US" sz="2400" b="1" dirty="0"/>
              <a:t>continuous-valued attributes</a:t>
            </a:r>
          </a:p>
          <a:p>
            <a:pPr lvl="1" eaLnBrk="1" hangingPunct="1">
              <a:lnSpc>
                <a:spcPct val="105000"/>
              </a:lnSpc>
              <a:spcBef>
                <a:spcPct val="25000"/>
              </a:spcBef>
            </a:pPr>
            <a:r>
              <a:rPr lang="en-US" sz="2400" dirty="0"/>
              <a:t>Dynamically define new discrete-valued attributes that partition the continuous attribute value into a discrete set of intervals</a:t>
            </a:r>
          </a:p>
          <a:p>
            <a:pPr eaLnBrk="1" hangingPunct="1">
              <a:lnSpc>
                <a:spcPct val="105000"/>
              </a:lnSpc>
              <a:spcBef>
                <a:spcPct val="25000"/>
              </a:spcBef>
            </a:pPr>
            <a:r>
              <a:rPr lang="en-US" sz="2400" dirty="0"/>
              <a:t>Handle </a:t>
            </a:r>
            <a:r>
              <a:rPr lang="en-US" sz="2400" b="1" dirty="0"/>
              <a:t>missing attribute values</a:t>
            </a:r>
          </a:p>
          <a:p>
            <a:pPr lvl="1" eaLnBrk="1" hangingPunct="1">
              <a:lnSpc>
                <a:spcPct val="105000"/>
              </a:lnSpc>
              <a:spcBef>
                <a:spcPct val="25000"/>
              </a:spcBef>
            </a:pPr>
            <a:r>
              <a:rPr lang="en-US" sz="2400" dirty="0"/>
              <a:t>Assign the most common value of the attribute</a:t>
            </a:r>
          </a:p>
          <a:p>
            <a:pPr lvl="1" eaLnBrk="1" hangingPunct="1">
              <a:lnSpc>
                <a:spcPct val="105000"/>
              </a:lnSpc>
              <a:spcBef>
                <a:spcPct val="25000"/>
              </a:spcBef>
            </a:pPr>
            <a:r>
              <a:rPr lang="en-US" sz="2400" dirty="0"/>
              <a:t>Assign probability to each of the possible values</a:t>
            </a:r>
          </a:p>
          <a:p>
            <a:pPr eaLnBrk="1" hangingPunct="1">
              <a:lnSpc>
                <a:spcPct val="105000"/>
              </a:lnSpc>
              <a:spcBef>
                <a:spcPct val="25000"/>
              </a:spcBef>
            </a:pPr>
            <a:r>
              <a:rPr lang="en-US" sz="2400" b="1" dirty="0"/>
              <a:t>Attribute construction</a:t>
            </a:r>
          </a:p>
          <a:p>
            <a:pPr lvl="1" eaLnBrk="1" hangingPunct="1">
              <a:lnSpc>
                <a:spcPct val="105000"/>
              </a:lnSpc>
              <a:spcBef>
                <a:spcPct val="25000"/>
              </a:spcBef>
            </a:pPr>
            <a:r>
              <a:rPr lang="en-US" sz="2400" dirty="0"/>
              <a:t>Create new attributes based on existing ones that are sparsely represented</a:t>
            </a:r>
          </a:p>
          <a:p>
            <a:pPr lvl="1" eaLnBrk="1" hangingPunct="1">
              <a:lnSpc>
                <a:spcPct val="105000"/>
              </a:lnSpc>
              <a:spcBef>
                <a:spcPct val="25000"/>
              </a:spcBef>
            </a:pPr>
            <a:r>
              <a:rPr lang="en-US" sz="2400" dirty="0"/>
              <a:t>This reduces fragmentation, repetition, and replication</a:t>
            </a:r>
          </a:p>
        </p:txBody>
      </p:sp>
      <p:sp>
        <p:nvSpPr>
          <p:cNvPr id="24579" name="Rectangle 2"/>
          <p:cNvSpPr>
            <a:spLocks noGrp="1" noChangeArrowheads="1"/>
          </p:cNvSpPr>
          <p:nvPr>
            <p:ph type="title"/>
          </p:nvPr>
        </p:nvSpPr>
        <p:spPr>
          <a:xfrm>
            <a:off x="0" y="152400"/>
            <a:ext cx="9144000" cy="1062038"/>
          </a:xfrm>
          <a:noFill/>
        </p:spPr>
        <p:txBody>
          <a:bodyPr lIns="92075" tIns="46038" rIns="92075" bIns="46038" anchor="ctr">
            <a:noAutofit/>
          </a:bodyPr>
          <a:lstStyle/>
          <a:p>
            <a:pPr eaLnBrk="1" hangingPunct="1"/>
            <a:r>
              <a:rPr lang="en-US" sz="3400" dirty="0"/>
              <a:t>Enhancements to Basic Decision Tree Induction (Summary)</a:t>
            </a:r>
          </a:p>
        </p:txBody>
      </p:sp>
      <p:sp>
        <p:nvSpPr>
          <p:cNvPr id="24581" name="AutoShape 4"/>
          <p:cNvSpPr>
            <a:spLocks noChangeArrowheads="1"/>
          </p:cNvSpPr>
          <p:nvPr/>
        </p:nvSpPr>
        <p:spPr bwMode="auto">
          <a:xfrm>
            <a:off x="1905000" y="3352800"/>
            <a:ext cx="76200" cy="76200"/>
          </a:xfrm>
          <a:prstGeom prst="flowChartInternalStorage">
            <a:avLst/>
          </a:prstGeom>
          <a:noFill/>
          <a:ln w="9525">
            <a:noFill/>
            <a:miter lim="800000"/>
            <a:headEnd/>
            <a:tailEnd/>
          </a:ln>
        </p:spPr>
        <p:txBody>
          <a:bodyPr wrap="none" lIns="92075" tIns="46038" rIns="92075" bIns="46038" anchor="ctr"/>
          <a:lstStyle/>
          <a:p>
            <a:endParaRPr lang="en-US"/>
          </a:p>
        </p:txBody>
      </p:sp>
      <p:sp>
        <p:nvSpPr>
          <p:cNvPr id="24582" name="Line 5"/>
          <p:cNvSpPr>
            <a:spLocks noChangeShapeType="1"/>
          </p:cNvSpPr>
          <p:nvPr/>
        </p:nvSpPr>
        <p:spPr bwMode="auto">
          <a:xfrm>
            <a:off x="990600" y="3581400"/>
            <a:ext cx="7086600" cy="0"/>
          </a:xfrm>
          <a:prstGeom prst="line">
            <a:avLst/>
          </a:prstGeom>
          <a:noFill/>
          <a:ln w="9525">
            <a:noFill/>
            <a:round/>
            <a:headEnd/>
            <a:tailEnd/>
          </a:ln>
        </p:spPr>
        <p:txBody>
          <a:bodyPr wrap="none" lIns="92075" tIns="46038" rIns="92075" bIns="46038" anchor="ctr"/>
          <a:lstStyle/>
          <a:p>
            <a:endParaRPr lang="en-US"/>
          </a:p>
        </p:txBody>
      </p:sp>
      <p:sp>
        <p:nvSpPr>
          <p:cNvPr id="24583" name="Line 6"/>
          <p:cNvSpPr>
            <a:spLocks noChangeShapeType="1"/>
          </p:cNvSpPr>
          <p:nvPr/>
        </p:nvSpPr>
        <p:spPr bwMode="auto">
          <a:xfrm>
            <a:off x="990600" y="3505200"/>
            <a:ext cx="7162800" cy="0"/>
          </a:xfrm>
          <a:prstGeom prst="line">
            <a:avLst/>
          </a:prstGeom>
          <a:noFill/>
          <a:ln w="9525">
            <a:noFill/>
            <a:round/>
            <a:headEnd/>
            <a:tailEnd/>
          </a:ln>
        </p:spPr>
        <p:txBody>
          <a:bodyPr wrap="none" lIns="92075" tIns="46038" rIns="92075" bIns="46038" anchor="ctr"/>
          <a:lstStyle/>
          <a:p>
            <a:endParaRPr lang="en-US"/>
          </a:p>
        </p:txBody>
      </p:sp>
      <p:sp>
        <p:nvSpPr>
          <p:cNvPr id="9" name="Slide Number Placeholder 8"/>
          <p:cNvSpPr>
            <a:spLocks noGrp="1"/>
          </p:cNvSpPr>
          <p:nvPr>
            <p:ph type="sldNum" sz="quarter" idx="11"/>
          </p:nvPr>
        </p:nvSpPr>
        <p:spPr/>
        <p:txBody>
          <a:bodyPr/>
          <a:lstStyle/>
          <a:p>
            <a:pPr>
              <a:defRPr/>
            </a:pPr>
            <a:fld id="{4635AE12-246C-49B1-92D7-252397D611F1}" type="slidenum">
              <a:rPr lang="en-US" smtClean="0"/>
              <a:pPr>
                <a:defRPr/>
              </a:pPr>
              <a:t>53</a:t>
            </a:fld>
            <a:endParaRPr 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AutoShape 3"/>
          <p:cNvSpPr>
            <a:spLocks noGrp="1" noChangeArrowheads="1"/>
          </p:cNvSpPr>
          <p:nvPr>
            <p:ph type="body" idx="1"/>
          </p:nvPr>
        </p:nvSpPr>
        <p:spPr>
          <a:xfrm>
            <a:off x="228600" y="1371600"/>
            <a:ext cx="8534400" cy="5105400"/>
          </a:xfrm>
          <a:prstGeom prst="flowChartProcess">
            <a:avLst/>
          </a:prstGeom>
          <a:noFill/>
        </p:spPr>
        <p:txBody>
          <a:bodyPr lIns="92075" tIns="46038" rIns="92075" bIns="46038"/>
          <a:lstStyle/>
          <a:p>
            <a:r>
              <a:rPr lang="en-US" sz="2400" b="1" dirty="0"/>
              <a:t>Incremental induction </a:t>
            </a:r>
          </a:p>
          <a:p>
            <a:pPr lvl="1"/>
            <a:r>
              <a:rPr lang="en-US" sz="2400" dirty="0"/>
              <a:t>It is not good to generate the tree from scratch at every time that new instances arriving </a:t>
            </a:r>
          </a:p>
          <a:p>
            <a:pPr lvl="1"/>
            <a:r>
              <a:rPr lang="en-US" sz="2400" dirty="0"/>
              <a:t>Dynamically adjust the splits in the tree</a:t>
            </a:r>
          </a:p>
          <a:p>
            <a:pPr lvl="1" eaLnBrk="1" hangingPunct="1">
              <a:lnSpc>
                <a:spcPct val="105000"/>
              </a:lnSpc>
              <a:spcBef>
                <a:spcPct val="25000"/>
              </a:spcBef>
            </a:pPr>
            <a:endParaRPr lang="en-US" sz="2400" dirty="0"/>
          </a:p>
          <a:p>
            <a:r>
              <a:rPr lang="en-US" sz="2400" b="1" dirty="0"/>
              <a:t>Scalable decision tree algorithms </a:t>
            </a:r>
          </a:p>
          <a:p>
            <a:pPr lvl="1"/>
            <a:r>
              <a:rPr lang="en-US" sz="2400" dirty="0"/>
              <a:t>Most studies focus on improving the data structures </a:t>
            </a:r>
          </a:p>
          <a:p>
            <a:endParaRPr lang="en-US" sz="2400" dirty="0"/>
          </a:p>
          <a:p>
            <a:endParaRPr lang="en-US" sz="2400" dirty="0"/>
          </a:p>
        </p:txBody>
      </p:sp>
      <p:sp>
        <p:nvSpPr>
          <p:cNvPr id="24579" name="Rectangle 2"/>
          <p:cNvSpPr>
            <a:spLocks noGrp="1" noChangeArrowheads="1"/>
          </p:cNvSpPr>
          <p:nvPr>
            <p:ph type="title"/>
          </p:nvPr>
        </p:nvSpPr>
        <p:spPr>
          <a:xfrm>
            <a:off x="0" y="152400"/>
            <a:ext cx="9144000" cy="1062038"/>
          </a:xfrm>
          <a:noFill/>
        </p:spPr>
        <p:txBody>
          <a:bodyPr lIns="92075" tIns="46038" rIns="92075" bIns="46038" anchor="ctr">
            <a:noAutofit/>
          </a:bodyPr>
          <a:lstStyle/>
          <a:p>
            <a:pPr eaLnBrk="1" hangingPunct="1"/>
            <a:r>
              <a:rPr lang="en-US" sz="3400" dirty="0"/>
              <a:t>Enhancements to Basic Decision Tree Induction (Summary)</a:t>
            </a:r>
          </a:p>
        </p:txBody>
      </p:sp>
      <p:sp>
        <p:nvSpPr>
          <p:cNvPr id="24581" name="AutoShape 4"/>
          <p:cNvSpPr>
            <a:spLocks noChangeArrowheads="1"/>
          </p:cNvSpPr>
          <p:nvPr/>
        </p:nvSpPr>
        <p:spPr bwMode="auto">
          <a:xfrm>
            <a:off x="1905000" y="3352800"/>
            <a:ext cx="76200" cy="76200"/>
          </a:xfrm>
          <a:prstGeom prst="flowChartInternalStorage">
            <a:avLst/>
          </a:prstGeom>
          <a:noFill/>
          <a:ln w="9525">
            <a:noFill/>
            <a:miter lim="800000"/>
            <a:headEnd/>
            <a:tailEnd/>
          </a:ln>
        </p:spPr>
        <p:txBody>
          <a:bodyPr wrap="none" lIns="92075" tIns="46038" rIns="92075" bIns="46038" anchor="ctr"/>
          <a:lstStyle/>
          <a:p>
            <a:endParaRPr lang="en-US"/>
          </a:p>
        </p:txBody>
      </p:sp>
      <p:sp>
        <p:nvSpPr>
          <p:cNvPr id="24582" name="Line 5"/>
          <p:cNvSpPr>
            <a:spLocks noChangeShapeType="1"/>
          </p:cNvSpPr>
          <p:nvPr/>
        </p:nvSpPr>
        <p:spPr bwMode="auto">
          <a:xfrm>
            <a:off x="990600" y="3581400"/>
            <a:ext cx="7086600" cy="0"/>
          </a:xfrm>
          <a:prstGeom prst="line">
            <a:avLst/>
          </a:prstGeom>
          <a:noFill/>
          <a:ln w="9525">
            <a:noFill/>
            <a:round/>
            <a:headEnd/>
            <a:tailEnd/>
          </a:ln>
        </p:spPr>
        <p:txBody>
          <a:bodyPr wrap="none" lIns="92075" tIns="46038" rIns="92075" bIns="46038" anchor="ctr"/>
          <a:lstStyle/>
          <a:p>
            <a:endParaRPr lang="en-US"/>
          </a:p>
        </p:txBody>
      </p:sp>
      <p:sp>
        <p:nvSpPr>
          <p:cNvPr id="24583" name="Line 6"/>
          <p:cNvSpPr>
            <a:spLocks noChangeShapeType="1"/>
          </p:cNvSpPr>
          <p:nvPr/>
        </p:nvSpPr>
        <p:spPr bwMode="auto">
          <a:xfrm>
            <a:off x="990600" y="3505200"/>
            <a:ext cx="7162800" cy="0"/>
          </a:xfrm>
          <a:prstGeom prst="line">
            <a:avLst/>
          </a:prstGeom>
          <a:noFill/>
          <a:ln w="9525">
            <a:noFill/>
            <a:round/>
            <a:headEnd/>
            <a:tailEnd/>
          </a:ln>
        </p:spPr>
        <p:txBody>
          <a:bodyPr wrap="none" lIns="92075" tIns="46038" rIns="92075" bIns="46038" anchor="ctr"/>
          <a:lstStyle/>
          <a:p>
            <a:endParaRPr lang="en-US"/>
          </a:p>
        </p:txBody>
      </p:sp>
      <p:sp>
        <p:nvSpPr>
          <p:cNvPr id="9" name="Slide Number Placeholder 8"/>
          <p:cNvSpPr>
            <a:spLocks noGrp="1"/>
          </p:cNvSpPr>
          <p:nvPr>
            <p:ph type="sldNum" sz="quarter" idx="11"/>
          </p:nvPr>
        </p:nvSpPr>
        <p:spPr/>
        <p:txBody>
          <a:bodyPr/>
          <a:lstStyle/>
          <a:p>
            <a:pPr>
              <a:defRPr/>
            </a:pPr>
            <a:fld id="{4635AE12-246C-49B1-92D7-252397D611F1}" type="slidenum">
              <a:rPr lang="en-US" smtClean="0"/>
              <a:pPr>
                <a:defRPr/>
              </a:pPr>
              <a:t>54</a:t>
            </a:fld>
            <a:endParaRPr 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dirty="0"/>
              <a:t>Acknowledgement</a:t>
            </a:r>
          </a:p>
        </p:txBody>
      </p:sp>
      <p:sp>
        <p:nvSpPr>
          <p:cNvPr id="38915" name="Rectangle 3"/>
          <p:cNvSpPr>
            <a:spLocks noGrp="1" noChangeArrowheads="1"/>
          </p:cNvSpPr>
          <p:nvPr>
            <p:ph sz="quarter" idx="1"/>
          </p:nvPr>
        </p:nvSpPr>
        <p:spPr/>
        <p:txBody>
          <a:bodyPr/>
          <a:lstStyle/>
          <a:p>
            <a:pPr lvl="1" eaLnBrk="1" hangingPunct="1"/>
            <a:r>
              <a:rPr lang="en-US" sz="2600" dirty="0" err="1"/>
              <a:t>Jiawei</a:t>
            </a:r>
            <a:r>
              <a:rPr lang="en-US" sz="2600" dirty="0"/>
              <a:t> Han (UIUC)  (CS412)</a:t>
            </a:r>
          </a:p>
          <a:p>
            <a:pPr lvl="1" eaLnBrk="1" hangingPunct="1"/>
            <a:r>
              <a:rPr lang="en-US" dirty="0" err="1"/>
              <a:t>Vipin</a:t>
            </a:r>
            <a:r>
              <a:rPr lang="en-US" dirty="0"/>
              <a:t> Kumar et al., University of Minnesota at Twin Cities</a:t>
            </a:r>
          </a:p>
          <a:p>
            <a:pPr lvl="1" eaLnBrk="1" hangingPunct="1"/>
            <a:endParaRPr lang="en-US" dirty="0"/>
          </a:p>
          <a:p>
            <a:pPr lvl="1" eaLnBrk="1" hangingPunct="1">
              <a:buNone/>
            </a:pPr>
            <a:endParaRPr lang="en-US" sz="2600" dirty="0"/>
          </a:p>
          <a:p>
            <a:pPr lvl="1"/>
            <a:endParaRPr lang="en-US" dirty="0"/>
          </a:p>
          <a:p>
            <a:pPr lvl="1" eaLnBrk="1" hangingPunct="1"/>
            <a:endParaRPr lang="en-US" sz="2600" dirty="0"/>
          </a:p>
          <a:p>
            <a:pPr lvl="1" eaLnBrk="1" hangingPunct="1"/>
            <a:endParaRPr lang="en-US" dirty="0"/>
          </a:p>
        </p:txBody>
      </p:sp>
      <p:sp>
        <p:nvSpPr>
          <p:cNvPr id="2" name="Slide Number Placeholder 1"/>
          <p:cNvSpPr>
            <a:spLocks noGrp="1"/>
          </p:cNvSpPr>
          <p:nvPr>
            <p:ph type="sldNum" sz="quarter" idx="12"/>
          </p:nvPr>
        </p:nvSpPr>
        <p:spPr/>
        <p:txBody>
          <a:bodyPr/>
          <a:lstStyle/>
          <a:p>
            <a:pPr>
              <a:defRPr/>
            </a:pPr>
            <a:fld id="{D3D212DC-59E6-444E-AD7D-AB217D4E4668}" type="slidenum">
              <a:rPr lang="en-US" altLang="en-US" smtClean="0"/>
              <a:pPr>
                <a:defRPr/>
              </a:pPr>
              <a:t>55</a:t>
            </a:fld>
            <a:endParaRPr lang="en-US" altLang="en-US"/>
          </a:p>
        </p:txBody>
      </p:sp>
    </p:spTree>
  </p:cSld>
  <p:clrMapOvr>
    <a:masterClrMapping/>
  </p:clrMapOvr>
  <p:transition/>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3147</TotalTime>
  <Words>5608</Words>
  <Application>Microsoft Office PowerPoint</Application>
  <PresentationFormat>On-screen Show (4:3)</PresentationFormat>
  <Paragraphs>1060</Paragraphs>
  <Slides>55</Slides>
  <Notes>38</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4</vt:i4>
      </vt:variant>
      <vt:variant>
        <vt:lpstr>Slide Titles</vt:lpstr>
      </vt:variant>
      <vt:variant>
        <vt:i4>55</vt:i4>
      </vt:variant>
    </vt:vector>
  </HeadingPairs>
  <TitlesOfParts>
    <vt:vector size="71" baseType="lpstr">
      <vt:lpstr>ＭＳ Ｐゴシック</vt:lpstr>
      <vt:lpstr>Arial</vt:lpstr>
      <vt:lpstr>Calibri</vt:lpstr>
      <vt:lpstr>Cambria Math</vt:lpstr>
      <vt:lpstr>Marlett</vt:lpstr>
      <vt:lpstr>Monotype Sorts</vt:lpstr>
      <vt:lpstr>Symbol</vt:lpstr>
      <vt:lpstr>Tahoma</vt:lpstr>
      <vt:lpstr>Times New Roman</vt:lpstr>
      <vt:lpstr>Wingdings</vt:lpstr>
      <vt:lpstr>Wingdings 2</vt:lpstr>
      <vt:lpstr>Network</vt:lpstr>
      <vt:lpstr>Equation</vt:lpstr>
      <vt:lpstr>Worksheet</vt:lpstr>
      <vt:lpstr>Visio</vt:lpstr>
      <vt:lpstr>Document</vt:lpstr>
      <vt:lpstr>Data Mining (CSE 6506)  </vt:lpstr>
      <vt:lpstr>Supervised vs. Unsupervised Learning (1)</vt:lpstr>
      <vt:lpstr>Supervised vs. Unsupervised Learning (2)</vt:lpstr>
      <vt:lpstr>Prediction Problems: Classification vs. Numeric Prediction</vt:lpstr>
      <vt:lpstr>Classification—Model Construction, Validation and Testing</vt:lpstr>
      <vt:lpstr>Classification—Model Construction, Validation and Testing</vt:lpstr>
      <vt:lpstr>PowerPoint Presentation</vt:lpstr>
      <vt:lpstr>Step 2- Using the Model in Prediction </vt:lpstr>
      <vt:lpstr>Classification Techniques</vt:lpstr>
      <vt:lpstr>Decision Tree Induction</vt:lpstr>
      <vt:lpstr>Decision Tree Induction: Algorithm</vt:lpstr>
      <vt:lpstr>Decision Tree Induction: Algorithm</vt:lpstr>
      <vt:lpstr>Decision Tree Based Classification</vt:lpstr>
      <vt:lpstr>Pro’s and Con’s in Details</vt:lpstr>
      <vt:lpstr>Con’s</vt:lpstr>
      <vt:lpstr>Splitting Measures: Information Gain</vt:lpstr>
      <vt:lpstr>Example: Attribute Selection with Information Gain</vt:lpstr>
      <vt:lpstr>Design Issues of Decision Tree Induction</vt:lpstr>
      <vt:lpstr>Methods for Expressing Test Conditions</vt:lpstr>
      <vt:lpstr>Three Possible Partition Scenarios</vt:lpstr>
      <vt:lpstr>How to Handle Continuous-Valued Attributes?</vt:lpstr>
      <vt:lpstr>How to Handle Continuous-Valued Attributes?</vt:lpstr>
      <vt:lpstr>Test Condition for Nominal Attributes</vt:lpstr>
      <vt:lpstr>Test Condition for Ordinal Attributes</vt:lpstr>
      <vt:lpstr>Test Condition for Continuous Attributes</vt:lpstr>
      <vt:lpstr>PowerPoint Presentation</vt:lpstr>
      <vt:lpstr>Attribute Selection Measures</vt:lpstr>
      <vt:lpstr>Attribute Selection: Information Gain</vt:lpstr>
      <vt:lpstr>Attribute Selection: Information Gain</vt:lpstr>
      <vt:lpstr>Attribute Selection : Information Gain</vt:lpstr>
      <vt:lpstr>PowerPoint Presentation</vt:lpstr>
      <vt:lpstr>PowerPoint Presentation</vt:lpstr>
      <vt:lpstr>PowerPoint Presentation</vt:lpstr>
      <vt:lpstr>PowerPoint Presentation</vt:lpstr>
      <vt:lpstr>PowerPoint Presentation</vt:lpstr>
      <vt:lpstr>PowerPoint Presentation</vt:lpstr>
      <vt:lpstr>Gini Index</vt:lpstr>
      <vt:lpstr>Splitting Criteria based on Misclassification Error</vt:lpstr>
      <vt:lpstr>Examples for Misclassification Error</vt:lpstr>
      <vt:lpstr>Classification Error vs. Gini Index</vt:lpstr>
      <vt:lpstr>Comparison - Three Splitting Criteria</vt:lpstr>
      <vt:lpstr>Tree Induction</vt:lpstr>
      <vt:lpstr>Stopping Criteria for Tree Induction</vt:lpstr>
      <vt:lpstr>Practical Issues of Classification</vt:lpstr>
      <vt:lpstr>Underfitting and Overfitting (Example)</vt:lpstr>
      <vt:lpstr>Overfitting Example</vt:lpstr>
      <vt:lpstr>Underfitting and Overfitting</vt:lpstr>
      <vt:lpstr>Overfitting due to Noise </vt:lpstr>
      <vt:lpstr>Overfitting due to Insufficient Examples</vt:lpstr>
      <vt:lpstr>Overfitting and Tree Pruning</vt:lpstr>
      <vt:lpstr> Pruning  with Majority Class</vt:lpstr>
      <vt:lpstr> Pruning  by Eliminating Repetition</vt:lpstr>
      <vt:lpstr>Enhancements to Basic Decision Tree Induction (Summary)</vt:lpstr>
      <vt:lpstr>Enhancements to Basic Decision Tree Induction (Summary)</vt:lpstr>
      <vt:lpstr>Acknowledgement</vt:lpstr>
    </vt:vector>
  </TitlesOfParts>
  <Company>Orion Research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COVERAGE IN HETEROGENEOUS SENSOR NETWORK</dc:title>
  <dc:creator>Orion</dc:creator>
  <cp:lastModifiedBy>Md Manirujjaman</cp:lastModifiedBy>
  <cp:revision>177</cp:revision>
  <dcterms:created xsi:type="dcterms:W3CDTF">2006-11-09T03:30:31Z</dcterms:created>
  <dcterms:modified xsi:type="dcterms:W3CDTF">2026-03-25T05:00:50Z</dcterms:modified>
</cp:coreProperties>
</file>