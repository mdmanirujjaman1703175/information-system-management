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67"/>
  </p:notesMasterIdLst>
  <p:handoutMasterIdLst>
    <p:handoutMasterId r:id="rId68"/>
  </p:handoutMasterIdLst>
  <p:sldIdLst>
    <p:sldId id="429" r:id="rId2"/>
    <p:sldId id="466" r:id="rId3"/>
    <p:sldId id="467" r:id="rId4"/>
    <p:sldId id="468" r:id="rId5"/>
    <p:sldId id="478" r:id="rId6"/>
    <p:sldId id="469" r:id="rId7"/>
    <p:sldId id="470" r:id="rId8"/>
    <p:sldId id="471" r:id="rId9"/>
    <p:sldId id="472" r:id="rId10"/>
    <p:sldId id="473" r:id="rId11"/>
    <p:sldId id="474" r:id="rId12"/>
    <p:sldId id="475" r:id="rId13"/>
    <p:sldId id="476" r:id="rId14"/>
    <p:sldId id="477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426" r:id="rId35"/>
    <p:sldId id="427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460" r:id="rId57"/>
    <p:sldId id="461" r:id="rId58"/>
    <p:sldId id="444" r:id="rId59"/>
    <p:sldId id="445" r:id="rId60"/>
    <p:sldId id="446" r:id="rId61"/>
    <p:sldId id="447" r:id="rId62"/>
    <p:sldId id="449" r:id="rId63"/>
    <p:sldId id="463" r:id="rId64"/>
    <p:sldId id="464" r:id="rId65"/>
    <p:sldId id="465" r:id="rId6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0131" autoAdjust="0"/>
  </p:normalViewPr>
  <p:slideViewPr>
    <p:cSldViewPr>
      <p:cViewPr varScale="1">
        <p:scale>
          <a:sx n="49" d="100"/>
          <a:sy n="49" d="100"/>
        </p:scale>
        <p:origin x="24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F9EFEA9-66BC-4174-926C-F8093975A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BD0B02A-F0B0-4301-8903-DF68581631A0}" type="datetimeFigureOut">
              <a:rPr lang="en-US"/>
              <a:pPr>
                <a:defRPr/>
              </a:pPr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6A44F01-B7E3-454B-9683-8F374F9D0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cs typeface="Calibri"/>
              </a:rPr>
              <a:t>https://culinspiration.files.wordpress.com/2010/03/img_3955.jpg</a:t>
            </a:r>
          </a:p>
          <a:p>
            <a:r>
              <a:rPr lang="en-US" altLang="en-US" dirty="0">
                <a:cs typeface="Calibri"/>
              </a:rPr>
              <a:t>http://slideplayer.com/slide/6292417/21/images/65/The+Stages+of+the+Flu.jpg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1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discovery is the process of finding useful patterns or relationships from large data sets.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07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616907-D452-43A8-930C-0C3B71EB61A1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It helps in:</a:t>
            </a:r>
          </a:p>
          <a:p>
            <a:r>
              <a:rPr lang="en-US" b="1" dirty="0"/>
              <a:t>Association, correlation, and causality analysis</a:t>
            </a:r>
            <a:r>
              <a:rPr lang="en-US" dirty="0"/>
              <a:t> → finding relationships between data (e.g., items bought together or cause-effect).</a:t>
            </a:r>
          </a:p>
          <a:p>
            <a:r>
              <a:rPr lang="en-US" b="1" dirty="0"/>
              <a:t>Sequential and structural patterns</a:t>
            </a:r>
            <a:r>
              <a:rPr lang="en-US" dirty="0"/>
              <a:t> → finding patterns in order (like purchase sequence) or in structures (like graphs).</a:t>
            </a:r>
          </a:p>
          <a:p>
            <a:r>
              <a:rPr lang="en-US" b="1" dirty="0"/>
              <a:t>Classification</a:t>
            </a:r>
            <a:r>
              <a:rPr lang="en-US" dirty="0"/>
              <a:t> → using patterns to assign data into categories.</a:t>
            </a:r>
          </a:p>
          <a:p>
            <a:r>
              <a:rPr lang="en-US" b="1" dirty="0"/>
              <a:t>Clustering</a:t>
            </a:r>
            <a:r>
              <a:rPr lang="en-US" dirty="0"/>
              <a:t> → grouping similar data based on patterns.</a:t>
            </a:r>
          </a:p>
          <a:p>
            <a:r>
              <a:rPr lang="en-US" dirty="0"/>
              <a:t>Pattern discovery also has </a:t>
            </a:r>
            <a:r>
              <a:rPr lang="en-US" b="1" dirty="0"/>
              <a:t>many real-world applications</a:t>
            </a:r>
            <a:r>
              <a:rPr lang="en-US" dirty="0"/>
              <a:t>, such as:</a:t>
            </a:r>
          </a:p>
          <a:p>
            <a:r>
              <a:rPr lang="en-US" dirty="0"/>
              <a:t>Market basket analysis (shopping patterns)</a:t>
            </a:r>
          </a:p>
          <a:p>
            <a:r>
              <a:rPr lang="en-US" dirty="0"/>
              <a:t>Cross-marketing (selling related products)</a:t>
            </a:r>
          </a:p>
          <a:p>
            <a:r>
              <a:rPr lang="en-US" dirty="0"/>
              <a:t>Catalog design and sales analysis</a:t>
            </a:r>
          </a:p>
          <a:p>
            <a:r>
              <a:rPr lang="en-US" dirty="0"/>
              <a:t>Web usage analysis (user behavior online)</a:t>
            </a:r>
          </a:p>
          <a:p>
            <a:r>
              <a:rPr lang="en-US" dirty="0"/>
              <a:t>Biological data analysis (DNA, sequences)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07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50CA35-550B-4B41-9998-A6457F4EADB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Frequent Pattern Analysis? (Simple Explanation)</a:t>
            </a:r>
          </a:p>
          <a:p>
            <a:r>
              <a:rPr lang="en-US" b="1" dirty="0"/>
              <a:t>Frequent pattern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frequent pattern is a group of items or sequences that appear </a:t>
            </a:r>
            <a:r>
              <a:rPr lang="en-US" b="1" dirty="0"/>
              <a:t>again and again</a:t>
            </a:r>
            <a:r>
              <a:rPr lang="en-US" dirty="0"/>
              <a:t> in a dataset.</a:t>
            </a:r>
            <a:br>
              <a:rPr lang="en-US" dirty="0"/>
            </a:br>
            <a:r>
              <a:rPr lang="en-US" dirty="0"/>
              <a:t>👉 Example: If many people buy </a:t>
            </a:r>
            <a:r>
              <a:rPr lang="en-US" i="1" dirty="0"/>
              <a:t>bread and butter together</a:t>
            </a:r>
            <a:r>
              <a:rPr lang="en-US" dirty="0"/>
              <a:t>, that is a frequent pattern.</a:t>
            </a:r>
          </a:p>
          <a:p>
            <a:r>
              <a:rPr lang="en-US" b="1" dirty="0"/>
              <a:t>History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This idea was first introduced by </a:t>
            </a:r>
            <a:r>
              <a:rPr lang="en-US" b="1" dirty="0"/>
              <a:t>Agrawal, </a:t>
            </a:r>
            <a:r>
              <a:rPr lang="en-US" b="1" dirty="0" err="1"/>
              <a:t>Imielinski</a:t>
            </a:r>
            <a:r>
              <a:rPr lang="en-US" b="1" dirty="0"/>
              <a:t>, and Swami (1993)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mainly used in:</a:t>
            </a:r>
          </a:p>
          <a:p>
            <a:pPr lvl="1"/>
            <a:r>
              <a:rPr lang="en-US" b="1" dirty="0"/>
              <a:t>Frequent itemset mining</a:t>
            </a:r>
            <a:r>
              <a:rPr lang="en-US" dirty="0"/>
              <a:t> (finding common item groups)</a:t>
            </a:r>
          </a:p>
          <a:p>
            <a:pPr lvl="1"/>
            <a:r>
              <a:rPr lang="en-US" b="1" dirty="0"/>
              <a:t>Association rule mining</a:t>
            </a:r>
            <a:r>
              <a:rPr lang="en-US" dirty="0"/>
              <a:t> (finding relationships between items)</a:t>
            </a:r>
          </a:p>
          <a:p>
            <a:r>
              <a:rPr lang="en-US" b="1" dirty="0"/>
              <a:t>Main goal (Motivation)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To discover </a:t>
            </a:r>
            <a:r>
              <a:rPr lang="en-US" b="1" dirty="0"/>
              <a:t>hidden patterns or regular behavior</a:t>
            </a:r>
            <a:r>
              <a:rPr lang="en-US" dirty="0"/>
              <a:t> in data.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Which products are often bought together? → </a:t>
            </a:r>
            <a:r>
              <a:rPr lang="en-US" i="1" dirty="0"/>
              <a:t>Bread &amp; butter</a:t>
            </a:r>
            <a:endParaRPr lang="en-US" dirty="0"/>
          </a:p>
          <a:p>
            <a:pPr lvl="1"/>
            <a:r>
              <a:rPr lang="en-US" dirty="0"/>
              <a:t>What do people buy after purchasing a PC?</a:t>
            </a:r>
          </a:p>
          <a:p>
            <a:pPr lvl="1"/>
            <a:r>
              <a:rPr lang="en-US" dirty="0"/>
              <a:t>Which DNA types react to a certain drug?</a:t>
            </a:r>
          </a:p>
          <a:p>
            <a:r>
              <a:rPr lang="en-US" b="1" dirty="0"/>
              <a:t>Applications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Used in many real-world areas:</a:t>
            </a:r>
          </a:p>
          <a:p>
            <a:pPr lvl="1"/>
            <a:r>
              <a:rPr lang="en-US" dirty="0"/>
              <a:t>Market basket analysis (shopping patterns)</a:t>
            </a:r>
          </a:p>
          <a:p>
            <a:pPr lvl="1"/>
            <a:r>
              <a:rPr lang="en-US" dirty="0"/>
              <a:t>Cross-marketing (selling related products)</a:t>
            </a:r>
          </a:p>
          <a:p>
            <a:pPr lvl="1"/>
            <a:r>
              <a:rPr lang="en-US" dirty="0"/>
              <a:t>Catalog design and sales analysis</a:t>
            </a:r>
          </a:p>
          <a:p>
            <a:pPr lvl="1"/>
            <a:r>
              <a:rPr lang="en-US" dirty="0"/>
              <a:t>Website click analysis</a:t>
            </a:r>
          </a:p>
          <a:p>
            <a:pPr lvl="1"/>
            <a:r>
              <a:rPr lang="en-US" dirty="0"/>
              <a:t>DNA sequence analysis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3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Itemset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An itemset is a </a:t>
            </a:r>
            <a:r>
              <a:rPr lang="en-US" b="1" dirty="0"/>
              <a:t>group of one or more items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Example: {Beer, Nuts}</a:t>
            </a:r>
          </a:p>
          <a:p>
            <a:r>
              <a:rPr lang="en-US" b="1" dirty="0"/>
              <a:t>k-itemset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k-itemset contains exactly </a:t>
            </a:r>
            <a:r>
              <a:rPr lang="en-US" b="1" dirty="0"/>
              <a:t>k items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Example: {Beer, Nuts, Diaper} is a </a:t>
            </a:r>
            <a:r>
              <a:rPr lang="en-US" b="1" dirty="0"/>
              <a:t>3-itemset</a:t>
            </a:r>
            <a:r>
              <a:rPr lang="en-US" dirty="0"/>
              <a:t>.</a:t>
            </a:r>
          </a:p>
          <a:p>
            <a:r>
              <a:rPr lang="en-US" b="1" dirty="0"/>
              <a:t>Absolute support (count)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It shows </a:t>
            </a:r>
            <a:r>
              <a:rPr lang="en-US" b="1" dirty="0"/>
              <a:t>how many times an itemset appears</a:t>
            </a:r>
            <a:r>
              <a:rPr lang="en-US" dirty="0"/>
              <a:t> in the dataset.</a:t>
            </a:r>
            <a:br>
              <a:rPr lang="en-US" dirty="0"/>
            </a:br>
            <a:r>
              <a:rPr lang="en-US" dirty="0"/>
              <a:t>Examples from the table:</a:t>
            </a:r>
          </a:p>
          <a:p>
            <a:r>
              <a:rPr lang="en-US" dirty="0"/>
              <a:t>sup{Beer} = 3 → Beer appears in 3 transactions</a:t>
            </a:r>
          </a:p>
          <a:p>
            <a:r>
              <a:rPr lang="en-US" dirty="0"/>
              <a:t>sup{Diaper} = 4</a:t>
            </a:r>
          </a:p>
          <a:p>
            <a:r>
              <a:rPr lang="en-US" dirty="0"/>
              <a:t>sup{Beer, Diaper} = 3</a:t>
            </a:r>
          </a:p>
          <a:p>
            <a:r>
              <a:rPr lang="en-US" dirty="0"/>
              <a:t>sup{Beer, Eggs} = 1</a:t>
            </a:r>
          </a:p>
          <a:p>
            <a:r>
              <a:rPr lang="en-US" b="1" dirty="0"/>
              <a:t>Relative support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It shows the </a:t>
            </a:r>
            <a:r>
              <a:rPr lang="en-US" b="1" dirty="0"/>
              <a:t>percentage (or probability)</a:t>
            </a:r>
            <a:r>
              <a:rPr lang="en-US" dirty="0"/>
              <a:t> of transactions that contain the itemset.</a:t>
            </a:r>
          </a:p>
          <a:p>
            <a:r>
              <a:rPr lang="en-US" dirty="0"/>
              <a:t>Formula idea:</a:t>
            </a:r>
            <a:br>
              <a:rPr lang="en-US" dirty="0"/>
            </a:br>
            <a:r>
              <a:rPr lang="en-US" dirty="0"/>
              <a:t>Relative support = (occurrences of X) / (total transactions)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s{Beer} = 3/5 = 60% </a:t>
            </a:r>
          </a:p>
          <a:p>
            <a:pPr lvl="1"/>
            <a:r>
              <a:rPr lang="en-US" dirty="0"/>
              <a:t>s{Diaper} = 4/5 = 80% </a:t>
            </a:r>
          </a:p>
          <a:p>
            <a:pPr lvl="1"/>
            <a:r>
              <a:rPr lang="en-US" dirty="0"/>
              <a:t>s{Beer, Eggs} = 1/5 = 20% </a:t>
            </a:r>
          </a:p>
          <a:p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8189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Frequent itemset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An itemset X is called </a:t>
            </a:r>
            <a:r>
              <a:rPr lang="en-US" b="1" dirty="0"/>
              <a:t>frequent</a:t>
            </a:r>
            <a:r>
              <a:rPr lang="en-US" dirty="0"/>
              <a:t> if its support is </a:t>
            </a:r>
            <a:r>
              <a:rPr lang="en-US" b="1" dirty="0"/>
              <a:t>greater than or equal to a minimum support (</a:t>
            </a:r>
            <a:r>
              <a:rPr lang="en-US" b="1" dirty="0" err="1"/>
              <a:t>minsup</a:t>
            </a:r>
            <a:r>
              <a:rPr lang="en-US" b="1" dirty="0"/>
              <a:t>)</a:t>
            </a:r>
            <a:r>
              <a:rPr lang="en-US" dirty="0"/>
              <a:t> value. </a:t>
            </a:r>
            <a:r>
              <a:rPr lang="en-US" b="1" dirty="0"/>
              <a:t>Given condition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minsup</a:t>
            </a:r>
            <a:r>
              <a:rPr lang="en-US" dirty="0"/>
              <a:t> (σ) = 50% for 5 transactions</a:t>
            </a:r>
            <a:br>
              <a:rPr lang="en-US" dirty="0"/>
            </a:br>
            <a:r>
              <a:rPr lang="en-US" dirty="0"/>
              <a:t>→ An itemset must appear in </a:t>
            </a:r>
            <a:r>
              <a:rPr lang="en-US" b="1" dirty="0"/>
              <a:t>at least 3 transactions</a:t>
            </a:r>
            <a:r>
              <a:rPr lang="en-US" dirty="0"/>
              <a:t> to be frequent.</a:t>
            </a:r>
          </a:p>
          <a:p>
            <a:r>
              <a:rPr lang="en-US" b="1" dirty="0"/>
              <a:t>Frequent 1-itemsets:</a:t>
            </a:r>
          </a:p>
          <a:p>
            <a:r>
              <a:rPr lang="en-US" dirty="0"/>
              <a:t>Items that appear in ≥ 3 transactions:</a:t>
            </a:r>
          </a:p>
          <a:p>
            <a:r>
              <a:rPr lang="en-US" dirty="0"/>
              <a:t>Beer: 3/5 = 60% </a:t>
            </a:r>
          </a:p>
          <a:p>
            <a:r>
              <a:rPr lang="en-US" dirty="0"/>
              <a:t>Nuts: 3/5 = 60% </a:t>
            </a:r>
          </a:p>
          <a:p>
            <a:r>
              <a:rPr lang="en-US" dirty="0"/>
              <a:t>Diaper: 4/5 = 80% </a:t>
            </a:r>
          </a:p>
          <a:p>
            <a:r>
              <a:rPr lang="en-US" dirty="0"/>
              <a:t>Eggs: 3/5 = 60% </a:t>
            </a:r>
          </a:p>
          <a:p>
            <a:r>
              <a:rPr lang="en-US" dirty="0"/>
              <a:t>(All are frequent because they meet the 50% threshold)</a:t>
            </a:r>
          </a:p>
          <a:p>
            <a:r>
              <a:rPr lang="en-US" b="1" dirty="0"/>
              <a:t>Frequent 2-itemsets:</a:t>
            </a:r>
          </a:p>
          <a:p>
            <a:r>
              <a:rPr lang="en-US" dirty="0"/>
              <a:t>{Beer, Diaper}: 3/5 = 60%</a:t>
            </a:r>
            <a:br>
              <a:rPr lang="en-US" dirty="0"/>
            </a:br>
            <a:r>
              <a:rPr lang="en-US" dirty="0"/>
              <a:t>(This is the only pair that appears enough times)</a:t>
            </a:r>
          </a:p>
          <a:p>
            <a:r>
              <a:rPr lang="en-US" b="1" dirty="0"/>
              <a:t>Frequent 3-itemsets:</a:t>
            </a:r>
          </a:p>
          <a:p>
            <a:r>
              <a:rPr lang="en-US" dirty="0"/>
              <a:t>None</a:t>
            </a:r>
            <a:br>
              <a:rPr lang="en-US" dirty="0"/>
            </a:br>
            <a:r>
              <a:rPr lang="en-US" dirty="0"/>
              <a:t>(No group of 3 items appears in at least 3 transactions)</a:t>
            </a:r>
          </a:p>
          <a:p>
            <a:r>
              <a:rPr lang="en-US" b="1" dirty="0"/>
              <a:t>Key Idea:</a:t>
            </a:r>
          </a:p>
          <a:p>
            <a:r>
              <a:rPr lang="en-US" dirty="0"/>
              <a:t>We use </a:t>
            </a:r>
            <a:r>
              <a:rPr lang="en-US" b="1" dirty="0" err="1"/>
              <a:t>minsup</a:t>
            </a:r>
            <a:r>
              <a:rPr lang="en-US" dirty="0"/>
              <a:t> to filter important patterns. </a:t>
            </a:r>
          </a:p>
          <a:p>
            <a:r>
              <a:rPr lang="en-US" dirty="0"/>
              <a:t>Only </a:t>
            </a:r>
            <a:r>
              <a:rPr lang="en-US" dirty="0" err="1"/>
              <a:t>itemsets</a:t>
            </a:r>
            <a:r>
              <a:rPr lang="en-US" dirty="0"/>
              <a:t> with </a:t>
            </a:r>
            <a:r>
              <a:rPr lang="en-US" b="1" dirty="0"/>
              <a:t>high enough support</a:t>
            </a:r>
            <a:r>
              <a:rPr lang="en-US" dirty="0"/>
              <a:t> are considered useful.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381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From Frequent </a:t>
            </a:r>
            <a:r>
              <a:rPr lang="en-US" b="1" dirty="0" err="1"/>
              <a:t>Itemsets</a:t>
            </a:r>
            <a:r>
              <a:rPr lang="en-US" b="1" dirty="0"/>
              <a:t> to Association Rules</a:t>
            </a:r>
          </a:p>
          <a:p>
            <a:r>
              <a:rPr lang="en-US" b="1" dirty="0"/>
              <a:t>Idea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Frequent </a:t>
            </a:r>
            <a:r>
              <a:rPr lang="en-US" dirty="0" err="1"/>
              <a:t>itemsets</a:t>
            </a:r>
            <a:r>
              <a:rPr lang="en-US" dirty="0"/>
              <a:t> only show </a:t>
            </a:r>
            <a:r>
              <a:rPr lang="en-US" b="1" dirty="0"/>
              <a:t>which items appear together</a:t>
            </a:r>
            <a:r>
              <a:rPr lang="en-US" dirty="0"/>
              <a:t>, but </a:t>
            </a:r>
            <a:r>
              <a:rPr lang="en-US" b="1" dirty="0"/>
              <a:t>association rules</a:t>
            </a:r>
            <a:r>
              <a:rPr lang="en-US" dirty="0"/>
              <a:t> show a </a:t>
            </a:r>
            <a:r>
              <a:rPr lang="en-US" b="1" dirty="0"/>
              <a:t>relationship or implication</a:t>
            </a:r>
            <a:r>
              <a:rPr lang="en-US" dirty="0"/>
              <a:t> between items. </a:t>
            </a:r>
          </a:p>
          <a:p>
            <a:r>
              <a:rPr lang="en-US" b="1" dirty="0"/>
              <a:t>Example rule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Diaper → Beer</a:t>
            </a:r>
            <a:br>
              <a:rPr lang="en-US" dirty="0"/>
            </a:br>
            <a:r>
              <a:rPr lang="en-US" dirty="0"/>
              <a:t>Meaning: If a person buys </a:t>
            </a:r>
            <a:r>
              <a:rPr lang="en-US" b="1" dirty="0"/>
              <a:t>diapers</a:t>
            </a:r>
            <a:r>
              <a:rPr lang="en-US" dirty="0"/>
              <a:t>, they are </a:t>
            </a:r>
            <a:r>
              <a:rPr lang="en-US" b="1" dirty="0"/>
              <a:t>likely to also buy beer</a:t>
            </a:r>
            <a:r>
              <a:rPr lang="en-US" dirty="0"/>
              <a:t>.</a:t>
            </a:r>
          </a:p>
          <a:p>
            <a:r>
              <a:rPr lang="en-US" b="1" dirty="0"/>
              <a:t>Why association rules are better:</a:t>
            </a:r>
          </a:p>
          <a:p>
            <a:r>
              <a:rPr lang="en-US" dirty="0" err="1"/>
              <a:t>Itemsets</a:t>
            </a:r>
            <a:r>
              <a:rPr lang="en-US" dirty="0"/>
              <a:t>: just show co-occurrence (e.g., Beer and Diaper appear together) </a:t>
            </a:r>
          </a:p>
          <a:p>
            <a:r>
              <a:rPr lang="en-US" dirty="0"/>
              <a:t>Rules: show </a:t>
            </a:r>
            <a:r>
              <a:rPr lang="en-US" b="1" dirty="0"/>
              <a:t>direction and meaning</a:t>
            </a:r>
            <a:r>
              <a:rPr lang="en-US" dirty="0"/>
              <a:t> (Diaper leads to Beer)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1544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Association Rules</a:t>
            </a:r>
          </a:p>
          <a:p>
            <a:r>
              <a:rPr lang="en-US" b="1" dirty="0"/>
              <a:t>Goal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To measure how </a:t>
            </a:r>
            <a:r>
              <a:rPr lang="en-US" b="1" dirty="0"/>
              <a:t>strong</a:t>
            </a:r>
            <a:r>
              <a:rPr lang="en-US" dirty="0"/>
              <a:t> a rule like </a:t>
            </a:r>
            <a:r>
              <a:rPr lang="en-US" b="1" dirty="0"/>
              <a:t>X → Y</a:t>
            </a:r>
            <a:r>
              <a:rPr lang="en-US" dirty="0"/>
              <a:t> is (both X and Y are </a:t>
            </a:r>
            <a:r>
              <a:rPr lang="en-US" dirty="0" err="1"/>
              <a:t>itemsets</a:t>
            </a:r>
            <a:r>
              <a:rPr lang="en-US" dirty="0"/>
              <a:t>). </a:t>
            </a:r>
          </a:p>
          <a:p>
            <a:r>
              <a:rPr lang="en-US" dirty="0"/>
              <a:t>To do this, we use </a:t>
            </a:r>
            <a:r>
              <a:rPr lang="en-US" b="1" dirty="0"/>
              <a:t>two important metrics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Support</a:t>
            </a:r>
            <a:r>
              <a:rPr lang="en-US" dirty="0"/>
              <a:t> and </a:t>
            </a:r>
            <a:r>
              <a:rPr lang="en-US" b="1" dirty="0"/>
              <a:t>Confidence</a:t>
            </a:r>
            <a:endParaRPr lang="en-US" dirty="0"/>
          </a:p>
          <a:p>
            <a:r>
              <a:rPr lang="en-US" b="1" dirty="0"/>
              <a:t>1. Support of (X ∪ Y)</a:t>
            </a:r>
          </a:p>
          <a:p>
            <a:r>
              <a:rPr lang="en-US" dirty="0"/>
              <a:t>It shows how often </a:t>
            </a:r>
            <a:r>
              <a:rPr lang="en-US" b="1" dirty="0"/>
              <a:t>X and Y appear together</a:t>
            </a:r>
            <a:r>
              <a:rPr lang="en-US" dirty="0"/>
              <a:t> in the dataset. 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s{Diaper, Beer} = 3/5 = 0.6 (60%)</a:t>
            </a:r>
            <a:br>
              <a:rPr lang="en-US" dirty="0"/>
            </a:br>
            <a:r>
              <a:rPr lang="en-US" dirty="0"/>
              <a:t>→ 60% of transactions contain both items</a:t>
            </a:r>
          </a:p>
          <a:p>
            <a:r>
              <a:rPr lang="en-US" b="1" dirty="0"/>
              <a:t>2. Confidence of (X → Y)</a:t>
            </a:r>
          </a:p>
          <a:p>
            <a:r>
              <a:rPr lang="en-US" dirty="0"/>
              <a:t>It shows how likely </a:t>
            </a:r>
            <a:r>
              <a:rPr lang="en-US" b="1" dirty="0"/>
              <a:t>Y appears when X appears</a:t>
            </a:r>
            <a:r>
              <a:rPr lang="en-US" dirty="0"/>
              <a:t> </a:t>
            </a:r>
          </a:p>
          <a:p>
            <a:r>
              <a:rPr lang="en-US" dirty="0"/>
              <a:t>This is a </a:t>
            </a:r>
            <a:r>
              <a:rPr lang="en-US" b="1" dirty="0"/>
              <a:t>conditional probability</a:t>
            </a:r>
            <a:r>
              <a:rPr lang="en-US" dirty="0"/>
              <a:t> </a:t>
            </a:r>
          </a:p>
          <a:p>
            <a:r>
              <a:rPr lang="en-US" dirty="0"/>
              <a:t>Formula:</a:t>
            </a:r>
            <a:br>
              <a:rPr lang="en-US" dirty="0"/>
            </a:br>
            <a:r>
              <a:rPr lang="en-US" dirty="0"/>
              <a:t>confidence = sup(X, Y) / sup(X) 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 = sup{Diaper, Beer} / sup{Diaper} = 3/4 = 0.75</a:t>
            </a:r>
            <a:br>
              <a:rPr lang="en-US" dirty="0"/>
            </a:br>
            <a:r>
              <a:rPr lang="en-US" dirty="0"/>
              <a:t>→ 75% of the time, when people buy diapers, they also buy beer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18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Mining Frequent </a:t>
            </a:r>
            <a:r>
              <a:rPr lang="en-US" b="1" dirty="0" err="1"/>
              <a:t>Itemsets</a:t>
            </a:r>
            <a:r>
              <a:rPr lang="en-US" b="1" dirty="0"/>
              <a:t> and Association Rules</a:t>
            </a:r>
          </a:p>
          <a:p>
            <a:r>
              <a:rPr lang="en-US" b="1" dirty="0"/>
              <a:t>Association rule mining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We are given two thresholds:</a:t>
            </a:r>
          </a:p>
          <a:p>
            <a:pPr lvl="1"/>
            <a:r>
              <a:rPr lang="en-US" b="1" dirty="0" err="1"/>
              <a:t>minsup</a:t>
            </a:r>
            <a:r>
              <a:rPr lang="en-US" dirty="0"/>
              <a:t> (minimum support) </a:t>
            </a:r>
          </a:p>
          <a:p>
            <a:pPr lvl="1"/>
            <a:r>
              <a:rPr lang="en-US" b="1" dirty="0" err="1"/>
              <a:t>minconf</a:t>
            </a:r>
            <a:r>
              <a:rPr lang="en-US" dirty="0"/>
              <a:t> (minimum confidence) </a:t>
            </a:r>
          </a:p>
          <a:p>
            <a:r>
              <a:rPr lang="en-US" dirty="0"/>
              <a:t>Goal: Find all rules </a:t>
            </a:r>
            <a:r>
              <a:rPr lang="en-US" b="1" dirty="0"/>
              <a:t>X → Y</a:t>
            </a:r>
            <a:r>
              <a:rPr lang="en-US" dirty="0"/>
              <a:t> such that:</a:t>
            </a:r>
          </a:p>
          <a:p>
            <a:pPr lvl="1"/>
            <a:r>
              <a:rPr lang="en-US" dirty="0"/>
              <a:t>support ≥ </a:t>
            </a:r>
            <a:r>
              <a:rPr lang="en-US" dirty="0" err="1"/>
              <a:t>minsup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confidence ≥ </a:t>
            </a:r>
            <a:r>
              <a:rPr lang="en-US" dirty="0" err="1"/>
              <a:t>minconf</a:t>
            </a:r>
            <a:r>
              <a:rPr lang="en-US" dirty="0"/>
              <a:t> </a:t>
            </a:r>
          </a:p>
          <a:p>
            <a:r>
              <a:rPr lang="en-US" b="1" dirty="0"/>
              <a:t>Given: </a:t>
            </a:r>
            <a:r>
              <a:rPr lang="en-US" b="1" dirty="0" err="1"/>
              <a:t>minsup</a:t>
            </a:r>
            <a:r>
              <a:rPr lang="en-US" b="1" dirty="0"/>
              <a:t> = 50%</a:t>
            </a:r>
          </a:p>
          <a:p>
            <a:r>
              <a:rPr lang="en-US" dirty="0"/>
              <a:t>Frequent 1-itemsets:</a:t>
            </a:r>
            <a:br>
              <a:rPr lang="en-US" dirty="0"/>
            </a:br>
            <a:r>
              <a:rPr lang="en-US" dirty="0"/>
              <a:t>Beer = 3, Nuts = 3, Diaper = 4, Eggs = 3 </a:t>
            </a:r>
          </a:p>
          <a:p>
            <a:r>
              <a:rPr lang="en-US" dirty="0"/>
              <a:t>Frequent 2-itemsets:</a:t>
            </a:r>
            <a:br>
              <a:rPr lang="en-US" dirty="0"/>
            </a:br>
            <a:r>
              <a:rPr lang="en-US" dirty="0"/>
              <a:t>{Beer, Diaper} = 3</a:t>
            </a:r>
          </a:p>
          <a:p>
            <a:endParaRPr lang="en-US" dirty="0"/>
          </a:p>
          <a:p>
            <a:r>
              <a:rPr lang="en-US" b="1" dirty="0"/>
              <a:t>Given: </a:t>
            </a:r>
            <a:r>
              <a:rPr lang="en-US" b="1" dirty="0" err="1"/>
              <a:t>minconf</a:t>
            </a:r>
            <a:r>
              <a:rPr lang="en-US" b="1" dirty="0"/>
              <a:t> = 50%</a:t>
            </a:r>
          </a:p>
          <a:p>
            <a:r>
              <a:rPr lang="en-US" dirty="0"/>
              <a:t>From {Beer, Diaper}, we generate rules:</a:t>
            </a:r>
          </a:p>
          <a:p>
            <a:r>
              <a:rPr lang="en-US" b="1" dirty="0"/>
              <a:t>Beer → Diaper</a:t>
            </a:r>
            <a:br>
              <a:rPr lang="en-US" dirty="0"/>
            </a:br>
            <a:r>
              <a:rPr lang="en-US" dirty="0"/>
              <a:t>Support = 60%, Confidence = 100% </a:t>
            </a:r>
          </a:p>
          <a:p>
            <a:r>
              <a:rPr lang="en-US" b="1" dirty="0"/>
              <a:t>Diaper → Beer</a:t>
            </a:r>
            <a:br>
              <a:rPr lang="en-US" dirty="0"/>
            </a:br>
            <a:r>
              <a:rPr lang="en-US" dirty="0"/>
              <a:t>Support = 60%, Confidence = 75% </a:t>
            </a:r>
          </a:p>
          <a:p>
            <a:r>
              <a:rPr lang="en-US" dirty="0"/>
              <a:t>(Both satisfy </a:t>
            </a:r>
            <a:r>
              <a:rPr lang="en-US" dirty="0" err="1"/>
              <a:t>minsup</a:t>
            </a:r>
            <a:r>
              <a:rPr lang="en-US" dirty="0"/>
              <a:t> and </a:t>
            </a:r>
            <a:r>
              <a:rPr lang="en-US" dirty="0" err="1"/>
              <a:t>minconf</a:t>
            </a:r>
            <a:r>
              <a:rPr lang="en-US" dirty="0"/>
              <a:t>)</a:t>
            </a:r>
          </a:p>
          <a:p>
            <a:r>
              <a:rPr lang="en-US" b="1" dirty="0"/>
              <a:t>Observations:</a:t>
            </a:r>
          </a:p>
          <a:p>
            <a:r>
              <a:rPr lang="en-US" dirty="0"/>
              <a:t>Finding frequent </a:t>
            </a:r>
            <a:r>
              <a:rPr lang="en-US" dirty="0" err="1"/>
              <a:t>itemsets</a:t>
            </a:r>
            <a:r>
              <a:rPr lang="en-US" dirty="0"/>
              <a:t> and association rules are </a:t>
            </a:r>
            <a:r>
              <a:rPr lang="en-US" b="1" dirty="0"/>
              <a:t>closely related tasks</a:t>
            </a:r>
            <a:r>
              <a:rPr lang="en-US" dirty="0"/>
              <a:t> </a:t>
            </a:r>
          </a:p>
          <a:p>
            <a:r>
              <a:rPr lang="en-US" dirty="0"/>
              <a:t>For large datasets, we need </a:t>
            </a:r>
            <a:r>
              <a:rPr lang="en-US" b="1" dirty="0"/>
              <a:t>efficient (scalable) algorithms</a:t>
            </a:r>
            <a:endParaRPr lang="en-US" dirty="0"/>
          </a:p>
          <a:p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4278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C212861-B6E2-4123-838A-C61641229D1B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57325" y="1181100"/>
            <a:ext cx="4251325" cy="31892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dirty="0"/>
              <a:t>Challenge: Too Many Frequent Patterns</a:t>
            </a:r>
          </a:p>
          <a:p>
            <a:r>
              <a:rPr lang="en-US" b="1" dirty="0"/>
              <a:t>Main problem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long pattern (many items) can create a </a:t>
            </a:r>
            <a:r>
              <a:rPr lang="en-US" b="1" dirty="0"/>
              <a:t>very large number of sub-patterns</a:t>
            </a:r>
            <a:r>
              <a:rPr lang="en-US" dirty="0"/>
              <a:t> (combinations).</a:t>
            </a:r>
          </a:p>
          <a:p>
            <a:r>
              <a:rPr lang="en-US" b="1" dirty="0"/>
              <a:t>Total number of frequent </a:t>
            </a:r>
            <a:r>
              <a:rPr lang="en-US" b="1" dirty="0" err="1"/>
              <a:t>itemsets</a:t>
            </a:r>
            <a:r>
              <a:rPr lang="en-US" b="1" dirty="0"/>
              <a:t>:</a:t>
            </a:r>
          </a:p>
          <a:p>
            <a:r>
              <a:rPr lang="en-US" dirty="0"/>
              <a:t>Total =</a:t>
            </a:r>
            <a:br>
              <a:rPr lang="en-US" dirty="0"/>
            </a:br>
            <a:r>
              <a:rPr lang="en-US" dirty="0"/>
              <a:t>C(100,1) + C(100,2) + … + C(100,100) = </a:t>
            </a:r>
            <a:r>
              <a:rPr lang="en-US" b="1" dirty="0"/>
              <a:t>2¹⁰⁰ − 1</a:t>
            </a:r>
            <a:endParaRPr lang="en-US" dirty="0"/>
          </a:p>
          <a:p>
            <a:r>
              <a:rPr lang="en-US" dirty="0"/>
              <a:t>The number of frequent patterns grows </a:t>
            </a:r>
            <a:r>
              <a:rPr lang="en-US" b="1" dirty="0"/>
              <a:t>exponentially (very fast)</a:t>
            </a:r>
            <a:r>
              <a:rPr lang="en-US" dirty="0"/>
              <a:t> It becomes </a:t>
            </a:r>
            <a:r>
              <a:rPr lang="en-US" b="1" dirty="0"/>
              <a:t>too large to compute or store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6183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/>
          <a:p>
            <a:r>
              <a:rPr lang="en-US" dirty="0"/>
              <a:t>There are </a:t>
            </a:r>
            <a:r>
              <a:rPr lang="en-US" b="1" dirty="0"/>
              <a:t>too many frequent patterns</a:t>
            </a:r>
            <a:r>
              <a:rPr lang="en-US" dirty="0"/>
              <a:t>, so we need a way to reduce them.</a:t>
            </a:r>
          </a:p>
          <a:p>
            <a:r>
              <a:rPr lang="en-US" b="1" dirty="0"/>
              <a:t>Closed Pattern (Solution):</a:t>
            </a:r>
          </a:p>
          <a:p>
            <a:r>
              <a:rPr lang="en-US" dirty="0"/>
              <a:t>An itemset X is </a:t>
            </a:r>
            <a:r>
              <a:rPr lang="en-US" b="1" dirty="0"/>
              <a:t>closed</a:t>
            </a:r>
            <a:r>
              <a:rPr lang="en-US" dirty="0"/>
              <a:t> if: </a:t>
            </a:r>
          </a:p>
          <a:p>
            <a:pPr lvl="1"/>
            <a:r>
              <a:rPr lang="en-US" dirty="0"/>
              <a:t>It is </a:t>
            </a:r>
            <a:r>
              <a:rPr lang="en-US" b="1" dirty="0"/>
              <a:t>frequent</a:t>
            </a:r>
            <a:r>
              <a:rPr lang="en-US" dirty="0"/>
              <a:t>, and </a:t>
            </a:r>
          </a:p>
          <a:p>
            <a:pPr lvl="1"/>
            <a:r>
              <a:rPr lang="en-US" dirty="0"/>
              <a:t>There is </a:t>
            </a:r>
            <a:r>
              <a:rPr lang="en-US" b="1" dirty="0"/>
              <a:t>no larger itemset (super-pattern)</a:t>
            </a:r>
            <a:r>
              <a:rPr lang="en-US" dirty="0"/>
              <a:t> that has the </a:t>
            </a:r>
            <a:r>
              <a:rPr lang="en-US" b="1" dirty="0"/>
              <a:t>same support</a:t>
            </a:r>
            <a:r>
              <a:rPr lang="en-US" dirty="0"/>
              <a:t> as X</a:t>
            </a:r>
          </a:p>
          <a:p>
            <a:r>
              <a:rPr lang="en-US" dirty="0"/>
              <a:t>Closed pattern =</a:t>
            </a:r>
            <a:br>
              <a:rPr lang="en-US" dirty="0"/>
            </a:br>
            <a:r>
              <a:rPr lang="en-US" b="1" dirty="0"/>
              <a:t>“Keep only the biggest pattern when support is same”</a:t>
            </a:r>
          </a:p>
          <a:p>
            <a:r>
              <a:rPr lang="en-US" b="1" dirty="0"/>
              <a:t>Step 1: Understand the data</a:t>
            </a:r>
          </a:p>
          <a:p>
            <a:r>
              <a:rPr lang="en-US" dirty="0"/>
              <a:t>We have 2 transactions:</a:t>
            </a:r>
          </a:p>
          <a:p>
            <a:r>
              <a:rPr lang="en-US" b="1" dirty="0"/>
              <a:t>T₁</a:t>
            </a:r>
            <a:r>
              <a:rPr lang="en-US" dirty="0"/>
              <a:t> = {a₁ … a₅₀} </a:t>
            </a:r>
          </a:p>
          <a:p>
            <a:r>
              <a:rPr lang="en-US" b="1" dirty="0"/>
              <a:t>T₂</a:t>
            </a:r>
            <a:r>
              <a:rPr lang="en-US" dirty="0"/>
              <a:t> = {a₁ … a₁₀₀} </a:t>
            </a:r>
          </a:p>
          <a:p>
            <a:r>
              <a:rPr lang="en-US" dirty="0"/>
              <a:t>Important:</a:t>
            </a:r>
          </a:p>
          <a:p>
            <a:r>
              <a:rPr lang="en-US" dirty="0"/>
              <a:t>T₂ contains </a:t>
            </a:r>
            <a:r>
              <a:rPr lang="en-US" b="1" dirty="0"/>
              <a:t>everything T₁ has + more items</a:t>
            </a:r>
            <a:endParaRPr lang="en-US" dirty="0"/>
          </a:p>
          <a:p>
            <a:r>
              <a:rPr lang="en-US" b="1" dirty="0"/>
              <a:t>Step 2: Support idea</a:t>
            </a:r>
          </a:p>
          <a:p>
            <a:r>
              <a:rPr lang="en-US" dirty="0"/>
              <a:t>Items </a:t>
            </a:r>
            <a:r>
              <a:rPr lang="en-US" b="1" dirty="0"/>
              <a:t>a₁ to a₅₀</a:t>
            </a:r>
            <a:r>
              <a:rPr lang="en-US" dirty="0"/>
              <a:t> appear in </a:t>
            </a:r>
            <a:r>
              <a:rPr lang="en-US" b="1" dirty="0"/>
              <a:t>both T₁ and T₂ → support = 2</a:t>
            </a:r>
            <a:r>
              <a:rPr lang="en-US" dirty="0"/>
              <a:t> </a:t>
            </a:r>
          </a:p>
          <a:p>
            <a:r>
              <a:rPr lang="en-US" dirty="0"/>
              <a:t>Items </a:t>
            </a:r>
            <a:r>
              <a:rPr lang="en-US" b="1" dirty="0"/>
              <a:t>a₅₁ to a₁₀₀</a:t>
            </a:r>
            <a:r>
              <a:rPr lang="en-US" dirty="0"/>
              <a:t> appear only in T₂ → support = 1</a:t>
            </a:r>
          </a:p>
          <a:p>
            <a:r>
              <a:rPr lang="en-US" b="1" dirty="0"/>
              <a:t>Step 3: What is NOT closed?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{a₁, a₂} → support = 2</a:t>
            </a:r>
            <a:br>
              <a:rPr lang="en-US" dirty="0"/>
            </a:br>
            <a:r>
              <a:rPr lang="en-US" dirty="0"/>
              <a:t>But this is </a:t>
            </a:r>
            <a:r>
              <a:rPr lang="en-US" b="1" dirty="0"/>
              <a:t>not closed</a:t>
            </a:r>
            <a:r>
              <a:rPr lang="en-US" dirty="0"/>
              <a:t>, because: </a:t>
            </a:r>
          </a:p>
          <a:p>
            <a:r>
              <a:rPr lang="en-US" dirty="0"/>
              <a:t>A bigger set {a₁ … a₅₀} also has </a:t>
            </a:r>
            <a:r>
              <a:rPr lang="en-US" b="1" dirty="0"/>
              <a:t>same support = 2</a:t>
            </a:r>
            <a:r>
              <a:rPr lang="en-US" dirty="0"/>
              <a:t> </a:t>
            </a:r>
          </a:p>
          <a:p>
            <a:r>
              <a:rPr lang="en-US" dirty="0"/>
              <a:t>So we ignore smaller ones if a </a:t>
            </a:r>
            <a:r>
              <a:rPr lang="en-US" b="1" dirty="0"/>
              <a:t>bigger set has same support</a:t>
            </a:r>
            <a:endParaRPr lang="en-US" dirty="0"/>
          </a:p>
          <a:p>
            <a:r>
              <a:rPr lang="en-US" b="1" dirty="0"/>
              <a:t>Step 4: Find CLOSED patterns</a:t>
            </a:r>
          </a:p>
          <a:p>
            <a:r>
              <a:rPr lang="en-US" dirty="0"/>
              <a:t>We keep only the </a:t>
            </a:r>
            <a:r>
              <a:rPr lang="en-US" b="1" dirty="0"/>
              <a:t>largest sets with same support</a:t>
            </a:r>
            <a:endParaRPr lang="en-US" dirty="0"/>
          </a:p>
          <a:p>
            <a:r>
              <a:rPr lang="en-US" dirty="0"/>
              <a:t>{a₁ … a₅₀} → support = 2</a:t>
            </a:r>
            <a:br>
              <a:rPr lang="en-US" dirty="0"/>
            </a:br>
            <a:r>
              <a:rPr lang="en-US" dirty="0"/>
              <a:t>(No bigger set has support 2 → so it is closed) </a:t>
            </a:r>
          </a:p>
          <a:p>
            <a:r>
              <a:rPr lang="en-US" dirty="0"/>
              <a:t>{a₁ … a₁₀₀} → support = 1</a:t>
            </a:r>
            <a:br>
              <a:rPr lang="en-US" dirty="0"/>
            </a:br>
            <a:r>
              <a:rPr lang="en-US" dirty="0"/>
              <a:t>(No bigger set exists → so it is closed)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7751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1. What is Max-Pattern?</a:t>
            </a:r>
          </a:p>
          <a:p>
            <a:r>
              <a:rPr lang="en-US" dirty="0"/>
              <a:t>A pattern X is a </a:t>
            </a:r>
            <a:r>
              <a:rPr lang="en-US" b="1" dirty="0"/>
              <a:t>max-pattern</a:t>
            </a:r>
            <a:r>
              <a:rPr lang="en-US" dirty="0"/>
              <a:t> if:</a:t>
            </a:r>
          </a:p>
          <a:p>
            <a:r>
              <a:rPr lang="en-US" dirty="0"/>
              <a:t>X is </a:t>
            </a:r>
            <a:r>
              <a:rPr lang="en-US" b="1" dirty="0"/>
              <a:t>frequent</a:t>
            </a:r>
            <a:r>
              <a:rPr lang="en-US" dirty="0"/>
              <a:t>, and </a:t>
            </a:r>
          </a:p>
          <a:p>
            <a:r>
              <a:rPr lang="en-US" dirty="0"/>
              <a:t>There is </a:t>
            </a:r>
            <a:r>
              <a:rPr lang="en-US" b="1" dirty="0"/>
              <a:t>no bigger frequent itemset</a:t>
            </a:r>
            <a:r>
              <a:rPr lang="en-US" dirty="0"/>
              <a:t> containing X</a:t>
            </a:r>
          </a:p>
          <a:p>
            <a:r>
              <a:rPr lang="en-US" b="1" dirty="0"/>
              <a:t>2. Simple Understanding</a:t>
            </a:r>
          </a:p>
          <a:p>
            <a:r>
              <a:rPr lang="en-US" dirty="0"/>
              <a:t>Max-pattern =</a:t>
            </a:r>
            <a:br>
              <a:rPr lang="en-US" dirty="0"/>
            </a:br>
            <a:r>
              <a:rPr lang="en-US" b="1" dirty="0"/>
              <a:t>“Largest frequent pattern (nothing bigger is frequent)”</a:t>
            </a:r>
          </a:p>
          <a:p>
            <a:endParaRPr lang="en-US" b="1" dirty="0"/>
          </a:p>
          <a:p>
            <a:r>
              <a:rPr lang="en-US" b="1" dirty="0"/>
              <a:t>Closed Pattern:</a:t>
            </a:r>
          </a:p>
          <a:p>
            <a:r>
              <a:rPr lang="en-US" dirty="0"/>
              <a:t>Keeps </a:t>
            </a:r>
            <a:r>
              <a:rPr lang="en-US" b="1" dirty="0"/>
              <a:t>support information.</a:t>
            </a:r>
            <a:endParaRPr lang="en-US" dirty="0"/>
          </a:p>
          <a:p>
            <a:r>
              <a:rPr lang="en-US" dirty="0"/>
              <a:t>Removes only unnecessary smaller sets.</a:t>
            </a:r>
          </a:p>
          <a:p>
            <a:r>
              <a:rPr lang="en-US" b="1" dirty="0"/>
              <a:t>Max Pattern:</a:t>
            </a:r>
          </a:p>
          <a:p>
            <a:r>
              <a:rPr lang="en-US" dirty="0"/>
              <a:t>Keeps </a:t>
            </a:r>
            <a:r>
              <a:rPr lang="en-US" b="1" dirty="0"/>
              <a:t>only largest patterns.</a:t>
            </a:r>
            <a:endParaRPr lang="en-US" dirty="0"/>
          </a:p>
          <a:p>
            <a:r>
              <a:rPr lang="en-US" dirty="0"/>
              <a:t>Ignores support of smaller ones.</a:t>
            </a:r>
          </a:p>
          <a:p>
            <a:r>
              <a:rPr lang="en-US" b="1" dirty="0"/>
              <a:t>Max-pattern:</a:t>
            </a:r>
          </a:p>
          <a:p>
            <a:r>
              <a:rPr lang="en-US" dirty="0"/>
              <a:t>{a₁ … a₁₀₀} → only this is max</a:t>
            </a:r>
            <a:br>
              <a:rPr lang="en-US" dirty="0"/>
            </a:br>
            <a:r>
              <a:rPr lang="en-US" dirty="0"/>
              <a:t>(because no bigger set exists)</a:t>
            </a:r>
          </a:p>
          <a:p>
            <a:r>
              <a:rPr lang="en-US" b="1" dirty="0"/>
              <a:t>7. Why "lossy"?</a:t>
            </a:r>
          </a:p>
          <a:p>
            <a:r>
              <a:rPr lang="en-US" dirty="0"/>
              <a:t>From max-pattern:</a:t>
            </a:r>
          </a:p>
          <a:p>
            <a:r>
              <a:rPr lang="en-US" dirty="0"/>
              <a:t>You only know {a₁ … a₄₀} is frequent </a:t>
            </a:r>
          </a:p>
          <a:p>
            <a:r>
              <a:rPr lang="en-US" dirty="0"/>
              <a:t>But you </a:t>
            </a:r>
            <a:r>
              <a:rPr lang="en-US" b="1" dirty="0"/>
              <a:t>don’t know its exact support</a:t>
            </a:r>
            <a:endParaRPr lang="en-US" dirty="0"/>
          </a:p>
          <a:p>
            <a:r>
              <a:rPr lang="en-US" b="1" dirty="0"/>
              <a:t>8. Final Intuition</a:t>
            </a:r>
          </a:p>
          <a:p>
            <a:r>
              <a:rPr lang="en-US" b="1" dirty="0"/>
              <a:t>Closed pattern</a:t>
            </a:r>
            <a:r>
              <a:rPr lang="en-US" dirty="0"/>
              <a:t> → compressed but still accurate </a:t>
            </a:r>
          </a:p>
          <a:p>
            <a:r>
              <a:rPr lang="en-US" b="1" dirty="0"/>
              <a:t>Max pattern</a:t>
            </a:r>
            <a:r>
              <a:rPr lang="en-US" dirty="0"/>
              <a:t> → more compressed but loses details</a:t>
            </a:r>
          </a:p>
          <a:p>
            <a:endParaRPr lang="en-US" dirty="0"/>
          </a:p>
          <a:p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9350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Association Rule:</a:t>
            </a:r>
          </a:p>
          <a:p>
            <a:r>
              <a:rPr lang="en-US" dirty="0"/>
              <a:t>An association rule is of the form:</a:t>
            </a:r>
            <a:br>
              <a:rPr lang="en-US" dirty="0"/>
            </a:br>
            <a:r>
              <a:rPr lang="en-US" b="1" dirty="0"/>
              <a:t>X → Y</a:t>
            </a:r>
            <a:br>
              <a:rPr lang="en-US" dirty="0"/>
            </a:br>
            <a:r>
              <a:rPr lang="en-US" dirty="0"/>
              <a:t>Meaning: if X occurs, Y is likely to occur.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{Milk, Diaper} → {Beer}</a:t>
            </a:r>
          </a:p>
          <a:p>
            <a:endParaRPr lang="en-US" dirty="0"/>
          </a:p>
          <a:p>
            <a:r>
              <a:rPr lang="en-US" b="1" dirty="0"/>
              <a:t>Support (s)</a:t>
            </a:r>
          </a:p>
          <a:p>
            <a:r>
              <a:rPr lang="en-US" dirty="0"/>
              <a:t>Definition:</a:t>
            </a:r>
            <a:br>
              <a:rPr lang="en-US" dirty="0"/>
            </a:br>
            <a:r>
              <a:rPr lang="en-US" dirty="0"/>
              <a:t>Fraction of transactions that contain </a:t>
            </a:r>
            <a:r>
              <a:rPr lang="en-US" b="1" dirty="0"/>
              <a:t>both X and Y</a:t>
            </a:r>
            <a:r>
              <a:rPr lang="en-US" dirty="0"/>
              <a:t> </a:t>
            </a:r>
          </a:p>
          <a:p>
            <a:r>
              <a:rPr lang="en-US" dirty="0"/>
              <a:t>Here:</a:t>
            </a:r>
            <a:br>
              <a:rPr lang="en-US" dirty="0"/>
            </a:br>
            <a:r>
              <a:rPr lang="en-US" dirty="0"/>
              <a:t>X ∪ Y = {Milk, Diaper, Beer} </a:t>
            </a:r>
          </a:p>
          <a:p>
            <a:r>
              <a:rPr lang="en-US" dirty="0"/>
              <a:t>Count:</a:t>
            </a:r>
            <a:br>
              <a:rPr lang="en-US" dirty="0"/>
            </a:br>
            <a:r>
              <a:rPr lang="en-US" dirty="0"/>
              <a:t>This combination appears in </a:t>
            </a:r>
            <a:r>
              <a:rPr lang="en-US" b="1" dirty="0"/>
              <a:t>2 transactions (T3, T4)</a:t>
            </a:r>
            <a:r>
              <a:rPr lang="en-US" dirty="0"/>
              <a:t> </a:t>
            </a:r>
          </a:p>
          <a:p>
            <a:r>
              <a:rPr lang="en-US" dirty="0"/>
              <a:t>So:</a:t>
            </a:r>
            <a:br>
              <a:rPr lang="en-US" dirty="0"/>
            </a:br>
            <a:r>
              <a:rPr lang="en-US" b="1" dirty="0"/>
              <a:t>s = 2 / 5 = 0.4 (40%)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Confidence (c)</a:t>
            </a:r>
          </a:p>
          <a:p>
            <a:r>
              <a:rPr lang="en-US" dirty="0"/>
              <a:t>Definition:</a:t>
            </a:r>
            <a:br>
              <a:rPr lang="en-US" dirty="0"/>
            </a:br>
            <a:r>
              <a:rPr lang="en-US" dirty="0"/>
              <a:t>How often Y appears when X appears </a:t>
            </a:r>
          </a:p>
          <a:p>
            <a:r>
              <a:rPr lang="en-US" dirty="0"/>
              <a:t>Here:</a:t>
            </a:r>
            <a:br>
              <a:rPr lang="en-US" dirty="0"/>
            </a:br>
            <a:r>
              <a:rPr lang="en-US" dirty="0"/>
              <a:t>X = {Milk, Diaper} appears in </a:t>
            </a:r>
            <a:r>
              <a:rPr lang="en-US" b="1" dirty="0"/>
              <a:t>3 transactions (T3, T4, T5)</a:t>
            </a:r>
            <a:br>
              <a:rPr lang="en-US" dirty="0"/>
            </a:br>
            <a:r>
              <a:rPr lang="en-US" dirty="0"/>
              <a:t>X ∪ Y appears in </a:t>
            </a:r>
            <a:r>
              <a:rPr lang="en-US" b="1" dirty="0"/>
              <a:t>2 transactions</a:t>
            </a:r>
            <a:r>
              <a:rPr lang="en-US" dirty="0"/>
              <a:t> </a:t>
            </a:r>
          </a:p>
          <a:p>
            <a:r>
              <a:rPr lang="en-US" dirty="0"/>
              <a:t>So:</a:t>
            </a:r>
            <a:br>
              <a:rPr lang="en-US" dirty="0"/>
            </a:br>
            <a:r>
              <a:rPr lang="en-US" b="1" dirty="0"/>
              <a:t>c = 2 / 3 ≈ 0.67 (67%)</a:t>
            </a:r>
            <a:endParaRPr lang="en-US" dirty="0"/>
          </a:p>
          <a:p>
            <a:r>
              <a:rPr lang="en-US" dirty="0"/>
              <a:t>40% of all transactions contain Milk, Diaper, and Beer When people buy Milk and Diaper, </a:t>
            </a:r>
            <a:r>
              <a:rPr lang="en-US" b="1" dirty="0"/>
              <a:t>67% of the time they also buy Beer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04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Association Rule Mining Task</a:t>
            </a:r>
          </a:p>
          <a:p>
            <a:r>
              <a:rPr lang="en-US" dirty="0"/>
              <a:t>Given a set of transactions, find all rules </a:t>
            </a:r>
            <a:r>
              <a:rPr lang="en-US" b="1" dirty="0"/>
              <a:t>X → Y</a:t>
            </a:r>
            <a:r>
              <a:rPr lang="en-US" dirty="0"/>
              <a:t> such that:</a:t>
            </a:r>
          </a:p>
          <a:p>
            <a:r>
              <a:rPr lang="en-US" b="1" dirty="0"/>
              <a:t>support ≥ </a:t>
            </a:r>
            <a:r>
              <a:rPr lang="en-US" b="1" dirty="0" err="1"/>
              <a:t>minsup</a:t>
            </a:r>
            <a:r>
              <a:rPr lang="en-US" dirty="0"/>
              <a:t> </a:t>
            </a:r>
          </a:p>
          <a:p>
            <a:r>
              <a:rPr lang="en-US" b="1" dirty="0"/>
              <a:t>confidence ≥ </a:t>
            </a:r>
            <a:r>
              <a:rPr lang="en-US" b="1" dirty="0" err="1"/>
              <a:t>minconf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Brute-force Approach:</a:t>
            </a:r>
          </a:p>
          <a:p>
            <a:r>
              <a:rPr lang="en-US" b="1" dirty="0"/>
              <a:t>Generate all possible rules</a:t>
            </a:r>
            <a:br>
              <a:rPr lang="en-US" dirty="0"/>
            </a:br>
            <a:r>
              <a:rPr lang="en-US" dirty="0"/>
              <a:t>(try every possible combination of items) </a:t>
            </a:r>
          </a:p>
          <a:p>
            <a:r>
              <a:rPr lang="en-US" b="1" dirty="0"/>
              <a:t>Compute support and confidence</a:t>
            </a:r>
            <a:r>
              <a:rPr lang="en-US" dirty="0"/>
              <a:t> for each rule </a:t>
            </a:r>
          </a:p>
          <a:p>
            <a:r>
              <a:rPr lang="en-US" b="1" dirty="0"/>
              <a:t>Remove (prune) rules</a:t>
            </a:r>
            <a:r>
              <a:rPr lang="en-US" dirty="0"/>
              <a:t> that do not satisfy </a:t>
            </a:r>
            <a:r>
              <a:rPr lang="en-US" dirty="0" err="1"/>
              <a:t>minsup</a:t>
            </a:r>
            <a:r>
              <a:rPr lang="en-US" dirty="0"/>
              <a:t> and </a:t>
            </a:r>
            <a:r>
              <a:rPr lang="en-US" dirty="0" err="1"/>
              <a:t>minconf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Problem:</a:t>
            </a:r>
          </a:p>
          <a:p>
            <a:r>
              <a:rPr lang="en-US" dirty="0"/>
              <a:t>The number of possible rules is </a:t>
            </a:r>
            <a:r>
              <a:rPr lang="en-US" b="1" dirty="0"/>
              <a:t>very large</a:t>
            </a:r>
            <a:r>
              <a:rPr lang="en-US" dirty="0"/>
              <a:t> </a:t>
            </a:r>
          </a:p>
          <a:p>
            <a:r>
              <a:rPr lang="en-US" dirty="0"/>
              <a:t>Checking all of them takes </a:t>
            </a:r>
            <a:r>
              <a:rPr lang="en-US" b="1" dirty="0"/>
              <a:t>too much time and computation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36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Computational Complexity</a:t>
            </a:r>
          </a:p>
          <a:p>
            <a:r>
              <a:rPr lang="en-US" dirty="0"/>
              <a:t>Suppose we have </a:t>
            </a:r>
            <a:r>
              <a:rPr lang="en-US" b="1" dirty="0"/>
              <a:t>d unique items</a:t>
            </a:r>
            <a:endParaRPr lang="en-US" dirty="0"/>
          </a:p>
          <a:p>
            <a:r>
              <a:rPr lang="en-US" b="1" dirty="0"/>
              <a:t>Number of </a:t>
            </a:r>
            <a:r>
              <a:rPr lang="en-US" b="1" dirty="0" err="1"/>
              <a:t>itemsets</a:t>
            </a:r>
            <a:r>
              <a:rPr lang="en-US" b="1" dirty="0"/>
              <a:t>:</a:t>
            </a:r>
          </a:p>
          <a:p>
            <a:r>
              <a:rPr lang="en-US" dirty="0"/>
              <a:t>Total possible </a:t>
            </a:r>
            <a:r>
              <a:rPr lang="en-US" dirty="0" err="1"/>
              <a:t>itemsets</a:t>
            </a:r>
            <a:r>
              <a:rPr lang="en-US" dirty="0"/>
              <a:t> = </a:t>
            </a:r>
            <a:r>
              <a:rPr lang="en-US" b="1" dirty="0"/>
              <a:t>2ᵈ</a:t>
            </a:r>
            <a:r>
              <a:rPr lang="en-US" dirty="0"/>
              <a:t> </a:t>
            </a:r>
          </a:p>
          <a:p>
            <a:r>
              <a:rPr lang="en-US" dirty="0"/>
              <a:t>Reason: each item can be either </a:t>
            </a:r>
            <a:r>
              <a:rPr lang="en-US" b="1" dirty="0"/>
              <a:t>present or not present</a:t>
            </a:r>
            <a:endParaRPr lang="en-US" dirty="0"/>
          </a:p>
          <a:p>
            <a:r>
              <a:rPr lang="en-US" b="1" dirty="0"/>
              <a:t>Number of association rules:</a:t>
            </a:r>
          </a:p>
          <a:p>
            <a:r>
              <a:rPr lang="en-US" dirty="0"/>
              <a:t>Total rules = </a:t>
            </a:r>
            <a:r>
              <a:rPr lang="en-US" b="1" dirty="0"/>
              <a:t>3ᵈ − 2ᵈ⁺¹ + 1</a:t>
            </a:r>
            <a:r>
              <a:rPr lang="en-US" dirty="0"/>
              <a:t> </a:t>
            </a:r>
          </a:p>
          <a:p>
            <a:r>
              <a:rPr lang="en-US" dirty="0"/>
              <a:t>This number grows </a:t>
            </a:r>
            <a:r>
              <a:rPr lang="en-US" b="1" dirty="0"/>
              <a:t>very fast</a:t>
            </a:r>
            <a:r>
              <a:rPr lang="en-US" dirty="0"/>
              <a:t> as d increases.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357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1: Frequent Itemset Generation</a:t>
            </a:r>
          </a:p>
          <a:p>
            <a:r>
              <a:rPr lang="en-US" dirty="0"/>
              <a:t>Find all </a:t>
            </a:r>
            <a:r>
              <a:rPr lang="en-US" dirty="0" err="1"/>
              <a:t>itemsets</a:t>
            </a:r>
            <a:r>
              <a:rPr lang="en-US" dirty="0"/>
              <a:t> whose </a:t>
            </a:r>
            <a:r>
              <a:rPr lang="en-US" b="1" dirty="0"/>
              <a:t>support ≥ </a:t>
            </a:r>
            <a:r>
              <a:rPr lang="en-US" b="1" dirty="0" err="1"/>
              <a:t>minsup</a:t>
            </a:r>
            <a:r>
              <a:rPr lang="en-US" dirty="0"/>
              <a:t> </a:t>
            </a:r>
          </a:p>
          <a:p>
            <a:r>
              <a:rPr lang="en-US" dirty="0"/>
              <a:t>These are called </a:t>
            </a:r>
            <a:r>
              <a:rPr lang="en-US" b="1" dirty="0"/>
              <a:t>frequent </a:t>
            </a:r>
            <a:r>
              <a:rPr lang="en-US" b="1" dirty="0" err="1"/>
              <a:t>itemsets</a:t>
            </a:r>
            <a:endParaRPr lang="en-US" dirty="0"/>
          </a:p>
          <a:p>
            <a:r>
              <a:rPr lang="en-US" b="1" dirty="0"/>
              <a:t>Step 2: Rule Generation</a:t>
            </a:r>
          </a:p>
          <a:p>
            <a:r>
              <a:rPr lang="en-US" dirty="0"/>
              <a:t>From each frequent itemset, create rules </a:t>
            </a:r>
            <a:r>
              <a:rPr lang="en-US" b="1" dirty="0"/>
              <a:t>X → Y</a:t>
            </a:r>
            <a:r>
              <a:rPr lang="en-US" dirty="0"/>
              <a:t> </a:t>
            </a:r>
          </a:p>
          <a:p>
            <a:r>
              <a:rPr lang="en-US" dirty="0"/>
              <a:t>Keep only rules with </a:t>
            </a:r>
            <a:r>
              <a:rPr lang="en-US" b="1" dirty="0"/>
              <a:t>high confidence (≥ </a:t>
            </a:r>
            <a:r>
              <a:rPr lang="en-US" b="1" dirty="0" err="1"/>
              <a:t>minconf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Key Idea:</a:t>
            </a:r>
          </a:p>
          <a:p>
            <a:r>
              <a:rPr lang="en-US" dirty="0"/>
              <a:t>First find </a:t>
            </a:r>
            <a:r>
              <a:rPr lang="en-US" b="1" dirty="0"/>
              <a:t>frequent patterns (support)</a:t>
            </a:r>
            <a:r>
              <a:rPr lang="en-US" dirty="0"/>
              <a:t> </a:t>
            </a:r>
          </a:p>
          <a:p>
            <a:r>
              <a:rPr lang="en-US" dirty="0"/>
              <a:t>Then generate </a:t>
            </a:r>
            <a:r>
              <a:rPr lang="en-US" b="1" dirty="0"/>
              <a:t>strong rules (confidence)</a:t>
            </a:r>
            <a:endParaRPr lang="en-US" dirty="0"/>
          </a:p>
          <a:p>
            <a:r>
              <a:rPr lang="en-US" dirty="0"/>
              <a:t>Even finding frequent </a:t>
            </a:r>
            <a:r>
              <a:rPr lang="en-US" dirty="0" err="1"/>
              <a:t>itemsets</a:t>
            </a:r>
            <a:r>
              <a:rPr lang="en-US" dirty="0"/>
              <a:t> is still </a:t>
            </a:r>
            <a:r>
              <a:rPr lang="en-US" b="1" dirty="0"/>
              <a:t>computationally expensive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8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Frequent Itemset Generation </a:t>
            </a:r>
          </a:p>
          <a:p>
            <a:r>
              <a:rPr lang="en-US" dirty="0"/>
              <a:t>If there are </a:t>
            </a:r>
            <a:r>
              <a:rPr lang="en-US" b="1" dirty="0"/>
              <a:t>d items</a:t>
            </a:r>
            <a:r>
              <a:rPr lang="en-US" dirty="0"/>
              <a:t>, total possible </a:t>
            </a:r>
            <a:r>
              <a:rPr lang="en-US" dirty="0" err="1"/>
              <a:t>itemsets</a:t>
            </a:r>
            <a:r>
              <a:rPr lang="en-US" dirty="0"/>
              <a:t> = </a:t>
            </a:r>
            <a:r>
              <a:rPr lang="en-US" b="1" dirty="0"/>
              <a:t>2ᵈ</a:t>
            </a:r>
            <a:r>
              <a:rPr lang="en-US" dirty="0"/>
              <a:t> </a:t>
            </a:r>
          </a:p>
          <a:p>
            <a:r>
              <a:rPr lang="en-US" dirty="0"/>
              <a:t>The diagram shows all possible combinations: </a:t>
            </a:r>
          </a:p>
          <a:p>
            <a:pPr lvl="1"/>
            <a:r>
              <a:rPr lang="en-US" dirty="0"/>
              <a:t>Single items: A, B, C… </a:t>
            </a:r>
          </a:p>
          <a:p>
            <a:pPr lvl="1"/>
            <a:r>
              <a:rPr lang="en-US" dirty="0"/>
              <a:t>Pairs: AB, AC… </a:t>
            </a:r>
          </a:p>
          <a:p>
            <a:pPr lvl="1"/>
            <a:r>
              <a:rPr lang="en-US" dirty="0"/>
              <a:t>Triples: ABC… </a:t>
            </a:r>
          </a:p>
          <a:p>
            <a:pPr lvl="1"/>
            <a:r>
              <a:rPr lang="en-US" dirty="0"/>
              <a:t>Up to all items: ABCDE</a:t>
            </a:r>
          </a:p>
          <a:p>
            <a:r>
              <a:rPr lang="en-US" b="1" dirty="0"/>
              <a:t>Problem:</a:t>
            </a:r>
          </a:p>
          <a:p>
            <a:r>
              <a:rPr lang="en-US" dirty="0"/>
              <a:t>Number of combinations grows </a:t>
            </a:r>
            <a:r>
              <a:rPr lang="en-US" b="1" dirty="0"/>
              <a:t>very fast</a:t>
            </a:r>
            <a:r>
              <a:rPr lang="en-US" dirty="0"/>
              <a:t> </a:t>
            </a:r>
          </a:p>
          <a:p>
            <a:r>
              <a:rPr lang="en-US" dirty="0"/>
              <a:t>Checking all of them is </a:t>
            </a:r>
            <a:r>
              <a:rPr lang="en-US" b="1" dirty="0"/>
              <a:t>too slow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67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Basic Idea:</a:t>
            </a:r>
          </a:p>
          <a:p>
            <a:r>
              <a:rPr lang="en-US" dirty="0"/>
              <a:t>Consider </a:t>
            </a:r>
            <a:r>
              <a:rPr lang="en-US" b="1" dirty="0"/>
              <a:t>all possible </a:t>
            </a:r>
            <a:r>
              <a:rPr lang="en-US" b="1" dirty="0" err="1"/>
              <a:t>itemsets</a:t>
            </a:r>
            <a:r>
              <a:rPr lang="en-US" dirty="0"/>
              <a:t> as </a:t>
            </a:r>
            <a:r>
              <a:rPr lang="en-US" b="1" dirty="0"/>
              <a:t>candidates</a:t>
            </a:r>
            <a:r>
              <a:rPr lang="en-US" dirty="0"/>
              <a:t> </a:t>
            </a:r>
          </a:p>
          <a:p>
            <a:r>
              <a:rPr lang="en-US" dirty="0"/>
              <a:t>Then check which ones are frequent</a:t>
            </a:r>
          </a:p>
          <a:p>
            <a:r>
              <a:rPr lang="en-US" b="1" dirty="0"/>
              <a:t>Steps:</a:t>
            </a:r>
          </a:p>
          <a:p>
            <a:r>
              <a:rPr lang="en-US" b="1" dirty="0"/>
              <a:t>Generate all candidates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Every itemset in the lattice (all combinations) is a </a:t>
            </a:r>
            <a:r>
              <a:rPr lang="en-US" b="1" dirty="0"/>
              <a:t>candidate</a:t>
            </a:r>
            <a:r>
              <a:rPr lang="en-US" dirty="0"/>
              <a:t> </a:t>
            </a:r>
          </a:p>
          <a:p>
            <a:r>
              <a:rPr lang="en-US" b="1" dirty="0"/>
              <a:t>Count support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Scan the database </a:t>
            </a:r>
          </a:p>
          <a:p>
            <a:pPr lvl="1"/>
            <a:r>
              <a:rPr lang="en-US" dirty="0"/>
              <a:t>Count how many times each candidate appears </a:t>
            </a:r>
          </a:p>
          <a:p>
            <a:r>
              <a:rPr lang="en-US" b="1" dirty="0"/>
              <a:t>Match process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Compare </a:t>
            </a:r>
            <a:r>
              <a:rPr lang="en-US" b="1" dirty="0"/>
              <a:t>each transaction</a:t>
            </a:r>
            <a:r>
              <a:rPr lang="en-US" dirty="0"/>
              <a:t> with </a:t>
            </a:r>
            <a:r>
              <a:rPr lang="en-US" b="1" dirty="0"/>
              <a:t>every candidate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Meaning of symbols:</a:t>
            </a:r>
          </a:p>
          <a:p>
            <a:r>
              <a:rPr lang="en-US" b="1" dirty="0"/>
              <a:t>N</a:t>
            </a:r>
            <a:r>
              <a:rPr lang="en-US" dirty="0"/>
              <a:t> = number of transactions </a:t>
            </a:r>
          </a:p>
          <a:p>
            <a:r>
              <a:rPr lang="en-US" b="1" dirty="0"/>
              <a:t>M</a:t>
            </a:r>
            <a:r>
              <a:rPr lang="en-US" dirty="0"/>
              <a:t> = number of candidate </a:t>
            </a:r>
            <a:r>
              <a:rPr lang="en-US" dirty="0" err="1"/>
              <a:t>itemsets</a:t>
            </a:r>
            <a:r>
              <a:rPr lang="en-US" dirty="0"/>
              <a:t> </a:t>
            </a:r>
          </a:p>
          <a:p>
            <a:r>
              <a:rPr lang="en-US" b="1" dirty="0"/>
              <a:t>w</a:t>
            </a:r>
            <a:r>
              <a:rPr lang="en-US" dirty="0"/>
              <a:t> = size (length) of itemset</a:t>
            </a:r>
          </a:p>
          <a:p>
            <a:r>
              <a:rPr lang="en-US" b="1" dirty="0"/>
              <a:t>Complexity:</a:t>
            </a:r>
          </a:p>
          <a:p>
            <a:r>
              <a:rPr lang="en-US" dirty="0"/>
              <a:t>Time ≈ </a:t>
            </a:r>
            <a:r>
              <a:rPr lang="en-US" b="1" dirty="0"/>
              <a:t>O(N × M × w)</a:t>
            </a:r>
            <a:r>
              <a:rPr lang="en-US" dirty="0"/>
              <a:t> </a:t>
            </a:r>
          </a:p>
          <a:p>
            <a:r>
              <a:rPr lang="en-US" dirty="0"/>
              <a:t>Since </a:t>
            </a:r>
            <a:r>
              <a:rPr lang="en-US" b="1" dirty="0"/>
              <a:t>M = 2ᵈ</a:t>
            </a:r>
            <a:r>
              <a:rPr lang="en-US" dirty="0"/>
              <a:t>, it becomes </a:t>
            </a:r>
            <a:r>
              <a:rPr lang="en-US" b="1" dirty="0"/>
              <a:t>very large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30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Reduce number of candidates (M)</a:t>
            </a:r>
          </a:p>
          <a:p>
            <a:r>
              <a:rPr lang="en-US" dirty="0"/>
              <a:t>Total candidates = </a:t>
            </a:r>
            <a:r>
              <a:rPr lang="en-US" b="1" dirty="0"/>
              <a:t>2ᵈ</a:t>
            </a:r>
            <a:r>
              <a:rPr lang="en-US" dirty="0"/>
              <a:t> (very large) </a:t>
            </a:r>
          </a:p>
          <a:p>
            <a:r>
              <a:rPr lang="en-US" dirty="0"/>
              <a:t>Use </a:t>
            </a:r>
            <a:r>
              <a:rPr lang="en-US" b="1" dirty="0"/>
              <a:t>pruning</a:t>
            </a:r>
            <a:r>
              <a:rPr lang="en-US" dirty="0"/>
              <a:t> → remove unnecessary </a:t>
            </a:r>
            <a:r>
              <a:rPr lang="en-US" dirty="0" err="1"/>
              <a:t>itemsets</a:t>
            </a:r>
            <a:r>
              <a:rPr lang="en-US" dirty="0"/>
              <a:t> early</a:t>
            </a:r>
            <a:br>
              <a:rPr lang="en-US" dirty="0"/>
            </a:br>
            <a:r>
              <a:rPr lang="en-US" dirty="0"/>
              <a:t>(do not check all combinations)</a:t>
            </a:r>
          </a:p>
          <a:p>
            <a:r>
              <a:rPr lang="en-US" b="1" dirty="0"/>
              <a:t>2. Reduce number of transactions (N)</a:t>
            </a:r>
          </a:p>
          <a:p>
            <a:r>
              <a:rPr lang="en-US" dirty="0"/>
              <a:t>As </a:t>
            </a:r>
            <a:r>
              <a:rPr lang="en-US" dirty="0" err="1"/>
              <a:t>itemsets</a:t>
            </a:r>
            <a:r>
              <a:rPr lang="en-US" dirty="0"/>
              <a:t> get larger, fewer transactions contain them </a:t>
            </a:r>
          </a:p>
          <a:p>
            <a:r>
              <a:rPr lang="en-US" dirty="0"/>
              <a:t>So we can </a:t>
            </a:r>
            <a:r>
              <a:rPr lang="en-US" b="1" dirty="0"/>
              <a:t>ignore some transactions</a:t>
            </a:r>
            <a:r>
              <a:rPr lang="en-US" dirty="0"/>
              <a:t> </a:t>
            </a:r>
          </a:p>
          <a:p>
            <a:r>
              <a:rPr lang="en-US" dirty="0"/>
              <a:t>Used in algorithms like </a:t>
            </a:r>
            <a:r>
              <a:rPr lang="en-US" b="1" dirty="0"/>
              <a:t>DHP, vertical mining</a:t>
            </a:r>
            <a:endParaRPr lang="en-US" dirty="0"/>
          </a:p>
          <a:p>
            <a:r>
              <a:rPr lang="en-US" b="1" dirty="0"/>
              <a:t>3. Reduce number of comparisons (N × M)</a:t>
            </a:r>
          </a:p>
          <a:p>
            <a:r>
              <a:rPr lang="en-US" dirty="0"/>
              <a:t>Avoid checking every candidate with every transaction </a:t>
            </a:r>
          </a:p>
          <a:p>
            <a:r>
              <a:rPr lang="en-US" dirty="0"/>
              <a:t>Use </a:t>
            </a:r>
            <a:r>
              <a:rPr lang="en-US" b="1" dirty="0"/>
              <a:t>efficient data structures</a:t>
            </a:r>
            <a:r>
              <a:rPr lang="en-US" dirty="0"/>
              <a:t> (like trees, lists)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82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/>
              <a:t>Apriori</a:t>
            </a:r>
            <a:r>
              <a:rPr lang="en-US" b="1" dirty="0"/>
              <a:t> Principle (Main Idea):</a:t>
            </a:r>
          </a:p>
          <a:p>
            <a:r>
              <a:rPr lang="en-US" dirty="0"/>
              <a:t>If an itemset is </a:t>
            </a:r>
            <a:r>
              <a:rPr lang="en-US" b="1" dirty="0"/>
              <a:t>frequent</a:t>
            </a:r>
            <a:r>
              <a:rPr lang="en-US" dirty="0"/>
              <a:t>, then </a:t>
            </a:r>
            <a:r>
              <a:rPr lang="en-US" b="1" dirty="0"/>
              <a:t>all of its subsets must also be frequent</a:t>
            </a:r>
            <a:endParaRPr lang="en-US" dirty="0"/>
          </a:p>
          <a:p>
            <a:r>
              <a:rPr lang="en-US" b="1" dirty="0"/>
              <a:t>Simple Example:</a:t>
            </a:r>
          </a:p>
          <a:p>
            <a:r>
              <a:rPr lang="en-US" dirty="0"/>
              <a:t>If {A, B, C} is frequent → then:</a:t>
            </a:r>
          </a:p>
          <a:p>
            <a:r>
              <a:rPr lang="en-US" dirty="0"/>
              <a:t>{A, B}, {A, C}, {B, C} must also be frequent </a:t>
            </a:r>
          </a:p>
          <a:p>
            <a:r>
              <a:rPr lang="en-US" dirty="0"/>
              <a:t>Also {A}, {B}, {C} must be frequent</a:t>
            </a:r>
          </a:p>
          <a:p>
            <a:r>
              <a:rPr lang="en-US" b="1" dirty="0"/>
              <a:t>Important Rule:</a:t>
            </a:r>
          </a:p>
          <a:p>
            <a:r>
              <a:rPr lang="en-US" dirty="0"/>
              <a:t>If any subset is </a:t>
            </a:r>
            <a:r>
              <a:rPr lang="en-US" b="1" dirty="0"/>
              <a:t>not frequent</a:t>
            </a:r>
            <a:r>
              <a:rPr lang="en-US" dirty="0"/>
              <a:t>, then the larger itemset </a:t>
            </a:r>
            <a:r>
              <a:rPr lang="en-US" b="1" dirty="0"/>
              <a:t>cannot be frequent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{A, B} is not frequent</a:t>
            </a:r>
            <a:br>
              <a:rPr lang="en-US" dirty="0"/>
            </a:br>
            <a:r>
              <a:rPr lang="en-US" dirty="0"/>
              <a:t>→ then {A, B, C} will also NOT be frequent</a:t>
            </a:r>
            <a:br>
              <a:rPr lang="en-US" dirty="0"/>
            </a:br>
            <a:r>
              <a:rPr lang="en-US" dirty="0"/>
              <a:t>→ so we </a:t>
            </a:r>
            <a:r>
              <a:rPr lang="en-US" b="1" dirty="0"/>
              <a:t>skip checking it</a:t>
            </a:r>
            <a:endParaRPr lang="en-US" dirty="0"/>
          </a:p>
          <a:p>
            <a:r>
              <a:rPr lang="en-US" b="1" dirty="0"/>
              <a:t>Why this works (Support property):</a:t>
            </a:r>
          </a:p>
          <a:p>
            <a:r>
              <a:rPr lang="en-US" dirty="0"/>
              <a:t>If X ⊆ Y, then</a:t>
            </a:r>
            <a:br>
              <a:rPr lang="en-US" dirty="0"/>
            </a:br>
            <a:r>
              <a:rPr lang="en-US" b="1" dirty="0"/>
              <a:t>support(X) ≥ support(Y)</a:t>
            </a:r>
            <a:endParaRPr lang="en-US" dirty="0"/>
          </a:p>
          <a:p>
            <a:r>
              <a:rPr lang="en-US" dirty="0"/>
              <a:t>Meaning:</a:t>
            </a:r>
          </a:p>
          <a:p>
            <a:r>
              <a:rPr lang="en-US" dirty="0"/>
              <a:t>Bigger </a:t>
            </a:r>
            <a:r>
              <a:rPr lang="en-US" dirty="0" err="1"/>
              <a:t>itemsets</a:t>
            </a:r>
            <a:r>
              <a:rPr lang="en-US" dirty="0"/>
              <a:t> appear </a:t>
            </a:r>
            <a:r>
              <a:rPr lang="en-US" b="1" dirty="0"/>
              <a:t>less or equal times</a:t>
            </a:r>
            <a:r>
              <a:rPr lang="en-US" dirty="0"/>
              <a:t> </a:t>
            </a:r>
          </a:p>
          <a:p>
            <a:r>
              <a:rPr lang="en-US" dirty="0"/>
              <a:t>Support </a:t>
            </a:r>
            <a:r>
              <a:rPr lang="en-US" b="1" dirty="0"/>
              <a:t>never increases</a:t>
            </a:r>
            <a:r>
              <a:rPr lang="en-US" dirty="0"/>
              <a:t> when we add more items</a:t>
            </a:r>
          </a:p>
          <a:p>
            <a:r>
              <a:rPr lang="en-US" b="1" dirty="0"/>
              <a:t>Key Term:</a:t>
            </a:r>
          </a:p>
          <a:p>
            <a:r>
              <a:rPr lang="en-US" dirty="0"/>
              <a:t>This is called </a:t>
            </a:r>
            <a:r>
              <a:rPr lang="en-US" b="1" dirty="0"/>
              <a:t>anti-monotone property</a:t>
            </a:r>
            <a:r>
              <a:rPr lang="en-US" dirty="0"/>
              <a:t> of support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29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</a:t>
            </a:r>
            <a:r>
              <a:rPr lang="en-US" b="1" dirty="0"/>
              <a:t>{A, B} is found to be infrequent</a:t>
            </a:r>
            <a:r>
              <a:rPr lang="en-US" dirty="0"/>
              <a:t> (low support)</a:t>
            </a:r>
          </a:p>
          <a:p>
            <a:r>
              <a:rPr lang="en-US" b="1" dirty="0"/>
              <a:t>Apply </a:t>
            </a:r>
            <a:r>
              <a:rPr lang="en-US" b="1" dirty="0" err="1"/>
              <a:t>Apriori</a:t>
            </a:r>
            <a:r>
              <a:rPr lang="en-US" b="1" dirty="0"/>
              <a:t> Principle:</a:t>
            </a:r>
          </a:p>
          <a:p>
            <a:r>
              <a:rPr lang="en-US" dirty="0"/>
              <a:t>Since {A, B} is not frequent →</a:t>
            </a:r>
            <a:br>
              <a:rPr lang="en-US" dirty="0"/>
            </a:br>
            <a:r>
              <a:rPr lang="en-US" b="1" dirty="0"/>
              <a:t>any larger itemset containing {A, B} will also be infrequent</a:t>
            </a:r>
            <a:endParaRPr lang="en-US" dirty="0"/>
          </a:p>
          <a:p>
            <a:r>
              <a:rPr lang="en-US" b="1" dirty="0"/>
              <a:t>So we prune (remove):</a:t>
            </a:r>
          </a:p>
          <a:p>
            <a:r>
              <a:rPr lang="en-US" dirty="0"/>
              <a:t>{A, B, C} </a:t>
            </a:r>
          </a:p>
          <a:p>
            <a:r>
              <a:rPr lang="en-US" dirty="0"/>
              <a:t>{A, B, D} </a:t>
            </a:r>
          </a:p>
          <a:p>
            <a:r>
              <a:rPr lang="en-US" dirty="0"/>
              <a:t>{A, B, E} </a:t>
            </a:r>
          </a:p>
          <a:p>
            <a:r>
              <a:rPr lang="en-US" dirty="0"/>
              <a:t>{A, B, C, D} </a:t>
            </a:r>
          </a:p>
          <a:p>
            <a:r>
              <a:rPr lang="en-US" dirty="0"/>
              <a:t>{A, B, C, E} </a:t>
            </a:r>
          </a:p>
          <a:p>
            <a:r>
              <a:rPr lang="en-US" dirty="0"/>
              <a:t>{A, B, D, E} </a:t>
            </a:r>
          </a:p>
          <a:p>
            <a:r>
              <a:rPr lang="en-US" dirty="0"/>
              <a:t>{A, B, C, D, E} </a:t>
            </a:r>
          </a:p>
          <a:p>
            <a:r>
              <a:rPr lang="en-US" dirty="0"/>
              <a:t>(All supersets of AB are removed)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63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 3: Apply </a:t>
            </a:r>
            <a:r>
              <a:rPr lang="en-US" b="1" dirty="0" err="1"/>
              <a:t>Apriori</a:t>
            </a:r>
            <a:r>
              <a:rPr lang="en-US" b="1" dirty="0"/>
              <a:t> (Pruning)</a:t>
            </a:r>
          </a:p>
          <a:p>
            <a:r>
              <a:rPr lang="en-US" dirty="0"/>
              <a:t>Keep only items with support ≥ 3:</a:t>
            </a:r>
          </a:p>
          <a:p>
            <a:r>
              <a:rPr lang="en-US" dirty="0"/>
              <a:t>Bread, Milk, Diaper, Beer → </a:t>
            </a:r>
            <a:r>
              <a:rPr lang="en-US" b="1" dirty="0"/>
              <a:t>Frequent</a:t>
            </a:r>
            <a:r>
              <a:rPr lang="en-US" dirty="0"/>
              <a:t> </a:t>
            </a:r>
          </a:p>
          <a:p>
            <a:r>
              <a:rPr lang="en-US" dirty="0"/>
              <a:t>Coke, Eggs → </a:t>
            </a:r>
            <a:r>
              <a:rPr lang="en-US" b="1" dirty="0"/>
              <a:t>Remove (infrequent)</a:t>
            </a:r>
            <a:endParaRPr lang="en-US" dirty="0"/>
          </a:p>
          <a:p>
            <a:r>
              <a:rPr lang="en-US" b="1" dirty="0"/>
              <a:t>Step 4: Candidate Reduction</a:t>
            </a:r>
          </a:p>
          <a:p>
            <a:r>
              <a:rPr lang="en-US" dirty="0"/>
              <a:t>Without pruning:</a:t>
            </a:r>
          </a:p>
          <a:p>
            <a:r>
              <a:rPr lang="en-US" dirty="0"/>
              <a:t>Total subsets =</a:t>
            </a:r>
            <a:br>
              <a:rPr lang="en-US" dirty="0"/>
            </a:br>
            <a:r>
              <a:rPr lang="en-US" dirty="0"/>
              <a:t>6C1 + 6C2 + 6C3 = 6 + 15 + 20 = </a:t>
            </a:r>
            <a:r>
              <a:rPr lang="en-US" b="1" dirty="0"/>
              <a:t>41</a:t>
            </a:r>
            <a:r>
              <a:rPr lang="en-US" dirty="0"/>
              <a:t> </a:t>
            </a:r>
          </a:p>
          <a:p>
            <a:r>
              <a:rPr lang="en-US" dirty="0"/>
              <a:t>With pruning:</a:t>
            </a:r>
          </a:p>
          <a:p>
            <a:r>
              <a:rPr lang="en-US" dirty="0"/>
              <a:t>Only use frequent items (4 items now) </a:t>
            </a:r>
          </a:p>
          <a:p>
            <a:r>
              <a:rPr lang="en-US" dirty="0"/>
              <a:t>So: </a:t>
            </a:r>
          </a:p>
          <a:p>
            <a:pPr lvl="1"/>
            <a:r>
              <a:rPr lang="en-US" dirty="0"/>
              <a:t>1-itemsets = 4 </a:t>
            </a:r>
          </a:p>
          <a:p>
            <a:pPr lvl="1"/>
            <a:r>
              <a:rPr lang="en-US" dirty="0"/>
              <a:t>2-itemsets = 6 </a:t>
            </a:r>
          </a:p>
          <a:p>
            <a:pPr lvl="1"/>
            <a:r>
              <a:rPr lang="en-US" dirty="0"/>
              <a:t>3-itemsets = 4</a:t>
            </a:r>
            <a:br>
              <a:rPr lang="en-US" dirty="0"/>
            </a:br>
            <a:r>
              <a:rPr lang="en-US" dirty="0"/>
              <a:t>→ Total = </a:t>
            </a:r>
            <a:r>
              <a:rPr lang="en-US" b="1" dirty="0"/>
              <a:t>13</a:t>
            </a:r>
            <a:endParaRPr lang="en-US" dirty="0"/>
          </a:p>
          <a:p>
            <a:r>
              <a:rPr lang="en-US" dirty="0"/>
              <a:t>Remove infrequent items early (Coke, Eggs) Do not generate combinations using them This </a:t>
            </a:r>
            <a:r>
              <a:rPr lang="en-US" b="1" dirty="0"/>
              <a:t>greatly reduces number of candidates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819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ABC162-D583-4FB3-8C93-36FAA635181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Goal: How to generate next candidates?</a:t>
            </a:r>
          </a:p>
          <a:p>
            <a:r>
              <a:rPr lang="en-US" dirty="0"/>
              <a:t>We want to go from:</a:t>
            </a:r>
          </a:p>
          <a:p>
            <a:r>
              <a:rPr lang="en-US" b="1" dirty="0"/>
              <a:t>L₃ (3-itemsets)</a:t>
            </a:r>
            <a:r>
              <a:rPr lang="en-US" dirty="0"/>
              <a:t> → </a:t>
            </a:r>
            <a:r>
              <a:rPr lang="en-US" b="1" dirty="0"/>
              <a:t>L₄ (4-itemsets)</a:t>
            </a:r>
            <a:endParaRPr lang="en-US" dirty="0"/>
          </a:p>
          <a:p>
            <a:r>
              <a:rPr lang="en-US" b="1" dirty="0"/>
              <a:t>Step 1: Self-Joining (Combine sets)</a:t>
            </a:r>
          </a:p>
          <a:p>
            <a:r>
              <a:rPr lang="en-US" dirty="0"/>
              <a:t>We combine </a:t>
            </a:r>
            <a:r>
              <a:rPr lang="en-US" dirty="0" err="1"/>
              <a:t>itemsets</a:t>
            </a:r>
            <a:r>
              <a:rPr lang="en-US" dirty="0"/>
              <a:t> that are </a:t>
            </a:r>
            <a:r>
              <a:rPr lang="en-US" b="1" dirty="0"/>
              <a:t>almost same</a:t>
            </a:r>
            <a:endParaRPr lang="en-US" dirty="0"/>
          </a:p>
          <a:p>
            <a:r>
              <a:rPr lang="en-US" b="1" dirty="0"/>
              <a:t>Rule:</a:t>
            </a:r>
          </a:p>
          <a:p>
            <a:r>
              <a:rPr lang="en-US" dirty="0"/>
              <a:t>Two </a:t>
            </a:r>
            <a:r>
              <a:rPr lang="en-US" dirty="0" err="1"/>
              <a:t>itemsets</a:t>
            </a:r>
            <a:r>
              <a:rPr lang="en-US" dirty="0"/>
              <a:t> can join if:</a:t>
            </a:r>
          </a:p>
          <a:p>
            <a:r>
              <a:rPr lang="en-US" dirty="0"/>
              <a:t>First (k−2) items are same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L₃ = {ABC, ABD, ACD, ACE, BCD}</a:t>
            </a:r>
          </a:p>
          <a:p>
            <a:r>
              <a:rPr lang="en-US" b="1" dirty="0"/>
              <a:t>Join:</a:t>
            </a:r>
          </a:p>
          <a:p>
            <a:r>
              <a:rPr lang="en-US" dirty="0"/>
              <a:t>ABC + ABD → </a:t>
            </a:r>
            <a:r>
              <a:rPr lang="en-US" b="1" dirty="0"/>
              <a:t>ABCD</a:t>
            </a:r>
            <a:br>
              <a:rPr lang="en-US" dirty="0"/>
            </a:br>
            <a:r>
              <a:rPr lang="en-US" dirty="0"/>
              <a:t>(same first two items AB) </a:t>
            </a:r>
          </a:p>
          <a:p>
            <a:r>
              <a:rPr lang="en-US" dirty="0"/>
              <a:t>ACD + ACE → </a:t>
            </a:r>
            <a:r>
              <a:rPr lang="en-US" b="1" dirty="0"/>
              <a:t>ACDE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So candidates:</a:t>
            </a:r>
          </a:p>
          <a:p>
            <a:r>
              <a:rPr lang="en-US" dirty="0"/>
              <a:t>ABCD </a:t>
            </a:r>
          </a:p>
          <a:p>
            <a:r>
              <a:rPr lang="en-US" dirty="0"/>
              <a:t>ACDE</a:t>
            </a:r>
          </a:p>
          <a:p>
            <a:r>
              <a:rPr lang="en-US" b="1" dirty="0"/>
              <a:t>Step 2: Pruning (Very important)</a:t>
            </a:r>
          </a:p>
          <a:p>
            <a:r>
              <a:rPr lang="en-US" dirty="0"/>
              <a:t>Now we check:</a:t>
            </a:r>
            <a:br>
              <a:rPr lang="en-US" dirty="0"/>
            </a:br>
            <a:r>
              <a:rPr lang="en-US" dirty="0"/>
              <a:t>👉 Are all subsets of these candidates frequent?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Check ABCD:</a:t>
            </a:r>
          </a:p>
          <a:p>
            <a:r>
              <a:rPr lang="en-US" dirty="0"/>
              <a:t>Subsets:</a:t>
            </a:r>
          </a:p>
          <a:p>
            <a:r>
              <a:rPr lang="en-US" dirty="0"/>
              <a:t>ABC ✅ (in L₃) </a:t>
            </a:r>
          </a:p>
          <a:p>
            <a:r>
              <a:rPr lang="en-US" dirty="0"/>
              <a:t>ABD ✅ </a:t>
            </a:r>
          </a:p>
          <a:p>
            <a:r>
              <a:rPr lang="en-US" dirty="0"/>
              <a:t>ACD ✅ </a:t>
            </a:r>
          </a:p>
          <a:p>
            <a:r>
              <a:rPr lang="en-US" dirty="0"/>
              <a:t>BCD ✅ </a:t>
            </a:r>
          </a:p>
          <a:p>
            <a:r>
              <a:rPr lang="en-US" dirty="0"/>
              <a:t>→ All exist → </a:t>
            </a:r>
            <a:r>
              <a:rPr lang="en-US" b="1" dirty="0"/>
              <a:t>KEEP ABCD</a:t>
            </a:r>
            <a:endParaRPr lang="en-US" dirty="0"/>
          </a:p>
          <a:p>
            <a:r>
              <a:rPr lang="en-US" b="1" dirty="0"/>
              <a:t>Check ACDE:</a:t>
            </a:r>
          </a:p>
          <a:p>
            <a:r>
              <a:rPr lang="en-US" dirty="0"/>
              <a:t>Subsets:</a:t>
            </a:r>
          </a:p>
          <a:p>
            <a:r>
              <a:rPr lang="en-US" dirty="0"/>
              <a:t>ACD ✅ </a:t>
            </a:r>
          </a:p>
          <a:p>
            <a:r>
              <a:rPr lang="en-US" dirty="0"/>
              <a:t>ACE ✅ </a:t>
            </a:r>
          </a:p>
          <a:p>
            <a:r>
              <a:rPr lang="en-US" dirty="0"/>
              <a:t>CDE ❓ </a:t>
            </a:r>
          </a:p>
          <a:p>
            <a:r>
              <a:rPr lang="en-US" dirty="0"/>
              <a:t>ADE ❌ (NOT in L₃) </a:t>
            </a:r>
          </a:p>
          <a:p>
            <a:r>
              <a:rPr lang="en-US" dirty="0"/>
              <a:t>→ One subset (ADE) is missing → </a:t>
            </a:r>
            <a:r>
              <a:rPr lang="en-US" b="1" dirty="0"/>
              <a:t>REMOVE ACDE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Final Result:</a:t>
            </a:r>
          </a:p>
          <a:p>
            <a:r>
              <a:rPr lang="en-US" dirty="0"/>
              <a:t>L₄ = {ABCD}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ABC162-D583-4FB3-8C93-36FAA635181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suffix of first itemset = prefix of second itemset</a:t>
            </a:r>
          </a:p>
          <a:p>
            <a:r>
              <a:rPr lang="en-US" dirty="0"/>
              <a:t>Join two </a:t>
            </a:r>
            <a:r>
              <a:rPr lang="en-US" dirty="0" err="1"/>
              <a:t>itemsets</a:t>
            </a:r>
            <a:r>
              <a:rPr lang="en-US" dirty="0"/>
              <a:t> if:</a:t>
            </a:r>
          </a:p>
          <a:p>
            <a:r>
              <a:rPr lang="en-US" b="1" dirty="0"/>
              <a:t>Last (k−2) items of first = First (k−2) items of second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99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Apriori</a:t>
            </a:r>
            <a:r>
              <a:rPr lang="en-US" dirty="0"/>
              <a:t> improves support counting efficiency by storing candidate </a:t>
            </a:r>
            <a:r>
              <a:rPr lang="en-US" dirty="0" err="1"/>
              <a:t>itemsets</a:t>
            </a:r>
            <a:r>
              <a:rPr lang="en-US" dirty="0"/>
              <a:t> in a hash structure, so instead of comparing every transaction with all candidates, each transaction is only compared with a smaller set of relevant candidates grouped into hash buckets, which significantly reduces the number of comparisons and speeds up the mining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22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Confidence </a:t>
                </a:r>
                <a:r>
                  <a:rPr lang="en-US" b="1" dirty="0"/>
                  <a:t>does NOT always behave nicely (anti-monotone).</a:t>
                </a:r>
              </a:p>
              <a:p>
                <a:r>
                  <a:rPr lang="en-US" dirty="0"/>
                  <a:t>But </a:t>
                </a:r>
                <a:r>
                  <a:rPr lang="en-US" b="1" dirty="0"/>
                  <a:t>in some special case (same itemset)</a:t>
                </a:r>
                <a:r>
                  <a:rPr lang="en-US" dirty="0"/>
                  <a:t> it DOES behave nicely.</a:t>
                </a:r>
              </a:p>
              <a:p>
                <a:r>
                  <a:rPr lang="en-US" dirty="0"/>
                  <a:t>In general, confidence does not satisfy anti-monotonicity since adding items to the antecedent may increase or decrease confidence. However, for rules generated from the same frequent itemset, confidence follows an anti-monotone property with respect to the RHS, meaning as the number of items on the RHS increases, the confidence decreases, i.e.,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𝐴𝐵𝐶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≥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𝐴𝐵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𝐶𝐷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≥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→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𝐵𝐶𝐷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Confidence </a:t>
                </a:r>
                <a:r>
                  <a:rPr lang="en-US" b="1" dirty="0"/>
                  <a:t>does NOT always behave nicely (anti-monotone).</a:t>
                </a:r>
              </a:p>
              <a:p>
                <a:r>
                  <a:rPr lang="en-US" dirty="0"/>
                  <a:t>But </a:t>
                </a:r>
                <a:r>
                  <a:rPr lang="en-US" b="1" dirty="0"/>
                  <a:t>in some special case (same itemset)</a:t>
                </a:r>
                <a:r>
                  <a:rPr lang="en-US" dirty="0"/>
                  <a:t> it DOES behave nicely.</a:t>
                </a:r>
              </a:p>
              <a:p>
                <a:r>
                  <a:rPr lang="en-US" dirty="0"/>
                  <a:t>In general, confidence does not satisfy anti-monotonicity since adding items to the antecedent may increase or decrease confidence. However, for rules generated from the same frequent itemset, confidence follows an anti-monotone property with respect to the RHS, meaning as the number of items on the RHS increases, the confidence decreases, i.e.,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(𝐴𝐵𝐶→𝐷)≥𝑐(𝐴𝐵→𝐶𝐷)≥𝑐(𝐴→𝐵𝐶𝐷)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61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71B6AD-5C52-43BA-82B7-DF562CD3BA26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052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Lift measures REAL relationship between two items</a:t>
                </a:r>
              </a:p>
              <a:p>
                <a:r>
                  <a:rPr lang="en-US" dirty="0"/>
                  <a:t>“Do A and B occur together MORE than expected or not?”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Lift                        </a:t>
                </a:r>
                <a:r>
                  <a:rPr lang="en-US" dirty="0" err="1"/>
                  <a:t>valueMeaning</a:t>
                </a:r>
                <a:endParaRPr 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&gt; 1                        </a:t>
                </a:r>
                <a:r>
                  <a:rPr lang="en-US" dirty="0"/>
                  <a:t>Positive relation (good rule ✅)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= 1                        </a:t>
                </a:r>
                <a:r>
                  <a:rPr lang="en-US" dirty="0"/>
                  <a:t>No relation (independent)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&lt; 1                        </a:t>
                </a:r>
                <a:r>
                  <a:rPr lang="en-US" dirty="0"/>
                  <a:t>Negative relation (misleading ❌)</a:t>
                </a:r>
              </a:p>
              <a:p>
                <a:r>
                  <a:rPr lang="en-US" dirty="0"/>
                  <a:t>Lift is an interestingness measure that evaluates the strength of association between two items by comparing observed co-occurrence with expected independence. It is defined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∩</m:t>
                            </m:r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𝐴</m:t>
                            </m:r>
                          </m:e>
                        </m:d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e>
                        </m:d>
                      </m:den>
                    </m:f>
                  </m:oMath>
                </a14:m>
                <a:r>
                  <a:rPr lang="ar-AE" dirty="0"/>
                  <a:t>. </a:t>
                </a:r>
                <a:r>
                  <a:rPr lang="en-US" dirty="0"/>
                  <a:t>If lift &gt; 1, the items are positively correlated; if lift = 1, they are independent; and if lift &lt; 1, they are negatively correlated. In the example, lift(Basketball, Cereal) = 0.89 shows a misleading rule, while lift(Basketball, Not Cereal) = 1.33 indicates a meaningful association.</a:t>
                </a:r>
              </a:p>
            </p:txBody>
          </p:sp>
        </mc:Choice>
        <mc:Fallback xmlns="">
          <p:sp>
            <p:nvSpPr>
              <p:cNvPr id="130052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</p:spPr>
            <p:txBody>
              <a:bodyPr/>
              <a:lstStyle/>
              <a:p>
                <a:r>
                  <a:rPr lang="en-US" dirty="0"/>
                  <a:t>Lift measures REAL relationship between two items</a:t>
                </a:r>
              </a:p>
              <a:p>
                <a:r>
                  <a:rPr lang="en-US" dirty="0"/>
                  <a:t>“Do A and B occur together MORE than expected or not?”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Lift                        </a:t>
                </a:r>
                <a:r>
                  <a:rPr lang="en-US" dirty="0" err="1"/>
                  <a:t>valueMeaning</a:t>
                </a:r>
                <a:endParaRPr lang="en-US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&gt; 1                        </a:t>
                </a:r>
                <a:r>
                  <a:rPr lang="en-US" dirty="0"/>
                  <a:t>Positive relation (good rule ✅)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= 1                        </a:t>
                </a:r>
                <a:r>
                  <a:rPr lang="en-US" dirty="0"/>
                  <a:t>No relation (independent)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/>
                  <a:t>&lt; 1                        </a:t>
                </a:r>
                <a:r>
                  <a:rPr lang="en-US" dirty="0"/>
                  <a:t>Negative relation (misleading ❌)</a:t>
                </a:r>
              </a:p>
              <a:p>
                <a:r>
                  <a:rPr lang="en-US" dirty="0"/>
                  <a:t>Lift is an interestingness measure that evaluates the strength of association between two items by comparing observed co-occurrence with expected independence. It is defined as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𝑃(𝐴∩𝐵)/𝑃(𝐴)𝑃(𝐵) </a:t>
                </a:r>
                <a:r>
                  <a:rPr lang="ar-AE" dirty="0"/>
                  <a:t>. </a:t>
                </a:r>
                <a:r>
                  <a:rPr lang="en-US" dirty="0"/>
                  <a:t>If lift &gt; 1, the items are positively correlated; if lift = 1, they are independent; and if lift &lt; 1, they are negatively correlated. In the example, lift(Basketball, Cereal) = 0.89 shows a misleading rule, while lift(Basketball, Not Cereal) = 1.33 indicates a meaningful association.</a:t>
                </a:r>
              </a:p>
            </p:txBody>
          </p:sp>
        </mc:Fallback>
      </mc:AlternateContent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Lift and χ² are not always reliable measures because they are affected by null-transactions, which do not contain either item and can distort correlation. Alternative measures such as </a:t>
            </a:r>
            <a:r>
              <a:rPr lang="en-US" dirty="0" err="1"/>
              <a:t>all_confidence</a:t>
            </a:r>
            <a:r>
              <a:rPr lang="en-US" dirty="0"/>
              <a:t> (minimum of P(A|B) and P(B|A)), </a:t>
            </a:r>
            <a:r>
              <a:rPr lang="en-US" dirty="0" err="1"/>
              <a:t>max_confidence</a:t>
            </a:r>
            <a:r>
              <a:rPr lang="en-US" dirty="0"/>
              <a:t> (maximum of both), </a:t>
            </a:r>
            <a:r>
              <a:rPr lang="en-US" dirty="0" err="1"/>
              <a:t>Kulczynski</a:t>
            </a:r>
            <a:r>
              <a:rPr lang="en-US" dirty="0"/>
              <a:t> (average of both), and cosine (geometric mean) provide more balanced and stable evaluation of association between items.</a:t>
            </a:r>
          </a:p>
          <a:p>
            <a:r>
              <a:rPr lang="en-US" dirty="0" err="1"/>
              <a:t>All_confidence</a:t>
            </a:r>
            <a:r>
              <a:rPr lang="en-US" dirty="0"/>
              <a:t>: Take </a:t>
            </a:r>
            <a:r>
              <a:rPr lang="en-US" b="1" dirty="0"/>
              <a:t>minimum confidence,</a:t>
            </a:r>
            <a:r>
              <a:rPr lang="en-US" dirty="0"/>
              <a:t> Gives </a:t>
            </a:r>
            <a:r>
              <a:rPr lang="en-US" b="1" dirty="0"/>
              <a:t>strictest measure</a:t>
            </a:r>
            <a:r>
              <a:rPr lang="en-US" dirty="0"/>
              <a:t> Avoids overestimation</a:t>
            </a:r>
          </a:p>
          <a:p>
            <a:r>
              <a:rPr lang="en-US" dirty="0" err="1"/>
              <a:t>Max_confidence</a:t>
            </a:r>
            <a:r>
              <a:rPr lang="en-US" dirty="0"/>
              <a:t>: Take </a:t>
            </a:r>
            <a:r>
              <a:rPr lang="en-US" b="1" dirty="0"/>
              <a:t>maximum confidence,</a:t>
            </a:r>
            <a:r>
              <a:rPr lang="en-US" dirty="0"/>
              <a:t> Shows strongest direction of rule.</a:t>
            </a:r>
          </a:p>
          <a:p>
            <a:r>
              <a:rPr lang="en-US" dirty="0" err="1"/>
              <a:t>Kulczynski</a:t>
            </a:r>
            <a:r>
              <a:rPr lang="en-US" dirty="0"/>
              <a:t> (</a:t>
            </a:r>
            <a:r>
              <a:rPr lang="en-US" dirty="0" err="1"/>
              <a:t>Kulc</a:t>
            </a:r>
            <a:r>
              <a:rPr lang="en-US" dirty="0"/>
              <a:t>): Average of both directions, Balanced measure.</a:t>
            </a:r>
          </a:p>
          <a:p>
            <a:r>
              <a:rPr lang="en-US" dirty="0"/>
              <a:t>Cosine: Uses geometric mean, Stable and symmetric</a:t>
            </a:r>
          </a:p>
          <a:p>
            <a:r>
              <a:rPr lang="en-US" dirty="0"/>
              <a:t>Lift is useful but not always reliable</a:t>
            </a:r>
          </a:p>
          <a:p>
            <a:r>
              <a:rPr lang="en-US" dirty="0"/>
              <a:t>Better to use </a:t>
            </a:r>
            <a:r>
              <a:rPr lang="en-US" dirty="0" err="1"/>
              <a:t>Kulc</a:t>
            </a:r>
            <a:r>
              <a:rPr lang="en-US" dirty="0"/>
              <a:t> or Cosine for accurate correlation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A44F01-B7E3-454B-9683-8F374F9D0B78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58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A49814-208B-40EB-9BB8-77D0966984A7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>
            <a:normAutofit lnSpcReduction="10000"/>
          </a:bodyPr>
          <a:lstStyle/>
          <a:p>
            <a:r>
              <a:rPr lang="en-US" dirty="0"/>
              <a:t>👉 “Scan database only twice”</a:t>
            </a:r>
          </a:p>
          <a:p>
            <a:r>
              <a:rPr lang="en-US" dirty="0"/>
              <a:t>Normally </a:t>
            </a:r>
            <a:r>
              <a:rPr lang="en-US" dirty="0" err="1"/>
              <a:t>Apriori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❌ Scans database many times</a:t>
            </a:r>
            <a:br>
              <a:rPr lang="en-US" dirty="0"/>
            </a:br>
            <a:r>
              <a:rPr lang="en-US" dirty="0"/>
              <a:t>👉 Very slow for large data</a:t>
            </a:r>
          </a:p>
          <a:p>
            <a:r>
              <a:rPr lang="en-US" dirty="0"/>
              <a:t>Partition method:</a:t>
            </a:r>
            <a:br>
              <a:rPr lang="en-US" dirty="0"/>
            </a:br>
            <a:r>
              <a:rPr lang="en-US" dirty="0"/>
              <a:t>✅ Only </a:t>
            </a:r>
            <a:r>
              <a:rPr lang="en-US" b="1" dirty="0"/>
              <a:t>2 scans needed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“If an itemset is globally frequent, it must be frequent in at least one partition”</a:t>
            </a:r>
          </a:p>
          <a:p>
            <a:r>
              <a:rPr lang="en-US" b="1" dirty="0"/>
              <a:t>🔸 Meaning:</a:t>
            </a:r>
          </a:p>
          <a:p>
            <a:r>
              <a:rPr lang="en-US" dirty="0"/>
              <a:t>Divide database into small parts (partitions) </a:t>
            </a:r>
          </a:p>
          <a:p>
            <a:r>
              <a:rPr lang="en-US" dirty="0"/>
              <a:t>If an itemset is truly frequent overall,</a:t>
            </a:r>
            <a:br>
              <a:rPr lang="en-US" dirty="0"/>
            </a:br>
            <a:r>
              <a:rPr lang="en-US" dirty="0"/>
              <a:t>👉 it must appear frequently in at least one part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Scan 1 (Local Frequent):</a:t>
            </a:r>
          </a:p>
          <a:p>
            <a:r>
              <a:rPr lang="en-US" dirty="0"/>
              <a:t>For each partition:</a:t>
            </a:r>
          </a:p>
          <a:p>
            <a:r>
              <a:rPr lang="en-US" dirty="0"/>
              <a:t>Find </a:t>
            </a:r>
            <a:r>
              <a:rPr lang="en-US" b="1" dirty="0"/>
              <a:t>local frequent </a:t>
            </a:r>
            <a:r>
              <a:rPr lang="en-US" b="1" dirty="0" err="1"/>
              <a:t>itemsets</a:t>
            </a:r>
            <a:endParaRPr lang="en-US" dirty="0"/>
          </a:p>
          <a:p>
            <a:r>
              <a:rPr lang="en-US" dirty="0"/>
              <a:t>Use same min support (adjusted locally)</a:t>
            </a:r>
          </a:p>
          <a:p>
            <a:endParaRPr lang="en-US" dirty="0"/>
          </a:p>
          <a:p>
            <a:r>
              <a:rPr lang="en-US" dirty="0"/>
              <a:t>Combine Candidates:</a:t>
            </a:r>
          </a:p>
          <a:p>
            <a:r>
              <a:rPr lang="en-US" dirty="0"/>
              <a:t>Collect all local frequent </a:t>
            </a:r>
            <a:r>
              <a:rPr lang="en-US" dirty="0" err="1"/>
              <a:t>itemsets</a:t>
            </a:r>
            <a:endParaRPr lang="en-US" dirty="0"/>
          </a:p>
          <a:p>
            <a:r>
              <a:rPr lang="en-US" dirty="0"/>
              <a:t>This becomes </a:t>
            </a:r>
            <a:r>
              <a:rPr lang="en-US" b="1" dirty="0"/>
              <a:t>global candidates</a:t>
            </a:r>
          </a:p>
          <a:p>
            <a:endParaRPr lang="en-US" b="1" dirty="0"/>
          </a:p>
          <a:p>
            <a:r>
              <a:rPr lang="en-US" dirty="0"/>
              <a:t>Scan 2 (Global Counting):</a:t>
            </a:r>
          </a:p>
          <a:p>
            <a:r>
              <a:rPr lang="en-US" dirty="0"/>
              <a:t>👉 Scan whole DB again</a:t>
            </a:r>
            <a:br>
              <a:rPr lang="en-US" dirty="0"/>
            </a:br>
            <a:r>
              <a:rPr lang="en-US" dirty="0"/>
              <a:t>👉 Count support of these candidates</a:t>
            </a:r>
          </a:p>
          <a:p>
            <a:r>
              <a:rPr lang="en-US" dirty="0"/>
              <a:t>Partition algorithm divides the database into smaller partitions and finds local frequent </a:t>
            </a:r>
            <a:r>
              <a:rPr lang="en-US" dirty="0" err="1"/>
              <a:t>itemsets</a:t>
            </a:r>
            <a:r>
              <a:rPr lang="en-US" dirty="0"/>
              <a:t> in each partition during the first scan. Since any globally frequent itemset must be frequent in at least one partition, all local frequent </a:t>
            </a:r>
            <a:r>
              <a:rPr lang="en-US" dirty="0" err="1"/>
              <a:t>itemsets</a:t>
            </a:r>
            <a:r>
              <a:rPr lang="en-US" dirty="0"/>
              <a:t> are combined to form candidate sets. In the second scan, these candidates are checked against the entire database to find globally frequent </a:t>
            </a:r>
            <a:r>
              <a:rPr lang="en-US" dirty="0" err="1"/>
              <a:t>itemsets</a:t>
            </a:r>
            <a:r>
              <a:rPr lang="en-US" dirty="0"/>
              <a:t>, thus reducing database scans to only two and improving efficiency.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B81AD2-57A1-4752-BB4A-A5E7D8933A96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“If a hash bucket count is below support threshold → </a:t>
            </a:r>
            <a:r>
              <a:rPr lang="en-US" dirty="0" err="1"/>
              <a:t>itemsets</a:t>
            </a:r>
            <a:r>
              <a:rPr lang="en-US" dirty="0"/>
              <a:t> in that bucket cannot be frequent</a:t>
            </a:r>
          </a:p>
          <a:p>
            <a:r>
              <a:rPr lang="en-US" dirty="0"/>
              <a:t>DHP (Direct Hashing and Pruning) reduces the number of candidate </a:t>
            </a:r>
            <a:r>
              <a:rPr lang="en-US" dirty="0" err="1"/>
              <a:t>itemsets</a:t>
            </a:r>
            <a:r>
              <a:rPr lang="en-US" dirty="0"/>
              <a:t> by hashing them into buckets and counting occurrences. If the count of a bucket is less than the minimum support threshold, then all </a:t>
            </a:r>
            <a:r>
              <a:rPr lang="en-US" dirty="0" err="1"/>
              <a:t>itemsets</a:t>
            </a:r>
            <a:r>
              <a:rPr lang="en-US" dirty="0"/>
              <a:t> mapped to that bucket are pruned since they cannot be frequent. This approach helps eliminate many candidates early and improves the efficiency of frequent itemset mining.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A49814-208B-40EB-9BB8-77D0966984A7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“If a transaction does NOT contain any frequent k-itemset</a:t>
            </a:r>
            <a:br>
              <a:rPr lang="en-US" dirty="0"/>
            </a:br>
            <a:r>
              <a:rPr lang="en-US" dirty="0"/>
              <a:t>→ it cannot contain any frequent (k+1)-itemset”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78949B-8287-4757-B174-EB0ADFD6767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Sampling for frequent pattern mining selects a small portion of the database and applies the </a:t>
            </a:r>
            <a:r>
              <a:rPr lang="en-US" dirty="0" err="1"/>
              <a:t>Apriori</a:t>
            </a:r>
            <a:r>
              <a:rPr lang="en-US" dirty="0"/>
              <a:t> algorithm to find frequent </a:t>
            </a:r>
            <a:r>
              <a:rPr lang="en-US" dirty="0" err="1"/>
              <a:t>itemsets</a:t>
            </a:r>
            <a:r>
              <a:rPr lang="en-US" dirty="0"/>
              <a:t> quickly. These </a:t>
            </a:r>
            <a:r>
              <a:rPr lang="en-US" dirty="0" err="1"/>
              <a:t>itemsets</a:t>
            </a:r>
            <a:r>
              <a:rPr lang="en-US" dirty="0"/>
              <a:t> are then verified by scanning the full database, checking mainly the border </a:t>
            </a:r>
            <a:r>
              <a:rPr lang="en-US" dirty="0" err="1"/>
              <a:t>itemsets</a:t>
            </a:r>
            <a:r>
              <a:rPr lang="en-US" dirty="0"/>
              <a:t> instead of all combinations. Finally, another scan is performed to find any missed frequent patterns, making the approach faster while maintaining accuracy.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D25791-7381-4C0F-AEDB-A94689A0D78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DIC reduces scans by dynamically starting the counting of larger </a:t>
            </a:r>
            <a:r>
              <a:rPr lang="en-US" dirty="0" err="1"/>
              <a:t>itemsets</a:t>
            </a:r>
            <a:r>
              <a:rPr lang="en-US" dirty="0"/>
              <a:t> as soon as their subsets are found frequent, instead of waiting for complete passes.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5D3131-574A-4C83-B42B-C2C7F6201AAC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CS252 S05</a:t>
            </a:r>
          </a:p>
        </p:txBody>
      </p:sp>
      <p:sp>
        <p:nvSpPr>
          <p:cNvPr id="74755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E8ECEB-82CC-4598-934F-541F9CB94AD6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747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F085F-0862-4687-969E-A113ED526F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212DC-59E6-444E-AD7D-AB217D4E46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1DB46-EA3B-4771-84A7-EF2A89089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7241A-14B4-47C9-97AA-E825931DE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899CB-E299-4B2F-A5FF-BAA7A44558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54605-094D-467A-98B4-485DD3857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456F1-5FD4-4074-A7F5-122F6C81D7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69C9D-9F2F-431A-8109-7CE4B4AFDF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D69A7-3DB0-47C4-8AB7-03B3E235F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5A3F1-4B91-4C91-96E0-C7B24072A8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256C4-D2FC-483B-A9EE-73C10A4B54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D61D0-5A32-4214-9618-E7413E4A3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51883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B394F-EBBB-4EB1-8E60-E350F2A2F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716607F1-F5B4-40CE-9840-A0B6A98E7C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7176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4" r:id="rId13"/>
    <p:sldLayoutId id="2147483826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e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3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6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30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8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3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3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38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913" y="990600"/>
            <a:ext cx="6781800" cy="1066800"/>
          </a:xfrm>
        </p:spPr>
        <p:txBody>
          <a:bodyPr/>
          <a:lstStyle/>
          <a:p>
            <a:pPr algn="ctr" eaLnBrk="1" hangingPunct="1"/>
            <a:r>
              <a:rPr lang="en-US" sz="2800" dirty="0"/>
              <a:t>Data Mining (CSE 6506)</a:t>
            </a:r>
            <a:br>
              <a:rPr lang="en-US" sz="2800" dirty="0"/>
            </a:br>
            <a:br>
              <a:rPr lang="en-US" sz="2800" dirty="0"/>
            </a:br>
            <a:endParaRPr lang="en-US" sz="2800" b="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eaLnBrk="1" hangingPunct="1">
              <a:lnSpc>
                <a:spcPct val="90000"/>
              </a:lnSpc>
            </a:pPr>
            <a:r>
              <a:rPr lang="en-US" sz="2400"/>
              <a:t>Mahmuda</a:t>
            </a:r>
            <a:r>
              <a:rPr lang="en-US" sz="2400" dirty="0"/>
              <a:t> </a:t>
            </a:r>
            <a:r>
              <a:rPr lang="en-US" sz="2400" dirty="0" err="1"/>
              <a:t>Naznin</a:t>
            </a: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r>
              <a:rPr lang="en-US" sz="2400" dirty="0"/>
              <a:t>Department of Computer Science Engineering, BUET </a:t>
            </a:r>
            <a:br>
              <a:rPr lang="en-US" sz="2400" dirty="0"/>
            </a:br>
            <a:endParaRPr lang="en-US" sz="2400" dirty="0"/>
          </a:p>
          <a:p>
            <a:pPr algn="ctr" eaLnBrk="1" hangingPunct="1">
              <a:lnSpc>
                <a:spcPct val="90000"/>
              </a:lnSpc>
            </a:pPr>
            <a:br>
              <a:rPr lang="en-US" sz="2400" dirty="0"/>
            </a:br>
            <a:endParaRPr lang="en-US" sz="24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1600200"/>
            <a:ext cx="678180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Association Rule Mining (ARM)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01000" cy="762000"/>
          </a:xfrm>
        </p:spPr>
        <p:txBody>
          <a:bodyPr/>
          <a:lstStyle/>
          <a:p>
            <a:r>
              <a:rPr lang="en-US" altLang="en-US" dirty="0"/>
              <a:t>What Are Patterns?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304801" y="1179088"/>
            <a:ext cx="8061959" cy="5450312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What are patterns?</a:t>
            </a:r>
            <a:r>
              <a:rPr lang="en-US" altLang="en-US" sz="2000" dirty="0">
                <a:latin typeface="Calibri" pitchFamily="34" charset="0"/>
              </a:rPr>
              <a:t>  </a:t>
            </a:r>
          </a:p>
          <a:p>
            <a:pPr lvl="1">
              <a:spcAft>
                <a:spcPts val="200"/>
              </a:spcAft>
            </a:pPr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Patterns</a:t>
            </a:r>
            <a:r>
              <a:rPr lang="en-US" altLang="en-US" sz="2000" dirty="0">
                <a:latin typeface="Calibri" pitchFamily="34" charset="0"/>
              </a:rPr>
              <a:t>: A set of items, subsequences, or substructures that occur frequently together (or strongly correlated) in a data set</a:t>
            </a:r>
          </a:p>
          <a:p>
            <a:pPr lvl="1">
              <a:spcAft>
                <a:spcPts val="200"/>
              </a:spcAft>
            </a:pPr>
            <a:r>
              <a:rPr lang="en-US" altLang="en-US" sz="2000" dirty="0">
                <a:latin typeface="Calibri" pitchFamily="34" charset="0"/>
              </a:rPr>
              <a:t>Patterns represent </a:t>
            </a:r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intrinsic</a:t>
            </a:r>
            <a:r>
              <a:rPr lang="en-US" altLang="en-US" sz="2000" dirty="0">
                <a:latin typeface="Calibri" pitchFamily="34" charset="0"/>
              </a:rPr>
              <a:t> and </a:t>
            </a:r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important properties </a:t>
            </a:r>
            <a:r>
              <a:rPr lang="en-US" altLang="en-US" sz="2000" dirty="0">
                <a:latin typeface="Calibri" pitchFamily="34" charset="0"/>
              </a:rPr>
              <a:t>of datasets</a:t>
            </a:r>
          </a:p>
          <a:p>
            <a:pPr marL="737870" lvl="1" indent="-537845" eaLnBrk="1" hangingPunct="1">
              <a:spcBef>
                <a:spcPts val="600"/>
              </a:spcBef>
              <a:spcAft>
                <a:spcPts val="200"/>
              </a:spcAft>
            </a:pPr>
            <a:endParaRPr lang="en-US" altLang="en-US" sz="2000" dirty="0">
              <a:latin typeface="Calibri" pitchFamily="34" charset="0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96B95-4FEA-4DDD-B339-1AD98A290E51}"/>
              </a:ext>
            </a:extLst>
          </p:cNvPr>
          <p:cNvSpPr txBox="1"/>
          <p:nvPr/>
        </p:nvSpPr>
        <p:spPr>
          <a:xfrm>
            <a:off x="4853099" y="5862860"/>
            <a:ext cx="472724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structures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48" y="3409986"/>
            <a:ext cx="2367279" cy="23626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-564980" y="5796044"/>
            <a:ext cx="472724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item set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937" y="3409985"/>
            <a:ext cx="2659922" cy="23626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1882687" y="5839850"/>
            <a:ext cx="4727243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sequences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26" y="3409985"/>
            <a:ext cx="2375590" cy="23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0947-E81E-49E5-90EB-C470D942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Pattern Discovery?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6510-EAD4-4799-8D5D-01B5AECC0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spcAft>
                <a:spcPts val="200"/>
              </a:spcAft>
            </a:pPr>
            <a:r>
              <a:rPr lang="en-US" sz="2000" dirty="0">
                <a:solidFill>
                  <a:srgbClr val="FF0000"/>
                </a:solidFill>
                <a:cs typeface="Calibri"/>
              </a:rPr>
              <a:t>Pattern discovery</a:t>
            </a:r>
            <a:r>
              <a:rPr lang="en-US" sz="2000" dirty="0">
                <a:cs typeface="Calibri"/>
              </a:rPr>
              <a:t>: Uncovering patterns from massive data sets</a:t>
            </a:r>
          </a:p>
          <a:p>
            <a:pPr marL="461645" indent="-461645">
              <a:spcAft>
                <a:spcPts val="200"/>
              </a:spcAft>
            </a:pPr>
            <a:r>
              <a:rPr lang="en-US" sz="2000" dirty="0">
                <a:cs typeface="Calibri"/>
              </a:rPr>
              <a:t>It can answer questions such as: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sz="2000" dirty="0">
                <a:cs typeface="Calibri"/>
              </a:rPr>
              <a:t>What products were often purchased together?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sz="2000" dirty="0">
                <a:cs typeface="Calibri"/>
              </a:rPr>
              <a:t>What are the subsequent purchases after buying an iPad?</a:t>
            </a:r>
          </a:p>
          <a:p>
            <a:pPr marL="737870" lvl="1" indent="-537845">
              <a:spcAft>
                <a:spcPts val="200"/>
              </a:spcAft>
            </a:pPr>
            <a:endParaRPr lang="en-US" sz="2000" dirty="0"/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A128DB11-F5CD-4DD6-B621-7AD57275B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999" y="3385050"/>
            <a:ext cx="3643952" cy="33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Pattern Discovery: Why Is It Important?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04801" y="1186880"/>
            <a:ext cx="8305799" cy="5407884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Foundation</a:t>
            </a:r>
            <a:r>
              <a:rPr lang="en-US" altLang="en-US" dirty="0">
                <a:latin typeface="Calibri" pitchFamily="34" charset="0"/>
              </a:rPr>
              <a:t> for many essential data mining tasks</a:t>
            </a:r>
          </a:p>
          <a:p>
            <a:pPr marL="737870" lvl="1" indent="-537845"/>
            <a:r>
              <a:rPr lang="en-US" altLang="en-US" dirty="0">
                <a:latin typeface="Calibri" pitchFamily="34" charset="0"/>
              </a:rPr>
              <a:t>Association, correlation, and causality analysis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Mining </a:t>
            </a:r>
            <a:r>
              <a:rPr lang="en-US" altLang="en-US" b="1" dirty="0">
                <a:latin typeface="Calibri" pitchFamily="34" charset="0"/>
              </a:rPr>
              <a:t>sequential</a:t>
            </a:r>
            <a:r>
              <a:rPr lang="en-US" altLang="en-US" dirty="0">
                <a:latin typeface="Calibri" pitchFamily="34" charset="0"/>
              </a:rPr>
              <a:t>, structural (e.g., sub-graph) patterns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/>
            <a:r>
              <a:rPr lang="en-US" altLang="en-US" b="1" dirty="0">
                <a:latin typeface="Calibri" pitchFamily="34" charset="0"/>
              </a:rPr>
              <a:t>Classification</a:t>
            </a:r>
            <a:r>
              <a:rPr lang="en-US" altLang="en-US" dirty="0">
                <a:latin typeface="Calibri" pitchFamily="34" charset="0"/>
              </a:rPr>
              <a:t>: Discriminative pattern-based analysis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b="1" dirty="0">
                <a:latin typeface="Calibri" pitchFamily="34" charset="0"/>
              </a:rPr>
              <a:t>Cluster</a:t>
            </a:r>
            <a:r>
              <a:rPr lang="en-US" altLang="en-US" dirty="0">
                <a:latin typeface="Calibri" pitchFamily="34" charset="0"/>
              </a:rPr>
              <a:t> analysis: Pattern-based subspace clustering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Broad applications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Market basket analysis, cross-marketing, catalog design, sale campaign analysis, Web log analysis, biological sequence analysis</a:t>
            </a:r>
          </a:p>
          <a:p>
            <a:pPr lvl="1"/>
            <a:r>
              <a:rPr lang="en-US" dirty="0">
                <a:latin typeface="Calibri" pitchFamily="34" charset="0"/>
                <a:cs typeface="Calibri"/>
              </a:rPr>
              <a:t> Many types of data: spatiotemporal, multimedia, time-series, and stream data </a:t>
            </a:r>
          </a:p>
          <a:p>
            <a:pPr marL="200021" lvl="1" indent="0" eaLnBrk="1" hangingPunct="1">
              <a:spcBef>
                <a:spcPts val="600"/>
              </a:spcBef>
              <a:buNone/>
            </a:pPr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2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What Is Frequent Pattern Analysis?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839200" cy="518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sz="2000" dirty="0">
                <a:solidFill>
                  <a:schemeClr val="hlink"/>
                </a:solidFill>
              </a:rPr>
              <a:t>Frequent pattern</a:t>
            </a:r>
            <a:r>
              <a:rPr lang="en-US" sz="2000" dirty="0"/>
              <a:t>: a pattern (a set of items, subsequences, substructures, etc.) that occurs frequently in a data set 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sz="2000" dirty="0"/>
              <a:t>First proposed by </a:t>
            </a:r>
            <a:r>
              <a:rPr lang="en-US" sz="2000" dirty="0" err="1"/>
              <a:t>Agrawal</a:t>
            </a:r>
            <a:r>
              <a:rPr lang="en-US" sz="2000" dirty="0"/>
              <a:t>, </a:t>
            </a:r>
            <a:r>
              <a:rPr lang="en-US" sz="2000" dirty="0" err="1"/>
              <a:t>Imielinski</a:t>
            </a:r>
            <a:r>
              <a:rPr lang="en-US" sz="2000" dirty="0"/>
              <a:t>, and Swami [AIS93] in the context of </a:t>
            </a:r>
            <a:r>
              <a:rPr lang="en-US" sz="2000" dirty="0">
                <a:solidFill>
                  <a:schemeClr val="hlink"/>
                </a:solidFill>
              </a:rPr>
              <a:t>frequent </a:t>
            </a:r>
            <a:r>
              <a:rPr lang="en-US" sz="2000" dirty="0" err="1">
                <a:solidFill>
                  <a:schemeClr val="hlink"/>
                </a:solidFill>
              </a:rPr>
              <a:t>itemsets</a:t>
            </a:r>
            <a:r>
              <a:rPr lang="en-US" sz="2000" dirty="0"/>
              <a:t> and </a:t>
            </a:r>
            <a:r>
              <a:rPr lang="en-US" sz="2000" dirty="0">
                <a:solidFill>
                  <a:schemeClr val="hlink"/>
                </a:solidFill>
              </a:rPr>
              <a:t>association rule mining</a:t>
            </a:r>
          </a:p>
          <a:p>
            <a:pPr eaLnBrk="1" hangingPunct="1">
              <a:lnSpc>
                <a:spcPct val="130000"/>
              </a:lnSpc>
            </a:pPr>
            <a:r>
              <a:rPr lang="en-US" sz="2000" dirty="0"/>
              <a:t>Motivation: Finding inherent regularities in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/>
              <a:t>What products were often purchased together?— Bread and butter?!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/>
              <a:t>What are the subsequent purchases after buying a PC?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/>
              <a:t>What kinds of DNA are sensitive to this new drug?</a:t>
            </a:r>
          </a:p>
          <a:p>
            <a:pPr eaLnBrk="1" hangingPunct="1">
              <a:lnSpc>
                <a:spcPct val="130000"/>
              </a:lnSpc>
              <a:buSzPct val="80000"/>
            </a:pPr>
            <a:r>
              <a:rPr lang="en-US" sz="2000" dirty="0"/>
              <a:t>Applications</a:t>
            </a:r>
          </a:p>
          <a:p>
            <a:pPr lvl="1" eaLnBrk="1" hangingPunct="1">
              <a:lnSpc>
                <a:spcPct val="130000"/>
              </a:lnSpc>
              <a:buSzPct val="80000"/>
            </a:pPr>
            <a:r>
              <a:rPr lang="en-US" sz="2000" dirty="0"/>
              <a:t>Basket data analysis, cross-marketing, catalog design, sale campaign analysis, Web log (click stream) analysis, and DNA sequence analysis.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6FEA-C94B-4E39-BD18-BFF994DF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Concepts: Transactional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C053-52D5-4087-8577-5EE4007B1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411662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/>
            <a:r>
              <a:rPr lang="en-US" dirty="0">
                <a:cs typeface="Calibri"/>
              </a:rPr>
              <a:t>Transactional Database (TDB)</a:t>
            </a:r>
          </a:p>
          <a:p>
            <a:pPr marL="737870" lvl="1" indent="-537845"/>
            <a:r>
              <a:rPr lang="en-US" dirty="0">
                <a:cs typeface="Calibri"/>
              </a:rPr>
              <a:t>Each transaction is associated with an identifier, called a TID.</a:t>
            </a:r>
          </a:p>
          <a:p>
            <a:pPr marL="737870" lvl="1" indent="-537845"/>
            <a:r>
              <a:rPr lang="en-US" dirty="0">
                <a:cs typeface="Calibri"/>
              </a:rPr>
              <a:t>May also have counts associated with each item sold</a:t>
            </a: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20C2449-7498-4193-9E99-67DCA2F07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88701"/>
              </p:ext>
            </p:extLst>
          </p:nvPr>
        </p:nvGraphicFramePr>
        <p:xfrm>
          <a:off x="2583875" y="3403554"/>
          <a:ext cx="3886200" cy="219399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7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25582" y="228600"/>
            <a:ext cx="8361218" cy="762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Basic Concepts: k-</a:t>
            </a:r>
            <a:r>
              <a:rPr lang="en-US" altLang="en-US" sz="3200" dirty="0" err="1"/>
              <a:t>Itemsets</a:t>
            </a:r>
            <a:r>
              <a:rPr lang="en-US" altLang="en-US" sz="3200" dirty="0"/>
              <a:t> and Their Supports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04296" y="1192096"/>
            <a:ext cx="4551627" cy="4268299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 eaLnBrk="1" hangingPunct="1">
              <a:spcBef>
                <a:spcPts val="600"/>
              </a:spcBef>
            </a:pPr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Itemset</a:t>
            </a:r>
            <a:r>
              <a:rPr lang="en-US" altLang="en-US" sz="2000" dirty="0">
                <a:latin typeface="Calibri" pitchFamily="34" charset="0"/>
              </a:rPr>
              <a:t>: A set of one or more items</a:t>
            </a:r>
            <a:endParaRPr lang="en-US" sz="2000" dirty="0"/>
          </a:p>
          <a:p>
            <a:pPr marL="200025" lvl="1" indent="0">
              <a:spcAft>
                <a:spcPts val="1200"/>
              </a:spcAft>
              <a:buNone/>
            </a:pPr>
            <a:endParaRPr lang="en-US" sz="2000" dirty="0">
              <a:latin typeface="Calibri" pitchFamily="34" charset="0"/>
              <a:cs typeface="Calibri"/>
            </a:endParaRPr>
          </a:p>
          <a:p>
            <a:pPr marL="461645" indent="-461645"/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k-itemset</a:t>
            </a:r>
            <a:r>
              <a:rPr lang="en-US" altLang="en-US" sz="2000" dirty="0">
                <a:latin typeface="Calibri" pitchFamily="34" charset="0"/>
              </a:rPr>
              <a:t>:  An itemset containing k items: 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marL="0" indent="0">
              <a:buNone/>
            </a:pPr>
            <a:r>
              <a:rPr lang="en-US" altLang="en-US" sz="2000" dirty="0">
                <a:latin typeface="Calibri" pitchFamily="34" charset="0"/>
              </a:rPr>
              <a:t>              X = {x</a:t>
            </a:r>
            <a:r>
              <a:rPr lang="en-US" altLang="en-US" sz="2000" baseline="-25000" dirty="0">
                <a:latin typeface="Calibri" pitchFamily="34" charset="0"/>
              </a:rPr>
              <a:t>1</a:t>
            </a:r>
            <a:r>
              <a:rPr lang="en-US" altLang="en-US" sz="2000" dirty="0">
                <a:latin typeface="Calibri" pitchFamily="34" charset="0"/>
              </a:rPr>
              <a:t>, …, </a:t>
            </a:r>
            <a:r>
              <a:rPr lang="en-US" altLang="en-US" sz="2000" dirty="0" err="1">
                <a:latin typeface="Calibri" pitchFamily="34" charset="0"/>
              </a:rPr>
              <a:t>x</a:t>
            </a:r>
            <a:r>
              <a:rPr lang="en-US" altLang="en-US" sz="2000" baseline="-25000" dirty="0" err="1">
                <a:latin typeface="Calibri" pitchFamily="34" charset="0"/>
              </a:rPr>
              <a:t>k</a:t>
            </a:r>
            <a:r>
              <a:rPr lang="en-US" altLang="en-US" sz="2000" dirty="0">
                <a:latin typeface="Calibri" pitchFamily="34" charset="0"/>
              </a:rPr>
              <a:t>}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marL="737870" lvl="1" indent="-537845">
              <a:spcAft>
                <a:spcPts val="1200"/>
              </a:spcAft>
            </a:pPr>
            <a:r>
              <a:rPr lang="en-US" altLang="en-US" sz="2000" dirty="0">
                <a:latin typeface="Calibri" pitchFamily="34" charset="0"/>
              </a:rPr>
              <a:t>Ex. {Beer, Nuts, Diaper} is a 3-itemset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marL="461645" indent="-461645"/>
            <a:r>
              <a:rPr lang="en-US" altLang="en-US" sz="2000" dirty="0">
                <a:solidFill>
                  <a:srgbClr val="FF0000"/>
                </a:solidFill>
                <a:latin typeface="Calibri" pitchFamily="34" charset="0"/>
              </a:rPr>
              <a:t>Absolute support (count)</a:t>
            </a:r>
            <a:endParaRPr lang="en-US" altLang="en-US" sz="2000" dirty="0">
              <a:latin typeface="Calibri" pitchFamily="34" charset="0"/>
            </a:endParaRPr>
          </a:p>
          <a:p>
            <a:pPr marL="737870" lvl="1" indent="-537845"/>
            <a:r>
              <a:rPr lang="en-US" altLang="en-US" sz="2000" dirty="0">
                <a:latin typeface="Calibri" pitchFamily="34" charset="0"/>
              </a:rPr>
              <a:t>sup{X} = occurrences of an itemset X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000" dirty="0">
                <a:latin typeface="Calibri" pitchFamily="34" charset="0"/>
              </a:rPr>
              <a:t>Ex.  sup{Beer} = 3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000" dirty="0">
                <a:latin typeface="Calibri" pitchFamily="34" charset="0"/>
              </a:rPr>
              <a:t>Ex.  sup{Diaper} = 4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000" dirty="0">
                <a:latin typeface="Calibri" pitchFamily="34" charset="0"/>
              </a:rPr>
              <a:t>Ex.  sup{Beer, Diaper} = 3</a:t>
            </a:r>
            <a:endParaRPr lang="en-US" altLang="en-US" sz="20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000" dirty="0">
                <a:latin typeface="Calibri" pitchFamily="34" charset="0"/>
              </a:rPr>
              <a:t>Ex.  sup{Beer, Eggs} = 1</a:t>
            </a:r>
            <a:endParaRPr lang="en-US" altLang="en-US" sz="2000" dirty="0">
              <a:latin typeface="Calibri" pitchFamily="34" charset="0"/>
              <a:cs typeface="Calibri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48328"/>
              </p:ext>
            </p:extLst>
          </p:nvPr>
        </p:nvGraphicFramePr>
        <p:xfrm>
          <a:off x="4702889" y="1177062"/>
          <a:ext cx="3886200" cy="219399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677870" y="3593807"/>
            <a:ext cx="4259755" cy="2466933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/>
            <a:r>
              <a:rPr lang="en-US" altLang="en-US" sz="2000" dirty="0">
                <a:solidFill>
                  <a:srgbClr val="FF0000"/>
                </a:solidFill>
              </a:rPr>
              <a:t>Relative </a:t>
            </a:r>
            <a:r>
              <a:rPr lang="en-US" altLang="en-US" sz="2000" dirty="0">
                <a:solidFill>
                  <a:srgbClr val="FF0000"/>
                </a:solidFill>
                <a:sym typeface="Symbol" pitchFamily="18" charset="2"/>
              </a:rPr>
              <a:t>support</a:t>
            </a:r>
            <a:endParaRPr lang="en-US" sz="2000" dirty="0">
              <a:solidFill>
                <a:srgbClr val="000000"/>
              </a:solidFill>
              <a:sym typeface="Symbol" pitchFamily="18" charset="2"/>
            </a:endParaRPr>
          </a:p>
          <a:p>
            <a:pPr marL="737870" lvl="1" indent="-537845"/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 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{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} =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The fraction of transactions that contains X (i.e., the </a:t>
            </a:r>
            <a:r>
              <a:rPr lang="en-US" altLang="en-US" sz="2000" dirty="0">
                <a:solidFill>
                  <a:srgbClr val="FF0000"/>
                </a:solidFill>
                <a:sym typeface="Symbol" pitchFamily="18" charset="2"/>
              </a:rPr>
              <a:t>probability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 that a transaction contains X)</a:t>
            </a:r>
            <a:endParaRPr lang="en-US" sz="2000" dirty="0">
              <a:cs typeface="Calibri"/>
            </a:endParaRPr>
          </a:p>
          <a:p>
            <a:pPr lvl="1"/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Ex.  s{Beer} = 3/5 = 60%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Ex.  s{Diaper} = 4/5 = 80%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Ex.  s{Beer, Eggs} = 1/5 = 20%</a:t>
            </a:r>
          </a:p>
        </p:txBody>
      </p:sp>
      <p:pic>
        <p:nvPicPr>
          <p:cNvPr id="4" name="Picture 4" descr="A drawing of a person&#10;&#10;Description generated with high confidence">
            <a:extLst>
              <a:ext uri="{FF2B5EF4-FFF2-40B4-BE49-F238E27FC236}">
                <a16:creationId xmlns:a16="http://schemas.microsoft.com/office/drawing/2014/main" id="{5A8D5A0C-3248-46F6-82DF-BF25BEC5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4" y="1579545"/>
            <a:ext cx="2057400" cy="5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25582" y="228600"/>
            <a:ext cx="8361218" cy="762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Basic Concepts: Frequent </a:t>
            </a:r>
            <a:r>
              <a:rPr lang="en-US" altLang="en-US" sz="3200" dirty="0" err="1"/>
              <a:t>Itemsets</a:t>
            </a:r>
            <a:r>
              <a:rPr lang="en-US" altLang="en-US" sz="3200" dirty="0"/>
              <a:t> (Patterns)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494662" y="1177063"/>
            <a:ext cx="4093407" cy="487535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000" dirty="0">
                <a:latin typeface="Calibri" pitchFamily="34" charset="0"/>
                <a:sym typeface="Symbol" pitchFamily="18" charset="2"/>
              </a:rPr>
              <a:t>An </a:t>
            </a:r>
            <a:r>
              <a:rPr lang="en-US" altLang="en-US" sz="2000" dirty="0" err="1">
                <a:latin typeface="Calibri" pitchFamily="34" charset="0"/>
                <a:sym typeface="Symbol" pitchFamily="18" charset="2"/>
              </a:rPr>
              <a:t>itemset</a:t>
            </a:r>
            <a:r>
              <a:rPr lang="en-US" altLang="en-US" sz="2000" dirty="0">
                <a:latin typeface="Calibri" pitchFamily="34" charset="0"/>
                <a:sym typeface="Symbol" pitchFamily="18" charset="2"/>
              </a:rPr>
              <a:t> (or a pattern) X is </a:t>
            </a:r>
            <a:r>
              <a:rPr lang="en-US" altLang="en-US" sz="20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frequent</a:t>
            </a:r>
            <a:r>
              <a:rPr lang="en-US" altLang="en-US" sz="2000" dirty="0">
                <a:latin typeface="Calibri" pitchFamily="34" charset="0"/>
                <a:sym typeface="Symbol" pitchFamily="18" charset="2"/>
              </a:rPr>
              <a:t> if the support of X is no less than a </a:t>
            </a:r>
            <a:r>
              <a:rPr lang="en-US" altLang="en-US" sz="2000" i="1" dirty="0" err="1">
                <a:latin typeface="Calibri" pitchFamily="34" charset="0"/>
                <a:sym typeface="Symbol" pitchFamily="18" charset="2"/>
              </a:rPr>
              <a:t>minsup</a:t>
            </a:r>
            <a:r>
              <a:rPr lang="en-US" altLang="en-US" sz="2000" dirty="0">
                <a:latin typeface="Calibri" pitchFamily="34" charset="0"/>
                <a:sym typeface="Symbol" pitchFamily="18" charset="2"/>
              </a:rPr>
              <a:t> threshold </a:t>
            </a:r>
            <a:r>
              <a:rPr lang="el-GR" altLang="en-US" sz="20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000" dirty="0">
                <a:latin typeface="Calibri" pitchFamily="34" charset="0"/>
                <a:sym typeface="Symbol" pitchFamily="18" charset="2"/>
              </a:rPr>
              <a:t> </a:t>
            </a:r>
          </a:p>
          <a:p>
            <a:pPr>
              <a:spcBef>
                <a:spcPts val="200"/>
              </a:spcBef>
              <a:defRPr/>
            </a:pPr>
            <a:r>
              <a:rPr lang="en-US" altLang="en-US" sz="2000" dirty="0">
                <a:latin typeface="Calibri" panose="020F0502020204030204" pitchFamily="34" charset="0"/>
              </a:rPr>
              <a:t>Let</a:t>
            </a:r>
            <a:r>
              <a:rPr lang="en-US" altLang="en-US" sz="2000" i="1" dirty="0">
                <a:latin typeface="Calibri" panose="020F0502020204030204" pitchFamily="34" charset="0"/>
              </a:rPr>
              <a:t> </a:t>
            </a:r>
            <a:r>
              <a:rPr lang="el-GR" altLang="en-US" sz="20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000" i="1" dirty="0">
                <a:latin typeface="Calibri" panose="020F0502020204030204" pitchFamily="34" charset="0"/>
              </a:rPr>
              <a:t> = 50%  </a:t>
            </a:r>
            <a:r>
              <a:rPr lang="en-US" altLang="en-US" sz="2000" dirty="0">
                <a:latin typeface="Calibri" panose="020F0502020204030204" pitchFamily="34" charset="0"/>
              </a:rPr>
              <a:t>(</a:t>
            </a:r>
            <a:r>
              <a:rPr lang="el-GR" altLang="en-US" sz="20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0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sz="20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000" dirty="0">
                <a:latin typeface="Calibri" panose="020F0502020204030204" pitchFamily="34" charset="0"/>
              </a:rPr>
              <a:t> threshold)</a:t>
            </a:r>
          </a:p>
          <a:p>
            <a:pPr marL="287344" lvl="1" indent="0">
              <a:spcBef>
                <a:spcPts val="200"/>
              </a:spcBef>
              <a:spcAft>
                <a:spcPts val="1200"/>
              </a:spcAft>
              <a:buNone/>
              <a:defRPr/>
            </a:pPr>
            <a:r>
              <a:rPr lang="en-US" altLang="en-US" sz="2000" dirty="0">
                <a:latin typeface="Calibri" panose="020F0502020204030204" pitchFamily="34" charset="0"/>
              </a:rPr>
              <a:t>for the given 5-transaction dataset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latin typeface="Calibri" panose="020F0502020204030204" pitchFamily="34" charset="0"/>
              </a:rPr>
              <a:t>All the frequent 1-itemsets: 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7030A0"/>
                </a:solidFill>
                <a:latin typeface="Calibri" panose="020F0502020204030204" pitchFamily="34" charset="0"/>
              </a:rPr>
              <a:t>Beer: 3/5 (60%); Nuts: 3/5 (60%);</a:t>
            </a:r>
            <a:br>
              <a:rPr lang="en-US" altLang="en-US" sz="2000" dirty="0">
                <a:solidFill>
                  <a:srgbClr val="7030A0"/>
                </a:solidFill>
                <a:latin typeface="Calibri" panose="020F0502020204030204" pitchFamily="34" charset="0"/>
              </a:rPr>
            </a:br>
            <a:r>
              <a:rPr lang="en-US" altLang="en-US" sz="2000" dirty="0">
                <a:solidFill>
                  <a:srgbClr val="7030A0"/>
                </a:solidFill>
                <a:latin typeface="Calibri" panose="020F0502020204030204" pitchFamily="34" charset="0"/>
              </a:rPr>
              <a:t>Diaper: 4/5 (80%); Eggs: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latin typeface="Calibri" panose="020F0502020204030204" pitchFamily="34" charset="0"/>
              </a:rPr>
              <a:t>All the frequent 2-itemsets:  </a:t>
            </a:r>
          </a:p>
          <a:p>
            <a:pPr lvl="2">
              <a:spcBef>
                <a:spcPts val="200"/>
              </a:spcBef>
              <a:spcAft>
                <a:spcPts val="1200"/>
              </a:spcAft>
              <a:defRPr/>
            </a:pPr>
            <a:r>
              <a:rPr lang="en-US" altLang="en-US" sz="2000" dirty="0">
                <a:solidFill>
                  <a:srgbClr val="7030A0"/>
                </a:solidFill>
                <a:latin typeface="Calibri" panose="020F0502020204030204" pitchFamily="34" charset="0"/>
              </a:rPr>
              <a:t>{Beer, Diaper}: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latin typeface="Calibri" panose="020F0502020204030204" pitchFamily="34" charset="0"/>
              </a:rPr>
              <a:t>All the frequent 3-itemsets?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000" dirty="0">
                <a:latin typeface="Calibri" panose="020F0502020204030204" pitchFamily="34" charset="0"/>
              </a:rPr>
              <a:t>None </a:t>
            </a:r>
          </a:p>
          <a:p>
            <a:pPr lvl="2">
              <a:spcBef>
                <a:spcPts val="200"/>
              </a:spcBef>
              <a:defRPr/>
            </a:pPr>
            <a:endParaRPr lang="en-US" altLang="en-US" sz="2000" dirty="0">
              <a:latin typeface="Calibri" panose="020F0502020204030204" pitchFamily="34" charset="0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3580"/>
              </p:ext>
            </p:extLst>
          </p:nvPr>
        </p:nvGraphicFramePr>
        <p:xfrm>
          <a:off x="4749083" y="1419743"/>
          <a:ext cx="3886200" cy="219399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45479" y="3443750"/>
            <a:ext cx="4147457" cy="2471276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85744" indent="-285744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 rot="8451822">
            <a:off x="4201083" y="3041552"/>
            <a:ext cx="352085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78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645479" y="3783727"/>
            <a:ext cx="4093407" cy="2446258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Why do these </a:t>
            </a:r>
            <a:r>
              <a:rPr lang="en-US" altLang="en-US" sz="20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en-US" sz="2000" dirty="0">
                <a:solidFill>
                  <a:srgbClr val="7030A0"/>
                </a:solidFill>
                <a:sym typeface="Symbol" pitchFamily="18" charset="2"/>
              </a:rPr>
              <a:t>shown on the left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) form the complete set of frequent 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-</a:t>
            </a:r>
            <a:r>
              <a:rPr lang="en-US" altLang="en-US" sz="20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 (patterns) for any 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?</a:t>
            </a:r>
          </a:p>
          <a:p>
            <a:r>
              <a:rPr lang="en-US" altLang="en-US" sz="2000" b="1" dirty="0">
                <a:solidFill>
                  <a:srgbClr val="000000"/>
                </a:solidFill>
                <a:sym typeface="Symbol" pitchFamily="18" charset="2"/>
              </a:rPr>
              <a:t>Observation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:  We may need an efficient method to mine a complete set of frequent patterns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9296400" cy="762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From Frequent </a:t>
            </a:r>
            <a:r>
              <a:rPr lang="en-US" altLang="en-US" sz="3200" dirty="0" err="1"/>
              <a:t>Itemsets</a:t>
            </a:r>
            <a:r>
              <a:rPr lang="en-US" altLang="en-US" sz="3200" dirty="0"/>
              <a:t> to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431286" cy="5587315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Compared with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, association rules can be more telling</a:t>
            </a:r>
            <a:endParaRPr lang="en-US" dirty="0"/>
          </a:p>
          <a:p>
            <a:pPr lvl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Ex. 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Diaper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i="1" dirty="0">
                <a:latin typeface="Calibri" panose="020F0502020204030204" pitchFamily="34" charset="0"/>
              </a:rPr>
              <a:t>Beer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  <a:p>
            <a:pPr lvl="2">
              <a:defRPr/>
            </a:pP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Buying diapers may likely lead to buying beers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</p:txBody>
      </p:sp>
      <p:sp>
        <p:nvSpPr>
          <p:cNvPr id="7174" name="Rectangle 38"/>
          <p:cNvSpPr>
            <a:spLocks noChangeArrowheads="1"/>
          </p:cNvSpPr>
          <p:nvPr/>
        </p:nvSpPr>
        <p:spPr bwMode="auto">
          <a:xfrm>
            <a:off x="3733800" y="5410200"/>
            <a:ext cx="533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defTabSz="457178" eaLnBrk="1" hangingPunct="1">
              <a:lnSpc>
                <a:spcPct val="80000"/>
              </a:lnSpc>
              <a:buClr>
                <a:srgbClr val="8C8C8C"/>
              </a:buClr>
            </a:pPr>
            <a:endParaRPr lang="en-US" altLang="en-US" sz="240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</p:txBody>
      </p:sp>
      <p:sp>
        <p:nvSpPr>
          <p:cNvPr id="7176" name="TextBox 2"/>
          <p:cNvSpPr txBox="1">
            <a:spLocks noChangeArrowheads="1"/>
          </p:cNvSpPr>
          <p:nvPr/>
        </p:nvSpPr>
        <p:spPr bwMode="auto">
          <a:xfrm>
            <a:off x="5638800" y="3124200"/>
            <a:ext cx="323929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Note: 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X  Y: the union of two </a:t>
            </a:r>
            <a:r>
              <a:rPr lang="en-US" altLang="en-US" sz="2000" dirty="0" err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itemsets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  <a:p>
            <a:pPr marL="342900" lvl="1" indent="-342900" defTabSz="457178" eaLnBrk="1" hangingPunct="1">
              <a:spcBef>
                <a:spcPct val="0"/>
              </a:spcBef>
              <a:buClrTx/>
              <a:buSzTx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The set contains both X and Y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685800" y="2514600"/>
            <a:ext cx="4713626" cy="3465721"/>
            <a:chOff x="390526" y="3448050"/>
            <a:chExt cx="4410074" cy="2401888"/>
          </a:xfrm>
        </p:grpSpPr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390526" y="3448050"/>
              <a:ext cx="4410074" cy="2401888"/>
              <a:chOff x="152400" y="3810000"/>
              <a:chExt cx="4049726" cy="2630488"/>
            </a:xfrm>
          </p:grpSpPr>
          <p:sp>
            <p:nvSpPr>
              <p:cNvPr id="7177" name="Oval 6"/>
              <p:cNvSpPr>
                <a:spLocks noChangeArrowheads="1"/>
              </p:cNvSpPr>
              <p:nvPr/>
            </p:nvSpPr>
            <p:spPr bwMode="auto">
              <a:xfrm>
                <a:off x="457200" y="4343400"/>
                <a:ext cx="1905000" cy="1371600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8" name="Oval 7"/>
              <p:cNvSpPr>
                <a:spLocks noChangeArrowheads="1"/>
              </p:cNvSpPr>
              <p:nvPr/>
            </p:nvSpPr>
            <p:spPr bwMode="auto">
              <a:xfrm>
                <a:off x="1447800" y="4343400"/>
                <a:ext cx="1905000" cy="1524000"/>
              </a:xfrm>
              <a:prstGeom prst="ellipse">
                <a:avLst/>
              </a:prstGeom>
              <a:solidFill>
                <a:srgbClr val="99CCFF">
                  <a:alpha val="50195"/>
                </a:srgbClr>
              </a:solidFill>
              <a:ln w="2540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9" name="Line 8"/>
              <p:cNvSpPr>
                <a:spLocks noChangeShapeType="1"/>
              </p:cNvSpPr>
              <p:nvPr/>
            </p:nvSpPr>
            <p:spPr bwMode="auto">
              <a:xfrm flipH="1">
                <a:off x="762000" y="5029200"/>
                <a:ext cx="228600" cy="76200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0" name="Line 9"/>
              <p:cNvSpPr>
                <a:spLocks noChangeShapeType="1"/>
              </p:cNvSpPr>
              <p:nvPr/>
            </p:nvSpPr>
            <p:spPr bwMode="auto">
              <a:xfrm flipV="1">
                <a:off x="3048000" y="4495800"/>
                <a:ext cx="228600" cy="68580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1" name="Line 10"/>
              <p:cNvSpPr>
                <a:spLocks noChangeShapeType="1"/>
              </p:cNvSpPr>
              <p:nvPr/>
            </p:nvSpPr>
            <p:spPr bwMode="auto">
              <a:xfrm flipH="1" flipV="1">
                <a:off x="1981200" y="4191000"/>
                <a:ext cx="152400" cy="83820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2" name="Text Box 11"/>
              <p:cNvSpPr txBox="1">
                <a:spLocks noChangeArrowheads="1"/>
              </p:cNvSpPr>
              <p:nvPr/>
            </p:nvSpPr>
            <p:spPr bwMode="auto">
              <a:xfrm>
                <a:off x="2743200" y="3810000"/>
                <a:ext cx="1458926" cy="5326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2998E3"/>
                    </a:solidFill>
                    <a:latin typeface="Calibri" pitchFamily="34" charset="0"/>
                  </a:rPr>
                  <a:t>Containing diaper</a:t>
                </a:r>
                <a:endParaRPr lang="en-US" altLang="en-US" sz="2000" b="1" u="sng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3" name="Text Box 12"/>
              <p:cNvSpPr txBox="1">
                <a:spLocks noChangeArrowheads="1"/>
              </p:cNvSpPr>
              <p:nvPr/>
            </p:nvSpPr>
            <p:spPr bwMode="auto">
              <a:xfrm>
                <a:off x="1347788" y="3810000"/>
                <a:ext cx="1395413" cy="4905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000000"/>
                    </a:solidFill>
                    <a:latin typeface="Calibri" pitchFamily="34" charset="0"/>
                  </a:rPr>
                  <a:t>Containing both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4" name="Text Box 13"/>
              <p:cNvSpPr txBox="1">
                <a:spLocks noChangeArrowheads="1"/>
              </p:cNvSpPr>
              <p:nvPr/>
            </p:nvSpPr>
            <p:spPr bwMode="auto">
              <a:xfrm>
                <a:off x="228600" y="5715000"/>
                <a:ext cx="1460520" cy="301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637052"/>
                    </a:solidFill>
                    <a:latin typeface="Calibri" pitchFamily="34" charset="0"/>
                  </a:rPr>
                  <a:t>Containing beer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5" name="Rectangle 14"/>
              <p:cNvSpPr>
                <a:spLocks noChangeArrowheads="1"/>
              </p:cNvSpPr>
              <p:nvPr/>
            </p:nvSpPr>
            <p:spPr bwMode="auto">
              <a:xfrm>
                <a:off x="152400" y="3810000"/>
                <a:ext cx="3886200" cy="2630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104981" y="4348151"/>
              <a:ext cx="792836" cy="255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Beer</a:t>
              </a:r>
              <a:endParaRPr lang="en-US" sz="1800" b="1" dirty="0">
                <a:solidFill>
                  <a:srgbClr val="0000CC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868728" y="4392020"/>
              <a:ext cx="769684" cy="234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600" b="1" dirty="0">
                  <a:solidFill>
                    <a:srgbClr val="0000CC"/>
                  </a:solidFill>
                </a:rPr>
                <a:t>Diaper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03445" y="4252061"/>
              <a:ext cx="1181252" cy="447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1800" b="1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1800" b="1" dirty="0">
                  <a:solidFill>
                    <a:srgbClr val="0000CC"/>
                  </a:solidFill>
                </a:rPr>
                <a:t>Diaper}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5245" y="5478373"/>
              <a:ext cx="3851952" cy="2772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2000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2000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2000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2000" dirty="0">
                  <a:solidFill>
                    <a:srgbClr val="0000CC"/>
                  </a:solidFill>
                </a:rPr>
                <a:t>Diaper} = </a:t>
              </a:r>
              <a:r>
                <a:rPr lang="en-US" sz="2000" dirty="0">
                  <a:solidFill>
                    <a:srgbClr val="FF0000"/>
                  </a:solidFill>
                </a:rPr>
                <a:t>{Beer, </a:t>
              </a:r>
              <a:r>
                <a:rPr lang="en-US" sz="2000" dirty="0">
                  <a:solidFill>
                    <a:srgbClr val="0000CC"/>
                  </a:solidFill>
                </a:rPr>
                <a:t>Diaper}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7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7543800" cy="960438"/>
          </a:xfrm>
        </p:spPr>
        <p:txBody>
          <a:bodyPr/>
          <a:lstStyle/>
          <a:p>
            <a:r>
              <a:rPr lang="en-US" dirty="0"/>
              <a:t>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95DE-2C0B-4FE1-9B2E-6C2EA3CB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858520" lvl="2" indent="-474345"/>
            <a:endParaRPr lang="en-US" dirty="0">
              <a:cs typeface="Calibri"/>
            </a:endParaRPr>
          </a:p>
          <a:p>
            <a:pPr marL="200025" lvl="1" indent="0"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A689768-02DF-4A97-8F76-088FC421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88035"/>
              </p:ext>
            </p:extLst>
          </p:nvPr>
        </p:nvGraphicFramePr>
        <p:xfrm>
          <a:off x="5756902" y="1480680"/>
          <a:ext cx="3017593" cy="2742636"/>
        </p:xfrm>
        <a:graphic>
          <a:graphicData uri="http://schemas.openxmlformats.org/drawingml/2006/table">
            <a:tbl>
              <a:tblPr/>
              <a:tblGrid>
                <a:gridCol w="414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07BB76D2-BEAF-4EF5-AA60-6B208B7FF561}"/>
              </a:ext>
            </a:extLst>
          </p:cNvPr>
          <p:cNvSpPr txBox="1">
            <a:spLocks noChangeArrowheads="1"/>
          </p:cNvSpPr>
          <p:nvPr/>
        </p:nvSpPr>
        <p:spPr>
          <a:xfrm>
            <a:off x="302000" y="1158223"/>
            <a:ext cx="5410200" cy="41857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>
              <a:defRPr/>
            </a:pPr>
            <a:r>
              <a:rPr lang="en-US" sz="2000" dirty="0">
                <a:latin typeface="Calibri" panose="020F0502020204030204" pitchFamily="34" charset="0"/>
                <a:cs typeface="Calibri"/>
              </a:rPr>
              <a:t>How do we compute the strength of  an association rule </a:t>
            </a:r>
            <a:r>
              <a:rPr lang="en-US" sz="2000" i="1" dirty="0">
                <a:latin typeface="Calibri" panose="020F0502020204030204" pitchFamily="34" charset="0"/>
                <a:cs typeface="Calibri"/>
              </a:rPr>
              <a:t>X</a:t>
            </a:r>
            <a:r>
              <a:rPr lang="en-US" sz="2000" i="1" dirty="0">
                <a:latin typeface="Calibri" panose="020F0502020204030204" pitchFamily="34" charset="0"/>
                <a:cs typeface="Calibri"/>
                <a:sym typeface="Wingdings" pitchFamily="2" charset="2"/>
              </a:rPr>
              <a:t></a:t>
            </a:r>
            <a:r>
              <a:rPr lang="en-US" sz="2000" i="1" dirty="0">
                <a:latin typeface="Calibri" panose="020F0502020204030204" pitchFamily="34" charset="0"/>
                <a:cs typeface="Calibri"/>
              </a:rPr>
              <a:t>   Y 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(Both </a:t>
            </a:r>
            <a:r>
              <a:rPr lang="en-US" sz="2000" i="1" dirty="0">
                <a:latin typeface="Calibri" panose="020F0502020204030204" pitchFamily="34" charset="0"/>
                <a:cs typeface="Calibri"/>
              </a:rPr>
              <a:t>X 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and </a:t>
            </a:r>
            <a:r>
              <a:rPr lang="en-US" sz="2000" i="1" dirty="0">
                <a:latin typeface="Calibri" panose="020F0502020204030204" pitchFamily="34" charset="0"/>
                <a:cs typeface="Calibri"/>
              </a:rPr>
              <a:t>Y 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are </a:t>
            </a:r>
            <a:r>
              <a:rPr lang="en-US" sz="2000" dirty="0" err="1">
                <a:latin typeface="Calibri" panose="020F0502020204030204" pitchFamily="34" charset="0"/>
                <a:cs typeface="Calibri"/>
              </a:rPr>
              <a:t>itemsets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)?</a:t>
            </a:r>
          </a:p>
          <a:p>
            <a:pPr marL="461645" indent="-461645">
              <a:defRPr/>
            </a:pPr>
            <a:r>
              <a:rPr lang="en-US" sz="2000" dirty="0">
                <a:latin typeface="Calibri" panose="020F0502020204030204" pitchFamily="34" charset="0"/>
                <a:cs typeface="Calibri"/>
              </a:rPr>
              <a:t>We first compute the following two metrics, s and c.</a:t>
            </a:r>
          </a:p>
          <a:p>
            <a:pPr marL="737870" lvl="1" indent="-537845">
              <a:defRPr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Support  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  <a:p>
            <a:pPr marL="858520" lvl="2" indent="-474345">
              <a:defRPr/>
            </a:pPr>
            <a:r>
              <a:rPr lang="en-US" sz="2000" dirty="0">
                <a:latin typeface="Calibri" panose="020F0502020204030204" pitchFamily="34" charset="0"/>
                <a:cs typeface="Calibri"/>
              </a:rPr>
              <a:t>Ex. s{Diaper, Beer} = 3/5 = 0.6 (i.e., 60%)</a:t>
            </a:r>
            <a:endParaRPr lang="en-US" sz="2000" dirty="0">
              <a:cs typeface="Calibri"/>
            </a:endParaRPr>
          </a:p>
          <a:p>
            <a:pPr marL="737870" lvl="1" indent="-537845">
              <a:defRPr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Confidence of </a:t>
            </a:r>
            <a:endParaRPr lang="en-US" sz="2000" dirty="0">
              <a:latin typeface="Calibri" panose="020F0502020204030204" pitchFamily="34" charset="0"/>
              <a:cs typeface="Calibri"/>
            </a:endParaRPr>
          </a:p>
          <a:p>
            <a:pPr marL="858520" lvl="2" indent="-474345">
              <a:defRPr/>
            </a:pPr>
            <a:r>
              <a:rPr lang="en-US" sz="2000" dirty="0">
                <a:latin typeface="Calibri" panose="020F0502020204030204" pitchFamily="34" charset="0"/>
                <a:cs typeface="Calibri"/>
              </a:rPr>
              <a:t>The </a:t>
            </a:r>
            <a:r>
              <a:rPr lang="en-US" sz="2000" i="1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conditional probability 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that a transaction containing X also contains </a:t>
            </a:r>
            <a:r>
              <a:rPr lang="en-US" sz="2000" i="1" dirty="0">
                <a:latin typeface="Calibri" panose="020F0502020204030204" pitchFamily="34" charset="0"/>
                <a:cs typeface="Calibri"/>
              </a:rPr>
              <a:t>Y:</a:t>
            </a:r>
            <a:endParaRPr lang="en-US" sz="2000" dirty="0">
              <a:latin typeface="Calibri" panose="020F0502020204030204" pitchFamily="34" charset="0"/>
              <a:cs typeface="Calibri"/>
            </a:endParaRPr>
          </a:p>
          <a:p>
            <a:pPr marL="384175" lvl="2" indent="0">
              <a:buNone/>
              <a:defRPr/>
            </a:pPr>
            <a:r>
              <a:rPr lang="en-US" sz="2000" i="1" dirty="0">
                <a:latin typeface="Calibri" panose="020F0502020204030204" pitchFamily="34" charset="0"/>
                <a:cs typeface="Calibri"/>
              </a:rPr>
              <a:t>     	c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 = sup(</a:t>
            </a:r>
            <a:r>
              <a:rPr lang="en-US" altLang="en-US" sz="2000" i="1" dirty="0">
                <a:latin typeface="Calibri" panose="020F0502020204030204" pitchFamily="34" charset="0"/>
                <a:cs typeface="Calibri"/>
              </a:rPr>
              <a:t>X,</a:t>
            </a:r>
            <a:r>
              <a:rPr lang="en-US" altLang="en-US" sz="2000" i="1" dirty="0">
                <a:latin typeface="Calibri" panose="020F0502020204030204" pitchFamily="34" charset="0"/>
              </a:rPr>
              <a:t> </a:t>
            </a:r>
            <a:r>
              <a:rPr lang="en-US" altLang="en-US" sz="2000" i="1" dirty="0">
                <a:latin typeface="Calibri" panose="020F0502020204030204" pitchFamily="34" charset="0"/>
                <a:sym typeface="Wingdings" pitchFamily="2" charset="2"/>
              </a:rPr>
              <a:t>Y)</a:t>
            </a:r>
            <a:r>
              <a:rPr lang="en-US" altLang="en-US" sz="2000" dirty="0">
                <a:latin typeface="Calibri" panose="020F0502020204030204" pitchFamily="34" charset="0"/>
                <a:sym typeface="Wingdings" pitchFamily="2" charset="2"/>
              </a:rPr>
              <a:t> / sup(</a:t>
            </a:r>
            <a:r>
              <a:rPr lang="en-US" altLang="en-US" sz="2000" dirty="0">
                <a:latin typeface="Calibri" panose="020F0502020204030204" pitchFamily="34" charset="0"/>
                <a:cs typeface="Calibri"/>
              </a:rPr>
              <a:t>X)</a:t>
            </a:r>
          </a:p>
          <a:p>
            <a:pPr marL="858520" lvl="2" indent="-474345">
              <a:spcBef>
                <a:spcPts val="200"/>
              </a:spcBef>
              <a:defRPr/>
            </a:pPr>
            <a:r>
              <a:rPr lang="en-US" sz="2000" dirty="0">
                <a:latin typeface="Calibri" panose="020F0502020204030204" pitchFamily="34" charset="0"/>
                <a:cs typeface="Calibri"/>
              </a:rPr>
              <a:t>Ex. </a:t>
            </a:r>
            <a:r>
              <a:rPr lang="en-US" sz="2000" i="1" dirty="0">
                <a:latin typeface="Calibri" panose="020F0502020204030204" pitchFamily="34" charset="0"/>
                <a:cs typeface="Calibri"/>
              </a:rPr>
              <a:t>c</a:t>
            </a:r>
            <a:r>
              <a:rPr lang="en-US" sz="2000" dirty="0">
                <a:latin typeface="Calibri" panose="020F0502020204030204" pitchFamily="34" charset="0"/>
                <a:cs typeface="Calibri"/>
              </a:rPr>
              <a:t> = sup{Diaper, Beer}/sup{Diaper} = ¾ = 0.75</a:t>
            </a:r>
          </a:p>
          <a:p>
            <a:pPr marL="461645" indent="-461645">
              <a:defRPr/>
            </a:pPr>
            <a:endParaRPr lang="en-US" sz="2000" dirty="0">
              <a:cs typeface="Calibri"/>
            </a:endParaRPr>
          </a:p>
          <a:p>
            <a:pPr marL="384175" lvl="2" indent="0">
              <a:spcBef>
                <a:spcPts val="200"/>
              </a:spcBef>
              <a:buNone/>
              <a:defRPr/>
            </a:pPr>
            <a:endParaRPr lang="en-US" altLang="en-US" sz="2000" i="1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541EF019-4860-415B-845A-70D40EE07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743200"/>
            <a:ext cx="1553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of X  Y</a:t>
            </a:r>
            <a:endParaRPr lang="en-US" altLang="en-US" sz="2400" dirty="0">
              <a:solidFill>
                <a:srgbClr val="FF0000"/>
              </a:solidFill>
              <a:latin typeface="Calibri" pitchFamily="34" charset="0"/>
              <a:cs typeface="Calibri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EA0F56D-551E-464B-AB58-05E0DDDC1A5F}"/>
              </a:ext>
            </a:extLst>
          </p:cNvPr>
          <p:cNvSpPr txBox="1">
            <a:spLocks noChangeArrowheads="1"/>
          </p:cNvSpPr>
          <p:nvPr/>
        </p:nvSpPr>
        <p:spPr>
          <a:xfrm>
            <a:off x="2514600" y="3581400"/>
            <a:ext cx="1209675" cy="5662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lvl="1" indent="0">
              <a:spcBef>
                <a:spcPts val="200"/>
              </a:spcBef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 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Y </a:t>
            </a:r>
            <a:endParaRPr lang="en-US" altLang="en-US" sz="2000" dirty="0">
              <a:solidFill>
                <a:srgbClr val="FF0000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801B6-1CB2-4D0B-AD71-4DD543290BB4}"/>
              </a:ext>
            </a:extLst>
          </p:cNvPr>
          <p:cNvSpPr txBox="1"/>
          <p:nvPr/>
        </p:nvSpPr>
        <p:spPr>
          <a:xfrm>
            <a:off x="298545" y="5497774"/>
            <a:ext cx="7728044" cy="1015663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000" dirty="0"/>
              <a:t>In pattern analysis, we are often interested in those rules that dominate the database, and these two metrics ensure the popularity and correlation</a:t>
            </a:r>
            <a:r>
              <a:rPr lang="en-US" sz="2000" dirty="0">
                <a:cs typeface="Calibri"/>
              </a:rPr>
              <a:t> of X and Y.</a:t>
            </a:r>
          </a:p>
        </p:txBody>
      </p:sp>
    </p:spTree>
    <p:extLst>
      <p:ext uri="{BB962C8B-B14F-4D97-AF65-F5344CB8AC3E}">
        <p14:creationId xmlns:p14="http://schemas.microsoft.com/office/powerpoint/2010/main" val="329892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2400"/>
            <a:ext cx="9296400" cy="762000"/>
          </a:xfrm>
        </p:spPr>
        <p:txBody>
          <a:bodyPr/>
          <a:lstStyle/>
          <a:p>
            <a:r>
              <a:rPr lang="en-US" altLang="en-US" sz="3200" dirty="0"/>
              <a:t>Mining Frequent </a:t>
            </a:r>
            <a:r>
              <a:rPr lang="en-US" altLang="en-US" sz="3200" dirty="0" err="1"/>
              <a:t>Itemsets</a:t>
            </a:r>
            <a:r>
              <a:rPr lang="en-US" altLang="en-US" sz="3200" dirty="0"/>
              <a:t> and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4876800" cy="18489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>
              <a:spcBef>
                <a:spcPts val="200"/>
              </a:spcBef>
              <a:defRPr/>
            </a:pPr>
            <a:r>
              <a:rPr lang="en-US" altLang="en-US" sz="2000" b="1" dirty="0">
                <a:latin typeface="Calibri" panose="020F0502020204030204" pitchFamily="34" charset="0"/>
              </a:rPr>
              <a:t>Association rule mining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Given two thresholds: </a:t>
            </a:r>
            <a:r>
              <a:rPr lang="en-US" altLang="en-US" sz="2000" i="1" dirty="0" err="1">
                <a:solidFill>
                  <a:srgbClr val="FF0000"/>
                </a:solidFill>
                <a:latin typeface="Calibri" panose="020F0502020204030204" pitchFamily="34" charset="0"/>
              </a:rPr>
              <a:t>minsup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, </a:t>
            </a:r>
            <a:r>
              <a:rPr lang="en-US" altLang="en-US" sz="2000" i="1" dirty="0" err="1">
                <a:solidFill>
                  <a:srgbClr val="FF0000"/>
                </a:solidFill>
                <a:latin typeface="Calibri" panose="020F0502020204030204" pitchFamily="34" charset="0"/>
              </a:rPr>
              <a:t>minconf</a:t>
            </a:r>
            <a:endParaRPr lang="en-US" altLang="en-US" sz="20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Find </a:t>
            </a:r>
            <a:r>
              <a:rPr lang="en-US" alt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all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 of the rules, 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Y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(s, c)</a:t>
            </a:r>
            <a:b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</a:b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such that s ≥ </a:t>
            </a:r>
            <a:r>
              <a:rPr lang="en-US" altLang="en-US" sz="2000" i="1" dirty="0" err="1">
                <a:solidFill>
                  <a:srgbClr val="FF0000"/>
                </a:solidFill>
                <a:latin typeface="Calibri" panose="020F0502020204030204" pitchFamily="34" charset="0"/>
              </a:rPr>
              <a:t>minsup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and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  c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≥ </a:t>
            </a:r>
            <a:r>
              <a:rPr lang="en-US" altLang="en-US" sz="2000" i="1" dirty="0" err="1">
                <a:solidFill>
                  <a:srgbClr val="FF0000"/>
                </a:solidFill>
                <a:latin typeface="Calibri" panose="020F0502020204030204" pitchFamily="34" charset="0"/>
              </a:rPr>
              <a:t>minconf</a:t>
            </a:r>
            <a:r>
              <a:rPr lang="en-US" altLang="en-US" sz="2000" i="1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endParaRPr lang="en-US" altLang="en-US" sz="20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1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30459"/>
              </p:ext>
            </p:extLst>
          </p:nvPr>
        </p:nvGraphicFramePr>
        <p:xfrm>
          <a:off x="5257800" y="533400"/>
          <a:ext cx="2572738" cy="2742636"/>
        </p:xfrm>
        <a:graphic>
          <a:graphicData uri="http://schemas.openxmlformats.org/drawingml/2006/table">
            <a:tbl>
              <a:tblPr/>
              <a:tblGrid>
                <a:gridCol w="353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410330" y="3019491"/>
            <a:ext cx="4051312" cy="289771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Let</a:t>
            </a:r>
            <a:r>
              <a:rPr lang="en-US" altLang="en-US" sz="2000" i="1" dirty="0">
                <a:solidFill>
                  <a:srgbClr val="000000"/>
                </a:solidFill>
              </a:rPr>
              <a:t>  </a:t>
            </a:r>
            <a:r>
              <a:rPr lang="en-US" altLang="en-US" sz="2000" i="1" dirty="0" err="1">
                <a:solidFill>
                  <a:srgbClr val="000000"/>
                </a:solidFill>
              </a:rPr>
              <a:t>minsup</a:t>
            </a:r>
            <a:r>
              <a:rPr lang="en-US" altLang="en-US" sz="2000" i="1" dirty="0">
                <a:solidFill>
                  <a:srgbClr val="000000"/>
                </a:solidFill>
              </a:rPr>
              <a:t> = 50%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Freq. 1-itemsets: Beer: 3, Nuts: 3, Diaper: 4, Eggs: 3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Freq. 2-itemsets:  {Beer, Diaper}: 3</a:t>
            </a:r>
            <a:endParaRPr lang="en-US" altLang="en-US" sz="2000" i="1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Let </a:t>
            </a:r>
            <a:r>
              <a:rPr lang="en-US" altLang="en-US" sz="2000" i="1" dirty="0" err="1">
                <a:solidFill>
                  <a:srgbClr val="000000"/>
                </a:solidFill>
              </a:rPr>
              <a:t>minconf</a:t>
            </a:r>
            <a:r>
              <a:rPr lang="en-US" altLang="en-US" sz="2000" i="1" dirty="0">
                <a:solidFill>
                  <a:srgbClr val="000000"/>
                </a:solidFill>
              </a:rPr>
              <a:t> = 50%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000" i="1" dirty="0">
                <a:solidFill>
                  <a:srgbClr val="000000"/>
                </a:solidFill>
              </a:rPr>
              <a:t>Beer </a:t>
            </a:r>
            <a:r>
              <a:rPr lang="en-US" altLang="en-US" sz="20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 Diaper  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(60%, 100%)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i="1" dirty="0">
                <a:solidFill>
                  <a:srgbClr val="000000"/>
                </a:solidFill>
              </a:rPr>
              <a:t>Diaper </a:t>
            </a:r>
            <a:r>
              <a:rPr lang="en-US" altLang="en-US" sz="20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000" i="1" dirty="0">
                <a:solidFill>
                  <a:srgbClr val="000000"/>
                </a:solidFill>
                <a:sym typeface="Symbol" pitchFamily="18" charset="2"/>
              </a:rPr>
              <a:t> Beer  </a:t>
            </a:r>
            <a:r>
              <a:rPr lang="en-US" altLang="en-US" sz="2000" dirty="0">
                <a:solidFill>
                  <a:srgbClr val="000000"/>
                </a:solidFill>
                <a:sym typeface="Symbol" pitchFamily="18" charset="2"/>
              </a:rPr>
              <a:t>(60%, 75%)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4942821" y="3602631"/>
            <a:ext cx="3439510" cy="231457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000" b="1" dirty="0">
                <a:solidFill>
                  <a:srgbClr val="000000"/>
                </a:solidFill>
              </a:rPr>
              <a:t>Observations: 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Mining association rules and mining frequent patterns are very close problems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Scalable methods are needed for mining large datasets</a:t>
            </a:r>
          </a:p>
        </p:txBody>
      </p:sp>
      <p:sp>
        <p:nvSpPr>
          <p:cNvPr id="2" name="Right Arrow 1"/>
          <p:cNvSpPr/>
          <p:nvPr/>
        </p:nvSpPr>
        <p:spPr>
          <a:xfrm rot="8697408">
            <a:off x="4461641" y="2945875"/>
            <a:ext cx="481179" cy="525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55824-7A35-B873-B239-7845FF112E76}"/>
              </a:ext>
            </a:extLst>
          </p:cNvPr>
          <p:cNvSpPr txBox="1"/>
          <p:nvPr/>
        </p:nvSpPr>
        <p:spPr>
          <a:xfrm>
            <a:off x="4541967" y="6150114"/>
            <a:ext cx="4602033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178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33CC"/>
                </a:solidFill>
              </a:rPr>
              <a:t>(Q: Are these all the rules satisfying the two conditions?)</a:t>
            </a:r>
          </a:p>
        </p:txBody>
      </p:sp>
    </p:spTree>
    <p:extLst>
      <p:ext uri="{BB962C8B-B14F-4D97-AF65-F5344CB8AC3E}">
        <p14:creationId xmlns:p14="http://schemas.microsoft.com/office/powerpoint/2010/main" val="74358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1"/>
            <a:ext cx="9144000" cy="93501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Challenge: There Are Too Many Frequent Patterns!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38250"/>
            <a:ext cx="8763000" cy="5181600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 long pattern contains a combinatorial number of sub-patterns</a:t>
            </a:r>
          </a:p>
          <a:p>
            <a:pPr marL="461645" indent="-4616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How many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 does the following 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contain (</a:t>
            </a:r>
            <a:r>
              <a:rPr lang="en-US" altLang="en-US" sz="2400" dirty="0" err="1">
                <a:latin typeface="Calibri" panose="020F0502020204030204" pitchFamily="34" charset="0"/>
                <a:sym typeface="Wingdings" pitchFamily="2" charset="2"/>
              </a:rPr>
              <a:t>minsup</a:t>
            </a:r>
            <a:r>
              <a:rPr lang="en-US" sz="2400" dirty="0">
                <a:latin typeface="Calibri" panose="020F0502020204030204" pitchFamily="34" charset="0"/>
                <a:sym typeface="Wingdings" pitchFamily="2" charset="2"/>
              </a:rPr>
              <a:t> = 1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)?</a:t>
            </a:r>
            <a:endParaRPr lang="en-US" altLang="en-US" sz="2400" dirty="0">
              <a:latin typeface="Calibri" panose="020F0502020204030204" pitchFamily="34" charset="0"/>
              <a:cs typeface="Calibri"/>
            </a:endParaRPr>
          </a:p>
          <a:p>
            <a:pPr marL="737870" lvl="1" indent="-5378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1:	 </a:t>
            </a:r>
            <a:r>
              <a:rPr lang="en-US" altLang="en-US" sz="2400" dirty="0">
                <a:latin typeface="Calibri" panose="020F0502020204030204" pitchFamily="34" charset="0"/>
              </a:rPr>
              <a:t>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};  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endParaRPr lang="en-US" altLang="en-US" sz="2400" dirty="0">
              <a:latin typeface="Calibri" panose="020F0502020204030204" pitchFamily="34" charset="0"/>
              <a:cs typeface="Calibri"/>
            </a:endParaRPr>
          </a:p>
          <a:p>
            <a:pPr marL="737870" lvl="1" indent="-537845"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/>
              </a:rPr>
              <a:t>Let’s have a try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1-itemsets: 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2-itemsets: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 …,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…, …, …, …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99-itemsets: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100-itemset: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The total number of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19800"/>
            <a:ext cx="4315791" cy="671893"/>
          </a:xfrm>
          <a:prstGeom prst="rect">
            <a:avLst/>
          </a:prstGeom>
        </p:spPr>
      </p:pic>
      <p:grpSp>
        <p:nvGrpSpPr>
          <p:cNvPr id="2" name="Group 7"/>
          <p:cNvGrpSpPr/>
          <p:nvPr/>
        </p:nvGrpSpPr>
        <p:grpSpPr>
          <a:xfrm>
            <a:off x="5906818" y="5288340"/>
            <a:ext cx="3237182" cy="1569660"/>
            <a:chOff x="7438171" y="5283187"/>
            <a:chExt cx="4316242" cy="1569660"/>
          </a:xfrm>
        </p:grpSpPr>
        <p:sp>
          <p:nvSpPr>
            <p:cNvPr id="9" name="TextBox 8"/>
            <p:cNvSpPr txBox="1"/>
            <p:nvPr/>
          </p:nvSpPr>
          <p:spPr>
            <a:xfrm>
              <a:off x="8464156" y="5283187"/>
              <a:ext cx="3290257" cy="1569660"/>
            </a:xfrm>
            <a:prstGeom prst="rect">
              <a:avLst/>
            </a:prstGeom>
            <a:solidFill>
              <a:srgbClr val="F0CDBC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 too huge set for any one to compute or store!</a:t>
              </a:r>
            </a:p>
          </p:txBody>
        </p:sp>
        <p:sp>
          <p:nvSpPr>
            <p:cNvPr id="10" name="Left Arrow 9"/>
            <p:cNvSpPr/>
            <p:nvPr/>
          </p:nvSpPr>
          <p:spPr>
            <a:xfrm rot="19310420">
              <a:off x="7438171" y="5608068"/>
              <a:ext cx="371475" cy="33337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58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9143999" cy="86821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Expressing Patterns in Compressed Form: Closed 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2988" y="1233218"/>
            <a:ext cx="8147612" cy="5398492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000" dirty="0"/>
              <a:t>How to handle such a challenge?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000" dirty="0"/>
              <a:t>Solution 1: </a:t>
            </a:r>
            <a:r>
              <a:rPr lang="en-US" altLang="en-US" sz="2000" b="1" dirty="0"/>
              <a:t>Closed patterns</a:t>
            </a:r>
            <a:r>
              <a:rPr lang="en-US" altLang="en-US" sz="2000" dirty="0"/>
              <a:t>:  A pattern (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) X</a:t>
            </a:r>
            <a:r>
              <a:rPr lang="en-US" altLang="en-US" sz="2000" dirty="0">
                <a:solidFill>
                  <a:schemeClr val="hlink"/>
                </a:solidFill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dirty="0">
                <a:solidFill>
                  <a:srgbClr val="FF0000"/>
                </a:solidFill>
              </a:rPr>
              <a:t>closed</a:t>
            </a:r>
            <a:r>
              <a:rPr lang="en-US" altLang="en-US" sz="2000" dirty="0">
                <a:solidFill>
                  <a:schemeClr val="hlink"/>
                </a:solidFill>
              </a:rPr>
              <a:t> </a:t>
            </a:r>
            <a:r>
              <a:rPr lang="en-US" altLang="en-US" sz="2000" dirty="0"/>
              <a:t>if X is </a:t>
            </a:r>
            <a:r>
              <a:rPr lang="en-US" altLang="en-US" sz="2000" i="1" dirty="0"/>
              <a:t>frequent,</a:t>
            </a:r>
            <a:r>
              <a:rPr lang="en-US" altLang="en-US" sz="2000" dirty="0"/>
              <a:t> and there exists </a:t>
            </a:r>
            <a:r>
              <a:rPr lang="en-US" altLang="en-US" sz="2000" i="1" dirty="0"/>
              <a:t>no super-pattern </a:t>
            </a:r>
            <a:r>
              <a:rPr lang="en-US" altLang="en-US" sz="2000" dirty="0"/>
              <a:t>Y </a:t>
            </a:r>
            <a:r>
              <a:rPr lang="he-IL" altLang="en-US" sz="2000" dirty="0"/>
              <a:t>כ</a:t>
            </a:r>
            <a:r>
              <a:rPr lang="en-US" altLang="en-US" sz="2000" dirty="0"/>
              <a:t> X, </a:t>
            </a:r>
            <a:r>
              <a:rPr lang="en-US" altLang="en-US" sz="2000" i="1" dirty="0"/>
              <a:t>with the same support</a:t>
            </a:r>
            <a:r>
              <a:rPr lang="en-US" altLang="en-US" sz="2000" dirty="0"/>
              <a:t> as X 	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Let Transaction DB TDB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:</a:t>
            </a:r>
            <a:r>
              <a:rPr lang="en-US" altLang="en-US" sz="2000" baseline="-25000" dirty="0"/>
              <a:t>    </a:t>
            </a:r>
            <a:r>
              <a:rPr lang="en-US" altLang="en-US" sz="2000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: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50</a:t>
            </a:r>
            <a:r>
              <a:rPr lang="en-US" altLang="en-US" sz="2000" dirty="0"/>
              <a:t>};  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: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Suppose </a:t>
            </a:r>
            <a:r>
              <a:rPr lang="en-US" altLang="en-US" sz="20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0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0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000" dirty="0"/>
              <a:t>How many closed patterns does TDB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000" dirty="0"/>
              <a:t> Two:  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: “{a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50</a:t>
            </a:r>
            <a:r>
              <a:rPr lang="en-US" altLang="en-US" sz="2000" dirty="0">
                <a:latin typeface="Calibri" panose="020F0502020204030204" pitchFamily="34" charset="0"/>
              </a:rPr>
              <a:t>}</a:t>
            </a:r>
            <a:r>
              <a:rPr lang="en-US" altLang="en-US" sz="2000" dirty="0"/>
              <a:t>: 2”;  P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: “{a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100</a:t>
            </a:r>
            <a:r>
              <a:rPr lang="en-US" altLang="en-US" sz="2000" dirty="0">
                <a:latin typeface="Calibri" panose="020F0502020204030204" pitchFamily="34" charset="0"/>
              </a:rPr>
              <a:t>}</a:t>
            </a:r>
            <a:r>
              <a:rPr lang="en-US" altLang="en-US" sz="2000" dirty="0"/>
              <a:t>: 1” 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000" dirty="0">
                <a:solidFill>
                  <a:srgbClr val="FF0000"/>
                </a:solidFill>
              </a:rPr>
              <a:t>Closed pattern </a:t>
            </a:r>
            <a:r>
              <a:rPr lang="en-US" altLang="en-US" sz="2000" dirty="0"/>
              <a:t>is a </a:t>
            </a:r>
            <a:r>
              <a:rPr lang="en-US" altLang="en-US" sz="2000" dirty="0">
                <a:solidFill>
                  <a:srgbClr val="FF0000"/>
                </a:solidFill>
              </a:rPr>
              <a:t>lossless compression </a:t>
            </a:r>
            <a:r>
              <a:rPr lang="en-US" altLang="en-US" sz="2000" dirty="0"/>
              <a:t>of frequent patterns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 dirty="0"/>
              <a:t>Reduces the # of patterns but does not lose the support information!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You will still be able to say: “{a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40</a:t>
            </a:r>
            <a:r>
              <a:rPr lang="en-US" altLang="en-US" sz="2000" dirty="0">
                <a:latin typeface="Calibri" panose="020F0502020204030204" pitchFamily="34" charset="0"/>
              </a:rPr>
              <a:t>}</a:t>
            </a:r>
            <a:r>
              <a:rPr lang="en-US" altLang="en-US" sz="2000" dirty="0"/>
              <a:t>: 2”, “{a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51</a:t>
            </a:r>
            <a:r>
              <a:rPr lang="en-US" altLang="en-US" sz="2000" dirty="0">
                <a:latin typeface="Calibri" panose="020F0502020204030204" pitchFamily="34" charset="0"/>
              </a:rPr>
              <a:t>}</a:t>
            </a:r>
            <a:r>
              <a:rPr lang="en-US" altLang="en-US" sz="2000" dirty="0"/>
              <a:t>: 1”</a:t>
            </a:r>
          </a:p>
        </p:txBody>
      </p:sp>
    </p:spTree>
    <p:extLst>
      <p:ext uri="{BB962C8B-B14F-4D97-AF65-F5344CB8AC3E}">
        <p14:creationId xmlns:p14="http://schemas.microsoft.com/office/powerpoint/2010/main" val="167485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240145"/>
            <a:ext cx="9143999" cy="65578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Expressing Patterns in Compressed Form: Max-Patterns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7391400" cy="556029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 dirty="0"/>
              <a:t>Solution 2: </a:t>
            </a:r>
            <a:r>
              <a:rPr lang="en-US" altLang="en-US" sz="2000" b="1" dirty="0"/>
              <a:t>Max-patterns</a:t>
            </a:r>
            <a:r>
              <a:rPr lang="en-US" altLang="en-US" sz="2000" dirty="0"/>
              <a:t>:  A pattern X is a </a:t>
            </a:r>
            <a:r>
              <a:rPr lang="en-US" altLang="en-US" sz="2000" dirty="0">
                <a:solidFill>
                  <a:srgbClr val="FF0000"/>
                </a:solidFill>
              </a:rPr>
              <a:t>max-pattern</a:t>
            </a:r>
            <a:r>
              <a:rPr lang="en-US" altLang="en-US" sz="2000" dirty="0"/>
              <a:t> if X is frequent and there exists no frequent super-pattern Y </a:t>
            </a:r>
            <a:r>
              <a:rPr lang="he-IL" altLang="en-US" sz="2000" dirty="0"/>
              <a:t>כ</a:t>
            </a:r>
            <a:r>
              <a:rPr lang="en-US" altLang="en-US" sz="2000" dirty="0"/>
              <a:t> X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 dirty="0"/>
              <a:t>Difference from close-patterns?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Do not care the real support of the sub-patterns of a max-pattern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Let Transaction DB TDB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:</a:t>
            </a:r>
            <a:r>
              <a:rPr lang="en-US" altLang="en-US" sz="2000" baseline="-25000" dirty="0"/>
              <a:t>    </a:t>
            </a:r>
            <a:r>
              <a:rPr lang="en-US" altLang="en-US" sz="2000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: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50</a:t>
            </a:r>
            <a:r>
              <a:rPr lang="en-US" altLang="en-US" sz="2000" dirty="0"/>
              <a:t>};  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: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Suppose </a:t>
            </a:r>
            <a:r>
              <a:rPr lang="en-US" altLang="en-US" sz="20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0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0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000" dirty="0"/>
              <a:t>How many max-patterns does TDB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000" dirty="0"/>
              <a:t> </a:t>
            </a:r>
            <a:r>
              <a:rPr lang="en-US" altLang="en-US" sz="2000" dirty="0">
                <a:latin typeface="Calibri" pitchFamily="34" charset="0"/>
              </a:rPr>
              <a:t>One:  P: “{a</a:t>
            </a:r>
            <a:r>
              <a:rPr lang="en-US" altLang="en-US" sz="2000" baseline="-25000" dirty="0">
                <a:latin typeface="Calibri" pitchFamily="34" charset="0"/>
              </a:rPr>
              <a:t>1</a:t>
            </a:r>
            <a:r>
              <a:rPr lang="en-US" altLang="en-US" sz="2000" dirty="0">
                <a:latin typeface="Calibri" pitchFamily="34" charset="0"/>
              </a:rPr>
              <a:t>, …, a</a:t>
            </a:r>
            <a:r>
              <a:rPr lang="en-US" altLang="en-US" sz="2000" baseline="-25000" dirty="0">
                <a:latin typeface="Calibri" pitchFamily="34" charset="0"/>
              </a:rPr>
              <a:t>100</a:t>
            </a:r>
            <a:r>
              <a:rPr lang="en-US" altLang="en-US" sz="2000" dirty="0">
                <a:latin typeface="Calibri" panose="020F0502020204030204" pitchFamily="34" charset="0"/>
              </a:rPr>
              <a:t>}: 1” 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FF0000"/>
                </a:solidFill>
              </a:rPr>
              <a:t>Max-pattern</a:t>
            </a:r>
            <a:r>
              <a:rPr lang="en-US" altLang="en-US" sz="2000" dirty="0"/>
              <a:t> is a </a:t>
            </a:r>
            <a:r>
              <a:rPr lang="en-US" altLang="en-US" sz="2000" dirty="0" err="1">
                <a:solidFill>
                  <a:srgbClr val="FF0000"/>
                </a:solidFill>
              </a:rPr>
              <a:t>lossy</a:t>
            </a:r>
            <a:r>
              <a:rPr lang="en-US" altLang="en-US" sz="2000" dirty="0">
                <a:solidFill>
                  <a:srgbClr val="FF0000"/>
                </a:solidFill>
              </a:rPr>
              <a:t> compression</a:t>
            </a:r>
            <a:r>
              <a:rPr lang="en-US" altLang="en-US" sz="2000" dirty="0"/>
              <a:t>! </a:t>
            </a:r>
          </a:p>
          <a:p>
            <a:pPr lvl="1"/>
            <a:r>
              <a:rPr lang="en-US" altLang="en-US" sz="2000" dirty="0"/>
              <a:t>We only know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40</a:t>
            </a:r>
            <a:r>
              <a:rPr lang="en-US" altLang="en-US" sz="2000" dirty="0">
                <a:latin typeface="Calibri" panose="020F0502020204030204" pitchFamily="34" charset="0"/>
              </a:rPr>
              <a:t>}</a:t>
            </a:r>
            <a:r>
              <a:rPr lang="en-US" altLang="en-US" sz="2000" dirty="0"/>
              <a:t> is frequent</a:t>
            </a:r>
          </a:p>
          <a:p>
            <a:pPr lvl="1"/>
            <a:r>
              <a:rPr lang="en-US" altLang="en-US" sz="2000" dirty="0"/>
              <a:t>But we do not know the real support of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40</a:t>
            </a:r>
            <a:r>
              <a:rPr lang="en-US" altLang="en-US" sz="2000" dirty="0">
                <a:latin typeface="Calibri" panose="020F0502020204030204" pitchFamily="34" charset="0"/>
              </a:rPr>
              <a:t>}</a:t>
            </a:r>
            <a:r>
              <a:rPr lang="en-US" altLang="en-US" sz="2000" dirty="0"/>
              <a:t>, …, any more!</a:t>
            </a:r>
          </a:p>
          <a:p>
            <a:r>
              <a:rPr lang="en-US" altLang="en-US" sz="2000" dirty="0"/>
              <a:t>Thus in many applications, mining close-patterns is more desirable than mining max-patterns</a:t>
            </a:r>
          </a:p>
        </p:txBody>
      </p:sp>
    </p:spTree>
    <p:extLst>
      <p:ext uri="{BB962C8B-B14F-4D97-AF65-F5344CB8AC3E}">
        <p14:creationId xmlns:p14="http://schemas.microsoft.com/office/powerpoint/2010/main" val="200733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655638"/>
          </a:xfrm>
        </p:spPr>
        <p:txBody>
          <a:bodyPr/>
          <a:lstStyle/>
          <a:p>
            <a:r>
              <a:rPr lang="en-US" altLang="en-US" dirty="0"/>
              <a:t>ARM-Market Basket Data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Given a set of transactions, find rules that will predict the occurrence of an item based on the occurrences of other items in the transaction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419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0C6D9C"/>
                </a:solidFill>
              </a:rPr>
              <a:t>Market-Basket transactions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876800" y="304800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Example of Association Rules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5334000" y="3657600"/>
            <a:ext cx="3276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/>
              <a:t>{Diaper} </a:t>
            </a:r>
            <a:r>
              <a:rPr lang="en-US" altLang="en-US" sz="1800" b="0" dirty="0">
                <a:sym typeface="Symbol" pitchFamily="18" charset="2"/>
              </a:rPr>
              <a:t> {Beer},</a:t>
            </a:r>
            <a:br>
              <a:rPr lang="en-US" altLang="en-US" sz="1800" b="0" dirty="0">
                <a:sym typeface="Symbol" pitchFamily="18" charset="2"/>
              </a:rPr>
            </a:br>
            <a:r>
              <a:rPr lang="en-US" altLang="en-US" sz="1800" b="0" dirty="0">
                <a:sym typeface="Symbol" pitchFamily="18" charset="2"/>
              </a:rPr>
              <a:t>{Milk, Bread}  {Eggs, Coke},</a:t>
            </a:r>
            <a:br>
              <a:rPr lang="en-US" altLang="en-US" sz="1800" b="0" dirty="0">
                <a:sym typeface="Symbol" pitchFamily="18" charset="2"/>
              </a:rPr>
            </a:br>
            <a:r>
              <a:rPr lang="en-US" altLang="en-US" sz="1800" b="0" dirty="0">
                <a:sym typeface="Symbol" pitchFamily="18" charset="2"/>
              </a:rPr>
              <a:t>{</a:t>
            </a:r>
            <a:r>
              <a:rPr lang="en-US" altLang="en-US" sz="1800" dirty="0">
                <a:sym typeface="Symbol" pitchFamily="18" charset="2"/>
              </a:rPr>
              <a:t>Beer,</a:t>
            </a:r>
            <a:r>
              <a:rPr lang="en-US" altLang="en-US" sz="1800" b="0" dirty="0">
                <a:sym typeface="Symbol" pitchFamily="18" charset="2"/>
              </a:rPr>
              <a:t> Bread}  {Milk},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4876800" y="4953000"/>
            <a:ext cx="403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/>
              <a:t>Implication means co-occurrence, not causality!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369667" name="Object 3"/>
          <p:cNvGraphicFramePr>
            <a:graphicFrameLocks noChangeAspect="1"/>
          </p:cNvGraphicFramePr>
          <p:nvPr/>
        </p:nvGraphicFramePr>
        <p:xfrm>
          <a:off x="457200" y="3581400"/>
          <a:ext cx="43434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433292" imgH="1998228" progId="Word.Document.8">
                  <p:embed/>
                </p:oleObj>
              </mc:Choice>
              <mc:Fallback>
                <p:oleObj name="Document" r:id="rId2" imgW="3433292" imgH="1998228" progId="Word.Document.8">
                  <p:embed/>
                  <p:pic>
                    <p:nvPicPr>
                      <p:cNvPr id="3696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81400"/>
                        <a:ext cx="4343400" cy="252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Frequent </a:t>
            </a:r>
            <a:r>
              <a:rPr lang="en-US" altLang="en-US" dirty="0" err="1"/>
              <a:t>Itemset</a:t>
            </a:r>
            <a:endParaRPr lang="en-US" altLang="en-US" dirty="0"/>
          </a:p>
        </p:txBody>
      </p:sp>
      <p:sp>
        <p:nvSpPr>
          <p:cNvPr id="1231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4876800" cy="5334000"/>
          </a:xfrm>
          <a:noFill/>
        </p:spPr>
        <p:txBody>
          <a:bodyPr/>
          <a:lstStyle/>
          <a:p>
            <a:pPr marL="342900" indent="-342900"/>
            <a:r>
              <a:rPr lang="en-US" altLang="en-US" sz="2000" b="1" dirty="0" err="1"/>
              <a:t>Itemset</a:t>
            </a:r>
            <a:endParaRPr lang="en-US" altLang="en-US" sz="2000" b="1" dirty="0"/>
          </a:p>
          <a:p>
            <a:pPr marL="742950" lvl="1" indent="-285750"/>
            <a:r>
              <a:rPr lang="en-US" altLang="en-US" sz="1800" dirty="0"/>
              <a:t>A collection of one or more items</a:t>
            </a:r>
          </a:p>
          <a:p>
            <a:pPr marL="1143000" lvl="2" indent="-228600"/>
            <a:r>
              <a:rPr lang="en-US" altLang="en-US" sz="1600" dirty="0"/>
              <a:t>Example: {Milk, Bread, Diaper}</a:t>
            </a:r>
          </a:p>
          <a:p>
            <a:pPr marL="742950" lvl="1" indent="-285750"/>
            <a:r>
              <a:rPr lang="en-US" altLang="en-US" sz="1800" b="1" dirty="0"/>
              <a:t>k</a:t>
            </a:r>
            <a:r>
              <a:rPr lang="en-US" altLang="en-US" sz="1800" dirty="0"/>
              <a:t>-</a:t>
            </a:r>
            <a:r>
              <a:rPr lang="en-US" altLang="en-US" sz="1800" dirty="0" err="1"/>
              <a:t>itemset</a:t>
            </a:r>
            <a:endParaRPr lang="en-US" altLang="en-US" sz="1800" dirty="0"/>
          </a:p>
          <a:p>
            <a:pPr marL="1143000" lvl="2" indent="-228600"/>
            <a:r>
              <a:rPr lang="en-US" altLang="en-US" sz="1600" dirty="0"/>
              <a:t>An </a:t>
            </a:r>
            <a:r>
              <a:rPr lang="en-US" altLang="en-US" sz="1600" dirty="0" err="1"/>
              <a:t>itemset</a:t>
            </a:r>
            <a:r>
              <a:rPr lang="en-US" altLang="en-US" sz="1600" dirty="0"/>
              <a:t> that contains </a:t>
            </a:r>
            <a:r>
              <a:rPr lang="en-US" altLang="en-US" sz="1600" b="1" dirty="0"/>
              <a:t>k</a:t>
            </a:r>
            <a:r>
              <a:rPr lang="en-US" altLang="en-US" sz="1600" dirty="0"/>
              <a:t> items</a:t>
            </a:r>
            <a:endParaRPr lang="en-US" altLang="en-US" sz="1600" b="1" dirty="0"/>
          </a:p>
          <a:p>
            <a:pPr marL="342900" indent="-342900"/>
            <a:r>
              <a:rPr lang="en-US" altLang="en-US" sz="2000" b="1" dirty="0"/>
              <a:t>Support count (</a:t>
            </a:r>
            <a:r>
              <a:rPr lang="en-US" altLang="en-US" sz="2000" b="1" dirty="0">
                <a:sym typeface="Symbol" pitchFamily="18" charset="2"/>
              </a:rPr>
              <a:t>)</a:t>
            </a:r>
          </a:p>
          <a:p>
            <a:pPr marL="742950" lvl="1" indent="-285750"/>
            <a:r>
              <a:rPr lang="en-US" altLang="en-US" sz="1800" dirty="0"/>
              <a:t>Frequency of occurrence of an </a:t>
            </a:r>
            <a:r>
              <a:rPr lang="en-US" altLang="en-US" sz="1800" dirty="0" err="1"/>
              <a:t>itemset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E.g.   </a:t>
            </a:r>
            <a:r>
              <a:rPr lang="en-US" altLang="en-US" sz="1800" dirty="0">
                <a:sym typeface="Symbol" pitchFamily="18" charset="2"/>
              </a:rPr>
              <a:t>({Milk, Bread, Diaper}) = 2 </a:t>
            </a:r>
            <a:endParaRPr lang="en-US" altLang="en-US" sz="1800" dirty="0"/>
          </a:p>
          <a:p>
            <a:pPr marL="342900" indent="-342900"/>
            <a:r>
              <a:rPr lang="en-US" altLang="en-US" sz="2000" b="1" dirty="0"/>
              <a:t>Support</a:t>
            </a:r>
          </a:p>
          <a:p>
            <a:pPr marL="742950" lvl="1" indent="-285750"/>
            <a:r>
              <a:rPr lang="en-US" altLang="en-US" sz="1800" dirty="0"/>
              <a:t>Fraction of transactions that contain an </a:t>
            </a:r>
            <a:r>
              <a:rPr lang="en-US" altLang="en-US" sz="1800" dirty="0" err="1"/>
              <a:t>itemset</a:t>
            </a:r>
            <a:endParaRPr lang="en-US" altLang="en-US" sz="1800" dirty="0"/>
          </a:p>
          <a:p>
            <a:pPr marL="742950" lvl="1" indent="-285750"/>
            <a:r>
              <a:rPr lang="en-US" altLang="en-US" sz="1800" dirty="0"/>
              <a:t>E.g.   s({Milk, Bread, Diaper}) = 2/5</a:t>
            </a:r>
          </a:p>
          <a:p>
            <a:pPr marL="342900" indent="-342900"/>
            <a:r>
              <a:rPr lang="en-US" altLang="en-US" sz="2000" b="1" dirty="0"/>
              <a:t>Frequent </a:t>
            </a:r>
            <a:r>
              <a:rPr lang="en-US" altLang="en-US" sz="2000" b="1" dirty="0" err="1"/>
              <a:t>Itemset</a:t>
            </a:r>
            <a:endParaRPr lang="en-US" altLang="en-US" sz="2000" b="1" dirty="0"/>
          </a:p>
          <a:p>
            <a:pPr marL="742950" lvl="1" indent="-285750"/>
            <a:r>
              <a:rPr lang="en-US" altLang="en-US" sz="1800" dirty="0"/>
              <a:t>An </a:t>
            </a:r>
            <a:r>
              <a:rPr lang="en-US" altLang="en-US" sz="1800" dirty="0" err="1"/>
              <a:t>itemset</a:t>
            </a:r>
            <a:r>
              <a:rPr lang="en-US" altLang="en-US" sz="1800" dirty="0"/>
              <a:t> whose support is greater than or equal to a </a:t>
            </a:r>
            <a:r>
              <a:rPr lang="en-US" altLang="en-US" sz="1800" i="1" dirty="0" err="1"/>
              <a:t>minsup</a:t>
            </a:r>
            <a:r>
              <a:rPr lang="en-US" altLang="en-US" sz="1800" dirty="0"/>
              <a:t> threshold</a:t>
            </a:r>
          </a:p>
        </p:txBody>
      </p:sp>
      <p:graphicFrame>
        <p:nvGraphicFramePr>
          <p:cNvPr id="370691" name="Object 3"/>
          <p:cNvGraphicFramePr>
            <a:graphicFrameLocks noChangeAspect="1"/>
          </p:cNvGraphicFramePr>
          <p:nvPr/>
        </p:nvGraphicFramePr>
        <p:xfrm>
          <a:off x="4800600" y="838200"/>
          <a:ext cx="43434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433292" imgH="1998228" progId="Word.Document.8">
                  <p:embed/>
                </p:oleObj>
              </mc:Choice>
              <mc:Fallback>
                <p:oleObj name="Document" r:id="rId2" imgW="3433292" imgH="1998228" progId="Word.Document.8">
                  <p:embed/>
                  <p:pic>
                    <p:nvPicPr>
                      <p:cNvPr id="3706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838200"/>
                        <a:ext cx="4343400" cy="252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87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543800" cy="731838"/>
          </a:xfrm>
        </p:spPr>
        <p:txBody>
          <a:bodyPr/>
          <a:lstStyle/>
          <a:p>
            <a:r>
              <a:rPr lang="en-US" altLang="en-US" dirty="0"/>
              <a:t>Example: Association Rule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784725" y="3733800"/>
            <a:ext cx="3978275" cy="2451100"/>
            <a:chOff x="3014" y="2304"/>
            <a:chExt cx="2574" cy="1592"/>
          </a:xfrm>
        </p:grpSpPr>
        <p:sp>
          <p:nvSpPr>
            <p:cNvPr id="7174" name="Text Box 11"/>
            <p:cNvSpPr txBox="1">
              <a:spLocks noChangeArrowheads="1"/>
            </p:cNvSpPr>
            <p:nvPr/>
          </p:nvSpPr>
          <p:spPr bwMode="auto">
            <a:xfrm>
              <a:off x="3264" y="2304"/>
              <a:ext cx="747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  <a:latin typeface="Times New Roman" pitchFamily="18" charset="0"/>
                </a:rPr>
                <a:t>Example:</a:t>
              </a:r>
              <a:endParaRPr lang="en-US" altLang="en-US" b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7175" name="Object 12"/>
            <p:cNvGraphicFramePr>
              <a:graphicFrameLocks noChangeAspect="1"/>
            </p:cNvGraphicFramePr>
            <p:nvPr/>
          </p:nvGraphicFramePr>
          <p:xfrm>
            <a:off x="3711" y="2545"/>
            <a:ext cx="187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74800" imgH="203200" progId="Equation.3">
                    <p:embed/>
                  </p:oleObj>
                </mc:Choice>
                <mc:Fallback>
                  <p:oleObj name="Equation" r:id="rId3" imgW="1574800" imgH="203200" progId="Equation.3">
                    <p:embed/>
                    <p:pic>
                      <p:nvPicPr>
                        <p:cNvPr id="7175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" y="2545"/>
                          <a:ext cx="1877" cy="239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13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318000" imgH="787400" progId="Equation.3">
                    <p:embed/>
                  </p:oleObj>
                </mc:Choice>
                <mc:Fallback>
                  <p:oleObj name="Equation" r:id="rId5" imgW="4318000" imgH="787400" progId="Equation.3">
                    <p:embed/>
                    <p:pic>
                      <p:nvPicPr>
                        <p:cNvPr id="7176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14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470400" imgH="787400" progId="Equation.3">
                    <p:embed/>
                  </p:oleObj>
                </mc:Choice>
                <mc:Fallback>
                  <p:oleObj name="Equation" r:id="rId7" imgW="4470400" imgH="787400" progId="Equation.3">
                    <p:embed/>
                    <p:pic>
                      <p:nvPicPr>
                        <p:cNvPr id="7177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0387" name="Rectangle 19"/>
          <p:cNvSpPr>
            <a:spLocks noChangeArrowheads="1"/>
          </p:cNvSpPr>
          <p:nvPr/>
        </p:nvSpPr>
        <p:spPr bwMode="auto">
          <a:xfrm>
            <a:off x="304800" y="1066800"/>
            <a:ext cx="4876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000" dirty="0"/>
              <a:t>Association Rule</a:t>
            </a:r>
          </a:p>
          <a:p>
            <a:pPr lvl="1"/>
            <a:r>
              <a:rPr lang="en-US" altLang="en-US" sz="1800" b="0" dirty="0"/>
              <a:t>An implication expression of the form X </a:t>
            </a:r>
            <a:r>
              <a:rPr lang="en-US" altLang="en-US" sz="1800" b="0" dirty="0">
                <a:sym typeface="Symbol" pitchFamily="18" charset="2"/>
              </a:rPr>
              <a:t> Y, where X and Y are </a:t>
            </a:r>
            <a:r>
              <a:rPr lang="en-US" altLang="en-US" sz="1800" b="0" dirty="0" err="1">
                <a:sym typeface="Symbol" pitchFamily="18" charset="2"/>
              </a:rPr>
              <a:t>itemsets</a:t>
            </a:r>
            <a:endParaRPr lang="en-US" altLang="en-US" sz="1800" b="0" dirty="0">
              <a:sym typeface="Symbol" pitchFamily="18" charset="2"/>
            </a:endParaRPr>
          </a:p>
          <a:p>
            <a:pPr lvl="1"/>
            <a:r>
              <a:rPr lang="en-US" altLang="en-US" sz="1800" b="0" dirty="0"/>
              <a:t>Example:</a:t>
            </a:r>
            <a:br>
              <a:rPr lang="en-US" altLang="en-US" sz="1800" b="0" dirty="0"/>
            </a:br>
            <a:r>
              <a:rPr lang="en-US" altLang="en-US" sz="1800" b="0" dirty="0"/>
              <a:t>   {Milk, Diaper} </a:t>
            </a:r>
            <a:r>
              <a:rPr lang="en-US" altLang="en-US" sz="1800" b="0" dirty="0">
                <a:sym typeface="Symbol" pitchFamily="18" charset="2"/>
              </a:rPr>
              <a:t> {Beer}</a:t>
            </a:r>
            <a:r>
              <a:rPr lang="en-US" altLang="en-US" sz="1800" b="0" dirty="0"/>
              <a:t> </a:t>
            </a:r>
          </a:p>
          <a:p>
            <a:pPr lvl="1">
              <a:buFont typeface="Arial" charset="0"/>
              <a:buNone/>
            </a:pPr>
            <a:endParaRPr lang="en-US" altLang="en-US" sz="1800" dirty="0"/>
          </a:p>
          <a:p>
            <a:r>
              <a:rPr lang="en-US" altLang="en-US" sz="2000" dirty="0"/>
              <a:t>Rule Evaluation Metrics</a:t>
            </a:r>
            <a:endParaRPr lang="en-US" altLang="en-US" sz="2000" dirty="0">
              <a:sym typeface="Symbol" pitchFamily="18" charset="2"/>
            </a:endParaRPr>
          </a:p>
          <a:p>
            <a:pPr lvl="1"/>
            <a:r>
              <a:rPr lang="en-US" altLang="en-US" sz="1800" b="0" dirty="0">
                <a:solidFill>
                  <a:srgbClr val="FF0000"/>
                </a:solidFill>
              </a:rPr>
              <a:t>Support (s)</a:t>
            </a:r>
          </a:p>
          <a:p>
            <a:pPr lvl="2"/>
            <a:r>
              <a:rPr lang="en-US" altLang="en-US" sz="1600" b="0" dirty="0"/>
              <a:t>Fraction of transactions that contain both X and Y</a:t>
            </a:r>
          </a:p>
          <a:p>
            <a:pPr lvl="1"/>
            <a:r>
              <a:rPr lang="en-US" altLang="en-US" sz="1800" b="0" dirty="0">
                <a:solidFill>
                  <a:srgbClr val="FF0000"/>
                </a:solidFill>
              </a:rPr>
              <a:t>Confidence (c)</a:t>
            </a:r>
          </a:p>
          <a:p>
            <a:pPr lvl="2"/>
            <a:r>
              <a:rPr lang="en-US" altLang="en-US" sz="1600" b="0" dirty="0"/>
              <a:t>Measures how often items in Y </a:t>
            </a:r>
            <a:br>
              <a:rPr lang="en-US" altLang="en-US" sz="1600" b="0" dirty="0"/>
            </a:br>
            <a:r>
              <a:rPr lang="en-US" altLang="en-US" sz="1600" b="0" dirty="0"/>
              <a:t>appear in transactions that</a:t>
            </a:r>
            <a:br>
              <a:rPr lang="en-US" altLang="en-US" sz="1600" b="0" dirty="0"/>
            </a:br>
            <a:r>
              <a:rPr lang="en-US" altLang="en-US" sz="1600" b="0" dirty="0"/>
              <a:t>contain X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371718" name="Object 6"/>
          <p:cNvGraphicFramePr>
            <a:graphicFrameLocks noChangeAspect="1"/>
          </p:cNvGraphicFramePr>
          <p:nvPr/>
        </p:nvGraphicFramePr>
        <p:xfrm>
          <a:off x="4800600" y="1295400"/>
          <a:ext cx="43434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3433292" imgH="1998228" progId="Word.Document.8">
                  <p:embed/>
                </p:oleObj>
              </mc:Choice>
              <mc:Fallback>
                <p:oleObj name="Document" r:id="rId9" imgW="3433292" imgH="1998228" progId="Word.Document.8">
                  <p:embed/>
                  <p:pic>
                    <p:nvPicPr>
                      <p:cNvPr id="3717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295400"/>
                        <a:ext cx="4343400" cy="252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543800" cy="884238"/>
          </a:xfrm>
        </p:spPr>
        <p:txBody>
          <a:bodyPr/>
          <a:lstStyle/>
          <a:p>
            <a:r>
              <a:rPr lang="en-US" altLang="en-US" dirty="0"/>
              <a:t>Association Rule Mining Task</a:t>
            </a:r>
          </a:p>
        </p:txBody>
      </p:sp>
      <p:sp>
        <p:nvSpPr>
          <p:cNvPr id="123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229600" cy="4411662"/>
          </a:xfrm>
        </p:spPr>
        <p:txBody>
          <a:bodyPr/>
          <a:lstStyle/>
          <a:p>
            <a:r>
              <a:rPr lang="en-US" altLang="en-US" dirty="0"/>
              <a:t>Given a set of transactions T, the goal of association rule mining is to find all rules having </a:t>
            </a:r>
          </a:p>
          <a:p>
            <a:pPr lvl="1"/>
            <a:r>
              <a:rPr lang="en-US" altLang="en-US" dirty="0"/>
              <a:t>support </a:t>
            </a:r>
            <a:r>
              <a:rPr lang="en-US" altLang="en-US" dirty="0">
                <a:cs typeface="Arial" charset="0"/>
              </a:rPr>
              <a:t>≥ </a:t>
            </a:r>
            <a:r>
              <a:rPr lang="en-US" altLang="en-US" i="1" dirty="0" err="1">
                <a:cs typeface="Arial" charset="0"/>
              </a:rPr>
              <a:t>minsup</a:t>
            </a:r>
            <a:r>
              <a:rPr lang="en-US" altLang="en-US" i="1" dirty="0"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threshold</a:t>
            </a:r>
          </a:p>
          <a:p>
            <a:pPr lvl="1"/>
            <a:r>
              <a:rPr lang="en-US" altLang="en-US" dirty="0">
                <a:cs typeface="Arial" charset="0"/>
              </a:rPr>
              <a:t>confidence ≥ </a:t>
            </a:r>
            <a:r>
              <a:rPr lang="en-US" altLang="en-US" i="1" dirty="0" err="1">
                <a:cs typeface="Arial" charset="0"/>
              </a:rPr>
              <a:t>minconf</a:t>
            </a:r>
            <a:r>
              <a:rPr lang="en-US" altLang="en-US" i="1" dirty="0"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threshold</a:t>
            </a:r>
          </a:p>
          <a:p>
            <a:r>
              <a:rPr lang="en-US" altLang="en-US" dirty="0">
                <a:cs typeface="Arial" charset="0"/>
              </a:rPr>
              <a:t>Brute-force approach:</a:t>
            </a:r>
          </a:p>
          <a:p>
            <a:pPr lvl="1"/>
            <a:r>
              <a:rPr lang="en-US" altLang="en-US" dirty="0">
                <a:cs typeface="Arial" charset="0"/>
              </a:rPr>
              <a:t>List all possible association rules</a:t>
            </a:r>
          </a:p>
          <a:p>
            <a:pPr lvl="1"/>
            <a:r>
              <a:rPr lang="en-US" altLang="en-US" dirty="0">
                <a:cs typeface="Arial" charset="0"/>
              </a:rPr>
              <a:t>Compute the support and confidence for each rule</a:t>
            </a:r>
          </a:p>
          <a:p>
            <a:pPr lvl="1"/>
            <a:r>
              <a:rPr lang="en-US" altLang="en-US" i="1" dirty="0">
                <a:cs typeface="Arial" charset="0"/>
              </a:rPr>
              <a:t>Prune rules that fail the </a:t>
            </a:r>
            <a:r>
              <a:rPr lang="en-US" altLang="en-US" i="1" dirty="0" err="1">
                <a:cs typeface="Arial" charset="0"/>
              </a:rPr>
              <a:t>minsup</a:t>
            </a:r>
            <a:r>
              <a:rPr lang="en-US" altLang="en-US" i="1" dirty="0">
                <a:cs typeface="Arial" charset="0"/>
              </a:rPr>
              <a:t> and </a:t>
            </a:r>
            <a:r>
              <a:rPr lang="en-US" altLang="en-US" i="1" dirty="0" err="1">
                <a:cs typeface="Arial" charset="0"/>
              </a:rPr>
              <a:t>minconf</a:t>
            </a:r>
            <a:r>
              <a:rPr lang="en-US" altLang="en-US" i="1" dirty="0">
                <a:cs typeface="Arial" charset="0"/>
              </a:rPr>
              <a:t> thresholds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cs typeface="Arial" charset="0"/>
                <a:sym typeface="Symbol" pitchFamily="18" charset="2"/>
              </a:rPr>
              <a:t> </a:t>
            </a:r>
            <a:r>
              <a:rPr lang="en-US" altLang="en-US" dirty="0">
                <a:solidFill>
                  <a:srgbClr val="FF0000"/>
                </a:solidFill>
                <a:cs typeface="Arial" charset="0"/>
              </a:rPr>
              <a:t>Computationally prohibitive</a:t>
            </a:r>
            <a:r>
              <a:rPr lang="en-US" altLang="en-US" dirty="0">
                <a:cs typeface="Arial" charset="0"/>
              </a:rPr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69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543800" cy="655638"/>
          </a:xfrm>
        </p:spPr>
        <p:txBody>
          <a:bodyPr/>
          <a:lstStyle/>
          <a:p>
            <a:r>
              <a:rPr lang="en-US" altLang="en-US" dirty="0"/>
              <a:t>Computational Complexity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137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Given </a:t>
            </a:r>
            <a:r>
              <a:rPr lang="en-US" altLang="en-US" b="1" i="1" dirty="0">
                <a:solidFill>
                  <a:srgbClr val="FF0000"/>
                </a:solidFill>
              </a:rPr>
              <a:t>d</a:t>
            </a:r>
            <a:r>
              <a:rPr lang="en-US" altLang="en-US" dirty="0"/>
              <a:t> unique items: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Total number of </a:t>
            </a:r>
            <a:r>
              <a:rPr lang="en-US" altLang="en-US" dirty="0" err="1"/>
              <a:t>itemsets</a:t>
            </a:r>
            <a:r>
              <a:rPr lang="en-US" altLang="en-US" dirty="0"/>
              <a:t> = 2</a:t>
            </a:r>
            <a:r>
              <a:rPr lang="en-US" altLang="en-US" b="1" i="1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Total number of possible association rules: </a:t>
            </a:r>
          </a:p>
        </p:txBody>
      </p:sp>
      <p:graphicFrame>
        <p:nvGraphicFramePr>
          <p:cNvPr id="9220" name="Object 2"/>
          <p:cNvGraphicFramePr>
            <a:graphicFrameLocks noChangeAspect="1"/>
          </p:cNvGraphicFramePr>
          <p:nvPr/>
        </p:nvGraphicFramePr>
        <p:xfrm>
          <a:off x="5257800" y="2514600"/>
          <a:ext cx="36623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92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14600"/>
                        <a:ext cx="3662363" cy="16414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410200" y="46482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If </a:t>
            </a:r>
            <a:r>
              <a:rPr lang="en-US" altLang="en-US" sz="2000" i="1" dirty="0"/>
              <a:t>d</a:t>
            </a:r>
            <a:r>
              <a:rPr lang="en-US" altLang="en-US" sz="2000" dirty="0"/>
              <a:t>=</a:t>
            </a:r>
            <a:r>
              <a:rPr lang="en-US" altLang="en-US" sz="2000" dirty="0">
                <a:sym typeface="Symbol" pitchFamily="18" charset="2"/>
              </a:rPr>
              <a:t>6,  R = 602 rules</a:t>
            </a: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152400" y="2324100"/>
            <a:ext cx="48768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543800" cy="731838"/>
          </a:xfrm>
        </p:spPr>
        <p:txBody>
          <a:bodyPr/>
          <a:lstStyle/>
          <a:p>
            <a:r>
              <a:rPr lang="en-US" altLang="en-US" dirty="0"/>
              <a:t>Mining Association Rules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4267200" y="1219200"/>
            <a:ext cx="472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 dirty="0">
                <a:solidFill>
                  <a:srgbClr val="CC3300"/>
                </a:solidFill>
                <a:sym typeface="Symbol" pitchFamily="18" charset="2"/>
              </a:rPr>
              <a:t>Example of Rules:</a:t>
            </a:r>
            <a:br>
              <a:rPr lang="en-US" altLang="en-US" sz="2400" b="0" dirty="0">
                <a:solidFill>
                  <a:srgbClr val="CC3300"/>
                </a:solidFill>
                <a:sym typeface="Symbol" pitchFamily="18" charset="2"/>
              </a:rPr>
            </a:br>
            <a:endParaRPr lang="en-US" altLang="en-US" sz="1000" b="0" dirty="0">
              <a:solidFill>
                <a:srgbClr val="CC3300"/>
              </a:solidFill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/>
              <a:t>{</a:t>
            </a:r>
            <a:r>
              <a:rPr lang="en-US" altLang="en-US" sz="2000" b="0" dirty="0" err="1"/>
              <a:t>Milk,Diaper</a:t>
            </a:r>
            <a:r>
              <a:rPr lang="en-US" altLang="en-US" sz="2000" b="0" dirty="0"/>
              <a:t>} </a:t>
            </a:r>
            <a:r>
              <a:rPr lang="en-US" altLang="en-US" sz="2000" b="0" dirty="0">
                <a:sym typeface="Symbol" pitchFamily="18" charset="2"/>
              </a:rPr>
              <a:t> {Beer} (s=0.4, c=0.67)</a:t>
            </a:r>
            <a:br>
              <a:rPr lang="en-US" altLang="en-US" sz="2000" b="0" dirty="0">
                <a:sym typeface="Symbol" pitchFamily="18" charset="2"/>
              </a:rPr>
            </a:br>
            <a:r>
              <a:rPr lang="en-US" altLang="en-US" sz="2000" b="0" dirty="0"/>
              <a:t>{</a:t>
            </a:r>
            <a:r>
              <a:rPr lang="en-US" altLang="en-US" sz="2000" b="0" dirty="0" err="1"/>
              <a:t>Milk,Beer</a:t>
            </a:r>
            <a:r>
              <a:rPr lang="en-US" altLang="en-US" sz="2000" b="0" dirty="0"/>
              <a:t>} </a:t>
            </a:r>
            <a:r>
              <a:rPr lang="en-US" altLang="en-US" sz="2000" b="0" dirty="0">
                <a:sym typeface="Symbol" pitchFamily="18" charset="2"/>
              </a:rPr>
              <a:t> {Diaper} (s=0.4, c=1.0)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/>
              <a:t>{</a:t>
            </a:r>
            <a:r>
              <a:rPr lang="en-US" altLang="en-US" sz="2000" b="0" dirty="0" err="1"/>
              <a:t>Diaper,Beer</a:t>
            </a:r>
            <a:r>
              <a:rPr lang="en-US" altLang="en-US" sz="2000" b="0" dirty="0"/>
              <a:t>} </a:t>
            </a:r>
            <a:r>
              <a:rPr lang="en-US" altLang="en-US" sz="2000" b="0" dirty="0">
                <a:sym typeface="Symbol" pitchFamily="18" charset="2"/>
              </a:rPr>
              <a:t> {Milk} (s=0.4, c=0.67)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ym typeface="Symbol" pitchFamily="18" charset="2"/>
              </a:rPr>
              <a:t>{Beer}  {</a:t>
            </a:r>
            <a:r>
              <a:rPr lang="en-US" altLang="en-US" sz="2000" b="0" dirty="0" err="1">
                <a:sym typeface="Symbol" pitchFamily="18" charset="2"/>
              </a:rPr>
              <a:t>Milk,Diaper</a:t>
            </a:r>
            <a:r>
              <a:rPr lang="en-US" altLang="en-US" sz="2000" b="0" dirty="0">
                <a:sym typeface="Symbol" pitchFamily="18" charset="2"/>
              </a:rPr>
              <a:t>} (s=0.4, c=0.67) </a:t>
            </a:r>
            <a:br>
              <a:rPr lang="en-US" altLang="en-US" sz="2000" b="0" dirty="0">
                <a:sym typeface="Symbol" pitchFamily="18" charset="2"/>
              </a:rPr>
            </a:br>
            <a:r>
              <a:rPr lang="en-US" altLang="en-US" sz="2000" b="0" dirty="0">
                <a:sym typeface="Symbol" pitchFamily="18" charset="2"/>
              </a:rPr>
              <a:t>{Diaper}  {</a:t>
            </a:r>
            <a:r>
              <a:rPr lang="en-US" altLang="en-US" sz="2000" b="0" dirty="0" err="1">
                <a:sym typeface="Symbol" pitchFamily="18" charset="2"/>
              </a:rPr>
              <a:t>Milk,Beer</a:t>
            </a:r>
            <a:r>
              <a:rPr lang="en-US" altLang="en-US" sz="2000" b="0" dirty="0">
                <a:sym typeface="Symbol" pitchFamily="18" charset="2"/>
              </a:rPr>
              <a:t>} (s=0.4, c=0.5)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ym typeface="Symbol" pitchFamily="18" charset="2"/>
              </a:rPr>
              <a:t>{Milk}  {</a:t>
            </a:r>
            <a:r>
              <a:rPr lang="en-US" altLang="en-US" sz="2000" b="0" dirty="0" err="1">
                <a:sym typeface="Symbol" pitchFamily="18" charset="2"/>
              </a:rPr>
              <a:t>Diaper,Beer</a:t>
            </a:r>
            <a:r>
              <a:rPr lang="en-US" altLang="en-US" sz="2000" b="0" dirty="0">
                <a:sym typeface="Symbol" pitchFamily="18" charset="2"/>
              </a:rPr>
              <a:t>} (s=0.4, c=0.5)</a:t>
            </a:r>
          </a:p>
        </p:txBody>
      </p:sp>
      <p:sp>
        <p:nvSpPr>
          <p:cNvPr id="1211399" name="Text Box 7"/>
          <p:cNvSpPr txBox="1">
            <a:spLocks noChangeArrowheads="1"/>
          </p:cNvSpPr>
          <p:nvPr/>
        </p:nvSpPr>
        <p:spPr bwMode="auto">
          <a:xfrm>
            <a:off x="381000" y="3886200"/>
            <a:ext cx="79248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 dirty="0">
                <a:solidFill>
                  <a:srgbClr val="CC3300"/>
                </a:solidFill>
                <a:sym typeface="Symbol" pitchFamily="18" charset="2"/>
              </a:rPr>
              <a:t>Observations: total transactions = 5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sym typeface="Symbol" pitchFamily="18" charset="2"/>
              </a:rPr>
              <a:t> All the above rules are binary partitions of the same </a:t>
            </a:r>
            <a:r>
              <a:rPr lang="en-US" altLang="en-US" sz="2000" b="0" dirty="0" err="1">
                <a:sym typeface="Symbol" pitchFamily="18" charset="2"/>
              </a:rPr>
              <a:t>itemset</a:t>
            </a:r>
            <a:r>
              <a:rPr lang="en-US" altLang="en-US" sz="2000" b="0" dirty="0">
                <a:sym typeface="Symbol" pitchFamily="18" charset="2"/>
              </a:rPr>
              <a:t>: </a:t>
            </a:r>
            <a:br>
              <a:rPr lang="en-US" altLang="en-US" sz="2000" b="0" dirty="0">
                <a:sym typeface="Symbol" pitchFamily="18" charset="2"/>
              </a:rPr>
            </a:br>
            <a:r>
              <a:rPr lang="en-US" altLang="en-US" sz="2000" b="0" dirty="0">
                <a:sym typeface="Symbol" pitchFamily="18" charset="2"/>
              </a:rPr>
              <a:t>	{Milk, Diaper, Beer} = 2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sym typeface="Symbol" pitchFamily="18" charset="2"/>
              </a:rPr>
              <a:t> Rules originating from the same </a:t>
            </a:r>
            <a:r>
              <a:rPr lang="en-US" altLang="en-US" sz="2000" b="0" dirty="0" err="1">
                <a:sym typeface="Symbol" pitchFamily="18" charset="2"/>
              </a:rPr>
              <a:t>itemset</a:t>
            </a:r>
            <a:r>
              <a:rPr lang="en-US" altLang="en-US" sz="2000" b="0" dirty="0">
                <a:sym typeface="Symbol" pitchFamily="18" charset="2"/>
              </a:rPr>
              <a:t> have </a:t>
            </a:r>
            <a:r>
              <a:rPr lang="en-US" altLang="en-US" sz="2000" b="1" dirty="0">
                <a:solidFill>
                  <a:srgbClr val="FF0000"/>
                </a:solidFill>
                <a:sym typeface="Symbol" pitchFamily="18" charset="2"/>
              </a:rPr>
              <a:t>identical support </a:t>
            </a:r>
            <a:r>
              <a:rPr lang="en-US" altLang="en-US" sz="2000" b="0" dirty="0">
                <a:sym typeface="Symbol" pitchFamily="18" charset="2"/>
              </a:rPr>
              <a:t>but</a:t>
            </a:r>
            <a:r>
              <a:rPr lang="en-US" altLang="en-US" sz="2000" dirty="0">
                <a:sym typeface="Symbol" pitchFamily="18" charset="2"/>
              </a:rPr>
              <a:t> </a:t>
            </a:r>
            <a:r>
              <a:rPr lang="en-US" altLang="en-US" sz="2000" b="0" dirty="0">
                <a:sym typeface="Symbol" pitchFamily="18" charset="2"/>
              </a:rPr>
              <a:t>can have different confidence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0" dirty="0">
                <a:sym typeface="Symbol" pitchFamily="18" charset="2"/>
              </a:rPr>
              <a:t> Thus, we may </a:t>
            </a:r>
            <a:r>
              <a:rPr lang="en-US" altLang="en-US" sz="2000" b="0" dirty="0">
                <a:solidFill>
                  <a:srgbClr val="FF0000"/>
                </a:solidFill>
                <a:sym typeface="Symbol" pitchFamily="18" charset="2"/>
              </a:rPr>
              <a:t>decouple</a:t>
            </a:r>
            <a:r>
              <a:rPr lang="en-US" altLang="en-US" sz="2000" b="0" dirty="0">
                <a:sym typeface="Symbol" pitchFamily="18" charset="2"/>
              </a:rPr>
              <a:t> the support and confidence requirements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aphicFrame>
        <p:nvGraphicFramePr>
          <p:cNvPr id="373763" name="Object 3"/>
          <p:cNvGraphicFramePr>
            <a:graphicFrameLocks noChangeAspect="1"/>
          </p:cNvGraphicFramePr>
          <p:nvPr/>
        </p:nvGraphicFramePr>
        <p:xfrm>
          <a:off x="0" y="1295400"/>
          <a:ext cx="434340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433292" imgH="1998228" progId="Word.Document.8">
                  <p:embed/>
                </p:oleObj>
              </mc:Choice>
              <mc:Fallback>
                <p:oleObj name="Document" r:id="rId2" imgW="3433292" imgH="1998228" progId="Word.Document.8">
                  <p:embed/>
                  <p:pic>
                    <p:nvPicPr>
                      <p:cNvPr id="3737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95400"/>
                        <a:ext cx="4343400" cy="252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39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543800" cy="884238"/>
          </a:xfrm>
        </p:spPr>
        <p:txBody>
          <a:bodyPr/>
          <a:lstStyle/>
          <a:p>
            <a:r>
              <a:rPr lang="en-US" altLang="en-US" dirty="0"/>
              <a:t>Mining Association Rules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/>
            <a:r>
              <a:rPr lang="en-US" altLang="en-US" dirty="0"/>
              <a:t>Two-step approach: 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altLang="en-US" dirty="0">
                <a:solidFill>
                  <a:srgbClr val="FF0000"/>
                </a:solidFill>
              </a:rPr>
              <a:t>Frequent </a:t>
            </a:r>
            <a:r>
              <a:rPr lang="en-US" altLang="en-US" dirty="0" err="1">
                <a:solidFill>
                  <a:srgbClr val="FF0000"/>
                </a:solidFill>
              </a:rPr>
              <a:t>Itemset</a:t>
            </a:r>
            <a:r>
              <a:rPr lang="en-US" altLang="en-US" dirty="0">
                <a:solidFill>
                  <a:srgbClr val="FF0000"/>
                </a:solidFill>
              </a:rPr>
              <a:t> Generation</a:t>
            </a:r>
            <a:endParaRPr lang="en-US" altLang="en-US" dirty="0"/>
          </a:p>
          <a:p>
            <a:pPr marL="1295400" lvl="2" indent="-381000">
              <a:buFont typeface="Arial" charset="0"/>
              <a:buChar char="–"/>
            </a:pPr>
            <a:r>
              <a:rPr lang="en-US" altLang="en-US" dirty="0"/>
              <a:t>Generate all </a:t>
            </a:r>
            <a:r>
              <a:rPr lang="en-US" altLang="en-US" dirty="0" err="1"/>
              <a:t>itemsets</a:t>
            </a:r>
            <a:r>
              <a:rPr lang="en-US" altLang="en-US" dirty="0"/>
              <a:t> whose </a:t>
            </a:r>
            <a:r>
              <a:rPr lang="en-US" altLang="en-US" b="1" i="1" dirty="0"/>
              <a:t>support </a:t>
            </a:r>
            <a:r>
              <a:rPr lang="en-US" altLang="en-US" b="1" i="1" dirty="0">
                <a:sym typeface="Symbol" pitchFamily="18" charset="2"/>
              </a:rPr>
              <a:t> </a:t>
            </a:r>
            <a:r>
              <a:rPr lang="en-US" altLang="en-US" b="1" i="1" dirty="0" err="1"/>
              <a:t>minsup</a:t>
            </a:r>
            <a:endParaRPr lang="en-US" altLang="en-US" b="1" i="1" dirty="0"/>
          </a:p>
          <a:p>
            <a:pPr marL="1295400" lvl="2" indent="-381000">
              <a:buFont typeface="Arial" charset="0"/>
              <a:buNone/>
            </a:pPr>
            <a:endParaRPr lang="en-US" altLang="en-US" dirty="0"/>
          </a:p>
          <a:p>
            <a:pPr marL="914400" lvl="1" indent="-457200">
              <a:buFont typeface="Arial" charset="0"/>
              <a:buAutoNum type="arabicPeriod"/>
            </a:pPr>
            <a:r>
              <a:rPr lang="en-US" altLang="en-US" dirty="0">
                <a:solidFill>
                  <a:srgbClr val="FF0000"/>
                </a:solidFill>
              </a:rPr>
              <a:t>Rule Generation</a:t>
            </a:r>
            <a:endParaRPr lang="en-US" altLang="en-US" dirty="0"/>
          </a:p>
          <a:p>
            <a:pPr marL="1295400" lvl="2" indent="-381000">
              <a:buFont typeface="Arial" charset="0"/>
              <a:buChar char="–"/>
            </a:pPr>
            <a:r>
              <a:rPr lang="en-US" altLang="en-US" dirty="0"/>
              <a:t>Generate </a:t>
            </a:r>
            <a:r>
              <a:rPr lang="en-US" altLang="en-US" b="1" i="1" dirty="0"/>
              <a:t>high confidence rules </a:t>
            </a:r>
            <a:r>
              <a:rPr lang="en-US" altLang="en-US" dirty="0"/>
              <a:t>from each </a:t>
            </a:r>
            <a:r>
              <a:rPr lang="en-US" altLang="en-US" b="1" i="1" dirty="0"/>
              <a:t>frequent </a:t>
            </a:r>
            <a:r>
              <a:rPr lang="en-US" altLang="en-US" b="1" i="1" dirty="0" err="1"/>
              <a:t>itemset</a:t>
            </a:r>
            <a:r>
              <a:rPr lang="en-US" altLang="en-US" dirty="0"/>
              <a:t>, where each rule is a </a:t>
            </a:r>
            <a:r>
              <a:rPr lang="en-US" altLang="en-US" b="1" i="1" dirty="0"/>
              <a:t>binary partitioning of a frequent </a:t>
            </a:r>
            <a:r>
              <a:rPr lang="en-US" altLang="en-US" b="1" i="1" dirty="0" err="1"/>
              <a:t>itemset</a:t>
            </a:r>
            <a:endParaRPr lang="en-US" altLang="en-US" b="1" i="1" dirty="0"/>
          </a:p>
          <a:p>
            <a:pPr marL="533400" indent="-533400"/>
            <a:r>
              <a:rPr lang="en-US" altLang="en-US" dirty="0"/>
              <a:t>Frequent </a:t>
            </a:r>
            <a:r>
              <a:rPr lang="en-US" altLang="en-US" dirty="0" err="1"/>
              <a:t>itemset</a:t>
            </a:r>
            <a:r>
              <a:rPr lang="en-US" altLang="en-US" dirty="0"/>
              <a:t> generation is still computationally expensive</a:t>
            </a:r>
          </a:p>
          <a:p>
            <a:pPr marL="533400" indent="-533400">
              <a:buFont typeface="Monotype Sorts" pitchFamily="2" charset="2"/>
              <a:buNone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543800" cy="808038"/>
          </a:xfrm>
        </p:spPr>
        <p:txBody>
          <a:bodyPr/>
          <a:lstStyle/>
          <a:p>
            <a:r>
              <a:rPr lang="en-US" altLang="en-US"/>
              <a:t>Frequent Itemset Generation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04800" y="990600"/>
          <a:ext cx="7034213" cy="531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811512" imgH="7395972" progId="">
                  <p:embed/>
                </p:oleObj>
              </mc:Choice>
              <mc:Fallback>
                <p:oleObj name="VISIO" r:id="rId3" imgW="9811512" imgH="7395972" progId="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7034213" cy="531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Given </a:t>
            </a:r>
            <a:r>
              <a:rPr lang="en-US" altLang="en-US" sz="2000" i="1" dirty="0"/>
              <a:t>d</a:t>
            </a:r>
            <a:r>
              <a:rPr lang="en-US" altLang="en-US" sz="2000" dirty="0"/>
              <a:t> items, there are 2</a:t>
            </a:r>
            <a:r>
              <a:rPr lang="en-US" altLang="en-US" sz="2000" baseline="30000" dirty="0"/>
              <a:t>d</a:t>
            </a:r>
            <a:r>
              <a:rPr lang="en-US" altLang="en-US" sz="2000" dirty="0"/>
              <a:t> possible candidate </a:t>
            </a:r>
            <a:r>
              <a:rPr lang="en-US" altLang="en-US" sz="2000" dirty="0" err="1"/>
              <a:t>itemsets</a:t>
            </a:r>
            <a:endParaRPr lang="en-US" altLang="en-US" sz="2000" dirty="0">
              <a:sym typeface="Symbol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7543800" cy="808038"/>
          </a:xfrm>
        </p:spPr>
        <p:txBody>
          <a:bodyPr/>
          <a:lstStyle/>
          <a:p>
            <a:r>
              <a:rPr lang="en-US" altLang="en-US" dirty="0"/>
              <a:t>Frequent </a:t>
            </a:r>
            <a:r>
              <a:rPr lang="en-US" altLang="en-US" dirty="0" err="1"/>
              <a:t>Itemset</a:t>
            </a:r>
            <a:r>
              <a:rPr lang="en-US" altLang="en-US" dirty="0"/>
              <a:t> Generation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62000"/>
            <a:ext cx="8839200" cy="5638800"/>
          </a:xfrm>
        </p:spPr>
        <p:txBody>
          <a:bodyPr/>
          <a:lstStyle/>
          <a:p>
            <a:r>
              <a:rPr lang="en-US" altLang="en-US" dirty="0"/>
              <a:t>Brute-force approach: (</a:t>
            </a:r>
            <a:r>
              <a:rPr lang="en-US" altLang="en-US" b="1" i="1" dirty="0"/>
              <a:t>N</a:t>
            </a:r>
            <a:r>
              <a:rPr lang="en-US" altLang="en-US" b="1" dirty="0"/>
              <a:t> </a:t>
            </a:r>
            <a:r>
              <a:rPr lang="en-US" altLang="en-US" dirty="0"/>
              <a:t>TID, </a:t>
            </a:r>
            <a:r>
              <a:rPr lang="en-US" altLang="en-US" dirty="0" err="1"/>
              <a:t>Itemset</a:t>
            </a:r>
            <a:r>
              <a:rPr lang="en-US" altLang="en-US" dirty="0"/>
              <a:t> </a:t>
            </a:r>
            <a:r>
              <a:rPr lang="en-US" altLang="en-US" b="1" i="1" dirty="0"/>
              <a:t>w</a:t>
            </a:r>
            <a:r>
              <a:rPr lang="en-US" altLang="en-US" b="1" dirty="0"/>
              <a:t>,</a:t>
            </a:r>
            <a:r>
              <a:rPr lang="en-US" altLang="en-US" dirty="0"/>
              <a:t> </a:t>
            </a:r>
            <a:r>
              <a:rPr lang="en-US" altLang="en-US" b="1" i="1" dirty="0"/>
              <a:t>M </a:t>
            </a:r>
            <a:r>
              <a:rPr lang="en-US" altLang="en-US" dirty="0" err="1"/>
              <a:t>Listof</a:t>
            </a:r>
            <a:r>
              <a:rPr lang="en-US" altLang="en-US" dirty="0"/>
              <a:t> </a:t>
            </a:r>
            <a:r>
              <a:rPr lang="en-US" altLang="en-US" dirty="0" err="1"/>
              <a:t>candiates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Each </a:t>
            </a:r>
            <a:r>
              <a:rPr lang="en-US" altLang="en-US" dirty="0" err="1"/>
              <a:t>itemset</a:t>
            </a:r>
            <a:r>
              <a:rPr lang="en-US" altLang="en-US" dirty="0"/>
              <a:t> in the lattice is a </a:t>
            </a:r>
            <a:r>
              <a:rPr lang="en-US" altLang="en-US" dirty="0">
                <a:solidFill>
                  <a:srgbClr val="FF0000"/>
                </a:solidFill>
              </a:rPr>
              <a:t>candidate</a:t>
            </a:r>
            <a:r>
              <a:rPr lang="en-US" altLang="en-US" dirty="0"/>
              <a:t> frequent </a:t>
            </a:r>
            <a:r>
              <a:rPr lang="en-US" altLang="en-US" dirty="0" err="1"/>
              <a:t>itemset</a:t>
            </a:r>
            <a:endParaRPr lang="en-US" altLang="en-US" dirty="0"/>
          </a:p>
          <a:p>
            <a:pPr lvl="1"/>
            <a:r>
              <a:rPr lang="en-US" altLang="en-US" dirty="0"/>
              <a:t>Count the support of each candidate by scanning the database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Match each transaction against every candidate</a:t>
            </a:r>
          </a:p>
          <a:p>
            <a:pPr lvl="1"/>
            <a:r>
              <a:rPr lang="en-US" altLang="en-US" dirty="0"/>
              <a:t>Complexity ~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 err="1"/>
              <a:t>NMw</a:t>
            </a:r>
            <a:r>
              <a:rPr lang="en-US" altLang="en-US" dirty="0"/>
              <a:t>) =&gt; </a:t>
            </a:r>
            <a:r>
              <a:rPr lang="en-US" altLang="en-US" dirty="0">
                <a:solidFill>
                  <a:srgbClr val="FF0000"/>
                </a:solidFill>
              </a:rPr>
              <a:t>Expensive since M = 2</a:t>
            </a:r>
            <a:r>
              <a:rPr lang="en-US" altLang="en-US" baseline="30000" dirty="0">
                <a:solidFill>
                  <a:srgbClr val="FF0000"/>
                </a:solidFill>
              </a:rPr>
              <a:t>d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!!!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286000" y="3124200"/>
          <a:ext cx="6519862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643978" imgH="2744343" progId="">
                  <p:embed/>
                </p:oleObj>
              </mc:Choice>
              <mc:Fallback>
                <p:oleObj name="Visio" r:id="rId3" imgW="7643978" imgH="2744343" progId="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24200"/>
                        <a:ext cx="6519862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763000" cy="838200"/>
          </a:xfrm>
        </p:spPr>
        <p:txBody>
          <a:bodyPr/>
          <a:lstStyle/>
          <a:p>
            <a:r>
              <a:rPr lang="en-US" altLang="en-US" dirty="0"/>
              <a:t>Frequent </a:t>
            </a:r>
            <a:r>
              <a:rPr lang="en-US" altLang="en-US" dirty="0" err="1"/>
              <a:t>Itemset</a:t>
            </a:r>
            <a:r>
              <a:rPr lang="en-US" altLang="en-US" dirty="0"/>
              <a:t> Generation Policy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2" y="1066800"/>
            <a:ext cx="8580437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candidates</a:t>
            </a:r>
            <a:r>
              <a:rPr lang="en-US" altLang="en-US" dirty="0"/>
              <a:t> (</a:t>
            </a:r>
            <a:r>
              <a:rPr lang="en-US" altLang="en-US" i="1" dirty="0"/>
              <a:t>M</a:t>
            </a:r>
            <a:r>
              <a:rPr lang="en-US" altLang="en-US" dirty="0"/>
              <a:t>), </a:t>
            </a:r>
            <a:r>
              <a:rPr lang="en-US" altLang="en-US" i="1" dirty="0"/>
              <a:t>d</a:t>
            </a:r>
            <a:r>
              <a:rPr lang="en-US" altLang="en-US" dirty="0"/>
              <a:t> items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Complete search: </a:t>
            </a:r>
            <a:r>
              <a:rPr lang="en-US" altLang="en-US" i="1" dirty="0"/>
              <a:t>M</a:t>
            </a:r>
            <a:r>
              <a:rPr lang="en-US" altLang="en-US" dirty="0"/>
              <a:t>=2</a:t>
            </a:r>
            <a:r>
              <a:rPr lang="en-US" altLang="en-US" i="1" baseline="30000" dirty="0"/>
              <a:t>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</a:t>
            </a:r>
            <a:r>
              <a:rPr lang="en-US" altLang="en-US" b="1" i="1" dirty="0"/>
              <a:t>pruning</a:t>
            </a:r>
            <a:r>
              <a:rPr lang="en-US" altLang="en-US" dirty="0"/>
              <a:t> techniques to reduce </a:t>
            </a:r>
            <a:r>
              <a:rPr lang="en-US" altLang="en-US" i="1" dirty="0"/>
              <a:t>M</a:t>
            </a:r>
          </a:p>
          <a:p>
            <a:pPr lvl="4">
              <a:lnSpc>
                <a:spcPct val="90000"/>
              </a:lnSpc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transactions 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Reduce size of </a:t>
            </a:r>
            <a:r>
              <a:rPr lang="en-US" altLang="en-US" i="1" dirty="0"/>
              <a:t>N</a:t>
            </a:r>
            <a:r>
              <a:rPr lang="en-US" altLang="en-US" dirty="0"/>
              <a:t> as the size of </a:t>
            </a:r>
            <a:r>
              <a:rPr lang="en-US" altLang="en-US" dirty="0" err="1"/>
              <a:t>itemset</a:t>
            </a:r>
            <a:r>
              <a:rPr lang="en-US" altLang="en-US" dirty="0"/>
              <a:t> increases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Used by </a:t>
            </a:r>
            <a:r>
              <a:rPr lang="en-US" altLang="en-US" b="1" i="1" dirty="0"/>
              <a:t>DHP</a:t>
            </a:r>
            <a:r>
              <a:rPr lang="en-US" altLang="en-US" dirty="0"/>
              <a:t> and </a:t>
            </a:r>
            <a:r>
              <a:rPr lang="en-US" altLang="en-US" i="1" dirty="0"/>
              <a:t>vertical-based mining</a:t>
            </a:r>
            <a:r>
              <a:rPr lang="en-US" altLang="en-US" dirty="0"/>
              <a:t> algorithms</a:t>
            </a:r>
          </a:p>
          <a:p>
            <a:pPr lvl="4">
              <a:lnSpc>
                <a:spcPct val="90000"/>
              </a:lnSpc>
            </a:pPr>
            <a:endParaRPr lang="en-US" altLang="en-US" sz="10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Reduce the </a:t>
            </a:r>
            <a:r>
              <a:rPr lang="en-US" altLang="en-US" dirty="0">
                <a:solidFill>
                  <a:srgbClr val="FF0000"/>
                </a:solidFill>
              </a:rPr>
              <a:t>number of comparisons</a:t>
            </a:r>
            <a:r>
              <a:rPr lang="en-US" altLang="en-US" dirty="0"/>
              <a:t> (</a:t>
            </a:r>
            <a:r>
              <a:rPr lang="en-US" altLang="en-US" i="1" dirty="0"/>
              <a:t>NM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efficient data structures to store the candidates or transactions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need to match every candidate against every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53400" cy="731838"/>
          </a:xfrm>
        </p:spPr>
        <p:txBody>
          <a:bodyPr/>
          <a:lstStyle/>
          <a:p>
            <a:r>
              <a:rPr lang="en-US" altLang="en-US" dirty="0"/>
              <a:t>Reducing Number of Candidates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r>
              <a:rPr lang="en-US" altLang="en-US" b="1" i="1" dirty="0" err="1">
                <a:solidFill>
                  <a:srgbClr val="CC3300"/>
                </a:solidFill>
              </a:rPr>
              <a:t>Apriori</a:t>
            </a:r>
            <a:r>
              <a:rPr lang="en-US" altLang="en-US" b="1" i="1" dirty="0">
                <a:solidFill>
                  <a:srgbClr val="CC3300"/>
                </a:solidFill>
              </a:rPr>
              <a:t> Principle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If an </a:t>
            </a:r>
            <a:r>
              <a:rPr lang="en-US" altLang="en-US" dirty="0" err="1"/>
              <a:t>itemset</a:t>
            </a:r>
            <a:r>
              <a:rPr lang="en-US" altLang="en-US" dirty="0"/>
              <a:t> is frequent, then all of its subsets must also be frequent</a:t>
            </a:r>
          </a:p>
          <a:p>
            <a:pPr lvl="4"/>
            <a:endParaRPr lang="en-US" altLang="en-US" dirty="0"/>
          </a:p>
          <a:p>
            <a:r>
              <a:rPr lang="en-US" altLang="en-US" dirty="0" err="1"/>
              <a:t>Apriori</a:t>
            </a:r>
            <a:r>
              <a:rPr lang="en-US" altLang="en-US" dirty="0"/>
              <a:t> principle holds due to the following property of the </a:t>
            </a:r>
            <a:r>
              <a:rPr lang="en-US" altLang="en-US" b="1" i="1" dirty="0"/>
              <a:t>support measure</a:t>
            </a:r>
            <a:r>
              <a:rPr lang="en-US" altLang="en-US" dirty="0"/>
              <a:t>: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Support of an </a:t>
            </a:r>
            <a:r>
              <a:rPr lang="en-US" altLang="en-US" dirty="0" err="1"/>
              <a:t>itemset</a:t>
            </a:r>
            <a:r>
              <a:rPr lang="en-US" altLang="en-US" dirty="0"/>
              <a:t> never exceeds the support of its subsets</a:t>
            </a:r>
          </a:p>
          <a:p>
            <a:pPr lvl="1"/>
            <a:r>
              <a:rPr lang="en-US" altLang="en-US" dirty="0"/>
              <a:t>This is known as the </a:t>
            </a:r>
            <a:r>
              <a:rPr lang="en-US" altLang="en-US" dirty="0">
                <a:solidFill>
                  <a:srgbClr val="CC3300"/>
                </a:solidFill>
              </a:rPr>
              <a:t>anti-monotone</a:t>
            </a:r>
            <a:r>
              <a:rPr lang="en-US" altLang="en-US" dirty="0"/>
              <a:t> property of support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981200" y="3984625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900" imgH="203200" progId="Equation.3">
                  <p:embed/>
                </p:oleObj>
              </mc:Choice>
              <mc:Fallback>
                <p:oleObj name="Equation" r:id="rId3" imgW="1993900" imgH="2032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984625"/>
                        <a:ext cx="5715000" cy="5826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1089025"/>
            <a:ext cx="8831263" cy="5235575"/>
            <a:chOff x="144" y="686"/>
            <a:chExt cx="5563" cy="3298"/>
          </a:xfrm>
        </p:grpSpPr>
        <p:sp>
          <p:nvSpPr>
            <p:cNvPr id="16391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0C6D9C"/>
                  </a:solidFill>
                </a:rPr>
                <a:t>Found to be Infrequent</a:t>
              </a:r>
              <a:endParaRPr lang="en-US" altLang="en-US" sz="2000" b="0">
                <a:solidFill>
                  <a:srgbClr val="0C6D9C"/>
                </a:solidFill>
                <a:sym typeface="Symbol" pitchFamily="18" charset="2"/>
              </a:endParaRPr>
            </a:p>
          </p:txBody>
        </p:sp>
        <p:graphicFrame>
          <p:nvGraphicFramePr>
            <p:cNvPr id="16393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9866478" imgH="7377618" progId="">
                    <p:embed/>
                  </p:oleObj>
                </mc:Choice>
                <mc:Fallback>
                  <p:oleObj name="Visio" r:id="rId3" imgW="9866478" imgH="7377618" progId="">
                    <p:embed/>
                    <p:pic>
                      <p:nvPicPr>
                        <p:cNvPr id="1639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7543800" cy="808038"/>
          </a:xfrm>
        </p:spPr>
        <p:txBody>
          <a:bodyPr/>
          <a:lstStyle/>
          <a:p>
            <a:r>
              <a:rPr lang="en-US" altLang="en-US" sz="2800" dirty="0"/>
              <a:t>Illustrating </a:t>
            </a:r>
            <a:r>
              <a:rPr lang="en-US" altLang="en-US" sz="2800" dirty="0" err="1"/>
              <a:t>Apriori</a:t>
            </a:r>
            <a:r>
              <a:rPr lang="en-US" altLang="en-US" sz="2800" dirty="0"/>
              <a:t> Principle (Pruning)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09800" y="1089025"/>
            <a:ext cx="6850063" cy="5235575"/>
            <a:chOff x="1392" y="686"/>
            <a:chExt cx="4315" cy="3298"/>
          </a:xfrm>
        </p:grpSpPr>
        <p:graphicFrame>
          <p:nvGraphicFramePr>
            <p:cNvPr id="16389" name="Object 8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9866478" imgH="7377618" progId="">
                    <p:embed/>
                  </p:oleObj>
                </mc:Choice>
                <mc:Fallback>
                  <p:oleObj name="Visio" r:id="rId5" imgW="9866478" imgH="7377618" progId="">
                    <p:embed/>
                    <p:pic>
                      <p:nvPicPr>
                        <p:cNvPr id="1638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0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rgbClr val="FF0000"/>
                  </a:solidFill>
                </a:rPr>
                <a:t>Pruned supersets</a:t>
              </a:r>
              <a:endParaRPr lang="en-US" altLang="en-US" sz="2000" b="0">
                <a:solidFill>
                  <a:srgbClr val="FF0000"/>
                </a:solidFill>
                <a:sym typeface="Symbol" pitchFamily="18" charset="2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456F1-5FD4-4074-A7F5-122F6C81D70D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543800" cy="808038"/>
          </a:xfrm>
        </p:spPr>
        <p:txBody>
          <a:bodyPr/>
          <a:lstStyle/>
          <a:p>
            <a:r>
              <a:rPr lang="en-US" altLang="en-US" dirty="0"/>
              <a:t>Illustrating </a:t>
            </a:r>
            <a:r>
              <a:rPr lang="en-US" altLang="en-US" dirty="0" err="1"/>
              <a:t>Apriori</a:t>
            </a:r>
            <a:r>
              <a:rPr lang="en-US" altLang="en-US" dirty="0"/>
              <a:t> Principle</a:t>
            </a:r>
          </a:p>
        </p:txBody>
      </p:sp>
      <p:sp>
        <p:nvSpPr>
          <p:cNvPr id="17411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graphicFrame>
        <p:nvGraphicFramePr>
          <p:cNvPr id="17412" name="Object 21"/>
          <p:cNvGraphicFramePr>
            <a:graphicFrameLocks noGrp="1" noChangeAspect="1"/>
          </p:cNvGraphicFramePr>
          <p:nvPr/>
        </p:nvGraphicFramePr>
        <p:xfrm>
          <a:off x="381000" y="13589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352666" imgH="2016134" progId="Word.Document.8">
                  <p:embed/>
                </p:oleObj>
              </mc:Choice>
              <mc:Fallback>
                <p:oleObj name="Document" r:id="rId3" imgW="3352666" imgH="2016134" progId="Word.Document.8">
                  <p:embed/>
                  <p:pic>
                    <p:nvPicPr>
                      <p:cNvPr id="17412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58900"/>
                        <a:ext cx="3568700" cy="21463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Items (1-itemsets)</a:t>
            </a:r>
          </a:p>
        </p:txBody>
      </p:sp>
      <p:sp>
        <p:nvSpPr>
          <p:cNvPr id="17414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581400" cy="147732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+ 1 = </a:t>
            </a:r>
            <a:r>
              <a:rPr lang="en-US" altLang="en-US" sz="1800" dirty="0">
                <a:latin typeface="Tahoma" pitchFamily="34" charset="0"/>
              </a:rPr>
              <a:t>13</a:t>
            </a:r>
            <a:endParaRPr lang="en-US" altLang="en-US" sz="1800" b="0" dirty="0">
              <a:latin typeface="Tahoma" pitchFamily="34" charset="0"/>
            </a:endParaRPr>
          </a:p>
        </p:txBody>
      </p:sp>
      <p:graphicFrame>
        <p:nvGraphicFramePr>
          <p:cNvPr id="17416" name="Object 3"/>
          <p:cNvGraphicFramePr>
            <a:graphicFrameLocks noChangeAspect="1"/>
          </p:cNvGraphicFramePr>
          <p:nvPr/>
        </p:nvGraphicFramePr>
        <p:xfrm>
          <a:off x="5502275" y="1905000"/>
          <a:ext cx="2270125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2289908" imgH="2495536" progId="Word.Document.8">
                  <p:embed/>
                </p:oleObj>
              </mc:Choice>
              <mc:Fallback>
                <p:oleObj name="Document" r:id="rId5" imgW="2289908" imgH="2495536" progId="Word.Document.8">
                  <p:embed/>
                  <p:pic>
                    <p:nvPicPr>
                      <p:cNvPr id="174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1905000"/>
                        <a:ext cx="2270125" cy="24685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114800" y="3886200"/>
            <a:ext cx="17657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Total Items =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543800" cy="655638"/>
          </a:xfrm>
        </p:spPr>
        <p:txBody>
          <a:bodyPr/>
          <a:lstStyle/>
          <a:p>
            <a:r>
              <a:rPr lang="en-US" altLang="en-US" dirty="0"/>
              <a:t>Illustrating </a:t>
            </a:r>
            <a:r>
              <a:rPr lang="en-US" altLang="en-US" dirty="0" err="1"/>
              <a:t>Apriori</a:t>
            </a:r>
            <a:r>
              <a:rPr lang="en-US" altLang="en-US" dirty="0"/>
              <a:t> Principle</a:t>
            </a:r>
          </a:p>
        </p:txBody>
      </p:sp>
      <p:sp>
        <p:nvSpPr>
          <p:cNvPr id="18435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18436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4763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+ 1 = 13</a:t>
            </a:r>
          </a:p>
        </p:txBody>
      </p:sp>
      <p:graphicFrame>
        <p:nvGraphicFramePr>
          <p:cNvPr id="18437" name="Object 21"/>
          <p:cNvGraphicFramePr>
            <a:graphicFrameLocks noGrp="1" noChangeAspect="1"/>
          </p:cNvGraphicFramePr>
          <p:nvPr/>
        </p:nvGraphicFramePr>
        <p:xfrm>
          <a:off x="381000" y="12954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2666" imgH="2016134" progId="Word.Document.8">
                  <p:embed/>
                </p:oleObj>
              </mc:Choice>
              <mc:Fallback>
                <p:oleObj name="Document" r:id="rId2" imgW="3352666" imgH="2016134" progId="Word.Document.8">
                  <p:embed/>
                  <p:pic>
                    <p:nvPicPr>
                      <p:cNvPr id="18437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3568700" cy="21463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5410200" y="13716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18439" name="Right Arrow 16"/>
          <p:cNvSpPr>
            <a:spLocks noChangeArrowheads="1"/>
          </p:cNvSpPr>
          <p:nvPr/>
        </p:nvSpPr>
        <p:spPr bwMode="auto">
          <a:xfrm>
            <a:off x="4114800" y="2286000"/>
            <a:ext cx="6858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graphicFrame>
        <p:nvGraphicFramePr>
          <p:cNvPr id="18440" name="Object 3"/>
          <p:cNvGraphicFramePr>
            <a:graphicFrameLocks noChangeAspect="1"/>
          </p:cNvGraphicFramePr>
          <p:nvPr/>
        </p:nvGraphicFramePr>
        <p:xfrm>
          <a:off x="5407025" y="1905000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289908" imgH="2495536" progId="Word.Document.8">
                  <p:embed/>
                </p:oleObj>
              </mc:Choice>
              <mc:Fallback>
                <p:oleObj name="Document" r:id="rId4" imgW="2289908" imgH="2495536" progId="Word.Document.8">
                  <p:embed/>
                  <p:pic>
                    <p:nvPicPr>
                      <p:cNvPr id="1844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1905000"/>
                        <a:ext cx="2289175" cy="2498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543800" cy="808038"/>
          </a:xfrm>
        </p:spPr>
        <p:txBody>
          <a:bodyPr/>
          <a:lstStyle/>
          <a:p>
            <a:r>
              <a:rPr lang="en-US" altLang="en-US" dirty="0"/>
              <a:t>Illustrating </a:t>
            </a:r>
            <a:r>
              <a:rPr lang="en-US" altLang="en-US" dirty="0" err="1"/>
              <a:t>Apriori</a:t>
            </a:r>
            <a:r>
              <a:rPr lang="en-US" altLang="en-US" dirty="0"/>
              <a:t> Principle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352800" y="2133600"/>
          <a:ext cx="3246438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246438" cy="19510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9463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1946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5056" cy="147732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+ 1 = 13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884238"/>
          </a:xfrm>
        </p:spPr>
        <p:txBody>
          <a:bodyPr/>
          <a:lstStyle/>
          <a:p>
            <a:r>
              <a:rPr lang="en-US" altLang="en-US" dirty="0"/>
              <a:t>Illustrating </a:t>
            </a:r>
            <a:r>
              <a:rPr lang="en-US" altLang="en-US" dirty="0" err="1"/>
              <a:t>Apriori</a:t>
            </a:r>
            <a:r>
              <a:rPr lang="en-US" altLang="en-US" dirty="0"/>
              <a:t> Principle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3352800" y="2133600"/>
          <a:ext cx="329247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0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292475" cy="19812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0486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0487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754326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aseline="30000" dirty="0">
                <a:latin typeface="Tahoma" pitchFamily="34" charset="0"/>
              </a:rPr>
              <a:t>	6</a:t>
            </a:r>
            <a:r>
              <a:rPr lang="en-US" altLang="en-US" sz="1800" dirty="0">
                <a:latin typeface="Tahoma" pitchFamily="34" charset="0"/>
              </a:rPr>
              <a:t>C</a:t>
            </a:r>
            <a:r>
              <a:rPr lang="en-US" altLang="en-US" sz="1800" baseline="-25000" dirty="0">
                <a:latin typeface="Tahoma" pitchFamily="34" charset="0"/>
              </a:rPr>
              <a:t>1</a:t>
            </a:r>
            <a:r>
              <a:rPr lang="en-US" altLang="en-US" sz="1800" dirty="0">
                <a:latin typeface="Tahoma" pitchFamily="34" charset="0"/>
              </a:rPr>
              <a:t> + </a:t>
            </a:r>
            <a:r>
              <a:rPr lang="en-US" altLang="en-US" sz="1800" baseline="30000" dirty="0">
                <a:latin typeface="Tahoma" pitchFamily="34" charset="0"/>
              </a:rPr>
              <a:t>4</a:t>
            </a:r>
            <a:r>
              <a:rPr lang="en-US" altLang="en-US" sz="1800" dirty="0">
                <a:latin typeface="Tahoma" pitchFamily="34" charset="0"/>
              </a:rPr>
              <a:t>C</a:t>
            </a:r>
            <a:r>
              <a:rPr lang="en-US" altLang="en-US" sz="1800" baseline="-25000" dirty="0">
                <a:latin typeface="Tahoma" pitchFamily="34" charset="0"/>
              </a:rPr>
              <a:t>2</a:t>
            </a:r>
            <a:r>
              <a:rPr lang="en-US" altLang="en-US" sz="1800" dirty="0">
                <a:latin typeface="Tahoma" pitchFamily="34" charset="0"/>
              </a:rPr>
              <a:t> + 1</a:t>
            </a:r>
            <a:endParaRPr lang="en-US" altLang="en-US" sz="1800" b="0" dirty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+ 1 = 13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Illustrating Apriori Principle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1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4876800" y="4572000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124026" imgH="1522425" progId="Word.Document.8">
                  <p:embed/>
                </p:oleObj>
              </mc:Choice>
              <mc:Fallback>
                <p:oleObj name="Document" r:id="rId6" imgW="3124026" imgH="1522425" progId="Word.Document.8">
                  <p:embed/>
                  <p:pic>
                    <p:nvPicPr>
                      <p:cNvPr id="21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572000"/>
                        <a:ext cx="3094038" cy="15081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513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304800" y="4381500"/>
            <a:ext cx="3244850" cy="1754326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aseline="30000" dirty="0">
                <a:latin typeface="Tahoma" pitchFamily="34" charset="0"/>
              </a:rPr>
              <a:t>	6</a:t>
            </a:r>
            <a:r>
              <a:rPr lang="en-US" altLang="en-US" sz="1800" dirty="0">
                <a:latin typeface="Tahoma" pitchFamily="34" charset="0"/>
              </a:rPr>
              <a:t>C</a:t>
            </a:r>
            <a:r>
              <a:rPr lang="en-US" altLang="en-US" sz="1800" baseline="-25000" dirty="0">
                <a:latin typeface="Tahoma" pitchFamily="34" charset="0"/>
              </a:rPr>
              <a:t>1</a:t>
            </a:r>
            <a:r>
              <a:rPr lang="en-US" altLang="en-US" sz="1800" dirty="0">
                <a:latin typeface="Tahoma" pitchFamily="34" charset="0"/>
              </a:rPr>
              <a:t> + </a:t>
            </a:r>
            <a:r>
              <a:rPr lang="en-US" altLang="en-US" sz="1800" baseline="30000" dirty="0">
                <a:latin typeface="Tahoma" pitchFamily="34" charset="0"/>
              </a:rPr>
              <a:t>4</a:t>
            </a:r>
            <a:r>
              <a:rPr lang="en-US" altLang="en-US" sz="1800" dirty="0">
                <a:latin typeface="Tahoma" pitchFamily="34" charset="0"/>
              </a:rPr>
              <a:t>C</a:t>
            </a:r>
            <a:r>
              <a:rPr lang="en-US" altLang="en-US" sz="1800" baseline="-25000" dirty="0">
                <a:latin typeface="Tahoma" pitchFamily="34" charset="0"/>
              </a:rPr>
              <a:t>2</a:t>
            </a:r>
            <a:r>
              <a:rPr lang="en-US" altLang="en-US" sz="1800" dirty="0">
                <a:latin typeface="Tahoma" pitchFamily="34" charset="0"/>
              </a:rPr>
              <a:t> + 1</a:t>
            </a:r>
            <a:endParaRPr lang="en-US" altLang="en-US" sz="1800" b="0" dirty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+ 6 + 1 = 13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267200" cy="655638"/>
          </a:xfrm>
        </p:spPr>
        <p:txBody>
          <a:bodyPr/>
          <a:lstStyle/>
          <a:p>
            <a:r>
              <a:rPr lang="en-US" altLang="en-US" dirty="0" err="1"/>
              <a:t>Apriori</a:t>
            </a:r>
            <a:r>
              <a:rPr lang="en-US" altLang="en-US" dirty="0"/>
              <a:t> Principle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25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3352800" y="2263604"/>
          <a:ext cx="3124200" cy="199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63604"/>
                        <a:ext cx="3124200" cy="199883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9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2540" name="Text Box 13"/>
          <p:cNvSpPr txBox="1">
            <a:spLocks noChangeArrowheads="1"/>
          </p:cNvSpPr>
          <p:nvPr/>
        </p:nvSpPr>
        <p:spPr bwMode="auto">
          <a:xfrm>
            <a:off x="304800" y="4418013"/>
            <a:ext cx="3245056" cy="147732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If every subset is considered,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1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2</a:t>
            </a:r>
            <a:r>
              <a:rPr lang="en-US" altLang="en-US" sz="1800" b="0" dirty="0">
                <a:latin typeface="Tahoma" pitchFamily="34" charset="0"/>
              </a:rPr>
              <a:t> + </a:t>
            </a:r>
            <a:r>
              <a:rPr lang="en-US" altLang="en-US" sz="1800" b="0" baseline="30000" dirty="0">
                <a:latin typeface="Tahoma" pitchFamily="34" charset="0"/>
              </a:rPr>
              <a:t>6</a:t>
            </a:r>
            <a:r>
              <a:rPr lang="en-US" altLang="en-US" sz="1800" b="0" dirty="0">
                <a:latin typeface="Tahoma" pitchFamily="34" charset="0"/>
              </a:rPr>
              <a:t>C</a:t>
            </a:r>
            <a:r>
              <a:rPr lang="en-US" altLang="en-US" sz="1800" b="0" baseline="-25000" dirty="0">
                <a:latin typeface="Tahoma" pitchFamily="34" charset="0"/>
              </a:rPr>
              <a:t>3</a:t>
            </a:r>
            <a:r>
              <a:rPr lang="en-US" altLang="en-US" sz="1800" b="0" dirty="0">
                <a:latin typeface="Tahoma" pitchFamily="34" charset="0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6 + 15 + 20 = 41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With support-based pruning,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 dirty="0">
                <a:latin typeface="Tahoma" pitchFamily="34" charset="0"/>
              </a:rPr>
              <a:t>	</a:t>
            </a:r>
            <a:r>
              <a:rPr lang="en-US" altLang="en-US" sz="1800" b="0" dirty="0">
                <a:solidFill>
                  <a:srgbClr val="FF0000"/>
                </a:solidFill>
                <a:latin typeface="Tahoma" pitchFamily="34" charset="0"/>
              </a:rPr>
              <a:t>6 + 6 + 1 = 13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343400" y="4800600"/>
            <a:ext cx="3048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Item Set</a:t>
            </a:r>
          </a:p>
          <a:p>
            <a:r>
              <a:rPr lang="en-US" dirty="0"/>
              <a:t>{Beer, Diaper, Milk} (2)</a:t>
            </a:r>
          </a:p>
          <a:p>
            <a:r>
              <a:rPr lang="en-US" dirty="0"/>
              <a:t>{Beer, Bread, Diaper} (2)</a:t>
            </a:r>
          </a:p>
          <a:p>
            <a:r>
              <a:rPr lang="en-US" dirty="0">
                <a:solidFill>
                  <a:srgbClr val="FF0000"/>
                </a:solidFill>
              </a:rPr>
              <a:t>{Bread, Diaper, Milk} (3)</a:t>
            </a:r>
          </a:p>
          <a:p>
            <a:r>
              <a:rPr lang="en-US" dirty="0"/>
              <a:t>{Beer, Bread, Milk} (1)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731838"/>
          </a:xfrm>
        </p:spPr>
        <p:txBody>
          <a:bodyPr/>
          <a:lstStyle/>
          <a:p>
            <a:r>
              <a:rPr lang="en-US" altLang="en-US" dirty="0" err="1"/>
              <a:t>Apriori</a:t>
            </a:r>
            <a:r>
              <a:rPr lang="en-US" altLang="en-US" dirty="0"/>
              <a:t> Algorithm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229600" cy="5715000"/>
          </a:xfrm>
        </p:spPr>
        <p:txBody>
          <a:bodyPr/>
          <a:lstStyle/>
          <a:p>
            <a:pPr marL="742950" lvl="1" indent="-285750">
              <a:lnSpc>
                <a:spcPct val="90000"/>
              </a:lnSpc>
            </a:pP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: frequent k-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 err="1"/>
              <a:t>L</a:t>
            </a:r>
            <a:r>
              <a:rPr lang="en-US" altLang="en-US" baseline="-25000" dirty="0" err="1"/>
              <a:t>k</a:t>
            </a:r>
            <a:r>
              <a:rPr lang="en-US" altLang="en-US" dirty="0"/>
              <a:t>: candidate k-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marL="1543050" lvl="3" indent="-285750">
              <a:lnSpc>
                <a:spcPct val="90000"/>
              </a:lnSpc>
            </a:pPr>
            <a:endParaRPr lang="en-US" altLang="en-US" sz="800" dirty="0"/>
          </a:p>
          <a:p>
            <a:pPr marL="234950" indent="-285750">
              <a:lnSpc>
                <a:spcPct val="90000"/>
              </a:lnSpc>
            </a:pPr>
            <a:r>
              <a:rPr lang="en-US" altLang="en-US" dirty="0"/>
              <a:t>Algorithm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Let k=1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Generate F</a:t>
            </a:r>
            <a:r>
              <a:rPr lang="en-US" altLang="en-US" baseline="-25000" dirty="0"/>
              <a:t>1</a:t>
            </a:r>
            <a:r>
              <a:rPr lang="en-US" altLang="en-US" dirty="0"/>
              <a:t> = {frequent 1-itemsets}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dirty="0"/>
              <a:t>Repeat until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 is empty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US" b="1" i="1" dirty="0">
                <a:solidFill>
                  <a:srgbClr val="FF0000"/>
                </a:solidFill>
              </a:rPr>
              <a:t>Candidate Generation</a:t>
            </a:r>
            <a:r>
              <a:rPr lang="en-US" altLang="en-US" dirty="0"/>
              <a:t>: Generate L</a:t>
            </a:r>
            <a:r>
              <a:rPr lang="en-US" altLang="en-US" baseline="-25000" dirty="0"/>
              <a:t>k+1 </a:t>
            </a:r>
            <a:r>
              <a:rPr lang="en-US" altLang="en-US" dirty="0"/>
              <a:t>from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pPr marL="1143000" lvl="2" indent="-228600">
              <a:lnSpc>
                <a:spcPct val="90000"/>
              </a:lnSpc>
            </a:pPr>
            <a:r>
              <a:rPr lang="en-US" altLang="en-US" b="1" i="1" dirty="0">
                <a:solidFill>
                  <a:srgbClr val="FF0000"/>
                </a:solidFill>
              </a:rPr>
              <a:t>Candidate Pruning</a:t>
            </a:r>
            <a:r>
              <a:rPr lang="en-US" altLang="en-US" dirty="0"/>
              <a:t>: Prune candidate </a:t>
            </a:r>
            <a:r>
              <a:rPr lang="en-US" altLang="en-US" dirty="0" err="1"/>
              <a:t>itemsets</a:t>
            </a:r>
            <a:r>
              <a:rPr lang="en-US" altLang="en-US" dirty="0"/>
              <a:t> in L</a:t>
            </a:r>
            <a:r>
              <a:rPr lang="en-US" altLang="en-US" baseline="-25000" dirty="0"/>
              <a:t>k+1 </a:t>
            </a:r>
            <a:r>
              <a:rPr lang="en-US" altLang="en-US" dirty="0"/>
              <a:t>containing subsets of length </a:t>
            </a:r>
            <a:r>
              <a:rPr lang="en-US" altLang="en-US" b="1" i="1" dirty="0"/>
              <a:t>k</a:t>
            </a:r>
            <a:r>
              <a:rPr lang="en-US" altLang="en-US" dirty="0"/>
              <a:t> that are </a:t>
            </a:r>
            <a:r>
              <a:rPr lang="en-US" altLang="en-US" i="1" dirty="0"/>
              <a:t>infrequent</a:t>
            </a:r>
            <a:r>
              <a:rPr lang="en-US" altLang="en-US" dirty="0"/>
              <a:t> 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US" b="1" i="1" dirty="0">
                <a:solidFill>
                  <a:srgbClr val="FF0000"/>
                </a:solidFill>
              </a:rPr>
              <a:t>Support Counting</a:t>
            </a:r>
            <a:r>
              <a:rPr lang="en-US" altLang="en-US" dirty="0"/>
              <a:t>: Count the support of each candidate in L</a:t>
            </a:r>
            <a:r>
              <a:rPr lang="en-US" altLang="en-US" baseline="-25000" dirty="0"/>
              <a:t>k+1 </a:t>
            </a:r>
            <a:r>
              <a:rPr lang="en-US" altLang="en-US" dirty="0"/>
              <a:t>by scanning the DB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US" b="1" i="1" dirty="0">
                <a:solidFill>
                  <a:srgbClr val="FF0000"/>
                </a:solidFill>
              </a:rPr>
              <a:t>Candidate Elimination</a:t>
            </a:r>
            <a:r>
              <a:rPr lang="en-US" altLang="en-US" dirty="0"/>
              <a:t>: Eliminate candidates in L</a:t>
            </a:r>
            <a:r>
              <a:rPr lang="en-US" altLang="en-US" baseline="-25000" dirty="0"/>
              <a:t>k+1 </a:t>
            </a:r>
            <a:r>
              <a:rPr lang="en-US" altLang="en-US" dirty="0"/>
              <a:t>that are </a:t>
            </a:r>
            <a:r>
              <a:rPr lang="en-US" altLang="en-US" i="1" dirty="0"/>
              <a:t>infrequent</a:t>
            </a:r>
            <a:r>
              <a:rPr lang="en-US" altLang="en-US" dirty="0"/>
              <a:t>, leaving only those that are frequent =&gt; F</a:t>
            </a:r>
            <a:r>
              <a:rPr lang="en-US" altLang="en-US" baseline="-25000" dirty="0"/>
              <a:t>k+1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sz="2400" dirty="0">
                <a:solidFill>
                  <a:srgbClr val="FF0000"/>
                </a:solidFill>
              </a:rPr>
              <a:t>How to generate candidates</a:t>
            </a:r>
            <a:r>
              <a:rPr lang="en-US" sz="2400" dirty="0"/>
              <a:t>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Step 1: Self-joining </a:t>
            </a:r>
            <a:r>
              <a:rPr lang="en-US" sz="2400" dirty="0" err="1"/>
              <a:t>L</a:t>
            </a:r>
            <a:r>
              <a:rPr lang="en-US" sz="2400" i="1" baseline="-25000" dirty="0" err="1"/>
              <a:t>k</a:t>
            </a:r>
            <a:endParaRPr lang="en-US" sz="2400" i="1" baseline="-25000" dirty="0"/>
          </a:p>
          <a:p>
            <a:pPr lvl="2">
              <a:lnSpc>
                <a:spcPct val="110000"/>
              </a:lnSpc>
            </a:pPr>
            <a:r>
              <a:rPr lang="en-US" sz="2200" dirty="0"/>
              <a:t>Two (</a:t>
            </a:r>
            <a:r>
              <a:rPr lang="en-US" sz="2200" i="1" dirty="0"/>
              <a:t>k</a:t>
            </a:r>
            <a:r>
              <a:rPr lang="en-US" sz="2200" dirty="0"/>
              <a:t>-1)-</a:t>
            </a:r>
            <a:r>
              <a:rPr lang="en-US" sz="2200" dirty="0" err="1"/>
              <a:t>itemsets</a:t>
            </a:r>
            <a:r>
              <a:rPr lang="en-US" sz="2200" dirty="0"/>
              <a:t> l</a:t>
            </a:r>
            <a:r>
              <a:rPr lang="en-US" sz="2200" baseline="-25000" dirty="0"/>
              <a:t>1</a:t>
            </a:r>
            <a:r>
              <a:rPr lang="en-US" sz="2200" dirty="0"/>
              <a:t> and l</a:t>
            </a:r>
            <a:r>
              <a:rPr lang="en-US" sz="2200" baseline="-25000" dirty="0"/>
              <a:t>2</a:t>
            </a:r>
            <a:r>
              <a:rPr lang="en-US" sz="2200" dirty="0"/>
              <a:t> can join only if the first (</a:t>
            </a:r>
            <a:r>
              <a:rPr lang="en-US" sz="2200" i="1" dirty="0"/>
              <a:t>k</a:t>
            </a:r>
            <a:r>
              <a:rPr lang="en-US" sz="2200" dirty="0"/>
              <a:t>-2) items are same and for the last term l</a:t>
            </a:r>
            <a:r>
              <a:rPr lang="en-US" sz="2200" baseline="-25000" dirty="0"/>
              <a:t>1</a:t>
            </a:r>
            <a:r>
              <a:rPr lang="en-US" sz="2200" dirty="0"/>
              <a:t>[k-1]&lt;l</a:t>
            </a:r>
            <a:r>
              <a:rPr lang="en-US" sz="2200" baseline="-25000" dirty="0"/>
              <a:t>2</a:t>
            </a:r>
            <a:r>
              <a:rPr lang="en-US" sz="2200" dirty="0"/>
              <a:t>[k-1]</a:t>
            </a:r>
          </a:p>
          <a:p>
            <a:pPr lvl="2">
              <a:lnSpc>
                <a:spcPct val="110000"/>
              </a:lnSpc>
            </a:pPr>
            <a:r>
              <a:rPr lang="en-US" altLang="zh-CN" sz="2200" i="1" dirty="0">
                <a:ea typeface="SimSun" pitchFamily="2" charset="-122"/>
                <a:cs typeface="Times New Roman" pitchFamily="18" charset="0"/>
              </a:rPr>
              <a:t>Example: </a:t>
            </a:r>
            <a:r>
              <a:rPr lang="en-US" altLang="zh-CN" sz="2200" dirty="0" err="1">
                <a:ea typeface="SimSun" pitchFamily="2" charset="-122"/>
                <a:cs typeface="Times New Roman" pitchFamily="18" charset="0"/>
              </a:rPr>
              <a:t>L</a:t>
            </a:r>
            <a:r>
              <a:rPr lang="en-US" altLang="zh-CN" sz="2200" i="1" baseline="-25000" dirty="0" err="1">
                <a:ea typeface="SimSun" pitchFamily="2" charset="-122"/>
                <a:cs typeface="Times New Roman" pitchFamily="18" charset="0"/>
              </a:rPr>
              <a:t>k</a:t>
            </a:r>
            <a:r>
              <a:rPr lang="en-US" altLang="zh-CN" sz="2200" i="1" dirty="0">
                <a:ea typeface="SimSun" pitchFamily="2" charset="-122"/>
                <a:cs typeface="Times New Roman" pitchFamily="18" charset="0"/>
              </a:rPr>
              <a:t>=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{AB, AC, AE, CE}</a:t>
            </a:r>
          </a:p>
          <a:p>
            <a:pPr marL="1188403" lvl="3" indent="-273050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</a:pP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AB and AC 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b="1" u="sng" dirty="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A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BC (</a:t>
            </a:r>
            <a:r>
              <a:rPr lang="en-US" altLang="zh-CN" sz="2200" dirty="0" err="1">
                <a:ea typeface="SimSun" pitchFamily="2" charset="-122"/>
                <a:cs typeface="Times New Roman" pitchFamily="18" charset="0"/>
              </a:rPr>
              <a:t>Lexiographic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 Order)</a:t>
            </a:r>
          </a:p>
          <a:p>
            <a:pPr marL="1188403" lvl="3" indent="-273050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</a:pP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AB and AE 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u="sng" dirty="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A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BE</a:t>
            </a:r>
          </a:p>
          <a:p>
            <a:pPr marL="1188403" lvl="3" indent="-273050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</a:pP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AC and AE 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 </a:t>
            </a:r>
            <a:r>
              <a:rPr lang="en-US" altLang="zh-CN" sz="2200" b="1" u="sng" dirty="0">
                <a:solidFill>
                  <a:srgbClr val="FF0000"/>
                </a:solidFill>
                <a:ea typeface="SimSun" pitchFamily="2" charset="-122"/>
                <a:cs typeface="Times New Roman" pitchFamily="18" charset="0"/>
              </a:rPr>
              <a:t>A</a:t>
            </a:r>
            <a:r>
              <a:rPr lang="en-US" altLang="zh-CN" sz="2200" dirty="0">
                <a:ea typeface="SimSun" pitchFamily="2" charset="-122"/>
                <a:cs typeface="Times New Roman" pitchFamily="18" charset="0"/>
              </a:rPr>
              <a:t>CE</a:t>
            </a:r>
            <a:endParaRPr lang="en-US" sz="2200" dirty="0"/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Step 2: Pruning</a:t>
            </a:r>
          </a:p>
          <a:p>
            <a:pPr lvl="2">
              <a:lnSpc>
                <a:spcPct val="110000"/>
              </a:lnSpc>
            </a:pPr>
            <a:r>
              <a:rPr lang="en-US" sz="2200" dirty="0"/>
              <a:t>Use of </a:t>
            </a:r>
            <a:r>
              <a:rPr lang="en-US" sz="2200" dirty="0" err="1"/>
              <a:t>Apriori</a:t>
            </a:r>
            <a:r>
              <a:rPr lang="en-US" sz="2200" dirty="0"/>
              <a:t> property</a:t>
            </a:r>
          </a:p>
          <a:p>
            <a:pPr lvl="2">
              <a:lnSpc>
                <a:spcPct val="110000"/>
              </a:lnSpc>
            </a:pPr>
            <a:r>
              <a:rPr lang="en-US" sz="2200" dirty="0"/>
              <a:t>A candidate answer set can be safely pruned , if it contains infrequent subset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b="1" dirty="0" err="1">
                <a:solidFill>
                  <a:schemeClr val="tx2"/>
                </a:solidFill>
                <a:latin typeface="+mj-lt"/>
              </a:rPr>
              <a:t>Aprioi</a:t>
            </a:r>
            <a:r>
              <a:rPr lang="en-US" sz="3600" b="1" dirty="0">
                <a:solidFill>
                  <a:schemeClr val="tx2"/>
                </a:solidFill>
                <a:latin typeface="+mj-lt"/>
              </a:rPr>
              <a:t> in Details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382000" cy="50292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400" dirty="0">
                <a:solidFill>
                  <a:srgbClr val="FF0000"/>
                </a:solidFill>
              </a:rPr>
              <a:t>How to generate candidates</a:t>
            </a:r>
            <a:r>
              <a:rPr lang="en-US" sz="2400" dirty="0"/>
              <a:t>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Step 1: self-joining </a:t>
            </a:r>
            <a:r>
              <a:rPr lang="en-US" sz="2400" dirty="0" err="1"/>
              <a:t>L</a:t>
            </a:r>
            <a:r>
              <a:rPr lang="en-US" sz="2400" i="1" baseline="-25000" dirty="0" err="1"/>
              <a:t>k</a:t>
            </a:r>
            <a:endParaRPr lang="en-US" sz="2400" i="1" baseline="-25000" dirty="0"/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Step 2: pruning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/>
              <a:t>Example of Candidate-generation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L</a:t>
            </a:r>
            <a:r>
              <a:rPr lang="en-US" sz="2400" baseline="-25000" dirty="0"/>
              <a:t>3</a:t>
            </a:r>
            <a:r>
              <a:rPr lang="en-US" sz="2400" dirty="0"/>
              <a:t>={</a:t>
            </a:r>
            <a:r>
              <a:rPr lang="en-US" sz="2400" b="1" u="sng" dirty="0">
                <a:solidFill>
                  <a:srgbClr val="FF0000"/>
                </a:solidFill>
              </a:rPr>
              <a:t>AB</a:t>
            </a:r>
            <a:r>
              <a:rPr lang="en-US" sz="2400" dirty="0">
                <a:solidFill>
                  <a:srgbClr val="FF0000"/>
                </a:solidFill>
              </a:rPr>
              <a:t>C, </a:t>
            </a:r>
            <a:r>
              <a:rPr lang="en-US" sz="2400" b="1" u="sng" dirty="0">
                <a:solidFill>
                  <a:srgbClr val="FF0000"/>
                </a:solidFill>
              </a:rPr>
              <a:t>AB</a:t>
            </a:r>
            <a:r>
              <a:rPr lang="en-US" sz="2400" dirty="0">
                <a:solidFill>
                  <a:srgbClr val="FF0000"/>
                </a:solidFill>
              </a:rPr>
              <a:t>D</a:t>
            </a:r>
            <a:r>
              <a:rPr lang="en-US" sz="2400" dirty="0"/>
              <a:t>, </a:t>
            </a:r>
            <a:r>
              <a:rPr lang="en-US" sz="2400" b="1" u="sng" dirty="0">
                <a:solidFill>
                  <a:srgbClr val="00B050"/>
                </a:solidFill>
              </a:rPr>
              <a:t>AC</a:t>
            </a:r>
            <a:r>
              <a:rPr lang="en-US" sz="2400" dirty="0">
                <a:solidFill>
                  <a:srgbClr val="00B050"/>
                </a:solidFill>
              </a:rPr>
              <a:t>D, </a:t>
            </a:r>
            <a:r>
              <a:rPr lang="en-US" sz="2400" b="1" u="sng" dirty="0">
                <a:solidFill>
                  <a:srgbClr val="00B050"/>
                </a:solidFill>
              </a:rPr>
              <a:t>AC</a:t>
            </a:r>
            <a:r>
              <a:rPr lang="en-US" sz="2400" dirty="0">
                <a:solidFill>
                  <a:srgbClr val="00B050"/>
                </a:solidFill>
              </a:rPr>
              <a:t>E</a:t>
            </a:r>
            <a:r>
              <a:rPr lang="en-US" sz="2400" dirty="0"/>
              <a:t>, BCD}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Self-joining: L</a:t>
            </a:r>
            <a:r>
              <a:rPr lang="en-US" sz="2400" baseline="-25000" dirty="0"/>
              <a:t>3</a:t>
            </a:r>
            <a:r>
              <a:rPr lang="en-US" sz="2400" i="1" dirty="0"/>
              <a:t>*</a:t>
            </a:r>
            <a:r>
              <a:rPr lang="en-US" sz="2400" dirty="0"/>
              <a:t>L</a:t>
            </a:r>
            <a:r>
              <a:rPr lang="en-US" sz="2400" baseline="-25000" dirty="0"/>
              <a:t>3</a:t>
            </a:r>
            <a:endParaRPr lang="en-US" sz="2400" dirty="0"/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ABCD</a:t>
            </a:r>
            <a:r>
              <a:rPr lang="en-US" sz="2000" i="1" dirty="0"/>
              <a:t> </a:t>
            </a:r>
            <a:r>
              <a:rPr lang="en-US" sz="2000" dirty="0"/>
              <a:t>from ABC and ABD</a:t>
            </a:r>
            <a:endParaRPr lang="en-US" sz="2000" i="1" dirty="0"/>
          </a:p>
          <a:p>
            <a:pPr lvl="2" eaLnBrk="1" hangingPunct="1">
              <a:lnSpc>
                <a:spcPct val="110000"/>
              </a:lnSpc>
            </a:pPr>
            <a:r>
              <a:rPr lang="en-US" sz="2000" dirty="0"/>
              <a:t>ACDE</a:t>
            </a:r>
            <a:r>
              <a:rPr lang="en-US" sz="2000" i="1" dirty="0"/>
              <a:t> </a:t>
            </a:r>
            <a:r>
              <a:rPr lang="en-US" sz="2000" dirty="0"/>
              <a:t> from ACD and ACE</a:t>
            </a:r>
            <a:endParaRPr lang="en-US" sz="2000" i="1" dirty="0"/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Pruning: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sz="2000" dirty="0">
                <a:solidFill>
                  <a:srgbClr val="FF0000"/>
                </a:solidFill>
              </a:rPr>
              <a:t>ACDE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 is removed because ADE is not in L</a:t>
            </a:r>
            <a:r>
              <a:rPr lang="en-US" sz="2000" i="1" baseline="-25000" dirty="0">
                <a:solidFill>
                  <a:srgbClr val="FF0000"/>
                </a:solidFill>
              </a:rPr>
              <a:t>3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/>
              <a:t>L</a:t>
            </a:r>
            <a:r>
              <a:rPr lang="en-US" sz="2400" baseline="-25000" dirty="0"/>
              <a:t>4</a:t>
            </a:r>
            <a:r>
              <a:rPr lang="en-US" sz="2400" i="1" baseline="-25000" dirty="0"/>
              <a:t> </a:t>
            </a:r>
            <a:r>
              <a:rPr lang="en-US" sz="2400" dirty="0"/>
              <a:t>= {ABCD}</a:t>
            </a:r>
          </a:p>
          <a:p>
            <a:pPr eaLnBrk="1" hangingPunct="1">
              <a:lnSpc>
                <a:spcPct val="110000"/>
              </a:lnSpc>
            </a:pPr>
            <a:endParaRPr lang="en-US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 err="1">
                <a:solidFill>
                  <a:schemeClr val="tx2"/>
                </a:solidFill>
                <a:latin typeface="+mj-lt"/>
              </a:rPr>
              <a:t>Apriori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 in Details (Contd.)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7543800" cy="655638"/>
          </a:xfrm>
        </p:spPr>
        <p:txBody>
          <a:bodyPr/>
          <a:lstStyle/>
          <a:p>
            <a:r>
              <a:rPr lang="en-US" altLang="en-US" sz="2400" dirty="0"/>
              <a:t>Candidate Generation: Brute-force method</a:t>
            </a:r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19200"/>
            <a:ext cx="6483350" cy="492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r="70956" b="62019"/>
          <a:stretch>
            <a:fillRect/>
          </a:stretch>
        </p:blipFill>
        <p:spPr bwMode="auto">
          <a:xfrm>
            <a:off x="7162800" y="1193800"/>
            <a:ext cx="14351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86456"/>
            <a:ext cx="8591550" cy="4800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62000" y="381000"/>
            <a:ext cx="7924800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Candidate Generation: </a:t>
            </a:r>
            <a:r>
              <a:rPr lang="en-US" sz="2400" kern="0" dirty="0"/>
              <a:t>Merge Fk-1 and F1 </a:t>
            </a:r>
            <a:r>
              <a:rPr lang="en-US" sz="2400" kern="0" dirty="0" err="1"/>
              <a:t>itemsets</a:t>
            </a:r>
            <a:endParaRPr lang="en-US" sz="2800" kern="0" dirty="0"/>
          </a:p>
          <a:p>
            <a:pPr>
              <a:defRPr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333499"/>
            <a:ext cx="7924800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Candidate Generation: </a:t>
            </a:r>
            <a:r>
              <a:rPr lang="en-US" sz="2400" kern="0" dirty="0"/>
              <a:t>Fk-1 x Fk-1 Method</a:t>
            </a:r>
            <a:endParaRPr lang="en-US" sz="2800" kern="0" dirty="0"/>
          </a:p>
          <a:p>
            <a:pPr>
              <a:defRPr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02" y="1417274"/>
            <a:ext cx="7811298" cy="422152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713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543800" cy="655638"/>
          </a:xfrm>
        </p:spPr>
        <p:txBody>
          <a:bodyPr/>
          <a:lstStyle/>
          <a:p>
            <a:r>
              <a:rPr lang="en-US" altLang="en-US" sz="2800" dirty="0"/>
              <a:t>Candidate Generation: F</a:t>
            </a:r>
            <a:r>
              <a:rPr lang="en-US" altLang="en-US" sz="2800" baseline="-25000" dirty="0"/>
              <a:t>k-1</a:t>
            </a:r>
            <a:r>
              <a:rPr lang="en-US" altLang="en-US" sz="2800" dirty="0"/>
              <a:t> </a:t>
            </a:r>
            <a:r>
              <a:rPr lang="en-US" altLang="en-US" sz="2400" b="0" dirty="0"/>
              <a:t>x</a:t>
            </a:r>
            <a:r>
              <a:rPr lang="en-US" altLang="en-US" sz="2800" dirty="0"/>
              <a:t> F</a:t>
            </a:r>
            <a:r>
              <a:rPr lang="en-US" altLang="en-US" sz="2800" baseline="-25000" dirty="0"/>
              <a:t>k-1</a:t>
            </a:r>
            <a:r>
              <a:rPr lang="en-US" altLang="en-US" sz="2800" dirty="0"/>
              <a:t> Method</a:t>
            </a:r>
            <a:endParaRPr lang="en-US" altLang="en-US" sz="2800" baseline="-250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229600" cy="4953000"/>
          </a:xfrm>
        </p:spPr>
        <p:txBody>
          <a:bodyPr/>
          <a:lstStyle/>
          <a:p>
            <a:r>
              <a:rPr lang="en-US" altLang="en-US" sz="2400" dirty="0"/>
              <a:t>Merge two frequent (k-1)-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if their first (k-2) items are identical</a:t>
            </a:r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r>
              <a:rPr lang="en-US" altLang="en-US" dirty="0"/>
              <a:t>F</a:t>
            </a:r>
            <a:r>
              <a:rPr lang="en-US" altLang="en-US" baseline="-25000" dirty="0"/>
              <a:t>3</a:t>
            </a:r>
            <a:r>
              <a:rPr lang="en-US" altLang="en-US" dirty="0"/>
              <a:t> = {ABC,ABD,ABE,ACD,BCD,BDE,CDE}</a:t>
            </a:r>
          </a:p>
          <a:p>
            <a:pPr lvl="1"/>
            <a:r>
              <a:rPr lang="en-US" altLang="en-US" dirty="0"/>
              <a:t>Merge(</a:t>
            </a:r>
            <a:r>
              <a:rPr lang="en-US" altLang="en-US" b="1" u="sng" dirty="0"/>
              <a:t>AB</a:t>
            </a:r>
            <a:r>
              <a:rPr lang="en-US" altLang="en-US" dirty="0"/>
              <a:t>C, </a:t>
            </a:r>
            <a:r>
              <a:rPr lang="en-US" altLang="en-US" b="1" u="sng" dirty="0"/>
              <a:t>AB</a:t>
            </a:r>
            <a:r>
              <a:rPr lang="en-US" altLang="en-US" dirty="0"/>
              <a:t>D) = </a:t>
            </a:r>
            <a:r>
              <a:rPr lang="en-US" altLang="en-US" b="1" u="sng" dirty="0"/>
              <a:t>AB</a:t>
            </a:r>
            <a:r>
              <a:rPr lang="en-US" altLang="en-US" dirty="0"/>
              <a:t>CD</a:t>
            </a:r>
          </a:p>
          <a:p>
            <a:pPr lvl="1"/>
            <a:r>
              <a:rPr lang="en-US" altLang="en-US" dirty="0"/>
              <a:t>Merge(</a:t>
            </a:r>
            <a:r>
              <a:rPr lang="en-US" altLang="en-US" b="1" u="sng" dirty="0"/>
              <a:t>AB</a:t>
            </a:r>
            <a:r>
              <a:rPr lang="en-US" altLang="en-US" dirty="0"/>
              <a:t>C, </a:t>
            </a:r>
            <a:r>
              <a:rPr lang="en-US" altLang="en-US" b="1" u="sng" dirty="0"/>
              <a:t>AB</a:t>
            </a:r>
            <a:r>
              <a:rPr lang="en-US" altLang="en-US" dirty="0"/>
              <a:t>E) = </a:t>
            </a:r>
            <a:r>
              <a:rPr lang="en-US" altLang="en-US" b="1" u="sng" dirty="0"/>
              <a:t>AB</a:t>
            </a:r>
            <a:r>
              <a:rPr lang="en-US" altLang="en-US" dirty="0"/>
              <a:t>CE</a:t>
            </a:r>
          </a:p>
          <a:p>
            <a:pPr lvl="1"/>
            <a:r>
              <a:rPr lang="en-US" altLang="en-US" dirty="0"/>
              <a:t>Merge(</a:t>
            </a:r>
            <a:r>
              <a:rPr lang="en-US" altLang="en-US" b="1" u="sng" dirty="0"/>
              <a:t>AB</a:t>
            </a:r>
            <a:r>
              <a:rPr lang="en-US" altLang="en-US" dirty="0"/>
              <a:t>D, </a:t>
            </a:r>
            <a:r>
              <a:rPr lang="en-US" altLang="en-US" b="1" u="sng" dirty="0"/>
              <a:t>AB</a:t>
            </a:r>
            <a:r>
              <a:rPr lang="en-US" altLang="en-US" dirty="0"/>
              <a:t>E) = </a:t>
            </a:r>
            <a:r>
              <a:rPr lang="en-US" altLang="en-US" b="1" u="sng" dirty="0"/>
              <a:t>AB</a:t>
            </a:r>
            <a:r>
              <a:rPr lang="en-US" altLang="en-US" dirty="0"/>
              <a:t>DE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pPr lvl="1"/>
            <a:r>
              <a:rPr lang="en-US" altLang="en-US" dirty="0"/>
              <a:t>Do not merge(</a:t>
            </a:r>
            <a:r>
              <a:rPr lang="en-US" altLang="en-US" b="1" u="sng" dirty="0"/>
              <a:t>A</a:t>
            </a:r>
            <a:r>
              <a:rPr lang="en-US" altLang="en-US" dirty="0"/>
              <a:t>BD,</a:t>
            </a:r>
            <a:r>
              <a:rPr lang="en-US" altLang="en-US" b="1" u="sng" dirty="0"/>
              <a:t>A</a:t>
            </a:r>
            <a:r>
              <a:rPr lang="en-US" altLang="en-US" dirty="0"/>
              <a:t>CD) because they share only prefix of length 1 instead of length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543800" cy="960438"/>
          </a:xfrm>
        </p:spPr>
        <p:txBody>
          <a:bodyPr/>
          <a:lstStyle/>
          <a:p>
            <a:r>
              <a:rPr lang="en-US" altLang="en-US" dirty="0"/>
              <a:t>Candidate Pruning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229600" cy="5638800"/>
          </a:xfrm>
        </p:spPr>
        <p:txBody>
          <a:bodyPr/>
          <a:lstStyle/>
          <a:p>
            <a:r>
              <a:rPr lang="en-US" altLang="en-US" sz="2800" dirty="0"/>
              <a:t>Let F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= {ABC,ABD,ABE,ACD,BCD,BDE,CDE} be the set of frequent 3-itemsets</a:t>
            </a:r>
          </a:p>
          <a:p>
            <a:r>
              <a:rPr lang="en-US" altLang="en-US" sz="2800" dirty="0"/>
              <a:t>L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 = {ABCD, ABCE, ABDE} is the set of candidate 4-itemsets generated (from previous slide)</a:t>
            </a:r>
          </a:p>
          <a:p>
            <a:r>
              <a:rPr lang="en-US" altLang="en-US" sz="2800" dirty="0"/>
              <a:t>Candidate pruning</a:t>
            </a:r>
          </a:p>
          <a:p>
            <a:pPr lvl="1"/>
            <a:r>
              <a:rPr lang="en-US" altLang="en-US" sz="2800" dirty="0"/>
              <a:t>Prune ABCE because </a:t>
            </a:r>
            <a:r>
              <a:rPr lang="en-US" altLang="en-US" sz="2800" b="1" dirty="0">
                <a:solidFill>
                  <a:srgbClr val="FF0000"/>
                </a:solidFill>
              </a:rPr>
              <a:t>ACE and BCE are infrequent</a:t>
            </a:r>
          </a:p>
          <a:p>
            <a:pPr lvl="1"/>
            <a:r>
              <a:rPr lang="en-US" altLang="en-US" sz="2800" dirty="0"/>
              <a:t>Prune ABDE because </a:t>
            </a:r>
            <a:r>
              <a:rPr lang="en-US" altLang="en-US" sz="2800" b="1" dirty="0">
                <a:solidFill>
                  <a:srgbClr val="FF0000"/>
                </a:solidFill>
              </a:rPr>
              <a:t>ADE is infrequent</a:t>
            </a:r>
          </a:p>
          <a:p>
            <a:pPr lvl="1"/>
            <a:endParaRPr lang="en-US" altLang="en-US" sz="2800" dirty="0"/>
          </a:p>
          <a:p>
            <a:r>
              <a:rPr lang="en-US" altLang="en-US" sz="2800" dirty="0"/>
              <a:t>After candidate pruning: L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 = {ABCD}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543800" cy="579438"/>
          </a:xfrm>
        </p:spPr>
        <p:txBody>
          <a:bodyPr/>
          <a:lstStyle/>
          <a:p>
            <a:r>
              <a:rPr lang="en-US" altLang="en-US" sz="2800" u="sng" dirty="0"/>
              <a:t>Alternate F</a:t>
            </a:r>
            <a:r>
              <a:rPr lang="en-US" altLang="en-US" sz="2800" u="sng" baseline="-25000" dirty="0"/>
              <a:t>k-1</a:t>
            </a:r>
            <a:r>
              <a:rPr lang="en-US" altLang="en-US" sz="2800" u="sng" dirty="0"/>
              <a:t> </a:t>
            </a:r>
            <a:r>
              <a:rPr lang="en-US" altLang="en-US" sz="2400" b="0" u="sng" dirty="0"/>
              <a:t>x</a:t>
            </a:r>
            <a:r>
              <a:rPr lang="en-US" altLang="en-US" sz="2800" u="sng" dirty="0"/>
              <a:t> F</a:t>
            </a:r>
            <a:r>
              <a:rPr lang="en-US" altLang="en-US" sz="2800" u="sng" baseline="-25000" dirty="0"/>
              <a:t>k-1</a:t>
            </a:r>
            <a:r>
              <a:rPr lang="en-US" altLang="en-US" sz="2800" u="sng" dirty="0"/>
              <a:t> Method</a:t>
            </a:r>
            <a:endParaRPr lang="en-US" altLang="en-US" sz="2800" u="sng" baseline="-250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r>
              <a:rPr lang="en-US" altLang="en-US" sz="2400" dirty="0"/>
              <a:t>Merge two frequent (k-1)-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if the last (k-2) items of the first one is identical to the first (k-2) items of the second. </a:t>
            </a:r>
          </a:p>
          <a:p>
            <a:pPr lvl="1">
              <a:buFont typeface="Arial" charset="0"/>
              <a:buNone/>
            </a:pPr>
            <a:r>
              <a:rPr lang="en-US" altLang="en-US" b="1" i="1" dirty="0"/>
              <a:t>Using </a:t>
            </a:r>
            <a:r>
              <a:rPr lang="en-US" altLang="en-US" b="1" i="1" dirty="0">
                <a:solidFill>
                  <a:srgbClr val="FF0000"/>
                </a:solidFill>
              </a:rPr>
              <a:t>prefix and suffix </a:t>
            </a:r>
          </a:p>
          <a:p>
            <a:r>
              <a:rPr lang="en-US" altLang="en-US" dirty="0"/>
              <a:t>F</a:t>
            </a:r>
            <a:r>
              <a:rPr lang="en-US" altLang="en-US" baseline="-25000" dirty="0"/>
              <a:t>3</a:t>
            </a:r>
            <a:r>
              <a:rPr lang="en-US" altLang="en-US" dirty="0"/>
              <a:t> = {ABC,ABD,ABE,ACD,BCD,BDE,CDE}</a:t>
            </a:r>
          </a:p>
          <a:p>
            <a:pPr lvl="1"/>
            <a:r>
              <a:rPr lang="en-US" altLang="en-US" dirty="0"/>
              <a:t>Merge(A</a:t>
            </a:r>
            <a:r>
              <a:rPr lang="en-US" altLang="en-US" b="1" u="sng" dirty="0"/>
              <a:t>BC</a:t>
            </a:r>
            <a:r>
              <a:rPr lang="en-US" altLang="en-US" dirty="0"/>
              <a:t>, </a:t>
            </a:r>
            <a:r>
              <a:rPr lang="en-US" altLang="en-US" b="1" u="sng" dirty="0"/>
              <a:t>BC</a:t>
            </a:r>
            <a:r>
              <a:rPr lang="en-US" altLang="en-US" dirty="0"/>
              <a:t>D) = A</a:t>
            </a:r>
            <a:r>
              <a:rPr lang="en-US" altLang="en-US" b="1" u="sng" dirty="0"/>
              <a:t>BC</a:t>
            </a:r>
            <a:r>
              <a:rPr lang="en-US" altLang="en-US" dirty="0"/>
              <a:t>D</a:t>
            </a:r>
          </a:p>
          <a:p>
            <a:pPr lvl="1"/>
            <a:r>
              <a:rPr lang="en-US" altLang="en-US" dirty="0"/>
              <a:t>Merge(A</a:t>
            </a:r>
            <a:r>
              <a:rPr lang="en-US" altLang="en-US" b="1" u="sng" dirty="0"/>
              <a:t>BD</a:t>
            </a:r>
            <a:r>
              <a:rPr lang="en-US" altLang="en-US" dirty="0"/>
              <a:t>, </a:t>
            </a:r>
            <a:r>
              <a:rPr lang="en-US" altLang="en-US" b="1" u="sng" dirty="0"/>
              <a:t>BD</a:t>
            </a:r>
            <a:r>
              <a:rPr lang="en-US" altLang="en-US" dirty="0"/>
              <a:t>E) = A</a:t>
            </a:r>
            <a:r>
              <a:rPr lang="en-US" altLang="en-US" b="1" u="sng" dirty="0"/>
              <a:t>BD</a:t>
            </a:r>
            <a:r>
              <a:rPr lang="en-US" altLang="en-US" dirty="0"/>
              <a:t>E</a:t>
            </a:r>
          </a:p>
          <a:p>
            <a:pPr lvl="1"/>
            <a:r>
              <a:rPr lang="en-US" altLang="en-US" dirty="0"/>
              <a:t>Merge(A</a:t>
            </a:r>
            <a:r>
              <a:rPr lang="en-US" altLang="en-US" b="1" u="sng" dirty="0"/>
              <a:t>CD</a:t>
            </a:r>
            <a:r>
              <a:rPr lang="en-US" altLang="en-US" dirty="0"/>
              <a:t>, </a:t>
            </a:r>
            <a:r>
              <a:rPr lang="en-US" altLang="en-US" b="1" u="sng" dirty="0"/>
              <a:t>CD</a:t>
            </a:r>
            <a:r>
              <a:rPr lang="en-US" altLang="en-US" dirty="0"/>
              <a:t>E) = A</a:t>
            </a:r>
            <a:r>
              <a:rPr lang="en-US" altLang="en-US" b="1" u="sng" dirty="0"/>
              <a:t>CD</a:t>
            </a:r>
            <a:r>
              <a:rPr lang="en-US" altLang="en-US" dirty="0"/>
              <a:t>E</a:t>
            </a:r>
          </a:p>
          <a:p>
            <a:pPr lvl="1"/>
            <a:r>
              <a:rPr lang="en-US" altLang="en-US" dirty="0"/>
              <a:t>Merge(B</a:t>
            </a:r>
            <a:r>
              <a:rPr lang="en-US" altLang="en-US" b="1" u="sng" dirty="0"/>
              <a:t>CD</a:t>
            </a:r>
            <a:r>
              <a:rPr lang="en-US" altLang="en-US" dirty="0"/>
              <a:t>, </a:t>
            </a:r>
            <a:r>
              <a:rPr lang="en-US" altLang="en-US" b="1" u="sng" dirty="0"/>
              <a:t>CD</a:t>
            </a:r>
            <a:r>
              <a:rPr lang="en-US" altLang="en-US" dirty="0"/>
              <a:t>E) = B</a:t>
            </a:r>
            <a:r>
              <a:rPr lang="en-US" altLang="en-US" b="1" u="sng" dirty="0"/>
              <a:t>CD</a:t>
            </a:r>
            <a:r>
              <a:rPr lang="en-US" altLang="en-US" dirty="0"/>
              <a:t>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442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543800" cy="731838"/>
          </a:xfrm>
        </p:spPr>
        <p:txBody>
          <a:bodyPr/>
          <a:lstStyle/>
          <a:p>
            <a:r>
              <a:rPr lang="en-US" altLang="en-US" sz="2400" dirty="0"/>
              <a:t>Candidate Pruning for Alternate F</a:t>
            </a:r>
            <a:r>
              <a:rPr lang="en-US" altLang="en-US" sz="2400" baseline="-25000" dirty="0"/>
              <a:t>k-1</a:t>
            </a:r>
            <a:r>
              <a:rPr lang="en-US" altLang="en-US" sz="2400" dirty="0"/>
              <a:t> </a:t>
            </a:r>
            <a:r>
              <a:rPr lang="en-US" altLang="en-US" sz="2000" b="0" dirty="0"/>
              <a:t>x</a:t>
            </a:r>
            <a:r>
              <a:rPr lang="en-US" altLang="en-US" sz="2400" dirty="0"/>
              <a:t> F</a:t>
            </a:r>
            <a:r>
              <a:rPr lang="en-US" altLang="en-US" sz="2400" baseline="-25000" dirty="0"/>
              <a:t>k-1</a:t>
            </a:r>
            <a:r>
              <a:rPr lang="en-US" altLang="en-US" sz="2400" dirty="0"/>
              <a:t> Method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5257800"/>
          </a:xfrm>
        </p:spPr>
        <p:txBody>
          <a:bodyPr/>
          <a:lstStyle/>
          <a:p>
            <a:r>
              <a:rPr lang="en-US" altLang="en-US" sz="2800" dirty="0"/>
              <a:t>Let F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= {ABC,ABD,ABE,ACD,BCD,BDE,CDE} be the set of frequent 3-itemsets</a:t>
            </a:r>
          </a:p>
          <a:p>
            <a:pPr lvl="2"/>
            <a:endParaRPr lang="en-US" altLang="en-US" sz="2000" dirty="0"/>
          </a:p>
          <a:p>
            <a:r>
              <a:rPr lang="en-US" altLang="en-US" sz="2800" dirty="0"/>
              <a:t>L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 = {ABCD,ABDE,ACDE,BCDE} is the set of candidate 4-itemsets generated (from previous slide)</a:t>
            </a:r>
          </a:p>
          <a:p>
            <a:r>
              <a:rPr lang="en-US" altLang="en-US" sz="2800" dirty="0"/>
              <a:t>Candidate pruning</a:t>
            </a:r>
          </a:p>
          <a:p>
            <a:pPr lvl="1"/>
            <a:r>
              <a:rPr lang="en-US" altLang="en-US" sz="2400" dirty="0"/>
              <a:t>Prune ABDE because ADE is infrequent</a:t>
            </a:r>
          </a:p>
          <a:p>
            <a:pPr lvl="1"/>
            <a:r>
              <a:rPr lang="en-US" altLang="en-US" sz="2400" dirty="0"/>
              <a:t>Prune ACDE because ACE and ADE are infrequent</a:t>
            </a:r>
          </a:p>
          <a:p>
            <a:pPr lvl="1"/>
            <a:r>
              <a:rPr lang="en-US" altLang="en-US" sz="2400" dirty="0"/>
              <a:t>Prune BCDE because BCE </a:t>
            </a:r>
          </a:p>
          <a:p>
            <a:r>
              <a:rPr lang="en-US" altLang="en-US" sz="2800" dirty="0"/>
              <a:t>After candidate pruning: L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 = {ABCD}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15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4267200" cy="808038"/>
          </a:xfrm>
        </p:spPr>
        <p:txBody>
          <a:bodyPr/>
          <a:lstStyle/>
          <a:p>
            <a:r>
              <a:rPr lang="en-US" altLang="en-US" dirty="0" err="1"/>
              <a:t>Apriori</a:t>
            </a:r>
            <a:r>
              <a:rPr lang="en-US" altLang="en-US" dirty="0"/>
              <a:t> Principle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304800" y="1387475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289908" imgH="2495536" progId="Word.Document.8">
                  <p:embed/>
                </p:oleObj>
              </mc:Choice>
              <mc:Fallback>
                <p:oleObj name="Document" r:id="rId2" imgW="2289908" imgH="2495536" progId="Word.Document.8">
                  <p:embed/>
                  <p:pic>
                    <p:nvPicPr>
                      <p:cNvPr id="286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87475"/>
                        <a:ext cx="2289175" cy="2498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3352800" y="2263604"/>
          <a:ext cx="3124200" cy="1998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8641" imgH="2008846" progId="Word.Document.8">
                  <p:embed/>
                </p:oleObj>
              </mc:Choice>
              <mc:Fallback>
                <p:oleObj name="Document" r:id="rId4" imgW="3328641" imgH="2008846" progId="Word.Document.8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63604"/>
                        <a:ext cx="3124200" cy="199883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4876800" y="4435475"/>
          <a:ext cx="3094038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124026" imgH="1522425" progId="Word.Document.8">
                  <p:embed/>
                </p:oleObj>
              </mc:Choice>
              <mc:Fallback>
                <p:oleObj name="Document" r:id="rId6" imgW="3124026" imgH="1522425" progId="Word.Document.8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35475"/>
                        <a:ext cx="3094038" cy="15081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Items (1-itemsets)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Pairs (2-itemsets)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0">
              <a:latin typeface="Tahoma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(No need to generate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candidates involving Coke</a:t>
            </a:r>
            <a:br>
              <a:rPr lang="en-US" altLang="en-US" sz="1800" b="0">
                <a:latin typeface="Tahoma" pitchFamily="34" charset="0"/>
              </a:rPr>
            </a:br>
            <a:r>
              <a:rPr lang="en-US" altLang="en-US" sz="1800" b="0">
                <a:latin typeface="Tahoma" pitchFamily="34" charset="0"/>
              </a:rPr>
              <a:t>or Eggs)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ahoma" pitchFamily="34" charset="0"/>
              </a:rPr>
              <a:t>Triplets (3-itemsets)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ahoma" pitchFamily="34" charset="0"/>
              </a:rPr>
              <a:t>Minimum Support = 3</a:t>
            </a:r>
          </a:p>
        </p:txBody>
      </p:sp>
      <p:sp>
        <p:nvSpPr>
          <p:cNvPr id="28685" name="TextBox 12"/>
          <p:cNvSpPr txBox="1">
            <a:spLocks noChangeArrowheads="1"/>
          </p:cNvSpPr>
          <p:nvPr/>
        </p:nvSpPr>
        <p:spPr bwMode="auto">
          <a:xfrm>
            <a:off x="3581400" y="5562600"/>
            <a:ext cx="5562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Use of F</a:t>
            </a:r>
            <a:r>
              <a:rPr lang="en-US" altLang="en-US" sz="1400" baseline="-25000"/>
              <a:t>k-1</a:t>
            </a:r>
            <a:r>
              <a:rPr lang="en-US" altLang="en-US" sz="1400"/>
              <a:t>xF</a:t>
            </a:r>
            <a:r>
              <a:rPr lang="en-US" altLang="en-US" sz="1400" baseline="-25000"/>
              <a:t>k-1</a:t>
            </a:r>
            <a:r>
              <a:rPr lang="en-US" altLang="en-US" sz="1400"/>
              <a:t> method for candidate generation results in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 only one 3-itemset.  This is eliminated after the support counting step.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543800" cy="579438"/>
          </a:xfrm>
        </p:spPr>
        <p:txBody>
          <a:bodyPr/>
          <a:lstStyle/>
          <a:p>
            <a:r>
              <a:rPr lang="en-US" altLang="en-US" sz="2800" dirty="0"/>
              <a:t>Support Counting of Candidate </a:t>
            </a:r>
            <a:r>
              <a:rPr lang="en-US" altLang="en-US" sz="2800" dirty="0" err="1"/>
              <a:t>Itemsets</a:t>
            </a:r>
            <a:endParaRPr lang="en-US" altLang="en-US" sz="2800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175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Scan the database of transactions </a:t>
            </a:r>
            <a:r>
              <a:rPr lang="en-US" altLang="en-US" sz="2400" dirty="0"/>
              <a:t>to determine the support of each candidate </a:t>
            </a:r>
            <a:r>
              <a:rPr lang="en-US" altLang="en-US" sz="2400" dirty="0" err="1"/>
              <a:t>itemset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Must match every candidate 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 against every transaction, which is an expensive operation</a:t>
            </a:r>
          </a:p>
        </p:txBody>
      </p:sp>
      <p:graphicFrame>
        <p:nvGraphicFramePr>
          <p:cNvPr id="29700" name="Object 21"/>
          <p:cNvGraphicFramePr>
            <a:graphicFrameLocks noGrp="1" noChangeAspect="1"/>
          </p:cNvGraphicFramePr>
          <p:nvPr/>
        </p:nvGraphicFramePr>
        <p:xfrm>
          <a:off x="762000" y="3200400"/>
          <a:ext cx="356870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52666" imgH="2016134" progId="Word.Document.8">
                  <p:embed/>
                </p:oleObj>
              </mc:Choice>
              <mc:Fallback>
                <p:oleObj name="Document" r:id="rId2" imgW="3352666" imgH="2016134" progId="Word.Document.8">
                  <p:embed/>
                  <p:pic>
                    <p:nvPicPr>
                      <p:cNvPr id="2970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3568700" cy="21463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5287963" y="3505200"/>
          <a:ext cx="3094037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124026" imgH="1522425" progId="Word.Document.8">
                  <p:embed/>
                </p:oleObj>
              </mc:Choice>
              <mc:Fallback>
                <p:oleObj name="Document" r:id="rId4" imgW="3124026" imgH="1522425" progId="Word.Document.8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63" y="3505200"/>
                        <a:ext cx="3094037" cy="15081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543800" cy="655638"/>
          </a:xfrm>
        </p:spPr>
        <p:txBody>
          <a:bodyPr/>
          <a:lstStyle/>
          <a:p>
            <a:r>
              <a:rPr lang="en-US" altLang="en-US" sz="2800"/>
              <a:t>Support Counting of Candidate Itemsets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281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 i="1" dirty="0">
                <a:solidFill>
                  <a:srgbClr val="FF0000"/>
                </a:solidFill>
              </a:rPr>
              <a:t>To reduce number of comparisons, store the candidate </a:t>
            </a:r>
            <a:r>
              <a:rPr lang="en-US" altLang="en-US" sz="2400" b="1" i="1" dirty="0" err="1">
                <a:solidFill>
                  <a:srgbClr val="FF0000"/>
                </a:solidFill>
              </a:rPr>
              <a:t>itemsets</a:t>
            </a:r>
            <a:r>
              <a:rPr lang="en-US" altLang="en-US" sz="2400" b="1" i="1" dirty="0">
                <a:solidFill>
                  <a:srgbClr val="FF0000"/>
                </a:solidFill>
              </a:rPr>
              <a:t> in a hash structure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Instead of matching each transaction against every candidate, match it against candidates contained in the hashed buckets</a:t>
            </a:r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1066800" y="3124200"/>
          <a:ext cx="6477000" cy="276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643978" imgH="3191008" progId="">
                  <p:embed/>
                </p:oleObj>
              </mc:Choice>
              <mc:Fallback>
                <p:oleObj name="Visio" r:id="rId3" imgW="7643978" imgH="3191008" progId="">
                  <p:embed/>
                  <p:pic>
                    <p:nvPicPr>
                      <p:cNvPr id="30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6477000" cy="276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30200" y="152400"/>
            <a:ext cx="8280400" cy="533400"/>
          </a:xfrm>
        </p:spPr>
        <p:txBody>
          <a:bodyPr/>
          <a:lstStyle/>
          <a:p>
            <a:r>
              <a:rPr lang="en-US" altLang="en-US" dirty="0"/>
              <a:t>Support Counting: Hash Tree</a:t>
            </a:r>
          </a:p>
        </p:txBody>
      </p:sp>
      <p:sp>
        <p:nvSpPr>
          <p:cNvPr id="31747" name="Text Box 34"/>
          <p:cNvSpPr txBox="1">
            <a:spLocks noChangeArrowheads="1"/>
          </p:cNvSpPr>
          <p:nvPr/>
        </p:nvSpPr>
        <p:spPr bwMode="auto">
          <a:xfrm>
            <a:off x="457200" y="1066800"/>
            <a:ext cx="83058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Suppose you have </a:t>
            </a:r>
            <a:r>
              <a:rPr lang="en-US" altLang="en-US" sz="1800" b="1" dirty="0">
                <a:solidFill>
                  <a:srgbClr val="FF0000"/>
                </a:solidFill>
              </a:rPr>
              <a:t>15 </a:t>
            </a:r>
            <a:r>
              <a:rPr lang="en-US" altLang="en-US" sz="1800" dirty="0"/>
              <a:t>candidate </a:t>
            </a:r>
            <a:r>
              <a:rPr lang="en-US" altLang="en-US" sz="1800" b="1" dirty="0" err="1"/>
              <a:t>itemsets</a:t>
            </a:r>
            <a:r>
              <a:rPr lang="en-US" altLang="en-US" sz="1800" b="1" dirty="0"/>
              <a:t> of length 3</a:t>
            </a:r>
            <a:r>
              <a:rPr lang="en-US" altLang="en-US" sz="1800" dirty="0"/>
              <a:t>: 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{1 4 5}, {1 2 4}, {4 5 7}, {1 2 5}, {4 5 8}, {1 5 9}, {1 3 6}, {2 3 4}, {5 6 7}, {3 4 5}, {3 5 6}, {3 5 7}, {6 8 9}, {3 6 7}, {3 6 8}</a:t>
            </a:r>
            <a:endParaRPr lang="en-US" altLang="en-US" sz="8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1748" name="TextBox 34"/>
          <p:cNvSpPr txBox="1">
            <a:spLocks noChangeArrowheads="1"/>
          </p:cNvSpPr>
          <p:nvPr/>
        </p:nvSpPr>
        <p:spPr bwMode="auto">
          <a:xfrm>
            <a:off x="304800" y="2209800"/>
            <a:ext cx="822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How many of these </a:t>
            </a:r>
            <a:r>
              <a:rPr lang="en-US" altLang="en-US" sz="1800" dirty="0" err="1"/>
              <a:t>itemsets</a:t>
            </a:r>
            <a:r>
              <a:rPr lang="en-US" altLang="en-US" sz="1800" dirty="0"/>
              <a:t> are supported by transaction  (</a:t>
            </a:r>
            <a:r>
              <a:rPr lang="en-US" altLang="en-US" sz="1800" b="1" dirty="0"/>
              <a:t>1,2,3,5,6</a:t>
            </a:r>
            <a:r>
              <a:rPr lang="en-US" altLang="en-US" sz="1800" dirty="0"/>
              <a:t>)?</a:t>
            </a:r>
          </a:p>
        </p:txBody>
      </p:sp>
      <p:graphicFrame>
        <p:nvGraphicFramePr>
          <p:cNvPr id="64514" name="Object 3"/>
          <p:cNvGraphicFramePr>
            <a:graphicFrameLocks noChangeAspect="1"/>
          </p:cNvGraphicFramePr>
          <p:nvPr/>
        </p:nvGraphicFramePr>
        <p:xfrm>
          <a:off x="3505200" y="2754313"/>
          <a:ext cx="5334000" cy="364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765132" imgH="7372400" progId="">
                  <p:embed/>
                </p:oleObj>
              </mc:Choice>
              <mc:Fallback>
                <p:oleObj name="Visio" r:id="rId2" imgW="9765132" imgH="7372400" progId="">
                  <p:embed/>
                  <p:pic>
                    <p:nvPicPr>
                      <p:cNvPr id="645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754313"/>
                        <a:ext cx="5334000" cy="364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456F1-5FD4-4074-A7F5-122F6C81D70D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9296400" cy="685800"/>
          </a:xfrm>
        </p:spPr>
        <p:txBody>
          <a:bodyPr/>
          <a:lstStyle/>
          <a:p>
            <a:r>
              <a:rPr lang="en-US" altLang="en-US" dirty="0"/>
              <a:t>Support Counting- Using Hash Tree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810000" y="3886200"/>
            <a:ext cx="4681538" cy="2446338"/>
            <a:chOff x="1632" y="1536"/>
            <a:chExt cx="3143" cy="1750"/>
          </a:xfrm>
        </p:grpSpPr>
        <p:sp>
          <p:nvSpPr>
            <p:cNvPr id="32782" name="Line 4"/>
            <p:cNvSpPr>
              <a:spLocks noChangeShapeType="1"/>
            </p:cNvSpPr>
            <p:nvPr/>
          </p:nvSpPr>
          <p:spPr bwMode="auto">
            <a:xfrm flipH="1">
              <a:off x="2496" y="1536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Line 5"/>
            <p:cNvSpPr>
              <a:spLocks noChangeShapeType="1"/>
            </p:cNvSpPr>
            <p:nvPr/>
          </p:nvSpPr>
          <p:spPr bwMode="auto">
            <a:xfrm>
              <a:off x="3168" y="1536"/>
              <a:ext cx="81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Line 6"/>
            <p:cNvSpPr>
              <a:spLocks noChangeShapeType="1"/>
            </p:cNvSpPr>
            <p:nvPr/>
          </p:nvSpPr>
          <p:spPr bwMode="auto">
            <a:xfrm>
              <a:off x="3168" y="153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Text Box 7"/>
            <p:cNvSpPr txBox="1">
              <a:spLocks noChangeArrowheads="1"/>
            </p:cNvSpPr>
            <p:nvPr/>
          </p:nvSpPr>
          <p:spPr bwMode="auto">
            <a:xfrm>
              <a:off x="2976" y="1728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2</a:t>
              </a:r>
              <a:r>
                <a:rPr lang="en-US" altLang="en-US" sz="2000" b="0" dirty="0">
                  <a:latin typeface="Times New Roman" pitchFamily="18" charset="0"/>
                </a:rPr>
                <a:t> 3 4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5</a:t>
              </a:r>
              <a:r>
                <a:rPr lang="en-US" altLang="en-US" sz="2000" b="0" dirty="0">
                  <a:solidFill>
                    <a:srgbClr val="33CC33"/>
                  </a:solidFill>
                  <a:latin typeface="Times New Roman" pitchFamily="18" charset="0"/>
                </a:rPr>
                <a:t> </a:t>
              </a:r>
              <a:r>
                <a:rPr lang="en-US" altLang="en-US" sz="2000" b="0" dirty="0">
                  <a:latin typeface="Times New Roman" pitchFamily="18" charset="0"/>
                </a:rPr>
                <a:t>6 7</a:t>
              </a:r>
            </a:p>
          </p:txBody>
        </p:sp>
        <p:sp>
          <p:nvSpPr>
            <p:cNvPr id="32786" name="Line 8"/>
            <p:cNvSpPr>
              <a:spLocks noChangeShapeType="1"/>
            </p:cNvSpPr>
            <p:nvPr/>
          </p:nvSpPr>
          <p:spPr bwMode="auto">
            <a:xfrm flipH="1">
              <a:off x="1917" y="1871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Text Box 9"/>
            <p:cNvSpPr txBox="1">
              <a:spLocks noChangeArrowheads="1"/>
            </p:cNvSpPr>
            <p:nvPr/>
          </p:nvSpPr>
          <p:spPr bwMode="auto">
            <a:xfrm>
              <a:off x="1728" y="215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1</a:t>
              </a:r>
              <a:r>
                <a:rPr lang="en-US" altLang="en-US" sz="2000" b="0" dirty="0">
                  <a:latin typeface="Times New Roman" pitchFamily="18" charset="0"/>
                </a:rPr>
                <a:t>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4</a:t>
              </a:r>
              <a:r>
                <a:rPr lang="en-US" altLang="en-US" sz="2000" b="0" dirty="0">
                  <a:solidFill>
                    <a:srgbClr val="33CC33"/>
                  </a:solidFill>
                  <a:latin typeface="Times New Roman" pitchFamily="18" charset="0"/>
                </a:rPr>
                <a:t> </a:t>
              </a:r>
              <a:r>
                <a:rPr lang="en-US" altLang="en-US" sz="2000" b="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2788" name="Line 10"/>
            <p:cNvSpPr>
              <a:spLocks noChangeShapeType="1"/>
            </p:cNvSpPr>
            <p:nvPr/>
          </p:nvSpPr>
          <p:spPr bwMode="auto">
            <a:xfrm>
              <a:off x="2493" y="1871"/>
              <a:ext cx="3" cy="4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9" name="Line 11"/>
            <p:cNvSpPr>
              <a:spLocks noChangeShapeType="1"/>
            </p:cNvSpPr>
            <p:nvPr/>
          </p:nvSpPr>
          <p:spPr bwMode="auto">
            <a:xfrm>
              <a:off x="2493" y="1871"/>
              <a:ext cx="576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0" name="Text Box 12"/>
            <p:cNvSpPr txBox="1">
              <a:spLocks noChangeArrowheads="1"/>
            </p:cNvSpPr>
            <p:nvPr/>
          </p:nvSpPr>
          <p:spPr bwMode="auto">
            <a:xfrm>
              <a:off x="2870" y="2265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1 3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2791" name="Line 13"/>
            <p:cNvSpPr>
              <a:spLocks noChangeShapeType="1"/>
            </p:cNvSpPr>
            <p:nvPr/>
          </p:nvSpPr>
          <p:spPr bwMode="auto">
            <a:xfrm flipH="1">
              <a:off x="1824" y="2352"/>
              <a:ext cx="67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2" name="Text Box 14"/>
            <p:cNvSpPr txBox="1">
              <a:spLocks noChangeArrowheads="1"/>
            </p:cNvSpPr>
            <p:nvPr/>
          </p:nvSpPr>
          <p:spPr bwMode="auto">
            <a:xfrm>
              <a:off x="1632" y="2640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1</a:t>
              </a:r>
              <a:r>
                <a:rPr lang="en-US" altLang="en-US" sz="2000" b="0" dirty="0">
                  <a:latin typeface="Times New Roman" pitchFamily="18" charset="0"/>
                </a:rPr>
                <a:t> 2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4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4</a:t>
              </a:r>
              <a:r>
                <a:rPr lang="en-US" altLang="en-US" sz="2000" b="0" dirty="0">
                  <a:latin typeface="Times New Roman" pitchFamily="18" charset="0"/>
                </a:rPr>
                <a:t> 5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2793" name="Line 15"/>
            <p:cNvSpPr>
              <a:spLocks noChangeShapeType="1"/>
            </p:cNvSpPr>
            <p:nvPr/>
          </p:nvSpPr>
          <p:spPr bwMode="auto">
            <a:xfrm>
              <a:off x="2496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4" name="Text Box 16"/>
            <p:cNvSpPr txBox="1">
              <a:spLocks noChangeArrowheads="1"/>
            </p:cNvSpPr>
            <p:nvPr/>
          </p:nvSpPr>
          <p:spPr bwMode="auto">
            <a:xfrm>
              <a:off x="2255" y="2784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1 </a:t>
              </a:r>
              <a:r>
                <a:rPr lang="en-US" altLang="en-US" sz="2000" dirty="0">
                  <a:latin typeface="Times New Roman" pitchFamily="18" charset="0"/>
                </a:rPr>
                <a:t>2</a:t>
              </a:r>
              <a:r>
                <a:rPr lang="en-US" altLang="en-US" sz="2000" b="0" dirty="0">
                  <a:latin typeface="Times New Roman" pitchFamily="18" charset="0"/>
                </a:rPr>
                <a:t>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5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4 </a:t>
              </a:r>
              <a:r>
                <a:rPr lang="en-US" altLang="en-US" sz="2000" dirty="0">
                  <a:latin typeface="Times New Roman" pitchFamily="18" charset="0"/>
                </a:rPr>
                <a:t>5</a:t>
              </a:r>
              <a:r>
                <a:rPr lang="en-US" altLang="en-US" sz="2000" b="0" dirty="0">
                  <a:solidFill>
                    <a:srgbClr val="33CC33"/>
                  </a:solidFill>
                  <a:latin typeface="Times New Roman" pitchFamily="18" charset="0"/>
                </a:rPr>
                <a:t>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32795" name="Line 17"/>
            <p:cNvSpPr>
              <a:spLocks noChangeShapeType="1"/>
            </p:cNvSpPr>
            <p:nvPr/>
          </p:nvSpPr>
          <p:spPr bwMode="auto">
            <a:xfrm>
              <a:off x="2496" y="2352"/>
              <a:ext cx="57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6" name="Text Box 18"/>
            <p:cNvSpPr txBox="1">
              <a:spLocks noChangeArrowheads="1"/>
            </p:cNvSpPr>
            <p:nvPr/>
          </p:nvSpPr>
          <p:spPr bwMode="auto">
            <a:xfrm>
              <a:off x="2832" y="2784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1 5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9</a:t>
              </a:r>
            </a:p>
          </p:txBody>
        </p:sp>
        <p:sp>
          <p:nvSpPr>
            <p:cNvPr id="32797" name="Line 19"/>
            <p:cNvSpPr>
              <a:spLocks noChangeShapeType="1"/>
            </p:cNvSpPr>
            <p:nvPr/>
          </p:nvSpPr>
          <p:spPr bwMode="auto">
            <a:xfrm flipH="1">
              <a:off x="3456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Text Box 20"/>
            <p:cNvSpPr txBox="1">
              <a:spLocks noChangeArrowheads="1"/>
            </p:cNvSpPr>
            <p:nvPr/>
          </p:nvSpPr>
          <p:spPr bwMode="auto">
            <a:xfrm>
              <a:off x="3254" y="2169"/>
              <a:ext cx="465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3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4</a:t>
              </a:r>
              <a:r>
                <a:rPr lang="en-US" altLang="en-US" sz="2000" b="0" dirty="0">
                  <a:latin typeface="Times New Roman" pitchFamily="18" charset="0"/>
                </a:rPr>
                <a:t> 5</a:t>
              </a:r>
            </a:p>
          </p:txBody>
        </p:sp>
        <p:sp>
          <p:nvSpPr>
            <p:cNvPr id="32799" name="Line 21"/>
            <p:cNvSpPr>
              <a:spLocks noChangeShapeType="1"/>
            </p:cNvSpPr>
            <p:nvPr/>
          </p:nvSpPr>
          <p:spPr bwMode="auto">
            <a:xfrm>
              <a:off x="3984" y="182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Text Box 22"/>
            <p:cNvSpPr txBox="1">
              <a:spLocks noChangeArrowheads="1"/>
            </p:cNvSpPr>
            <p:nvPr/>
          </p:nvSpPr>
          <p:spPr bwMode="auto">
            <a:xfrm>
              <a:off x="3792" y="2160"/>
              <a:ext cx="465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3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5</a:t>
              </a:r>
              <a:r>
                <a:rPr lang="en-US" altLang="en-US" sz="2000" b="0" dirty="0">
                  <a:latin typeface="Times New Roman" pitchFamily="18" charset="0"/>
                </a:rPr>
                <a:t> 6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3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5</a:t>
              </a:r>
              <a:r>
                <a:rPr lang="en-US" altLang="en-US" sz="2000" b="0" dirty="0">
                  <a:latin typeface="Times New Roman" pitchFamily="18" charset="0"/>
                </a:rPr>
                <a:t> 7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6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8</a:t>
              </a:r>
              <a:r>
                <a:rPr lang="en-US" altLang="en-US" sz="2000" b="0" dirty="0">
                  <a:latin typeface="Times New Roman" pitchFamily="18" charset="0"/>
                </a:rPr>
                <a:t> 9</a:t>
              </a:r>
            </a:p>
          </p:txBody>
        </p:sp>
        <p:sp>
          <p:nvSpPr>
            <p:cNvPr id="32801" name="Line 23"/>
            <p:cNvSpPr>
              <a:spLocks noChangeShapeType="1"/>
            </p:cNvSpPr>
            <p:nvPr/>
          </p:nvSpPr>
          <p:spPr bwMode="auto">
            <a:xfrm>
              <a:off x="3984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Text Box 24"/>
            <p:cNvSpPr txBox="1">
              <a:spLocks noChangeArrowheads="1"/>
            </p:cNvSpPr>
            <p:nvPr/>
          </p:nvSpPr>
          <p:spPr bwMode="auto">
            <a:xfrm>
              <a:off x="4310" y="2121"/>
              <a:ext cx="465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3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6</a:t>
              </a:r>
              <a:r>
                <a:rPr lang="en-US" altLang="en-US" sz="2000" b="0" dirty="0">
                  <a:latin typeface="Times New Roman" pitchFamily="18" charset="0"/>
                </a:rPr>
                <a:t> 7</a:t>
              </a:r>
            </a:p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 dirty="0">
                  <a:latin typeface="Times New Roman" pitchFamily="18" charset="0"/>
                </a:rPr>
                <a:t>3 </a:t>
              </a:r>
              <a:r>
                <a:rPr lang="en-US" altLang="en-US" sz="2000" b="1" u="sng" dirty="0">
                  <a:solidFill>
                    <a:srgbClr val="33CC33"/>
                  </a:solidFill>
                  <a:latin typeface="Times New Roman" pitchFamily="18" charset="0"/>
                </a:rPr>
                <a:t>6</a:t>
              </a:r>
              <a:r>
                <a:rPr lang="en-US" altLang="en-US" sz="2000" b="0" dirty="0">
                  <a:latin typeface="Times New Roman" pitchFamily="18" charset="0"/>
                </a:rPr>
                <a:t> 8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533400" y="4237038"/>
            <a:ext cx="2286000" cy="1249362"/>
            <a:chOff x="144" y="912"/>
            <a:chExt cx="1440" cy="787"/>
          </a:xfrm>
        </p:grpSpPr>
        <p:sp>
          <p:nvSpPr>
            <p:cNvPr id="32774" name="Line 26"/>
            <p:cNvSpPr>
              <a:spLocks noChangeShapeType="1"/>
            </p:cNvSpPr>
            <p:nvPr/>
          </p:nvSpPr>
          <p:spPr bwMode="auto">
            <a:xfrm flipH="1">
              <a:off x="480" y="120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5" name="Line 27"/>
            <p:cNvSpPr>
              <a:spLocks noChangeShapeType="1"/>
            </p:cNvSpPr>
            <p:nvPr/>
          </p:nvSpPr>
          <p:spPr bwMode="auto">
            <a:xfrm>
              <a:off x="864" y="12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6" name="Text Box 28"/>
            <p:cNvSpPr txBox="1">
              <a:spLocks noChangeArrowheads="1"/>
            </p:cNvSpPr>
            <p:nvPr/>
          </p:nvSpPr>
          <p:spPr bwMode="auto">
            <a:xfrm>
              <a:off x="240" y="120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itchFamily="18" charset="0"/>
                </a:rPr>
                <a:t>1,4,7</a:t>
              </a:r>
            </a:p>
          </p:txBody>
        </p:sp>
        <p:sp>
          <p:nvSpPr>
            <p:cNvPr id="32777" name="Text Box 29"/>
            <p:cNvSpPr txBox="1">
              <a:spLocks noChangeArrowheads="1"/>
            </p:cNvSpPr>
            <p:nvPr/>
          </p:nvSpPr>
          <p:spPr bwMode="auto">
            <a:xfrm>
              <a:off x="662" y="1449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itchFamily="18" charset="0"/>
                </a:rPr>
                <a:t>2,5,8</a:t>
              </a:r>
            </a:p>
          </p:txBody>
        </p:sp>
        <p:sp>
          <p:nvSpPr>
            <p:cNvPr id="32778" name="Line 30"/>
            <p:cNvSpPr>
              <a:spLocks noChangeShapeType="1"/>
            </p:cNvSpPr>
            <p:nvPr/>
          </p:nvSpPr>
          <p:spPr bwMode="auto">
            <a:xfrm>
              <a:off x="864" y="1200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9" name="Text Box 31"/>
            <p:cNvSpPr txBox="1">
              <a:spLocks noChangeArrowheads="1"/>
            </p:cNvSpPr>
            <p:nvPr/>
          </p:nvSpPr>
          <p:spPr bwMode="auto">
            <a:xfrm>
              <a:off x="998" y="1113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itchFamily="18" charset="0"/>
                </a:rPr>
                <a:t>3,6,9</a:t>
              </a:r>
            </a:p>
          </p:txBody>
        </p:sp>
        <p:sp>
          <p:nvSpPr>
            <p:cNvPr id="32780" name="Text Box 32"/>
            <p:cNvSpPr txBox="1">
              <a:spLocks noChangeArrowheads="1"/>
            </p:cNvSpPr>
            <p:nvPr/>
          </p:nvSpPr>
          <p:spPr bwMode="auto">
            <a:xfrm>
              <a:off x="336" y="912"/>
              <a:ext cx="10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solidFill>
                    <a:schemeClr val="hlink"/>
                  </a:solidFill>
                  <a:latin typeface="Times New Roman" pitchFamily="18" charset="0"/>
                </a:rPr>
                <a:t>Hash function</a:t>
              </a:r>
            </a:p>
          </p:txBody>
        </p:sp>
        <p:sp>
          <p:nvSpPr>
            <p:cNvPr id="32781" name="Rectangle 33"/>
            <p:cNvSpPr>
              <a:spLocks noChangeArrowheads="1"/>
            </p:cNvSpPr>
            <p:nvPr/>
          </p:nvSpPr>
          <p:spPr bwMode="auto">
            <a:xfrm>
              <a:off x="144" y="912"/>
              <a:ext cx="1440" cy="768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32773" name="Text Box 34"/>
          <p:cNvSpPr txBox="1">
            <a:spLocks noChangeArrowheads="1"/>
          </p:cNvSpPr>
          <p:nvPr/>
        </p:nvSpPr>
        <p:spPr bwMode="auto">
          <a:xfrm>
            <a:off x="0" y="914400"/>
            <a:ext cx="8839200" cy="300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Suppose we have 15 candidate </a:t>
            </a:r>
            <a:r>
              <a:rPr lang="en-US" altLang="en-US" sz="1800" dirty="0" err="1"/>
              <a:t>itemsets</a:t>
            </a:r>
            <a:r>
              <a:rPr lang="en-US" altLang="en-US" sz="1800" dirty="0"/>
              <a:t> of length 3: </a:t>
            </a:r>
            <a:r>
              <a:rPr lang="en-US" altLang="en-US" sz="1800" dirty="0">
                <a:solidFill>
                  <a:srgbClr val="FF0000"/>
                </a:solidFill>
              </a:rPr>
              <a:t>Branching 0, 1, 2 = P mod 3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{1 4 5}, {1 2 4}, {4 5 7}, {1 2 5}, {4 5 8}, {1 5 9}, {1 3 6}, {2 3 4}, {5 6 7}, {3 4 5}, {3 5 6}, {3 5 7}, {6 8 9}, {3 6 7}, {3 6 8}</a:t>
            </a:r>
            <a:endParaRPr lang="en-US" altLang="en-US" sz="800" dirty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We need: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/>
              <a:t> </a:t>
            </a:r>
            <a:r>
              <a:rPr lang="en-US" altLang="en-US" sz="1800" b="1" i="1" dirty="0"/>
              <a:t>Hash function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/>
              <a:t> </a:t>
            </a:r>
            <a:r>
              <a:rPr lang="en-US" altLang="en-US" sz="1800" b="1" i="1" dirty="0"/>
              <a:t>Max leaf size:</a:t>
            </a:r>
            <a:r>
              <a:rPr lang="en-US" altLang="en-US" sz="1800" dirty="0"/>
              <a:t> max number of </a:t>
            </a:r>
            <a:r>
              <a:rPr lang="en-US" altLang="en-US" sz="1800" dirty="0" err="1"/>
              <a:t>itemsets</a:t>
            </a:r>
            <a:r>
              <a:rPr lang="en-US" altLang="en-US" sz="1800" dirty="0"/>
              <a:t> stored in a leaf node (if number of candidate </a:t>
            </a:r>
            <a:r>
              <a:rPr lang="en-US" altLang="en-US" sz="1800" dirty="0" err="1"/>
              <a:t>itemsets</a:t>
            </a:r>
            <a:r>
              <a:rPr lang="en-US" altLang="en-US" sz="1800" dirty="0"/>
              <a:t> exceeds max leaf size, split the node)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/>
              <a:t>{1, 2, 3, 4, 5, 6, 7, 8, 9}</a:t>
            </a:r>
          </a:p>
        </p:txBody>
      </p:sp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7543800" y="39624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altLang="en-US" sz="2000" b="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5715000" y="35052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endParaRPr lang="en-US" altLang="en-US" sz="2000" b="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3657600" y="5105400"/>
            <a:ext cx="377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en-US" sz="2000" b="0" dirty="0">
                <a:latin typeface="Times New Roman" pitchFamily="18" charset="0"/>
              </a:rPr>
              <a:t> 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4953000" y="5105400"/>
            <a:ext cx="377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en-US" sz="2000" b="0" dirty="0">
                <a:latin typeface="Times New Roman" pitchFamily="18" charset="0"/>
              </a:rPr>
              <a:t> </a:t>
            </a:r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6477000" y="37338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altLang="en-US" sz="2000" b="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4267200" y="4114800"/>
            <a:ext cx="377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1 </a:t>
            </a:r>
          </a:p>
        </p:txBody>
      </p:sp>
      <p:sp>
        <p:nvSpPr>
          <p:cNvPr id="42" name="Text Box 9"/>
          <p:cNvSpPr txBox="1">
            <a:spLocks noChangeArrowheads="1"/>
          </p:cNvSpPr>
          <p:nvPr/>
        </p:nvSpPr>
        <p:spPr bwMode="auto">
          <a:xfrm>
            <a:off x="5334000" y="43434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altLang="en-US" sz="2000" b="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4876800" y="44958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7086600" y="43434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6781800" y="41910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5638800" y="5257800"/>
            <a:ext cx="3129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endParaRPr lang="en-US" altLang="en-US" sz="2000" b="0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09000" cy="1066800"/>
          </a:xfrm>
        </p:spPr>
        <p:txBody>
          <a:bodyPr/>
          <a:lstStyle/>
          <a:p>
            <a:r>
              <a:rPr lang="en-US" altLang="en-US" dirty="0"/>
              <a:t>Subset Operation- Using a Hash Tree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b="0">
              <a:latin typeface="Wingdings" pitchFamily="2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33892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3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4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33889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0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91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33886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7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8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33883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4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5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33880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81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82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33877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8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79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33874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5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76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33872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3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b="0">
                    <a:latin typeface="Times New Roman" pitchFamily="18" charset="0"/>
                  </a:rPr>
                  <a:t> 5 9</a:t>
                </a:r>
              </a:p>
            </p:txBody>
          </p:sp>
        </p:grpSp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33870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71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b="0">
                    <a:latin typeface="Times New Roman" pitchFamily="18" charset="0"/>
                  </a:rPr>
                  <a:t>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4</a:t>
                </a:r>
                <a:r>
                  <a:rPr lang="en-US" altLang="en-US" sz="2000" b="0">
                    <a:latin typeface="Times New Roman" pitchFamily="18" charset="0"/>
                  </a:rPr>
                  <a:t> 5</a:t>
                </a:r>
              </a:p>
            </p:txBody>
          </p:sp>
        </p:grpSp>
        <p:grpSp>
          <p:nvGrpSpPr>
            <p:cNvPr id="12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33868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69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b="0">
                    <a:latin typeface="Times New Roman" pitchFamily="18" charset="0"/>
                  </a:rPr>
                  <a:t> 3 6</a:t>
                </a:r>
              </a:p>
            </p:txBody>
          </p:sp>
        </p:grpSp>
        <p:grpSp>
          <p:nvGrpSpPr>
            <p:cNvPr id="13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33866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67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4</a:t>
                </a:r>
                <a:r>
                  <a:rPr lang="en-US" altLang="en-US" sz="2000" b="0">
                    <a:latin typeface="Times New Roman" pitchFamily="18" charset="0"/>
                  </a:rPr>
                  <a:t> 5</a:t>
                </a:r>
              </a:p>
            </p:txBody>
          </p:sp>
        </p:grpSp>
        <p:grpSp>
          <p:nvGrpSpPr>
            <p:cNvPr id="14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15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64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65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3 6 7</a:t>
                  </a:r>
                </a:p>
              </p:txBody>
            </p:sp>
          </p:grpSp>
          <p:grpSp>
            <p:nvGrpSpPr>
              <p:cNvPr id="16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62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6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3 6 8</a:t>
                  </a:r>
                </a:p>
              </p:txBody>
            </p:sp>
          </p:grpSp>
        </p:grpSp>
        <p:grpSp>
          <p:nvGrpSpPr>
            <p:cNvPr id="17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18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19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33858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3859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itchFamily="18" charset="0"/>
                      </a:rPr>
                      <a:t>3 5 6</a:t>
                    </a:r>
                  </a:p>
                </p:txBody>
              </p:sp>
            </p:grpSp>
            <p:grpSp>
              <p:nvGrpSpPr>
                <p:cNvPr id="20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3385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385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itchFamily="18" charset="0"/>
                      </a:rPr>
                      <a:t>3 5 7</a:t>
                    </a:r>
                  </a:p>
                </p:txBody>
              </p:sp>
            </p:grpSp>
          </p:grpSp>
          <p:grpSp>
            <p:nvGrpSpPr>
              <p:cNvPr id="21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33852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53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6 8 9</a:t>
                  </a:r>
                </a:p>
              </p:txBody>
            </p:sp>
          </p:grpSp>
        </p:grpSp>
        <p:grpSp>
          <p:nvGrpSpPr>
            <p:cNvPr id="22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48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9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2 3 4</a:t>
                  </a:r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46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7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5 6 7</a:t>
                  </a:r>
                </a:p>
              </p:txBody>
            </p:sp>
          </p:grpSp>
        </p:grpSp>
        <p:grpSp>
          <p:nvGrpSpPr>
            <p:cNvPr id="25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6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42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altLang="en-US" sz="2000" b="0">
                      <a:latin typeface="Times New Roman" pitchFamily="18" charset="0"/>
                    </a:rPr>
                    <a:t> 2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4</a:t>
                  </a:r>
                </a:p>
              </p:txBody>
            </p:sp>
          </p:grpSp>
          <p:grpSp>
            <p:nvGrpSpPr>
              <p:cNvPr id="27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40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41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4</a:t>
                  </a:r>
                  <a:r>
                    <a:rPr lang="en-US" altLang="en-US" sz="2000" b="0">
                      <a:latin typeface="Times New Roman" pitchFamily="18" charset="0"/>
                    </a:rPr>
                    <a:t> 5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7</a:t>
                  </a:r>
                </a:p>
              </p:txBody>
            </p:sp>
          </p:grpSp>
        </p:grpSp>
        <p:grpSp>
          <p:nvGrpSpPr>
            <p:cNvPr id="28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9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3836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37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altLang="en-US" sz="2000" b="0">
                      <a:latin typeface="Times New Roman" pitchFamily="18" charset="0"/>
                    </a:rPr>
                    <a:t> 2 5</a:t>
                  </a:r>
                </a:p>
              </p:txBody>
            </p:sp>
          </p:grpSp>
          <p:grpSp>
            <p:nvGrpSpPr>
              <p:cNvPr id="30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3834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3835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4</a:t>
                  </a:r>
                  <a:r>
                    <a:rPr lang="en-US" altLang="en-US" sz="2000" b="0">
                      <a:latin typeface="Times New Roman" pitchFamily="18" charset="0"/>
                    </a:rPr>
                    <a:t> 5 8</a:t>
                  </a:r>
                </a:p>
              </p:txBody>
            </p:sp>
          </p:grpSp>
        </p:grpSp>
        <p:grpSp>
          <p:nvGrpSpPr>
            <p:cNvPr id="31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33829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3830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31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3824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33809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0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798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imes New Roman" pitchFamily="18" charset="0"/>
              </a:rPr>
              <a:t>1,4,7</a:t>
            </a:r>
            <a:endParaRPr lang="en-US" altLang="en-US" sz="1400" b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3802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itchFamily="18" charset="0"/>
              </a:rPr>
              <a:t>2,5,8</a:t>
            </a:r>
            <a:endParaRPr lang="en-US" altLang="en-US" sz="1400" b="0">
              <a:latin typeface="Times New Roman" pitchFamily="18" charset="0"/>
            </a:endParaRPr>
          </a:p>
        </p:txBody>
      </p:sp>
      <p:sp>
        <p:nvSpPr>
          <p:cNvPr id="33803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itchFamily="18" charset="0"/>
              </a:rPr>
              <a:t>3,6,9</a:t>
            </a:r>
          </a:p>
        </p:txBody>
      </p:sp>
      <p:sp>
        <p:nvSpPr>
          <p:cNvPr id="33804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>
                <a:latin typeface="Times New Roman" pitchFamily="18" charset="0"/>
              </a:rPr>
              <a:t>Hash Function</a:t>
            </a: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33805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Candidate Hash Tree</a:t>
            </a: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33806" name="Text Box 100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C6D9C"/>
                </a:solidFill>
              </a:rPr>
              <a:t>Hash on 1, 4 or 7</a:t>
            </a:r>
            <a:endParaRPr lang="en-US" altLang="en-US" sz="2000" b="0">
              <a:solidFill>
                <a:srgbClr val="0C6D9C"/>
              </a:solidFill>
              <a:sym typeface="Symbol" pitchFamily="18" charset="2"/>
            </a:endParaRPr>
          </a:p>
        </p:txBody>
      </p:sp>
      <p:sp>
        <p:nvSpPr>
          <p:cNvPr id="33807" name="Rectangle 101"/>
          <p:cNvSpPr>
            <a:spLocks noChangeArrowheads="1"/>
          </p:cNvSpPr>
          <p:nvPr/>
        </p:nvSpPr>
        <p:spPr bwMode="auto">
          <a:xfrm>
            <a:off x="1676400" y="3810000"/>
            <a:ext cx="3124200" cy="2286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3808" name="Rectangle 102"/>
          <p:cNvSpPr>
            <a:spLocks noChangeArrowheads="1"/>
          </p:cNvSpPr>
          <p:nvPr/>
        </p:nvSpPr>
        <p:spPr bwMode="auto">
          <a:xfrm>
            <a:off x="5029200" y="4038600"/>
            <a:ext cx="1143000" cy="762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03" name="Slide Number Placeholder 10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104" name="Text Box 9"/>
          <p:cNvSpPr txBox="1">
            <a:spLocks noChangeArrowheads="1"/>
          </p:cNvSpPr>
          <p:nvPr/>
        </p:nvSpPr>
        <p:spPr bwMode="auto">
          <a:xfrm>
            <a:off x="3733800" y="2209800"/>
            <a:ext cx="377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1 </a:t>
            </a:r>
          </a:p>
        </p:txBody>
      </p:sp>
      <p:sp>
        <p:nvSpPr>
          <p:cNvPr id="105" name="Text Box 9"/>
          <p:cNvSpPr txBox="1">
            <a:spLocks noChangeArrowheads="1"/>
          </p:cNvSpPr>
          <p:nvPr/>
        </p:nvSpPr>
        <p:spPr bwMode="auto">
          <a:xfrm>
            <a:off x="5791200" y="2209800"/>
            <a:ext cx="377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06" name="Text Box 9"/>
          <p:cNvSpPr txBox="1">
            <a:spLocks noChangeArrowheads="1"/>
          </p:cNvSpPr>
          <p:nvPr/>
        </p:nvSpPr>
        <p:spPr bwMode="auto">
          <a:xfrm>
            <a:off x="5105400" y="2514600"/>
            <a:ext cx="377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FF0000"/>
                </a:solidFill>
                <a:latin typeface="Times New Roman" pitchFamily="18" charset="0"/>
              </a:rPr>
              <a:t>2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b="0">
              <a:latin typeface="Wingdings" pitchFamily="2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34917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8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9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34914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5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6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34911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2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3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34908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9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10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34905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906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7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34902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903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4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34899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900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901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34897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8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5</a:t>
                </a:r>
                <a:r>
                  <a:rPr lang="en-US" altLang="en-US" sz="2000" b="0">
                    <a:latin typeface="Times New Roman" pitchFamily="18" charset="0"/>
                  </a:rPr>
                  <a:t> 9</a:t>
                </a:r>
              </a:p>
            </p:txBody>
          </p:sp>
        </p:grpSp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34895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6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1 4 5</a:t>
                </a:r>
              </a:p>
            </p:txBody>
          </p:sp>
        </p:grpSp>
        <p:grpSp>
          <p:nvGrpSpPr>
            <p:cNvPr id="12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34893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4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1 3 6</a:t>
                </a:r>
              </a:p>
            </p:txBody>
          </p:sp>
        </p:grpSp>
        <p:grpSp>
          <p:nvGrpSpPr>
            <p:cNvPr id="13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34891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92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3 4 5</a:t>
                </a:r>
              </a:p>
            </p:txBody>
          </p:sp>
        </p:grpSp>
        <p:grpSp>
          <p:nvGrpSpPr>
            <p:cNvPr id="14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15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89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9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3 6 7</a:t>
                  </a:r>
                </a:p>
              </p:txBody>
            </p:sp>
          </p:grpSp>
          <p:grpSp>
            <p:nvGrpSpPr>
              <p:cNvPr id="16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87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8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3 6 8</a:t>
                  </a:r>
                </a:p>
              </p:txBody>
            </p:sp>
          </p:grpSp>
        </p:grpSp>
        <p:grpSp>
          <p:nvGrpSpPr>
            <p:cNvPr id="17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18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19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3488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4884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itchFamily="18" charset="0"/>
                      </a:rPr>
                      <a:t>3 </a:t>
                    </a: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5</a:t>
                    </a:r>
                    <a:r>
                      <a:rPr lang="en-US" altLang="en-US" sz="2000" b="0">
                        <a:latin typeface="Times New Roman" pitchFamily="18" charset="0"/>
                      </a:rPr>
                      <a:t> 6</a:t>
                    </a:r>
                  </a:p>
                </p:txBody>
              </p:sp>
            </p:grpSp>
            <p:grpSp>
              <p:nvGrpSpPr>
                <p:cNvPr id="20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34881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4882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latin typeface="Times New Roman" pitchFamily="18" charset="0"/>
                      </a:rPr>
                      <a:t>3 </a:t>
                    </a: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5</a:t>
                    </a:r>
                    <a:r>
                      <a:rPr lang="en-US" altLang="en-US" sz="2000" b="0">
                        <a:latin typeface="Times New Roman" pitchFamily="18" charset="0"/>
                      </a:rPr>
                      <a:t> 7</a:t>
                    </a:r>
                  </a:p>
                </p:txBody>
              </p:sp>
            </p:grpSp>
          </p:grpSp>
          <p:grpSp>
            <p:nvGrpSpPr>
              <p:cNvPr id="21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34877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7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6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8</a:t>
                  </a:r>
                  <a:r>
                    <a:rPr lang="en-US" altLang="en-US" sz="2000" b="0">
                      <a:latin typeface="Times New Roman" pitchFamily="18" charset="0"/>
                    </a:rPr>
                    <a:t> 9</a:t>
                  </a:r>
                </a:p>
              </p:txBody>
            </p:sp>
          </p:grpSp>
        </p:grpSp>
        <p:grpSp>
          <p:nvGrpSpPr>
            <p:cNvPr id="22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73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74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2</a:t>
                  </a:r>
                  <a:r>
                    <a:rPr lang="en-US" altLang="en-US" sz="2000" b="0">
                      <a:latin typeface="Times New Roman" pitchFamily="18" charset="0"/>
                    </a:rPr>
                    <a:t> 3 4</a:t>
                  </a:r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71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7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5</a:t>
                  </a:r>
                  <a:r>
                    <a:rPr lang="en-US" altLang="en-US" sz="2000" b="0">
                      <a:latin typeface="Times New Roman" pitchFamily="18" charset="0"/>
                    </a:rPr>
                    <a:t> 6 7</a:t>
                  </a:r>
                </a:p>
              </p:txBody>
            </p:sp>
          </p:grpSp>
        </p:grpSp>
        <p:grpSp>
          <p:nvGrpSpPr>
            <p:cNvPr id="25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6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67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8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1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2</a:t>
                  </a:r>
                  <a:r>
                    <a:rPr lang="en-US" altLang="en-US" sz="2000" b="0">
                      <a:latin typeface="Times New Roman" pitchFamily="18" charset="0"/>
                    </a:rPr>
                    <a:t> 4</a:t>
                  </a:r>
                </a:p>
              </p:txBody>
            </p:sp>
          </p:grpSp>
          <p:grpSp>
            <p:nvGrpSpPr>
              <p:cNvPr id="27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65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4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5</a:t>
                  </a:r>
                  <a:r>
                    <a:rPr lang="en-US" altLang="en-US" sz="2000" b="0">
                      <a:latin typeface="Times New Roman" pitchFamily="18" charset="0"/>
                    </a:rPr>
                    <a:t> 7</a:t>
                  </a:r>
                </a:p>
              </p:txBody>
            </p:sp>
          </p:grpSp>
        </p:grpSp>
        <p:grpSp>
          <p:nvGrpSpPr>
            <p:cNvPr id="28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9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4861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2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1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2</a:t>
                  </a:r>
                  <a:r>
                    <a:rPr lang="en-US" altLang="en-US" sz="2000" b="0">
                      <a:latin typeface="Times New Roman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5</a:t>
                  </a:r>
                </a:p>
              </p:txBody>
            </p:sp>
          </p:grpSp>
          <p:grpSp>
            <p:nvGrpSpPr>
              <p:cNvPr id="30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4859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4860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4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5</a:t>
                  </a:r>
                  <a:r>
                    <a:rPr lang="en-US" altLang="en-US" sz="2000" b="0">
                      <a:latin typeface="Times New Roman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8</a:t>
                  </a:r>
                </a:p>
              </p:txBody>
            </p:sp>
          </p:grpSp>
        </p:grpSp>
        <p:grpSp>
          <p:nvGrpSpPr>
            <p:cNvPr id="31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34854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4855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6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4816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34834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4835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6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822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itchFamily="18" charset="0"/>
              </a:rPr>
              <a:t>1,4,7</a:t>
            </a:r>
            <a:endParaRPr lang="en-US" altLang="en-US" sz="1400" b="0">
              <a:latin typeface="Times New Roman" pitchFamily="18" charset="0"/>
            </a:endParaRPr>
          </a:p>
        </p:txBody>
      </p:sp>
      <p:sp>
        <p:nvSpPr>
          <p:cNvPr id="34826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imes New Roman" pitchFamily="18" charset="0"/>
              </a:rPr>
              <a:t>2,5,8</a:t>
            </a:r>
            <a:endParaRPr lang="en-US" altLang="en-US" sz="1400" b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4827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itchFamily="18" charset="0"/>
              </a:rPr>
              <a:t>3,6,9</a:t>
            </a:r>
          </a:p>
        </p:txBody>
      </p:sp>
      <p:sp>
        <p:nvSpPr>
          <p:cNvPr id="34828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>
                <a:latin typeface="Times New Roman" pitchFamily="18" charset="0"/>
              </a:rPr>
              <a:t>Hash Function</a:t>
            </a: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34829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Candidate Hash Tree</a:t>
            </a: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34830" name="Rectangle 100"/>
          <p:cNvSpPr>
            <a:spLocks noChangeArrowheads="1"/>
          </p:cNvSpPr>
          <p:nvPr/>
        </p:nvSpPr>
        <p:spPr bwMode="auto">
          <a:xfrm>
            <a:off x="1828800" y="4953000"/>
            <a:ext cx="3048000" cy="1066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4831" name="Rectangle 101"/>
          <p:cNvSpPr>
            <a:spLocks noChangeArrowheads="1"/>
          </p:cNvSpPr>
          <p:nvPr/>
        </p:nvSpPr>
        <p:spPr bwMode="auto">
          <a:xfrm>
            <a:off x="4495800" y="2895600"/>
            <a:ext cx="1143000" cy="990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4832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C6D9C"/>
                </a:solidFill>
              </a:rPr>
              <a:t>Hash on 2, 5 or 8</a:t>
            </a:r>
            <a:endParaRPr lang="en-US" altLang="en-US" sz="2000" b="0">
              <a:solidFill>
                <a:srgbClr val="0C6D9C"/>
              </a:solidFill>
              <a:sym typeface="Symbol" pitchFamily="18" charset="2"/>
            </a:endParaRPr>
          </a:p>
        </p:txBody>
      </p:sp>
      <p:sp>
        <p:nvSpPr>
          <p:cNvPr id="34833" name="Rectangle 103"/>
          <p:cNvSpPr>
            <a:spLocks noChangeArrowheads="1"/>
          </p:cNvSpPr>
          <p:nvPr/>
        </p:nvSpPr>
        <p:spPr bwMode="auto">
          <a:xfrm>
            <a:off x="6172200" y="4114800"/>
            <a:ext cx="1143000" cy="1447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106" name="Rectangle 10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09000" cy="1066800"/>
          </a:xfrm>
        </p:spPr>
        <p:txBody>
          <a:bodyPr/>
          <a:lstStyle/>
          <a:p>
            <a:r>
              <a:rPr lang="en-US" altLang="en-US" dirty="0"/>
              <a:t>Subset Operation- Using a Hash Tree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593725" y="12684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b="0">
              <a:latin typeface="Wingdings" pitchFamily="2" charset="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1200" y="1736725"/>
            <a:ext cx="6553200" cy="4206875"/>
            <a:chOff x="1296" y="1056"/>
            <a:chExt cx="4128" cy="2650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160" y="1344"/>
              <a:ext cx="2160" cy="528"/>
              <a:chOff x="2160" y="1344"/>
              <a:chExt cx="1056" cy="576"/>
            </a:xfrm>
          </p:grpSpPr>
          <p:sp>
            <p:nvSpPr>
              <p:cNvPr id="35941" name="Line 6"/>
              <p:cNvSpPr>
                <a:spLocks noChangeShapeType="1"/>
              </p:cNvSpPr>
              <p:nvPr/>
            </p:nvSpPr>
            <p:spPr bwMode="auto">
              <a:xfrm flipH="1">
                <a:off x="2160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42" name="Line 7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43" name="Line 8"/>
              <p:cNvSpPr>
                <a:spLocks noChangeShapeType="1"/>
              </p:cNvSpPr>
              <p:nvPr/>
            </p:nvSpPr>
            <p:spPr bwMode="auto">
              <a:xfrm>
                <a:off x="2688" y="1344"/>
                <a:ext cx="52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1536" y="2112"/>
              <a:ext cx="1104" cy="384"/>
              <a:chOff x="1680" y="2160"/>
              <a:chExt cx="864" cy="432"/>
            </a:xfrm>
          </p:grpSpPr>
          <p:sp>
            <p:nvSpPr>
              <p:cNvPr id="35938" name="Line 10"/>
              <p:cNvSpPr>
                <a:spLocks noChangeShapeType="1"/>
              </p:cNvSpPr>
              <p:nvPr/>
            </p:nvSpPr>
            <p:spPr bwMode="auto">
              <a:xfrm flipH="1">
                <a:off x="1680" y="2160"/>
                <a:ext cx="48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9" name="Line 11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40" name="Line 12"/>
              <p:cNvSpPr>
                <a:spLocks noChangeShapeType="1"/>
              </p:cNvSpPr>
              <p:nvPr/>
            </p:nvSpPr>
            <p:spPr bwMode="auto">
              <a:xfrm>
                <a:off x="2160" y="2160"/>
                <a:ext cx="384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3552" y="2112"/>
              <a:ext cx="1632" cy="528"/>
              <a:chOff x="2832" y="2160"/>
              <a:chExt cx="816" cy="432"/>
            </a:xfrm>
          </p:grpSpPr>
          <p:sp>
            <p:nvSpPr>
              <p:cNvPr id="35935" name="Line 14"/>
              <p:cNvSpPr>
                <a:spLocks noChangeShapeType="1"/>
              </p:cNvSpPr>
              <p:nvPr/>
            </p:nvSpPr>
            <p:spPr bwMode="auto">
              <a:xfrm flipH="1">
                <a:off x="2832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6" name="Line 15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7" name="Line 16"/>
              <p:cNvSpPr>
                <a:spLocks noChangeShapeType="1"/>
              </p:cNvSpPr>
              <p:nvPr/>
            </p:nvSpPr>
            <p:spPr bwMode="auto">
              <a:xfrm>
                <a:off x="3216" y="2160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1584" y="2784"/>
              <a:ext cx="1104" cy="432"/>
              <a:chOff x="1584" y="2880"/>
              <a:chExt cx="1104" cy="432"/>
            </a:xfrm>
          </p:grpSpPr>
          <p:sp>
            <p:nvSpPr>
              <p:cNvPr id="35932" name="Line 18"/>
              <p:cNvSpPr>
                <a:spLocks noChangeShapeType="1"/>
              </p:cNvSpPr>
              <p:nvPr/>
            </p:nvSpPr>
            <p:spPr bwMode="auto">
              <a:xfrm flipH="1">
                <a:off x="1584" y="2880"/>
                <a:ext cx="576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3" name="Line 19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4" name="Line 20"/>
              <p:cNvSpPr>
                <a:spLocks noChangeShapeType="1"/>
              </p:cNvSpPr>
              <p:nvPr/>
            </p:nvSpPr>
            <p:spPr bwMode="auto">
              <a:xfrm>
                <a:off x="2160" y="2880"/>
                <a:ext cx="52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2064" y="1824"/>
              <a:ext cx="192" cy="288"/>
              <a:chOff x="2064" y="1872"/>
              <a:chExt cx="192" cy="288"/>
            </a:xfrm>
          </p:grpSpPr>
          <p:sp>
            <p:nvSpPr>
              <p:cNvPr id="35929" name="Rectangle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30" name="Line 23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31" name="Line 24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25"/>
            <p:cNvGrpSpPr>
              <a:grpSpLocks/>
            </p:cNvGrpSpPr>
            <p:nvPr/>
          </p:nvGrpSpPr>
          <p:grpSpPr bwMode="auto">
            <a:xfrm>
              <a:off x="4224" y="1824"/>
              <a:ext cx="192" cy="288"/>
              <a:chOff x="3120" y="1872"/>
              <a:chExt cx="192" cy="288"/>
            </a:xfrm>
          </p:grpSpPr>
          <p:sp>
            <p:nvSpPr>
              <p:cNvPr id="35926" name="Rectangle 26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7" name="Line 27"/>
              <p:cNvSpPr>
                <a:spLocks noChangeShapeType="1"/>
              </p:cNvSpPr>
              <p:nvPr/>
            </p:nvSpPr>
            <p:spPr bwMode="auto">
              <a:xfrm>
                <a:off x="3120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28" name="Line 28"/>
              <p:cNvSpPr>
                <a:spLocks noChangeShapeType="1"/>
              </p:cNvSpPr>
              <p:nvPr/>
            </p:nvSpPr>
            <p:spPr bwMode="auto">
              <a:xfrm>
                <a:off x="3120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29"/>
            <p:cNvGrpSpPr>
              <a:grpSpLocks/>
            </p:cNvGrpSpPr>
            <p:nvPr/>
          </p:nvGrpSpPr>
          <p:grpSpPr bwMode="auto">
            <a:xfrm>
              <a:off x="2064" y="2496"/>
              <a:ext cx="192" cy="288"/>
              <a:chOff x="2064" y="2592"/>
              <a:chExt cx="192" cy="288"/>
            </a:xfrm>
          </p:grpSpPr>
          <p:sp>
            <p:nvSpPr>
              <p:cNvPr id="35923" name="Rectangle 30"/>
              <p:cNvSpPr>
                <a:spLocks noChangeArrowheads="1"/>
              </p:cNvSpPr>
              <p:nvPr/>
            </p:nvSpPr>
            <p:spPr bwMode="auto">
              <a:xfrm>
                <a:off x="2064" y="259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4" name="Line 31"/>
              <p:cNvSpPr>
                <a:spLocks noChangeShapeType="1"/>
              </p:cNvSpPr>
              <p:nvPr/>
            </p:nvSpPr>
            <p:spPr bwMode="auto">
              <a:xfrm>
                <a:off x="2064" y="27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925" name="Line 3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33"/>
            <p:cNvGrpSpPr>
              <a:grpSpLocks/>
            </p:cNvGrpSpPr>
            <p:nvPr/>
          </p:nvGrpSpPr>
          <p:grpSpPr bwMode="auto">
            <a:xfrm>
              <a:off x="2544" y="3168"/>
              <a:ext cx="480" cy="250"/>
              <a:chOff x="432" y="3408"/>
              <a:chExt cx="480" cy="250"/>
            </a:xfrm>
          </p:grpSpPr>
          <p:sp>
            <p:nvSpPr>
              <p:cNvPr id="35921" name="Rectangle 3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2" name="Text Box 35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1 5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9</a:t>
                </a:r>
              </a:p>
            </p:txBody>
          </p:sp>
        </p:grpSp>
        <p:grpSp>
          <p:nvGrpSpPr>
            <p:cNvPr id="11" name="Group 36"/>
            <p:cNvGrpSpPr>
              <a:grpSpLocks/>
            </p:cNvGrpSpPr>
            <p:nvPr/>
          </p:nvGrpSpPr>
          <p:grpSpPr bwMode="auto">
            <a:xfrm>
              <a:off x="1296" y="2448"/>
              <a:ext cx="480" cy="250"/>
              <a:chOff x="432" y="3408"/>
              <a:chExt cx="480" cy="250"/>
            </a:xfrm>
          </p:grpSpPr>
          <p:sp>
            <p:nvSpPr>
              <p:cNvPr id="35919" name="Rectangle 3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20" name="Text Box 38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1 4 5</a:t>
                </a:r>
              </a:p>
            </p:txBody>
          </p:sp>
        </p:grpSp>
        <p:grpSp>
          <p:nvGrpSpPr>
            <p:cNvPr id="12" name="Group 39"/>
            <p:cNvGrpSpPr>
              <a:grpSpLocks/>
            </p:cNvGrpSpPr>
            <p:nvPr/>
          </p:nvGrpSpPr>
          <p:grpSpPr bwMode="auto">
            <a:xfrm>
              <a:off x="2448" y="2448"/>
              <a:ext cx="480" cy="250"/>
              <a:chOff x="432" y="3408"/>
              <a:chExt cx="480" cy="250"/>
            </a:xfrm>
          </p:grpSpPr>
          <p:sp>
            <p:nvSpPr>
              <p:cNvPr id="35917" name="Rectangle 4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18" name="Text Box 41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1 3 </a:t>
                </a: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6</a:t>
                </a:r>
              </a:p>
            </p:txBody>
          </p:sp>
        </p:grpSp>
        <p:grpSp>
          <p:nvGrpSpPr>
            <p:cNvPr id="13" name="Group 42"/>
            <p:cNvGrpSpPr>
              <a:grpSpLocks/>
            </p:cNvGrpSpPr>
            <p:nvPr/>
          </p:nvGrpSpPr>
          <p:grpSpPr bwMode="auto">
            <a:xfrm>
              <a:off x="3312" y="2640"/>
              <a:ext cx="480" cy="250"/>
              <a:chOff x="432" y="3408"/>
              <a:chExt cx="480" cy="250"/>
            </a:xfrm>
          </p:grpSpPr>
          <p:sp>
            <p:nvSpPr>
              <p:cNvPr id="35915" name="Rectangle 4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916" name="Text Box 44"/>
              <p:cNvSpPr txBox="1">
                <a:spLocks noChangeArrowheads="1"/>
              </p:cNvSpPr>
              <p:nvPr/>
            </p:nvSpPr>
            <p:spPr bwMode="auto">
              <a:xfrm>
                <a:off x="432" y="340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solidFill>
                      <a:srgbClr val="FF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en-US" sz="2000" b="0">
                    <a:latin typeface="Times New Roman" pitchFamily="18" charset="0"/>
                  </a:rPr>
                  <a:t> 4 5</a:t>
                </a:r>
              </a:p>
            </p:txBody>
          </p:sp>
        </p:grpSp>
        <p:grpSp>
          <p:nvGrpSpPr>
            <p:cNvPr id="14" name="Group 45"/>
            <p:cNvGrpSpPr>
              <a:grpSpLocks/>
            </p:cNvGrpSpPr>
            <p:nvPr/>
          </p:nvGrpSpPr>
          <p:grpSpPr bwMode="auto">
            <a:xfrm>
              <a:off x="4944" y="2640"/>
              <a:ext cx="480" cy="490"/>
              <a:chOff x="3792" y="3312"/>
              <a:chExt cx="480" cy="490"/>
            </a:xfrm>
          </p:grpSpPr>
          <p:grpSp>
            <p:nvGrpSpPr>
              <p:cNvPr id="15" name="Group 46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913" name="Rectangle 47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914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3</a:t>
                  </a:r>
                  <a:r>
                    <a:rPr lang="en-US" altLang="en-US" sz="2000" b="0">
                      <a:latin typeface="Times New Roman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6</a:t>
                  </a:r>
                  <a:r>
                    <a:rPr lang="en-US" altLang="en-US" sz="2000" b="0">
                      <a:latin typeface="Times New Roman" pitchFamily="18" charset="0"/>
                    </a:rPr>
                    <a:t> 7</a:t>
                  </a:r>
                </a:p>
              </p:txBody>
            </p:sp>
          </p:grpSp>
          <p:grpSp>
            <p:nvGrpSpPr>
              <p:cNvPr id="16" name="Group 49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911" name="Rectangle 50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912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3</a:t>
                  </a:r>
                  <a:r>
                    <a:rPr lang="en-US" altLang="en-US" sz="2000" b="0">
                      <a:latin typeface="Times New Roman" pitchFamily="18" charset="0"/>
                    </a:rPr>
                    <a:t> </a:t>
                  </a: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6</a:t>
                  </a:r>
                  <a:r>
                    <a:rPr lang="en-US" altLang="en-US" sz="2000" b="0">
                      <a:latin typeface="Times New Roman" pitchFamily="18" charset="0"/>
                    </a:rPr>
                    <a:t> 8</a:t>
                  </a:r>
                </a:p>
              </p:txBody>
            </p:sp>
          </p:grpSp>
        </p:grpSp>
        <p:grpSp>
          <p:nvGrpSpPr>
            <p:cNvPr id="17" name="Group 52"/>
            <p:cNvGrpSpPr>
              <a:grpSpLocks/>
            </p:cNvGrpSpPr>
            <p:nvPr/>
          </p:nvGrpSpPr>
          <p:grpSpPr bwMode="auto">
            <a:xfrm>
              <a:off x="4080" y="2640"/>
              <a:ext cx="480" cy="730"/>
              <a:chOff x="4800" y="3216"/>
              <a:chExt cx="480" cy="730"/>
            </a:xfrm>
          </p:grpSpPr>
          <p:grpSp>
            <p:nvGrpSpPr>
              <p:cNvPr id="18" name="Group 53"/>
              <p:cNvGrpSpPr>
                <a:grpSpLocks/>
              </p:cNvGrpSpPr>
              <p:nvPr/>
            </p:nvGrpSpPr>
            <p:grpSpPr bwMode="auto">
              <a:xfrm>
                <a:off x="4800" y="3216"/>
                <a:ext cx="480" cy="490"/>
                <a:chOff x="3792" y="3312"/>
                <a:chExt cx="480" cy="490"/>
              </a:xfrm>
            </p:grpSpPr>
            <p:grpSp>
              <p:nvGrpSpPr>
                <p:cNvPr id="19" name="Group 54"/>
                <p:cNvGrpSpPr>
                  <a:grpSpLocks/>
                </p:cNvGrpSpPr>
                <p:nvPr/>
              </p:nvGrpSpPr>
              <p:grpSpPr bwMode="auto">
                <a:xfrm>
                  <a:off x="3792" y="3312"/>
                  <a:ext cx="480" cy="250"/>
                  <a:chOff x="432" y="3408"/>
                  <a:chExt cx="480" cy="250"/>
                </a:xfrm>
              </p:grpSpPr>
              <p:sp>
                <p:nvSpPr>
                  <p:cNvPr id="35907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5908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3</a:t>
                    </a:r>
                    <a:r>
                      <a:rPr lang="en-US" altLang="en-US" sz="2000" b="0">
                        <a:latin typeface="Times New Roman" pitchFamily="18" charset="0"/>
                      </a:rPr>
                      <a:t> 5 6</a:t>
                    </a:r>
                  </a:p>
                </p:txBody>
              </p:sp>
            </p:grpSp>
            <p:grpSp>
              <p:nvGrpSpPr>
                <p:cNvPr id="20" name="Group 57"/>
                <p:cNvGrpSpPr>
                  <a:grpSpLocks/>
                </p:cNvGrpSpPr>
                <p:nvPr/>
              </p:nvGrpSpPr>
              <p:grpSpPr bwMode="auto">
                <a:xfrm>
                  <a:off x="3792" y="3552"/>
                  <a:ext cx="480" cy="250"/>
                  <a:chOff x="432" y="3408"/>
                  <a:chExt cx="480" cy="250"/>
                </a:xfrm>
              </p:grpSpPr>
              <p:sp>
                <p:nvSpPr>
                  <p:cNvPr id="35905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80" cy="240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en-US" sz="1400"/>
                  </a:p>
                </p:txBody>
              </p:sp>
              <p:sp>
                <p:nvSpPr>
                  <p:cNvPr id="35906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3408"/>
                    <a:ext cx="4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en-US" sz="2000" b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3</a:t>
                    </a:r>
                    <a:r>
                      <a:rPr lang="en-US" altLang="en-US" sz="2000" b="0">
                        <a:latin typeface="Times New Roman" pitchFamily="18" charset="0"/>
                      </a:rPr>
                      <a:t> 5 7</a:t>
                    </a:r>
                  </a:p>
                </p:txBody>
              </p:sp>
            </p:grpSp>
          </p:grpSp>
          <p:grpSp>
            <p:nvGrpSpPr>
              <p:cNvPr id="21" name="Group 60"/>
              <p:cNvGrpSpPr>
                <a:grpSpLocks/>
              </p:cNvGrpSpPr>
              <p:nvPr/>
            </p:nvGrpSpPr>
            <p:grpSpPr bwMode="auto">
              <a:xfrm>
                <a:off x="4800" y="3696"/>
                <a:ext cx="480" cy="250"/>
                <a:chOff x="432" y="3408"/>
                <a:chExt cx="480" cy="250"/>
              </a:xfrm>
            </p:grpSpPr>
            <p:sp>
              <p:nvSpPr>
                <p:cNvPr id="35901" name="Rectangle 61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902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solidFill>
                        <a:srgbClr val="FF0000"/>
                      </a:solidFill>
                      <a:latin typeface="Times New Roman" pitchFamily="18" charset="0"/>
                    </a:rPr>
                    <a:t>6</a:t>
                  </a:r>
                  <a:r>
                    <a:rPr lang="en-US" altLang="en-US" sz="2000" b="0">
                      <a:latin typeface="Times New Roman" pitchFamily="18" charset="0"/>
                    </a:rPr>
                    <a:t> 8 9</a:t>
                  </a:r>
                </a:p>
              </p:txBody>
            </p:sp>
          </p:grpSp>
        </p:grpSp>
        <p:grpSp>
          <p:nvGrpSpPr>
            <p:cNvPr id="22" name="Group 63"/>
            <p:cNvGrpSpPr>
              <a:grpSpLocks/>
            </p:cNvGrpSpPr>
            <p:nvPr/>
          </p:nvGrpSpPr>
          <p:grpSpPr bwMode="auto">
            <a:xfrm>
              <a:off x="3024" y="1872"/>
              <a:ext cx="480" cy="490"/>
              <a:chOff x="3792" y="3312"/>
              <a:chExt cx="480" cy="490"/>
            </a:xfrm>
          </p:grpSpPr>
          <p:grpSp>
            <p:nvGrpSpPr>
              <p:cNvPr id="23" name="Group 64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897" name="Rectangle 6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8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2 3 4</a:t>
                  </a:r>
                </a:p>
              </p:txBody>
            </p:sp>
          </p:grpSp>
          <p:grpSp>
            <p:nvGrpSpPr>
              <p:cNvPr id="24" name="Group 67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895" name="Rectangle 68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6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5 6 7</a:t>
                  </a:r>
                </a:p>
              </p:txBody>
            </p:sp>
          </p:grpSp>
        </p:grpSp>
        <p:grpSp>
          <p:nvGrpSpPr>
            <p:cNvPr id="25" name="Group 70"/>
            <p:cNvGrpSpPr>
              <a:grpSpLocks/>
            </p:cNvGrpSpPr>
            <p:nvPr/>
          </p:nvGrpSpPr>
          <p:grpSpPr bwMode="auto">
            <a:xfrm>
              <a:off x="1344" y="3168"/>
              <a:ext cx="480" cy="490"/>
              <a:chOff x="3792" y="3312"/>
              <a:chExt cx="480" cy="490"/>
            </a:xfrm>
          </p:grpSpPr>
          <p:grpSp>
            <p:nvGrpSpPr>
              <p:cNvPr id="26" name="Group 7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891" name="Rectangle 7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2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1 2 4</a:t>
                  </a:r>
                </a:p>
              </p:txBody>
            </p:sp>
          </p:grpSp>
          <p:grpSp>
            <p:nvGrpSpPr>
              <p:cNvPr id="27" name="Group 7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889" name="Rectangle 7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90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4 5 7</a:t>
                  </a:r>
                </a:p>
              </p:txBody>
            </p:sp>
          </p:grpSp>
        </p:grpSp>
        <p:grpSp>
          <p:nvGrpSpPr>
            <p:cNvPr id="28" name="Group 77"/>
            <p:cNvGrpSpPr>
              <a:grpSpLocks/>
            </p:cNvGrpSpPr>
            <p:nvPr/>
          </p:nvGrpSpPr>
          <p:grpSpPr bwMode="auto">
            <a:xfrm>
              <a:off x="1920" y="3216"/>
              <a:ext cx="480" cy="490"/>
              <a:chOff x="3792" y="3312"/>
              <a:chExt cx="480" cy="490"/>
            </a:xfrm>
          </p:grpSpPr>
          <p:grpSp>
            <p:nvGrpSpPr>
              <p:cNvPr id="29" name="Group 78"/>
              <p:cNvGrpSpPr>
                <a:grpSpLocks/>
              </p:cNvGrpSpPr>
              <p:nvPr/>
            </p:nvGrpSpPr>
            <p:grpSpPr bwMode="auto">
              <a:xfrm>
                <a:off x="3792" y="3312"/>
                <a:ext cx="480" cy="250"/>
                <a:chOff x="432" y="3408"/>
                <a:chExt cx="480" cy="250"/>
              </a:xfrm>
            </p:grpSpPr>
            <p:sp>
              <p:nvSpPr>
                <p:cNvPr id="35885" name="Rectangle 79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86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1 2 5</a:t>
                  </a:r>
                </a:p>
              </p:txBody>
            </p:sp>
          </p:grpSp>
          <p:grpSp>
            <p:nvGrpSpPr>
              <p:cNvPr id="30" name="Group 81"/>
              <p:cNvGrpSpPr>
                <a:grpSpLocks/>
              </p:cNvGrpSpPr>
              <p:nvPr/>
            </p:nvGrpSpPr>
            <p:grpSpPr bwMode="auto">
              <a:xfrm>
                <a:off x="3792" y="3552"/>
                <a:ext cx="480" cy="250"/>
                <a:chOff x="432" y="3408"/>
                <a:chExt cx="480" cy="250"/>
              </a:xfrm>
            </p:grpSpPr>
            <p:sp>
              <p:nvSpPr>
                <p:cNvPr id="35883" name="Rectangle 8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5884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32" y="3408"/>
                  <a:ext cx="43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2000" b="0">
                      <a:latin typeface="Times New Roman" pitchFamily="18" charset="0"/>
                    </a:rPr>
                    <a:t>4 5 8</a:t>
                  </a:r>
                </a:p>
              </p:txBody>
            </p:sp>
          </p:grpSp>
        </p:grpSp>
        <p:grpSp>
          <p:nvGrpSpPr>
            <p:cNvPr id="31" name="Group 84"/>
            <p:cNvGrpSpPr>
              <a:grpSpLocks/>
            </p:cNvGrpSpPr>
            <p:nvPr/>
          </p:nvGrpSpPr>
          <p:grpSpPr bwMode="auto">
            <a:xfrm>
              <a:off x="3120" y="1056"/>
              <a:ext cx="192" cy="288"/>
              <a:chOff x="2064" y="1872"/>
              <a:chExt cx="192" cy="288"/>
            </a:xfrm>
          </p:grpSpPr>
          <p:sp>
            <p:nvSpPr>
              <p:cNvPr id="35878" name="Rectangle 85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192" cy="28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5879" name="Line 86"/>
              <p:cNvSpPr>
                <a:spLocks noChangeShapeType="1"/>
              </p:cNvSpPr>
              <p:nvPr/>
            </p:nvSpPr>
            <p:spPr bwMode="auto">
              <a:xfrm>
                <a:off x="2064" y="196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80" name="Line 87"/>
              <p:cNvSpPr>
                <a:spLocks noChangeShapeType="1"/>
              </p:cNvSpPr>
              <p:nvPr/>
            </p:nvSpPr>
            <p:spPr bwMode="auto">
              <a:xfrm>
                <a:off x="2064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5840" name="Group 88"/>
          <p:cNvGrpSpPr>
            <a:grpSpLocks/>
          </p:cNvGrpSpPr>
          <p:nvPr/>
        </p:nvGrpSpPr>
        <p:grpSpPr bwMode="auto">
          <a:xfrm>
            <a:off x="1212850" y="1736725"/>
            <a:ext cx="381000" cy="609600"/>
            <a:chOff x="2064" y="1872"/>
            <a:chExt cx="192" cy="288"/>
          </a:xfrm>
        </p:grpSpPr>
        <p:sp>
          <p:nvSpPr>
            <p:cNvPr id="35858" name="Rectangle 89"/>
            <p:cNvSpPr>
              <a:spLocks noChangeArrowheads="1"/>
            </p:cNvSpPr>
            <p:nvPr/>
          </p:nvSpPr>
          <p:spPr bwMode="auto">
            <a:xfrm>
              <a:off x="2064" y="187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5859" name="Line 90"/>
            <p:cNvSpPr>
              <a:spLocks noChangeShapeType="1"/>
            </p:cNvSpPr>
            <p:nvPr/>
          </p:nvSpPr>
          <p:spPr bwMode="auto">
            <a:xfrm>
              <a:off x="2064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91"/>
            <p:cNvSpPr>
              <a:spLocks noChangeShapeType="1"/>
            </p:cNvSpPr>
            <p:nvPr/>
          </p:nvSpPr>
          <p:spPr bwMode="auto">
            <a:xfrm>
              <a:off x="2064" y="20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46" name="Line 92"/>
          <p:cNvSpPr>
            <a:spLocks noChangeShapeType="1"/>
          </p:cNvSpPr>
          <p:nvPr/>
        </p:nvSpPr>
        <p:spPr bwMode="auto">
          <a:xfrm flipH="1">
            <a:off x="603250" y="2346325"/>
            <a:ext cx="769938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Line 93"/>
          <p:cNvSpPr>
            <a:spLocks noChangeShapeType="1"/>
          </p:cNvSpPr>
          <p:nvPr/>
        </p:nvSpPr>
        <p:spPr bwMode="auto">
          <a:xfrm>
            <a:off x="1365250" y="2346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Line 94"/>
          <p:cNvSpPr>
            <a:spLocks noChangeShapeType="1"/>
          </p:cNvSpPr>
          <p:nvPr/>
        </p:nvSpPr>
        <p:spPr bwMode="auto">
          <a:xfrm>
            <a:off x="1373188" y="2346325"/>
            <a:ext cx="677862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Text Box 95"/>
          <p:cNvSpPr txBox="1">
            <a:spLocks noChangeArrowheads="1"/>
          </p:cNvSpPr>
          <p:nvPr/>
        </p:nvSpPr>
        <p:spPr bwMode="auto">
          <a:xfrm>
            <a:off x="5270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itchFamily="18" charset="0"/>
              </a:rPr>
              <a:t>1,4,7</a:t>
            </a:r>
            <a:endParaRPr lang="en-US" altLang="en-US" sz="1400" b="0">
              <a:latin typeface="Times New Roman" pitchFamily="18" charset="0"/>
            </a:endParaRPr>
          </a:p>
        </p:txBody>
      </p:sp>
      <p:sp>
        <p:nvSpPr>
          <p:cNvPr id="35850" name="Text Box 96"/>
          <p:cNvSpPr txBox="1">
            <a:spLocks noChangeArrowheads="1"/>
          </p:cNvSpPr>
          <p:nvPr/>
        </p:nvSpPr>
        <p:spPr bwMode="auto">
          <a:xfrm>
            <a:off x="831850" y="2727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latin typeface="Times New Roman" pitchFamily="18" charset="0"/>
              </a:rPr>
              <a:t>2,5,8</a:t>
            </a:r>
            <a:endParaRPr lang="en-US" altLang="en-US" sz="1400" b="0">
              <a:latin typeface="Times New Roman" pitchFamily="18" charset="0"/>
            </a:endParaRPr>
          </a:p>
        </p:txBody>
      </p:sp>
      <p:sp>
        <p:nvSpPr>
          <p:cNvPr id="35851" name="Text Box 97"/>
          <p:cNvSpPr txBox="1">
            <a:spLocks noChangeArrowheads="1"/>
          </p:cNvSpPr>
          <p:nvPr/>
        </p:nvSpPr>
        <p:spPr bwMode="auto">
          <a:xfrm>
            <a:off x="1746250" y="2346325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Times New Roman" pitchFamily="18" charset="0"/>
              </a:rPr>
              <a:t>3,6,9</a:t>
            </a:r>
          </a:p>
        </p:txBody>
      </p:sp>
      <p:sp>
        <p:nvSpPr>
          <p:cNvPr id="35852" name="Text Box 98"/>
          <p:cNvSpPr txBox="1">
            <a:spLocks noChangeArrowheads="1"/>
          </p:cNvSpPr>
          <p:nvPr/>
        </p:nvSpPr>
        <p:spPr bwMode="auto">
          <a:xfrm>
            <a:off x="679450" y="1355725"/>
            <a:ext cx="1376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>
                <a:latin typeface="Times New Roman" pitchFamily="18" charset="0"/>
              </a:rPr>
              <a:t>Hash Function</a:t>
            </a: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35853" name="Text Box 99"/>
          <p:cNvSpPr txBox="1">
            <a:spLocks noChangeArrowheads="1"/>
          </p:cNvSpPr>
          <p:nvPr/>
        </p:nvSpPr>
        <p:spPr bwMode="auto">
          <a:xfrm>
            <a:off x="3810000" y="1355725"/>
            <a:ext cx="2279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itchFamily="18" charset="0"/>
              </a:rPr>
              <a:t>Candidate Hash Tree</a:t>
            </a:r>
            <a:endParaRPr lang="en-US" altLang="en-US" b="0">
              <a:latin typeface="Times New Roman" pitchFamily="18" charset="0"/>
            </a:endParaRPr>
          </a:p>
        </p:txBody>
      </p:sp>
      <p:sp>
        <p:nvSpPr>
          <p:cNvPr id="35854" name="Rectangle 100"/>
          <p:cNvSpPr>
            <a:spLocks noChangeArrowheads="1"/>
          </p:cNvSpPr>
          <p:nvPr/>
        </p:nvSpPr>
        <p:spPr bwMode="auto">
          <a:xfrm>
            <a:off x="3810000" y="4953000"/>
            <a:ext cx="1066800" cy="6858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5855" name="Rectangle 101"/>
          <p:cNvSpPr>
            <a:spLocks noChangeArrowheads="1"/>
          </p:cNvSpPr>
          <p:nvPr/>
        </p:nvSpPr>
        <p:spPr bwMode="auto">
          <a:xfrm>
            <a:off x="5105400" y="4038600"/>
            <a:ext cx="3657600" cy="15240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5856" name="Text Box 102"/>
          <p:cNvSpPr txBox="1">
            <a:spLocks noChangeArrowheads="1"/>
          </p:cNvSpPr>
          <p:nvPr/>
        </p:nvSpPr>
        <p:spPr bwMode="auto">
          <a:xfrm>
            <a:off x="304800" y="44958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solidFill>
                  <a:srgbClr val="0C6D9C"/>
                </a:solidFill>
              </a:rPr>
              <a:t>Hash on 3, 6 or 9</a:t>
            </a:r>
            <a:endParaRPr lang="en-US" altLang="en-US" sz="2000" b="0">
              <a:solidFill>
                <a:srgbClr val="0C6D9C"/>
              </a:solidFill>
              <a:sym typeface="Symbol" pitchFamily="18" charset="2"/>
            </a:endParaRPr>
          </a:p>
        </p:txBody>
      </p:sp>
      <p:sp>
        <p:nvSpPr>
          <p:cNvPr id="35857" name="Rectangle 103"/>
          <p:cNvSpPr>
            <a:spLocks noChangeArrowheads="1"/>
          </p:cNvSpPr>
          <p:nvPr/>
        </p:nvSpPr>
        <p:spPr bwMode="auto">
          <a:xfrm>
            <a:off x="3657600" y="3810000"/>
            <a:ext cx="990600" cy="609600"/>
          </a:xfrm>
          <a:prstGeom prst="rect">
            <a:avLst/>
          </a:prstGeom>
          <a:noFill/>
          <a:ln w="12700">
            <a:solidFill>
              <a:srgbClr val="008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04" name="Slide Number Placeholder 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106" name="Rectangle 10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09000" cy="1066800"/>
          </a:xfrm>
        </p:spPr>
        <p:txBody>
          <a:bodyPr/>
          <a:lstStyle/>
          <a:p>
            <a:r>
              <a:rPr lang="en-US" altLang="en-US" dirty="0"/>
              <a:t>Subset Operation- Using a Hash Tree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2286000"/>
            <a:ext cx="5457825" cy="3744913"/>
            <a:chOff x="1248" y="1392"/>
            <a:chExt cx="4134" cy="2678"/>
          </a:xfrm>
        </p:grpSpPr>
        <p:sp>
          <p:nvSpPr>
            <p:cNvPr id="36911" name="Line 4"/>
            <p:cNvSpPr>
              <a:spLocks noChangeShapeType="1"/>
            </p:cNvSpPr>
            <p:nvPr/>
          </p:nvSpPr>
          <p:spPr bwMode="auto">
            <a:xfrm flipH="1">
              <a:off x="211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2" name="Line 5"/>
            <p:cNvSpPr>
              <a:spLocks noChangeShapeType="1"/>
            </p:cNvSpPr>
            <p:nvPr/>
          </p:nvSpPr>
          <p:spPr bwMode="auto">
            <a:xfrm>
              <a:off x="3192" y="168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3" name="Line 6"/>
            <p:cNvSpPr>
              <a:spLocks noChangeShapeType="1"/>
            </p:cNvSpPr>
            <p:nvPr/>
          </p:nvSpPr>
          <p:spPr bwMode="auto">
            <a:xfrm>
              <a:off x="3192" y="1680"/>
              <a:ext cx="108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4" name="Line 7"/>
            <p:cNvSpPr>
              <a:spLocks noChangeShapeType="1"/>
            </p:cNvSpPr>
            <p:nvPr/>
          </p:nvSpPr>
          <p:spPr bwMode="auto">
            <a:xfrm flipH="1">
              <a:off x="1488" y="2448"/>
              <a:ext cx="613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5" name="Line 8"/>
            <p:cNvSpPr>
              <a:spLocks noChangeShapeType="1"/>
            </p:cNvSpPr>
            <p:nvPr/>
          </p:nvSpPr>
          <p:spPr bwMode="auto">
            <a:xfrm>
              <a:off x="2101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6" name="Line 9"/>
            <p:cNvSpPr>
              <a:spLocks noChangeShapeType="1"/>
            </p:cNvSpPr>
            <p:nvPr/>
          </p:nvSpPr>
          <p:spPr bwMode="auto">
            <a:xfrm>
              <a:off x="2101" y="2448"/>
              <a:ext cx="491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7" name="Line 10"/>
            <p:cNvSpPr>
              <a:spLocks noChangeShapeType="1"/>
            </p:cNvSpPr>
            <p:nvPr/>
          </p:nvSpPr>
          <p:spPr bwMode="auto">
            <a:xfrm flipH="1">
              <a:off x="3504" y="2448"/>
              <a:ext cx="76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8" name="Line 11"/>
            <p:cNvSpPr>
              <a:spLocks noChangeShapeType="1"/>
            </p:cNvSpPr>
            <p:nvPr/>
          </p:nvSpPr>
          <p:spPr bwMode="auto">
            <a:xfrm>
              <a:off x="4272" y="244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Line 12"/>
            <p:cNvSpPr>
              <a:spLocks noChangeShapeType="1"/>
            </p:cNvSpPr>
            <p:nvPr/>
          </p:nvSpPr>
          <p:spPr bwMode="auto">
            <a:xfrm>
              <a:off x="4272" y="2448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0" name="Line 13"/>
            <p:cNvSpPr>
              <a:spLocks noChangeShapeType="1"/>
            </p:cNvSpPr>
            <p:nvPr/>
          </p:nvSpPr>
          <p:spPr bwMode="auto">
            <a:xfrm flipH="1">
              <a:off x="1536" y="3120"/>
              <a:ext cx="57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Line 14"/>
            <p:cNvSpPr>
              <a:spLocks noChangeShapeType="1"/>
            </p:cNvSpPr>
            <p:nvPr/>
          </p:nvSpPr>
          <p:spPr bwMode="auto">
            <a:xfrm>
              <a:off x="2112" y="31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Line 15"/>
            <p:cNvSpPr>
              <a:spLocks noChangeShapeType="1"/>
            </p:cNvSpPr>
            <p:nvPr/>
          </p:nvSpPr>
          <p:spPr bwMode="auto">
            <a:xfrm>
              <a:off x="2112" y="3120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Rectangle 16"/>
            <p:cNvSpPr>
              <a:spLocks noChangeArrowheads="1"/>
            </p:cNvSpPr>
            <p:nvPr/>
          </p:nvSpPr>
          <p:spPr bwMode="auto">
            <a:xfrm>
              <a:off x="201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24" name="Line 17"/>
            <p:cNvSpPr>
              <a:spLocks noChangeShapeType="1"/>
            </p:cNvSpPr>
            <p:nvPr/>
          </p:nvSpPr>
          <p:spPr bwMode="auto">
            <a:xfrm>
              <a:off x="201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5" name="Line 18"/>
            <p:cNvSpPr>
              <a:spLocks noChangeShapeType="1"/>
            </p:cNvSpPr>
            <p:nvPr/>
          </p:nvSpPr>
          <p:spPr bwMode="auto">
            <a:xfrm>
              <a:off x="201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6" name="Rectangle 19"/>
            <p:cNvSpPr>
              <a:spLocks noChangeArrowheads="1"/>
            </p:cNvSpPr>
            <p:nvPr/>
          </p:nvSpPr>
          <p:spPr bwMode="auto">
            <a:xfrm>
              <a:off x="4176" y="2160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27" name="Line 20"/>
            <p:cNvSpPr>
              <a:spLocks noChangeShapeType="1"/>
            </p:cNvSpPr>
            <p:nvPr/>
          </p:nvSpPr>
          <p:spPr bwMode="auto">
            <a:xfrm>
              <a:off x="4176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8" name="Line 21"/>
            <p:cNvSpPr>
              <a:spLocks noChangeShapeType="1"/>
            </p:cNvSpPr>
            <p:nvPr/>
          </p:nvSpPr>
          <p:spPr bwMode="auto">
            <a:xfrm>
              <a:off x="4176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9" name="Rectangle 22"/>
            <p:cNvSpPr>
              <a:spLocks noChangeArrowheads="1"/>
            </p:cNvSpPr>
            <p:nvPr/>
          </p:nvSpPr>
          <p:spPr bwMode="auto">
            <a:xfrm>
              <a:off x="2016" y="283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0" name="Line 23"/>
            <p:cNvSpPr>
              <a:spLocks noChangeShapeType="1"/>
            </p:cNvSpPr>
            <p:nvPr/>
          </p:nvSpPr>
          <p:spPr bwMode="auto">
            <a:xfrm>
              <a:off x="2016" y="302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1" name="Line 24"/>
            <p:cNvSpPr>
              <a:spLocks noChangeShapeType="1"/>
            </p:cNvSpPr>
            <p:nvPr/>
          </p:nvSpPr>
          <p:spPr bwMode="auto">
            <a:xfrm>
              <a:off x="2016" y="29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32" name="Rectangle 25"/>
            <p:cNvSpPr>
              <a:spLocks noChangeArrowheads="1"/>
            </p:cNvSpPr>
            <p:nvPr/>
          </p:nvSpPr>
          <p:spPr bwMode="auto">
            <a:xfrm>
              <a:off x="2496" y="350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3" name="Text Box 26"/>
            <p:cNvSpPr txBox="1">
              <a:spLocks noChangeArrowheads="1"/>
            </p:cNvSpPr>
            <p:nvPr/>
          </p:nvSpPr>
          <p:spPr bwMode="auto">
            <a:xfrm>
              <a:off x="2496" y="352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1 5 9</a:t>
              </a:r>
              <a:endParaRPr lang="en-US" altLang="en-US" sz="2000" b="0">
                <a:latin typeface="Times New Roman" pitchFamily="18" charset="0"/>
              </a:endParaRPr>
            </a:p>
          </p:txBody>
        </p:sp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1248" y="2784"/>
              <a:ext cx="486" cy="279"/>
              <a:chOff x="1248" y="2784"/>
              <a:chExt cx="486" cy="279"/>
            </a:xfrm>
          </p:grpSpPr>
          <p:sp>
            <p:nvSpPr>
              <p:cNvPr id="36976" name="Rectangle 28"/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77" name="Text Box 29"/>
              <p:cNvSpPr txBox="1">
                <a:spLocks noChangeArrowheads="1"/>
              </p:cNvSpPr>
              <p:nvPr/>
            </p:nvSpPr>
            <p:spPr bwMode="auto">
              <a:xfrm>
                <a:off x="1248" y="2801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1 4 5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sp>
          <p:nvSpPr>
            <p:cNvPr id="36935" name="Rectangle 30"/>
            <p:cNvSpPr>
              <a:spLocks noChangeArrowheads="1"/>
            </p:cNvSpPr>
            <p:nvPr/>
          </p:nvSpPr>
          <p:spPr bwMode="auto">
            <a:xfrm>
              <a:off x="2400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6" name="Text Box 31"/>
            <p:cNvSpPr txBox="1">
              <a:spLocks noChangeArrowheads="1"/>
            </p:cNvSpPr>
            <p:nvPr/>
          </p:nvSpPr>
          <p:spPr bwMode="auto">
            <a:xfrm>
              <a:off x="2400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1 3 6</a:t>
              </a:r>
              <a:endParaRPr lang="en-US" altLang="en-US" sz="2000" b="0">
                <a:latin typeface="Times New Roman" pitchFamily="18" charset="0"/>
              </a:endParaRPr>
            </a:p>
          </p:txBody>
        </p:sp>
        <p:sp>
          <p:nvSpPr>
            <p:cNvPr id="36937" name="Rectangle 32"/>
            <p:cNvSpPr>
              <a:spLocks noChangeArrowheads="1"/>
            </p:cNvSpPr>
            <p:nvPr/>
          </p:nvSpPr>
          <p:spPr bwMode="auto">
            <a:xfrm>
              <a:off x="3264" y="2976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38" name="Text Box 33"/>
            <p:cNvSpPr txBox="1">
              <a:spLocks noChangeArrowheads="1"/>
            </p:cNvSpPr>
            <p:nvPr/>
          </p:nvSpPr>
          <p:spPr bwMode="auto">
            <a:xfrm>
              <a:off x="3264" y="2993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3 4 5</a:t>
              </a:r>
              <a:endParaRPr lang="en-US" altLang="en-US" sz="2000" b="0">
                <a:latin typeface="Times New Roman" pitchFamily="18" charset="0"/>
              </a:endParaRPr>
            </a:p>
          </p:txBody>
        </p:sp>
        <p:grpSp>
          <p:nvGrpSpPr>
            <p:cNvPr id="4" name="Group 34"/>
            <p:cNvGrpSpPr>
              <a:grpSpLocks/>
            </p:cNvGrpSpPr>
            <p:nvPr/>
          </p:nvGrpSpPr>
          <p:grpSpPr bwMode="auto">
            <a:xfrm>
              <a:off x="4896" y="2976"/>
              <a:ext cx="486" cy="279"/>
              <a:chOff x="432" y="3408"/>
              <a:chExt cx="486" cy="279"/>
            </a:xfrm>
          </p:grpSpPr>
          <p:sp>
            <p:nvSpPr>
              <p:cNvPr id="36974" name="Rectangle 35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75" name="Text Box 36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3 6 7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5" name="Group 37"/>
            <p:cNvGrpSpPr>
              <a:grpSpLocks/>
            </p:cNvGrpSpPr>
            <p:nvPr/>
          </p:nvGrpSpPr>
          <p:grpSpPr bwMode="auto">
            <a:xfrm>
              <a:off x="4896" y="3216"/>
              <a:ext cx="486" cy="280"/>
              <a:chOff x="432" y="3408"/>
              <a:chExt cx="486" cy="280"/>
            </a:xfrm>
          </p:grpSpPr>
          <p:sp>
            <p:nvSpPr>
              <p:cNvPr id="36972" name="Rectangle 3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73" name="Text Box 39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3 6 8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6" name="Group 40"/>
            <p:cNvGrpSpPr>
              <a:grpSpLocks/>
            </p:cNvGrpSpPr>
            <p:nvPr/>
          </p:nvGrpSpPr>
          <p:grpSpPr bwMode="auto">
            <a:xfrm>
              <a:off x="4032" y="2976"/>
              <a:ext cx="488" cy="519"/>
              <a:chOff x="3792" y="3312"/>
              <a:chExt cx="488" cy="519"/>
            </a:xfrm>
          </p:grpSpPr>
          <p:grpSp>
            <p:nvGrpSpPr>
              <p:cNvPr id="7" name="Group 41"/>
              <p:cNvGrpSpPr>
                <a:grpSpLocks/>
              </p:cNvGrpSpPr>
              <p:nvPr/>
            </p:nvGrpSpPr>
            <p:grpSpPr bwMode="auto">
              <a:xfrm>
                <a:off x="3792" y="3312"/>
                <a:ext cx="488" cy="279"/>
                <a:chOff x="432" y="3408"/>
                <a:chExt cx="488" cy="279"/>
              </a:xfrm>
            </p:grpSpPr>
            <p:sp>
              <p:nvSpPr>
                <p:cNvPr id="36970" name="Rectangle 42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6971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itchFamily="18" charset="0"/>
                    </a:rPr>
                    <a:t>3 5 6</a:t>
                  </a:r>
                  <a:endParaRPr lang="en-US" altLang="en-US" sz="2000" b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8" name="Group 44"/>
              <p:cNvGrpSpPr>
                <a:grpSpLocks/>
              </p:cNvGrpSpPr>
              <p:nvPr/>
            </p:nvGrpSpPr>
            <p:grpSpPr bwMode="auto">
              <a:xfrm>
                <a:off x="3792" y="3552"/>
                <a:ext cx="488" cy="279"/>
                <a:chOff x="432" y="3408"/>
                <a:chExt cx="488" cy="279"/>
              </a:xfrm>
            </p:grpSpPr>
            <p:sp>
              <p:nvSpPr>
                <p:cNvPr id="36968" name="Rectangle 45"/>
                <p:cNvSpPr>
                  <a:spLocks noChangeArrowheads="1"/>
                </p:cNvSpPr>
                <p:nvPr/>
              </p:nvSpPr>
              <p:spPr bwMode="auto">
                <a:xfrm>
                  <a:off x="432" y="3408"/>
                  <a:ext cx="480" cy="240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696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34" y="3425"/>
                  <a:ext cx="486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800" b="0">
                      <a:latin typeface="Times New Roman" pitchFamily="18" charset="0"/>
                    </a:rPr>
                    <a:t>3 5 7</a:t>
                  </a:r>
                  <a:endParaRPr lang="en-US" altLang="en-US" sz="2000" b="0"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4032" y="3456"/>
              <a:ext cx="488" cy="279"/>
              <a:chOff x="432" y="3408"/>
              <a:chExt cx="488" cy="279"/>
            </a:xfrm>
          </p:grpSpPr>
          <p:sp>
            <p:nvSpPr>
              <p:cNvPr id="36964" name="Rectangle 48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65" name="Text Box 49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6 8 9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10" name="Group 50"/>
            <p:cNvGrpSpPr>
              <a:grpSpLocks/>
            </p:cNvGrpSpPr>
            <p:nvPr/>
          </p:nvGrpSpPr>
          <p:grpSpPr bwMode="auto">
            <a:xfrm>
              <a:off x="2976" y="2208"/>
              <a:ext cx="486" cy="279"/>
              <a:chOff x="432" y="3408"/>
              <a:chExt cx="486" cy="279"/>
            </a:xfrm>
          </p:grpSpPr>
          <p:sp>
            <p:nvSpPr>
              <p:cNvPr id="36962" name="Rectangle 5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63" name="Text Box 52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2 3 4</a:t>
                </a:r>
              </a:p>
            </p:txBody>
          </p:sp>
        </p:grpSp>
        <p:grpSp>
          <p:nvGrpSpPr>
            <p:cNvPr id="11" name="Group 53"/>
            <p:cNvGrpSpPr>
              <a:grpSpLocks/>
            </p:cNvGrpSpPr>
            <p:nvPr/>
          </p:nvGrpSpPr>
          <p:grpSpPr bwMode="auto">
            <a:xfrm>
              <a:off x="2976" y="2448"/>
              <a:ext cx="486" cy="280"/>
              <a:chOff x="432" y="3408"/>
              <a:chExt cx="486" cy="280"/>
            </a:xfrm>
          </p:grpSpPr>
          <p:sp>
            <p:nvSpPr>
              <p:cNvPr id="36960" name="Rectangle 5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61" name="Text Box 55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5 6 7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12" name="Group 56"/>
            <p:cNvGrpSpPr>
              <a:grpSpLocks/>
            </p:cNvGrpSpPr>
            <p:nvPr/>
          </p:nvGrpSpPr>
          <p:grpSpPr bwMode="auto">
            <a:xfrm>
              <a:off x="1296" y="3504"/>
              <a:ext cx="486" cy="279"/>
              <a:chOff x="432" y="3408"/>
              <a:chExt cx="486" cy="279"/>
            </a:xfrm>
          </p:grpSpPr>
          <p:sp>
            <p:nvSpPr>
              <p:cNvPr id="36958" name="Rectangle 57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9" name="Text Box 58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1 2 4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13" name="Group 59"/>
            <p:cNvGrpSpPr>
              <a:grpSpLocks/>
            </p:cNvGrpSpPr>
            <p:nvPr/>
          </p:nvGrpSpPr>
          <p:grpSpPr bwMode="auto">
            <a:xfrm>
              <a:off x="1296" y="3744"/>
              <a:ext cx="486" cy="281"/>
              <a:chOff x="432" y="3408"/>
              <a:chExt cx="486" cy="281"/>
            </a:xfrm>
          </p:grpSpPr>
          <p:sp>
            <p:nvSpPr>
              <p:cNvPr id="36956" name="Rectangle 60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7" name="Text Box 61"/>
              <p:cNvSpPr txBox="1">
                <a:spLocks noChangeArrowheads="1"/>
              </p:cNvSpPr>
              <p:nvPr/>
            </p:nvSpPr>
            <p:spPr bwMode="auto">
              <a:xfrm>
                <a:off x="432" y="3426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4 5 7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14" name="Group 62"/>
            <p:cNvGrpSpPr>
              <a:grpSpLocks/>
            </p:cNvGrpSpPr>
            <p:nvPr/>
          </p:nvGrpSpPr>
          <p:grpSpPr bwMode="auto">
            <a:xfrm>
              <a:off x="1872" y="3552"/>
              <a:ext cx="486" cy="280"/>
              <a:chOff x="432" y="3408"/>
              <a:chExt cx="486" cy="280"/>
            </a:xfrm>
          </p:grpSpPr>
          <p:sp>
            <p:nvSpPr>
              <p:cNvPr id="36954" name="Rectangle 63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5" name="Text Box 64"/>
              <p:cNvSpPr txBox="1">
                <a:spLocks noChangeArrowheads="1"/>
              </p:cNvSpPr>
              <p:nvPr/>
            </p:nvSpPr>
            <p:spPr bwMode="auto">
              <a:xfrm>
                <a:off x="432" y="3425"/>
                <a:ext cx="48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1 2 5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15" name="Group 65"/>
            <p:cNvGrpSpPr>
              <a:grpSpLocks/>
            </p:cNvGrpSpPr>
            <p:nvPr/>
          </p:nvGrpSpPr>
          <p:grpSpPr bwMode="auto">
            <a:xfrm>
              <a:off x="1872" y="3792"/>
              <a:ext cx="486" cy="278"/>
              <a:chOff x="432" y="3408"/>
              <a:chExt cx="486" cy="278"/>
            </a:xfrm>
          </p:grpSpPr>
          <p:sp>
            <p:nvSpPr>
              <p:cNvPr id="36952" name="Rectangle 66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6953" name="Text Box 67"/>
              <p:cNvSpPr txBox="1">
                <a:spLocks noChangeArrowheads="1"/>
              </p:cNvSpPr>
              <p:nvPr/>
            </p:nvSpPr>
            <p:spPr bwMode="auto">
              <a:xfrm>
                <a:off x="432" y="3424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4 5 8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sp>
          <p:nvSpPr>
            <p:cNvPr id="36949" name="Rectangle 68"/>
            <p:cNvSpPr>
              <a:spLocks noChangeArrowheads="1"/>
            </p:cNvSpPr>
            <p:nvPr/>
          </p:nvSpPr>
          <p:spPr bwMode="auto">
            <a:xfrm>
              <a:off x="3072" y="1392"/>
              <a:ext cx="19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950" name="Line 69"/>
            <p:cNvSpPr>
              <a:spLocks noChangeShapeType="1"/>
            </p:cNvSpPr>
            <p:nvPr/>
          </p:nvSpPr>
          <p:spPr bwMode="auto">
            <a:xfrm>
              <a:off x="3072" y="1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51" name="Line 70"/>
            <p:cNvSpPr>
              <a:spLocks noChangeShapeType="1"/>
            </p:cNvSpPr>
            <p:nvPr/>
          </p:nvSpPr>
          <p:spPr bwMode="auto">
            <a:xfrm>
              <a:off x="3072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71"/>
          <p:cNvGrpSpPr>
            <a:grpSpLocks/>
          </p:cNvGrpSpPr>
          <p:nvPr/>
        </p:nvGrpSpPr>
        <p:grpSpPr bwMode="auto">
          <a:xfrm>
            <a:off x="2895600" y="1371600"/>
            <a:ext cx="1073150" cy="396875"/>
            <a:chOff x="4416" y="1440"/>
            <a:chExt cx="676" cy="250"/>
          </a:xfrm>
        </p:grpSpPr>
        <p:sp>
          <p:nvSpPr>
            <p:cNvPr id="36909" name="Rectangle 72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>
                <a:latin typeface="Wingdings" pitchFamily="2" charset="2"/>
              </a:endParaRPr>
            </a:p>
          </p:txBody>
        </p:sp>
        <p:sp>
          <p:nvSpPr>
            <p:cNvPr id="36910" name="Text Box 73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itchFamily="18" charset="0"/>
                </a:rPr>
                <a:t>1 2 3 5 6</a:t>
              </a:r>
            </a:p>
          </p:txBody>
        </p:sp>
      </p:grpSp>
      <p:sp>
        <p:nvSpPr>
          <p:cNvPr id="36869" name="Line 74"/>
          <p:cNvSpPr>
            <a:spLocks noChangeShapeType="1"/>
          </p:cNvSpPr>
          <p:nvPr/>
        </p:nvSpPr>
        <p:spPr bwMode="auto">
          <a:xfrm>
            <a:off x="3429000" y="17526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Line 75"/>
          <p:cNvSpPr>
            <a:spLocks noChangeShapeType="1"/>
          </p:cNvSpPr>
          <p:nvPr/>
        </p:nvSpPr>
        <p:spPr bwMode="auto">
          <a:xfrm>
            <a:off x="1981200" y="25146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Line 76"/>
          <p:cNvSpPr>
            <a:spLocks noChangeShapeType="1"/>
          </p:cNvSpPr>
          <p:nvPr/>
        </p:nvSpPr>
        <p:spPr bwMode="auto">
          <a:xfrm flipH="1">
            <a:off x="3505200" y="25908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Line 77"/>
          <p:cNvSpPr>
            <a:spLocks noChangeShapeType="1"/>
          </p:cNvSpPr>
          <p:nvPr/>
        </p:nvSpPr>
        <p:spPr bwMode="auto">
          <a:xfrm flipH="1">
            <a:off x="4876800" y="31242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" name="Group 78"/>
          <p:cNvGrpSpPr>
            <a:grpSpLocks/>
          </p:cNvGrpSpPr>
          <p:nvPr/>
        </p:nvGrpSpPr>
        <p:grpSpPr bwMode="auto">
          <a:xfrm>
            <a:off x="1295400" y="2057400"/>
            <a:ext cx="1371600" cy="396875"/>
            <a:chOff x="1344" y="1536"/>
            <a:chExt cx="863" cy="226"/>
          </a:xfrm>
        </p:grpSpPr>
        <p:grpSp>
          <p:nvGrpSpPr>
            <p:cNvPr id="18" name="Group 79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6907" name="Rectangle 8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6908" name="Text Box 8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+</a:t>
                </a:r>
              </a:p>
            </p:txBody>
          </p:sp>
        </p:grpSp>
        <p:grpSp>
          <p:nvGrpSpPr>
            <p:cNvPr id="19" name="Group 82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6905" name="Rectangle 8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6906" name="Text Box 8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2 3 5 6</a:t>
                </a:r>
              </a:p>
            </p:txBody>
          </p:sp>
        </p:grpSp>
      </p:grpSp>
      <p:grpSp>
        <p:nvGrpSpPr>
          <p:cNvPr id="20" name="Group 85"/>
          <p:cNvGrpSpPr>
            <a:grpSpLocks/>
          </p:cNvGrpSpPr>
          <p:nvPr/>
        </p:nvGrpSpPr>
        <p:grpSpPr bwMode="auto">
          <a:xfrm>
            <a:off x="4038600" y="2209800"/>
            <a:ext cx="1149350" cy="396875"/>
            <a:chOff x="2880" y="1632"/>
            <a:chExt cx="724" cy="250"/>
          </a:xfrm>
        </p:grpSpPr>
        <p:grpSp>
          <p:nvGrpSpPr>
            <p:cNvPr id="21" name="Group 8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6901" name="Rectangle 8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6902" name="Text Box 8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3 5 6</a:t>
                </a:r>
              </a:p>
            </p:txBody>
          </p:sp>
        </p:grpSp>
        <p:grpSp>
          <p:nvGrpSpPr>
            <p:cNvPr id="22" name="Group 8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6899" name="Rectangle 9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6900" name="Text Box 9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2 +</a:t>
                </a:r>
              </a:p>
            </p:txBody>
          </p:sp>
        </p:grpSp>
      </p:grpSp>
      <p:grpSp>
        <p:nvGrpSpPr>
          <p:cNvPr id="23" name="Group 92"/>
          <p:cNvGrpSpPr>
            <a:grpSpLocks/>
          </p:cNvGrpSpPr>
          <p:nvPr/>
        </p:nvGrpSpPr>
        <p:grpSpPr bwMode="auto">
          <a:xfrm>
            <a:off x="5334000" y="2743200"/>
            <a:ext cx="958850" cy="396875"/>
            <a:chOff x="3792" y="2064"/>
            <a:chExt cx="604" cy="250"/>
          </a:xfrm>
        </p:grpSpPr>
        <p:grpSp>
          <p:nvGrpSpPr>
            <p:cNvPr id="24" name="Group 9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6895" name="Rectangle 9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6896" name="Text Box 9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5 6</a:t>
                </a:r>
              </a:p>
            </p:txBody>
          </p:sp>
        </p:grpSp>
        <p:grpSp>
          <p:nvGrpSpPr>
            <p:cNvPr id="25" name="Group 9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6893" name="Rectangle 9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6894" name="Text Box 9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+</a:t>
                </a:r>
              </a:p>
            </p:txBody>
          </p:sp>
        </p:grpSp>
      </p:grpSp>
      <p:grpSp>
        <p:nvGrpSpPr>
          <p:cNvPr id="26" name="Group 99"/>
          <p:cNvGrpSpPr>
            <a:grpSpLocks/>
          </p:cNvGrpSpPr>
          <p:nvPr/>
        </p:nvGrpSpPr>
        <p:grpSpPr bwMode="auto">
          <a:xfrm>
            <a:off x="6477000" y="1219200"/>
            <a:ext cx="1654175" cy="1692275"/>
            <a:chOff x="96" y="1097"/>
            <a:chExt cx="1141" cy="1122"/>
          </a:xfrm>
        </p:grpSpPr>
        <p:sp>
          <p:nvSpPr>
            <p:cNvPr id="36878" name="Text Box 100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Times New Roman" pitchFamily="18" charset="0"/>
                </a:rPr>
                <a:t>1,4,7</a:t>
              </a:r>
              <a:endParaRPr lang="en-US" altLang="en-US" sz="1400" b="0">
                <a:latin typeface="Times New Roman" pitchFamily="18" charset="0"/>
              </a:endParaRPr>
            </a:p>
          </p:txBody>
        </p:sp>
        <p:grpSp>
          <p:nvGrpSpPr>
            <p:cNvPr id="27" name="Group 101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6880" name="Text Box 102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b="0">
                  <a:latin typeface="Wingdings" pitchFamily="2" charset="2"/>
                </a:endParaRPr>
              </a:p>
            </p:txBody>
          </p:sp>
          <p:grpSp>
            <p:nvGrpSpPr>
              <p:cNvPr id="28" name="Group 103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6888" name="Rectangle 104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6889" name="Line 105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890" name="Line 106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6882" name="Line 107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3" name="Line 108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4" name="Line 109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85" name="Text Box 110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itchFamily="18" charset="0"/>
                  </a:rPr>
                  <a:t>2,5,8</a:t>
                </a:r>
                <a:endParaRPr lang="en-US" altLang="en-US" sz="1400" b="0">
                  <a:latin typeface="Times New Roman" pitchFamily="18" charset="0"/>
                </a:endParaRPr>
              </a:p>
            </p:txBody>
          </p:sp>
          <p:sp>
            <p:nvSpPr>
              <p:cNvPr id="36886" name="Text Box 111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itchFamily="18" charset="0"/>
                  </a:rPr>
                  <a:t>3,6,9</a:t>
                </a:r>
              </a:p>
            </p:txBody>
          </p:sp>
          <p:sp>
            <p:nvSpPr>
              <p:cNvPr id="36887" name="Text Box 112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Times New Roman" pitchFamily="18" charset="0"/>
                  </a:rPr>
                  <a:t>Hash Function</a:t>
                </a:r>
                <a:endParaRPr lang="en-US" altLang="en-US" b="0">
                  <a:latin typeface="Times New Roman" pitchFamily="18" charset="0"/>
                </a:endParaRPr>
              </a:p>
            </p:txBody>
          </p:sp>
        </p:grpSp>
      </p:grpSp>
      <p:sp>
        <p:nvSpPr>
          <p:cNvPr id="36877" name="Text Box 113"/>
          <p:cNvSpPr txBox="1">
            <a:spLocks noChangeArrowheads="1"/>
          </p:cNvSpPr>
          <p:nvPr/>
        </p:nvSpPr>
        <p:spPr bwMode="auto">
          <a:xfrm>
            <a:off x="3962400" y="13716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transaction</a:t>
            </a:r>
          </a:p>
        </p:txBody>
      </p:sp>
      <p:sp>
        <p:nvSpPr>
          <p:cNvPr id="114" name="Slide Number Placeholder 1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116" name="Rectangle 103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09000" cy="1066800"/>
          </a:xfrm>
        </p:spPr>
        <p:txBody>
          <a:bodyPr/>
          <a:lstStyle/>
          <a:p>
            <a:r>
              <a:rPr lang="en-US" altLang="en-US" dirty="0"/>
              <a:t>Subset Operation- Using a Hash Tree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Support Counting Using a Hash Tree</a:t>
            </a:r>
          </a:p>
        </p:txBody>
      </p:sp>
      <p:sp>
        <p:nvSpPr>
          <p:cNvPr id="37891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6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9" name="Line 11"/>
          <p:cNvSpPr>
            <a:spLocks noChangeShapeType="1"/>
          </p:cNvSpPr>
          <p:nvPr/>
        </p:nvSpPr>
        <p:spPr bwMode="auto">
          <a:xfrm>
            <a:off x="5614988" y="3838575"/>
            <a:ext cx="1139825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3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04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5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6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8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9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0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1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2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3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1 5 9</a:t>
            </a:r>
            <a:endParaRPr lang="en-US" altLang="en-US" sz="2000" b="0">
              <a:latin typeface="Times New Roman" pitchFamily="18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8023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24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1 4 5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sp>
        <p:nvSpPr>
          <p:cNvPr id="37915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6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1 3 6</a:t>
            </a:r>
            <a:endParaRPr lang="en-US" altLang="en-US" sz="2000" b="0">
              <a:latin typeface="Times New Roman" pitchFamily="18" charset="0"/>
            </a:endParaRPr>
          </a:p>
        </p:txBody>
      </p:sp>
      <p:sp>
        <p:nvSpPr>
          <p:cNvPr id="37917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18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3 4 5</a:t>
            </a:r>
            <a:endParaRPr lang="en-US" altLang="en-US" sz="2000" b="0">
              <a:latin typeface="Times New Roman" pitchFamily="18" charset="0"/>
            </a:endParaRP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8021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22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3 6 7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8019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20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3 6 8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6" name="Group 40"/>
            <p:cNvGrpSpPr>
              <a:grpSpLocks/>
            </p:cNvGrpSpPr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8017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8018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3 5 6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7" name="Group 43"/>
            <p:cNvGrpSpPr>
              <a:grpSpLocks/>
            </p:cNvGrpSpPr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8015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8016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3 5 7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8011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12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6 8 9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8009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10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2 3 4</a:t>
              </a:r>
            </a:p>
          </p:txBody>
        </p:sp>
      </p:grp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8007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8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5 6 7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1" name="Group 55"/>
          <p:cNvGrpSpPr>
            <a:grpSpLocks/>
          </p:cNvGrpSpPr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8005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6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1 2 4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2" name="Group 58"/>
          <p:cNvGrpSpPr>
            <a:grpSpLocks/>
          </p:cNvGrpSpPr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8003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4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4 5 7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8001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2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1 2 5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4" name="Group 64"/>
          <p:cNvGrpSpPr>
            <a:grpSpLocks/>
          </p:cNvGrpSpPr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7999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8000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4 5 8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sp>
        <p:nvSpPr>
          <p:cNvPr id="37929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7930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1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70"/>
          <p:cNvGrpSpPr>
            <a:grpSpLocks/>
          </p:cNvGrpSpPr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7986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Times New Roman" pitchFamily="18" charset="0"/>
                </a:rPr>
                <a:t>1,4,7</a:t>
              </a:r>
              <a:endParaRPr lang="en-US" altLang="en-US" sz="1400" b="0">
                <a:latin typeface="Times New Roman" pitchFamily="18" charset="0"/>
              </a:endParaRPr>
            </a:p>
          </p:txBody>
        </p:sp>
        <p:grpSp>
          <p:nvGrpSpPr>
            <p:cNvPr id="16" name="Group 72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7988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b="0">
                  <a:latin typeface="Wingdings" pitchFamily="2" charset="2"/>
                </a:endParaRPr>
              </a:p>
            </p:txBody>
          </p:sp>
          <p:grpSp>
            <p:nvGrpSpPr>
              <p:cNvPr id="17" name="Group 74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7996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7997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98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7990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91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92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993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itchFamily="18" charset="0"/>
                  </a:rPr>
                  <a:t>2,5,8</a:t>
                </a:r>
                <a:endParaRPr lang="en-US" altLang="en-US" sz="1400" b="0">
                  <a:latin typeface="Times New Roman" pitchFamily="18" charset="0"/>
                </a:endParaRPr>
              </a:p>
            </p:txBody>
          </p:sp>
          <p:sp>
            <p:nvSpPr>
              <p:cNvPr id="37994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itchFamily="18" charset="0"/>
                  </a:rPr>
                  <a:t>3,6,9</a:t>
                </a:r>
              </a:p>
            </p:txBody>
          </p:sp>
          <p:sp>
            <p:nvSpPr>
              <p:cNvPr id="37995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Times New Roman" pitchFamily="18" charset="0"/>
                  </a:rPr>
                  <a:t>Hash Function</a:t>
                </a:r>
                <a:endParaRPr lang="en-US" altLang="en-US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8" name="Group 84"/>
          <p:cNvGrpSpPr>
            <a:grpSpLocks/>
          </p:cNvGrpSpPr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7984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>
                <a:latin typeface="Wingdings" pitchFamily="2" charset="2"/>
              </a:endParaRPr>
            </a:p>
          </p:txBody>
        </p:sp>
        <p:sp>
          <p:nvSpPr>
            <p:cNvPr id="37985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itchFamily="18" charset="0"/>
                </a:rPr>
                <a:t>1 2 3 5 6</a:t>
              </a:r>
            </a:p>
          </p:txBody>
        </p:sp>
      </p:grpSp>
      <p:sp>
        <p:nvSpPr>
          <p:cNvPr id="37934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5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6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37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91"/>
          <p:cNvGrpSpPr>
            <a:grpSpLocks/>
          </p:cNvGrpSpPr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20" name="Group 92"/>
            <p:cNvGrpSpPr>
              <a:grpSpLocks/>
            </p:cNvGrpSpPr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7982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83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3 5 6</a:t>
                </a:r>
              </a:p>
            </p:txBody>
          </p:sp>
        </p:grpSp>
        <p:grpSp>
          <p:nvGrpSpPr>
            <p:cNvPr id="21" name="Group 95"/>
            <p:cNvGrpSpPr>
              <a:grpSpLocks/>
            </p:cNvGrpSpPr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7980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81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2 +</a:t>
                </a:r>
              </a:p>
            </p:txBody>
          </p:sp>
        </p:grpSp>
      </p:grpSp>
      <p:grpSp>
        <p:nvGrpSpPr>
          <p:cNvPr id="22" name="Group 98"/>
          <p:cNvGrpSpPr>
            <a:grpSpLocks/>
          </p:cNvGrpSpPr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23" name="Group 99"/>
            <p:cNvGrpSpPr>
              <a:grpSpLocks/>
            </p:cNvGrpSpPr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7976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77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5 6</a:t>
                </a:r>
              </a:p>
            </p:txBody>
          </p:sp>
        </p:grpSp>
        <p:grpSp>
          <p:nvGrpSpPr>
            <p:cNvPr id="24" name="Group 102"/>
            <p:cNvGrpSpPr>
              <a:grpSpLocks/>
            </p:cNvGrpSpPr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7974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75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3 +</a:t>
                </a:r>
              </a:p>
            </p:txBody>
          </p:sp>
        </p:grpSp>
      </p:grpSp>
      <p:grpSp>
        <p:nvGrpSpPr>
          <p:cNvPr id="25" name="Group 105"/>
          <p:cNvGrpSpPr>
            <a:grpSpLocks/>
          </p:cNvGrpSpPr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26" name="Group 106"/>
            <p:cNvGrpSpPr>
              <a:grpSpLocks/>
            </p:cNvGrpSpPr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7970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71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6</a:t>
                </a:r>
              </a:p>
            </p:txBody>
          </p:sp>
        </p:grpSp>
        <p:grpSp>
          <p:nvGrpSpPr>
            <p:cNvPr id="27" name="Group 109"/>
            <p:cNvGrpSpPr>
              <a:grpSpLocks/>
            </p:cNvGrpSpPr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7968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69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5 +</a:t>
                </a:r>
              </a:p>
            </p:txBody>
          </p:sp>
        </p:grpSp>
      </p:grpSp>
      <p:sp>
        <p:nvSpPr>
          <p:cNvPr id="37941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42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43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115"/>
          <p:cNvGrpSpPr>
            <a:grpSpLocks/>
          </p:cNvGrpSpPr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29" name="Group 11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7964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65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3 5 6</a:t>
                </a:r>
              </a:p>
            </p:txBody>
          </p:sp>
        </p:grpSp>
        <p:grpSp>
          <p:nvGrpSpPr>
            <p:cNvPr id="30" name="Group 11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7962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63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2 +</a:t>
                </a:r>
              </a:p>
            </p:txBody>
          </p:sp>
        </p:grpSp>
      </p:grpSp>
      <p:grpSp>
        <p:nvGrpSpPr>
          <p:cNvPr id="31" name="Group 122"/>
          <p:cNvGrpSpPr>
            <a:grpSpLocks/>
          </p:cNvGrpSpPr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7888" name="Group 12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7958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59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5 6</a:t>
                </a:r>
              </a:p>
            </p:txBody>
          </p:sp>
        </p:grpSp>
        <p:grpSp>
          <p:nvGrpSpPr>
            <p:cNvPr id="37889" name="Group 12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7956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57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+</a:t>
                </a:r>
              </a:p>
            </p:txBody>
          </p:sp>
        </p:grpSp>
      </p:grpSp>
      <p:grpSp>
        <p:nvGrpSpPr>
          <p:cNvPr id="37914" name="Group 129"/>
          <p:cNvGrpSpPr>
            <a:grpSpLocks/>
          </p:cNvGrpSpPr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7919" name="Group 130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7952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53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+</a:t>
                </a:r>
              </a:p>
            </p:txBody>
          </p:sp>
        </p:grpSp>
        <p:grpSp>
          <p:nvGrpSpPr>
            <p:cNvPr id="37920" name="Group 133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7950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7951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2 3 5 6</a:t>
                </a:r>
              </a:p>
            </p:txBody>
          </p:sp>
        </p:grpSp>
      </p:grpSp>
      <p:sp>
        <p:nvSpPr>
          <p:cNvPr id="37947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transaction</a:t>
            </a:r>
          </a:p>
        </p:txBody>
      </p:sp>
      <p:sp>
        <p:nvSpPr>
          <p:cNvPr id="137" name="Slide Number Placeholder 1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Support Counting Using a Hash Tree</a:t>
            </a:r>
          </a:p>
        </p:txBody>
      </p:sp>
      <p:sp>
        <p:nvSpPr>
          <p:cNvPr id="38915" name="Line 3"/>
          <p:cNvSpPr>
            <a:spLocks noChangeShapeType="1"/>
          </p:cNvSpPr>
          <p:nvPr/>
        </p:nvSpPr>
        <p:spPr bwMode="auto">
          <a:xfrm flipH="1">
            <a:off x="2763838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4189413" y="276542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4189413" y="2765425"/>
            <a:ext cx="1425575" cy="676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H="1">
            <a:off x="1939925" y="3838575"/>
            <a:ext cx="808038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2747963" y="3838575"/>
            <a:ext cx="0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2747963" y="3838575"/>
            <a:ext cx="649287" cy="477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>
            <a:off x="4600575" y="3838575"/>
            <a:ext cx="1014413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2" name="Line 10"/>
          <p:cNvSpPr>
            <a:spLocks noChangeShapeType="1"/>
          </p:cNvSpPr>
          <p:nvPr/>
        </p:nvSpPr>
        <p:spPr bwMode="auto">
          <a:xfrm>
            <a:off x="5614988" y="3838575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3" name="Line 11"/>
          <p:cNvSpPr>
            <a:spLocks noChangeShapeType="1"/>
          </p:cNvSpPr>
          <p:nvPr/>
        </p:nvSpPr>
        <p:spPr bwMode="auto">
          <a:xfrm>
            <a:off x="5614988" y="3838575"/>
            <a:ext cx="1166812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4" name="Line 12"/>
          <p:cNvSpPr>
            <a:spLocks noChangeShapeType="1"/>
          </p:cNvSpPr>
          <p:nvPr/>
        </p:nvSpPr>
        <p:spPr bwMode="auto">
          <a:xfrm flipH="1">
            <a:off x="2003425" y="4778375"/>
            <a:ext cx="760413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2763838" y="4778375"/>
            <a:ext cx="0" cy="604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>
            <a:off x="2763838" y="4778375"/>
            <a:ext cx="696912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7" name="Rectangle 15"/>
          <p:cNvSpPr>
            <a:spLocks noChangeArrowheads="1"/>
          </p:cNvSpPr>
          <p:nvPr/>
        </p:nvSpPr>
        <p:spPr bwMode="auto">
          <a:xfrm>
            <a:off x="2636838" y="3436938"/>
            <a:ext cx="252412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28" name="Line 16"/>
          <p:cNvSpPr>
            <a:spLocks noChangeShapeType="1"/>
          </p:cNvSpPr>
          <p:nvPr/>
        </p:nvSpPr>
        <p:spPr bwMode="auto">
          <a:xfrm>
            <a:off x="2636838" y="35702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9" name="Line 17"/>
          <p:cNvSpPr>
            <a:spLocks noChangeShapeType="1"/>
          </p:cNvSpPr>
          <p:nvPr/>
        </p:nvSpPr>
        <p:spPr bwMode="auto">
          <a:xfrm>
            <a:off x="2636838" y="37052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0" name="Rectangle 18"/>
          <p:cNvSpPr>
            <a:spLocks noChangeArrowheads="1"/>
          </p:cNvSpPr>
          <p:nvPr/>
        </p:nvSpPr>
        <p:spPr bwMode="auto">
          <a:xfrm>
            <a:off x="5487988" y="3436938"/>
            <a:ext cx="254000" cy="401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>
            <a:off x="5487988" y="35702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>
            <a:off x="5487988" y="370522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3" name="Rectangle 21"/>
          <p:cNvSpPr>
            <a:spLocks noChangeArrowheads="1"/>
          </p:cNvSpPr>
          <p:nvPr/>
        </p:nvSpPr>
        <p:spPr bwMode="auto">
          <a:xfrm>
            <a:off x="2636838" y="4375150"/>
            <a:ext cx="252412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2636838" y="4645025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>
            <a:off x="2636838" y="4510088"/>
            <a:ext cx="252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6" name="Rectangle 24"/>
          <p:cNvSpPr>
            <a:spLocks noChangeArrowheads="1"/>
          </p:cNvSpPr>
          <p:nvPr/>
        </p:nvSpPr>
        <p:spPr bwMode="auto">
          <a:xfrm>
            <a:off x="3270250" y="5314950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3270250" y="533876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1 5 9</a:t>
            </a:r>
            <a:endParaRPr lang="en-US" altLang="en-US" sz="2000" b="0">
              <a:latin typeface="Times New Roman" pitchFamily="18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622425" y="4308475"/>
            <a:ext cx="641350" cy="390525"/>
            <a:chOff x="1248" y="2784"/>
            <a:chExt cx="486" cy="279"/>
          </a:xfrm>
        </p:grpSpPr>
        <p:sp>
          <p:nvSpPr>
            <p:cNvPr id="39058" name="Rectangle 27"/>
            <p:cNvSpPr>
              <a:spLocks noChangeArrowheads="1"/>
            </p:cNvSpPr>
            <p:nvPr/>
          </p:nvSpPr>
          <p:spPr bwMode="auto">
            <a:xfrm>
              <a:off x="1248" y="2784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59" name="Text Box 28"/>
            <p:cNvSpPr txBox="1">
              <a:spLocks noChangeArrowheads="1"/>
            </p:cNvSpPr>
            <p:nvPr/>
          </p:nvSpPr>
          <p:spPr bwMode="auto">
            <a:xfrm>
              <a:off x="1248" y="2801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1 4 5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sp>
        <p:nvSpPr>
          <p:cNvPr id="38939" name="Rectangle 29"/>
          <p:cNvSpPr>
            <a:spLocks noChangeArrowheads="1"/>
          </p:cNvSpPr>
          <p:nvPr/>
        </p:nvSpPr>
        <p:spPr bwMode="auto">
          <a:xfrm>
            <a:off x="3143250" y="4308475"/>
            <a:ext cx="633413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40" name="Text Box 30"/>
          <p:cNvSpPr txBox="1">
            <a:spLocks noChangeArrowheads="1"/>
          </p:cNvSpPr>
          <p:nvPr/>
        </p:nvSpPr>
        <p:spPr bwMode="auto">
          <a:xfrm>
            <a:off x="3143250" y="433228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1 3 6</a:t>
            </a:r>
            <a:endParaRPr lang="en-US" altLang="en-US" sz="2000" b="0">
              <a:latin typeface="Times New Roman" pitchFamily="18" charset="0"/>
            </a:endParaRPr>
          </a:p>
        </p:txBody>
      </p:sp>
      <p:sp>
        <p:nvSpPr>
          <p:cNvPr id="38941" name="Rectangle 31"/>
          <p:cNvSpPr>
            <a:spLocks noChangeArrowheads="1"/>
          </p:cNvSpPr>
          <p:nvPr/>
        </p:nvSpPr>
        <p:spPr bwMode="auto">
          <a:xfrm>
            <a:off x="4284663" y="4576763"/>
            <a:ext cx="633412" cy="336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42" name="Text Box 32"/>
          <p:cNvSpPr txBox="1">
            <a:spLocks noChangeArrowheads="1"/>
          </p:cNvSpPr>
          <p:nvPr/>
        </p:nvSpPr>
        <p:spPr bwMode="auto">
          <a:xfrm>
            <a:off x="4284663" y="4600575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3 4 5</a:t>
            </a:r>
            <a:endParaRPr lang="en-US" altLang="en-US" sz="2000" b="0">
              <a:latin typeface="Times New Roman" pitchFamily="18" charset="0"/>
            </a:endParaRP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438900" y="4576763"/>
            <a:ext cx="641350" cy="390525"/>
            <a:chOff x="432" y="3408"/>
            <a:chExt cx="486" cy="279"/>
          </a:xfrm>
        </p:grpSpPr>
        <p:sp>
          <p:nvSpPr>
            <p:cNvPr id="39056" name="Rectangle 34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57" name="Text Box 35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3 6 7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6438900" y="4913313"/>
            <a:ext cx="641350" cy="390525"/>
            <a:chOff x="432" y="3408"/>
            <a:chExt cx="486" cy="280"/>
          </a:xfrm>
        </p:grpSpPr>
        <p:sp>
          <p:nvSpPr>
            <p:cNvPr id="39054" name="Rectangle 3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55" name="Text Box 38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3 6 8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5297488" y="4576763"/>
            <a:ext cx="644525" cy="725487"/>
            <a:chOff x="3792" y="3312"/>
            <a:chExt cx="488" cy="519"/>
          </a:xfrm>
        </p:grpSpPr>
        <p:grpSp>
          <p:nvGrpSpPr>
            <p:cNvPr id="6" name="Group 40"/>
            <p:cNvGrpSpPr>
              <a:grpSpLocks/>
            </p:cNvGrpSpPr>
            <p:nvPr/>
          </p:nvGrpSpPr>
          <p:grpSpPr bwMode="auto">
            <a:xfrm>
              <a:off x="3792" y="3312"/>
              <a:ext cx="488" cy="279"/>
              <a:chOff x="432" y="3408"/>
              <a:chExt cx="488" cy="279"/>
            </a:xfrm>
          </p:grpSpPr>
          <p:sp>
            <p:nvSpPr>
              <p:cNvPr id="39052" name="Rectangle 41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9053" name="Text Box 42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3 5 6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  <p:grpSp>
          <p:nvGrpSpPr>
            <p:cNvPr id="7" name="Group 43"/>
            <p:cNvGrpSpPr>
              <a:grpSpLocks/>
            </p:cNvGrpSpPr>
            <p:nvPr/>
          </p:nvGrpSpPr>
          <p:grpSpPr bwMode="auto">
            <a:xfrm>
              <a:off x="3792" y="3552"/>
              <a:ext cx="488" cy="279"/>
              <a:chOff x="432" y="3408"/>
              <a:chExt cx="488" cy="279"/>
            </a:xfrm>
          </p:grpSpPr>
          <p:sp>
            <p:nvSpPr>
              <p:cNvPr id="39050" name="Rectangle 44"/>
              <p:cNvSpPr>
                <a:spLocks noChangeArrowheads="1"/>
              </p:cNvSpPr>
              <p:nvPr/>
            </p:nvSpPr>
            <p:spPr bwMode="auto">
              <a:xfrm>
                <a:off x="432" y="3408"/>
                <a:ext cx="480" cy="240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  <p:sp>
            <p:nvSpPr>
              <p:cNvPr id="39051" name="Text Box 45"/>
              <p:cNvSpPr txBox="1">
                <a:spLocks noChangeArrowheads="1"/>
              </p:cNvSpPr>
              <p:nvPr/>
            </p:nvSpPr>
            <p:spPr bwMode="auto">
              <a:xfrm>
                <a:off x="434" y="3425"/>
                <a:ext cx="48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800" b="0">
                    <a:latin typeface="Times New Roman" pitchFamily="18" charset="0"/>
                  </a:rPr>
                  <a:t>3 5 7</a:t>
                </a:r>
                <a:endParaRPr lang="en-US" altLang="en-US" sz="2000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5297488" y="5248275"/>
            <a:ext cx="644525" cy="390525"/>
            <a:chOff x="432" y="3408"/>
            <a:chExt cx="488" cy="279"/>
          </a:xfrm>
        </p:grpSpPr>
        <p:sp>
          <p:nvSpPr>
            <p:cNvPr id="39046" name="Rectangle 47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7" name="Text Box 48"/>
            <p:cNvSpPr txBox="1">
              <a:spLocks noChangeArrowheads="1"/>
            </p:cNvSpPr>
            <p:nvPr/>
          </p:nvSpPr>
          <p:spPr bwMode="auto">
            <a:xfrm>
              <a:off x="434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6 8 9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3903663" y="3503613"/>
            <a:ext cx="641350" cy="390525"/>
            <a:chOff x="432" y="3408"/>
            <a:chExt cx="486" cy="279"/>
          </a:xfrm>
        </p:grpSpPr>
        <p:sp>
          <p:nvSpPr>
            <p:cNvPr id="39044" name="Rectangle 50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5" name="Text Box 51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2 3 4</a:t>
              </a:r>
            </a:p>
          </p:txBody>
        </p:sp>
      </p:grp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3903663" y="3838575"/>
            <a:ext cx="641350" cy="392113"/>
            <a:chOff x="432" y="3408"/>
            <a:chExt cx="486" cy="280"/>
          </a:xfrm>
        </p:grpSpPr>
        <p:sp>
          <p:nvSpPr>
            <p:cNvPr id="39042" name="Rectangle 53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3" name="Text Box 54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5 6 7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1" name="Group 55"/>
          <p:cNvGrpSpPr>
            <a:grpSpLocks/>
          </p:cNvGrpSpPr>
          <p:nvPr/>
        </p:nvGrpSpPr>
        <p:grpSpPr bwMode="auto">
          <a:xfrm>
            <a:off x="1685925" y="5314950"/>
            <a:ext cx="641350" cy="390525"/>
            <a:chOff x="432" y="3408"/>
            <a:chExt cx="486" cy="279"/>
          </a:xfrm>
        </p:grpSpPr>
        <p:sp>
          <p:nvSpPr>
            <p:cNvPr id="39040" name="Rectangle 56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41" name="Text Box 57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1 2 4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2" name="Group 58"/>
          <p:cNvGrpSpPr>
            <a:grpSpLocks/>
          </p:cNvGrpSpPr>
          <p:nvPr/>
        </p:nvGrpSpPr>
        <p:grpSpPr bwMode="auto">
          <a:xfrm>
            <a:off x="1685925" y="5651500"/>
            <a:ext cx="641350" cy="392113"/>
            <a:chOff x="432" y="3408"/>
            <a:chExt cx="486" cy="281"/>
          </a:xfrm>
        </p:grpSpPr>
        <p:sp>
          <p:nvSpPr>
            <p:cNvPr id="39038" name="Rectangle 59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39" name="Text Box 60"/>
            <p:cNvSpPr txBox="1">
              <a:spLocks noChangeArrowheads="1"/>
            </p:cNvSpPr>
            <p:nvPr/>
          </p:nvSpPr>
          <p:spPr bwMode="auto">
            <a:xfrm>
              <a:off x="432" y="3426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4 5 7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2446338" y="5383213"/>
            <a:ext cx="641350" cy="390525"/>
            <a:chOff x="432" y="3408"/>
            <a:chExt cx="486" cy="280"/>
          </a:xfrm>
        </p:grpSpPr>
        <p:sp>
          <p:nvSpPr>
            <p:cNvPr id="39036" name="Rectangle 62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37" name="Text Box 63"/>
            <p:cNvSpPr txBox="1">
              <a:spLocks noChangeArrowheads="1"/>
            </p:cNvSpPr>
            <p:nvPr/>
          </p:nvSpPr>
          <p:spPr bwMode="auto">
            <a:xfrm>
              <a:off x="432" y="3425"/>
              <a:ext cx="486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1 2 5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grpSp>
        <p:nvGrpSpPr>
          <p:cNvPr id="14" name="Group 64"/>
          <p:cNvGrpSpPr>
            <a:grpSpLocks/>
          </p:cNvGrpSpPr>
          <p:nvPr/>
        </p:nvGrpSpPr>
        <p:grpSpPr bwMode="auto">
          <a:xfrm>
            <a:off x="2446338" y="5718175"/>
            <a:ext cx="641350" cy="388938"/>
            <a:chOff x="432" y="3408"/>
            <a:chExt cx="486" cy="278"/>
          </a:xfrm>
        </p:grpSpPr>
        <p:sp>
          <p:nvSpPr>
            <p:cNvPr id="39034" name="Rectangle 65"/>
            <p:cNvSpPr>
              <a:spLocks noChangeArrowheads="1"/>
            </p:cNvSpPr>
            <p:nvPr/>
          </p:nvSpPr>
          <p:spPr bwMode="auto">
            <a:xfrm>
              <a:off x="432" y="3408"/>
              <a:ext cx="48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9035" name="Text Box 66"/>
            <p:cNvSpPr txBox="1">
              <a:spLocks noChangeArrowheads="1"/>
            </p:cNvSpPr>
            <p:nvPr/>
          </p:nvSpPr>
          <p:spPr bwMode="auto">
            <a:xfrm>
              <a:off x="432" y="3424"/>
              <a:ext cx="486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 b="0">
                  <a:latin typeface="Times New Roman" pitchFamily="18" charset="0"/>
                </a:rPr>
                <a:t>4 5 8</a:t>
              </a:r>
              <a:endParaRPr lang="en-US" altLang="en-US" sz="2000" b="0">
                <a:latin typeface="Times New Roman" pitchFamily="18" charset="0"/>
              </a:endParaRPr>
            </a:p>
          </p:txBody>
        </p:sp>
      </p:grpSp>
      <p:sp>
        <p:nvSpPr>
          <p:cNvPr id="38953" name="Rectangle 67"/>
          <p:cNvSpPr>
            <a:spLocks noChangeArrowheads="1"/>
          </p:cNvSpPr>
          <p:nvPr/>
        </p:nvSpPr>
        <p:spPr bwMode="auto">
          <a:xfrm>
            <a:off x="4030663" y="2362200"/>
            <a:ext cx="254000" cy="403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54" name="Line 68"/>
          <p:cNvSpPr>
            <a:spLocks noChangeShapeType="1"/>
          </p:cNvSpPr>
          <p:nvPr/>
        </p:nvSpPr>
        <p:spPr bwMode="auto">
          <a:xfrm>
            <a:off x="4030663" y="24971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5" name="Line 69"/>
          <p:cNvSpPr>
            <a:spLocks noChangeShapeType="1"/>
          </p:cNvSpPr>
          <p:nvPr/>
        </p:nvSpPr>
        <p:spPr bwMode="auto">
          <a:xfrm>
            <a:off x="4030663" y="263048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70"/>
          <p:cNvGrpSpPr>
            <a:grpSpLocks/>
          </p:cNvGrpSpPr>
          <p:nvPr/>
        </p:nvGrpSpPr>
        <p:grpSpPr bwMode="auto">
          <a:xfrm>
            <a:off x="7185025" y="1295400"/>
            <a:ext cx="1654175" cy="1692275"/>
            <a:chOff x="96" y="1097"/>
            <a:chExt cx="1141" cy="1122"/>
          </a:xfrm>
        </p:grpSpPr>
        <p:sp>
          <p:nvSpPr>
            <p:cNvPr id="39021" name="Text Box 71"/>
            <p:cNvSpPr txBox="1">
              <a:spLocks noChangeArrowheads="1"/>
            </p:cNvSpPr>
            <p:nvPr/>
          </p:nvSpPr>
          <p:spPr bwMode="auto">
            <a:xfrm>
              <a:off x="96" y="1776"/>
              <a:ext cx="37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400">
                  <a:latin typeface="Times New Roman" pitchFamily="18" charset="0"/>
                </a:rPr>
                <a:t>1,4,7</a:t>
              </a:r>
              <a:endParaRPr lang="en-US" altLang="en-US" sz="1400" b="0">
                <a:latin typeface="Times New Roman" pitchFamily="18" charset="0"/>
              </a:endParaRPr>
            </a:p>
          </p:txBody>
        </p:sp>
        <p:grpSp>
          <p:nvGrpSpPr>
            <p:cNvPr id="16" name="Group 72"/>
            <p:cNvGrpSpPr>
              <a:grpSpLocks/>
            </p:cNvGrpSpPr>
            <p:nvPr/>
          </p:nvGrpSpPr>
          <p:grpSpPr bwMode="auto">
            <a:xfrm>
              <a:off x="144" y="1097"/>
              <a:ext cx="1093" cy="1122"/>
              <a:chOff x="144" y="1097"/>
              <a:chExt cx="1093" cy="1122"/>
            </a:xfrm>
          </p:grpSpPr>
          <p:sp>
            <p:nvSpPr>
              <p:cNvPr id="39023" name="Text Box 73"/>
              <p:cNvSpPr txBox="1">
                <a:spLocks noChangeArrowheads="1"/>
              </p:cNvSpPr>
              <p:nvPr/>
            </p:nvSpPr>
            <p:spPr bwMode="auto">
              <a:xfrm>
                <a:off x="369" y="1097"/>
                <a:ext cx="127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b="0">
                  <a:latin typeface="Wingdings" pitchFamily="2" charset="2"/>
                </a:endParaRPr>
              </a:p>
            </p:txBody>
          </p:sp>
          <p:grpSp>
            <p:nvGrpSpPr>
              <p:cNvPr id="17" name="Group 74"/>
              <p:cNvGrpSpPr>
                <a:grpSpLocks/>
              </p:cNvGrpSpPr>
              <p:nvPr/>
            </p:nvGrpSpPr>
            <p:grpSpPr bwMode="auto">
              <a:xfrm>
                <a:off x="528" y="1392"/>
                <a:ext cx="240" cy="384"/>
                <a:chOff x="2064" y="1872"/>
                <a:chExt cx="192" cy="288"/>
              </a:xfrm>
            </p:grpSpPr>
            <p:sp>
              <p:nvSpPr>
                <p:cNvPr id="39031" name="Rectangle 75"/>
                <p:cNvSpPr>
                  <a:spLocks noChangeArrowheads="1"/>
                </p:cNvSpPr>
                <p:nvPr/>
              </p:nvSpPr>
              <p:spPr bwMode="auto">
                <a:xfrm>
                  <a:off x="2064" y="1872"/>
                  <a:ext cx="192" cy="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charset="0"/>
                    <a:buChar char="–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sz="1400"/>
                </a:p>
              </p:txBody>
            </p:sp>
            <p:sp>
              <p:nvSpPr>
                <p:cNvPr id="39032" name="Line 76"/>
                <p:cNvSpPr>
                  <a:spLocks noChangeShapeType="1"/>
                </p:cNvSpPr>
                <p:nvPr/>
              </p:nvSpPr>
              <p:spPr bwMode="auto">
                <a:xfrm>
                  <a:off x="2064" y="196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033" name="Line 77"/>
                <p:cNvSpPr>
                  <a:spLocks noChangeShapeType="1"/>
                </p:cNvSpPr>
                <p:nvPr/>
              </p:nvSpPr>
              <p:spPr bwMode="auto">
                <a:xfrm>
                  <a:off x="2064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9025" name="Line 78"/>
              <p:cNvSpPr>
                <a:spLocks noChangeShapeType="1"/>
              </p:cNvSpPr>
              <p:nvPr/>
            </p:nvSpPr>
            <p:spPr bwMode="auto">
              <a:xfrm flipH="1">
                <a:off x="144" y="1776"/>
                <a:ext cx="485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26" name="Line 79"/>
              <p:cNvSpPr>
                <a:spLocks noChangeShapeType="1"/>
              </p:cNvSpPr>
              <p:nvPr/>
            </p:nvSpPr>
            <p:spPr bwMode="auto">
              <a:xfrm>
                <a:off x="624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27" name="Line 80"/>
              <p:cNvSpPr>
                <a:spLocks noChangeShapeType="1"/>
              </p:cNvSpPr>
              <p:nvPr/>
            </p:nvSpPr>
            <p:spPr bwMode="auto">
              <a:xfrm>
                <a:off x="629" y="1776"/>
                <a:ext cx="427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28" name="Text Box 81"/>
              <p:cNvSpPr txBox="1">
                <a:spLocks noChangeArrowheads="1"/>
              </p:cNvSpPr>
              <p:nvPr/>
            </p:nvSpPr>
            <p:spPr bwMode="auto">
              <a:xfrm>
                <a:off x="289" y="2017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itchFamily="18" charset="0"/>
                  </a:rPr>
                  <a:t>2,5,8</a:t>
                </a:r>
                <a:endParaRPr lang="en-US" altLang="en-US" sz="1400" b="0">
                  <a:latin typeface="Times New Roman" pitchFamily="18" charset="0"/>
                </a:endParaRPr>
              </a:p>
            </p:txBody>
          </p:sp>
          <p:sp>
            <p:nvSpPr>
              <p:cNvPr id="39029" name="Text Box 82"/>
              <p:cNvSpPr txBox="1">
                <a:spLocks noChangeArrowheads="1"/>
              </p:cNvSpPr>
              <p:nvPr/>
            </p:nvSpPr>
            <p:spPr bwMode="auto">
              <a:xfrm>
                <a:off x="865" y="1776"/>
                <a:ext cx="37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400">
                    <a:latin typeface="Times New Roman" pitchFamily="18" charset="0"/>
                  </a:rPr>
                  <a:t>3,6,9</a:t>
                </a:r>
              </a:p>
            </p:txBody>
          </p:sp>
          <p:sp>
            <p:nvSpPr>
              <p:cNvPr id="39030" name="Text Box 83"/>
              <p:cNvSpPr txBox="1">
                <a:spLocks noChangeArrowheads="1"/>
              </p:cNvSpPr>
              <p:nvPr/>
            </p:nvSpPr>
            <p:spPr bwMode="auto">
              <a:xfrm>
                <a:off x="192" y="1152"/>
                <a:ext cx="95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1600" b="0">
                    <a:latin typeface="Times New Roman" pitchFamily="18" charset="0"/>
                  </a:rPr>
                  <a:t>Hash Function</a:t>
                </a:r>
                <a:endParaRPr lang="en-US" altLang="en-US" b="0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8" name="Group 84"/>
          <p:cNvGrpSpPr>
            <a:grpSpLocks/>
          </p:cNvGrpSpPr>
          <p:nvPr/>
        </p:nvGrpSpPr>
        <p:grpSpPr bwMode="auto">
          <a:xfrm>
            <a:off x="3603625" y="1447800"/>
            <a:ext cx="1073150" cy="396875"/>
            <a:chOff x="4416" y="1440"/>
            <a:chExt cx="676" cy="250"/>
          </a:xfrm>
        </p:grpSpPr>
        <p:sp>
          <p:nvSpPr>
            <p:cNvPr id="39019" name="Rectangle 85"/>
            <p:cNvSpPr>
              <a:spLocks noChangeArrowheads="1"/>
            </p:cNvSpPr>
            <p:nvPr/>
          </p:nvSpPr>
          <p:spPr bwMode="auto">
            <a:xfrm>
              <a:off x="4416" y="1440"/>
              <a:ext cx="672" cy="213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>
                <a:latin typeface="Wingdings" pitchFamily="2" charset="2"/>
              </a:endParaRPr>
            </a:p>
          </p:txBody>
        </p:sp>
        <p:sp>
          <p:nvSpPr>
            <p:cNvPr id="39020" name="Text Box 86"/>
            <p:cNvSpPr txBox="1">
              <a:spLocks noChangeArrowheads="1"/>
            </p:cNvSpPr>
            <p:nvPr/>
          </p:nvSpPr>
          <p:spPr bwMode="auto">
            <a:xfrm>
              <a:off x="4416" y="1440"/>
              <a:ext cx="6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imes New Roman" pitchFamily="18" charset="0"/>
                </a:rPr>
                <a:t>1 2 3 5 6</a:t>
              </a:r>
            </a:p>
          </p:txBody>
        </p:sp>
      </p:grpSp>
      <p:sp>
        <p:nvSpPr>
          <p:cNvPr id="38958" name="Line 87"/>
          <p:cNvSpPr>
            <a:spLocks noChangeShapeType="1"/>
          </p:cNvSpPr>
          <p:nvPr/>
        </p:nvSpPr>
        <p:spPr bwMode="auto">
          <a:xfrm>
            <a:off x="4137025" y="1828800"/>
            <a:ext cx="0" cy="457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59" name="Line 88"/>
          <p:cNvSpPr>
            <a:spLocks noChangeShapeType="1"/>
          </p:cNvSpPr>
          <p:nvPr/>
        </p:nvSpPr>
        <p:spPr bwMode="auto">
          <a:xfrm>
            <a:off x="2689225" y="2590800"/>
            <a:ext cx="762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0" name="Line 89"/>
          <p:cNvSpPr>
            <a:spLocks noChangeShapeType="1"/>
          </p:cNvSpPr>
          <p:nvPr/>
        </p:nvSpPr>
        <p:spPr bwMode="auto">
          <a:xfrm flipH="1">
            <a:off x="4213225" y="2667000"/>
            <a:ext cx="9906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1" name="Line 90"/>
          <p:cNvSpPr>
            <a:spLocks noChangeShapeType="1"/>
          </p:cNvSpPr>
          <p:nvPr/>
        </p:nvSpPr>
        <p:spPr bwMode="auto">
          <a:xfrm flipH="1">
            <a:off x="5584825" y="3200400"/>
            <a:ext cx="762000" cy="152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91"/>
          <p:cNvGrpSpPr>
            <a:grpSpLocks/>
          </p:cNvGrpSpPr>
          <p:nvPr/>
        </p:nvGrpSpPr>
        <p:grpSpPr bwMode="auto">
          <a:xfrm>
            <a:off x="250825" y="2514600"/>
            <a:ext cx="1377950" cy="396875"/>
            <a:chOff x="0" y="1728"/>
            <a:chExt cx="868" cy="250"/>
          </a:xfrm>
        </p:grpSpPr>
        <p:grpSp>
          <p:nvGrpSpPr>
            <p:cNvPr id="20" name="Group 92"/>
            <p:cNvGrpSpPr>
              <a:grpSpLocks/>
            </p:cNvGrpSpPr>
            <p:nvPr/>
          </p:nvGrpSpPr>
          <p:grpSpPr bwMode="auto">
            <a:xfrm>
              <a:off x="432" y="1728"/>
              <a:ext cx="436" cy="250"/>
              <a:chOff x="432" y="1728"/>
              <a:chExt cx="436" cy="250"/>
            </a:xfrm>
          </p:grpSpPr>
          <p:sp>
            <p:nvSpPr>
              <p:cNvPr id="39017" name="Rectangle 93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18" name="Text Box 94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3 5 6</a:t>
                </a:r>
              </a:p>
            </p:txBody>
          </p:sp>
        </p:grpSp>
        <p:grpSp>
          <p:nvGrpSpPr>
            <p:cNvPr id="21" name="Group 95"/>
            <p:cNvGrpSpPr>
              <a:grpSpLocks/>
            </p:cNvGrpSpPr>
            <p:nvPr/>
          </p:nvGrpSpPr>
          <p:grpSpPr bwMode="auto">
            <a:xfrm>
              <a:off x="0" y="1728"/>
              <a:ext cx="446" cy="250"/>
              <a:chOff x="336" y="1440"/>
              <a:chExt cx="446" cy="250"/>
            </a:xfrm>
          </p:grpSpPr>
          <p:sp>
            <p:nvSpPr>
              <p:cNvPr id="39015" name="Rectangle 96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16" name="Text Box 97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2 +</a:t>
                </a:r>
              </a:p>
            </p:txBody>
          </p:sp>
        </p:grpSp>
      </p:grpSp>
      <p:grpSp>
        <p:nvGrpSpPr>
          <p:cNvPr id="22" name="Group 98"/>
          <p:cNvGrpSpPr>
            <a:grpSpLocks/>
          </p:cNvGrpSpPr>
          <p:nvPr/>
        </p:nvGrpSpPr>
        <p:grpSpPr bwMode="auto">
          <a:xfrm>
            <a:off x="250825" y="3124200"/>
            <a:ext cx="1187450" cy="396875"/>
            <a:chOff x="0" y="2160"/>
            <a:chExt cx="748" cy="250"/>
          </a:xfrm>
        </p:grpSpPr>
        <p:grpSp>
          <p:nvGrpSpPr>
            <p:cNvPr id="23" name="Group 99"/>
            <p:cNvGrpSpPr>
              <a:grpSpLocks/>
            </p:cNvGrpSpPr>
            <p:nvPr/>
          </p:nvGrpSpPr>
          <p:grpSpPr bwMode="auto">
            <a:xfrm>
              <a:off x="432" y="2160"/>
              <a:ext cx="316" cy="250"/>
              <a:chOff x="4416" y="1440"/>
              <a:chExt cx="685" cy="260"/>
            </a:xfrm>
          </p:grpSpPr>
          <p:sp>
            <p:nvSpPr>
              <p:cNvPr id="39011" name="Rectangle 100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12" name="Text Box 101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85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5 6</a:t>
                </a:r>
              </a:p>
            </p:txBody>
          </p:sp>
        </p:grpSp>
        <p:grpSp>
          <p:nvGrpSpPr>
            <p:cNvPr id="24" name="Group 102"/>
            <p:cNvGrpSpPr>
              <a:grpSpLocks/>
            </p:cNvGrpSpPr>
            <p:nvPr/>
          </p:nvGrpSpPr>
          <p:grpSpPr bwMode="auto">
            <a:xfrm>
              <a:off x="0" y="2160"/>
              <a:ext cx="446" cy="250"/>
              <a:chOff x="336" y="1440"/>
              <a:chExt cx="446" cy="250"/>
            </a:xfrm>
          </p:grpSpPr>
          <p:sp>
            <p:nvSpPr>
              <p:cNvPr id="39009" name="Rectangle 103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10" name="Text Box 104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3 +</a:t>
                </a:r>
              </a:p>
            </p:txBody>
          </p:sp>
        </p:grpSp>
      </p:grpSp>
      <p:grpSp>
        <p:nvGrpSpPr>
          <p:cNvPr id="25" name="Group 105"/>
          <p:cNvGrpSpPr>
            <a:grpSpLocks/>
          </p:cNvGrpSpPr>
          <p:nvPr/>
        </p:nvGrpSpPr>
        <p:grpSpPr bwMode="auto">
          <a:xfrm>
            <a:off x="250825" y="3733800"/>
            <a:ext cx="990600" cy="396875"/>
            <a:chOff x="0" y="2544"/>
            <a:chExt cx="624" cy="250"/>
          </a:xfrm>
        </p:grpSpPr>
        <p:grpSp>
          <p:nvGrpSpPr>
            <p:cNvPr id="26" name="Group 106"/>
            <p:cNvGrpSpPr>
              <a:grpSpLocks/>
            </p:cNvGrpSpPr>
            <p:nvPr/>
          </p:nvGrpSpPr>
          <p:grpSpPr bwMode="auto">
            <a:xfrm>
              <a:off x="417" y="2544"/>
              <a:ext cx="207" cy="250"/>
              <a:chOff x="4363" y="1440"/>
              <a:chExt cx="725" cy="260"/>
            </a:xfrm>
          </p:grpSpPr>
          <p:sp>
            <p:nvSpPr>
              <p:cNvPr id="39005" name="Rectangle 10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06" name="Text Box 108"/>
              <p:cNvSpPr txBox="1">
                <a:spLocks noChangeArrowheads="1"/>
              </p:cNvSpPr>
              <p:nvPr/>
            </p:nvSpPr>
            <p:spPr bwMode="auto">
              <a:xfrm>
                <a:off x="4363" y="1440"/>
                <a:ext cx="68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6</a:t>
                </a:r>
              </a:p>
            </p:txBody>
          </p:sp>
        </p:grpSp>
        <p:grpSp>
          <p:nvGrpSpPr>
            <p:cNvPr id="27" name="Group 109"/>
            <p:cNvGrpSpPr>
              <a:grpSpLocks/>
            </p:cNvGrpSpPr>
            <p:nvPr/>
          </p:nvGrpSpPr>
          <p:grpSpPr bwMode="auto">
            <a:xfrm>
              <a:off x="0" y="2544"/>
              <a:ext cx="446" cy="250"/>
              <a:chOff x="336" y="1440"/>
              <a:chExt cx="446" cy="250"/>
            </a:xfrm>
          </p:grpSpPr>
          <p:sp>
            <p:nvSpPr>
              <p:cNvPr id="39003" name="Rectangle 11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04" name="Text Box 11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4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5 +</a:t>
                </a:r>
              </a:p>
            </p:txBody>
          </p:sp>
        </p:grpSp>
      </p:grpSp>
      <p:sp>
        <p:nvSpPr>
          <p:cNvPr id="38965" name="Line 112"/>
          <p:cNvSpPr>
            <a:spLocks noChangeShapeType="1"/>
          </p:cNvSpPr>
          <p:nvPr/>
        </p:nvSpPr>
        <p:spPr bwMode="auto">
          <a:xfrm>
            <a:off x="1622425" y="2819400"/>
            <a:ext cx="1066800" cy="14478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6" name="Line 113"/>
          <p:cNvSpPr>
            <a:spLocks noChangeShapeType="1"/>
          </p:cNvSpPr>
          <p:nvPr/>
        </p:nvSpPr>
        <p:spPr bwMode="auto">
          <a:xfrm>
            <a:off x="1219200" y="3886200"/>
            <a:ext cx="1295400" cy="457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67" name="Line 114"/>
          <p:cNvSpPr>
            <a:spLocks noChangeShapeType="1"/>
          </p:cNvSpPr>
          <p:nvPr/>
        </p:nvSpPr>
        <p:spPr bwMode="auto">
          <a:xfrm>
            <a:off x="1470025" y="3429000"/>
            <a:ext cx="1676400" cy="8382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115"/>
          <p:cNvGrpSpPr>
            <a:grpSpLocks/>
          </p:cNvGrpSpPr>
          <p:nvPr/>
        </p:nvGrpSpPr>
        <p:grpSpPr bwMode="auto">
          <a:xfrm>
            <a:off x="4746625" y="2286000"/>
            <a:ext cx="1149350" cy="396875"/>
            <a:chOff x="2880" y="1632"/>
            <a:chExt cx="724" cy="250"/>
          </a:xfrm>
        </p:grpSpPr>
        <p:grpSp>
          <p:nvGrpSpPr>
            <p:cNvPr id="29" name="Group 116"/>
            <p:cNvGrpSpPr>
              <a:grpSpLocks/>
            </p:cNvGrpSpPr>
            <p:nvPr/>
          </p:nvGrpSpPr>
          <p:grpSpPr bwMode="auto">
            <a:xfrm>
              <a:off x="3168" y="1632"/>
              <a:ext cx="436" cy="250"/>
              <a:chOff x="4416" y="1440"/>
              <a:chExt cx="678" cy="260"/>
            </a:xfrm>
          </p:grpSpPr>
          <p:sp>
            <p:nvSpPr>
              <p:cNvPr id="38999" name="Rectangle 117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9000" name="Text Box 118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678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3 5 6</a:t>
                </a:r>
              </a:p>
            </p:txBody>
          </p:sp>
        </p:grpSp>
        <p:grpSp>
          <p:nvGrpSpPr>
            <p:cNvPr id="30" name="Group 119"/>
            <p:cNvGrpSpPr>
              <a:grpSpLocks/>
            </p:cNvGrpSpPr>
            <p:nvPr/>
          </p:nvGrpSpPr>
          <p:grpSpPr bwMode="auto">
            <a:xfrm>
              <a:off x="2880" y="1632"/>
              <a:ext cx="326" cy="250"/>
              <a:chOff x="336" y="1440"/>
              <a:chExt cx="489" cy="250"/>
            </a:xfrm>
          </p:grpSpPr>
          <p:sp>
            <p:nvSpPr>
              <p:cNvPr id="38997" name="Rectangle 120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8998" name="Text Box 121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2 +</a:t>
                </a:r>
              </a:p>
            </p:txBody>
          </p:sp>
        </p:grpSp>
      </p:grpSp>
      <p:grpSp>
        <p:nvGrpSpPr>
          <p:cNvPr id="31" name="Group 122"/>
          <p:cNvGrpSpPr>
            <a:grpSpLocks/>
          </p:cNvGrpSpPr>
          <p:nvPr/>
        </p:nvGrpSpPr>
        <p:grpSpPr bwMode="auto">
          <a:xfrm>
            <a:off x="6042025" y="2819400"/>
            <a:ext cx="958850" cy="396875"/>
            <a:chOff x="3792" y="2064"/>
            <a:chExt cx="604" cy="250"/>
          </a:xfrm>
        </p:grpSpPr>
        <p:grpSp>
          <p:nvGrpSpPr>
            <p:cNvPr id="38983" name="Group 123"/>
            <p:cNvGrpSpPr>
              <a:grpSpLocks/>
            </p:cNvGrpSpPr>
            <p:nvPr/>
          </p:nvGrpSpPr>
          <p:grpSpPr bwMode="auto">
            <a:xfrm>
              <a:off x="4080" y="2064"/>
              <a:ext cx="316" cy="250"/>
              <a:chOff x="4416" y="1440"/>
              <a:chExt cx="737" cy="260"/>
            </a:xfrm>
          </p:grpSpPr>
          <p:sp>
            <p:nvSpPr>
              <p:cNvPr id="38993" name="Rectangle 124"/>
              <p:cNvSpPr>
                <a:spLocks noChangeArrowheads="1"/>
              </p:cNvSpPr>
              <p:nvPr/>
            </p:nvSpPr>
            <p:spPr bwMode="auto">
              <a:xfrm>
                <a:off x="4416" y="1440"/>
                <a:ext cx="672" cy="21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8994" name="Text Box 125"/>
              <p:cNvSpPr txBox="1">
                <a:spLocks noChangeArrowheads="1"/>
              </p:cNvSpPr>
              <p:nvPr/>
            </p:nvSpPr>
            <p:spPr bwMode="auto">
              <a:xfrm>
                <a:off x="4416" y="1440"/>
                <a:ext cx="737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5 6</a:t>
                </a:r>
              </a:p>
            </p:txBody>
          </p:sp>
        </p:grpSp>
        <p:grpSp>
          <p:nvGrpSpPr>
            <p:cNvPr id="38984" name="Group 126"/>
            <p:cNvGrpSpPr>
              <a:grpSpLocks/>
            </p:cNvGrpSpPr>
            <p:nvPr/>
          </p:nvGrpSpPr>
          <p:grpSpPr bwMode="auto">
            <a:xfrm>
              <a:off x="3792" y="2064"/>
              <a:ext cx="326" cy="250"/>
              <a:chOff x="336" y="1440"/>
              <a:chExt cx="489" cy="250"/>
            </a:xfrm>
          </p:grpSpPr>
          <p:sp>
            <p:nvSpPr>
              <p:cNvPr id="38991" name="Rectangle 127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8992" name="Text Box 128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48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3 +</a:t>
                </a:r>
              </a:p>
            </p:txBody>
          </p:sp>
        </p:grpSp>
      </p:grpSp>
      <p:grpSp>
        <p:nvGrpSpPr>
          <p:cNvPr id="38989" name="Group 129"/>
          <p:cNvGrpSpPr>
            <a:grpSpLocks/>
          </p:cNvGrpSpPr>
          <p:nvPr/>
        </p:nvGrpSpPr>
        <p:grpSpPr bwMode="auto">
          <a:xfrm>
            <a:off x="2003425" y="2133600"/>
            <a:ext cx="1371600" cy="396875"/>
            <a:chOff x="1344" y="1536"/>
            <a:chExt cx="863" cy="226"/>
          </a:xfrm>
        </p:grpSpPr>
        <p:grpSp>
          <p:nvGrpSpPr>
            <p:cNvPr id="38990" name="Group 130"/>
            <p:cNvGrpSpPr>
              <a:grpSpLocks/>
            </p:cNvGrpSpPr>
            <p:nvPr/>
          </p:nvGrpSpPr>
          <p:grpSpPr bwMode="auto">
            <a:xfrm>
              <a:off x="1344" y="1536"/>
              <a:ext cx="432" cy="226"/>
              <a:chOff x="336" y="1440"/>
              <a:chExt cx="432" cy="226"/>
            </a:xfrm>
          </p:grpSpPr>
          <p:sp>
            <p:nvSpPr>
              <p:cNvPr id="38987" name="Rectangle 131"/>
              <p:cNvSpPr>
                <a:spLocks noChangeArrowheads="1"/>
              </p:cNvSpPr>
              <p:nvPr/>
            </p:nvSpPr>
            <p:spPr bwMode="auto">
              <a:xfrm>
                <a:off x="336" y="1440"/>
                <a:ext cx="432" cy="205"/>
              </a:xfrm>
              <a:prstGeom prst="rect">
                <a:avLst/>
              </a:prstGeom>
              <a:solidFill>
                <a:srgbClr val="CC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8988" name="Text Box 132"/>
              <p:cNvSpPr txBox="1">
                <a:spLocks noChangeArrowheads="1"/>
              </p:cNvSpPr>
              <p:nvPr/>
            </p:nvSpPr>
            <p:spPr bwMode="auto">
              <a:xfrm>
                <a:off x="336" y="1440"/>
                <a:ext cx="32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1 +</a:t>
                </a:r>
              </a:p>
            </p:txBody>
          </p:sp>
        </p:grpSp>
        <p:grpSp>
          <p:nvGrpSpPr>
            <p:cNvPr id="38995" name="Group 133"/>
            <p:cNvGrpSpPr>
              <a:grpSpLocks/>
            </p:cNvGrpSpPr>
            <p:nvPr/>
          </p:nvGrpSpPr>
          <p:grpSpPr bwMode="auto">
            <a:xfrm>
              <a:off x="1632" y="1536"/>
              <a:ext cx="575" cy="226"/>
              <a:chOff x="432" y="1728"/>
              <a:chExt cx="432" cy="226"/>
            </a:xfrm>
          </p:grpSpPr>
          <p:sp>
            <p:nvSpPr>
              <p:cNvPr id="38985" name="Rectangle 134"/>
              <p:cNvSpPr>
                <a:spLocks noChangeArrowheads="1"/>
              </p:cNvSpPr>
              <p:nvPr/>
            </p:nvSpPr>
            <p:spPr bwMode="auto">
              <a:xfrm>
                <a:off x="432" y="1728"/>
                <a:ext cx="432" cy="205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>
                  <a:latin typeface="Wingdings" pitchFamily="2" charset="2"/>
                </a:endParaRPr>
              </a:p>
            </p:txBody>
          </p:sp>
          <p:sp>
            <p:nvSpPr>
              <p:cNvPr id="38986" name="Text Box 135"/>
              <p:cNvSpPr txBox="1">
                <a:spLocks noChangeArrowheads="1"/>
              </p:cNvSpPr>
              <p:nvPr/>
            </p:nvSpPr>
            <p:spPr bwMode="auto">
              <a:xfrm>
                <a:off x="432" y="1728"/>
                <a:ext cx="41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charset="0"/>
                  <a:buChar char="–"/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itchFamily="2" charset="2"/>
                  <a:buChar char="u"/>
                  <a:defRPr sz="20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en-US" sz="2000" b="0">
                    <a:latin typeface="Times New Roman" pitchFamily="18" charset="0"/>
                  </a:rPr>
                  <a:t>2 3 5 6</a:t>
                </a:r>
              </a:p>
            </p:txBody>
          </p:sp>
        </p:grpSp>
      </p:grpSp>
      <p:sp>
        <p:nvSpPr>
          <p:cNvPr id="38971" name="Text Box 136"/>
          <p:cNvSpPr txBox="1">
            <a:spLocks noChangeArrowheads="1"/>
          </p:cNvSpPr>
          <p:nvPr/>
        </p:nvSpPr>
        <p:spPr bwMode="auto">
          <a:xfrm>
            <a:off x="4670425" y="1447800"/>
            <a:ext cx="118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transaction</a:t>
            </a:r>
          </a:p>
        </p:txBody>
      </p:sp>
      <p:sp>
        <p:nvSpPr>
          <p:cNvPr id="38972" name="Rectangle 137"/>
          <p:cNvSpPr>
            <a:spLocks noChangeArrowheads="1"/>
          </p:cNvSpPr>
          <p:nvPr/>
        </p:nvSpPr>
        <p:spPr bwMode="auto">
          <a:xfrm>
            <a:off x="2362200" y="5257800"/>
            <a:ext cx="762000" cy="914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3" name="Line 138"/>
          <p:cNvSpPr>
            <a:spLocks noChangeShapeType="1"/>
          </p:cNvSpPr>
          <p:nvPr/>
        </p:nvSpPr>
        <p:spPr bwMode="auto">
          <a:xfrm flipH="1">
            <a:off x="2743200" y="4800600"/>
            <a:ext cx="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74" name="Line 139"/>
          <p:cNvSpPr>
            <a:spLocks noChangeShapeType="1"/>
          </p:cNvSpPr>
          <p:nvPr/>
        </p:nvSpPr>
        <p:spPr bwMode="auto">
          <a:xfrm>
            <a:off x="2743200" y="4800600"/>
            <a:ext cx="685800" cy="4572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75" name="Rectangle 140"/>
          <p:cNvSpPr>
            <a:spLocks noChangeArrowheads="1"/>
          </p:cNvSpPr>
          <p:nvPr/>
        </p:nvSpPr>
        <p:spPr bwMode="auto">
          <a:xfrm>
            <a:off x="3200400" y="5257800"/>
            <a:ext cx="762000" cy="5334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6" name="Rectangle 141"/>
          <p:cNvSpPr>
            <a:spLocks noChangeArrowheads="1"/>
          </p:cNvSpPr>
          <p:nvPr/>
        </p:nvSpPr>
        <p:spPr bwMode="auto">
          <a:xfrm>
            <a:off x="3886200" y="3429000"/>
            <a:ext cx="6858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7" name="Rectangle 142"/>
          <p:cNvSpPr>
            <a:spLocks noChangeArrowheads="1"/>
          </p:cNvSpPr>
          <p:nvPr/>
        </p:nvSpPr>
        <p:spPr bwMode="auto">
          <a:xfrm>
            <a:off x="3124200" y="4267200"/>
            <a:ext cx="685800" cy="457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78" name="Line 143"/>
          <p:cNvSpPr>
            <a:spLocks noChangeShapeType="1"/>
          </p:cNvSpPr>
          <p:nvPr/>
        </p:nvSpPr>
        <p:spPr bwMode="auto">
          <a:xfrm>
            <a:off x="5638800" y="3886200"/>
            <a:ext cx="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79" name="Line 144"/>
          <p:cNvSpPr>
            <a:spLocks noChangeShapeType="1"/>
          </p:cNvSpPr>
          <p:nvPr/>
        </p:nvSpPr>
        <p:spPr bwMode="auto">
          <a:xfrm>
            <a:off x="5715000" y="3886200"/>
            <a:ext cx="990600" cy="609600"/>
          </a:xfrm>
          <a:prstGeom prst="line">
            <a:avLst/>
          </a:prstGeom>
          <a:noFill/>
          <a:ln w="4445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80" name="Rectangle 145"/>
          <p:cNvSpPr>
            <a:spLocks noChangeArrowheads="1"/>
          </p:cNvSpPr>
          <p:nvPr/>
        </p:nvSpPr>
        <p:spPr bwMode="auto">
          <a:xfrm>
            <a:off x="5181600" y="4495800"/>
            <a:ext cx="838200" cy="11430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81" name="Rectangle 146"/>
          <p:cNvSpPr>
            <a:spLocks noChangeArrowheads="1"/>
          </p:cNvSpPr>
          <p:nvPr/>
        </p:nvSpPr>
        <p:spPr bwMode="auto">
          <a:xfrm>
            <a:off x="6324600" y="4495800"/>
            <a:ext cx="838200" cy="838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8982" name="Text Box 147"/>
          <p:cNvSpPr txBox="1">
            <a:spLocks noChangeArrowheads="1"/>
          </p:cNvSpPr>
          <p:nvPr/>
        </p:nvSpPr>
        <p:spPr bwMode="auto">
          <a:xfrm>
            <a:off x="4038600" y="5943600"/>
            <a:ext cx="4806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itchFamily="18" charset="0"/>
              </a:rPr>
              <a:t>Match transaction against 11 out of 15 candidates</a:t>
            </a:r>
          </a:p>
        </p:txBody>
      </p:sp>
      <p:sp>
        <p:nvSpPr>
          <p:cNvPr id="148" name="Slide Number Placeholder 1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543800" cy="884238"/>
          </a:xfrm>
        </p:spPr>
        <p:txBody>
          <a:bodyPr/>
          <a:lstStyle/>
          <a:p>
            <a:r>
              <a:rPr lang="en-US" altLang="en-US" dirty="0"/>
              <a:t>Rule Generation</a:t>
            </a:r>
          </a:p>
        </p:txBody>
      </p:sp>
      <p:sp>
        <p:nvSpPr>
          <p:cNvPr id="1275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r>
              <a:rPr lang="en-US" altLang="en-US"/>
              <a:t>Given a frequent </a:t>
            </a:r>
            <a:r>
              <a:rPr lang="en-US" altLang="en-US" dirty="0" err="1"/>
              <a:t>itemset</a:t>
            </a:r>
            <a:r>
              <a:rPr lang="en-US" altLang="en-US" dirty="0"/>
              <a:t> L, find all non-empty subsets f </a:t>
            </a:r>
            <a:r>
              <a:rPr lang="en-US" altLang="en-US" dirty="0">
                <a:sym typeface="Symbol" pitchFamily="18" charset="2"/>
              </a:rPr>
              <a:t> L such that f  L – f satisfies the minimum confidence requirement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If {A,B,C,D} is a frequent </a:t>
            </a:r>
            <a:r>
              <a:rPr lang="en-US" altLang="en-US" dirty="0" err="1">
                <a:sym typeface="Symbol" pitchFamily="18" charset="2"/>
              </a:rPr>
              <a:t>itemset</a:t>
            </a:r>
            <a:r>
              <a:rPr lang="en-US" altLang="en-US" dirty="0">
                <a:sym typeface="Symbol" pitchFamily="18" charset="2"/>
              </a:rPr>
              <a:t>, candidate rules:</a:t>
            </a:r>
          </a:p>
          <a:p>
            <a:pPr lvl="2">
              <a:buFont typeface="Wingdings" pitchFamily="2" charset="2"/>
              <a:buNone/>
            </a:pPr>
            <a:r>
              <a:rPr lang="en-US" altLang="en-US" dirty="0">
                <a:sym typeface="Symbol" pitchFamily="18" charset="2"/>
              </a:rPr>
              <a:t>ABC D, 	ABD C, 	ACD B, 	BCD A,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A BCD,	B ACD,	C ABD, 	D ABC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AB CD,	AC  BD, 	AD  BC, 	BC AD,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BD AC, 	CD AB,	</a:t>
            </a:r>
            <a:br>
              <a:rPr lang="en-US" altLang="en-US" dirty="0">
                <a:sym typeface="Symbol" pitchFamily="18" charset="2"/>
              </a:rPr>
            </a:br>
            <a:endParaRPr lang="en-US" altLang="en-US" sz="1000" dirty="0">
              <a:sym typeface="Symbol" pitchFamily="18" charset="2"/>
            </a:endParaRPr>
          </a:p>
          <a:p>
            <a:r>
              <a:rPr lang="en-US" altLang="en-US" dirty="0"/>
              <a:t>If |L| = k, then there are 2</a:t>
            </a:r>
            <a:r>
              <a:rPr lang="en-US" altLang="en-US" baseline="30000" dirty="0"/>
              <a:t>k</a:t>
            </a:r>
            <a:r>
              <a:rPr lang="en-US" altLang="en-US" dirty="0"/>
              <a:t> – 2 candidate association rules (ignoring L </a:t>
            </a:r>
            <a:r>
              <a:rPr lang="en-US" altLang="en-US" dirty="0">
                <a:sym typeface="Symbol" pitchFamily="18" charset="2"/>
              </a:rPr>
              <a:t>  and   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5907" grpId="0" build="p" bldLvl="2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543800" cy="808038"/>
          </a:xfrm>
        </p:spPr>
        <p:txBody>
          <a:bodyPr/>
          <a:lstStyle/>
          <a:p>
            <a:r>
              <a:rPr lang="en-US" altLang="en-US" dirty="0"/>
              <a:t>Rule Generation</a:t>
            </a:r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229600" cy="5562600"/>
          </a:xfrm>
        </p:spPr>
        <p:txBody>
          <a:bodyPr/>
          <a:lstStyle/>
          <a:p>
            <a:r>
              <a:rPr lang="en-US" altLang="en-US" dirty="0">
                <a:sym typeface="Symbol" pitchFamily="18" charset="2"/>
              </a:rPr>
              <a:t>In general, confidence </a:t>
            </a:r>
            <a:r>
              <a:rPr lang="en-US" altLang="en-US" b="1" i="1" dirty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altLang="en-US" dirty="0">
                <a:sym typeface="Symbol" pitchFamily="18" charset="2"/>
              </a:rPr>
              <a:t> does not have an anti-monotone property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	</a:t>
            </a:r>
            <a:r>
              <a:rPr lang="en-US" altLang="en-US" b="1" i="1" dirty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altLang="en-US" dirty="0">
                <a:sym typeface="Symbol" pitchFamily="18" charset="2"/>
              </a:rPr>
              <a:t>(ABC D) can be larger or smaller than </a:t>
            </a:r>
            <a:r>
              <a:rPr lang="en-US" altLang="en-US" b="1" i="1" dirty="0">
                <a:solidFill>
                  <a:srgbClr val="FF0000"/>
                </a:solidFill>
                <a:sym typeface="Symbol" pitchFamily="18" charset="2"/>
              </a:rPr>
              <a:t>c</a:t>
            </a:r>
            <a:r>
              <a:rPr lang="en-US" altLang="en-US" dirty="0">
                <a:sym typeface="Symbol" pitchFamily="18" charset="2"/>
              </a:rPr>
              <a:t>(AB D)</a:t>
            </a:r>
          </a:p>
          <a:p>
            <a:pPr lvl="3"/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But confidence of rules generated from the same </a:t>
            </a:r>
            <a:r>
              <a:rPr lang="en-US" altLang="en-US" dirty="0" err="1">
                <a:sym typeface="Symbol" pitchFamily="18" charset="2"/>
              </a:rPr>
              <a:t>itemset</a:t>
            </a:r>
            <a:r>
              <a:rPr lang="en-US" altLang="en-US" dirty="0">
                <a:sym typeface="Symbol" pitchFamily="18" charset="2"/>
              </a:rPr>
              <a:t> has an anti-monotone property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E.g., Suppose {A,B,C,D} is a frequent 4-itemset: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	</a:t>
            </a:r>
            <a:r>
              <a:rPr lang="en-US" altLang="en-US" b="1" i="1" dirty="0">
                <a:sym typeface="Symbol" pitchFamily="18" charset="2"/>
              </a:rPr>
              <a:t>c</a:t>
            </a:r>
            <a:r>
              <a:rPr lang="en-US" altLang="en-US" dirty="0">
                <a:sym typeface="Symbol" pitchFamily="18" charset="2"/>
              </a:rPr>
              <a:t>(ABC  D)  </a:t>
            </a:r>
            <a:r>
              <a:rPr lang="en-US" altLang="en-US" b="1" i="1" dirty="0">
                <a:sym typeface="Symbol" pitchFamily="18" charset="2"/>
              </a:rPr>
              <a:t>c</a:t>
            </a:r>
            <a:r>
              <a:rPr lang="en-US" altLang="en-US" dirty="0">
                <a:sym typeface="Symbol" pitchFamily="18" charset="2"/>
              </a:rPr>
              <a:t>(AB  CD)  </a:t>
            </a:r>
            <a:r>
              <a:rPr lang="en-US" altLang="en-US" b="1" i="1" dirty="0">
                <a:sym typeface="Symbol" pitchFamily="18" charset="2"/>
              </a:rPr>
              <a:t>c</a:t>
            </a:r>
            <a:r>
              <a:rPr lang="en-US" altLang="en-US" dirty="0">
                <a:sym typeface="Symbol" pitchFamily="18" charset="2"/>
              </a:rPr>
              <a:t>(A  BCD)</a:t>
            </a:r>
          </a:p>
          <a:p>
            <a:pPr lvl="1">
              <a:buFont typeface="Arial" charset="0"/>
              <a:buNone/>
            </a:pPr>
            <a:r>
              <a:rPr lang="en-US" altLang="en-US" dirty="0">
                <a:sym typeface="Symbol" pitchFamily="18" charset="2"/>
              </a:rPr>
              <a:t>  Confidence is anti-monotone </a:t>
            </a:r>
            <a:r>
              <a:rPr lang="en-US" altLang="en-US" dirty="0" err="1">
                <a:sym typeface="Symbol" pitchFamily="18" charset="2"/>
              </a:rPr>
              <a:t>w.r.t</a:t>
            </a:r>
            <a:r>
              <a:rPr lang="en-US" altLang="en-US" dirty="0">
                <a:sym typeface="Symbol" pitchFamily="18" charset="2"/>
              </a:rPr>
              <a:t>. number of items on the RHS of the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D212DC-59E6-444E-AD7D-AB217D4E4668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931" grpId="0" build="p" bldLvl="2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Interestingness Measure: Correlations (Lift)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534400" cy="28956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sz="2000" i="1" dirty="0"/>
              <a:t>play basketball</a:t>
            </a:r>
            <a:r>
              <a:rPr lang="en-US" sz="2000" dirty="0"/>
              <a:t>  </a:t>
            </a:r>
            <a:r>
              <a:rPr lang="en-US" sz="2000" dirty="0">
                <a:sym typeface="Symbol" pitchFamily="18" charset="2"/>
              </a:rPr>
              <a:t> </a:t>
            </a:r>
            <a:r>
              <a:rPr lang="en-US" sz="2000" i="1" dirty="0">
                <a:sym typeface="Symbol" pitchFamily="18" charset="2"/>
              </a:rPr>
              <a:t>eat cereal</a:t>
            </a:r>
            <a:r>
              <a:rPr lang="en-US" sz="2000" dirty="0">
                <a:sym typeface="Symbol" pitchFamily="18" charset="2"/>
              </a:rPr>
              <a:t> [40%, 66.7%]  is misleading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>
                <a:sym typeface="Symbol" pitchFamily="18" charset="2"/>
              </a:rPr>
              <a:t>The overall % of students eating cereal is 75% &gt; 66.7%.</a:t>
            </a:r>
          </a:p>
          <a:p>
            <a:pPr eaLnBrk="1" hangingPunct="1">
              <a:lnSpc>
                <a:spcPct val="130000"/>
              </a:lnSpc>
            </a:pPr>
            <a:r>
              <a:rPr lang="en-US" sz="2000" i="1" dirty="0"/>
              <a:t>play basketball</a:t>
            </a:r>
            <a:r>
              <a:rPr lang="en-US" sz="2000" dirty="0"/>
              <a:t>  </a:t>
            </a:r>
            <a:r>
              <a:rPr lang="en-US" sz="2000" dirty="0">
                <a:sym typeface="Symbol" pitchFamily="18" charset="2"/>
              </a:rPr>
              <a:t> </a:t>
            </a:r>
            <a:r>
              <a:rPr lang="en-US" sz="2000" i="1" dirty="0">
                <a:sym typeface="Symbol" pitchFamily="18" charset="2"/>
              </a:rPr>
              <a:t>not eat cereal</a:t>
            </a:r>
            <a:r>
              <a:rPr lang="en-US" sz="2000" dirty="0">
                <a:sym typeface="Symbol" pitchFamily="18" charset="2"/>
              </a:rPr>
              <a:t> [20%, 33.3%] is more accurate, although with lower support and confidence</a:t>
            </a:r>
          </a:p>
          <a:p>
            <a:pPr eaLnBrk="1" hangingPunct="1">
              <a:lnSpc>
                <a:spcPct val="130000"/>
              </a:lnSpc>
            </a:pPr>
            <a:r>
              <a:rPr lang="en-US" sz="2000" dirty="0">
                <a:sym typeface="Symbol" pitchFamily="18" charset="2"/>
              </a:rPr>
              <a:t>Measure of dependent/correlated events: </a:t>
            </a:r>
            <a:r>
              <a:rPr lang="en-US" sz="2000" dirty="0">
                <a:solidFill>
                  <a:schemeClr val="hlink"/>
                </a:solidFill>
                <a:sym typeface="Symbol" pitchFamily="18" charset="2"/>
              </a:rPr>
              <a:t>lift</a:t>
            </a:r>
          </a:p>
        </p:txBody>
      </p:sp>
      <p:graphicFrame>
        <p:nvGraphicFramePr>
          <p:cNvPr id="58373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6200" y="4724400"/>
          <a:ext cx="42672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700" imgH="393700" progId="Equation.3">
                  <p:embed/>
                </p:oleObj>
              </mc:Choice>
              <mc:Fallback>
                <p:oleObj name="Equation" r:id="rId3" imgW="2679700" imgH="393700" progId="Equation.3">
                  <p:embed/>
                  <p:pic>
                    <p:nvPicPr>
                      <p:cNvPr id="58373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724400"/>
                        <a:ext cx="4267200" cy="623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8050" name="Group 50"/>
          <p:cNvGraphicFramePr>
            <a:graphicFrameLocks noGrp="1"/>
          </p:cNvGraphicFramePr>
          <p:nvPr/>
        </p:nvGraphicFramePr>
        <p:xfrm>
          <a:off x="4495800" y="3776663"/>
          <a:ext cx="4495800" cy="155733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basketball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cereal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8401" name="Object 31"/>
          <p:cNvGraphicFramePr>
            <a:graphicFrameLocks noChangeAspect="1"/>
          </p:cNvGraphicFramePr>
          <p:nvPr/>
        </p:nvGraphicFramePr>
        <p:xfrm>
          <a:off x="990600" y="3657600"/>
          <a:ext cx="25146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700" imgH="419100" progId="Equation.3">
                  <p:embed/>
                </p:oleObj>
              </mc:Choice>
              <mc:Fallback>
                <p:oleObj name="Equation" r:id="rId5" imgW="1028700" imgH="419100" progId="Equation.3">
                  <p:embed/>
                  <p:pic>
                    <p:nvPicPr>
                      <p:cNvPr id="5840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657600"/>
                        <a:ext cx="2514600" cy="95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2" name="Object 3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6200" y="5464175"/>
          <a:ext cx="44196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55900" imgH="393700" progId="Equation.3">
                  <p:embed/>
                </p:oleObj>
              </mc:Choice>
              <mc:Fallback>
                <p:oleObj name="Equation" r:id="rId7" imgW="2755900" imgH="393700" progId="Equation.3">
                  <p:embed/>
                  <p:pic>
                    <p:nvPicPr>
                      <p:cNvPr id="58402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5464175"/>
                        <a:ext cx="4419600" cy="631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5B394F-EBBB-4EB1-8E60-E350F2A2FB11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Are </a:t>
            </a:r>
            <a:r>
              <a:rPr lang="en-US" sz="3600" i="1" dirty="0">
                <a:solidFill>
                  <a:schemeClr val="tx2"/>
                </a:solidFill>
                <a:latin typeface="+mj-lt"/>
              </a:rPr>
              <a:t>lift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 and </a:t>
            </a:r>
            <a:r>
              <a:rPr lang="en-US" sz="3600" dirty="0">
                <a:solidFill>
                  <a:schemeClr val="tx2"/>
                </a:solidFill>
                <a:latin typeface="+mj-lt"/>
                <a:sym typeface="Symbol" pitchFamily="18" charset="2"/>
              </a:rPr>
              <a:t></a:t>
            </a:r>
            <a:r>
              <a:rPr lang="en-US" sz="3600" baseline="30000" dirty="0">
                <a:solidFill>
                  <a:schemeClr val="tx2"/>
                </a:solidFill>
                <a:latin typeface="+mj-lt"/>
                <a:sym typeface="Symbol" pitchFamily="18" charset="2"/>
              </a:rPr>
              <a:t>2</a:t>
            </a:r>
            <a:r>
              <a:rPr lang="en-US" sz="3600" dirty="0">
                <a:solidFill>
                  <a:schemeClr val="tx2"/>
                </a:solidFill>
                <a:latin typeface="+mj-lt"/>
              </a:rPr>
              <a:t>  Good Measures of Correlation?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Lift and </a:t>
                </a:r>
                <a:r>
                  <a:rPr lang="en-US" dirty="0">
                    <a:sym typeface="Symbol" pitchFamily="18" charset="2"/>
                  </a:rPr>
                  <a:t></a:t>
                </a:r>
                <a:r>
                  <a:rPr lang="en-US" baseline="30000" dirty="0">
                    <a:sym typeface="Symbol" pitchFamily="18" charset="2"/>
                  </a:rPr>
                  <a:t>2</a:t>
                </a:r>
                <a:r>
                  <a:rPr lang="en-US" dirty="0"/>
                  <a:t>are affected by null-transaction</a:t>
                </a:r>
              </a:p>
              <a:p>
                <a:pPr lvl="1"/>
                <a:r>
                  <a:rPr lang="en-US" dirty="0"/>
                  <a:t>E.g., number of transactions that do not contain milk nor coffee</a:t>
                </a:r>
              </a:p>
              <a:p>
                <a:r>
                  <a:rPr lang="en-US" dirty="0" err="1"/>
                  <a:t>All_confidence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all</m:t>
                    </m:r>
                    <m:r>
                      <m:rPr>
                        <m:nor/>
                      </m:rPr>
                      <a:rPr lang="en-US" dirty="0"/>
                      <m:t>_</m:t>
                    </m:r>
                    <m:r>
                      <m:rPr>
                        <m:nor/>
                      </m:rPr>
                      <a:rPr lang="en-US" dirty="0" smtClean="0"/>
                      <m:t>conf</m:t>
                    </m:r>
                    <m:r>
                      <m:rPr>
                        <m:nor/>
                      </m:rPr>
                      <a:rPr lang="en-US" b="0" i="0" dirty="0" smtClean="0"/>
                      <m:t>(</m:t>
                    </m:r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m:rPr>
                        <m:nor/>
                      </m:rPr>
                      <a:rPr lang="en-US" b="0" i="0" dirty="0" smtClean="0"/>
                      <m:t>,</m:t>
                    </m:r>
                    <m:r>
                      <m:rPr>
                        <m:nor/>
                      </m:rPr>
                      <a:rPr lang="en-US" b="0" i="0" dirty="0" smtClean="0"/>
                      <m:t>B</m:t>
                    </m:r>
                    <m:r>
                      <m:rPr>
                        <m:nor/>
                      </m:rPr>
                      <a:rPr lang="en-US" b="0" i="0" dirty="0" smtClean="0"/>
                      <m:t>)=</m:t>
                    </m:r>
                    <m:r>
                      <m:rPr>
                        <m:nor/>
                      </m:rPr>
                      <a:rPr lang="en-US" b="0" i="0" dirty="0" smtClean="0"/>
                      <m:t>min</m:t>
                    </m:r>
                    <m:r>
                      <m:rPr>
                        <m:nor/>
                      </m:rPr>
                      <a:rPr lang="en-US" b="0" i="0" dirty="0" smtClean="0"/>
                      <m:t>{</m:t>
                    </m:r>
                    <m:r>
                      <m:rPr>
                        <m:nor/>
                      </m:rPr>
                      <a:rPr lang="en-US" b="0" i="0" dirty="0" smtClean="0"/>
                      <m:t>P</m:t>
                    </m:r>
                    <m:r>
                      <m:rPr>
                        <m:nor/>
                      </m:rPr>
                      <a:rPr lang="en-US" b="0" i="0" dirty="0" smtClean="0"/>
                      <m:t>(</m:t>
                    </m:r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m:rPr>
                        <m:nor/>
                      </m:rPr>
                      <a:rPr lang="en-US" b="0" i="0" dirty="0" smtClean="0"/>
                      <m:t>|</m:t>
                    </m:r>
                    <m:r>
                      <m:rPr>
                        <m:nor/>
                      </m:rPr>
                      <a:rPr lang="en-US" b="0" i="0" dirty="0" smtClean="0"/>
                      <m:t>B</m:t>
                    </m:r>
                    <m:r>
                      <m:rPr>
                        <m:nor/>
                      </m:rPr>
                      <a:rPr lang="en-US" b="0" i="0" dirty="0" smtClean="0"/>
                      <m:t>),</m:t>
                    </m:r>
                    <m:r>
                      <m:rPr>
                        <m:nor/>
                      </m:rPr>
                      <a:rPr lang="en-US" b="0" i="0" dirty="0" smtClean="0"/>
                      <m:t>P</m:t>
                    </m:r>
                    <m:r>
                      <m:rPr>
                        <m:nor/>
                      </m:rPr>
                      <a:rPr lang="en-US" b="0" i="0" dirty="0" smtClean="0"/>
                      <m:t>(</m:t>
                    </m:r>
                    <m:r>
                      <m:rPr>
                        <m:nor/>
                      </m:rPr>
                      <a:rPr lang="en-US" b="0" i="0" dirty="0" smtClean="0"/>
                      <m:t>B</m:t>
                    </m:r>
                    <m:r>
                      <m:rPr>
                        <m:nor/>
                      </m:rPr>
                      <a:rPr lang="en-US" b="0" i="0" dirty="0" smtClean="0"/>
                      <m:t>|</m:t>
                    </m:r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m:rPr>
                        <m:nor/>
                      </m:rPr>
                      <a:rPr lang="en-US" b="0" i="0" dirty="0" smtClean="0"/>
                      <m:t>)}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Max_confidence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max</m:t>
                    </m:r>
                    <m:r>
                      <a:rPr lang="en-US" b="0" i="1" smtClean="0">
                        <a:latin typeface="Cambria Math"/>
                      </a:rPr>
                      <m:t>_</m:t>
                    </m:r>
                    <m:r>
                      <a:rPr lang="en-US" b="0" i="1" smtClean="0">
                        <a:latin typeface="Cambria Math"/>
                      </a:rPr>
                      <m:t>𝑐𝑜𝑛𝑓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ax</m:t>
                    </m:r>
                    <m:r>
                      <m:rPr>
                        <m:nor/>
                      </m:rPr>
                      <a:rPr lang="en-US" dirty="0"/>
                      <m:t>{</m:t>
                    </m:r>
                    <m:r>
                      <m:rPr>
                        <m:nor/>
                      </m:rPr>
                      <a:rPr lang="en-US" dirty="0"/>
                      <m:t>P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dirty="0"/>
                      <m:t>A</m:t>
                    </m:r>
                    <m:r>
                      <m:rPr>
                        <m:nor/>
                      </m:rPr>
                      <a:rPr lang="en-US" dirty="0"/>
                      <m:t>|</m:t>
                    </m:r>
                    <m:r>
                      <m:rPr>
                        <m:nor/>
                      </m:rPr>
                      <a:rPr lang="en-US" dirty="0"/>
                      <m:t>B</m:t>
                    </m:r>
                    <m:r>
                      <m:rPr>
                        <m:nor/>
                      </m:rPr>
                      <a:rPr lang="en-US" dirty="0"/>
                      <m:t>),</m:t>
                    </m:r>
                    <m:r>
                      <m:rPr>
                        <m:nor/>
                      </m:rPr>
                      <a:rPr lang="en-US" dirty="0"/>
                      <m:t>P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dirty="0"/>
                      <m:t>B</m:t>
                    </m:r>
                    <m:r>
                      <m:rPr>
                        <m:nor/>
                      </m:rPr>
                      <a:rPr lang="en-US" dirty="0"/>
                      <m:t>|</m:t>
                    </m:r>
                    <m:r>
                      <m:rPr>
                        <m:nor/>
                      </m:rPr>
                      <a:rPr lang="en-US" dirty="0"/>
                      <m:t>A</m:t>
                    </m:r>
                    <m:r>
                      <m:rPr>
                        <m:nor/>
                      </m:rPr>
                      <a:rPr lang="en-US" dirty="0"/>
                      <m:t>)}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Kulczynski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𝐾𝑢𝑙𝑐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e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𝑃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|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))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Cosine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𝑐𝑜𝑠𝑖𝑛𝑒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𝐵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×</m:t>
                        </m:r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  <m:r>
                          <a:rPr lang="en-US" b="0" i="1" smtClean="0">
                            <a:latin typeface="Cambria Math"/>
                          </a:rPr>
                          <m:t>|</m:t>
                        </m:r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ra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4" t="-3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236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Partition: Scan Database Only Twice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2743200"/>
          </a:xfrm>
        </p:spPr>
        <p:txBody>
          <a:bodyPr/>
          <a:lstStyle/>
          <a:p>
            <a:pPr eaLnBrk="1" hangingPunct="1"/>
            <a:r>
              <a:rPr lang="en-US" sz="2400" dirty="0"/>
              <a:t>Any </a:t>
            </a:r>
            <a:r>
              <a:rPr lang="en-US" sz="2400" dirty="0" err="1"/>
              <a:t>itemset</a:t>
            </a:r>
            <a:r>
              <a:rPr lang="en-US" sz="2400" dirty="0"/>
              <a:t> that is potentially frequent in DB must be frequent in at least one of the partitions of DB</a:t>
            </a:r>
          </a:p>
          <a:p>
            <a:pPr lvl="1" eaLnBrk="1" hangingPunct="1"/>
            <a:r>
              <a:rPr lang="en-US" sz="2400" dirty="0"/>
              <a:t>Scan 1: partition database and find local frequent patterns</a:t>
            </a:r>
          </a:p>
          <a:p>
            <a:pPr lvl="1" eaLnBrk="1" hangingPunct="1"/>
            <a:r>
              <a:rPr lang="en-US" sz="2400" dirty="0"/>
              <a:t>Scan 2: consolidate global frequent patterns</a:t>
            </a:r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A. </a:t>
            </a:r>
            <a:r>
              <a:rPr lang="en-US" sz="2400" dirty="0" err="1"/>
              <a:t>Savasere</a:t>
            </a:r>
            <a:r>
              <a:rPr lang="en-US" sz="2400" dirty="0"/>
              <a:t>, E. </a:t>
            </a:r>
            <a:r>
              <a:rPr lang="en-US" sz="2400" dirty="0" err="1"/>
              <a:t>Omiecinski</a:t>
            </a:r>
            <a:r>
              <a:rPr lang="en-US" sz="2400" dirty="0"/>
              <a:t> and S. </a:t>
            </a:r>
            <a:r>
              <a:rPr lang="en-US" sz="2400" dirty="0" err="1"/>
              <a:t>Navathe</a:t>
            </a:r>
            <a:r>
              <a:rPr lang="en-US" sz="2400" dirty="0"/>
              <a:t>, </a:t>
            </a:r>
            <a:r>
              <a:rPr lang="en-US" sz="2400" i="1" dirty="0">
                <a:solidFill>
                  <a:schemeClr val="tx2"/>
                </a:solidFill>
              </a:rPr>
              <a:t>VLDB’95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371600"/>
            <a:ext cx="8497887" cy="5105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sz="2000" dirty="0"/>
              <a:t>A </a:t>
            </a:r>
            <a:r>
              <a:rPr lang="en-US" sz="2000" i="1" dirty="0"/>
              <a:t>k</a:t>
            </a:r>
            <a:r>
              <a:rPr lang="en-US" sz="2000" dirty="0"/>
              <a:t>-</a:t>
            </a:r>
            <a:r>
              <a:rPr lang="en-US" sz="2000" dirty="0" err="1"/>
              <a:t>itemset</a:t>
            </a:r>
            <a:r>
              <a:rPr lang="en-US" sz="2000" dirty="0"/>
              <a:t> whose corresponding hashing bucket count is below the threshold cannot be frequent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/>
              <a:t>Candidates: a, b, c, d, 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/>
              <a:t>Hash entries</a:t>
            </a:r>
          </a:p>
          <a:p>
            <a:pPr lvl="2" eaLnBrk="1" hangingPunct="1">
              <a:lnSpc>
                <a:spcPct val="130000"/>
              </a:lnSpc>
            </a:pPr>
            <a:r>
              <a:rPr lang="en-US" sz="2000" dirty="0"/>
              <a:t>{</a:t>
            </a:r>
            <a:r>
              <a:rPr lang="en-US" sz="2000" dirty="0" err="1"/>
              <a:t>ab</a:t>
            </a:r>
            <a:r>
              <a:rPr lang="en-US" sz="2000" dirty="0"/>
              <a:t>, ad, </a:t>
            </a:r>
            <a:r>
              <a:rPr lang="en-US" sz="2000" dirty="0" err="1"/>
              <a:t>ae</a:t>
            </a:r>
            <a:r>
              <a:rPr lang="en-US" sz="2000" dirty="0"/>
              <a:t>}</a:t>
            </a:r>
          </a:p>
          <a:p>
            <a:pPr lvl="2" eaLnBrk="1" hangingPunct="1">
              <a:lnSpc>
                <a:spcPct val="130000"/>
              </a:lnSpc>
            </a:pPr>
            <a:r>
              <a:rPr lang="en-US" sz="2000" dirty="0"/>
              <a:t>{</a:t>
            </a:r>
            <a:r>
              <a:rPr lang="en-US" sz="2000" dirty="0" err="1"/>
              <a:t>bd</a:t>
            </a:r>
            <a:r>
              <a:rPr lang="en-US" sz="2000" dirty="0"/>
              <a:t>, be, de} </a:t>
            </a:r>
          </a:p>
          <a:p>
            <a:pPr lvl="2" eaLnBrk="1" hangingPunct="1">
              <a:lnSpc>
                <a:spcPct val="130000"/>
              </a:lnSpc>
            </a:pPr>
            <a:r>
              <a:rPr lang="en-US" sz="2000" dirty="0"/>
              <a:t>…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/>
              <a:t>Frequent 1-itemset: a, b, d, 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000" dirty="0" err="1"/>
              <a:t>ab</a:t>
            </a:r>
            <a:r>
              <a:rPr lang="en-US" sz="2000" dirty="0"/>
              <a:t> is not a candidate 2-itemset if the sum of count of {</a:t>
            </a:r>
            <a:r>
              <a:rPr lang="en-US" sz="2000" dirty="0" err="1"/>
              <a:t>ab</a:t>
            </a:r>
            <a:r>
              <a:rPr lang="en-US" sz="2000" dirty="0"/>
              <a:t>, ad, </a:t>
            </a:r>
            <a:r>
              <a:rPr lang="en-US" sz="2000" dirty="0" err="1"/>
              <a:t>ae</a:t>
            </a:r>
            <a:r>
              <a:rPr lang="en-US" sz="2000" dirty="0"/>
              <a:t>} is below support threshold</a:t>
            </a:r>
          </a:p>
          <a:p>
            <a:pPr eaLnBrk="1" hangingPunct="1">
              <a:lnSpc>
                <a:spcPct val="130000"/>
              </a:lnSpc>
            </a:pPr>
            <a:r>
              <a:rPr lang="en-US" sz="2000" dirty="0"/>
              <a:t>(J. Park, M. Chen, and P. Yu. </a:t>
            </a:r>
            <a:r>
              <a:rPr lang="en-US" sz="2000" dirty="0">
                <a:solidFill>
                  <a:schemeClr val="tx2"/>
                </a:solidFill>
              </a:rPr>
              <a:t>An effective hash-based algorithm for mining association rules</a:t>
            </a:r>
            <a:r>
              <a:rPr lang="en-US" sz="2000" dirty="0"/>
              <a:t>. </a:t>
            </a:r>
            <a:r>
              <a:rPr lang="en-US" sz="2000" i="1" dirty="0">
                <a:solidFill>
                  <a:schemeClr val="tx2"/>
                </a:solidFill>
              </a:rPr>
              <a:t>SIGMOD’95)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715000" y="1981200"/>
            <a:ext cx="2133600" cy="2547938"/>
            <a:chOff x="5715000" y="1981200"/>
            <a:chExt cx="2133600" cy="2548354"/>
          </a:xfrm>
        </p:grpSpPr>
        <p:sp>
          <p:nvSpPr>
            <p:cNvPr id="26631" name="Rectangle 6"/>
            <p:cNvSpPr>
              <a:spLocks noChangeArrowheads="1"/>
            </p:cNvSpPr>
            <p:nvPr/>
          </p:nvSpPr>
          <p:spPr bwMode="auto">
            <a:xfrm>
              <a:off x="5715000" y="1981200"/>
              <a:ext cx="2133600" cy="2514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26632" name="Straight Connector 8"/>
            <p:cNvCxnSpPr>
              <a:cxnSpLocks noChangeShapeType="1"/>
            </p:cNvCxnSpPr>
            <p:nvPr/>
          </p:nvCxnSpPr>
          <p:spPr bwMode="auto">
            <a:xfrm>
              <a:off x="5715000" y="2360612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6633" name="Straight Connector 10"/>
            <p:cNvCxnSpPr>
              <a:cxnSpLocks noChangeShapeType="1"/>
            </p:cNvCxnSpPr>
            <p:nvPr/>
          </p:nvCxnSpPr>
          <p:spPr bwMode="auto">
            <a:xfrm>
              <a:off x="5715000" y="2667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6634" name="Straight Connector 11"/>
            <p:cNvCxnSpPr>
              <a:cxnSpLocks noChangeShapeType="1"/>
            </p:cNvCxnSpPr>
            <p:nvPr/>
          </p:nvCxnSpPr>
          <p:spPr bwMode="auto">
            <a:xfrm>
              <a:off x="5715000" y="3048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6635" name="Straight Connector 12"/>
            <p:cNvCxnSpPr>
              <a:cxnSpLocks noChangeShapeType="1"/>
            </p:cNvCxnSpPr>
            <p:nvPr/>
          </p:nvCxnSpPr>
          <p:spPr bwMode="auto">
            <a:xfrm>
              <a:off x="5715000" y="4191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26636" name="Straight Connector 14"/>
            <p:cNvCxnSpPr>
              <a:cxnSpLocks noChangeShapeType="1"/>
            </p:cNvCxnSpPr>
            <p:nvPr/>
          </p:nvCxnSpPr>
          <p:spPr bwMode="auto">
            <a:xfrm rot="5400000">
              <a:off x="5143500" y="3238500"/>
              <a:ext cx="2514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</p:cxnSp>
        <p:sp>
          <p:nvSpPr>
            <p:cNvPr id="26637" name="TextBox 15"/>
            <p:cNvSpPr txBox="1">
              <a:spLocks noChangeArrowheads="1"/>
            </p:cNvSpPr>
            <p:nvPr/>
          </p:nvSpPr>
          <p:spPr bwMode="auto">
            <a:xfrm>
              <a:off x="5715000" y="1981200"/>
              <a:ext cx="74892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count</a:t>
              </a:r>
            </a:p>
          </p:txBody>
        </p:sp>
        <p:sp>
          <p:nvSpPr>
            <p:cNvPr id="26638" name="TextBox 16"/>
            <p:cNvSpPr txBox="1">
              <a:spLocks noChangeArrowheads="1"/>
            </p:cNvSpPr>
            <p:nvPr/>
          </p:nvSpPr>
          <p:spPr bwMode="auto">
            <a:xfrm>
              <a:off x="6553200" y="1981200"/>
              <a:ext cx="10668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/>
                <a:t>itemsets</a:t>
              </a:r>
            </a:p>
          </p:txBody>
        </p:sp>
        <p:sp>
          <p:nvSpPr>
            <p:cNvPr id="26639" name="TextBox 17"/>
            <p:cNvSpPr txBox="1">
              <a:spLocks noChangeArrowheads="1"/>
            </p:cNvSpPr>
            <p:nvPr/>
          </p:nvSpPr>
          <p:spPr bwMode="auto">
            <a:xfrm>
              <a:off x="5867400" y="2404646"/>
              <a:ext cx="5334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35</a:t>
              </a:r>
            </a:p>
          </p:txBody>
        </p:sp>
        <p:sp>
          <p:nvSpPr>
            <p:cNvPr id="26640" name="TextBox 18"/>
            <p:cNvSpPr txBox="1">
              <a:spLocks noChangeArrowheads="1"/>
            </p:cNvSpPr>
            <p:nvPr/>
          </p:nvSpPr>
          <p:spPr bwMode="auto">
            <a:xfrm>
              <a:off x="6477000" y="2362200"/>
              <a:ext cx="13716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{ab, ad, ae}</a:t>
              </a:r>
            </a:p>
          </p:txBody>
        </p:sp>
        <p:sp>
          <p:nvSpPr>
            <p:cNvPr id="26641" name="TextBox 19"/>
            <p:cNvSpPr txBox="1">
              <a:spLocks noChangeArrowheads="1"/>
            </p:cNvSpPr>
            <p:nvPr/>
          </p:nvSpPr>
          <p:spPr bwMode="auto">
            <a:xfrm>
              <a:off x="6400800" y="4191000"/>
              <a:ext cx="13716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{yz, qs, wt}</a:t>
              </a:r>
            </a:p>
          </p:txBody>
        </p:sp>
        <p:sp>
          <p:nvSpPr>
            <p:cNvPr id="26642" name="TextBox 20"/>
            <p:cNvSpPr txBox="1">
              <a:spLocks noChangeArrowheads="1"/>
            </p:cNvSpPr>
            <p:nvPr/>
          </p:nvSpPr>
          <p:spPr bwMode="auto">
            <a:xfrm>
              <a:off x="5867400" y="2667000"/>
              <a:ext cx="5334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88</a:t>
              </a:r>
            </a:p>
          </p:txBody>
        </p:sp>
        <p:sp>
          <p:nvSpPr>
            <p:cNvPr id="26643" name="TextBox 21"/>
            <p:cNvSpPr txBox="1">
              <a:spLocks noChangeArrowheads="1"/>
            </p:cNvSpPr>
            <p:nvPr/>
          </p:nvSpPr>
          <p:spPr bwMode="auto">
            <a:xfrm>
              <a:off x="5791200" y="4191000"/>
              <a:ext cx="5334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102</a:t>
              </a:r>
            </a:p>
          </p:txBody>
        </p:sp>
        <p:sp>
          <p:nvSpPr>
            <p:cNvPr id="26644" name="TextBox 22"/>
            <p:cNvSpPr txBox="1">
              <a:spLocks noChangeArrowheads="1"/>
            </p:cNvSpPr>
            <p:nvPr/>
          </p:nvSpPr>
          <p:spPr bwMode="auto">
            <a:xfrm flipV="1">
              <a:off x="5943600" y="3200400"/>
              <a:ext cx="2286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...</a:t>
              </a:r>
            </a:p>
          </p:txBody>
        </p:sp>
        <p:sp>
          <p:nvSpPr>
            <p:cNvPr id="26645" name="TextBox 23"/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3716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{bd, be, de}</a:t>
              </a:r>
            </a:p>
          </p:txBody>
        </p:sp>
        <p:sp>
          <p:nvSpPr>
            <p:cNvPr id="26646" name="TextBox 24"/>
            <p:cNvSpPr txBox="1">
              <a:spLocks noChangeArrowheads="1"/>
            </p:cNvSpPr>
            <p:nvPr/>
          </p:nvSpPr>
          <p:spPr bwMode="auto">
            <a:xfrm flipV="1">
              <a:off x="7010400" y="3276600"/>
              <a:ext cx="2286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/>
                <a:t>...</a:t>
              </a:r>
            </a:p>
          </p:txBody>
        </p:sp>
      </p:grpSp>
      <p:sp>
        <p:nvSpPr>
          <p:cNvPr id="26630" name="Rectangle 26"/>
          <p:cNvSpPr>
            <a:spLocks noChangeArrowheads="1"/>
          </p:cNvSpPr>
          <p:nvPr/>
        </p:nvSpPr>
        <p:spPr bwMode="auto">
          <a:xfrm>
            <a:off x="5943600" y="4495800"/>
            <a:ext cx="14636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b="1"/>
              <a:t>Hash Table</a:t>
            </a: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DHP: Reduce the Number of Candidates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Transaction Reduction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2743200"/>
          </a:xfrm>
        </p:spPr>
        <p:txBody>
          <a:bodyPr/>
          <a:lstStyle/>
          <a:p>
            <a:r>
              <a:rPr lang="en-US" sz="2400" i="1" dirty="0">
                <a:solidFill>
                  <a:srgbClr val="FF0000"/>
                </a:solidFill>
              </a:rPr>
              <a:t>A transaction that does not contain any frequent k-</a:t>
            </a:r>
            <a:r>
              <a:rPr lang="en-US" sz="2400" i="1" dirty="0" err="1">
                <a:solidFill>
                  <a:srgbClr val="FF0000"/>
                </a:solidFill>
              </a:rPr>
              <a:t>itemsets</a:t>
            </a:r>
            <a:r>
              <a:rPr lang="en-US" sz="2400" i="1" dirty="0">
                <a:solidFill>
                  <a:srgbClr val="FF0000"/>
                </a:solidFill>
              </a:rPr>
              <a:t> cannot contain any frequent (k+1)-</a:t>
            </a:r>
            <a:r>
              <a:rPr lang="en-US" sz="2400" i="1" dirty="0" err="1">
                <a:solidFill>
                  <a:srgbClr val="FF0000"/>
                </a:solidFill>
              </a:rPr>
              <a:t>itemsets</a:t>
            </a:r>
            <a:endParaRPr lang="en-US" sz="2400" i="1" dirty="0">
              <a:solidFill>
                <a:srgbClr val="FF0000"/>
              </a:solidFill>
            </a:endParaRPr>
          </a:p>
          <a:p>
            <a:r>
              <a:rPr lang="en-US" sz="2400" dirty="0"/>
              <a:t>Such transaction can be removed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447800"/>
            <a:ext cx="8610600" cy="5181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400" dirty="0">
                <a:latin typeface="+mn-lt"/>
              </a:rPr>
              <a:t>Select a sample of original database, mine frequent patterns within sample using </a:t>
            </a:r>
            <a:r>
              <a:rPr lang="en-US" sz="2400" dirty="0" err="1">
                <a:latin typeface="+mn-lt"/>
              </a:rPr>
              <a:t>Apriori</a:t>
            </a:r>
            <a:endParaRPr lang="en-US" sz="2400" dirty="0">
              <a:latin typeface="+mn-lt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400" dirty="0">
                <a:latin typeface="+mn-lt"/>
              </a:rPr>
              <a:t>Scan database once to verify frequent </a:t>
            </a:r>
            <a:r>
              <a:rPr lang="en-US" sz="2400" dirty="0" err="1">
                <a:latin typeface="+mn-lt"/>
              </a:rPr>
              <a:t>itemsets</a:t>
            </a:r>
            <a:r>
              <a:rPr lang="en-US" sz="2400" dirty="0">
                <a:latin typeface="+mn-lt"/>
              </a:rPr>
              <a:t> found in sample, only </a:t>
            </a:r>
            <a:r>
              <a:rPr lang="en-US" sz="2400" i="1" dirty="0">
                <a:solidFill>
                  <a:schemeClr val="hlink"/>
                </a:solidFill>
                <a:latin typeface="+mn-lt"/>
              </a:rPr>
              <a:t>borders</a:t>
            </a:r>
            <a:r>
              <a:rPr lang="en-US" sz="2400" i="1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of closure of frequent patterns are checked</a:t>
            </a:r>
          </a:p>
          <a:p>
            <a:pPr marL="731520" lvl="1" indent="-274320" eaLnBrk="1" fontAlgn="auto" hangingPunct="1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>
                <a:latin typeface="+mn-lt"/>
              </a:rPr>
              <a:t>Example: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check </a:t>
            </a:r>
            <a:r>
              <a:rPr lang="en-US" sz="2400" i="1" dirty="0" err="1">
                <a:solidFill>
                  <a:srgbClr val="FF0000"/>
                </a:solidFill>
                <a:latin typeface="+mn-lt"/>
              </a:rPr>
              <a:t>abcd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 instead of </a:t>
            </a:r>
            <a:r>
              <a:rPr lang="en-US" sz="2400" i="1" dirty="0" err="1">
                <a:solidFill>
                  <a:srgbClr val="FF0000"/>
                </a:solidFill>
                <a:latin typeface="+mn-lt"/>
              </a:rPr>
              <a:t>ab</a:t>
            </a:r>
            <a:r>
              <a:rPr lang="en-US" sz="2400" i="1" dirty="0">
                <a:solidFill>
                  <a:srgbClr val="FF0000"/>
                </a:solidFill>
                <a:latin typeface="+mn-lt"/>
              </a:rPr>
              <a:t>, ac, …, etc.</a:t>
            </a:r>
            <a:endParaRPr lang="en-US" sz="2400" dirty="0">
              <a:solidFill>
                <a:srgbClr val="FF0000"/>
              </a:solidFill>
              <a:latin typeface="+mn-lt"/>
            </a:endParaRPr>
          </a:p>
          <a:p>
            <a:pPr marL="274320" indent="-274320" eaLnBrk="1" fontAlgn="auto" hangingPunct="1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>
                <a:latin typeface="+mn-lt"/>
              </a:rPr>
              <a:t>Scan database again to find missed frequent patterns</a:t>
            </a:r>
          </a:p>
          <a:p>
            <a:pPr marL="274320" indent="-274320" eaLnBrk="1" fontAlgn="auto" hangingPunct="1">
              <a:lnSpc>
                <a:spcPct val="12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>
                <a:latin typeface="+mn-lt"/>
              </a:rPr>
              <a:t>H. </a:t>
            </a:r>
            <a:r>
              <a:rPr lang="en-US" sz="2400" dirty="0" err="1">
                <a:latin typeface="+mn-lt"/>
              </a:rPr>
              <a:t>Toivonen</a:t>
            </a:r>
            <a:r>
              <a:rPr lang="en-US" sz="2400" dirty="0">
                <a:latin typeface="+mn-lt"/>
              </a:rPr>
              <a:t>. </a:t>
            </a:r>
            <a:r>
              <a:rPr lang="en-US" sz="2400" dirty="0">
                <a:solidFill>
                  <a:schemeClr val="tx2"/>
                </a:solidFill>
                <a:latin typeface="+mn-lt"/>
              </a:rPr>
              <a:t>Sampling large databases for association rules</a:t>
            </a:r>
            <a:r>
              <a:rPr lang="en-US" sz="2400" dirty="0">
                <a:latin typeface="+mn-lt"/>
              </a:rPr>
              <a:t>. In </a:t>
            </a:r>
            <a:r>
              <a:rPr lang="en-US" sz="2400" i="1" dirty="0">
                <a:solidFill>
                  <a:schemeClr val="tx2"/>
                </a:solidFill>
                <a:latin typeface="+mn-lt"/>
              </a:rPr>
              <a:t>VLDB’96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Sampling for Frequent Patterns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3"/>
          <p:cNvSpPr txBox="1">
            <a:spLocks noChangeArrowheads="1"/>
          </p:cNvSpPr>
          <p:nvPr/>
        </p:nvSpPr>
        <p:spPr>
          <a:xfrm>
            <a:off x="381000" y="1447800"/>
            <a:ext cx="8458200" cy="2743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400" dirty="0">
                <a:latin typeface="+mn-lt"/>
              </a:rPr>
              <a:t>Once both A and D are determined frequent, the counting of AD begins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lang="en-US" sz="2400" dirty="0">
                <a:latin typeface="+mn-lt"/>
              </a:rPr>
              <a:t>Once all length-2 subsets of BCD are determined frequent, the counting of BCD begins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5" name="Rectangle 2"/>
          <p:cNvSpPr txBox="1">
            <a:spLocks noChangeArrowheads="1"/>
          </p:cNvSpPr>
          <p:nvPr/>
        </p:nvSpPr>
        <p:spPr>
          <a:xfrm>
            <a:off x="0" y="228600"/>
            <a:ext cx="9144000" cy="838200"/>
          </a:xfrm>
          <a:prstGeom prst="rect">
            <a:avLst/>
          </a:prstGeom>
          <a:noFill/>
        </p:spPr>
        <p:txBody>
          <a:bodyPr lIns="92075" tIns="46038" rIns="92075" bIns="46038" anchor="ctr" anchorCtr="0">
            <a:noAutofit/>
          </a:bodyPr>
          <a:lstStyle/>
          <a:p>
            <a:pPr lvl="0" eaLnBrk="1" fontAlgn="auto" hangingPunct="1">
              <a:spcAft>
                <a:spcPts val="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</a:rPr>
              <a:t>DIC: Reduce Number of Scans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54"/>
          <p:cNvSpPr>
            <a:spLocks noChangeArrowheads="1"/>
          </p:cNvSpPr>
          <p:nvPr/>
        </p:nvSpPr>
        <p:spPr bwMode="auto">
          <a:xfrm>
            <a:off x="4343400" y="3352800"/>
            <a:ext cx="4495800" cy="381000"/>
          </a:xfrm>
          <a:prstGeom prst="rect">
            <a:avLst/>
          </a:prstGeom>
          <a:solidFill>
            <a:srgbClr val="96969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altLang="en-US" sz="2000">
                <a:solidFill>
                  <a:schemeClr val="bg1"/>
                </a:solidFill>
                <a:latin typeface="Times New Roman" pitchFamily="18" charset="0"/>
              </a:rPr>
              <a:t>Transactions</a:t>
            </a:r>
          </a:p>
        </p:txBody>
      </p:sp>
      <p:sp>
        <p:nvSpPr>
          <p:cNvPr id="6" name="Line 55"/>
          <p:cNvSpPr>
            <a:spLocks noChangeShapeType="1"/>
          </p:cNvSpPr>
          <p:nvPr/>
        </p:nvSpPr>
        <p:spPr bwMode="auto">
          <a:xfrm>
            <a:off x="4343400" y="41132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Box 56"/>
          <p:cNvSpPr txBox="1">
            <a:spLocks noChangeArrowheads="1"/>
          </p:cNvSpPr>
          <p:nvPr/>
        </p:nvSpPr>
        <p:spPr bwMode="auto">
          <a:xfrm>
            <a:off x="5713413" y="3733800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Times New Roman" pitchFamily="18" charset="0"/>
              </a:rPr>
              <a:t>1-itemsets</a:t>
            </a:r>
          </a:p>
        </p:txBody>
      </p:sp>
      <p:sp>
        <p:nvSpPr>
          <p:cNvPr id="8" name="Line 57"/>
          <p:cNvSpPr>
            <a:spLocks noChangeShapeType="1"/>
          </p:cNvSpPr>
          <p:nvPr/>
        </p:nvSpPr>
        <p:spPr bwMode="auto">
          <a:xfrm>
            <a:off x="4343400" y="44180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5713413" y="4038600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Times New Roman" pitchFamily="18" charset="0"/>
              </a:rPr>
              <a:t>2-itemsets</a:t>
            </a:r>
          </a:p>
        </p:txBody>
      </p:sp>
      <p:sp>
        <p:nvSpPr>
          <p:cNvPr id="10" name="Line 59"/>
          <p:cNvSpPr>
            <a:spLocks noChangeShapeType="1"/>
          </p:cNvSpPr>
          <p:nvPr/>
        </p:nvSpPr>
        <p:spPr bwMode="auto">
          <a:xfrm>
            <a:off x="4343400" y="4722813"/>
            <a:ext cx="4414838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Box 60"/>
          <p:cNvSpPr txBox="1">
            <a:spLocks noChangeArrowheads="1"/>
          </p:cNvSpPr>
          <p:nvPr/>
        </p:nvSpPr>
        <p:spPr bwMode="auto">
          <a:xfrm>
            <a:off x="6170613" y="434340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tx2"/>
                </a:solidFill>
                <a:latin typeface="Times New Roman" pitchFamily="18" charset="0"/>
              </a:rPr>
              <a:t>…</a:t>
            </a:r>
          </a:p>
        </p:txBody>
      </p:sp>
      <p:sp>
        <p:nvSpPr>
          <p:cNvPr id="12" name="Line 62"/>
          <p:cNvSpPr>
            <a:spLocks noChangeShapeType="1"/>
          </p:cNvSpPr>
          <p:nvPr/>
        </p:nvSpPr>
        <p:spPr bwMode="auto">
          <a:xfrm>
            <a:off x="4343400" y="5332413"/>
            <a:ext cx="4414838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Box 63"/>
          <p:cNvSpPr txBox="1">
            <a:spLocks noChangeArrowheads="1"/>
          </p:cNvSpPr>
          <p:nvPr/>
        </p:nvSpPr>
        <p:spPr bwMode="auto">
          <a:xfrm>
            <a:off x="5713413" y="4953000"/>
            <a:ext cx="12239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itchFamily="18" charset="0"/>
              </a:rPr>
              <a:t>1-itemsets</a:t>
            </a:r>
          </a:p>
        </p:txBody>
      </p:sp>
      <p:sp>
        <p:nvSpPr>
          <p:cNvPr id="14" name="Line 64"/>
          <p:cNvSpPr>
            <a:spLocks noChangeShapeType="1"/>
          </p:cNvSpPr>
          <p:nvPr/>
        </p:nvSpPr>
        <p:spPr bwMode="auto">
          <a:xfrm>
            <a:off x="5181600" y="5638800"/>
            <a:ext cx="3581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5" name="Line 65"/>
          <p:cNvSpPr>
            <a:spLocks noChangeShapeType="1"/>
          </p:cNvSpPr>
          <p:nvPr/>
        </p:nvSpPr>
        <p:spPr bwMode="auto">
          <a:xfrm>
            <a:off x="4343400" y="6172200"/>
            <a:ext cx="838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AU"/>
          </a:p>
        </p:txBody>
      </p:sp>
      <p:cxnSp>
        <p:nvCxnSpPr>
          <p:cNvPr id="16" name="AutoShape 66"/>
          <p:cNvCxnSpPr>
            <a:cxnSpLocks noChangeShapeType="1"/>
            <a:stCxn id="14" idx="1"/>
            <a:endCxn id="15" idx="0"/>
          </p:cNvCxnSpPr>
          <p:nvPr/>
        </p:nvCxnSpPr>
        <p:spPr bwMode="auto">
          <a:xfrm flipH="1">
            <a:off x="4343400" y="5638800"/>
            <a:ext cx="4419600" cy="533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</p:spPr>
      </p:cxnSp>
      <p:sp>
        <p:nvSpPr>
          <p:cNvPr id="17" name="Text Box 67"/>
          <p:cNvSpPr txBox="1">
            <a:spLocks noChangeArrowheads="1"/>
          </p:cNvSpPr>
          <p:nvPr/>
        </p:nvSpPr>
        <p:spPr bwMode="auto">
          <a:xfrm>
            <a:off x="5867400" y="5257800"/>
            <a:ext cx="942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itchFamily="18" charset="0"/>
              </a:rPr>
              <a:t>2-items</a:t>
            </a:r>
          </a:p>
        </p:txBody>
      </p:sp>
      <p:sp>
        <p:nvSpPr>
          <p:cNvPr id="18" name="Line 68"/>
          <p:cNvSpPr>
            <a:spLocks noChangeShapeType="1"/>
          </p:cNvSpPr>
          <p:nvPr/>
        </p:nvSpPr>
        <p:spPr bwMode="auto">
          <a:xfrm>
            <a:off x="7086600" y="5943600"/>
            <a:ext cx="1676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AU"/>
          </a:p>
        </p:txBody>
      </p:sp>
      <p:sp>
        <p:nvSpPr>
          <p:cNvPr id="19" name="Line 69"/>
          <p:cNvSpPr>
            <a:spLocks noChangeShapeType="1"/>
          </p:cNvSpPr>
          <p:nvPr/>
        </p:nvSpPr>
        <p:spPr bwMode="auto">
          <a:xfrm>
            <a:off x="4343400" y="6477000"/>
            <a:ext cx="27432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7527925" y="5576888"/>
            <a:ext cx="942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>
                <a:solidFill>
                  <a:schemeClr val="hlink"/>
                </a:solidFill>
                <a:latin typeface="Times New Roman" pitchFamily="18" charset="0"/>
              </a:rPr>
              <a:t>3-items</a:t>
            </a:r>
          </a:p>
        </p:txBody>
      </p:sp>
      <p:cxnSp>
        <p:nvCxnSpPr>
          <p:cNvPr id="21" name="AutoShape 71"/>
          <p:cNvCxnSpPr>
            <a:cxnSpLocks noChangeShapeType="1"/>
            <a:stCxn id="18" idx="1"/>
            <a:endCxn id="19" idx="0"/>
          </p:cNvCxnSpPr>
          <p:nvPr/>
        </p:nvCxnSpPr>
        <p:spPr bwMode="auto">
          <a:xfrm flipH="1">
            <a:off x="4343400" y="5943600"/>
            <a:ext cx="4419600" cy="533400"/>
          </a:xfrm>
          <a:prstGeom prst="straightConnector1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</p:spPr>
      </p:cxnSp>
      <p:sp>
        <p:nvSpPr>
          <p:cNvPr id="22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884238"/>
          </a:xfrm>
        </p:spPr>
        <p:txBody>
          <a:bodyPr/>
          <a:lstStyle/>
          <a:p>
            <a:r>
              <a:rPr lang="en-US" altLang="en-US" dirty="0"/>
              <a:t>Rule Generation - </a:t>
            </a:r>
            <a:r>
              <a:rPr lang="en-US" altLang="en-US" dirty="0" err="1"/>
              <a:t>Apriori</a:t>
            </a:r>
            <a:r>
              <a:rPr lang="en-US" altLang="en-US" dirty="0"/>
              <a:t> Algorithm</a:t>
            </a:r>
          </a:p>
        </p:txBody>
      </p:sp>
      <p:graphicFrame>
        <p:nvGraphicFramePr>
          <p:cNvPr id="41987" name="Object 2"/>
          <p:cNvGraphicFramePr>
            <a:graphicFrameLocks noChangeAspect="1"/>
          </p:cNvGraphicFramePr>
          <p:nvPr/>
        </p:nvGraphicFramePr>
        <p:xfrm>
          <a:off x="914400" y="1419225"/>
          <a:ext cx="7620000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671306" imgH="4782859" progId="">
                  <p:embed/>
                </p:oleObj>
              </mc:Choice>
              <mc:Fallback>
                <p:oleObj name="Visio" r:id="rId2" imgW="8671306" imgH="4782859" progId="">
                  <p:embed/>
                  <p:pic>
                    <p:nvPicPr>
                      <p:cNvPr id="4198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19225"/>
                        <a:ext cx="7620000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457200" y="1066800"/>
            <a:ext cx="202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0">
                <a:solidFill>
                  <a:srgbClr val="CC3300"/>
                </a:solidFill>
                <a:latin typeface="Times New Roman" pitchFamily="18" charset="0"/>
              </a:rPr>
              <a:t>Lattice of rules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81000" y="1419225"/>
            <a:ext cx="8153400" cy="4784725"/>
            <a:chOff x="96" y="894"/>
            <a:chExt cx="5136" cy="3014"/>
          </a:xfrm>
        </p:grpSpPr>
        <p:graphicFrame>
          <p:nvGraphicFramePr>
            <p:cNvPr id="41992" name="Object 3"/>
            <p:cNvGraphicFramePr>
              <a:graphicFrameLocks noChangeAspect="1"/>
            </p:cNvGraphicFramePr>
            <p:nvPr/>
          </p:nvGraphicFramePr>
          <p:xfrm>
            <a:off x="432" y="894"/>
            <a:ext cx="4800" cy="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8671306" imgH="4782859" progId="">
                    <p:embed/>
                  </p:oleObj>
                </mc:Choice>
                <mc:Fallback>
                  <p:oleObj name="Visio" r:id="rId4" imgW="8671306" imgH="4782859" progId="">
                    <p:embed/>
                    <p:pic>
                      <p:nvPicPr>
                        <p:cNvPr id="4199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894"/>
                          <a:ext cx="4800" cy="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3" name="Freeform 7"/>
            <p:cNvSpPr>
              <a:spLocks/>
            </p:cNvSpPr>
            <p:nvPr/>
          </p:nvSpPr>
          <p:spPr bwMode="auto">
            <a:xfrm>
              <a:off x="320" y="1064"/>
              <a:ext cx="3712" cy="2808"/>
            </a:xfrm>
            <a:custGeom>
              <a:avLst/>
              <a:gdLst>
                <a:gd name="T0" fmla="*/ 256 w 3712"/>
                <a:gd name="T1" fmla="*/ 376 h 2808"/>
                <a:gd name="T2" fmla="*/ 736 w 3712"/>
                <a:gd name="T3" fmla="*/ 88 h 2808"/>
                <a:gd name="T4" fmla="*/ 2176 w 3712"/>
                <a:gd name="T5" fmla="*/ 904 h 2808"/>
                <a:gd name="T6" fmla="*/ 2656 w 3712"/>
                <a:gd name="T7" fmla="*/ 1768 h 2808"/>
                <a:gd name="T8" fmla="*/ 3520 w 3712"/>
                <a:gd name="T9" fmla="*/ 2296 h 2808"/>
                <a:gd name="T10" fmla="*/ 3376 w 3712"/>
                <a:gd name="T11" fmla="*/ 2584 h 2808"/>
                <a:gd name="T12" fmla="*/ 1504 w 3712"/>
                <a:gd name="T13" fmla="*/ 2776 h 2808"/>
                <a:gd name="T14" fmla="*/ 352 w 3712"/>
                <a:gd name="T15" fmla="*/ 2392 h 2808"/>
                <a:gd name="T16" fmla="*/ 16 w 3712"/>
                <a:gd name="T17" fmla="*/ 1288 h 2808"/>
                <a:gd name="T18" fmla="*/ 256 w 3712"/>
                <a:gd name="T19" fmla="*/ 376 h 28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712"/>
                <a:gd name="T31" fmla="*/ 0 h 2808"/>
                <a:gd name="T32" fmla="*/ 3712 w 3712"/>
                <a:gd name="T33" fmla="*/ 2808 h 280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712" h="2808">
                  <a:moveTo>
                    <a:pt x="256" y="376"/>
                  </a:moveTo>
                  <a:cubicBezTo>
                    <a:pt x="376" y="176"/>
                    <a:pt x="416" y="0"/>
                    <a:pt x="736" y="88"/>
                  </a:cubicBezTo>
                  <a:cubicBezTo>
                    <a:pt x="1056" y="176"/>
                    <a:pt x="1856" y="624"/>
                    <a:pt x="2176" y="904"/>
                  </a:cubicBezTo>
                  <a:cubicBezTo>
                    <a:pt x="2496" y="1184"/>
                    <a:pt x="2432" y="1536"/>
                    <a:pt x="2656" y="1768"/>
                  </a:cubicBezTo>
                  <a:cubicBezTo>
                    <a:pt x="2880" y="2000"/>
                    <a:pt x="3400" y="2160"/>
                    <a:pt x="3520" y="2296"/>
                  </a:cubicBezTo>
                  <a:cubicBezTo>
                    <a:pt x="3640" y="2432"/>
                    <a:pt x="3712" y="2504"/>
                    <a:pt x="3376" y="2584"/>
                  </a:cubicBezTo>
                  <a:cubicBezTo>
                    <a:pt x="3040" y="2664"/>
                    <a:pt x="2008" y="2808"/>
                    <a:pt x="1504" y="2776"/>
                  </a:cubicBezTo>
                  <a:cubicBezTo>
                    <a:pt x="1000" y="2744"/>
                    <a:pt x="600" y="2640"/>
                    <a:pt x="352" y="2392"/>
                  </a:cubicBezTo>
                  <a:cubicBezTo>
                    <a:pt x="104" y="2144"/>
                    <a:pt x="32" y="1624"/>
                    <a:pt x="16" y="1288"/>
                  </a:cubicBezTo>
                  <a:cubicBezTo>
                    <a:pt x="0" y="952"/>
                    <a:pt x="136" y="576"/>
                    <a:pt x="256" y="376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4" name="Text Box 8"/>
            <p:cNvSpPr txBox="1">
              <a:spLocks noChangeArrowheads="1"/>
            </p:cNvSpPr>
            <p:nvPr/>
          </p:nvSpPr>
          <p:spPr bwMode="auto">
            <a:xfrm>
              <a:off x="96" y="3504"/>
              <a:ext cx="72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charset="0"/>
                <a:buChar char="–"/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800"/>
                <a:t>Pruned Rules</a:t>
              </a:r>
            </a:p>
          </p:txBody>
        </p:sp>
      </p:grpSp>
      <p:sp>
        <p:nvSpPr>
          <p:cNvPr id="41990" name="Line 9"/>
          <p:cNvSpPr>
            <a:spLocks noChangeShapeType="1"/>
          </p:cNvSpPr>
          <p:nvPr/>
        </p:nvSpPr>
        <p:spPr bwMode="auto">
          <a:xfrm>
            <a:off x="1066800" y="2286000"/>
            <a:ext cx="914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Text Box 10"/>
          <p:cNvSpPr txBox="1">
            <a:spLocks noChangeArrowheads="1"/>
          </p:cNvSpPr>
          <p:nvPr/>
        </p:nvSpPr>
        <p:spPr bwMode="auto">
          <a:xfrm>
            <a:off x="304800" y="1600200"/>
            <a:ext cx="1371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Char char="–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/>
              <a:t>Low Confidence Rule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454605-094D-467A-98B4-485DD38572BC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CSE, BUET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Material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400050">
              <a:lnSpc>
                <a:spcPct val="90000"/>
              </a:lnSpc>
            </a:pPr>
            <a:r>
              <a:rPr lang="en-US" sz="2400" dirty="0"/>
              <a:t>Class Lecture</a:t>
            </a:r>
          </a:p>
          <a:p>
            <a:r>
              <a:rPr lang="en-US" sz="2000" dirty="0"/>
              <a:t>Text Book: (V. Kumar et al.) Chapter 6</a:t>
            </a:r>
          </a:p>
          <a:p>
            <a:endParaRPr lang="en-US" sz="2000" dirty="0"/>
          </a:p>
          <a:p>
            <a:endParaRPr lang="en-US" sz="22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Acknowledgements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342900" lvl="1" indent="-342900" eaLnBrk="1" hangingPunct="1">
              <a:buClr>
                <a:schemeClr val="tx2"/>
              </a:buClr>
            </a:pPr>
            <a:r>
              <a:rPr lang="en-US" dirty="0" err="1"/>
              <a:t>Vipin</a:t>
            </a:r>
            <a:r>
              <a:rPr lang="en-US" dirty="0"/>
              <a:t> Kumar et al. (University of Minnesota-Twin Cities)</a:t>
            </a:r>
          </a:p>
          <a:p>
            <a:pPr marL="342900" lvl="1" indent="-342900" eaLnBrk="1" hangingPunct="1">
              <a:buClr>
                <a:schemeClr val="tx2"/>
              </a:buClr>
            </a:pPr>
            <a:r>
              <a:rPr lang="en-US" sz="2600" dirty="0" err="1"/>
              <a:t>Jiawei</a:t>
            </a:r>
            <a:r>
              <a:rPr lang="en-US" sz="2600" dirty="0"/>
              <a:t> Han (University of </a:t>
            </a:r>
            <a:r>
              <a:rPr lang="en-US" sz="2600" dirty="0" err="1"/>
              <a:t>Iillinoi</a:t>
            </a:r>
            <a:r>
              <a:rPr lang="en-US" sz="2600" dirty="0"/>
              <a:t>-UC)  (CS412)</a:t>
            </a:r>
          </a:p>
          <a:p>
            <a:pPr lvl="1" eaLnBrk="1" hangingPunct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5AE12-246C-49B1-92D7-252397D611F1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4619</TotalTime>
  <Words>8845</Words>
  <Application>Microsoft Office PowerPoint</Application>
  <PresentationFormat>On-screen Show (4:3)</PresentationFormat>
  <Paragraphs>1214</Paragraphs>
  <Slides>65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65</vt:i4>
      </vt:variant>
    </vt:vector>
  </HeadingPairs>
  <TitlesOfParts>
    <vt:vector size="80" baseType="lpstr">
      <vt:lpstr>SimSun</vt:lpstr>
      <vt:lpstr>Arial</vt:lpstr>
      <vt:lpstr>Calibri</vt:lpstr>
      <vt:lpstr>Cambria Math</vt:lpstr>
      <vt:lpstr>Monotype Sorts</vt:lpstr>
      <vt:lpstr>Symbol</vt:lpstr>
      <vt:lpstr>Tahoma</vt:lpstr>
      <vt:lpstr>Times New Roman</vt:lpstr>
      <vt:lpstr>Wingdings</vt:lpstr>
      <vt:lpstr>Wingdings 2</vt:lpstr>
      <vt:lpstr>Network</vt:lpstr>
      <vt:lpstr>Document</vt:lpstr>
      <vt:lpstr>Equation</vt:lpstr>
      <vt:lpstr>VISIO</vt:lpstr>
      <vt:lpstr>Visio</vt:lpstr>
      <vt:lpstr>Data Mining (CSE 6506)  </vt:lpstr>
      <vt:lpstr>What Are Patterns?</vt:lpstr>
      <vt:lpstr>What Is Pattern Discovery?</vt:lpstr>
      <vt:lpstr>Pattern Discovery: Why Is It Important?</vt:lpstr>
      <vt:lpstr>PowerPoint Presentation</vt:lpstr>
      <vt:lpstr>Basic Concepts: Transactional Database</vt:lpstr>
      <vt:lpstr>Basic Concepts: k-Itemsets and Their Supports</vt:lpstr>
      <vt:lpstr>Basic Concepts: Frequent Itemsets (Patterns)</vt:lpstr>
      <vt:lpstr>From Frequent Itemsets to Association Rules</vt:lpstr>
      <vt:lpstr>Association Rules</vt:lpstr>
      <vt:lpstr>Mining Frequent Itemsets and Association Rules</vt:lpstr>
      <vt:lpstr>Challenge: There Are Too Many Frequent Patterns!</vt:lpstr>
      <vt:lpstr>Expressing Patterns in Compressed Form: Closed Patterns</vt:lpstr>
      <vt:lpstr>Expressing Patterns in Compressed Form: Max-Patterns</vt:lpstr>
      <vt:lpstr>ARM-Market Basket Data</vt:lpstr>
      <vt:lpstr>Example: Frequent Itemset</vt:lpstr>
      <vt:lpstr>Example: Association Rule</vt:lpstr>
      <vt:lpstr>Association Rule Mining Task</vt:lpstr>
      <vt:lpstr>Computational Complexity</vt:lpstr>
      <vt:lpstr>Mining Association Rules</vt:lpstr>
      <vt:lpstr>Mining Association Rules</vt:lpstr>
      <vt:lpstr>Frequent Itemset Generation</vt:lpstr>
      <vt:lpstr>Frequent Itemset Generation</vt:lpstr>
      <vt:lpstr>Frequent Itemset Generation Policy</vt:lpstr>
      <vt:lpstr>Reducing Number of Candidates</vt:lpstr>
      <vt:lpstr>Illustrating Apriori Principle (Pruning)</vt:lpstr>
      <vt:lpstr>Illustrating Apriori Principle</vt:lpstr>
      <vt:lpstr>Illustrating Apriori Principle</vt:lpstr>
      <vt:lpstr>Illustrating Apriori Principle</vt:lpstr>
      <vt:lpstr>Illustrating Apriori Principle</vt:lpstr>
      <vt:lpstr>Illustrating Apriori Principle</vt:lpstr>
      <vt:lpstr>Apriori Principle</vt:lpstr>
      <vt:lpstr>Apriori Algorithm</vt:lpstr>
      <vt:lpstr>PowerPoint Presentation</vt:lpstr>
      <vt:lpstr>PowerPoint Presentation</vt:lpstr>
      <vt:lpstr>Candidate Generation: Brute-force method</vt:lpstr>
      <vt:lpstr>PowerPoint Presentation</vt:lpstr>
      <vt:lpstr>PowerPoint Presentation</vt:lpstr>
      <vt:lpstr>Candidate Generation: Fk-1 x Fk-1 Method</vt:lpstr>
      <vt:lpstr>Candidate Pruning</vt:lpstr>
      <vt:lpstr>Alternate Fk-1 x Fk-1 Method</vt:lpstr>
      <vt:lpstr>Candidate Pruning for Alternate Fk-1 x Fk-1 Method</vt:lpstr>
      <vt:lpstr>Apriori Principle</vt:lpstr>
      <vt:lpstr>Support Counting of Candidate Itemsets</vt:lpstr>
      <vt:lpstr>Support Counting of Candidate Itemsets</vt:lpstr>
      <vt:lpstr>Support Counting: Hash Tree</vt:lpstr>
      <vt:lpstr>Support Counting- Using Hash Tree</vt:lpstr>
      <vt:lpstr>Subset Operation- Using a Hash Tree</vt:lpstr>
      <vt:lpstr>Subset Operation- Using a Hash Tree</vt:lpstr>
      <vt:lpstr>Subset Operation- Using a Hash Tree</vt:lpstr>
      <vt:lpstr>Subset Operation- Using a Hash Tree</vt:lpstr>
      <vt:lpstr>Support Counting Using a Hash Tree</vt:lpstr>
      <vt:lpstr>Support Counting Using a Hash Tree</vt:lpstr>
      <vt:lpstr>Rule Generation</vt:lpstr>
      <vt:lpstr>Rule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Rule Generation - Apriori Algorithm</vt:lpstr>
      <vt:lpstr>Reading Material</vt:lpstr>
      <vt:lpstr>Acknowledgements</vt:lpstr>
    </vt:vector>
  </TitlesOfParts>
  <Company>Orion Research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COVERAGE IN HETEROGENEOUS SENSOR NETWORK</dc:title>
  <dc:creator>Orion</dc:creator>
  <cp:lastModifiedBy>Md Manirujjaman</cp:lastModifiedBy>
  <cp:revision>204</cp:revision>
  <dcterms:created xsi:type="dcterms:W3CDTF">2006-11-09T03:30:31Z</dcterms:created>
  <dcterms:modified xsi:type="dcterms:W3CDTF">2026-03-29T07:52:09Z</dcterms:modified>
</cp:coreProperties>
</file>