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8" r:id="rId1"/>
  </p:sldMasterIdLst>
  <p:notesMasterIdLst>
    <p:notesMasterId r:id="rId36"/>
  </p:notesMasterIdLst>
  <p:sldIdLst>
    <p:sldId id="256" r:id="rId2"/>
    <p:sldId id="348" r:id="rId3"/>
    <p:sldId id="364" r:id="rId4"/>
    <p:sldId id="365" r:id="rId5"/>
    <p:sldId id="366" r:id="rId6"/>
    <p:sldId id="347" r:id="rId7"/>
    <p:sldId id="361" r:id="rId8"/>
    <p:sldId id="354" r:id="rId9"/>
    <p:sldId id="350" r:id="rId10"/>
    <p:sldId id="353" r:id="rId11"/>
    <p:sldId id="352" r:id="rId12"/>
    <p:sldId id="355" r:id="rId13"/>
    <p:sldId id="359" r:id="rId14"/>
    <p:sldId id="357" r:id="rId15"/>
    <p:sldId id="360" r:id="rId16"/>
    <p:sldId id="356" r:id="rId17"/>
    <p:sldId id="400" r:id="rId18"/>
    <p:sldId id="367" r:id="rId19"/>
    <p:sldId id="422" r:id="rId20"/>
    <p:sldId id="423" r:id="rId21"/>
    <p:sldId id="368" r:id="rId22"/>
    <p:sldId id="369" r:id="rId23"/>
    <p:sldId id="388" r:id="rId24"/>
    <p:sldId id="384" r:id="rId25"/>
    <p:sldId id="296" r:id="rId26"/>
    <p:sldId id="383" r:id="rId27"/>
    <p:sldId id="267" r:id="rId28"/>
    <p:sldId id="268" r:id="rId29"/>
    <p:sldId id="298" r:id="rId30"/>
    <p:sldId id="269" r:id="rId31"/>
    <p:sldId id="399" r:id="rId32"/>
    <p:sldId id="271" r:id="rId33"/>
    <p:sldId id="272" r:id="rId34"/>
    <p:sldId id="273"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89281" autoAdjust="0"/>
  </p:normalViewPr>
  <p:slideViewPr>
    <p:cSldViewPr snapToGrid="0">
      <p:cViewPr varScale="1">
        <p:scale>
          <a:sx n="73" d="100"/>
          <a:sy n="73" d="100"/>
        </p:scale>
        <p:origin x="106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074C62-0420-42F8-AE6C-64904AFF9053}"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48523-85BB-4127-9CC3-9E97B5D4A2F5}" type="slidenum">
              <a:rPr lang="en-US" smtClean="0"/>
              <a:t>‹#›</a:t>
            </a:fld>
            <a:endParaRPr lang="en-US"/>
          </a:p>
        </p:txBody>
      </p:sp>
    </p:spTree>
    <p:extLst>
      <p:ext uri="{BB962C8B-B14F-4D97-AF65-F5344CB8AC3E}">
        <p14:creationId xmlns:p14="http://schemas.microsoft.com/office/powerpoint/2010/main" val="1254504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a:t>
            </a:fld>
            <a:endParaRPr lang="en-US"/>
          </a:p>
        </p:txBody>
      </p:sp>
    </p:spTree>
    <p:extLst>
      <p:ext uri="{BB962C8B-B14F-4D97-AF65-F5344CB8AC3E}">
        <p14:creationId xmlns:p14="http://schemas.microsoft.com/office/powerpoint/2010/main" val="1311144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a:t>
            </a:fld>
            <a:endParaRPr lang="en-US"/>
          </a:p>
        </p:txBody>
      </p:sp>
    </p:spTree>
    <p:extLst>
      <p:ext uri="{BB962C8B-B14F-4D97-AF65-F5344CB8AC3E}">
        <p14:creationId xmlns:p14="http://schemas.microsoft.com/office/powerpoint/2010/main" val="3192315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a:t>
            </a:fld>
            <a:endParaRPr lang="en-US"/>
          </a:p>
        </p:txBody>
      </p:sp>
    </p:spTree>
    <p:extLst>
      <p:ext uri="{BB962C8B-B14F-4D97-AF65-F5344CB8AC3E}">
        <p14:creationId xmlns:p14="http://schemas.microsoft.com/office/powerpoint/2010/main" val="3138387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4</a:t>
            </a:fld>
            <a:endParaRPr lang="en-US"/>
          </a:p>
        </p:txBody>
      </p:sp>
    </p:spTree>
    <p:extLst>
      <p:ext uri="{BB962C8B-B14F-4D97-AF65-F5344CB8AC3E}">
        <p14:creationId xmlns:p14="http://schemas.microsoft.com/office/powerpoint/2010/main" val="1680210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5</a:t>
            </a:fld>
            <a:endParaRPr lang="en-US"/>
          </a:p>
        </p:txBody>
      </p:sp>
    </p:spTree>
    <p:extLst>
      <p:ext uri="{BB962C8B-B14F-4D97-AF65-F5344CB8AC3E}">
        <p14:creationId xmlns:p14="http://schemas.microsoft.com/office/powerpoint/2010/main" val="3082724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6</a:t>
            </a:fld>
            <a:endParaRPr lang="en-US"/>
          </a:p>
        </p:txBody>
      </p:sp>
    </p:spTree>
    <p:extLst>
      <p:ext uri="{BB962C8B-B14F-4D97-AF65-F5344CB8AC3E}">
        <p14:creationId xmlns:p14="http://schemas.microsoft.com/office/powerpoint/2010/main" val="2230276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7</a:t>
            </a:fld>
            <a:endParaRPr lang="en-US"/>
          </a:p>
        </p:txBody>
      </p:sp>
    </p:spTree>
    <p:extLst>
      <p:ext uri="{BB962C8B-B14F-4D97-AF65-F5344CB8AC3E}">
        <p14:creationId xmlns:p14="http://schemas.microsoft.com/office/powerpoint/2010/main" val="1021670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8</a:t>
            </a:fld>
            <a:endParaRPr lang="en-US"/>
          </a:p>
        </p:txBody>
      </p:sp>
    </p:spTree>
    <p:extLst>
      <p:ext uri="{BB962C8B-B14F-4D97-AF65-F5344CB8AC3E}">
        <p14:creationId xmlns:p14="http://schemas.microsoft.com/office/powerpoint/2010/main" val="1321953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9</a:t>
            </a:fld>
            <a:endParaRPr lang="en-US"/>
          </a:p>
        </p:txBody>
      </p:sp>
    </p:spTree>
    <p:extLst>
      <p:ext uri="{BB962C8B-B14F-4D97-AF65-F5344CB8AC3E}">
        <p14:creationId xmlns:p14="http://schemas.microsoft.com/office/powerpoint/2010/main" val="220054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10</a:t>
            </a:fld>
            <a:endParaRPr lang="en-US"/>
          </a:p>
        </p:txBody>
      </p:sp>
    </p:spTree>
    <p:extLst>
      <p:ext uri="{BB962C8B-B14F-4D97-AF65-F5344CB8AC3E}">
        <p14:creationId xmlns:p14="http://schemas.microsoft.com/office/powerpoint/2010/main" val="2966339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11</a:t>
            </a:fld>
            <a:endParaRPr lang="en-US"/>
          </a:p>
        </p:txBody>
      </p:sp>
    </p:spTree>
    <p:extLst>
      <p:ext uri="{BB962C8B-B14F-4D97-AF65-F5344CB8AC3E}">
        <p14:creationId xmlns:p14="http://schemas.microsoft.com/office/powerpoint/2010/main" val="3945427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12</a:t>
            </a:fld>
            <a:endParaRPr lang="en-US"/>
          </a:p>
        </p:txBody>
      </p:sp>
    </p:spTree>
    <p:extLst>
      <p:ext uri="{BB962C8B-B14F-4D97-AF65-F5344CB8AC3E}">
        <p14:creationId xmlns:p14="http://schemas.microsoft.com/office/powerpoint/2010/main" val="322627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13</a:t>
            </a:fld>
            <a:endParaRPr lang="en-US"/>
          </a:p>
        </p:txBody>
      </p:sp>
    </p:spTree>
    <p:extLst>
      <p:ext uri="{BB962C8B-B14F-4D97-AF65-F5344CB8AC3E}">
        <p14:creationId xmlns:p14="http://schemas.microsoft.com/office/powerpoint/2010/main" val="1009014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14</a:t>
            </a:fld>
            <a:endParaRPr lang="en-US"/>
          </a:p>
        </p:txBody>
      </p:sp>
    </p:spTree>
    <p:extLst>
      <p:ext uri="{BB962C8B-B14F-4D97-AF65-F5344CB8AC3E}">
        <p14:creationId xmlns:p14="http://schemas.microsoft.com/office/powerpoint/2010/main" val="3232540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15</a:t>
            </a:fld>
            <a:endParaRPr lang="en-US"/>
          </a:p>
        </p:txBody>
      </p:sp>
    </p:spTree>
    <p:extLst>
      <p:ext uri="{BB962C8B-B14F-4D97-AF65-F5344CB8AC3E}">
        <p14:creationId xmlns:p14="http://schemas.microsoft.com/office/powerpoint/2010/main" val="826046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16</a:t>
            </a:fld>
            <a:endParaRPr lang="en-US"/>
          </a:p>
        </p:txBody>
      </p:sp>
    </p:spTree>
    <p:extLst>
      <p:ext uri="{BB962C8B-B14F-4D97-AF65-F5344CB8AC3E}">
        <p14:creationId xmlns:p14="http://schemas.microsoft.com/office/powerpoint/2010/main" val="1453125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17</a:t>
            </a:fld>
            <a:endParaRPr lang="en-US"/>
          </a:p>
        </p:txBody>
      </p:sp>
    </p:spTree>
    <p:extLst>
      <p:ext uri="{BB962C8B-B14F-4D97-AF65-F5344CB8AC3E}">
        <p14:creationId xmlns:p14="http://schemas.microsoft.com/office/powerpoint/2010/main" val="1859107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18</a:t>
            </a:fld>
            <a:endParaRPr lang="en-US"/>
          </a:p>
        </p:txBody>
      </p:sp>
    </p:spTree>
    <p:extLst>
      <p:ext uri="{BB962C8B-B14F-4D97-AF65-F5344CB8AC3E}">
        <p14:creationId xmlns:p14="http://schemas.microsoft.com/office/powerpoint/2010/main" val="1529625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4E882-81E6-E36A-7767-206F322AC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34E40-D1DD-E830-EBCC-53D81002C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6C8F0-AAA1-A1F2-5DAC-89CCD3EB26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2DD12F-518A-842C-F412-F29AAE5F509C}"/>
              </a:ext>
            </a:extLst>
          </p:cNvPr>
          <p:cNvSpPr>
            <a:spLocks noGrp="1"/>
          </p:cNvSpPr>
          <p:nvPr>
            <p:ph type="sldNum" sz="quarter" idx="5"/>
          </p:nvPr>
        </p:nvSpPr>
        <p:spPr/>
        <p:txBody>
          <a:bodyPr/>
          <a:lstStyle/>
          <a:p>
            <a:fld id="{EEB48523-85BB-4127-9CC3-9E97B5D4A2F5}" type="slidenum">
              <a:rPr lang="en-US" smtClean="0"/>
              <a:t>19</a:t>
            </a:fld>
            <a:endParaRPr lang="en-US"/>
          </a:p>
        </p:txBody>
      </p:sp>
    </p:spTree>
    <p:extLst>
      <p:ext uri="{BB962C8B-B14F-4D97-AF65-F5344CB8AC3E}">
        <p14:creationId xmlns:p14="http://schemas.microsoft.com/office/powerpoint/2010/main" val="18435432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37C01-3FE9-5B2C-62D2-2FB28500F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3F1A2-FC54-2F56-568A-709C84302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A2135-91FF-1D58-3C3C-FA1823302D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30B0D6-7330-D7F0-977A-1564647D5BD4}"/>
              </a:ext>
            </a:extLst>
          </p:cNvPr>
          <p:cNvSpPr>
            <a:spLocks noGrp="1"/>
          </p:cNvSpPr>
          <p:nvPr>
            <p:ph type="sldNum" sz="quarter" idx="5"/>
          </p:nvPr>
        </p:nvSpPr>
        <p:spPr/>
        <p:txBody>
          <a:bodyPr/>
          <a:lstStyle/>
          <a:p>
            <a:fld id="{EEB48523-85BB-4127-9CC3-9E97B5D4A2F5}" type="slidenum">
              <a:rPr lang="en-US" smtClean="0"/>
              <a:t>20</a:t>
            </a:fld>
            <a:endParaRPr lang="en-US"/>
          </a:p>
        </p:txBody>
      </p:sp>
    </p:spTree>
    <p:extLst>
      <p:ext uri="{BB962C8B-B14F-4D97-AF65-F5344CB8AC3E}">
        <p14:creationId xmlns:p14="http://schemas.microsoft.com/office/powerpoint/2010/main" val="906682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21</a:t>
            </a:fld>
            <a:endParaRPr lang="en-US"/>
          </a:p>
        </p:txBody>
      </p:sp>
    </p:spTree>
    <p:extLst>
      <p:ext uri="{BB962C8B-B14F-4D97-AF65-F5344CB8AC3E}">
        <p14:creationId xmlns:p14="http://schemas.microsoft.com/office/powerpoint/2010/main" val="17943021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22</a:t>
            </a:fld>
            <a:endParaRPr lang="en-US"/>
          </a:p>
        </p:txBody>
      </p:sp>
    </p:spTree>
    <p:extLst>
      <p:ext uri="{BB962C8B-B14F-4D97-AF65-F5344CB8AC3E}">
        <p14:creationId xmlns:p14="http://schemas.microsoft.com/office/powerpoint/2010/main" val="42929673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23</a:t>
            </a:fld>
            <a:endParaRPr lang="en-US"/>
          </a:p>
        </p:txBody>
      </p:sp>
    </p:spTree>
    <p:extLst>
      <p:ext uri="{BB962C8B-B14F-4D97-AF65-F5344CB8AC3E}">
        <p14:creationId xmlns:p14="http://schemas.microsoft.com/office/powerpoint/2010/main" val="1780363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24</a:t>
            </a:fld>
            <a:endParaRPr lang="en-US"/>
          </a:p>
        </p:txBody>
      </p:sp>
    </p:spTree>
    <p:extLst>
      <p:ext uri="{BB962C8B-B14F-4D97-AF65-F5344CB8AC3E}">
        <p14:creationId xmlns:p14="http://schemas.microsoft.com/office/powerpoint/2010/main" val="21365901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with the Waterfall and V-Model is that they assume requirements are clear and fixed from the beginning. In reality, clients often do not know exactly what they want, or they may understand their needs but cannot express them properly. As a result, requirements are frequently unclear or subject to change, making these models rigid and less suitable. For projects with evolving or uncertain requirements, other models like Iterative or Agile are preferred, as they can accommodate changes more effectively.</a:t>
            </a:r>
          </a:p>
        </p:txBody>
      </p:sp>
      <p:sp>
        <p:nvSpPr>
          <p:cNvPr id="4" name="Slide Number Placeholder 3"/>
          <p:cNvSpPr>
            <a:spLocks noGrp="1"/>
          </p:cNvSpPr>
          <p:nvPr>
            <p:ph type="sldNum" sz="quarter" idx="5"/>
          </p:nvPr>
        </p:nvSpPr>
        <p:spPr/>
        <p:txBody>
          <a:bodyPr/>
          <a:lstStyle/>
          <a:p>
            <a:fld id="{8984669F-66BD-524F-94F5-7F84FE739CAD}" type="slidenum">
              <a:rPr lang="en-BD" smtClean="0"/>
              <a:t>25</a:t>
            </a:fld>
            <a:endParaRPr lang="en-BD"/>
          </a:p>
        </p:txBody>
      </p:sp>
    </p:spTree>
    <p:extLst>
      <p:ext uri="{BB962C8B-B14F-4D97-AF65-F5344CB8AC3E}">
        <p14:creationId xmlns:p14="http://schemas.microsoft.com/office/powerpoint/2010/main" val="832137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26</a:t>
            </a:fld>
            <a:endParaRPr lang="en-US"/>
          </a:p>
        </p:txBody>
      </p:sp>
    </p:spTree>
    <p:extLst>
      <p:ext uri="{BB962C8B-B14F-4D97-AF65-F5344CB8AC3E}">
        <p14:creationId xmlns:p14="http://schemas.microsoft.com/office/powerpoint/2010/main" val="22937317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31</a:t>
            </a:fld>
            <a:endParaRPr lang="en-US"/>
          </a:p>
        </p:txBody>
      </p:sp>
    </p:spTree>
    <p:extLst>
      <p:ext uri="{BB962C8B-B14F-4D97-AF65-F5344CB8AC3E}">
        <p14:creationId xmlns:p14="http://schemas.microsoft.com/office/powerpoint/2010/main" val="25789884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84669F-66BD-524F-94F5-7F84FE739CAD}" type="slidenum">
              <a:rPr lang="en-BD" smtClean="0"/>
              <a:t>32</a:t>
            </a:fld>
            <a:endParaRPr lang="en-BD"/>
          </a:p>
        </p:txBody>
      </p:sp>
    </p:spTree>
    <p:extLst>
      <p:ext uri="{BB962C8B-B14F-4D97-AF65-F5344CB8AC3E}">
        <p14:creationId xmlns:p14="http://schemas.microsoft.com/office/powerpoint/2010/main" val="3198590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001F21-DFDD-41A1-BBEE-D627C25F90CE}" type="datetime5">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489049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E8BBE8-4C5B-4588-A87D-7D8AA0928E19}" type="datetime5">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3795159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937F9F-AF2F-44BF-BD58-4696FBD95160}" type="datetime5">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3572154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AD318D-248E-447D-B1B0-0F479752C217}" type="datetime5">
              <a:rPr lang="en-US" smtClean="0"/>
              <a:t>29-Oct-25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53894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E90951-BF1A-40A3-A6DC-7264090A7733}" type="datetime5">
              <a:rPr lang="en-US" smtClean="0"/>
              <a:t>29-Oct-25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87144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624D0D-6DF6-436F-B23C-BCC24F184A25}" type="datetime5">
              <a:rPr lang="en-US" smtClean="0"/>
              <a:t>29-Oct-25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922059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589506-3D41-4044-B95D-94EA92B28506}" type="datetime5">
              <a:rPr lang="en-US" smtClean="0"/>
              <a:t>29-Oct-25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090144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530CDC-0600-47AC-8AF4-0F9D9B821235}" type="datetime5">
              <a:rPr lang="en-US" smtClean="0"/>
              <a:t>29-Oct-25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084476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C0EE68-80DC-47F8-9BD5-7B4EC9AE39DB}" type="datetime5">
              <a:rPr lang="en-US" smtClean="0"/>
              <a:t>29-Oct-25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818826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A291CE-775C-4C4C-B74C-045A8BA21E32}" type="datetime5">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85125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BC5ED8-D1A7-4516-98E9-21F5E2549D8A}" type="datetime5">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812856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102974-8CB4-421F-ACBB-17ACE4723410}" type="datetime5">
              <a:rPr lang="en-US" smtClean="0"/>
              <a:t>29-Oct-25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E2C86B-781F-422B-BBCD-AFDAC8D92AAC}" type="slidenum">
              <a:rPr lang="en-US" smtClean="0"/>
              <a:t>‹#›</a:t>
            </a:fld>
            <a:endParaRPr lang="en-US"/>
          </a:p>
        </p:txBody>
      </p:sp>
    </p:spTree>
    <p:extLst>
      <p:ext uri="{BB962C8B-B14F-4D97-AF65-F5344CB8AC3E}">
        <p14:creationId xmlns:p14="http://schemas.microsoft.com/office/powerpoint/2010/main" val="2891428291"/>
      </p:ext>
    </p:extLst>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E82F5-739E-4F46-83C8-15CDD6F35973}"/>
              </a:ext>
            </a:extLst>
          </p:cNvPr>
          <p:cNvSpPr>
            <a:spLocks noGrp="1"/>
          </p:cNvSpPr>
          <p:nvPr>
            <p:ph type="ctrTitle"/>
          </p:nvPr>
        </p:nvSpPr>
        <p:spPr>
          <a:xfrm>
            <a:off x="0" y="2140281"/>
            <a:ext cx="12191999" cy="905070"/>
          </a:xfrm>
        </p:spPr>
        <p:txBody>
          <a:bodyPr>
            <a:normAutofit fontScale="90000"/>
          </a:bodyPr>
          <a:lstStyle/>
          <a:p>
            <a:r>
              <a:rPr lang="en-US" dirty="0">
                <a:solidFill>
                  <a:srgbClr val="00B050"/>
                </a:solidFill>
                <a:latin typeface="+mn-lt"/>
              </a:rPr>
              <a:t>Information System Development</a:t>
            </a:r>
          </a:p>
        </p:txBody>
      </p:sp>
      <p:sp>
        <p:nvSpPr>
          <p:cNvPr id="3" name="Subtitle 2">
            <a:extLst>
              <a:ext uri="{FF2B5EF4-FFF2-40B4-BE49-F238E27FC236}">
                <a16:creationId xmlns:a16="http://schemas.microsoft.com/office/drawing/2014/main" id="{89CDCC1D-DBCC-44C0-9A0C-12F3C227438F}"/>
              </a:ext>
            </a:extLst>
          </p:cNvPr>
          <p:cNvSpPr>
            <a:spLocks noGrp="1"/>
          </p:cNvSpPr>
          <p:nvPr>
            <p:ph type="subTitle" idx="1"/>
          </p:nvPr>
        </p:nvSpPr>
        <p:spPr>
          <a:xfrm>
            <a:off x="0" y="-1"/>
            <a:ext cx="12192000" cy="1756633"/>
          </a:xfrm>
        </p:spPr>
        <p:txBody>
          <a:bodyPr anchor="ctr">
            <a:normAutofit/>
          </a:bodyPr>
          <a:lstStyle/>
          <a:p>
            <a:r>
              <a:rPr lang="en-US" dirty="0"/>
              <a:t>Information System Management</a:t>
            </a:r>
            <a:endParaRPr lang="bn-BD" dirty="0"/>
          </a:p>
          <a:p>
            <a:r>
              <a:rPr lang="bn-BD" dirty="0"/>
              <a:t>Course No:</a:t>
            </a:r>
            <a:r>
              <a:rPr lang="en-US" dirty="0"/>
              <a:t> 0612-301</a:t>
            </a:r>
            <a:endParaRPr lang="bn-BD" dirty="0"/>
          </a:p>
        </p:txBody>
      </p:sp>
      <p:sp>
        <p:nvSpPr>
          <p:cNvPr id="5" name="Date Placeholder 4">
            <a:extLst>
              <a:ext uri="{FF2B5EF4-FFF2-40B4-BE49-F238E27FC236}">
                <a16:creationId xmlns:a16="http://schemas.microsoft.com/office/drawing/2014/main" id="{88D5205D-76BE-8108-3598-4DD3C82D40E5}"/>
              </a:ext>
            </a:extLst>
          </p:cNvPr>
          <p:cNvSpPr>
            <a:spLocks noGrp="1"/>
          </p:cNvSpPr>
          <p:nvPr>
            <p:ph type="dt" sz="half" idx="10"/>
          </p:nvPr>
        </p:nvSpPr>
        <p:spPr/>
        <p:txBody>
          <a:bodyPr/>
          <a:lstStyle/>
          <a:p>
            <a:fld id="{5CBA87DB-F576-4939-8C34-A2CFE7983E02}" type="datetime5">
              <a:rPr lang="en-US" smtClean="0"/>
              <a:t>29-Oct-25</a:t>
            </a:fld>
            <a:endParaRPr lang="en-US"/>
          </a:p>
        </p:txBody>
      </p:sp>
      <p:sp>
        <p:nvSpPr>
          <p:cNvPr id="7" name="Slide Number Placeholder 6">
            <a:extLst>
              <a:ext uri="{FF2B5EF4-FFF2-40B4-BE49-F238E27FC236}">
                <a16:creationId xmlns:a16="http://schemas.microsoft.com/office/drawing/2014/main" id="{8024539B-46DE-1D20-A1B9-11464CFD2AA4}"/>
              </a:ext>
            </a:extLst>
          </p:cNvPr>
          <p:cNvSpPr>
            <a:spLocks noGrp="1"/>
          </p:cNvSpPr>
          <p:nvPr>
            <p:ph type="sldNum" sz="quarter" idx="12"/>
          </p:nvPr>
        </p:nvSpPr>
        <p:spPr/>
        <p:txBody>
          <a:bodyPr/>
          <a:lstStyle/>
          <a:p>
            <a:fld id="{C4E2C86B-781F-422B-BBCD-AFDAC8D92AAC}" type="slidenum">
              <a:rPr lang="en-US" smtClean="0"/>
              <a:t>1</a:t>
            </a:fld>
            <a:endParaRPr lang="en-US"/>
          </a:p>
        </p:txBody>
      </p:sp>
    </p:spTree>
    <p:extLst>
      <p:ext uri="{BB962C8B-B14F-4D97-AF65-F5344CB8AC3E}">
        <p14:creationId xmlns:p14="http://schemas.microsoft.com/office/powerpoint/2010/main" val="3841990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 Development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769082" cy="4544008"/>
          </a:xfrm>
        </p:spPr>
        <p:txBody>
          <a:bodyPr>
            <a:normAutofit/>
          </a:bodyPr>
          <a:lstStyle/>
          <a:p>
            <a:r>
              <a:rPr lang="en-US" dirty="0"/>
              <a:t>Building a new information system is one kind of planned organizational change.</a:t>
            </a:r>
          </a:p>
          <a:p>
            <a:r>
              <a:rPr lang="en-US" dirty="0"/>
              <a:t>Information technology can promote various degrees of organizational change –</a:t>
            </a:r>
          </a:p>
          <a:p>
            <a:pPr marL="914400" lvl="1" indent="-457200">
              <a:buFont typeface="+mj-lt"/>
              <a:buAutoNum type="arabicPeriod"/>
            </a:pPr>
            <a:r>
              <a:rPr lang="en-US" sz="2600" dirty="0"/>
              <a:t>Automation</a:t>
            </a:r>
          </a:p>
          <a:p>
            <a:pPr marL="914400" lvl="1" indent="-457200">
              <a:buFont typeface="+mj-lt"/>
              <a:buAutoNum type="arabicPeriod"/>
            </a:pPr>
            <a:r>
              <a:rPr lang="en-US" sz="2600" dirty="0"/>
              <a:t>Rationalization</a:t>
            </a:r>
          </a:p>
          <a:p>
            <a:pPr marL="914400" lvl="1" indent="-457200">
              <a:buFont typeface="+mj-lt"/>
              <a:buAutoNum type="arabicPeriod"/>
            </a:pPr>
            <a:r>
              <a:rPr lang="en-US" sz="2600" dirty="0"/>
              <a:t>Redesign</a:t>
            </a:r>
          </a:p>
          <a:p>
            <a:pPr marL="914400" lvl="1" indent="-457200">
              <a:buFont typeface="+mj-lt"/>
              <a:buAutoNum type="arabicPeriod"/>
            </a:pPr>
            <a:r>
              <a:rPr lang="en-US" sz="2600" dirty="0"/>
              <a:t>Paradigm shift</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CD54B914-F3E1-4B80-B34D-60FA36810FD5}"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a:t>
            </a:fld>
            <a:endParaRPr lang="en-US"/>
          </a:p>
        </p:txBody>
      </p:sp>
      <p:pic>
        <p:nvPicPr>
          <p:cNvPr id="7" name="Picture 6">
            <a:extLst>
              <a:ext uri="{FF2B5EF4-FFF2-40B4-BE49-F238E27FC236}">
                <a16:creationId xmlns:a16="http://schemas.microsoft.com/office/drawing/2014/main" id="{B3B79FC8-37B2-4862-A3AD-D71051FA88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5334" y="2724490"/>
            <a:ext cx="4267570" cy="3787468"/>
          </a:xfrm>
          <a:prstGeom prst="rect">
            <a:avLst/>
          </a:prstGeom>
        </p:spPr>
      </p:pic>
    </p:spTree>
    <p:extLst>
      <p:ext uri="{BB962C8B-B14F-4D97-AF65-F5344CB8AC3E}">
        <p14:creationId xmlns:p14="http://schemas.microsoft.com/office/powerpoint/2010/main" val="1814613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 Development</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B4A8E79A-A4C4-4D67-B279-4AE2173153FE}"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3</a:t>
            </a:fld>
            <a:endParaRPr lang="en-US"/>
          </a:p>
        </p:txBody>
      </p:sp>
      <p:pic>
        <p:nvPicPr>
          <p:cNvPr id="14" name="Content Placeholder 13">
            <a:extLst>
              <a:ext uri="{FF2B5EF4-FFF2-40B4-BE49-F238E27FC236}">
                <a16:creationId xmlns:a16="http://schemas.microsoft.com/office/drawing/2014/main" id="{5FEE5F51-6320-495D-966B-2F45F5A5649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77117" y="1848083"/>
            <a:ext cx="7437765" cy="3901778"/>
          </a:xfrm>
        </p:spPr>
      </p:pic>
      <p:sp>
        <p:nvSpPr>
          <p:cNvPr id="16" name="Content Placeholder 2">
            <a:extLst>
              <a:ext uri="{FF2B5EF4-FFF2-40B4-BE49-F238E27FC236}">
                <a16:creationId xmlns:a16="http://schemas.microsoft.com/office/drawing/2014/main" id="{9A89C739-4F7C-4259-AFC1-D5C6C0939DAF}"/>
              </a:ext>
            </a:extLst>
          </p:cNvPr>
          <p:cNvSpPr txBox="1">
            <a:spLocks/>
          </p:cNvSpPr>
          <p:nvPr/>
        </p:nvSpPr>
        <p:spPr>
          <a:xfrm>
            <a:off x="838200" y="1268963"/>
            <a:ext cx="10769082" cy="579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Before redesigning book-purchase process from a bookstore –</a:t>
            </a:r>
          </a:p>
        </p:txBody>
      </p:sp>
    </p:spTree>
    <p:extLst>
      <p:ext uri="{BB962C8B-B14F-4D97-AF65-F5344CB8AC3E}">
        <p14:creationId xmlns:p14="http://schemas.microsoft.com/office/powerpoint/2010/main" val="2397087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 Development</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2AE9EE14-B385-43F6-8463-B1768B99BF51}"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4</a:t>
            </a:fld>
            <a:endParaRPr lang="en-US"/>
          </a:p>
        </p:txBody>
      </p:sp>
      <p:pic>
        <p:nvPicPr>
          <p:cNvPr id="11" name="Picture 10">
            <a:extLst>
              <a:ext uri="{FF2B5EF4-FFF2-40B4-BE49-F238E27FC236}">
                <a16:creationId xmlns:a16="http://schemas.microsoft.com/office/drawing/2014/main" id="{D1B37801-650A-41D7-8EFF-95183448C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8980" y="2274470"/>
            <a:ext cx="7834039" cy="2309060"/>
          </a:xfrm>
          <a:prstGeom prst="rect">
            <a:avLst/>
          </a:prstGeom>
        </p:spPr>
      </p:pic>
      <p:sp>
        <p:nvSpPr>
          <p:cNvPr id="12" name="Content Placeholder 2">
            <a:extLst>
              <a:ext uri="{FF2B5EF4-FFF2-40B4-BE49-F238E27FC236}">
                <a16:creationId xmlns:a16="http://schemas.microsoft.com/office/drawing/2014/main" id="{4EF798DC-0E64-43BA-AA8C-12A0722D86E1}"/>
              </a:ext>
            </a:extLst>
          </p:cNvPr>
          <p:cNvSpPr txBox="1">
            <a:spLocks/>
          </p:cNvSpPr>
          <p:nvPr/>
        </p:nvSpPr>
        <p:spPr>
          <a:xfrm>
            <a:off x="838200" y="1268963"/>
            <a:ext cx="10769082" cy="579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After redesigning book-purchase process by applying IT –</a:t>
            </a:r>
          </a:p>
        </p:txBody>
      </p:sp>
    </p:spTree>
    <p:extLst>
      <p:ext uri="{BB962C8B-B14F-4D97-AF65-F5344CB8AC3E}">
        <p14:creationId xmlns:p14="http://schemas.microsoft.com/office/powerpoint/2010/main" val="870177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 Development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2"/>
            <a:ext cx="10769082" cy="4749283"/>
          </a:xfrm>
        </p:spPr>
        <p:txBody>
          <a:bodyPr>
            <a:normAutofit/>
          </a:bodyPr>
          <a:lstStyle/>
          <a:p>
            <a:r>
              <a:rPr lang="en-US" dirty="0"/>
              <a:t>Successfully developed system may result in –</a:t>
            </a:r>
          </a:p>
          <a:p>
            <a:pPr lvl="1"/>
            <a:r>
              <a:rPr lang="en-US" dirty="0"/>
              <a:t>Improve efficiency and operational performance.</a:t>
            </a:r>
          </a:p>
          <a:p>
            <a:pPr lvl="1"/>
            <a:r>
              <a:rPr lang="en-US" dirty="0"/>
              <a:t>Optimized workflows.	</a:t>
            </a:r>
          </a:p>
          <a:p>
            <a:pPr lvl="1"/>
            <a:r>
              <a:rPr lang="en-US" dirty="0"/>
              <a:t>Lower headcount i.e. reduced number of workers.</a:t>
            </a:r>
          </a:p>
          <a:p>
            <a:pPr lvl="1"/>
            <a:r>
              <a:rPr lang="en-US" dirty="0"/>
              <a:t>Fewer disputes, costs, and errors.</a:t>
            </a:r>
          </a:p>
          <a:p>
            <a:pPr lvl="1"/>
            <a:r>
              <a:rPr lang="en-US" dirty="0"/>
              <a:t>Accurate financial information.</a:t>
            </a:r>
          </a:p>
          <a:p>
            <a:pPr lvl="1"/>
            <a:r>
              <a:rPr lang="en-US" dirty="0"/>
              <a:t>High return on investment.</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78F2D61F-AD1B-4920-B449-ED4212C5F975}"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5</a:t>
            </a:fld>
            <a:endParaRPr lang="en-US"/>
          </a:p>
        </p:txBody>
      </p:sp>
    </p:spTree>
    <p:extLst>
      <p:ext uri="{BB962C8B-B14F-4D97-AF65-F5344CB8AC3E}">
        <p14:creationId xmlns:p14="http://schemas.microsoft.com/office/powerpoint/2010/main" val="1978126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System Development Life Cycle (SDLC)</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6285720" y="1268963"/>
            <a:ext cx="5068079" cy="4544008"/>
          </a:xfrm>
        </p:spPr>
        <p:txBody>
          <a:bodyPr>
            <a:normAutofit/>
          </a:bodyPr>
          <a:lstStyle/>
          <a:p>
            <a:r>
              <a:rPr lang="en-US" dirty="0"/>
              <a:t>System Development Life Cycle (SDLC) has 7 steps –</a:t>
            </a:r>
          </a:p>
          <a:p>
            <a:pPr marL="914400" lvl="1" indent="-457200">
              <a:buFont typeface="+mj-lt"/>
              <a:buAutoNum type="arabicPeriod"/>
            </a:pPr>
            <a:r>
              <a:rPr lang="en-US" sz="2600" dirty="0"/>
              <a:t>Planning</a:t>
            </a:r>
          </a:p>
          <a:p>
            <a:pPr marL="914400" lvl="1" indent="-457200">
              <a:buFont typeface="+mj-lt"/>
              <a:buAutoNum type="arabicPeriod"/>
            </a:pPr>
            <a:r>
              <a:rPr lang="en-US" sz="2600" dirty="0"/>
              <a:t>Analysis</a:t>
            </a:r>
          </a:p>
          <a:p>
            <a:pPr marL="914400" lvl="1" indent="-457200">
              <a:buFont typeface="+mj-lt"/>
              <a:buAutoNum type="arabicPeriod"/>
            </a:pPr>
            <a:r>
              <a:rPr lang="en-US" sz="2600" dirty="0"/>
              <a:t>Design</a:t>
            </a:r>
          </a:p>
          <a:p>
            <a:pPr marL="914400" lvl="1" indent="-457200">
              <a:buFont typeface="+mj-lt"/>
              <a:buAutoNum type="arabicPeriod"/>
            </a:pPr>
            <a:r>
              <a:rPr lang="en-US" sz="2600" dirty="0"/>
              <a:t>Development</a:t>
            </a:r>
          </a:p>
          <a:p>
            <a:pPr marL="914400" lvl="1" indent="-457200">
              <a:buFont typeface="+mj-lt"/>
              <a:buAutoNum type="arabicPeriod"/>
            </a:pPr>
            <a:r>
              <a:rPr lang="en-US" sz="2600" dirty="0"/>
              <a:t>Testing</a:t>
            </a:r>
          </a:p>
          <a:p>
            <a:pPr marL="914400" lvl="1" indent="-457200">
              <a:buFont typeface="+mj-lt"/>
              <a:buAutoNum type="arabicPeriod"/>
            </a:pPr>
            <a:r>
              <a:rPr lang="en-US" sz="2600" dirty="0"/>
              <a:t>Implementation</a:t>
            </a:r>
          </a:p>
          <a:p>
            <a:pPr marL="914400" lvl="1" indent="-457200">
              <a:buFont typeface="+mj-lt"/>
              <a:buAutoNum type="arabicPeriod"/>
            </a:pPr>
            <a:r>
              <a:rPr lang="en-US" sz="2600" dirty="0"/>
              <a:t>Maintenance</a:t>
            </a:r>
          </a:p>
          <a:p>
            <a:endParaRPr lang="en-US" sz="2600" dirty="0"/>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9101E99A-9878-4B17-8CC4-8E4FC08A6E62}"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6</a:t>
            </a:fld>
            <a:endParaRPr lang="en-US"/>
          </a:p>
        </p:txBody>
      </p:sp>
      <p:pic>
        <p:nvPicPr>
          <p:cNvPr id="12" name="Picture 11">
            <a:extLst>
              <a:ext uri="{FF2B5EF4-FFF2-40B4-BE49-F238E27FC236}">
                <a16:creationId xmlns:a16="http://schemas.microsoft.com/office/drawing/2014/main" id="{FEB6FB90-5777-4BA6-BE8F-6C14AFDEB2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859837"/>
            <a:ext cx="5068078" cy="3362260"/>
          </a:xfrm>
          <a:prstGeom prst="rect">
            <a:avLst/>
          </a:prstGeom>
        </p:spPr>
      </p:pic>
    </p:spTree>
    <p:extLst>
      <p:ext uri="{BB962C8B-B14F-4D97-AF65-F5344CB8AC3E}">
        <p14:creationId xmlns:p14="http://schemas.microsoft.com/office/powerpoint/2010/main" val="24207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SDLC</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lnSpcReduction="10000"/>
          </a:bodyPr>
          <a:lstStyle/>
          <a:p>
            <a:r>
              <a:rPr lang="en-US" dirty="0"/>
              <a:t>SDLC can mean various things </a:t>
            </a:r>
            <a:r>
              <a:rPr lang="en-US" sz="2600" dirty="0"/>
              <a:t>–</a:t>
            </a:r>
          </a:p>
          <a:p>
            <a:pPr lvl="1"/>
            <a:endParaRPr lang="en-US" sz="2800" dirty="0"/>
          </a:p>
          <a:p>
            <a:pPr lvl="1"/>
            <a:r>
              <a:rPr lang="en-US" sz="2800" dirty="0"/>
              <a:t>System Development Life Cycle</a:t>
            </a:r>
          </a:p>
          <a:p>
            <a:pPr lvl="2"/>
            <a:r>
              <a:rPr lang="en-US" sz="2400" dirty="0"/>
              <a:t>Can be applied to any system.</a:t>
            </a:r>
          </a:p>
          <a:p>
            <a:pPr lvl="1"/>
            <a:endParaRPr lang="en-US" sz="2800" dirty="0"/>
          </a:p>
          <a:p>
            <a:pPr lvl="1"/>
            <a:r>
              <a:rPr lang="en-US" sz="2800" dirty="0"/>
              <a:t>Software Development Life Cycle</a:t>
            </a:r>
          </a:p>
          <a:p>
            <a:pPr lvl="2"/>
            <a:r>
              <a:rPr lang="en-US" sz="2400" dirty="0"/>
              <a:t>Focuses on software systems.</a:t>
            </a:r>
          </a:p>
          <a:p>
            <a:pPr lvl="1"/>
            <a:endParaRPr lang="en-US" sz="2800" dirty="0"/>
          </a:p>
          <a:p>
            <a:pPr lvl="1"/>
            <a:r>
              <a:rPr lang="en-US" sz="2800" dirty="0"/>
              <a:t>System Design Life Cycle</a:t>
            </a:r>
          </a:p>
          <a:p>
            <a:pPr lvl="2"/>
            <a:r>
              <a:rPr lang="en-US" sz="2400" dirty="0"/>
              <a:t>Focuses on the phase where the designing of the architecture, components, and interactions of the system takes place.</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3798B214-5FAB-44BA-85C8-01F4D23899D4}"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7</a:t>
            </a:fld>
            <a:endParaRPr lang="en-US"/>
          </a:p>
        </p:txBody>
      </p:sp>
    </p:spTree>
    <p:extLst>
      <p:ext uri="{BB962C8B-B14F-4D97-AF65-F5344CB8AC3E}">
        <p14:creationId xmlns:p14="http://schemas.microsoft.com/office/powerpoint/2010/main" val="2447854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Planning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Identify the system objectives, recognize the needs.</a:t>
            </a:r>
          </a:p>
          <a:p>
            <a:r>
              <a:rPr lang="en-US" sz="2600" dirty="0"/>
              <a:t>Define the problems and scope.</a:t>
            </a:r>
          </a:p>
          <a:p>
            <a:r>
              <a:rPr lang="en-US" sz="2600" dirty="0"/>
              <a:t>Set timeline and schedule.</a:t>
            </a:r>
          </a:p>
          <a:p>
            <a:r>
              <a:rPr lang="en-US" sz="2600" dirty="0"/>
              <a:t>Allocate necessary resources.</a:t>
            </a:r>
          </a:p>
          <a:p>
            <a:r>
              <a:rPr lang="en-US" sz="2600" dirty="0"/>
              <a:t>Perform feasibility study i.e. preliminary analysis.</a:t>
            </a:r>
          </a:p>
          <a:p>
            <a:r>
              <a:rPr lang="en-US" sz="2600" dirty="0"/>
              <a:t>Consider threats, constraints, integration, and security of the system.</a:t>
            </a:r>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DA49DE1D-67DB-4B2E-A74D-0B9EC60547B3}"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8</a:t>
            </a:fld>
            <a:endParaRPr lang="en-US"/>
          </a:p>
        </p:txBody>
      </p:sp>
    </p:spTree>
    <p:extLst>
      <p:ext uri="{BB962C8B-B14F-4D97-AF65-F5344CB8AC3E}">
        <p14:creationId xmlns:p14="http://schemas.microsoft.com/office/powerpoint/2010/main" val="381495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Planning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Feasibility Study –</a:t>
            </a:r>
          </a:p>
          <a:p>
            <a:pPr lvl="1"/>
            <a:r>
              <a:rPr lang="en-US" dirty="0"/>
              <a:t>Also called Preliminary Analysis/Preliminary Survey/Preliminary Investigation.</a:t>
            </a:r>
          </a:p>
          <a:p>
            <a:pPr lvl="1"/>
            <a:r>
              <a:rPr lang="en-US" dirty="0"/>
              <a:t>Evaluation of the existing system and analysis of the alternative candidates.</a:t>
            </a:r>
          </a:p>
          <a:p>
            <a:pPr lvl="1"/>
            <a:r>
              <a:rPr lang="en-US" dirty="0"/>
              <a:t>What are the user’s demonstration needs?</a:t>
            </a:r>
          </a:p>
          <a:p>
            <a:pPr lvl="1"/>
            <a:r>
              <a:rPr lang="en-US" dirty="0"/>
              <a:t>Is the problem worth solving?</a:t>
            </a:r>
          </a:p>
          <a:p>
            <a:pPr lvl="1"/>
            <a:r>
              <a:rPr lang="en-US" dirty="0"/>
              <a:t>How can the problem be redefined?</a:t>
            </a:r>
          </a:p>
          <a:p>
            <a:pPr lvl="1"/>
            <a:r>
              <a:rPr lang="en-US" dirty="0"/>
              <a:t>Technical feasibility, behavioral feasibility, cost/benefit analysis, etc.</a:t>
            </a:r>
          </a:p>
          <a:p>
            <a:pPr lvl="1"/>
            <a:r>
              <a:rPr lang="en-US" dirty="0"/>
              <a:t>Presented as a report.</a:t>
            </a:r>
          </a:p>
          <a:p>
            <a:pPr lvl="1"/>
            <a:r>
              <a:rPr lang="en-US" dirty="0"/>
              <a:t>Some considers it in planning phase, others put it in analysis phase.</a:t>
            </a:r>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72962C14-4C31-4C93-83F3-661216C4C9F5}"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9</a:t>
            </a:fld>
            <a:endParaRPr lang="en-US"/>
          </a:p>
        </p:txBody>
      </p:sp>
    </p:spTree>
    <p:extLst>
      <p:ext uri="{BB962C8B-B14F-4D97-AF65-F5344CB8AC3E}">
        <p14:creationId xmlns:p14="http://schemas.microsoft.com/office/powerpoint/2010/main" val="4168155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Analysis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Gather, analyze, and validate the information.</a:t>
            </a:r>
          </a:p>
          <a:p>
            <a:r>
              <a:rPr lang="en-US" sz="2600" dirty="0"/>
              <a:t>Perform observations, interview, questionnaires, etc. with the end-users.</a:t>
            </a:r>
          </a:p>
          <a:p>
            <a:r>
              <a:rPr lang="en-US" sz="2600" dirty="0"/>
              <a:t>Perform detailed analysis.</a:t>
            </a:r>
          </a:p>
          <a:p>
            <a:r>
              <a:rPr lang="en-US" sz="2600" dirty="0"/>
              <a:t>Determine each stakeholders (user, customer, etc.) needs and perspectives.</a:t>
            </a:r>
          </a:p>
          <a:p>
            <a:r>
              <a:rPr lang="en-US" sz="2600" dirty="0"/>
              <a:t>Identify pros and cons, recommend solution.</a:t>
            </a:r>
          </a:p>
          <a:p>
            <a:r>
              <a:rPr lang="en-US" sz="2600" dirty="0"/>
              <a:t>Prepare a software requirement specification (SRS) document.</a:t>
            </a:r>
          </a:p>
          <a:p>
            <a:r>
              <a:rPr lang="en-US" sz="2600" dirty="0"/>
              <a:t>Produce the logical model of the system.</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4803A834-8BDD-4914-9602-73DD8B459490}"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10</a:t>
            </a:fld>
            <a:endParaRPr lang="en-US"/>
          </a:p>
        </p:txBody>
      </p:sp>
    </p:spTree>
    <p:extLst>
      <p:ext uri="{BB962C8B-B14F-4D97-AF65-F5344CB8AC3E}">
        <p14:creationId xmlns:p14="http://schemas.microsoft.com/office/powerpoint/2010/main" val="2858164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Design, Development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Design</a:t>
            </a:r>
          </a:p>
          <a:p>
            <a:pPr lvl="1"/>
            <a:r>
              <a:rPr lang="en-US" dirty="0"/>
              <a:t>Translate the gathered requirements into a detailed technical blueprint.</a:t>
            </a:r>
          </a:p>
          <a:p>
            <a:pPr lvl="1"/>
            <a:r>
              <a:rPr lang="en-US" dirty="0"/>
              <a:t>Design system architecture, database models, user interfaces, network, etc.</a:t>
            </a:r>
          </a:p>
          <a:p>
            <a:pPr lvl="1"/>
            <a:r>
              <a:rPr lang="en-US" dirty="0"/>
              <a:t>System elements such as input, output, and processing are designed.</a:t>
            </a:r>
          </a:p>
          <a:p>
            <a:pPr lvl="1"/>
            <a:r>
              <a:rPr lang="en-US" dirty="0"/>
              <a:t>Business rules, process diagrams, pseudocodes, etc. are detailed.</a:t>
            </a:r>
          </a:p>
          <a:p>
            <a:pPr lvl="1"/>
            <a:r>
              <a:rPr lang="en-US" dirty="0"/>
              <a:t>Prototype models are also produced.</a:t>
            </a:r>
          </a:p>
          <a:p>
            <a:endParaRPr lang="en-US" sz="2600" dirty="0"/>
          </a:p>
          <a:p>
            <a:r>
              <a:rPr lang="en-US" sz="2600" dirty="0"/>
              <a:t>Development</a:t>
            </a:r>
          </a:p>
          <a:p>
            <a:pPr lvl="1"/>
            <a:r>
              <a:rPr lang="en-US" dirty="0"/>
              <a:t>According to the design, the coding i.e. the development takes place at this phase.</a:t>
            </a:r>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BB51752C-78BE-4F22-8676-AEAED49DB0CA}"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11</a:t>
            </a:fld>
            <a:endParaRPr lang="en-US"/>
          </a:p>
        </p:txBody>
      </p:sp>
    </p:spTree>
    <p:extLst>
      <p:ext uri="{BB962C8B-B14F-4D97-AF65-F5344CB8AC3E}">
        <p14:creationId xmlns:p14="http://schemas.microsoft.com/office/powerpoint/2010/main" val="1334150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Testing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2"/>
            <a:ext cx="10515600" cy="5087387"/>
          </a:xfrm>
        </p:spPr>
        <p:txBody>
          <a:bodyPr>
            <a:normAutofit/>
          </a:bodyPr>
          <a:lstStyle/>
          <a:p>
            <a:r>
              <a:rPr lang="en-US" sz="2600" dirty="0"/>
              <a:t>Unit testing –</a:t>
            </a:r>
          </a:p>
          <a:p>
            <a:pPr lvl="1"/>
            <a:r>
              <a:rPr lang="en-US" sz="2200" dirty="0"/>
              <a:t>Testing an individual module or component in isolation.</a:t>
            </a:r>
          </a:p>
          <a:p>
            <a:r>
              <a:rPr lang="en-US" sz="2600" dirty="0"/>
              <a:t>UI testing –</a:t>
            </a:r>
          </a:p>
          <a:p>
            <a:pPr lvl="1"/>
            <a:r>
              <a:rPr lang="en-US" sz="2200" dirty="0"/>
              <a:t>Testing whether the graphical user interface is working properly or not.</a:t>
            </a:r>
          </a:p>
          <a:p>
            <a:r>
              <a:rPr lang="en-US" sz="2600" dirty="0"/>
              <a:t>Integration testing –</a:t>
            </a:r>
          </a:p>
          <a:p>
            <a:pPr lvl="1"/>
            <a:r>
              <a:rPr lang="en-US" sz="2200" dirty="0"/>
              <a:t>Testing how the parts of a system or subsystem work together.</a:t>
            </a:r>
          </a:p>
          <a:p>
            <a:pPr lvl="1"/>
            <a:r>
              <a:rPr lang="en-US" sz="2200" dirty="0"/>
              <a:t>Big-bang testing - take the entire integrated system and test it all at once.</a:t>
            </a:r>
          </a:p>
          <a:p>
            <a:pPr lvl="1"/>
            <a:r>
              <a:rPr lang="en-US" sz="2200" dirty="0"/>
              <a:t>Incremental testing –</a:t>
            </a:r>
          </a:p>
          <a:p>
            <a:pPr lvl="2"/>
            <a:r>
              <a:rPr lang="en-US" sz="1800" dirty="0"/>
              <a:t>First test each individual subsystem in isolation, and then continue testing while integrating more and more subsystems.</a:t>
            </a:r>
          </a:p>
          <a:p>
            <a:pPr lvl="2"/>
            <a:r>
              <a:rPr lang="en-US" sz="1800" dirty="0"/>
              <a:t>Can be horizontal or vertical.</a:t>
            </a:r>
          </a:p>
          <a:p>
            <a:pPr lvl="2"/>
            <a:r>
              <a:rPr lang="en-US" sz="1800" dirty="0"/>
              <a:t>For horizontal testing, simply test each sub-system in isolation.</a:t>
            </a:r>
          </a:p>
          <a:p>
            <a:pPr lvl="2"/>
            <a:r>
              <a:rPr lang="en-US" sz="1800" dirty="0"/>
              <a:t>Vertical testing can be top-down, bottom-up, or sandwich.</a:t>
            </a:r>
          </a:p>
          <a:p>
            <a:pPr lvl="1"/>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707DFCB9-2C37-44BC-940D-8A4FBA6EDD0C}"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12</a:t>
            </a:fld>
            <a:endParaRPr lang="en-US"/>
          </a:p>
        </p:txBody>
      </p:sp>
    </p:spTree>
    <p:extLst>
      <p:ext uri="{BB962C8B-B14F-4D97-AF65-F5344CB8AC3E}">
        <p14:creationId xmlns:p14="http://schemas.microsoft.com/office/powerpoint/2010/main" val="2727394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Testing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Black box testing –</a:t>
            </a:r>
          </a:p>
          <a:p>
            <a:pPr lvl="1"/>
            <a:r>
              <a:rPr lang="en-US" dirty="0"/>
              <a:t>The testers provide the system with inputs and observe the outputs.</a:t>
            </a:r>
          </a:p>
          <a:p>
            <a:pPr lvl="1"/>
            <a:r>
              <a:rPr lang="en-US" dirty="0"/>
              <a:t>They cannot see what is going on inside, the source code, the internal data, or the design documentation describing the system’s internals.</a:t>
            </a:r>
          </a:p>
          <a:p>
            <a:endParaRPr lang="en-US" sz="2600" dirty="0"/>
          </a:p>
          <a:p>
            <a:r>
              <a:rPr lang="en-US" sz="2600" dirty="0"/>
              <a:t>Glass box testing –</a:t>
            </a:r>
          </a:p>
          <a:p>
            <a:pPr lvl="1"/>
            <a:r>
              <a:rPr lang="en-US" dirty="0"/>
              <a:t>Also known as White box testing.</a:t>
            </a:r>
          </a:p>
          <a:p>
            <a:pPr lvl="1"/>
            <a:r>
              <a:rPr lang="en-US" dirty="0"/>
              <a:t>The tester can examine the design documents, the code, steps taken by algorithms during run time, and their internal data.</a:t>
            </a:r>
          </a:p>
          <a:p>
            <a:pPr lvl="1"/>
            <a:r>
              <a:rPr lang="en-US" dirty="0"/>
              <a:t>More time consuming than black box testing but also, more thorough.</a:t>
            </a:r>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F6256017-75F6-46C4-BD22-FA91AD378B22}"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13</a:t>
            </a:fld>
            <a:endParaRPr lang="en-US"/>
          </a:p>
        </p:txBody>
      </p:sp>
    </p:spTree>
    <p:extLst>
      <p:ext uri="{BB962C8B-B14F-4D97-AF65-F5344CB8AC3E}">
        <p14:creationId xmlns:p14="http://schemas.microsoft.com/office/powerpoint/2010/main" val="354338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Testing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21434"/>
            <a:ext cx="10869168" cy="5301990"/>
          </a:xfrm>
        </p:spPr>
        <p:txBody>
          <a:bodyPr>
            <a:normAutofit lnSpcReduction="10000"/>
          </a:bodyPr>
          <a:lstStyle/>
          <a:p>
            <a:r>
              <a:rPr lang="en-US" sz="2600" dirty="0"/>
              <a:t>Regression testing –</a:t>
            </a:r>
          </a:p>
          <a:p>
            <a:pPr lvl="1"/>
            <a:r>
              <a:rPr lang="en-US" sz="2200" dirty="0"/>
              <a:t>Give each failure a priority based on their criticality.</a:t>
            </a:r>
          </a:p>
          <a:p>
            <a:pPr lvl="1"/>
            <a:r>
              <a:rPr lang="en-US" sz="2200" dirty="0"/>
              <a:t>High priority bugs are fixed.</a:t>
            </a:r>
          </a:p>
          <a:p>
            <a:pPr lvl="1"/>
            <a:r>
              <a:rPr lang="en-US" sz="2200" dirty="0"/>
              <a:t>But, fixing bugs will cause new bugs. It is called ripple effect.</a:t>
            </a:r>
          </a:p>
          <a:p>
            <a:pPr lvl="1"/>
            <a:r>
              <a:rPr lang="en-US" sz="2200" dirty="0"/>
              <a:t>Do an impact analysis to find out all the possible effects of a change.</a:t>
            </a:r>
          </a:p>
          <a:p>
            <a:pPr lvl="1"/>
            <a:r>
              <a:rPr lang="en-US" sz="2200" dirty="0"/>
              <a:t>After making the change, run a subset of original test cases – regression testing.</a:t>
            </a:r>
          </a:p>
          <a:p>
            <a:pPr lvl="1"/>
            <a:r>
              <a:rPr lang="en-US" sz="2200" dirty="0"/>
              <a:t>Avoid running all the test cases, because that’s expensive. </a:t>
            </a:r>
          </a:p>
          <a:p>
            <a:pPr lvl="1"/>
            <a:r>
              <a:rPr lang="en-US" sz="2200" dirty="0"/>
              <a:t>Instead, cover as much as possible by regression testing.</a:t>
            </a:r>
          </a:p>
          <a:p>
            <a:pPr lvl="1"/>
            <a:r>
              <a:rPr lang="en-US" sz="2200" dirty="0"/>
              <a:t>ensure that the core features continue to work after any new changes or updates in the system.</a:t>
            </a:r>
          </a:p>
          <a:p>
            <a:r>
              <a:rPr lang="en-US" sz="2600" dirty="0"/>
              <a:t>Smoke testing –</a:t>
            </a:r>
          </a:p>
          <a:p>
            <a:pPr lvl="1"/>
            <a:r>
              <a:rPr lang="en-US" sz="2200" dirty="0"/>
              <a:t>determine if a new software build is ready for the next testing phase</a:t>
            </a:r>
          </a:p>
          <a:p>
            <a:pPr lvl="1"/>
            <a:r>
              <a:rPr lang="en-US" sz="2200" dirty="0"/>
              <a:t>smoke testing finds basic and critical issues in an application before more in-depth testing is done</a:t>
            </a:r>
          </a:p>
          <a:p>
            <a:pPr lvl="1"/>
            <a:r>
              <a:rPr lang="en-US" sz="2200" dirty="0"/>
              <a:t>Incompatibilities and show-stopper errors are found early.</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7F841E22-5C5D-44E0-94EA-96FAFD0E4579}"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14</a:t>
            </a:fld>
            <a:endParaRPr lang="en-US"/>
          </a:p>
        </p:txBody>
      </p:sp>
    </p:spTree>
    <p:extLst>
      <p:ext uri="{BB962C8B-B14F-4D97-AF65-F5344CB8AC3E}">
        <p14:creationId xmlns:p14="http://schemas.microsoft.com/office/powerpoint/2010/main" val="712585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Testing</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199" y="1268962"/>
            <a:ext cx="10722429" cy="5087387"/>
          </a:xfrm>
        </p:spPr>
        <p:txBody>
          <a:bodyPr>
            <a:normAutofit/>
          </a:bodyPr>
          <a:lstStyle/>
          <a:p>
            <a:r>
              <a:rPr lang="en-US" sz="2600" dirty="0"/>
              <a:t>Alpha testing –</a:t>
            </a:r>
          </a:p>
          <a:p>
            <a:pPr lvl="1"/>
            <a:r>
              <a:rPr lang="en-US" sz="2200" dirty="0"/>
              <a:t>Performed by users and clients, under the supervision of the software dev team.</a:t>
            </a:r>
          </a:p>
          <a:p>
            <a:r>
              <a:rPr lang="en-US" sz="2600" dirty="0"/>
              <a:t>Beta testing –</a:t>
            </a:r>
          </a:p>
          <a:p>
            <a:pPr lvl="1"/>
            <a:r>
              <a:rPr lang="en-US" sz="2200" dirty="0"/>
              <a:t>Performed by users and clients, in normal work environment, on a pre-release version.</a:t>
            </a:r>
          </a:p>
          <a:p>
            <a:r>
              <a:rPr lang="en-US" sz="2600" dirty="0"/>
              <a:t>User acceptance testing –</a:t>
            </a:r>
          </a:p>
          <a:p>
            <a:pPr lvl="1"/>
            <a:r>
              <a:rPr lang="en-US" sz="2200" dirty="0"/>
              <a:t>Users and customers do it on their own initiative.</a:t>
            </a:r>
          </a:p>
          <a:p>
            <a:r>
              <a:rPr lang="en-US" sz="2600" dirty="0"/>
              <a:t>Recovery testing</a:t>
            </a:r>
          </a:p>
          <a:p>
            <a:r>
              <a:rPr lang="en-US" sz="2600" dirty="0"/>
              <a:t>Security testing</a:t>
            </a:r>
          </a:p>
          <a:p>
            <a:r>
              <a:rPr lang="en-US" sz="2600" dirty="0"/>
              <a:t>Stress testing</a:t>
            </a:r>
          </a:p>
          <a:p>
            <a:r>
              <a:rPr lang="en-US" sz="2600" dirty="0"/>
              <a:t>Performance testing</a:t>
            </a:r>
          </a:p>
          <a:p>
            <a:r>
              <a:rPr lang="en-US" sz="2600" dirty="0"/>
              <a:t>Deployment testing</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92C04DF6-C512-4851-92FF-B8D029671F69}"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15</a:t>
            </a:fld>
            <a:endParaRPr lang="en-US"/>
          </a:p>
        </p:txBody>
      </p:sp>
    </p:spTree>
    <p:extLst>
      <p:ext uri="{BB962C8B-B14F-4D97-AF65-F5344CB8AC3E}">
        <p14:creationId xmlns:p14="http://schemas.microsoft.com/office/powerpoint/2010/main" val="2228681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Implementation, Maintenance</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68963"/>
            <a:ext cx="10515600" cy="4544008"/>
          </a:xfrm>
        </p:spPr>
        <p:txBody>
          <a:bodyPr>
            <a:normAutofit/>
          </a:bodyPr>
          <a:lstStyle/>
          <a:p>
            <a:r>
              <a:rPr lang="en-US" sz="2600" dirty="0"/>
              <a:t>Implementation</a:t>
            </a:r>
          </a:p>
          <a:p>
            <a:pPr lvl="1"/>
            <a:r>
              <a:rPr lang="en-US" sz="2200" dirty="0"/>
              <a:t>Deploy the system into live environment.</a:t>
            </a:r>
          </a:p>
          <a:p>
            <a:pPr lvl="1"/>
            <a:r>
              <a:rPr lang="en-US" sz="2200" dirty="0"/>
              <a:t>System installation, migrating data, and configuring infrastructure.</a:t>
            </a:r>
          </a:p>
          <a:p>
            <a:pPr lvl="1"/>
            <a:r>
              <a:rPr lang="en-US" sz="2200" dirty="0"/>
              <a:t>Training operational staffs and end-users.</a:t>
            </a:r>
          </a:p>
          <a:p>
            <a:pPr lvl="1"/>
            <a:endParaRPr lang="en-US" sz="2200" dirty="0"/>
          </a:p>
          <a:p>
            <a:r>
              <a:rPr lang="en-US" sz="2600" dirty="0"/>
              <a:t>Maintenance</a:t>
            </a:r>
          </a:p>
          <a:p>
            <a:pPr lvl="1"/>
            <a:r>
              <a:rPr lang="en-US" sz="2200" dirty="0"/>
              <a:t>Monitor, maintain, and update the system as needed.</a:t>
            </a:r>
          </a:p>
          <a:p>
            <a:pPr lvl="1"/>
            <a:r>
              <a:rPr lang="en-US" sz="2200" dirty="0"/>
              <a:t>Includes bug fixes, performance enhancements, security patches, etc.</a:t>
            </a:r>
          </a:p>
          <a:p>
            <a:pPr lvl="1"/>
            <a:r>
              <a:rPr lang="en-US" sz="2200" dirty="0"/>
              <a:t>User feedback is taken.</a:t>
            </a:r>
          </a:p>
          <a:p>
            <a:pPr lvl="1"/>
            <a:endParaRPr lang="en-US" sz="2200" dirty="0"/>
          </a:p>
          <a:p>
            <a:pPr lvl="1"/>
            <a:endParaRPr lang="en-US" sz="2200" dirty="0"/>
          </a:p>
          <a:p>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48ACF54E-E449-4E24-B415-2D6CADA4F368}"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16</a:t>
            </a:fld>
            <a:endParaRPr lang="en-US"/>
          </a:p>
        </p:txBody>
      </p:sp>
    </p:spTree>
    <p:extLst>
      <p:ext uri="{BB962C8B-B14F-4D97-AF65-F5344CB8AC3E}">
        <p14:creationId xmlns:p14="http://schemas.microsoft.com/office/powerpoint/2010/main" val="3085198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Prototyping</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C4E1FCCB-11FA-496F-ABF2-3FDAD6AD3210}"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17</a:t>
            </a:fld>
            <a:endParaRPr lang="en-US"/>
          </a:p>
        </p:txBody>
      </p:sp>
      <p:sp>
        <p:nvSpPr>
          <p:cNvPr id="7" name="Content Placeholder 6">
            <a:extLst>
              <a:ext uri="{FF2B5EF4-FFF2-40B4-BE49-F238E27FC236}">
                <a16:creationId xmlns:a16="http://schemas.microsoft.com/office/drawing/2014/main" id="{0F74C882-993F-4C85-9EA6-914AFDE2E9BB}"/>
              </a:ext>
            </a:extLst>
          </p:cNvPr>
          <p:cNvSpPr>
            <a:spLocks noGrp="1"/>
          </p:cNvSpPr>
          <p:nvPr>
            <p:ph idx="1"/>
          </p:nvPr>
        </p:nvSpPr>
        <p:spPr>
          <a:xfrm>
            <a:off x="6096000" y="1054360"/>
            <a:ext cx="5257800" cy="5122603"/>
          </a:xfrm>
        </p:spPr>
        <p:txBody>
          <a:bodyPr>
            <a:noAutofit/>
          </a:bodyPr>
          <a:lstStyle/>
          <a:p>
            <a:r>
              <a:rPr lang="en-US" sz="2600" dirty="0"/>
              <a:t>A working version of an information system or part of the system, but it is meant to be only a preliminary model.</a:t>
            </a:r>
          </a:p>
          <a:p>
            <a:endParaRPr lang="en-US" sz="2600" dirty="0"/>
          </a:p>
          <a:p>
            <a:r>
              <a:rPr lang="en-US" sz="2600" dirty="0"/>
              <a:t>Once operational, the prototype will be further refined until it conforms precisely to users’ requirements.</a:t>
            </a:r>
          </a:p>
          <a:p>
            <a:endParaRPr lang="en-US" sz="2600" dirty="0"/>
          </a:p>
          <a:p>
            <a:r>
              <a:rPr lang="en-US" sz="2600" dirty="0"/>
              <a:t>Prototyping is more explicitly iterative than the conventional life cycle.</a:t>
            </a:r>
          </a:p>
        </p:txBody>
      </p:sp>
      <p:pic>
        <p:nvPicPr>
          <p:cNvPr id="10" name="Picture 9">
            <a:extLst>
              <a:ext uri="{FF2B5EF4-FFF2-40B4-BE49-F238E27FC236}">
                <a16:creationId xmlns:a16="http://schemas.microsoft.com/office/drawing/2014/main" id="{1FA0CC74-58A2-4C38-8FA5-E98913972A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188526"/>
            <a:ext cx="4625741" cy="4988437"/>
          </a:xfrm>
          <a:prstGeom prst="rect">
            <a:avLst/>
          </a:prstGeom>
        </p:spPr>
      </p:pic>
    </p:spTree>
    <p:extLst>
      <p:ext uri="{BB962C8B-B14F-4D97-AF65-F5344CB8AC3E}">
        <p14:creationId xmlns:p14="http://schemas.microsoft.com/office/powerpoint/2010/main" val="3700096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Software Development Models</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F0CD00A0-8CB7-47B6-8C1D-DD9EC0FA7BEC}"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18</a:t>
            </a:fld>
            <a:endParaRPr lang="en-US"/>
          </a:p>
        </p:txBody>
      </p:sp>
      <p:sp>
        <p:nvSpPr>
          <p:cNvPr id="7" name="Content Placeholder 6">
            <a:extLst>
              <a:ext uri="{FF2B5EF4-FFF2-40B4-BE49-F238E27FC236}">
                <a16:creationId xmlns:a16="http://schemas.microsoft.com/office/drawing/2014/main" id="{374ED95E-8822-4B9B-B795-9E6731D3A9C8}"/>
              </a:ext>
            </a:extLst>
          </p:cNvPr>
          <p:cNvSpPr>
            <a:spLocks noGrp="1"/>
          </p:cNvSpPr>
          <p:nvPr>
            <p:ph idx="1"/>
          </p:nvPr>
        </p:nvSpPr>
        <p:spPr>
          <a:xfrm>
            <a:off x="838200" y="1054360"/>
            <a:ext cx="10515600" cy="5122603"/>
          </a:xfrm>
        </p:spPr>
        <p:txBody>
          <a:bodyPr>
            <a:normAutofit/>
          </a:bodyPr>
          <a:lstStyle/>
          <a:p>
            <a:r>
              <a:rPr lang="en-US" dirty="0"/>
              <a:t>Opportunistic Approach</a:t>
            </a:r>
          </a:p>
          <a:p>
            <a:r>
              <a:rPr lang="en-US" dirty="0"/>
              <a:t>Big Bang Model</a:t>
            </a:r>
          </a:p>
          <a:p>
            <a:r>
              <a:rPr lang="en-US" dirty="0"/>
              <a:t>Waterfall SDLC Model</a:t>
            </a:r>
          </a:p>
          <a:p>
            <a:r>
              <a:rPr lang="en-US" dirty="0"/>
              <a:t>Spiral SDLC Model</a:t>
            </a:r>
          </a:p>
          <a:p>
            <a:r>
              <a:rPr lang="en-US" dirty="0"/>
              <a:t>Concurrent Engineering Model</a:t>
            </a:r>
          </a:p>
          <a:p>
            <a:r>
              <a:rPr lang="en-US" dirty="0"/>
              <a:t>Iterative Incremental Model</a:t>
            </a:r>
          </a:p>
          <a:p>
            <a:r>
              <a:rPr lang="en-US" dirty="0"/>
              <a:t>Evolutionary Model</a:t>
            </a:r>
          </a:p>
          <a:p>
            <a:r>
              <a:rPr lang="en-US" dirty="0"/>
              <a:t>Rapid Action Development (RAD) Model</a:t>
            </a:r>
          </a:p>
          <a:p>
            <a:r>
              <a:rPr lang="en-US" dirty="0"/>
              <a:t>V-Shaped Model</a:t>
            </a:r>
          </a:p>
          <a:p>
            <a:r>
              <a:rPr lang="en-US" dirty="0"/>
              <a:t>Agile Model</a:t>
            </a:r>
          </a:p>
          <a:p>
            <a:pPr marL="0" indent="0">
              <a:buNone/>
            </a:pPr>
            <a:endParaRPr lang="en-US" dirty="0"/>
          </a:p>
        </p:txBody>
      </p:sp>
    </p:spTree>
    <p:extLst>
      <p:ext uri="{BB962C8B-B14F-4D97-AF65-F5344CB8AC3E}">
        <p14:creationId xmlns:p14="http://schemas.microsoft.com/office/powerpoint/2010/main" val="2902612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79CFD-5629-51F1-9D6C-82F9C81DF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295833-596F-816A-ADA7-588D62A6D57D}"/>
              </a:ext>
            </a:extLst>
          </p:cNvPr>
          <p:cNvSpPr>
            <a:spLocks noGrp="1"/>
          </p:cNvSpPr>
          <p:nvPr>
            <p:ph type="title"/>
          </p:nvPr>
        </p:nvSpPr>
        <p:spPr>
          <a:xfrm>
            <a:off x="838200" y="18256"/>
            <a:ext cx="10515600" cy="1036104"/>
          </a:xfrm>
        </p:spPr>
        <p:txBody>
          <a:bodyPr/>
          <a:lstStyle/>
          <a:p>
            <a:r>
              <a:rPr lang="en-US" dirty="0"/>
              <a:t>Software Development Models</a:t>
            </a:r>
          </a:p>
        </p:txBody>
      </p:sp>
      <p:sp>
        <p:nvSpPr>
          <p:cNvPr id="4" name="Date Placeholder 3">
            <a:extLst>
              <a:ext uri="{FF2B5EF4-FFF2-40B4-BE49-F238E27FC236}">
                <a16:creationId xmlns:a16="http://schemas.microsoft.com/office/drawing/2014/main" id="{C23BD294-3D92-E70A-3A23-BAFE081CAC8B}"/>
              </a:ext>
            </a:extLst>
          </p:cNvPr>
          <p:cNvSpPr>
            <a:spLocks noGrp="1"/>
          </p:cNvSpPr>
          <p:nvPr>
            <p:ph type="dt" sz="half" idx="10"/>
          </p:nvPr>
        </p:nvSpPr>
        <p:spPr/>
        <p:txBody>
          <a:bodyPr/>
          <a:lstStyle/>
          <a:p>
            <a:fld id="{E84455B8-3EAD-4323-8FA7-74C511984F41}" type="datetime5">
              <a:rPr lang="en-US" smtClean="0"/>
              <a:t>29-Oct-25</a:t>
            </a:fld>
            <a:endParaRPr lang="en-US"/>
          </a:p>
        </p:txBody>
      </p:sp>
      <p:sp>
        <p:nvSpPr>
          <p:cNvPr id="6" name="Slide Number Placeholder 5">
            <a:extLst>
              <a:ext uri="{FF2B5EF4-FFF2-40B4-BE49-F238E27FC236}">
                <a16:creationId xmlns:a16="http://schemas.microsoft.com/office/drawing/2014/main" id="{CFA0A275-5961-1DE6-79BE-F76DDA6ACEAD}"/>
              </a:ext>
            </a:extLst>
          </p:cNvPr>
          <p:cNvSpPr>
            <a:spLocks noGrp="1"/>
          </p:cNvSpPr>
          <p:nvPr>
            <p:ph type="sldNum" sz="quarter" idx="12"/>
          </p:nvPr>
        </p:nvSpPr>
        <p:spPr/>
        <p:txBody>
          <a:bodyPr/>
          <a:lstStyle/>
          <a:p>
            <a:fld id="{C4E2C86B-781F-422B-BBCD-AFDAC8D92AAC}" type="slidenum">
              <a:rPr lang="en-US" smtClean="0"/>
              <a:t>19</a:t>
            </a:fld>
            <a:endParaRPr lang="en-US"/>
          </a:p>
        </p:txBody>
      </p:sp>
      <p:sp>
        <p:nvSpPr>
          <p:cNvPr id="8" name="Content Placeholder 7">
            <a:extLst>
              <a:ext uri="{FF2B5EF4-FFF2-40B4-BE49-F238E27FC236}">
                <a16:creationId xmlns:a16="http://schemas.microsoft.com/office/drawing/2014/main" id="{60B12674-0B3F-FF82-8055-9CA2E5564738}"/>
              </a:ext>
            </a:extLst>
          </p:cNvPr>
          <p:cNvSpPr>
            <a:spLocks noGrp="1"/>
          </p:cNvSpPr>
          <p:nvPr>
            <p:ph idx="1"/>
          </p:nvPr>
        </p:nvSpPr>
        <p:spPr>
          <a:xfrm>
            <a:off x="838200" y="1054360"/>
            <a:ext cx="10515600" cy="2374640"/>
          </a:xfrm>
        </p:spPr>
        <p:txBody>
          <a:bodyPr/>
          <a:lstStyle/>
          <a:p>
            <a:r>
              <a:rPr lang="en-US" b="1" dirty="0"/>
              <a:t>The Opportunistic Approach </a:t>
            </a:r>
          </a:p>
          <a:p>
            <a:endParaRPr lang="en-US" dirty="0"/>
          </a:p>
          <a:p>
            <a:endParaRPr lang="en-US" dirty="0"/>
          </a:p>
          <a:p>
            <a:pPr marL="0" indent="0">
              <a:buNone/>
            </a:pPr>
            <a:endParaRPr lang="en-US" dirty="0"/>
          </a:p>
          <a:p>
            <a:pPr marL="0" indent="0">
              <a:buNone/>
            </a:pPr>
            <a:endParaRPr lang="en-US" dirty="0"/>
          </a:p>
          <a:p>
            <a:pPr marL="0" indent="0">
              <a:buNone/>
            </a:pPr>
            <a:endParaRPr lang="en-US" dirty="0"/>
          </a:p>
          <a:p>
            <a:endParaRPr lang="en-US" dirty="0"/>
          </a:p>
        </p:txBody>
      </p:sp>
      <p:pic>
        <p:nvPicPr>
          <p:cNvPr id="9" name="Picture 4">
            <a:extLst>
              <a:ext uri="{FF2B5EF4-FFF2-40B4-BE49-F238E27FC236}">
                <a16:creationId xmlns:a16="http://schemas.microsoft.com/office/drawing/2014/main" id="{604FB7AD-D6DF-E66E-7A70-C3384E47CADC}"/>
              </a:ext>
            </a:extLst>
          </p:cNvPr>
          <p:cNvPicPr>
            <a:picLocks noChangeAspect="1" noChangeArrowheads="1"/>
          </p:cNvPicPr>
          <p:nvPr/>
        </p:nvPicPr>
        <p:blipFill>
          <a:blip r:embed="rId3"/>
          <a:srcRect/>
          <a:stretch>
            <a:fillRect/>
          </a:stretch>
        </p:blipFill>
        <p:spPr bwMode="auto">
          <a:xfrm>
            <a:off x="3136106" y="1512570"/>
            <a:ext cx="5919788" cy="1317625"/>
          </a:xfrm>
          <a:prstGeom prst="rect">
            <a:avLst/>
          </a:prstGeom>
          <a:noFill/>
          <a:ln w="9525">
            <a:noFill/>
            <a:miter lim="800000"/>
            <a:headEnd/>
            <a:tailEnd/>
          </a:ln>
        </p:spPr>
      </p:pic>
      <p:sp>
        <p:nvSpPr>
          <p:cNvPr id="3" name="TextBox 2">
            <a:extLst>
              <a:ext uri="{FF2B5EF4-FFF2-40B4-BE49-F238E27FC236}">
                <a16:creationId xmlns:a16="http://schemas.microsoft.com/office/drawing/2014/main" id="{63862AC2-43EC-F94E-A801-DD94615BEE74}"/>
              </a:ext>
            </a:extLst>
          </p:cNvPr>
          <p:cNvSpPr txBox="1"/>
          <p:nvPr/>
        </p:nvSpPr>
        <p:spPr>
          <a:xfrm>
            <a:off x="924232" y="3011996"/>
            <a:ext cx="10717162" cy="2954655"/>
          </a:xfrm>
          <a:prstGeom prst="rect">
            <a:avLst/>
          </a:prstGeom>
          <a:noFill/>
        </p:spPr>
        <p:txBody>
          <a:bodyPr wrap="square" rtlCol="0">
            <a:spAutoFit/>
          </a:bodyPr>
          <a:lstStyle/>
          <a:p>
            <a:pPr marL="457200" indent="-457200">
              <a:buFont typeface="Wingdings" panose="05000000000000000000" pitchFamily="2" charset="2"/>
              <a:buChar char="Ø"/>
            </a:pPr>
            <a:r>
              <a:rPr lang="en-US" sz="2600" dirty="0"/>
              <a:t>This model focuses on </a:t>
            </a:r>
            <a:r>
              <a:rPr lang="en-US" sz="2600" b="1" dirty="0"/>
              <a:t>quickly building a basic prototype</a:t>
            </a:r>
            <a:r>
              <a:rPr lang="en-US" sz="2600" dirty="0"/>
              <a:t> and then improving it continuously based on new ideas and feedback.</a:t>
            </a:r>
          </a:p>
          <a:p>
            <a:pPr marL="457200" indent="-457200">
              <a:buFont typeface="Wingdings" panose="05000000000000000000" pitchFamily="2" charset="2"/>
              <a:buChar char="Ø"/>
            </a:pPr>
            <a:r>
              <a:rPr lang="en-US" sz="2600" dirty="0"/>
              <a:t>Used –</a:t>
            </a:r>
          </a:p>
          <a:p>
            <a:pPr marL="1828800" lvl="3" indent="-457200">
              <a:buFont typeface="Wingdings" panose="05000000000000000000" pitchFamily="2" charset="2"/>
              <a:buChar char="§"/>
            </a:pPr>
            <a:r>
              <a:rPr lang="en-US" sz="2600" dirty="0"/>
              <a:t>When system requirements are unclear or changing.</a:t>
            </a:r>
          </a:p>
          <a:p>
            <a:pPr marL="1828800" lvl="3" indent="-457200">
              <a:buFont typeface="Wingdings" panose="05000000000000000000" pitchFamily="2" charset="2"/>
              <a:buChar char="§"/>
            </a:pPr>
            <a:r>
              <a:rPr lang="en-US" sz="2600" dirty="0"/>
              <a:t>For small or medium-scale projects.</a:t>
            </a:r>
          </a:p>
          <a:p>
            <a:pPr marL="1828800" lvl="3" indent="-457200">
              <a:buFont typeface="Wingdings" panose="05000000000000000000" pitchFamily="2" charset="2"/>
              <a:buChar char="§"/>
            </a:pPr>
            <a:r>
              <a:rPr lang="en-US" sz="2800" dirty="0"/>
              <a:t>For research, experimental, or innovative projects.</a:t>
            </a:r>
          </a:p>
          <a:p>
            <a:pPr marL="1828800" lvl="3" indent="-457200">
              <a:buFont typeface="Wingdings" panose="05000000000000000000" pitchFamily="2" charset="2"/>
              <a:buChar char="§"/>
            </a:pPr>
            <a:r>
              <a:rPr lang="en-US" sz="2800" dirty="0"/>
              <a:t>When rapid prototype development is required.</a:t>
            </a:r>
            <a:endParaRPr lang="en-US" sz="2600" dirty="0"/>
          </a:p>
        </p:txBody>
      </p:sp>
      <p:sp>
        <p:nvSpPr>
          <p:cNvPr id="5" name="TextBox 4">
            <a:extLst>
              <a:ext uri="{FF2B5EF4-FFF2-40B4-BE49-F238E27FC236}">
                <a16:creationId xmlns:a16="http://schemas.microsoft.com/office/drawing/2014/main" id="{9FA98B89-3BD6-3FED-79AC-8C47150589B1}"/>
              </a:ext>
            </a:extLst>
          </p:cNvPr>
          <p:cNvSpPr txBox="1"/>
          <p:nvPr/>
        </p:nvSpPr>
        <p:spPr>
          <a:xfrm>
            <a:off x="10225548" y="4050890"/>
            <a:ext cx="184731" cy="646331"/>
          </a:xfrm>
          <a:prstGeom prst="rect">
            <a:avLst/>
          </a:prstGeom>
          <a:noFill/>
        </p:spPr>
        <p:txBody>
          <a:bodyPr wrap="none" rtlCol="0">
            <a:spAutoFit/>
          </a:bodyPr>
          <a:lstStyle/>
          <a:p>
            <a:endParaRPr lang="en-US" dirty="0"/>
          </a:p>
          <a:p>
            <a:endParaRPr lang="en-US" dirty="0"/>
          </a:p>
        </p:txBody>
      </p:sp>
    </p:spTree>
    <p:extLst>
      <p:ext uri="{BB962C8B-B14F-4D97-AF65-F5344CB8AC3E}">
        <p14:creationId xmlns:p14="http://schemas.microsoft.com/office/powerpoint/2010/main" val="3822778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66EC3-8BDD-55F4-0ED2-8E61FDE71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6318A-DCAE-3E70-D004-6B6294BCDC20}"/>
              </a:ext>
            </a:extLst>
          </p:cNvPr>
          <p:cNvSpPr>
            <a:spLocks noGrp="1"/>
          </p:cNvSpPr>
          <p:nvPr>
            <p:ph type="title"/>
          </p:nvPr>
        </p:nvSpPr>
        <p:spPr>
          <a:xfrm>
            <a:off x="838200" y="18256"/>
            <a:ext cx="10515600" cy="1036104"/>
          </a:xfrm>
        </p:spPr>
        <p:txBody>
          <a:bodyPr/>
          <a:lstStyle/>
          <a:p>
            <a:r>
              <a:rPr lang="en-US" dirty="0"/>
              <a:t>Software Development Models</a:t>
            </a:r>
          </a:p>
        </p:txBody>
      </p:sp>
      <p:sp>
        <p:nvSpPr>
          <p:cNvPr id="4" name="Date Placeholder 3">
            <a:extLst>
              <a:ext uri="{FF2B5EF4-FFF2-40B4-BE49-F238E27FC236}">
                <a16:creationId xmlns:a16="http://schemas.microsoft.com/office/drawing/2014/main" id="{238B88BF-B410-42C9-35A6-76D59D8FF976}"/>
              </a:ext>
            </a:extLst>
          </p:cNvPr>
          <p:cNvSpPr>
            <a:spLocks noGrp="1"/>
          </p:cNvSpPr>
          <p:nvPr>
            <p:ph type="dt" sz="half" idx="10"/>
          </p:nvPr>
        </p:nvSpPr>
        <p:spPr/>
        <p:txBody>
          <a:bodyPr/>
          <a:lstStyle/>
          <a:p>
            <a:fld id="{E84455B8-3EAD-4323-8FA7-74C511984F41}" type="datetime5">
              <a:rPr lang="en-US" smtClean="0"/>
              <a:t>29-Oct-25</a:t>
            </a:fld>
            <a:endParaRPr lang="en-US"/>
          </a:p>
        </p:txBody>
      </p:sp>
      <p:sp>
        <p:nvSpPr>
          <p:cNvPr id="6" name="Slide Number Placeholder 5">
            <a:extLst>
              <a:ext uri="{FF2B5EF4-FFF2-40B4-BE49-F238E27FC236}">
                <a16:creationId xmlns:a16="http://schemas.microsoft.com/office/drawing/2014/main" id="{BE90D8D0-45AB-65CB-26DC-70C81A95C02B}"/>
              </a:ext>
            </a:extLst>
          </p:cNvPr>
          <p:cNvSpPr>
            <a:spLocks noGrp="1"/>
          </p:cNvSpPr>
          <p:nvPr>
            <p:ph type="sldNum" sz="quarter" idx="12"/>
          </p:nvPr>
        </p:nvSpPr>
        <p:spPr/>
        <p:txBody>
          <a:bodyPr/>
          <a:lstStyle/>
          <a:p>
            <a:fld id="{C4E2C86B-781F-422B-BBCD-AFDAC8D92AAC}" type="slidenum">
              <a:rPr lang="en-US" smtClean="0"/>
              <a:t>20</a:t>
            </a:fld>
            <a:endParaRPr lang="en-US"/>
          </a:p>
        </p:txBody>
      </p:sp>
      <p:sp>
        <p:nvSpPr>
          <p:cNvPr id="8" name="Content Placeholder 7">
            <a:extLst>
              <a:ext uri="{FF2B5EF4-FFF2-40B4-BE49-F238E27FC236}">
                <a16:creationId xmlns:a16="http://schemas.microsoft.com/office/drawing/2014/main" id="{250EFEE2-417E-0E7C-8B26-E150CD0C8735}"/>
              </a:ext>
            </a:extLst>
          </p:cNvPr>
          <p:cNvSpPr>
            <a:spLocks noGrp="1"/>
          </p:cNvSpPr>
          <p:nvPr>
            <p:ph idx="1"/>
          </p:nvPr>
        </p:nvSpPr>
        <p:spPr>
          <a:xfrm>
            <a:off x="838200" y="1054360"/>
            <a:ext cx="10515600" cy="2374640"/>
          </a:xfrm>
        </p:spPr>
        <p:txBody>
          <a:bodyPr/>
          <a:lstStyle/>
          <a:p>
            <a:r>
              <a:rPr lang="en-US" b="1" dirty="0"/>
              <a:t>The Opportunistic Approach </a:t>
            </a:r>
          </a:p>
          <a:p>
            <a:endParaRPr lang="en-US" dirty="0"/>
          </a:p>
          <a:p>
            <a:endParaRPr lang="en-US" dirty="0"/>
          </a:p>
          <a:p>
            <a:pPr marL="0" indent="0">
              <a:buNone/>
            </a:pPr>
            <a:endParaRPr lang="en-US" dirty="0"/>
          </a:p>
          <a:p>
            <a:pPr marL="0" indent="0">
              <a:buNone/>
            </a:pPr>
            <a:endParaRPr lang="en-US" dirty="0"/>
          </a:p>
          <a:p>
            <a:pPr marL="0" indent="0">
              <a:buNone/>
            </a:pPr>
            <a:endParaRPr lang="en-US" dirty="0"/>
          </a:p>
          <a:p>
            <a:endParaRPr lang="en-US" dirty="0"/>
          </a:p>
        </p:txBody>
      </p:sp>
      <p:pic>
        <p:nvPicPr>
          <p:cNvPr id="9" name="Picture 4">
            <a:extLst>
              <a:ext uri="{FF2B5EF4-FFF2-40B4-BE49-F238E27FC236}">
                <a16:creationId xmlns:a16="http://schemas.microsoft.com/office/drawing/2014/main" id="{5BBF5C44-9802-AD11-76E8-59FB7B81BB49}"/>
              </a:ext>
            </a:extLst>
          </p:cNvPr>
          <p:cNvPicPr>
            <a:picLocks noChangeAspect="1" noChangeArrowheads="1"/>
          </p:cNvPicPr>
          <p:nvPr/>
        </p:nvPicPr>
        <p:blipFill>
          <a:blip r:embed="rId3"/>
          <a:srcRect/>
          <a:stretch>
            <a:fillRect/>
          </a:stretch>
        </p:blipFill>
        <p:spPr bwMode="auto">
          <a:xfrm>
            <a:off x="3136106" y="1512570"/>
            <a:ext cx="5919788" cy="1317625"/>
          </a:xfrm>
          <a:prstGeom prst="rect">
            <a:avLst/>
          </a:prstGeom>
          <a:noFill/>
          <a:ln w="9525">
            <a:noFill/>
            <a:miter lim="800000"/>
            <a:headEnd/>
            <a:tailEnd/>
          </a:ln>
        </p:spPr>
      </p:pic>
      <p:sp>
        <p:nvSpPr>
          <p:cNvPr id="3" name="TextBox 2">
            <a:extLst>
              <a:ext uri="{FF2B5EF4-FFF2-40B4-BE49-F238E27FC236}">
                <a16:creationId xmlns:a16="http://schemas.microsoft.com/office/drawing/2014/main" id="{F371A97E-95F7-A99F-C915-A4FAF580E54F}"/>
              </a:ext>
            </a:extLst>
          </p:cNvPr>
          <p:cNvSpPr txBox="1"/>
          <p:nvPr/>
        </p:nvSpPr>
        <p:spPr>
          <a:xfrm>
            <a:off x="838200" y="2830195"/>
            <a:ext cx="5348749" cy="3077766"/>
          </a:xfrm>
          <a:prstGeom prst="rect">
            <a:avLst/>
          </a:prstGeom>
          <a:noFill/>
        </p:spPr>
        <p:txBody>
          <a:bodyPr wrap="square" rtlCol="0">
            <a:spAutoFit/>
          </a:bodyPr>
          <a:lstStyle/>
          <a:p>
            <a:pPr marL="457200" indent="-457200">
              <a:buFont typeface="Wingdings" panose="05000000000000000000" pitchFamily="2" charset="2"/>
              <a:buChar char="Ø"/>
            </a:pPr>
            <a:r>
              <a:rPr lang="en-US" sz="2600" dirty="0"/>
              <a:t>Advantages:</a:t>
            </a:r>
          </a:p>
          <a:p>
            <a:pPr marL="800100" lvl="1" indent="-342900">
              <a:buFont typeface="Wingdings" panose="05000000000000000000" pitchFamily="2" charset="2"/>
              <a:buChar char="§"/>
            </a:pPr>
            <a:r>
              <a:rPr lang="en-US" sz="2400" dirty="0"/>
              <a:t>Fast Initial Development</a:t>
            </a:r>
          </a:p>
          <a:p>
            <a:pPr marL="800100" lvl="1" indent="-342900">
              <a:buFont typeface="Wingdings" panose="05000000000000000000" pitchFamily="2" charset="2"/>
              <a:buChar char="§"/>
            </a:pPr>
            <a:r>
              <a:rPr lang="en-US" sz="2400" dirty="0"/>
              <a:t>Flexible and Adaptive</a:t>
            </a:r>
          </a:p>
          <a:p>
            <a:pPr marL="800100" lvl="1" indent="-342900">
              <a:buFont typeface="Wingdings" panose="05000000000000000000" pitchFamily="2" charset="2"/>
              <a:buChar char="§"/>
            </a:pPr>
            <a:r>
              <a:rPr lang="en-US" sz="2400" dirty="0"/>
              <a:t>Encourages Creativity and Innovation</a:t>
            </a:r>
          </a:p>
          <a:p>
            <a:pPr marL="800100" lvl="1" indent="-342900">
              <a:buFont typeface="Wingdings" panose="05000000000000000000" pitchFamily="2" charset="2"/>
              <a:buChar char="§"/>
            </a:pPr>
            <a:r>
              <a:rPr lang="en-US" sz="2400" dirty="0"/>
              <a:t>Useful When Requirements Are Unclear</a:t>
            </a:r>
          </a:p>
          <a:p>
            <a:pPr marL="800100" lvl="1" indent="-342900">
              <a:buFont typeface="Wingdings" panose="05000000000000000000" pitchFamily="2" charset="2"/>
              <a:buChar char="§"/>
            </a:pPr>
            <a:r>
              <a:rPr lang="en-US" sz="2400" dirty="0"/>
              <a:t>Continuous Improvement</a:t>
            </a:r>
          </a:p>
        </p:txBody>
      </p:sp>
      <p:sp>
        <p:nvSpPr>
          <p:cNvPr id="5" name="TextBox 4">
            <a:extLst>
              <a:ext uri="{FF2B5EF4-FFF2-40B4-BE49-F238E27FC236}">
                <a16:creationId xmlns:a16="http://schemas.microsoft.com/office/drawing/2014/main" id="{766BA41F-2616-A2BD-1717-FCCD57156936}"/>
              </a:ext>
            </a:extLst>
          </p:cNvPr>
          <p:cNvSpPr txBox="1"/>
          <p:nvPr/>
        </p:nvSpPr>
        <p:spPr>
          <a:xfrm>
            <a:off x="10225548" y="4050890"/>
            <a:ext cx="184731" cy="646331"/>
          </a:xfrm>
          <a:prstGeom prst="rect">
            <a:avLst/>
          </a:prstGeom>
          <a:noFill/>
        </p:spPr>
        <p:txBody>
          <a:bodyPr wrap="none" rtlCol="0">
            <a:spAutoFit/>
          </a:bodyPr>
          <a:lstStyle/>
          <a:p>
            <a:endParaRPr lang="en-US" dirty="0"/>
          </a:p>
          <a:p>
            <a:endParaRPr lang="en-US" dirty="0"/>
          </a:p>
        </p:txBody>
      </p:sp>
      <p:sp>
        <p:nvSpPr>
          <p:cNvPr id="7" name="TextBox 6">
            <a:extLst>
              <a:ext uri="{FF2B5EF4-FFF2-40B4-BE49-F238E27FC236}">
                <a16:creationId xmlns:a16="http://schemas.microsoft.com/office/drawing/2014/main" id="{235FED33-13A7-F5F3-81C5-E1339826FF4A}"/>
              </a:ext>
            </a:extLst>
          </p:cNvPr>
          <p:cNvSpPr txBox="1"/>
          <p:nvPr/>
        </p:nvSpPr>
        <p:spPr>
          <a:xfrm>
            <a:off x="6034523" y="3033796"/>
            <a:ext cx="5780942" cy="2492990"/>
          </a:xfrm>
          <a:prstGeom prst="rect">
            <a:avLst/>
          </a:prstGeom>
          <a:noFill/>
        </p:spPr>
        <p:txBody>
          <a:bodyPr wrap="none" rtlCol="0">
            <a:spAutoFit/>
          </a:bodyPr>
          <a:lstStyle/>
          <a:p>
            <a:pPr marL="457200" indent="-457200">
              <a:buFont typeface="Wingdings" panose="05000000000000000000" pitchFamily="2" charset="2"/>
              <a:buChar char="Ø"/>
            </a:pPr>
            <a:r>
              <a:rPr lang="en-US" sz="2600" dirty="0"/>
              <a:t>Disadvantages:</a:t>
            </a:r>
          </a:p>
          <a:p>
            <a:pPr marL="914400" lvl="1" indent="-457200">
              <a:buFont typeface="Wingdings" panose="05000000000000000000" pitchFamily="2" charset="2"/>
              <a:buChar char="§"/>
            </a:pPr>
            <a:r>
              <a:rPr lang="en-US" sz="2600" dirty="0"/>
              <a:t>Lack of Proper Planning</a:t>
            </a:r>
          </a:p>
          <a:p>
            <a:pPr marL="914400" lvl="1" indent="-457200">
              <a:buFont typeface="Wingdings" panose="05000000000000000000" pitchFamily="2" charset="2"/>
              <a:buChar char="§"/>
            </a:pPr>
            <a:r>
              <a:rPr lang="en-US" sz="2600" dirty="0"/>
              <a:t>Difficult to Estimate Time and Cost</a:t>
            </a:r>
          </a:p>
          <a:p>
            <a:pPr marL="914400" lvl="1" indent="-457200">
              <a:buFont typeface="Wingdings" panose="05000000000000000000" pitchFamily="2" charset="2"/>
              <a:buChar char="§"/>
            </a:pPr>
            <a:r>
              <a:rPr lang="en-US" sz="2600" dirty="0"/>
              <a:t>No Formal Documentation</a:t>
            </a:r>
          </a:p>
          <a:p>
            <a:pPr marL="914400" lvl="1" indent="-457200">
              <a:buFont typeface="Wingdings" panose="05000000000000000000" pitchFamily="2" charset="2"/>
              <a:buChar char="§"/>
            </a:pPr>
            <a:r>
              <a:rPr lang="en-US" sz="2600" dirty="0"/>
              <a:t>Not Suitable for Large Projects</a:t>
            </a:r>
          </a:p>
          <a:p>
            <a:pPr marL="914400" lvl="1" indent="-457200">
              <a:buFont typeface="Wingdings" panose="05000000000000000000" pitchFamily="2" charset="2"/>
              <a:buChar char="§"/>
            </a:pPr>
            <a:r>
              <a:rPr lang="en-US" sz="2600" dirty="0"/>
              <a:t>Risk of Continuous Modifications</a:t>
            </a:r>
          </a:p>
        </p:txBody>
      </p:sp>
    </p:spTree>
    <p:extLst>
      <p:ext uri="{BB962C8B-B14F-4D97-AF65-F5344CB8AC3E}">
        <p14:creationId xmlns:p14="http://schemas.microsoft.com/office/powerpoint/2010/main" val="830981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Software Development Models</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E84455B8-3EAD-4323-8FA7-74C511984F41}"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21</a:t>
            </a:fld>
            <a:endParaRPr lang="en-US"/>
          </a:p>
        </p:txBody>
      </p:sp>
      <p:sp>
        <p:nvSpPr>
          <p:cNvPr id="8" name="Content Placeholder 7">
            <a:extLst>
              <a:ext uri="{FF2B5EF4-FFF2-40B4-BE49-F238E27FC236}">
                <a16:creationId xmlns:a16="http://schemas.microsoft.com/office/drawing/2014/main" id="{5F645A60-A7DF-40C2-9C9B-1CD7A42ABE3E}"/>
              </a:ext>
            </a:extLst>
          </p:cNvPr>
          <p:cNvSpPr>
            <a:spLocks noGrp="1"/>
          </p:cNvSpPr>
          <p:nvPr>
            <p:ph idx="1"/>
          </p:nvPr>
        </p:nvSpPr>
        <p:spPr>
          <a:xfrm>
            <a:off x="838200" y="1054360"/>
            <a:ext cx="10515600" cy="5301990"/>
          </a:xfrm>
        </p:spPr>
        <p:txBody>
          <a:bodyPr/>
          <a:lstStyle/>
          <a:p>
            <a:r>
              <a:rPr lang="en-US" b="1" dirty="0"/>
              <a:t>The Big Bang Model</a:t>
            </a:r>
          </a:p>
          <a:p>
            <a:endParaRPr lang="en-US" dirty="0"/>
          </a:p>
          <a:p>
            <a:endParaRPr lang="en-US" dirty="0"/>
          </a:p>
          <a:p>
            <a:endParaRPr lang="en-US" dirty="0"/>
          </a:p>
        </p:txBody>
      </p:sp>
      <p:pic>
        <p:nvPicPr>
          <p:cNvPr id="11" name="Picture 10">
            <a:extLst>
              <a:ext uri="{FF2B5EF4-FFF2-40B4-BE49-F238E27FC236}">
                <a16:creationId xmlns:a16="http://schemas.microsoft.com/office/drawing/2014/main" id="{7FA326A8-2D22-49C4-AB97-5BCE0A5A23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2310" y="1743638"/>
            <a:ext cx="6995766" cy="1767993"/>
          </a:xfrm>
          <a:prstGeom prst="rect">
            <a:avLst/>
          </a:prstGeom>
        </p:spPr>
      </p:pic>
      <p:sp>
        <p:nvSpPr>
          <p:cNvPr id="3" name="TextBox 2">
            <a:extLst>
              <a:ext uri="{FF2B5EF4-FFF2-40B4-BE49-F238E27FC236}">
                <a16:creationId xmlns:a16="http://schemas.microsoft.com/office/drawing/2014/main" id="{492F7B87-4A6D-980E-ED72-90BCB305BCAA}"/>
              </a:ext>
            </a:extLst>
          </p:cNvPr>
          <p:cNvSpPr txBox="1"/>
          <p:nvPr/>
        </p:nvSpPr>
        <p:spPr>
          <a:xfrm>
            <a:off x="963168" y="3986784"/>
            <a:ext cx="10436511"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In this model, developers do not follow any specific process.</a:t>
            </a:r>
          </a:p>
          <a:p>
            <a:pPr marL="285750" indent="-285750">
              <a:buFont typeface="Arial" panose="020B0604020202020204" pitchFamily="34" charset="0"/>
              <a:buChar char="•"/>
            </a:pPr>
            <a:r>
              <a:rPr lang="en-US" sz="2400" dirty="0"/>
              <a:t>Development begins with the necessary funds and efforts in the form of inputs.</a:t>
            </a:r>
          </a:p>
          <a:p>
            <a:pPr marL="285750" indent="-285750">
              <a:buFont typeface="Arial" panose="020B0604020202020204" pitchFamily="34" charset="0"/>
              <a:buChar char="•"/>
            </a:pPr>
            <a:r>
              <a:rPr lang="en-US" sz="2400" dirty="0"/>
              <a:t>This model is ideal for small projects like academic projects or practical projects.</a:t>
            </a:r>
          </a:p>
        </p:txBody>
      </p:sp>
    </p:spTree>
    <p:extLst>
      <p:ext uri="{BB962C8B-B14F-4D97-AF65-F5344CB8AC3E}">
        <p14:creationId xmlns:p14="http://schemas.microsoft.com/office/powerpoint/2010/main" val="311712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The Waterfall SDLC Model</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002FB6B3-FDD3-479D-B4E4-3EBAE6A13F17}"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22</a:t>
            </a:fld>
            <a:endParaRPr lang="en-US"/>
          </a:p>
        </p:txBody>
      </p:sp>
      <p:sp>
        <p:nvSpPr>
          <p:cNvPr id="11" name="Content Placeholder 6">
            <a:extLst>
              <a:ext uri="{FF2B5EF4-FFF2-40B4-BE49-F238E27FC236}">
                <a16:creationId xmlns:a16="http://schemas.microsoft.com/office/drawing/2014/main" id="{6F702EA8-BD05-4D3E-9D6A-DF21645E0CCD}"/>
              </a:ext>
            </a:extLst>
          </p:cNvPr>
          <p:cNvSpPr txBox="1">
            <a:spLocks/>
          </p:cNvSpPr>
          <p:nvPr/>
        </p:nvSpPr>
        <p:spPr>
          <a:xfrm>
            <a:off x="6934200" y="1054360"/>
            <a:ext cx="5257800" cy="512260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Sequential Approach –</a:t>
            </a:r>
          </a:p>
          <a:p>
            <a:pPr lvl="1"/>
            <a:r>
              <a:rPr lang="en-US" dirty="0"/>
              <a:t>Each phase of the project is completed before moving on to the next one.</a:t>
            </a:r>
          </a:p>
          <a:p>
            <a:endParaRPr lang="en-US" dirty="0"/>
          </a:p>
          <a:p>
            <a:r>
              <a:rPr lang="en-US" dirty="0"/>
              <a:t>Document-driven –</a:t>
            </a:r>
          </a:p>
          <a:p>
            <a:pPr lvl="1"/>
            <a:r>
              <a:rPr lang="en-US" dirty="0"/>
              <a:t>Depends on documentation to ensure that the project is well-defined and the project team is working towards a clear set of goals.</a:t>
            </a:r>
          </a:p>
          <a:p>
            <a:pPr lvl="1"/>
            <a:endParaRPr lang="en-US" dirty="0"/>
          </a:p>
          <a:p>
            <a:r>
              <a:rPr lang="en-US" dirty="0"/>
              <a:t>Quality Control –</a:t>
            </a:r>
          </a:p>
          <a:p>
            <a:pPr lvl="1"/>
            <a:r>
              <a:rPr lang="en-US" dirty="0"/>
              <a:t>Places a high emphasis on quality control and testing at each phase of the project.</a:t>
            </a:r>
          </a:p>
          <a:p>
            <a:pPr lvl="1"/>
            <a:r>
              <a:rPr lang="en-US" dirty="0"/>
              <a:t>V &amp; V - Verification and Validation.</a:t>
            </a:r>
          </a:p>
          <a:p>
            <a:endParaRPr lang="en-US" dirty="0"/>
          </a:p>
          <a:p>
            <a:r>
              <a:rPr lang="en-US" dirty="0"/>
              <a:t>Rigorous Planning –</a:t>
            </a:r>
          </a:p>
          <a:p>
            <a:pPr lvl="1"/>
            <a:r>
              <a:rPr lang="en-US" dirty="0"/>
              <a:t>Project scope, timelines, and deliverables are carefully defined and monitored.</a:t>
            </a:r>
          </a:p>
        </p:txBody>
      </p:sp>
      <p:pic>
        <p:nvPicPr>
          <p:cNvPr id="1028" name="Picture 4" descr="This is How to Conquer Software Projects Using the Waterfall Model | by Dev  Frank | Level Up Coding">
            <a:extLst>
              <a:ext uri="{FF2B5EF4-FFF2-40B4-BE49-F238E27FC236}">
                <a16:creationId xmlns:a16="http://schemas.microsoft.com/office/drawing/2014/main" id="{85F6A07F-9F37-BEF5-3CA2-1E041E5877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81" y="1301695"/>
            <a:ext cx="6833419" cy="4501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976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The V-shaped Model</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6095998" y="1054358"/>
            <a:ext cx="5257801" cy="5301991"/>
          </a:xfrm>
        </p:spPr>
        <p:txBody>
          <a:bodyPr>
            <a:normAutofit/>
          </a:bodyPr>
          <a:lstStyle/>
          <a:p>
            <a:r>
              <a:rPr lang="en-US" sz="2400" dirty="0"/>
              <a:t>Also known as the </a:t>
            </a:r>
            <a:r>
              <a:rPr lang="en-US" sz="2400" b="1" dirty="0"/>
              <a:t>Verification and Validation</a:t>
            </a:r>
            <a:r>
              <a:rPr lang="en-US" sz="2400" dirty="0"/>
              <a:t> model.</a:t>
            </a:r>
          </a:p>
          <a:p>
            <a:r>
              <a:rPr lang="en-US" sz="2400" dirty="0"/>
              <a:t>There are Verification phases on one side of the ‘V’ and Validation phases on the other side. </a:t>
            </a:r>
          </a:p>
          <a:p>
            <a:r>
              <a:rPr lang="en-US" sz="2400" dirty="0"/>
              <a:t>The Coding Phase joins the two sides of the V-Model.</a:t>
            </a:r>
          </a:p>
          <a:p>
            <a:r>
              <a:rPr lang="en-US" sz="2400" dirty="0"/>
              <a:t>Verification phases focus planning and designing the system.</a:t>
            </a:r>
          </a:p>
          <a:p>
            <a:r>
              <a:rPr lang="en-US" sz="2400" dirty="0"/>
              <a:t>Validation phases focus on testing and validation against the specifications.</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148908CC-2F83-4D02-BC32-3302DACA98C3}"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23</a:t>
            </a:fld>
            <a:endParaRPr lang="en-US"/>
          </a:p>
        </p:txBody>
      </p:sp>
      <p:pic>
        <p:nvPicPr>
          <p:cNvPr id="8" name="Picture 7">
            <a:extLst>
              <a:ext uri="{FF2B5EF4-FFF2-40B4-BE49-F238E27FC236}">
                <a16:creationId xmlns:a16="http://schemas.microsoft.com/office/drawing/2014/main" id="{FF6EB530-447D-4A24-B664-DDF2F46D4B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1" y="1054359"/>
            <a:ext cx="5257800" cy="5301991"/>
          </a:xfrm>
          <a:prstGeom prst="rect">
            <a:avLst/>
          </a:prstGeom>
        </p:spPr>
      </p:pic>
    </p:spTree>
    <p:extLst>
      <p:ext uri="{BB962C8B-B14F-4D97-AF65-F5344CB8AC3E}">
        <p14:creationId xmlns:p14="http://schemas.microsoft.com/office/powerpoint/2010/main" val="2985460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The Iterative Incremental Model</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054360"/>
            <a:ext cx="10515600" cy="5055101"/>
          </a:xfrm>
        </p:spPr>
        <p:txBody>
          <a:bodyPr>
            <a:normAutofit/>
          </a:bodyPr>
          <a:lstStyle/>
          <a:p>
            <a:r>
              <a:rPr lang="en-US" sz="2400" dirty="0"/>
              <a:t>The basic idea behind this method is to develop a system through repeated cycles (iterative) and in smaller portions at a time (incremental).</a:t>
            </a:r>
          </a:p>
          <a:p>
            <a:r>
              <a:rPr lang="en-US" sz="2400" dirty="0"/>
              <a:t>Starts with a simple implementation of a small set of the software requirements and iteratively enhances the evolving versions.</a:t>
            </a:r>
            <a:endParaRPr lang="en-US" sz="2600" dirty="0"/>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1A7D4F68-ADFE-4884-B192-9723F3E5E750}"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24</a:t>
            </a:fld>
            <a:endParaRPr lang="en-US"/>
          </a:p>
        </p:txBody>
      </p:sp>
      <p:pic>
        <p:nvPicPr>
          <p:cNvPr id="11" name="Picture 10">
            <a:extLst>
              <a:ext uri="{FF2B5EF4-FFF2-40B4-BE49-F238E27FC236}">
                <a16:creationId xmlns:a16="http://schemas.microsoft.com/office/drawing/2014/main" id="{0FA13757-9E99-4192-B100-59A7D3A29B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410338"/>
            <a:ext cx="4732176" cy="2393302"/>
          </a:xfrm>
          <a:prstGeom prst="rect">
            <a:avLst/>
          </a:prstGeom>
        </p:spPr>
      </p:pic>
      <p:pic>
        <p:nvPicPr>
          <p:cNvPr id="8" name="Content Placeholder 6">
            <a:extLst>
              <a:ext uri="{FF2B5EF4-FFF2-40B4-BE49-F238E27FC236}">
                <a16:creationId xmlns:a16="http://schemas.microsoft.com/office/drawing/2014/main" id="{A4ECD2DD-EC0F-4CEF-948D-A5053918DB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8327" y="2879724"/>
            <a:ext cx="5615473" cy="3454530"/>
          </a:xfrm>
          <a:prstGeom prst="rect">
            <a:avLst/>
          </a:prstGeom>
        </p:spPr>
      </p:pic>
    </p:spTree>
    <p:extLst>
      <p:ext uri="{BB962C8B-B14F-4D97-AF65-F5344CB8AC3E}">
        <p14:creationId xmlns:p14="http://schemas.microsoft.com/office/powerpoint/2010/main" val="1517878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E1CA24-FE90-1924-A610-3A5F0CD6A4B7}"/>
              </a:ext>
            </a:extLst>
          </p:cNvPr>
          <p:cNvSpPr>
            <a:spLocks noGrp="1"/>
          </p:cNvSpPr>
          <p:nvPr>
            <p:ph type="dt" sz="half" idx="10"/>
          </p:nvPr>
        </p:nvSpPr>
        <p:spPr/>
        <p:txBody>
          <a:bodyPr/>
          <a:lstStyle/>
          <a:p>
            <a:fld id="{91024340-8568-DD41-BA93-BDFD59454595}" type="datetime1">
              <a:rPr lang="en-US" smtClean="0"/>
              <a:t>10/29/2025</a:t>
            </a:fld>
            <a:endParaRPr lang="en-BD"/>
          </a:p>
        </p:txBody>
      </p:sp>
      <p:sp>
        <p:nvSpPr>
          <p:cNvPr id="3" name="Footer Placeholder 2">
            <a:extLst>
              <a:ext uri="{FF2B5EF4-FFF2-40B4-BE49-F238E27FC236}">
                <a16:creationId xmlns:a16="http://schemas.microsoft.com/office/drawing/2014/main" id="{F899D890-9FE9-2409-F7E7-C2BAD901D363}"/>
              </a:ext>
            </a:extLst>
          </p:cNvPr>
          <p:cNvSpPr>
            <a:spLocks noGrp="1"/>
          </p:cNvSpPr>
          <p:nvPr>
            <p:ph type="ftr" sz="quarter" idx="11"/>
          </p:nvPr>
        </p:nvSpPr>
        <p:spPr/>
        <p:txBody>
          <a:bodyPr/>
          <a:lstStyle/>
          <a:p>
            <a:r>
              <a:rPr lang="en-GB"/>
              <a:t>Rakib Mahmud</a:t>
            </a:r>
            <a:endParaRPr lang="en-BD"/>
          </a:p>
        </p:txBody>
      </p:sp>
      <p:sp>
        <p:nvSpPr>
          <p:cNvPr id="4" name="Slide Number Placeholder 3">
            <a:extLst>
              <a:ext uri="{FF2B5EF4-FFF2-40B4-BE49-F238E27FC236}">
                <a16:creationId xmlns:a16="http://schemas.microsoft.com/office/drawing/2014/main" id="{0D3F4977-A23A-ADD7-2FD7-290AF3B27599}"/>
              </a:ext>
            </a:extLst>
          </p:cNvPr>
          <p:cNvSpPr>
            <a:spLocks noGrp="1"/>
          </p:cNvSpPr>
          <p:nvPr>
            <p:ph type="sldNum" sz="quarter" idx="12"/>
          </p:nvPr>
        </p:nvSpPr>
        <p:spPr/>
        <p:txBody>
          <a:bodyPr/>
          <a:lstStyle/>
          <a:p>
            <a:fld id="{0738E221-040C-6E48-94DB-63D3B05B2CD5}" type="slidenum">
              <a:rPr lang="en-BD" smtClean="0"/>
              <a:t>25</a:t>
            </a:fld>
            <a:endParaRPr lang="en-BD"/>
          </a:p>
        </p:txBody>
      </p:sp>
      <p:pic>
        <p:nvPicPr>
          <p:cNvPr id="1026" name="Picture 2" descr="What is the importance of Process Model in development of Software System?  Explain Prototype Process Model. | Winter-2018">
            <a:extLst>
              <a:ext uri="{FF2B5EF4-FFF2-40B4-BE49-F238E27FC236}">
                <a16:creationId xmlns:a16="http://schemas.microsoft.com/office/drawing/2014/main" id="{1E331CEA-571A-CF3E-6B3E-34625A324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2766" y="447829"/>
            <a:ext cx="6057900" cy="50577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AD5D488-6E1B-9D13-98C2-86C5844C7405}"/>
              </a:ext>
            </a:extLst>
          </p:cNvPr>
          <p:cNvSpPr txBox="1"/>
          <p:nvPr/>
        </p:nvSpPr>
        <p:spPr>
          <a:xfrm>
            <a:off x="838200" y="1575308"/>
            <a:ext cx="4286864" cy="954107"/>
          </a:xfrm>
          <a:prstGeom prst="rect">
            <a:avLst/>
          </a:prstGeom>
          <a:noFill/>
        </p:spPr>
        <p:txBody>
          <a:bodyPr wrap="square">
            <a:spAutoFit/>
          </a:bodyPr>
          <a:lstStyle/>
          <a:p>
            <a:r>
              <a:rPr lang="en-US" sz="2800" b="1" dirty="0"/>
              <a:t>Evolutionary Process Model</a:t>
            </a:r>
            <a:r>
              <a:rPr lang="en-US" sz="2800" dirty="0"/>
              <a:t> </a:t>
            </a:r>
          </a:p>
        </p:txBody>
      </p:sp>
    </p:spTree>
    <p:extLst>
      <p:ext uri="{BB962C8B-B14F-4D97-AF65-F5344CB8AC3E}">
        <p14:creationId xmlns:p14="http://schemas.microsoft.com/office/powerpoint/2010/main" val="1162980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The Concurrent Engineering Model</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5563010" y="1556083"/>
            <a:ext cx="5790790" cy="4256887"/>
          </a:xfrm>
        </p:spPr>
        <p:txBody>
          <a:bodyPr>
            <a:normAutofit/>
          </a:bodyPr>
          <a:lstStyle/>
          <a:p>
            <a:r>
              <a:rPr lang="en-US" sz="2600" dirty="0"/>
              <a:t>Explicitly accounts for the divide and conquer principle.</a:t>
            </a:r>
          </a:p>
          <a:p>
            <a:endParaRPr lang="en-US" sz="2600" dirty="0"/>
          </a:p>
          <a:p>
            <a:r>
              <a:rPr lang="en-US" sz="2600" dirty="0"/>
              <a:t>Each team works on its own component, typically following a spiral or evolutionary approach.</a:t>
            </a:r>
          </a:p>
          <a:p>
            <a:endParaRPr lang="en-US" sz="2600" dirty="0"/>
          </a:p>
          <a:p>
            <a:r>
              <a:rPr lang="en-US" sz="2600" dirty="0"/>
              <a:t>There has to be some initial planning, and periodic integration</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E6FA86C1-38D2-4E51-B684-CF176679B343}"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26</a:t>
            </a:fld>
            <a:endParaRPr lang="en-US"/>
          </a:p>
        </p:txBody>
      </p:sp>
      <p:pic>
        <p:nvPicPr>
          <p:cNvPr id="7" name="Picture 6">
            <a:extLst>
              <a:ext uri="{FF2B5EF4-FFF2-40B4-BE49-F238E27FC236}">
                <a16:creationId xmlns:a16="http://schemas.microsoft.com/office/drawing/2014/main" id="{03A4603A-8C65-4BDC-81E2-9D984438E3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973454"/>
            <a:ext cx="4724809" cy="2911092"/>
          </a:xfrm>
          <a:prstGeom prst="rect">
            <a:avLst/>
          </a:prstGeom>
        </p:spPr>
      </p:pic>
    </p:spTree>
    <p:extLst>
      <p:ext uri="{BB962C8B-B14F-4D97-AF65-F5344CB8AC3E}">
        <p14:creationId xmlns:p14="http://schemas.microsoft.com/office/powerpoint/2010/main" val="110025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BE2B902-891B-2E1C-C8CA-B361BC7A06A6}"/>
              </a:ext>
            </a:extLst>
          </p:cNvPr>
          <p:cNvSpPr>
            <a:spLocks noGrp="1"/>
          </p:cNvSpPr>
          <p:nvPr>
            <p:ph type="title"/>
          </p:nvPr>
        </p:nvSpPr>
        <p:spPr/>
        <p:txBody>
          <a:bodyPr/>
          <a:lstStyle/>
          <a:p>
            <a:r>
              <a:rPr lang="en-BD" dirty="0"/>
              <a:t>Spiral Model</a:t>
            </a:r>
          </a:p>
        </p:txBody>
      </p:sp>
      <p:pic>
        <p:nvPicPr>
          <p:cNvPr id="8" name="Content Placeholder 7" descr="A diagram with green circles&#10;&#10;Description automatically generated">
            <a:extLst>
              <a:ext uri="{FF2B5EF4-FFF2-40B4-BE49-F238E27FC236}">
                <a16:creationId xmlns:a16="http://schemas.microsoft.com/office/drawing/2014/main" id="{594DD094-91CE-87CB-0EB1-226DECC4E982}"/>
              </a:ext>
            </a:extLst>
          </p:cNvPr>
          <p:cNvPicPr>
            <a:picLocks noGrp="1" noChangeAspect="1"/>
          </p:cNvPicPr>
          <p:nvPr>
            <p:ph idx="1"/>
          </p:nvPr>
        </p:nvPicPr>
        <p:blipFill>
          <a:blip r:embed="rId2"/>
          <a:stretch>
            <a:fillRect/>
          </a:stretch>
        </p:blipFill>
        <p:spPr>
          <a:xfrm>
            <a:off x="2057400" y="1690688"/>
            <a:ext cx="8204200" cy="4351338"/>
          </a:xfrm>
        </p:spPr>
      </p:pic>
      <p:sp>
        <p:nvSpPr>
          <p:cNvPr id="9" name="Date Placeholder 8">
            <a:extLst>
              <a:ext uri="{FF2B5EF4-FFF2-40B4-BE49-F238E27FC236}">
                <a16:creationId xmlns:a16="http://schemas.microsoft.com/office/drawing/2014/main" id="{75936986-1BD9-72F7-048C-14FCE0255725}"/>
              </a:ext>
            </a:extLst>
          </p:cNvPr>
          <p:cNvSpPr>
            <a:spLocks noGrp="1"/>
          </p:cNvSpPr>
          <p:nvPr>
            <p:ph type="dt" sz="half" idx="10"/>
          </p:nvPr>
        </p:nvSpPr>
        <p:spPr/>
        <p:txBody>
          <a:bodyPr/>
          <a:lstStyle/>
          <a:p>
            <a:fld id="{DB35B997-F335-BF45-9249-1AF0839728C7}" type="datetime1">
              <a:rPr lang="en-US" smtClean="0"/>
              <a:t>10/29/2025</a:t>
            </a:fld>
            <a:endParaRPr lang="en-BD"/>
          </a:p>
        </p:txBody>
      </p:sp>
      <p:sp>
        <p:nvSpPr>
          <p:cNvPr id="11" name="Slide Number Placeholder 10">
            <a:extLst>
              <a:ext uri="{FF2B5EF4-FFF2-40B4-BE49-F238E27FC236}">
                <a16:creationId xmlns:a16="http://schemas.microsoft.com/office/drawing/2014/main" id="{32AD2F84-189E-5CD7-B1C9-0F625FDE9FD3}"/>
              </a:ext>
            </a:extLst>
          </p:cNvPr>
          <p:cNvSpPr>
            <a:spLocks noGrp="1"/>
          </p:cNvSpPr>
          <p:nvPr>
            <p:ph type="sldNum" sz="quarter" idx="12"/>
          </p:nvPr>
        </p:nvSpPr>
        <p:spPr/>
        <p:txBody>
          <a:bodyPr/>
          <a:lstStyle/>
          <a:p>
            <a:fld id="{0738E221-040C-6E48-94DB-63D3B05B2CD5}" type="slidenum">
              <a:rPr lang="en-BD" smtClean="0"/>
              <a:t>27</a:t>
            </a:fld>
            <a:endParaRPr lang="en-BD" dirty="0"/>
          </a:p>
        </p:txBody>
      </p:sp>
    </p:spTree>
    <p:extLst>
      <p:ext uri="{BB962C8B-B14F-4D97-AF65-F5344CB8AC3E}">
        <p14:creationId xmlns:p14="http://schemas.microsoft.com/office/powerpoint/2010/main" val="1298235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8DF8F-3960-FF5B-0A5A-009676D66C28}"/>
              </a:ext>
            </a:extLst>
          </p:cNvPr>
          <p:cNvSpPr>
            <a:spLocks noGrp="1"/>
          </p:cNvSpPr>
          <p:nvPr>
            <p:ph type="title"/>
          </p:nvPr>
        </p:nvSpPr>
        <p:spPr/>
        <p:txBody>
          <a:bodyPr/>
          <a:lstStyle/>
          <a:p>
            <a:r>
              <a:rPr lang="en-BD" dirty="0"/>
              <a:t>Spiral Model</a:t>
            </a:r>
          </a:p>
        </p:txBody>
      </p:sp>
      <p:sp>
        <p:nvSpPr>
          <p:cNvPr id="3" name="Content Placeholder 2">
            <a:extLst>
              <a:ext uri="{FF2B5EF4-FFF2-40B4-BE49-F238E27FC236}">
                <a16:creationId xmlns:a16="http://schemas.microsoft.com/office/drawing/2014/main" id="{E8540286-2CED-9BEC-5765-BFD989E30271}"/>
              </a:ext>
            </a:extLst>
          </p:cNvPr>
          <p:cNvSpPr>
            <a:spLocks noGrp="1"/>
          </p:cNvSpPr>
          <p:nvPr>
            <p:ph idx="1"/>
          </p:nvPr>
        </p:nvSpPr>
        <p:spPr/>
        <p:txBody>
          <a:bodyPr/>
          <a:lstStyle/>
          <a:p>
            <a:r>
              <a:rPr lang="en-BD" dirty="0"/>
              <a:t>Risk Handling</a:t>
            </a:r>
          </a:p>
          <a:p>
            <a:r>
              <a:rPr lang="en-BD" dirty="0"/>
              <a:t>Radius of spiral = Cost</a:t>
            </a:r>
          </a:p>
          <a:p>
            <a:r>
              <a:rPr lang="en-BD" dirty="0"/>
              <a:t>Angular Dimension = Progress</a:t>
            </a:r>
            <a:endParaRPr lang="en-US" dirty="0"/>
          </a:p>
          <a:p>
            <a:r>
              <a:rPr lang="en-US" dirty="0"/>
              <a:t>Meta Model</a:t>
            </a:r>
            <a:endParaRPr lang="en-BD" dirty="0"/>
          </a:p>
        </p:txBody>
      </p:sp>
      <p:sp>
        <p:nvSpPr>
          <p:cNvPr id="4" name="Date Placeholder 3">
            <a:extLst>
              <a:ext uri="{FF2B5EF4-FFF2-40B4-BE49-F238E27FC236}">
                <a16:creationId xmlns:a16="http://schemas.microsoft.com/office/drawing/2014/main" id="{092E2C38-BF16-274D-1AD7-CFBFA0B2B526}"/>
              </a:ext>
            </a:extLst>
          </p:cNvPr>
          <p:cNvSpPr>
            <a:spLocks noGrp="1"/>
          </p:cNvSpPr>
          <p:nvPr>
            <p:ph type="dt" sz="half" idx="10"/>
          </p:nvPr>
        </p:nvSpPr>
        <p:spPr/>
        <p:txBody>
          <a:bodyPr/>
          <a:lstStyle/>
          <a:p>
            <a:fld id="{C934EB70-BB2C-0143-A86E-36528278D244}" type="datetime1">
              <a:rPr lang="en-US" smtClean="0"/>
              <a:t>10/29/2025</a:t>
            </a:fld>
            <a:endParaRPr lang="en-BD"/>
          </a:p>
        </p:txBody>
      </p:sp>
      <p:sp>
        <p:nvSpPr>
          <p:cNvPr id="6" name="Slide Number Placeholder 5">
            <a:extLst>
              <a:ext uri="{FF2B5EF4-FFF2-40B4-BE49-F238E27FC236}">
                <a16:creationId xmlns:a16="http://schemas.microsoft.com/office/drawing/2014/main" id="{EE93A614-2B51-3C48-53B2-A6E0D0C65B43}"/>
              </a:ext>
            </a:extLst>
          </p:cNvPr>
          <p:cNvSpPr>
            <a:spLocks noGrp="1"/>
          </p:cNvSpPr>
          <p:nvPr>
            <p:ph type="sldNum" sz="quarter" idx="12"/>
          </p:nvPr>
        </p:nvSpPr>
        <p:spPr/>
        <p:txBody>
          <a:bodyPr/>
          <a:lstStyle/>
          <a:p>
            <a:fld id="{0738E221-040C-6E48-94DB-63D3B05B2CD5}" type="slidenum">
              <a:rPr lang="en-BD" smtClean="0"/>
              <a:t>28</a:t>
            </a:fld>
            <a:endParaRPr lang="en-BD"/>
          </a:p>
        </p:txBody>
      </p:sp>
    </p:spTree>
    <p:extLst>
      <p:ext uri="{BB962C8B-B14F-4D97-AF65-F5344CB8AC3E}">
        <p14:creationId xmlns:p14="http://schemas.microsoft.com/office/powerpoint/2010/main" val="1740408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9C88D7-E2CD-9654-991A-2FC4574D6BD5}"/>
              </a:ext>
            </a:extLst>
          </p:cNvPr>
          <p:cNvSpPr>
            <a:spLocks noGrp="1"/>
          </p:cNvSpPr>
          <p:nvPr>
            <p:ph type="dt" sz="half" idx="10"/>
          </p:nvPr>
        </p:nvSpPr>
        <p:spPr/>
        <p:txBody>
          <a:bodyPr/>
          <a:lstStyle/>
          <a:p>
            <a:fld id="{91024340-8568-DD41-BA93-BDFD59454595}" type="datetime1">
              <a:rPr lang="en-US" smtClean="0"/>
              <a:t>10/29/2025</a:t>
            </a:fld>
            <a:endParaRPr lang="en-BD"/>
          </a:p>
        </p:txBody>
      </p:sp>
      <p:sp>
        <p:nvSpPr>
          <p:cNvPr id="4" name="Slide Number Placeholder 3">
            <a:extLst>
              <a:ext uri="{FF2B5EF4-FFF2-40B4-BE49-F238E27FC236}">
                <a16:creationId xmlns:a16="http://schemas.microsoft.com/office/drawing/2014/main" id="{3983BC87-233B-D811-159E-6046095A2E24}"/>
              </a:ext>
            </a:extLst>
          </p:cNvPr>
          <p:cNvSpPr>
            <a:spLocks noGrp="1"/>
          </p:cNvSpPr>
          <p:nvPr>
            <p:ph type="sldNum" sz="quarter" idx="12"/>
          </p:nvPr>
        </p:nvSpPr>
        <p:spPr/>
        <p:txBody>
          <a:bodyPr/>
          <a:lstStyle/>
          <a:p>
            <a:fld id="{0738E221-040C-6E48-94DB-63D3B05B2CD5}" type="slidenum">
              <a:rPr lang="en-BD" smtClean="0"/>
              <a:t>29</a:t>
            </a:fld>
            <a:endParaRPr lang="en-BD"/>
          </a:p>
        </p:txBody>
      </p:sp>
      <p:sp>
        <p:nvSpPr>
          <p:cNvPr id="7" name="Title 1">
            <a:extLst>
              <a:ext uri="{FF2B5EF4-FFF2-40B4-BE49-F238E27FC236}">
                <a16:creationId xmlns:a16="http://schemas.microsoft.com/office/drawing/2014/main" id="{7F887D29-92FC-C6E3-8A39-1011ECDD3139}"/>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BD"/>
              <a:t>Spiral Model</a:t>
            </a:r>
            <a:endParaRPr lang="en-BD" dirty="0"/>
          </a:p>
        </p:txBody>
      </p:sp>
      <p:sp>
        <p:nvSpPr>
          <p:cNvPr id="9" name="TextBox 8">
            <a:extLst>
              <a:ext uri="{FF2B5EF4-FFF2-40B4-BE49-F238E27FC236}">
                <a16:creationId xmlns:a16="http://schemas.microsoft.com/office/drawing/2014/main" id="{608255EA-0E2F-9228-AEFC-0B7F66EB0E12}"/>
              </a:ext>
            </a:extLst>
          </p:cNvPr>
          <p:cNvSpPr txBox="1"/>
          <p:nvPr/>
        </p:nvSpPr>
        <p:spPr>
          <a:xfrm>
            <a:off x="1518203" y="1027906"/>
            <a:ext cx="6097656" cy="584775"/>
          </a:xfrm>
          <a:prstGeom prst="rect">
            <a:avLst/>
          </a:prstGeom>
          <a:noFill/>
        </p:spPr>
        <p:txBody>
          <a:bodyPr wrap="square">
            <a:spAutoFit/>
          </a:bodyPr>
          <a:lstStyle/>
          <a:p>
            <a:r>
              <a:rPr lang="en-US" sz="3200" dirty="0"/>
              <a:t>When to Use the Spiral Model</a:t>
            </a:r>
          </a:p>
        </p:txBody>
      </p:sp>
      <p:sp>
        <p:nvSpPr>
          <p:cNvPr id="12" name="TextBox 11">
            <a:extLst>
              <a:ext uri="{FF2B5EF4-FFF2-40B4-BE49-F238E27FC236}">
                <a16:creationId xmlns:a16="http://schemas.microsoft.com/office/drawing/2014/main" id="{BC11E713-37F9-0505-AC27-646572749391}"/>
              </a:ext>
            </a:extLst>
          </p:cNvPr>
          <p:cNvSpPr txBox="1"/>
          <p:nvPr/>
        </p:nvSpPr>
        <p:spPr>
          <a:xfrm>
            <a:off x="1590262" y="1612681"/>
            <a:ext cx="9727096" cy="3970318"/>
          </a:xfrm>
          <a:prstGeom prst="rect">
            <a:avLst/>
          </a:prstGeom>
          <a:noFill/>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800" dirty="0"/>
              <a:t>The project is large-scale and requires careful risk management.</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800" dirty="0"/>
              <a:t>Requirements are unclear at the beginning and expected to evolve over time.</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800" dirty="0"/>
              <a:t>The client wants to see progressive versions of the software for feedback.</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800" dirty="0"/>
              <a:t>High reliability and safety are critical (defense, aerospace).</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800" dirty="0"/>
              <a:t>The development team has strong expertise in risk evaluation.</a:t>
            </a:r>
          </a:p>
        </p:txBody>
      </p:sp>
    </p:spTree>
    <p:extLst>
      <p:ext uri="{BB962C8B-B14F-4D97-AF65-F5344CB8AC3E}">
        <p14:creationId xmlns:p14="http://schemas.microsoft.com/office/powerpoint/2010/main" val="3268830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DC6F7C-86F3-3B75-D9BA-3F35845DFBCB}"/>
              </a:ext>
            </a:extLst>
          </p:cNvPr>
          <p:cNvSpPr>
            <a:spLocks noGrp="1"/>
          </p:cNvSpPr>
          <p:nvPr>
            <p:ph type="title"/>
          </p:nvPr>
        </p:nvSpPr>
        <p:spPr/>
        <p:txBody>
          <a:bodyPr/>
          <a:lstStyle/>
          <a:p>
            <a:r>
              <a:rPr lang="en-BD" dirty="0"/>
              <a:t>Spiral Model</a:t>
            </a:r>
          </a:p>
        </p:txBody>
      </p:sp>
      <p:sp>
        <p:nvSpPr>
          <p:cNvPr id="5" name="Content Placeholder 4">
            <a:extLst>
              <a:ext uri="{FF2B5EF4-FFF2-40B4-BE49-F238E27FC236}">
                <a16:creationId xmlns:a16="http://schemas.microsoft.com/office/drawing/2014/main" id="{8AC132C0-0DF5-6B07-5205-E82D984C50B1}"/>
              </a:ext>
            </a:extLst>
          </p:cNvPr>
          <p:cNvSpPr>
            <a:spLocks noGrp="1"/>
          </p:cNvSpPr>
          <p:nvPr>
            <p:ph sz="half" idx="1"/>
          </p:nvPr>
        </p:nvSpPr>
        <p:spPr/>
        <p:txBody>
          <a:bodyPr/>
          <a:lstStyle/>
          <a:p>
            <a:r>
              <a:rPr lang="en-BD" dirty="0"/>
              <a:t>Advantages:</a:t>
            </a:r>
          </a:p>
          <a:p>
            <a:pPr lvl="1"/>
            <a:r>
              <a:rPr lang="en-BD" dirty="0"/>
              <a:t>Risk handling</a:t>
            </a:r>
          </a:p>
          <a:p>
            <a:pPr lvl="1"/>
            <a:r>
              <a:rPr lang="en-BD" dirty="0"/>
              <a:t>Large projects</a:t>
            </a:r>
          </a:p>
          <a:p>
            <a:pPr lvl="1"/>
            <a:r>
              <a:rPr lang="en-BD" dirty="0"/>
              <a:t>Flexible</a:t>
            </a:r>
          </a:p>
          <a:p>
            <a:pPr lvl="1"/>
            <a:r>
              <a:rPr lang="en-BD" dirty="0"/>
              <a:t>Customer satisfaction</a:t>
            </a:r>
          </a:p>
        </p:txBody>
      </p:sp>
      <p:sp>
        <p:nvSpPr>
          <p:cNvPr id="6" name="Content Placeholder 5">
            <a:extLst>
              <a:ext uri="{FF2B5EF4-FFF2-40B4-BE49-F238E27FC236}">
                <a16:creationId xmlns:a16="http://schemas.microsoft.com/office/drawing/2014/main" id="{4E4ADE33-4226-E9A1-9BC8-3531EAC36CAB}"/>
              </a:ext>
            </a:extLst>
          </p:cNvPr>
          <p:cNvSpPr>
            <a:spLocks noGrp="1"/>
          </p:cNvSpPr>
          <p:nvPr>
            <p:ph sz="half" idx="2"/>
          </p:nvPr>
        </p:nvSpPr>
        <p:spPr/>
        <p:txBody>
          <a:bodyPr/>
          <a:lstStyle/>
          <a:p>
            <a:r>
              <a:rPr lang="en-BD" dirty="0"/>
              <a:t>Disadvantages</a:t>
            </a:r>
          </a:p>
          <a:p>
            <a:pPr lvl="1"/>
            <a:r>
              <a:rPr lang="en-BD" dirty="0"/>
              <a:t>Complex</a:t>
            </a:r>
          </a:p>
          <a:p>
            <a:pPr lvl="1"/>
            <a:r>
              <a:rPr lang="en-BD" dirty="0"/>
              <a:t>Expensive</a:t>
            </a:r>
          </a:p>
          <a:p>
            <a:pPr lvl="1"/>
            <a:r>
              <a:rPr lang="en-BD" dirty="0"/>
              <a:t>Too much risk analysis</a:t>
            </a:r>
          </a:p>
          <a:p>
            <a:pPr lvl="1"/>
            <a:r>
              <a:rPr lang="en-BD" dirty="0"/>
              <a:t>More time</a:t>
            </a:r>
          </a:p>
        </p:txBody>
      </p:sp>
      <p:sp>
        <p:nvSpPr>
          <p:cNvPr id="7" name="Date Placeholder 6">
            <a:extLst>
              <a:ext uri="{FF2B5EF4-FFF2-40B4-BE49-F238E27FC236}">
                <a16:creationId xmlns:a16="http://schemas.microsoft.com/office/drawing/2014/main" id="{8AFF300C-3D99-1B7C-CE64-95B057970149}"/>
              </a:ext>
            </a:extLst>
          </p:cNvPr>
          <p:cNvSpPr>
            <a:spLocks noGrp="1"/>
          </p:cNvSpPr>
          <p:nvPr>
            <p:ph type="dt" sz="half" idx="10"/>
          </p:nvPr>
        </p:nvSpPr>
        <p:spPr/>
        <p:txBody>
          <a:bodyPr/>
          <a:lstStyle/>
          <a:p>
            <a:fld id="{09AA601D-033F-2347-8CCD-F5A2EB8AB9C8}" type="datetime1">
              <a:rPr lang="en-US" smtClean="0"/>
              <a:t>10/29/2025</a:t>
            </a:fld>
            <a:endParaRPr lang="en-BD"/>
          </a:p>
        </p:txBody>
      </p:sp>
      <p:sp>
        <p:nvSpPr>
          <p:cNvPr id="8" name="Footer Placeholder 7">
            <a:extLst>
              <a:ext uri="{FF2B5EF4-FFF2-40B4-BE49-F238E27FC236}">
                <a16:creationId xmlns:a16="http://schemas.microsoft.com/office/drawing/2014/main" id="{49362D44-1535-E6AA-1C38-9DEC597ECBA2}"/>
              </a:ext>
            </a:extLst>
          </p:cNvPr>
          <p:cNvSpPr>
            <a:spLocks noGrp="1"/>
          </p:cNvSpPr>
          <p:nvPr>
            <p:ph type="ftr" sz="quarter" idx="11"/>
          </p:nvPr>
        </p:nvSpPr>
        <p:spPr/>
        <p:txBody>
          <a:bodyPr/>
          <a:lstStyle/>
          <a:p>
            <a:r>
              <a:rPr lang="en-GB"/>
              <a:t>Rakib Mahmud</a:t>
            </a:r>
            <a:endParaRPr lang="en-BD"/>
          </a:p>
        </p:txBody>
      </p:sp>
      <p:sp>
        <p:nvSpPr>
          <p:cNvPr id="9" name="Slide Number Placeholder 8">
            <a:extLst>
              <a:ext uri="{FF2B5EF4-FFF2-40B4-BE49-F238E27FC236}">
                <a16:creationId xmlns:a16="http://schemas.microsoft.com/office/drawing/2014/main" id="{CB6DA8B6-3EA6-EF7D-C0C3-BF3F4D504C51}"/>
              </a:ext>
            </a:extLst>
          </p:cNvPr>
          <p:cNvSpPr>
            <a:spLocks noGrp="1"/>
          </p:cNvSpPr>
          <p:nvPr>
            <p:ph type="sldNum" sz="quarter" idx="12"/>
          </p:nvPr>
        </p:nvSpPr>
        <p:spPr/>
        <p:txBody>
          <a:bodyPr/>
          <a:lstStyle/>
          <a:p>
            <a:fld id="{0738E221-040C-6E48-94DB-63D3B05B2CD5}" type="slidenum">
              <a:rPr lang="en-BD" smtClean="0"/>
              <a:t>30</a:t>
            </a:fld>
            <a:endParaRPr lang="en-BD"/>
          </a:p>
        </p:txBody>
      </p:sp>
    </p:spTree>
    <p:extLst>
      <p:ext uri="{BB962C8B-B14F-4D97-AF65-F5344CB8AC3E}">
        <p14:creationId xmlns:p14="http://schemas.microsoft.com/office/powerpoint/2010/main" val="1897836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The Rapid Action Development (RAD) Model</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054360"/>
            <a:ext cx="10515600" cy="5301990"/>
          </a:xfrm>
        </p:spPr>
        <p:txBody>
          <a:bodyPr>
            <a:noAutofit/>
          </a:bodyPr>
          <a:lstStyle/>
          <a:p>
            <a:r>
              <a:rPr lang="en-US" sz="2600" dirty="0"/>
              <a:t>Focuses on delivering working software in a short timelines.</a:t>
            </a:r>
          </a:p>
          <a:p>
            <a:r>
              <a:rPr lang="en-US" sz="2600" dirty="0"/>
              <a:t>Emphasizes quick and iterative release cycles.</a:t>
            </a:r>
          </a:p>
          <a:p>
            <a:r>
              <a:rPr lang="en-US" sz="2600" dirty="0"/>
              <a:t>More flexible and responsive to user feedback and changing requirement. </a:t>
            </a:r>
          </a:p>
          <a:p>
            <a:r>
              <a:rPr lang="en-US" sz="2600" dirty="0"/>
              <a:t>The RAD model is used when the requirements are fully understood and the component-based construction approach is adopted.</a:t>
            </a:r>
          </a:p>
          <a:p>
            <a:r>
              <a:rPr lang="en-US" sz="2600" dirty="0"/>
              <a:t>Close teamwork among end users and information systems specialists.</a:t>
            </a:r>
          </a:p>
          <a:p>
            <a:r>
              <a:rPr lang="en-US" sz="2600" dirty="0"/>
              <a:t>Applies reusable softwares and frameworks.</a:t>
            </a:r>
          </a:p>
          <a:p>
            <a:r>
              <a:rPr lang="en-US" sz="2600" b="1" dirty="0"/>
              <a:t>Agile development </a:t>
            </a:r>
            <a:r>
              <a:rPr lang="en-US" sz="2600" dirty="0"/>
              <a:t>is a type of RAD model.</a:t>
            </a:r>
          </a:p>
          <a:p>
            <a:pPr lvl="1"/>
            <a:r>
              <a:rPr lang="en-US" dirty="0"/>
              <a:t>Breaks the large project into a series of subproject and build them in short periods using iteration and continuous feedback.</a:t>
            </a:r>
          </a:p>
          <a:p>
            <a:pPr lvl="1"/>
            <a:r>
              <a:rPr lang="en-US" dirty="0"/>
              <a:t>Emphasizes face-to-face communication over written documents.</a:t>
            </a:r>
          </a:p>
        </p:txBody>
      </p:sp>
      <p:sp>
        <p:nvSpPr>
          <p:cNvPr id="4" name="Date Placeholder 3">
            <a:extLst>
              <a:ext uri="{FF2B5EF4-FFF2-40B4-BE49-F238E27FC236}">
                <a16:creationId xmlns:a16="http://schemas.microsoft.com/office/drawing/2014/main" id="{62E56B9D-ED90-4381-BB0B-C9CC2998E697}"/>
              </a:ext>
            </a:extLst>
          </p:cNvPr>
          <p:cNvSpPr>
            <a:spLocks noGrp="1"/>
          </p:cNvSpPr>
          <p:nvPr>
            <p:ph type="dt" sz="half" idx="10"/>
          </p:nvPr>
        </p:nvSpPr>
        <p:spPr/>
        <p:txBody>
          <a:bodyPr/>
          <a:lstStyle/>
          <a:p>
            <a:fld id="{A5CD8E3D-FB6E-4860-ADB5-17D968B5A0B9}" type="datetime5">
              <a:rPr lang="en-US" smtClean="0"/>
              <a:t>29-Oct-25</a:t>
            </a:fld>
            <a:endParaRPr lang="en-US"/>
          </a:p>
        </p:txBody>
      </p:sp>
      <p:sp>
        <p:nvSpPr>
          <p:cNvPr id="6" name="Slide Number Placeholder 5">
            <a:extLst>
              <a:ext uri="{FF2B5EF4-FFF2-40B4-BE49-F238E27FC236}">
                <a16:creationId xmlns:a16="http://schemas.microsoft.com/office/drawing/2014/main" id="{23E71F58-C777-4716-968D-7E432AE72D62}"/>
              </a:ext>
            </a:extLst>
          </p:cNvPr>
          <p:cNvSpPr>
            <a:spLocks noGrp="1"/>
          </p:cNvSpPr>
          <p:nvPr>
            <p:ph type="sldNum" sz="quarter" idx="12"/>
          </p:nvPr>
        </p:nvSpPr>
        <p:spPr/>
        <p:txBody>
          <a:bodyPr/>
          <a:lstStyle/>
          <a:p>
            <a:fld id="{C4E2C86B-781F-422B-BBCD-AFDAC8D92AAC}" type="slidenum">
              <a:rPr lang="en-US" smtClean="0"/>
              <a:t>31</a:t>
            </a:fld>
            <a:endParaRPr lang="en-US"/>
          </a:p>
        </p:txBody>
      </p:sp>
    </p:spTree>
    <p:extLst>
      <p:ext uri="{BB962C8B-B14F-4D97-AF65-F5344CB8AC3E}">
        <p14:creationId xmlns:p14="http://schemas.microsoft.com/office/powerpoint/2010/main" val="2083263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F43FD-C2F8-130F-A0CB-204362FC3679}"/>
              </a:ext>
            </a:extLst>
          </p:cNvPr>
          <p:cNvSpPr>
            <a:spLocks noGrp="1"/>
          </p:cNvSpPr>
          <p:nvPr>
            <p:ph type="title"/>
          </p:nvPr>
        </p:nvSpPr>
        <p:spPr>
          <a:xfrm>
            <a:off x="838200" y="410368"/>
            <a:ext cx="10515600" cy="1325563"/>
          </a:xfrm>
        </p:spPr>
        <p:txBody>
          <a:bodyPr/>
          <a:lstStyle/>
          <a:p>
            <a:r>
              <a:rPr lang="en-BD" dirty="0"/>
              <a:t>Agile Methodology</a:t>
            </a:r>
          </a:p>
        </p:txBody>
      </p:sp>
      <p:sp>
        <p:nvSpPr>
          <p:cNvPr id="8" name="Content Placeholder 7">
            <a:extLst>
              <a:ext uri="{FF2B5EF4-FFF2-40B4-BE49-F238E27FC236}">
                <a16:creationId xmlns:a16="http://schemas.microsoft.com/office/drawing/2014/main" id="{F185A8A1-6A7D-6E04-4BE7-AA23D0B296B2}"/>
              </a:ext>
            </a:extLst>
          </p:cNvPr>
          <p:cNvSpPr>
            <a:spLocks noGrp="1"/>
          </p:cNvSpPr>
          <p:nvPr>
            <p:ph idx="1"/>
          </p:nvPr>
        </p:nvSpPr>
        <p:spPr/>
        <p:txBody>
          <a:bodyPr/>
          <a:lstStyle/>
          <a:p>
            <a:r>
              <a:rPr lang="en-BD" dirty="0"/>
              <a:t>Agile (Move quickly). Most importance is given to the code.</a:t>
            </a:r>
          </a:p>
          <a:p>
            <a:r>
              <a:rPr lang="en-BD" dirty="0"/>
              <a:t>Large projects are break down into small chunks which are called iterations. </a:t>
            </a:r>
          </a:p>
          <a:p>
            <a:r>
              <a:rPr lang="en-BD" dirty="0"/>
              <a:t>This iteration will be released into the market.</a:t>
            </a:r>
          </a:p>
          <a:p>
            <a:r>
              <a:rPr lang="en-BD" dirty="0"/>
              <a:t>Then taking customer feedback.</a:t>
            </a:r>
          </a:p>
          <a:p>
            <a:r>
              <a:rPr lang="en-BD" dirty="0"/>
              <a:t>Then enhancing the project.</a:t>
            </a:r>
          </a:p>
          <a:p>
            <a:r>
              <a:rPr lang="en-BD" dirty="0"/>
              <a:t>After that re-released.</a:t>
            </a:r>
          </a:p>
        </p:txBody>
      </p:sp>
      <p:sp>
        <p:nvSpPr>
          <p:cNvPr id="5" name="Date Placeholder 4">
            <a:extLst>
              <a:ext uri="{FF2B5EF4-FFF2-40B4-BE49-F238E27FC236}">
                <a16:creationId xmlns:a16="http://schemas.microsoft.com/office/drawing/2014/main" id="{C76F2C0A-8464-3416-2B21-4D20A6B48D76}"/>
              </a:ext>
            </a:extLst>
          </p:cNvPr>
          <p:cNvSpPr>
            <a:spLocks noGrp="1"/>
          </p:cNvSpPr>
          <p:nvPr>
            <p:ph type="dt" sz="half" idx="10"/>
          </p:nvPr>
        </p:nvSpPr>
        <p:spPr/>
        <p:txBody>
          <a:bodyPr/>
          <a:lstStyle/>
          <a:p>
            <a:fld id="{84CE41C6-03A6-0A44-ABA0-61DA824335F5}" type="datetime1">
              <a:rPr lang="en-US" smtClean="0"/>
              <a:t>10/29/2025</a:t>
            </a:fld>
            <a:endParaRPr lang="en-BD"/>
          </a:p>
        </p:txBody>
      </p:sp>
      <p:sp>
        <p:nvSpPr>
          <p:cNvPr id="6" name="Footer Placeholder 5">
            <a:extLst>
              <a:ext uri="{FF2B5EF4-FFF2-40B4-BE49-F238E27FC236}">
                <a16:creationId xmlns:a16="http://schemas.microsoft.com/office/drawing/2014/main" id="{787F7EC7-93B5-D3D9-5EB9-9E0A9C1DC38C}"/>
              </a:ext>
            </a:extLst>
          </p:cNvPr>
          <p:cNvSpPr>
            <a:spLocks noGrp="1"/>
          </p:cNvSpPr>
          <p:nvPr>
            <p:ph type="ftr" sz="quarter" idx="11"/>
          </p:nvPr>
        </p:nvSpPr>
        <p:spPr/>
        <p:txBody>
          <a:bodyPr/>
          <a:lstStyle/>
          <a:p>
            <a:r>
              <a:rPr lang="en-GB"/>
              <a:t>Rakib Mahmud</a:t>
            </a:r>
            <a:endParaRPr lang="en-BD"/>
          </a:p>
        </p:txBody>
      </p:sp>
      <p:sp>
        <p:nvSpPr>
          <p:cNvPr id="7" name="Slide Number Placeholder 6">
            <a:extLst>
              <a:ext uri="{FF2B5EF4-FFF2-40B4-BE49-F238E27FC236}">
                <a16:creationId xmlns:a16="http://schemas.microsoft.com/office/drawing/2014/main" id="{6C75E2D4-1F11-6465-72ED-97AAC4182725}"/>
              </a:ext>
            </a:extLst>
          </p:cNvPr>
          <p:cNvSpPr>
            <a:spLocks noGrp="1"/>
          </p:cNvSpPr>
          <p:nvPr>
            <p:ph type="sldNum" sz="quarter" idx="12"/>
          </p:nvPr>
        </p:nvSpPr>
        <p:spPr/>
        <p:txBody>
          <a:bodyPr/>
          <a:lstStyle/>
          <a:p>
            <a:fld id="{0738E221-040C-6E48-94DB-63D3B05B2CD5}" type="slidenum">
              <a:rPr lang="en-BD" smtClean="0"/>
              <a:t>32</a:t>
            </a:fld>
            <a:endParaRPr lang="en-BD"/>
          </a:p>
        </p:txBody>
      </p:sp>
    </p:spTree>
    <p:extLst>
      <p:ext uri="{BB962C8B-B14F-4D97-AF65-F5344CB8AC3E}">
        <p14:creationId xmlns:p14="http://schemas.microsoft.com/office/powerpoint/2010/main" val="41532526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2ED9-0309-F6DA-4F8B-1F224DEF29DB}"/>
              </a:ext>
            </a:extLst>
          </p:cNvPr>
          <p:cNvSpPr>
            <a:spLocks noGrp="1"/>
          </p:cNvSpPr>
          <p:nvPr>
            <p:ph type="title"/>
          </p:nvPr>
        </p:nvSpPr>
        <p:spPr/>
        <p:txBody>
          <a:bodyPr/>
          <a:lstStyle/>
          <a:p>
            <a:r>
              <a:rPr lang="en-BD" dirty="0"/>
              <a:t>Agile Methodology</a:t>
            </a:r>
          </a:p>
        </p:txBody>
      </p:sp>
      <p:sp>
        <p:nvSpPr>
          <p:cNvPr id="4" name="Date Placeholder 3">
            <a:extLst>
              <a:ext uri="{FF2B5EF4-FFF2-40B4-BE49-F238E27FC236}">
                <a16:creationId xmlns:a16="http://schemas.microsoft.com/office/drawing/2014/main" id="{A2C8F867-0D8D-8946-A242-AD63766A3589}"/>
              </a:ext>
            </a:extLst>
          </p:cNvPr>
          <p:cNvSpPr>
            <a:spLocks noGrp="1"/>
          </p:cNvSpPr>
          <p:nvPr>
            <p:ph type="dt" sz="half" idx="10"/>
          </p:nvPr>
        </p:nvSpPr>
        <p:spPr/>
        <p:txBody>
          <a:bodyPr/>
          <a:lstStyle/>
          <a:p>
            <a:fld id="{07837F0B-C37F-F642-81DD-553F4A7A35B9}" type="datetime1">
              <a:rPr lang="en-US" smtClean="0"/>
              <a:t>10/29/2025</a:t>
            </a:fld>
            <a:endParaRPr lang="en-BD"/>
          </a:p>
        </p:txBody>
      </p:sp>
      <p:sp>
        <p:nvSpPr>
          <p:cNvPr id="5" name="Footer Placeholder 4">
            <a:extLst>
              <a:ext uri="{FF2B5EF4-FFF2-40B4-BE49-F238E27FC236}">
                <a16:creationId xmlns:a16="http://schemas.microsoft.com/office/drawing/2014/main" id="{8B6E5B87-3780-F090-7146-87770A8FBDCB}"/>
              </a:ext>
            </a:extLst>
          </p:cNvPr>
          <p:cNvSpPr>
            <a:spLocks noGrp="1"/>
          </p:cNvSpPr>
          <p:nvPr>
            <p:ph type="ftr" sz="quarter" idx="11"/>
          </p:nvPr>
        </p:nvSpPr>
        <p:spPr/>
        <p:txBody>
          <a:bodyPr/>
          <a:lstStyle/>
          <a:p>
            <a:r>
              <a:rPr lang="en-GB"/>
              <a:t>Rakib Mahmud</a:t>
            </a:r>
            <a:endParaRPr lang="en-BD"/>
          </a:p>
        </p:txBody>
      </p:sp>
      <p:sp>
        <p:nvSpPr>
          <p:cNvPr id="6" name="Slide Number Placeholder 5">
            <a:extLst>
              <a:ext uri="{FF2B5EF4-FFF2-40B4-BE49-F238E27FC236}">
                <a16:creationId xmlns:a16="http://schemas.microsoft.com/office/drawing/2014/main" id="{F013FCD4-076B-248D-7AF1-80F32C5D9A9F}"/>
              </a:ext>
            </a:extLst>
          </p:cNvPr>
          <p:cNvSpPr>
            <a:spLocks noGrp="1"/>
          </p:cNvSpPr>
          <p:nvPr>
            <p:ph type="sldNum" sz="quarter" idx="12"/>
          </p:nvPr>
        </p:nvSpPr>
        <p:spPr/>
        <p:txBody>
          <a:bodyPr/>
          <a:lstStyle/>
          <a:p>
            <a:fld id="{0738E221-040C-6E48-94DB-63D3B05B2CD5}" type="slidenum">
              <a:rPr lang="en-BD" smtClean="0"/>
              <a:t>33</a:t>
            </a:fld>
            <a:endParaRPr lang="en-BD"/>
          </a:p>
        </p:txBody>
      </p:sp>
      <p:pic>
        <p:nvPicPr>
          <p:cNvPr id="10" name="Content Placeholder 9" descr="A diagram of a software development process&#10;&#10;Description automatically generated">
            <a:extLst>
              <a:ext uri="{FF2B5EF4-FFF2-40B4-BE49-F238E27FC236}">
                <a16:creationId xmlns:a16="http://schemas.microsoft.com/office/drawing/2014/main" id="{D1CBFDCE-096F-0FF1-EE0A-9138B6D354E9}"/>
              </a:ext>
            </a:extLst>
          </p:cNvPr>
          <p:cNvPicPr>
            <a:picLocks noGrp="1" noChangeAspect="1"/>
          </p:cNvPicPr>
          <p:nvPr>
            <p:ph idx="1"/>
          </p:nvPr>
        </p:nvPicPr>
        <p:blipFill>
          <a:blip r:embed="rId2"/>
          <a:stretch>
            <a:fillRect/>
          </a:stretch>
        </p:blipFill>
        <p:spPr>
          <a:xfrm>
            <a:off x="2374710" y="1823889"/>
            <a:ext cx="8134065" cy="4058296"/>
          </a:xfrm>
        </p:spPr>
      </p:pic>
    </p:spTree>
    <p:extLst>
      <p:ext uri="{BB962C8B-B14F-4D97-AF65-F5344CB8AC3E}">
        <p14:creationId xmlns:p14="http://schemas.microsoft.com/office/powerpoint/2010/main" val="681014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31ED4C-7A99-425E-630E-BF88113E2D6C}"/>
              </a:ext>
            </a:extLst>
          </p:cNvPr>
          <p:cNvSpPr>
            <a:spLocks noGrp="1"/>
          </p:cNvSpPr>
          <p:nvPr>
            <p:ph type="title"/>
          </p:nvPr>
        </p:nvSpPr>
        <p:spPr/>
        <p:txBody>
          <a:bodyPr/>
          <a:lstStyle/>
          <a:p>
            <a:r>
              <a:rPr lang="en-BD" dirty="0"/>
              <a:t>Agile Methodology</a:t>
            </a:r>
          </a:p>
        </p:txBody>
      </p:sp>
      <p:sp>
        <p:nvSpPr>
          <p:cNvPr id="8" name="Content Placeholder 7">
            <a:extLst>
              <a:ext uri="{FF2B5EF4-FFF2-40B4-BE49-F238E27FC236}">
                <a16:creationId xmlns:a16="http://schemas.microsoft.com/office/drawing/2014/main" id="{75C394A4-1A59-95C5-BA6F-BC8123AD5EC2}"/>
              </a:ext>
            </a:extLst>
          </p:cNvPr>
          <p:cNvSpPr>
            <a:spLocks noGrp="1"/>
          </p:cNvSpPr>
          <p:nvPr>
            <p:ph sz="half" idx="1"/>
          </p:nvPr>
        </p:nvSpPr>
        <p:spPr/>
        <p:txBody>
          <a:bodyPr/>
          <a:lstStyle/>
          <a:p>
            <a:r>
              <a:rPr lang="en-BD" dirty="0"/>
              <a:t>Advantages:</a:t>
            </a:r>
          </a:p>
          <a:p>
            <a:pPr lvl="1"/>
            <a:r>
              <a:rPr lang="en-BD" dirty="0"/>
              <a:t>Frequent delivery</a:t>
            </a:r>
          </a:p>
          <a:p>
            <a:pPr lvl="1"/>
            <a:r>
              <a:rPr lang="en-BD" dirty="0"/>
              <a:t>Face to face communication with client</a:t>
            </a:r>
          </a:p>
          <a:p>
            <a:pPr lvl="1"/>
            <a:r>
              <a:rPr lang="en-BD" dirty="0"/>
              <a:t>Changes- frequently</a:t>
            </a:r>
          </a:p>
          <a:p>
            <a:pPr lvl="1"/>
            <a:r>
              <a:rPr lang="en-BD" dirty="0"/>
              <a:t>Time- less</a:t>
            </a:r>
          </a:p>
          <a:p>
            <a:pPr lvl="1"/>
            <a:r>
              <a:rPr lang="en-BD" dirty="0"/>
              <a:t>For large projects</a:t>
            </a:r>
          </a:p>
        </p:txBody>
      </p:sp>
      <p:sp>
        <p:nvSpPr>
          <p:cNvPr id="9" name="Content Placeholder 8">
            <a:extLst>
              <a:ext uri="{FF2B5EF4-FFF2-40B4-BE49-F238E27FC236}">
                <a16:creationId xmlns:a16="http://schemas.microsoft.com/office/drawing/2014/main" id="{C33FF841-549B-F90B-04A3-AE1A97E5A0D3}"/>
              </a:ext>
            </a:extLst>
          </p:cNvPr>
          <p:cNvSpPr>
            <a:spLocks noGrp="1"/>
          </p:cNvSpPr>
          <p:nvPr>
            <p:ph sz="half" idx="2"/>
          </p:nvPr>
        </p:nvSpPr>
        <p:spPr/>
        <p:txBody>
          <a:bodyPr/>
          <a:lstStyle/>
          <a:p>
            <a:r>
              <a:rPr lang="en-BD" dirty="0"/>
              <a:t>Disadvantages:</a:t>
            </a:r>
          </a:p>
          <a:p>
            <a:pPr lvl="1"/>
            <a:r>
              <a:rPr lang="en-BD" dirty="0"/>
              <a:t>Less documentation, design</a:t>
            </a:r>
          </a:p>
          <a:p>
            <a:pPr lvl="1"/>
            <a:r>
              <a:rPr lang="en-BD" dirty="0"/>
              <a:t>Maintanance problem</a:t>
            </a:r>
          </a:p>
        </p:txBody>
      </p:sp>
      <p:sp>
        <p:nvSpPr>
          <p:cNvPr id="4" name="Date Placeholder 3">
            <a:extLst>
              <a:ext uri="{FF2B5EF4-FFF2-40B4-BE49-F238E27FC236}">
                <a16:creationId xmlns:a16="http://schemas.microsoft.com/office/drawing/2014/main" id="{59EC9809-0415-5B59-F0DB-4D8B7F78FEB3}"/>
              </a:ext>
            </a:extLst>
          </p:cNvPr>
          <p:cNvSpPr>
            <a:spLocks noGrp="1"/>
          </p:cNvSpPr>
          <p:nvPr>
            <p:ph type="dt" sz="half" idx="10"/>
          </p:nvPr>
        </p:nvSpPr>
        <p:spPr/>
        <p:txBody>
          <a:bodyPr/>
          <a:lstStyle/>
          <a:p>
            <a:fld id="{07837F0B-C37F-F642-81DD-553F4A7A35B9}" type="datetime1">
              <a:rPr lang="en-US" smtClean="0"/>
              <a:t>10/29/2025</a:t>
            </a:fld>
            <a:endParaRPr lang="en-BD"/>
          </a:p>
        </p:txBody>
      </p:sp>
      <p:sp>
        <p:nvSpPr>
          <p:cNvPr id="5" name="Footer Placeholder 4">
            <a:extLst>
              <a:ext uri="{FF2B5EF4-FFF2-40B4-BE49-F238E27FC236}">
                <a16:creationId xmlns:a16="http://schemas.microsoft.com/office/drawing/2014/main" id="{E1DC45A0-1579-F44F-A506-BA3600D74F4F}"/>
              </a:ext>
            </a:extLst>
          </p:cNvPr>
          <p:cNvSpPr>
            <a:spLocks noGrp="1"/>
          </p:cNvSpPr>
          <p:nvPr>
            <p:ph type="ftr" sz="quarter" idx="11"/>
          </p:nvPr>
        </p:nvSpPr>
        <p:spPr/>
        <p:txBody>
          <a:bodyPr/>
          <a:lstStyle/>
          <a:p>
            <a:r>
              <a:rPr lang="en-GB"/>
              <a:t>Rakib Mahmud</a:t>
            </a:r>
            <a:endParaRPr lang="en-BD"/>
          </a:p>
        </p:txBody>
      </p:sp>
      <p:sp>
        <p:nvSpPr>
          <p:cNvPr id="6" name="Slide Number Placeholder 5">
            <a:extLst>
              <a:ext uri="{FF2B5EF4-FFF2-40B4-BE49-F238E27FC236}">
                <a16:creationId xmlns:a16="http://schemas.microsoft.com/office/drawing/2014/main" id="{FAE27721-B92F-82B7-3B96-678F41530A4D}"/>
              </a:ext>
            </a:extLst>
          </p:cNvPr>
          <p:cNvSpPr>
            <a:spLocks noGrp="1"/>
          </p:cNvSpPr>
          <p:nvPr>
            <p:ph type="sldNum" sz="quarter" idx="12"/>
          </p:nvPr>
        </p:nvSpPr>
        <p:spPr/>
        <p:txBody>
          <a:bodyPr/>
          <a:lstStyle/>
          <a:p>
            <a:fld id="{0738E221-040C-6E48-94DB-63D3B05B2CD5}" type="slidenum">
              <a:rPr lang="en-BD" smtClean="0"/>
              <a:t>34</a:t>
            </a:fld>
            <a:endParaRPr lang="en-BD"/>
          </a:p>
        </p:txBody>
      </p:sp>
    </p:spTree>
    <p:extLst>
      <p:ext uri="{BB962C8B-B14F-4D97-AF65-F5344CB8AC3E}">
        <p14:creationId xmlns:p14="http://schemas.microsoft.com/office/powerpoint/2010/main" val="1661383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17576</TotalTime>
  <Words>1902</Words>
  <Application>Microsoft Office PowerPoint</Application>
  <PresentationFormat>Widescreen</PresentationFormat>
  <Paragraphs>372</Paragraphs>
  <Slides>34</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Courier New</vt:lpstr>
      <vt:lpstr>Wingdings</vt:lpstr>
      <vt:lpstr>Office Theme</vt:lpstr>
      <vt:lpstr>Information System Development</vt:lpstr>
      <vt:lpstr>Information System Development</vt:lpstr>
      <vt:lpstr>Information System Development</vt:lpstr>
      <vt:lpstr>Information System Development</vt:lpstr>
      <vt:lpstr>Information System Development</vt:lpstr>
      <vt:lpstr>System Development Life Cycle (SDLC)</vt:lpstr>
      <vt:lpstr>SDLC</vt:lpstr>
      <vt:lpstr>Planning</vt:lpstr>
      <vt:lpstr>Planning</vt:lpstr>
      <vt:lpstr>Analysis</vt:lpstr>
      <vt:lpstr>Design, Development</vt:lpstr>
      <vt:lpstr>Testing</vt:lpstr>
      <vt:lpstr>Testing</vt:lpstr>
      <vt:lpstr>Testing</vt:lpstr>
      <vt:lpstr>Testing</vt:lpstr>
      <vt:lpstr>Implementation, Maintenance</vt:lpstr>
      <vt:lpstr>Prototyping</vt:lpstr>
      <vt:lpstr>Software Development Models</vt:lpstr>
      <vt:lpstr>Software Development Models</vt:lpstr>
      <vt:lpstr>Software Development Models</vt:lpstr>
      <vt:lpstr>Software Development Models</vt:lpstr>
      <vt:lpstr>The Waterfall SDLC Model</vt:lpstr>
      <vt:lpstr>The V-shaped Model</vt:lpstr>
      <vt:lpstr>The Iterative Incremental Model</vt:lpstr>
      <vt:lpstr>PowerPoint Presentation</vt:lpstr>
      <vt:lpstr>The Concurrent Engineering Model</vt:lpstr>
      <vt:lpstr>Spiral Model</vt:lpstr>
      <vt:lpstr>Spiral Model</vt:lpstr>
      <vt:lpstr>PowerPoint Presentation</vt:lpstr>
      <vt:lpstr>Spiral Model</vt:lpstr>
      <vt:lpstr>The Rapid Action Development (RAD) Model</vt:lpstr>
      <vt:lpstr>Agile Methodology</vt:lpstr>
      <vt:lpstr>Agile Methodology</vt:lpstr>
      <vt:lpstr>Agile Methodology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System</dc:title>
  <dc:creator>USER</dc:creator>
  <cp:lastModifiedBy>Md Manirujjaman</cp:lastModifiedBy>
  <cp:revision>312</cp:revision>
  <dcterms:created xsi:type="dcterms:W3CDTF">2024-12-25T16:40:24Z</dcterms:created>
  <dcterms:modified xsi:type="dcterms:W3CDTF">2025-10-29T01:34:32Z</dcterms:modified>
</cp:coreProperties>
</file>