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26"/>
  </p:notesMasterIdLst>
  <p:handoutMasterIdLst>
    <p:handoutMasterId r:id="rId27"/>
  </p:handoutMasterIdLst>
  <p:sldIdLst>
    <p:sldId id="332" r:id="rId2"/>
    <p:sldId id="448" r:id="rId3"/>
    <p:sldId id="449" r:id="rId4"/>
    <p:sldId id="547" r:id="rId5"/>
    <p:sldId id="548" r:id="rId6"/>
    <p:sldId id="549" r:id="rId7"/>
    <p:sldId id="537" r:id="rId8"/>
    <p:sldId id="538" r:id="rId9"/>
    <p:sldId id="545" r:id="rId10"/>
    <p:sldId id="458" r:id="rId11"/>
    <p:sldId id="459" r:id="rId12"/>
    <p:sldId id="550" r:id="rId13"/>
    <p:sldId id="551" r:id="rId14"/>
    <p:sldId id="552" r:id="rId15"/>
    <p:sldId id="553" r:id="rId16"/>
    <p:sldId id="554" r:id="rId17"/>
    <p:sldId id="555" r:id="rId18"/>
    <p:sldId id="556" r:id="rId19"/>
    <p:sldId id="557" r:id="rId20"/>
    <p:sldId id="461" r:id="rId21"/>
    <p:sldId id="462" r:id="rId22"/>
    <p:sldId id="463" r:id="rId23"/>
    <p:sldId id="464" r:id="rId24"/>
    <p:sldId id="323" r:id="rId2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3" autoAdjust="0"/>
    <p:restoredTop sz="56340" autoAdjust="0"/>
  </p:normalViewPr>
  <p:slideViewPr>
    <p:cSldViewPr>
      <p:cViewPr varScale="1">
        <p:scale>
          <a:sx n="46" d="100"/>
          <a:sy n="46" d="100"/>
        </p:scale>
        <p:origin x="246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F9EFEA9-66BC-4174-926C-F8093975A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866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BD0B02A-F0B0-4301-8903-DF68581631A0}" type="datetimeFigureOut">
              <a:rPr lang="en-US"/>
              <a:pPr>
                <a:defRPr/>
              </a:pPr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6A44F01-B7E3-454B-9683-8F374F9D0B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839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F1B8A3-85F5-43BE-9C88-C460B9285F31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3045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F1B8A3-85F5-43BE-9C88-C460B9285F31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6647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AE13C2-009B-4CC3-BA73-5F3B0E2CAEB5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AE13C2-009B-4CC3-BA73-5F3B0E2CAEB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CCF6C9FD-75DE-6E5D-1C0A-CB028620C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main assumption</a:t>
            </a:r>
            <a:r>
              <a:rPr lang="en-US" dirty="0"/>
              <a:t> is </a:t>
            </a:r>
            <a:r>
              <a:rPr lang="en-US" b="1" dirty="0"/>
              <a:t>class conditional independence</a:t>
            </a:r>
            <a:r>
              <a:rPr lang="en-US" dirty="0"/>
              <a:t>:</a:t>
            </a:r>
          </a:p>
          <a:p>
            <a:r>
              <a:rPr lang="en-US" dirty="0"/>
              <a:t>Given the class label, all attributes/features are assumed to be </a:t>
            </a:r>
            <a:r>
              <a:rPr lang="en-US" b="1" dirty="0"/>
              <a:t>independent of each other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2B8FCF-B669-497C-A98F-57CCB59E530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Assumes </a:t>
            </a:r>
            <a:r>
              <a:rPr lang="en-US" b="1" dirty="0"/>
              <a:t>features are independent</a:t>
            </a:r>
          </a:p>
          <a:p>
            <a:r>
              <a:rPr lang="en-US" dirty="0"/>
              <a:t> Multiply probabilities → </a:t>
            </a:r>
            <a:r>
              <a:rPr lang="en-US" b="1" dirty="0"/>
              <a:t>fast calculation</a:t>
            </a:r>
            <a:r>
              <a:rPr lang="en-US" dirty="0"/>
              <a:t> </a:t>
            </a:r>
          </a:p>
          <a:p>
            <a:r>
              <a:rPr lang="en-US" dirty="0"/>
              <a:t>Categorical → </a:t>
            </a:r>
            <a:r>
              <a:rPr lang="en-US" b="1" dirty="0"/>
              <a:t>use counting</a:t>
            </a:r>
            <a:r>
              <a:rPr lang="en-US" dirty="0"/>
              <a:t> </a:t>
            </a:r>
          </a:p>
          <a:p>
            <a:r>
              <a:rPr lang="en-US" dirty="0"/>
              <a:t>Continuous → </a:t>
            </a:r>
            <a:r>
              <a:rPr lang="en-US" b="1" dirty="0"/>
              <a:t>use Gaussian (μ, σ)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B6269C-5A4B-49AD-8F57-81356AE489B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AA9FBE-96E7-4384-A269-AB19CA7B212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C3252B-C50C-40C4-9C27-F2EA1994A81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Zero-Probability Problem</a:t>
            </a:r>
            <a:endParaRPr lang="en-US" dirty="0"/>
          </a:p>
          <a:p>
            <a:r>
              <a:rPr lang="en-US" dirty="0"/>
              <a:t>In Naïve Bayes, we multiply probabilities. </a:t>
            </a:r>
          </a:p>
          <a:p>
            <a:r>
              <a:rPr lang="en-US" dirty="0"/>
              <a:t>If any probability = </a:t>
            </a:r>
            <a:r>
              <a:rPr lang="en-US" b="1" dirty="0"/>
              <a:t>0</a:t>
            </a:r>
            <a:r>
              <a:rPr lang="en-US" dirty="0"/>
              <a:t>, the final result becomes </a:t>
            </a:r>
            <a:r>
              <a:rPr lang="en-US" b="1" dirty="0"/>
              <a:t>0</a:t>
            </a:r>
            <a:r>
              <a:rPr lang="en-US" dirty="0"/>
              <a:t>. </a:t>
            </a:r>
          </a:p>
          <a:p>
            <a:r>
              <a:rPr lang="en-US" dirty="0"/>
              <a:t>This is a problem because it can give wrong predictions. </a:t>
            </a:r>
          </a:p>
          <a:p>
            <a:r>
              <a:rPr lang="en-US" b="1" dirty="0"/>
              <a:t>Example</a:t>
            </a:r>
            <a:endParaRPr lang="en-US" dirty="0"/>
          </a:p>
          <a:p>
            <a:r>
              <a:rPr lang="en-US" dirty="0"/>
              <a:t>Dataset: </a:t>
            </a:r>
          </a:p>
          <a:p>
            <a:pPr lvl="1"/>
            <a:r>
              <a:rPr lang="en-US" dirty="0"/>
              <a:t>income = low → 0 </a:t>
            </a:r>
          </a:p>
          <a:p>
            <a:pPr lvl="1"/>
            <a:r>
              <a:rPr lang="en-US" dirty="0"/>
              <a:t>income = medium → 990 </a:t>
            </a:r>
          </a:p>
          <a:p>
            <a:pPr lvl="1"/>
            <a:r>
              <a:rPr lang="en-US" dirty="0"/>
              <a:t>income = high → 10 </a:t>
            </a:r>
          </a:p>
          <a:p>
            <a:r>
              <a:rPr lang="en-US" dirty="0"/>
              <a:t>Since “low” never appears, its probability = 0 → problem! </a:t>
            </a:r>
          </a:p>
          <a:p>
            <a:r>
              <a:rPr lang="en-US" b="1" dirty="0"/>
              <a:t>Solution: Laplacian Correction</a:t>
            </a:r>
            <a:endParaRPr lang="en-US" dirty="0"/>
          </a:p>
          <a:p>
            <a:r>
              <a:rPr lang="en-US" dirty="0"/>
              <a:t>Add </a:t>
            </a:r>
            <a:r>
              <a:rPr lang="en-US" b="1" dirty="0"/>
              <a:t>1 to every count</a:t>
            </a:r>
            <a:r>
              <a:rPr lang="en-US" dirty="0"/>
              <a:t> (called smoothing) </a:t>
            </a:r>
          </a:p>
          <a:p>
            <a:r>
              <a:rPr lang="en-US" dirty="0"/>
              <a:t>New probabilities: </a:t>
            </a:r>
          </a:p>
          <a:p>
            <a:pPr lvl="1"/>
            <a:r>
              <a:rPr lang="en-US" dirty="0"/>
              <a:t>low → 1/1003 </a:t>
            </a:r>
          </a:p>
          <a:p>
            <a:pPr lvl="1"/>
            <a:r>
              <a:rPr lang="en-US" dirty="0"/>
              <a:t>medium → 991/1003 </a:t>
            </a:r>
          </a:p>
          <a:p>
            <a:pPr lvl="1"/>
            <a:r>
              <a:rPr lang="en-US" dirty="0"/>
              <a:t>high → 11/1003 </a:t>
            </a:r>
          </a:p>
          <a:p>
            <a:r>
              <a:rPr lang="en-US" dirty="0"/>
              <a:t>Now no probability is zero. </a:t>
            </a:r>
          </a:p>
          <a:p>
            <a:r>
              <a:rPr lang="en-US" b="1" dirty="0"/>
              <a:t>Important</a:t>
            </a:r>
            <a:endParaRPr lang="en-US" dirty="0"/>
          </a:p>
          <a:p>
            <a:r>
              <a:rPr lang="en-US" dirty="0"/>
              <a:t>These new values are very close to original ones, but safer.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🔸 Summary (Easy to Remember)</a:t>
            </a:r>
          </a:p>
          <a:p>
            <a:r>
              <a:rPr lang="en-US" dirty="0"/>
              <a:t>Zero probability → </a:t>
            </a:r>
            <a:r>
              <a:rPr lang="en-US" b="1" dirty="0"/>
              <a:t>kills prediction</a:t>
            </a:r>
            <a:r>
              <a:rPr lang="en-US" dirty="0"/>
              <a:t> </a:t>
            </a:r>
          </a:p>
          <a:p>
            <a:r>
              <a:rPr lang="en-US" dirty="0"/>
              <a:t>Fix using </a:t>
            </a:r>
            <a:r>
              <a:rPr lang="en-US" b="1" dirty="0"/>
              <a:t>+1 (Laplacian smoothing)</a:t>
            </a:r>
            <a:r>
              <a:rPr lang="en-US" dirty="0"/>
              <a:t> </a:t>
            </a:r>
          </a:p>
          <a:p>
            <a:r>
              <a:rPr lang="en-US" dirty="0"/>
              <a:t>Makes all probabilities </a:t>
            </a:r>
            <a:r>
              <a:rPr lang="en-US" b="1" dirty="0"/>
              <a:t>non-zero and usable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5A8F0-8966-46AC-B0C6-0A66CA5E6FF0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/>
              <a:t>Naïve Bayes Strengths</a:t>
            </a:r>
          </a:p>
          <a:p>
            <a:r>
              <a:rPr lang="en-US" b="1" dirty="0"/>
              <a:t>Good performance</a:t>
            </a:r>
            <a:endParaRPr lang="en-US" dirty="0"/>
          </a:p>
          <a:p>
            <a:pPr lvl="1"/>
            <a:r>
              <a:rPr lang="en-US" dirty="0"/>
              <a:t>Naïve Bayes often gives performance comparable to </a:t>
            </a:r>
            <a:r>
              <a:rPr lang="en-US" b="1" dirty="0"/>
              <a:t>decision trees</a:t>
            </a:r>
            <a:r>
              <a:rPr lang="en-US" dirty="0"/>
              <a:t> and some </a:t>
            </a:r>
            <a:r>
              <a:rPr lang="en-US" b="1" dirty="0"/>
              <a:t>neural networks</a:t>
            </a:r>
            <a:endParaRPr lang="en-US" dirty="0"/>
          </a:p>
          <a:p>
            <a:r>
              <a:rPr lang="en-US" b="1" dirty="0"/>
              <a:t>Incremental learning</a:t>
            </a:r>
            <a:endParaRPr lang="en-US" dirty="0"/>
          </a:p>
          <a:p>
            <a:pPr lvl="1"/>
            <a:r>
              <a:rPr lang="en-US" dirty="0"/>
              <a:t>Each new training example can </a:t>
            </a:r>
            <a:r>
              <a:rPr lang="en-US" b="1" dirty="0"/>
              <a:t>update the probabilities</a:t>
            </a:r>
            <a:endParaRPr lang="en-US" dirty="0"/>
          </a:p>
          <a:p>
            <a:pPr lvl="1"/>
            <a:r>
              <a:rPr lang="en-US" dirty="0"/>
              <a:t>So the model can learn </a:t>
            </a:r>
            <a:r>
              <a:rPr lang="en-US" b="1" dirty="0"/>
              <a:t>step by step</a:t>
            </a:r>
            <a:endParaRPr lang="en-US" dirty="0"/>
          </a:p>
          <a:p>
            <a:pPr lvl="1"/>
            <a:r>
              <a:rPr lang="en-US" dirty="0"/>
              <a:t>It can also combine </a:t>
            </a:r>
            <a:r>
              <a:rPr lang="en-US" b="1" dirty="0"/>
              <a:t>prior knowledge</a:t>
            </a:r>
            <a:r>
              <a:rPr lang="en-US" dirty="0"/>
              <a:t> with </a:t>
            </a:r>
            <a:r>
              <a:rPr lang="en-US" b="1" dirty="0"/>
              <a:t>observed data</a:t>
            </a:r>
            <a:endParaRPr 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9810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5A8F0-8966-46AC-B0C6-0A66CA5E6FF0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/>
              <a:t>Naïve Bayes Weakness</a:t>
            </a:r>
          </a:p>
          <a:p>
            <a:r>
              <a:rPr lang="en-US" dirty="0"/>
              <a:t>Naïve Bayes assumes </a:t>
            </a:r>
            <a:r>
              <a:rPr lang="en-US" b="1" dirty="0"/>
              <a:t>attributes are conditionally independent</a:t>
            </a:r>
            <a:endParaRPr lang="en-US" dirty="0"/>
          </a:p>
          <a:p>
            <a:r>
              <a:rPr lang="en-US" dirty="0"/>
              <a:t>In real life, many attributes are </a:t>
            </a:r>
            <a:r>
              <a:rPr lang="en-US" b="1" dirty="0"/>
              <a:t>dependent</a:t>
            </a:r>
            <a:r>
              <a:rPr lang="en-US" dirty="0"/>
              <a:t>, so accuracy may decrease</a:t>
            </a:r>
          </a:p>
          <a:p>
            <a:r>
              <a:rPr lang="en-US" b="1" dirty="0"/>
              <a:t>Example</a:t>
            </a:r>
          </a:p>
          <a:p>
            <a:r>
              <a:rPr lang="en-US" b="1" dirty="0"/>
              <a:t>Patient profile:</a:t>
            </a:r>
            <a:r>
              <a:rPr lang="en-US" dirty="0"/>
              <a:t> age, family history</a:t>
            </a:r>
          </a:p>
          <a:p>
            <a:r>
              <a:rPr lang="en-US" b="1" dirty="0"/>
              <a:t>Patient symptoms:</a:t>
            </a:r>
            <a:r>
              <a:rPr lang="en-US" dirty="0"/>
              <a:t> fever, cough</a:t>
            </a:r>
          </a:p>
          <a:p>
            <a:r>
              <a:rPr lang="en-US" b="1" dirty="0"/>
              <a:t>Patient disease:</a:t>
            </a:r>
            <a:r>
              <a:rPr lang="en-US" dirty="0"/>
              <a:t> lung cancer, diabetes</a:t>
            </a:r>
          </a:p>
          <a:p>
            <a:r>
              <a:rPr lang="en-US" dirty="0"/>
              <a:t>These factors can be related to each other, but </a:t>
            </a:r>
            <a:r>
              <a:rPr lang="en-US" b="1" dirty="0"/>
              <a:t>Naïve Bayes cannot model those dependencies well</a:t>
            </a:r>
            <a:r>
              <a:rPr lang="en-US" dirty="0"/>
              <a:t>.</a:t>
            </a:r>
          </a:p>
          <a:p>
            <a:r>
              <a:rPr lang="en-US" b="1" dirty="0"/>
              <a:t>How to handle this</a:t>
            </a:r>
          </a:p>
          <a:p>
            <a:r>
              <a:rPr lang="en-US" dirty="0"/>
              <a:t>Use </a:t>
            </a:r>
            <a:r>
              <a:rPr lang="en-US" b="1" dirty="0"/>
              <a:t>Bayesian Belief Networks (BBN)</a:t>
            </a:r>
            <a:r>
              <a:rPr lang="en-US" dirty="0"/>
              <a:t>, which can represent dependencies among variables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9810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 txBox="1">
            <a:spLocks noGrp="1" noChangeArrowheads="1"/>
          </p:cNvSpPr>
          <p:nvPr/>
        </p:nvSpPr>
        <p:spPr bwMode="auto">
          <a:xfrm>
            <a:off x="3971927" y="8831422"/>
            <a:ext cx="3038475" cy="46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500" tIns="46753" rIns="93500" bIns="46753" anchor="b"/>
          <a:lstStyle/>
          <a:p>
            <a:pPr algn="r" defTabSz="935178"/>
            <a:fld id="{D7450BE2-CD82-44E1-87D8-89131E24FFFD}" type="slidenum">
              <a:rPr lang="en-US" sz="1200">
                <a:latin typeface="Times New Roman" pitchFamily="18" charset="0"/>
              </a:rPr>
              <a:pPr algn="r" defTabSz="935178"/>
              <a:t>12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BAD93E-0585-4190-B3DD-9FF28A2E0DF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Using IF-THEN Rules for Classification</a:t>
                </a:r>
              </a:p>
              <a:p>
                <a:r>
                  <a:rPr lang="en-US" dirty="0"/>
                  <a:t>Knowledge can be written as </a:t>
                </a:r>
                <a:r>
                  <a:rPr lang="en-US" b="1" dirty="0"/>
                  <a:t>IF-THEN rules</a:t>
                </a:r>
                <a:endParaRPr lang="en-US" dirty="0"/>
              </a:p>
              <a:p>
                <a:r>
                  <a:rPr lang="en-US" b="1" dirty="0"/>
                  <a:t>Example rule</a:t>
                </a:r>
              </a:p>
              <a:p>
                <a:r>
                  <a:rPr lang="en-US" b="1" dirty="0"/>
                  <a:t>IF</a:t>
                </a:r>
                <a:r>
                  <a:rPr lang="en-US" dirty="0"/>
                  <a:t> age = youth </a:t>
                </a:r>
                <a:r>
                  <a:rPr lang="en-US" b="1" dirty="0"/>
                  <a:t>AND</a:t>
                </a:r>
                <a:r>
                  <a:rPr lang="en-US" dirty="0"/>
                  <a:t> student = yes</a:t>
                </a:r>
                <a:br>
                  <a:rPr lang="en-US" dirty="0"/>
                </a:br>
                <a:r>
                  <a:rPr lang="en-US" b="1" dirty="0"/>
                  <a:t>THEN</a:t>
                </a:r>
                <a:r>
                  <a:rPr lang="en-US" dirty="0"/>
                  <a:t> </a:t>
                </a:r>
                <a:r>
                  <a:rPr lang="en-US" dirty="0" err="1"/>
                  <a:t>buys_computer</a:t>
                </a:r>
                <a:r>
                  <a:rPr lang="en-US" dirty="0"/>
                  <a:t> = yes</a:t>
                </a:r>
              </a:p>
              <a:p>
                <a:r>
                  <a:rPr lang="en-US" b="1" dirty="0"/>
                  <a:t>Rule parts</a:t>
                </a:r>
              </a:p>
              <a:p>
                <a:r>
                  <a:rPr lang="en-US" b="1" dirty="0"/>
                  <a:t>Antecedent / precondition</a:t>
                </a:r>
                <a:r>
                  <a:rPr lang="en-US" dirty="0"/>
                  <a:t> = IF part</a:t>
                </a:r>
              </a:p>
              <a:p>
                <a:r>
                  <a:rPr lang="en-US" b="1" dirty="0"/>
                  <a:t>Consequent</a:t>
                </a:r>
                <a:r>
                  <a:rPr lang="en-US" dirty="0"/>
                  <a:t> = THEN part</a:t>
                </a:r>
              </a:p>
              <a:p>
                <a:r>
                  <a:rPr lang="en-US" b="1" dirty="0"/>
                  <a:t>Rule evaluation</a:t>
                </a:r>
              </a:p>
              <a:p>
                <a:r>
                  <a:rPr lang="en-US" b="1" dirty="0"/>
                  <a:t>Coverage</a:t>
                </a:r>
                <a:r>
                  <a:rPr lang="en-US" dirty="0"/>
                  <a:t> = how many tuples the rule applies to</a:t>
                </a:r>
              </a:p>
              <a:p>
                <a:r>
                  <a:rPr lang="en-US" b="1" dirty="0"/>
                  <a:t>Accuracy</a:t>
                </a:r>
                <a:r>
                  <a:rPr lang="en-US" dirty="0"/>
                  <a:t> = how many of those tuples are classified correctly</a:t>
                </a:r>
              </a:p>
              <a:p>
                <a:r>
                  <a:rPr lang="en-US" b="1" dirty="0"/>
                  <a:t>Formulas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𝑐𝑜𝑣𝑒𝑟𝑠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number of tuples covered by rule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𝑐𝑜𝑟𝑟𝑒𝑐𝑡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number of tuples correctly classified by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𝑐𝑜𝑣𝑒𝑟𝑎𝑔𝑒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𝑐𝑜𝑣𝑒𝑟𝑠</m:t>
                              </m:r>
                            </m:sub>
                          </m:sSub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𝑎𝑐𝑐𝑢𝑟𝑎𝑐𝑦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𝑐𝑜𝑟𝑟𝑒𝑐𝑡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𝑐𝑜𝑣𝑒𝑟𝑠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𝐷</m:t>
                    </m:r>
                  </m:oMath>
                </a14:m>
                <a:r>
                  <a:rPr lang="en-US" dirty="0"/>
                  <a:t>is the training dataset.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698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Using IF-THEN Rules for Classification</a:t>
                </a:r>
              </a:p>
              <a:p>
                <a:r>
                  <a:rPr lang="en-US" dirty="0"/>
                  <a:t>Knowledge can be written as </a:t>
                </a:r>
                <a:r>
                  <a:rPr lang="en-US" b="1" dirty="0"/>
                  <a:t>IF-THEN rules</a:t>
                </a:r>
                <a:endParaRPr lang="en-US" dirty="0"/>
              </a:p>
              <a:p>
                <a:r>
                  <a:rPr lang="en-US" b="1" dirty="0"/>
                  <a:t>Example rule</a:t>
                </a:r>
              </a:p>
              <a:p>
                <a:r>
                  <a:rPr lang="en-US" b="1" dirty="0"/>
                  <a:t>IF</a:t>
                </a:r>
                <a:r>
                  <a:rPr lang="en-US" dirty="0"/>
                  <a:t> age = youth </a:t>
                </a:r>
                <a:r>
                  <a:rPr lang="en-US" b="1" dirty="0"/>
                  <a:t>AND</a:t>
                </a:r>
                <a:r>
                  <a:rPr lang="en-US" dirty="0"/>
                  <a:t> student = yes</a:t>
                </a:r>
                <a:br>
                  <a:rPr lang="en-US" dirty="0"/>
                </a:br>
                <a:r>
                  <a:rPr lang="en-US" b="1" dirty="0"/>
                  <a:t>THEN</a:t>
                </a:r>
                <a:r>
                  <a:rPr lang="en-US" dirty="0"/>
                  <a:t> </a:t>
                </a:r>
                <a:r>
                  <a:rPr lang="en-US" dirty="0" err="1"/>
                  <a:t>buys_computer</a:t>
                </a:r>
                <a:r>
                  <a:rPr lang="en-US" dirty="0"/>
                  <a:t> = yes</a:t>
                </a:r>
              </a:p>
              <a:p>
                <a:r>
                  <a:rPr lang="en-US" b="1" dirty="0"/>
                  <a:t>Rule parts</a:t>
                </a:r>
              </a:p>
              <a:p>
                <a:r>
                  <a:rPr lang="en-US" b="1" dirty="0"/>
                  <a:t>Antecedent / precondition</a:t>
                </a:r>
                <a:r>
                  <a:rPr lang="en-US" dirty="0"/>
                  <a:t> = IF part</a:t>
                </a:r>
              </a:p>
              <a:p>
                <a:r>
                  <a:rPr lang="en-US" b="1" dirty="0"/>
                  <a:t>Consequent</a:t>
                </a:r>
                <a:r>
                  <a:rPr lang="en-US" dirty="0"/>
                  <a:t> = THEN part</a:t>
                </a:r>
              </a:p>
              <a:p>
                <a:r>
                  <a:rPr lang="en-US" b="1" dirty="0"/>
                  <a:t>Rule evaluation</a:t>
                </a:r>
              </a:p>
              <a:p>
                <a:r>
                  <a:rPr lang="en-US" b="1" dirty="0"/>
                  <a:t>Coverage</a:t>
                </a:r>
                <a:r>
                  <a:rPr lang="en-US" dirty="0"/>
                  <a:t> = how many tuples the rule applies to</a:t>
                </a:r>
              </a:p>
              <a:p>
                <a:r>
                  <a:rPr lang="en-US" b="1" dirty="0"/>
                  <a:t>Accuracy</a:t>
                </a:r>
                <a:r>
                  <a:rPr lang="en-US" dirty="0"/>
                  <a:t> = how many of those tuples are classified correctly</a:t>
                </a:r>
              </a:p>
              <a:p>
                <a:r>
                  <a:rPr lang="en-US" b="1" dirty="0"/>
                  <a:t>Formulas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𝑛_𝑐𝑜𝑣𝑒𝑟𝑠</a:t>
                </a:r>
                <a:r>
                  <a:rPr lang="ar-AE" dirty="0"/>
                  <a:t>= </a:t>
                </a:r>
                <a:r>
                  <a:rPr lang="en-US" dirty="0"/>
                  <a:t>number of tuples covered by rule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𝑛_𝑐𝑜𝑟𝑟𝑒𝑐𝑡</a:t>
                </a:r>
                <a:r>
                  <a:rPr lang="ar-AE" dirty="0"/>
                  <a:t>= </a:t>
                </a:r>
                <a:r>
                  <a:rPr lang="en-US" dirty="0"/>
                  <a:t>number of tuples correctly classified by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𝑐𝑜𝑣𝑒𝑟𝑎𝑔𝑒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(𝑅)=𝑛_𝑐𝑜𝑣𝑒𝑟𝑠/(∣𝐷∣)</a:t>
                </a:r>
                <a:endParaRPr lang="ar-AE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𝑎𝑐𝑐𝑢𝑟𝑎𝑐𝑦(𝑅)=𝑛_𝑐𝑜𝑟𝑟𝑒𝑐𝑡/𝑛_𝑐𝑜𝑣𝑒𝑟𝑠 </a:t>
                </a:r>
                <a:endParaRPr lang="ar-AE" dirty="0"/>
              </a:p>
              <a:p>
                <a:r>
                  <a:rPr lang="en-US" dirty="0"/>
                  <a:t>Here,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</a:t>
                </a:r>
                <a:r>
                  <a:rPr lang="en-US" dirty="0"/>
                  <a:t>is the training dataset.</a:t>
                </a:r>
              </a:p>
              <a:p>
                <a:endParaRPr 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BAD93E-0585-4190-B3DD-9FF28A2E0DF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Using IF-THEN Rules for Prediction</a:t>
            </a:r>
          </a:p>
          <a:p>
            <a:r>
              <a:rPr lang="en-US" dirty="0"/>
              <a:t>To predict the class of tuple </a:t>
            </a:r>
            <a:r>
              <a:rPr lang="en-US" b="1" dirty="0"/>
              <a:t>X</a:t>
            </a:r>
            <a:r>
              <a:rPr lang="en-US" dirty="0"/>
              <a:t>, check which rule conditions are satisfied</a:t>
            </a:r>
          </a:p>
          <a:p>
            <a:r>
              <a:rPr lang="en-US" b="1" dirty="0"/>
              <a:t>Important terms</a:t>
            </a:r>
          </a:p>
          <a:p>
            <a:r>
              <a:rPr lang="en-US" b="1" dirty="0"/>
              <a:t>Triggered rule</a:t>
            </a:r>
            <a:r>
              <a:rPr lang="en-US" dirty="0"/>
              <a:t> = a rule whose condition matches X</a:t>
            </a:r>
          </a:p>
          <a:p>
            <a:r>
              <a:rPr lang="en-US" b="1" dirty="0"/>
              <a:t>Firing rule</a:t>
            </a:r>
            <a:r>
              <a:rPr lang="en-US" dirty="0"/>
              <a:t> = a rule that actually gives the class prediction</a:t>
            </a:r>
          </a:p>
          <a:p>
            <a:r>
              <a:rPr lang="en-US" b="1" dirty="0"/>
              <a:t>Cases</a:t>
            </a:r>
          </a:p>
          <a:p>
            <a:r>
              <a:rPr lang="en-US" dirty="0"/>
              <a:t>If </a:t>
            </a:r>
            <a:r>
              <a:rPr lang="en-US" b="1" dirty="0"/>
              <a:t>only one rule</a:t>
            </a:r>
            <a:r>
              <a:rPr lang="en-US" dirty="0"/>
              <a:t> is satisfied, that rule </a:t>
            </a:r>
            <a:r>
              <a:rPr lang="en-US" b="1" dirty="0"/>
              <a:t>fires</a:t>
            </a:r>
            <a:r>
              <a:rPr lang="en-US" dirty="0"/>
              <a:t> and predicts the class</a:t>
            </a:r>
          </a:p>
          <a:p>
            <a:r>
              <a:rPr lang="en-US" dirty="0"/>
              <a:t>More than one rule may be </a:t>
            </a:r>
            <a:r>
              <a:rPr lang="en-US" b="1" dirty="0"/>
              <a:t>triggered</a:t>
            </a:r>
            <a:endParaRPr lang="en-US" dirty="0"/>
          </a:p>
          <a:p>
            <a:r>
              <a:rPr lang="en-US" dirty="0"/>
              <a:t>So, </a:t>
            </a:r>
            <a:r>
              <a:rPr lang="en-US" b="1" dirty="0"/>
              <a:t>triggering is not always the same as firing</a:t>
            </a:r>
            <a:endParaRPr lang="en-US" dirty="0"/>
          </a:p>
          <a:p>
            <a:r>
              <a:rPr lang="en-US" b="1" dirty="0"/>
              <a:t>Problems</a:t>
            </a:r>
          </a:p>
          <a:p>
            <a:r>
              <a:rPr lang="en-US" b="1" dirty="0"/>
              <a:t>If no rule matches X</a:t>
            </a:r>
            <a:endParaRPr lang="en-US" dirty="0"/>
          </a:p>
          <a:p>
            <a:pPr lvl="1"/>
            <a:r>
              <a:rPr lang="en-US" dirty="0"/>
              <a:t>Use a </a:t>
            </a:r>
            <a:r>
              <a:rPr lang="en-US" b="1" dirty="0"/>
              <a:t>default rule</a:t>
            </a:r>
            <a:endParaRPr lang="en-US" dirty="0"/>
          </a:p>
          <a:p>
            <a:pPr lvl="1"/>
            <a:r>
              <a:rPr lang="en-US" dirty="0"/>
              <a:t>Example: predict the </a:t>
            </a:r>
            <a:r>
              <a:rPr lang="en-US" b="1" dirty="0"/>
              <a:t>most frequent class</a:t>
            </a:r>
            <a:endParaRPr lang="en-US" dirty="0"/>
          </a:p>
          <a:p>
            <a:r>
              <a:rPr lang="en-US" b="1" dirty="0"/>
              <a:t>If multiple rules match X</a:t>
            </a:r>
            <a:endParaRPr lang="en-US" dirty="0"/>
          </a:p>
          <a:p>
            <a:pPr lvl="1"/>
            <a:r>
              <a:rPr lang="en-US" dirty="0"/>
              <a:t>Different rules may predict </a:t>
            </a:r>
            <a:r>
              <a:rPr lang="en-US" b="1" dirty="0"/>
              <a:t>different classes</a:t>
            </a:r>
            <a:endParaRPr lang="en-US" dirty="0"/>
          </a:p>
          <a:p>
            <a:pPr lvl="1"/>
            <a:r>
              <a:rPr lang="en-US" dirty="0"/>
              <a:t>Then a conflict resolution method is needed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BAD93E-0585-4190-B3DD-9FF28A2E0DF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b="1" dirty="0"/>
                  <a:t>Conflict Resolution in IF-THEN Rules</a:t>
                </a:r>
              </a:p>
              <a:p>
                <a:r>
                  <a:rPr lang="en-US" dirty="0"/>
                  <a:t>Given: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age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youth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student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yes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income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low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Two rules are triggered:</a:t>
                </a:r>
              </a:p>
              <a:p>
                <a:r>
                  <a:rPr lang="en-US" b="1" dirty="0"/>
                  <a:t>R1:</a:t>
                </a:r>
                <a:r>
                  <a:rPr lang="en-US" dirty="0"/>
                  <a:t> IF age = youth AND student = yes THEN </a:t>
                </a:r>
                <a:r>
                  <a:rPr lang="en-US" dirty="0" err="1"/>
                  <a:t>buys_computer</a:t>
                </a:r>
                <a:r>
                  <a:rPr lang="en-US" dirty="0"/>
                  <a:t> = yes</a:t>
                </a:r>
              </a:p>
              <a:p>
                <a:r>
                  <a:rPr lang="en-US" b="1" dirty="0"/>
                  <a:t>R2:</a:t>
                </a:r>
                <a:r>
                  <a:rPr lang="en-US" dirty="0"/>
                  <a:t> IF income = low THEN </a:t>
                </a:r>
                <a:r>
                  <a:rPr lang="en-US" dirty="0" err="1"/>
                  <a:t>buys_computer</a:t>
                </a:r>
                <a:r>
                  <a:rPr lang="en-US" dirty="0"/>
                  <a:t> = no</a:t>
                </a:r>
              </a:p>
              <a:p>
                <a:r>
                  <a:rPr lang="en-US" dirty="0"/>
                  <a:t>Since both rules match but predict </a:t>
                </a:r>
                <a:r>
                  <a:rPr lang="en-US" b="1" dirty="0"/>
                  <a:t>different classes</a:t>
                </a:r>
                <a:r>
                  <a:rPr lang="en-US" dirty="0"/>
                  <a:t>, we need a </a:t>
                </a:r>
                <a:r>
                  <a:rPr lang="en-US" b="1" dirty="0"/>
                  <a:t>conflict resolution strategy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Common approaches</a:t>
                </a:r>
              </a:p>
              <a:p>
                <a:r>
                  <a:rPr lang="en-US" b="1" dirty="0"/>
                  <a:t>Size ordering approach</a:t>
                </a:r>
                <a:endParaRPr lang="en-US" dirty="0"/>
              </a:p>
              <a:p>
                <a:pPr lvl="1"/>
                <a:r>
                  <a:rPr lang="en-US" dirty="0"/>
                  <a:t>Give priority to the rule with the </a:t>
                </a:r>
                <a:r>
                  <a:rPr lang="en-US" b="1" dirty="0"/>
                  <a:t>tougher / more specific condition</a:t>
                </a:r>
                <a:endParaRPr lang="en-US" dirty="0"/>
              </a:p>
              <a:p>
                <a:pPr lvl="1"/>
                <a:r>
                  <a:rPr lang="en-US" dirty="0"/>
                  <a:t>Toughness is measured by the </a:t>
                </a:r>
                <a:r>
                  <a:rPr lang="en-US" b="1" dirty="0"/>
                  <a:t>number of conditions in the antecedent</a:t>
                </a:r>
                <a:endParaRPr lang="en-US" dirty="0"/>
              </a:p>
              <a:p>
                <a:pPr lvl="1"/>
                <a:r>
                  <a:rPr lang="en-US" dirty="0"/>
                  <a:t>So the rule with </a:t>
                </a:r>
                <a:r>
                  <a:rPr lang="en-US" b="1" dirty="0"/>
                  <a:t>more attribute tests</a:t>
                </a:r>
                <a:r>
                  <a:rPr lang="en-US" dirty="0"/>
                  <a:t> is fired</a:t>
                </a:r>
              </a:p>
              <a:p>
                <a:pPr lvl="1"/>
                <a:r>
                  <a:rPr lang="en-US" dirty="0"/>
                  <a:t>Here, </a:t>
                </a:r>
                <a:r>
                  <a:rPr lang="en-US" b="1" dirty="0"/>
                  <a:t>R1</a:t>
                </a:r>
                <a:r>
                  <a:rPr lang="en-US" dirty="0"/>
                  <a:t> is stronger than </a:t>
                </a:r>
                <a:r>
                  <a:rPr lang="en-US" b="1" dirty="0"/>
                  <a:t>R2</a:t>
                </a:r>
                <a:r>
                  <a:rPr lang="en-US" dirty="0"/>
                  <a:t>, because R1 has 2 conditions, R2 has 1</a:t>
                </a:r>
              </a:p>
              <a:p>
                <a:r>
                  <a:rPr lang="en-US" b="1" dirty="0"/>
                  <a:t>Rule ordering approach</a:t>
                </a:r>
                <a:endParaRPr lang="en-US" dirty="0"/>
              </a:p>
              <a:p>
                <a:pPr lvl="1"/>
                <a:r>
                  <a:rPr lang="en-US" dirty="0"/>
                  <a:t>Rules are prioritized </a:t>
                </a:r>
                <a:r>
                  <a:rPr lang="en-US" b="1" dirty="0"/>
                  <a:t>beforehand</a:t>
                </a:r>
                <a:endParaRPr lang="en-US" dirty="0"/>
              </a:p>
              <a:p>
                <a:pPr lvl="1"/>
                <a:r>
                  <a:rPr lang="en-US" dirty="0"/>
                  <a:t>The higher-priority rule is fired</a:t>
                </a:r>
              </a:p>
              <a:p>
                <a:pPr lvl="1"/>
                <a:r>
                  <a:rPr lang="en-US" dirty="0"/>
                  <a:t>Ordering can be:</a:t>
                </a:r>
              </a:p>
              <a:p>
                <a:pPr lvl="2"/>
                <a:r>
                  <a:rPr lang="en-US" b="1" dirty="0"/>
                  <a:t>Class-based ordering</a:t>
                </a:r>
                <a:endParaRPr lang="en-US" dirty="0"/>
              </a:p>
              <a:p>
                <a:pPr lvl="2"/>
                <a:r>
                  <a:rPr lang="en-US" b="1" dirty="0"/>
                  <a:t>Rule-based ordering</a:t>
                </a:r>
                <a:endParaRPr lang="en-US" dirty="0"/>
              </a:p>
              <a:p>
                <a:r>
                  <a:rPr lang="en-US" b="1" dirty="0"/>
                  <a:t>Main idea</a:t>
                </a:r>
              </a:p>
              <a:p>
                <a:r>
                  <a:rPr lang="en-US" dirty="0"/>
                  <a:t>When multiple rules match one tuple, choose the rule by </a:t>
                </a:r>
                <a:r>
                  <a:rPr lang="en-US" b="1" dirty="0"/>
                  <a:t>specificity</a:t>
                </a:r>
                <a:r>
                  <a:rPr lang="en-US" dirty="0"/>
                  <a:t> or by </a:t>
                </a:r>
                <a:r>
                  <a:rPr lang="en-US" b="1" dirty="0"/>
                  <a:t>predefined priority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698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b="1" dirty="0" err="1"/>
                  <a:t>onflict</a:t>
                </a:r>
                <a:r>
                  <a:rPr lang="en-US" b="1" dirty="0"/>
                  <a:t> Resolution in IF-THEN Rules</a:t>
                </a:r>
              </a:p>
              <a:p>
                <a:r>
                  <a:rPr lang="en-US" dirty="0"/>
                  <a:t>Given: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"age=youth, student=yes, income=low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)</a:t>
                </a:r>
                <a:endParaRPr lang="ar-AE" dirty="0"/>
              </a:p>
              <a:p>
                <a:r>
                  <a:rPr lang="en-US" dirty="0"/>
                  <a:t>Two rules are triggered:</a:t>
                </a:r>
              </a:p>
              <a:p>
                <a:r>
                  <a:rPr lang="en-US" b="1" dirty="0"/>
                  <a:t>R1:</a:t>
                </a:r>
                <a:r>
                  <a:rPr lang="en-US" dirty="0"/>
                  <a:t> IF age = youth AND student = yes THEN </a:t>
                </a:r>
                <a:r>
                  <a:rPr lang="en-US" dirty="0" err="1"/>
                  <a:t>buys_computer</a:t>
                </a:r>
                <a:r>
                  <a:rPr lang="en-US" dirty="0"/>
                  <a:t> = yes</a:t>
                </a:r>
              </a:p>
              <a:p>
                <a:r>
                  <a:rPr lang="en-US" b="1" dirty="0"/>
                  <a:t>R2:</a:t>
                </a:r>
                <a:r>
                  <a:rPr lang="en-US" dirty="0"/>
                  <a:t> IF income = low THEN </a:t>
                </a:r>
                <a:r>
                  <a:rPr lang="en-US" dirty="0" err="1"/>
                  <a:t>buys_computer</a:t>
                </a:r>
                <a:r>
                  <a:rPr lang="en-US" dirty="0"/>
                  <a:t> = no</a:t>
                </a:r>
              </a:p>
              <a:p>
                <a:r>
                  <a:rPr lang="en-US" dirty="0"/>
                  <a:t>Since both rules match but predict </a:t>
                </a:r>
                <a:r>
                  <a:rPr lang="en-US" b="1" dirty="0"/>
                  <a:t>different classes</a:t>
                </a:r>
                <a:r>
                  <a:rPr lang="en-US" dirty="0"/>
                  <a:t>, we need a </a:t>
                </a:r>
                <a:r>
                  <a:rPr lang="en-US" b="1" dirty="0"/>
                  <a:t>conflict resolution strategy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Common approaches</a:t>
                </a:r>
              </a:p>
              <a:p>
                <a:r>
                  <a:rPr lang="en-US" b="1" dirty="0"/>
                  <a:t>Size ordering approach</a:t>
                </a:r>
                <a:endParaRPr lang="en-US" dirty="0"/>
              </a:p>
              <a:p>
                <a:pPr lvl="1"/>
                <a:r>
                  <a:rPr lang="en-US" dirty="0"/>
                  <a:t>Give priority to the rule with the </a:t>
                </a:r>
                <a:r>
                  <a:rPr lang="en-US" b="1" dirty="0"/>
                  <a:t>tougher / more specific condition</a:t>
                </a:r>
                <a:endParaRPr lang="en-US" dirty="0"/>
              </a:p>
              <a:p>
                <a:pPr lvl="1"/>
                <a:r>
                  <a:rPr lang="en-US" dirty="0"/>
                  <a:t>Toughness is measured by the </a:t>
                </a:r>
                <a:r>
                  <a:rPr lang="en-US" b="1" dirty="0"/>
                  <a:t>number of conditions in the antecedent</a:t>
                </a:r>
                <a:endParaRPr lang="en-US" dirty="0"/>
              </a:p>
              <a:p>
                <a:pPr lvl="1"/>
                <a:r>
                  <a:rPr lang="en-US" dirty="0"/>
                  <a:t>So the rule with </a:t>
                </a:r>
                <a:r>
                  <a:rPr lang="en-US" b="1" dirty="0"/>
                  <a:t>more attribute tests</a:t>
                </a:r>
                <a:r>
                  <a:rPr lang="en-US" dirty="0"/>
                  <a:t> is fired</a:t>
                </a:r>
              </a:p>
              <a:p>
                <a:pPr lvl="1"/>
                <a:r>
                  <a:rPr lang="en-US" dirty="0"/>
                  <a:t>Here, </a:t>
                </a:r>
                <a:r>
                  <a:rPr lang="en-US" b="1" dirty="0"/>
                  <a:t>R1</a:t>
                </a:r>
                <a:r>
                  <a:rPr lang="en-US" dirty="0"/>
                  <a:t> is stronger than </a:t>
                </a:r>
                <a:r>
                  <a:rPr lang="en-US" b="1" dirty="0"/>
                  <a:t>R2</a:t>
                </a:r>
                <a:r>
                  <a:rPr lang="en-US" dirty="0"/>
                  <a:t>, because R1 has 2 conditions, R2 has 1</a:t>
                </a:r>
              </a:p>
              <a:p>
                <a:r>
                  <a:rPr lang="en-US" b="1" dirty="0"/>
                  <a:t>Rule ordering approach</a:t>
                </a:r>
                <a:endParaRPr lang="en-US" dirty="0"/>
              </a:p>
              <a:p>
                <a:pPr lvl="1"/>
                <a:r>
                  <a:rPr lang="en-US" dirty="0"/>
                  <a:t>Rules are prioritized </a:t>
                </a:r>
                <a:r>
                  <a:rPr lang="en-US" b="1" dirty="0"/>
                  <a:t>beforehand</a:t>
                </a:r>
                <a:endParaRPr lang="en-US" dirty="0"/>
              </a:p>
              <a:p>
                <a:pPr lvl="1"/>
                <a:r>
                  <a:rPr lang="en-US" dirty="0"/>
                  <a:t>The higher-priority rule is fired</a:t>
                </a:r>
              </a:p>
              <a:p>
                <a:pPr lvl="1"/>
                <a:r>
                  <a:rPr lang="en-US" dirty="0"/>
                  <a:t>Ordering can be:</a:t>
                </a:r>
              </a:p>
              <a:p>
                <a:pPr lvl="2"/>
                <a:r>
                  <a:rPr lang="en-US" b="1" dirty="0"/>
                  <a:t>Class-based ordering</a:t>
                </a:r>
                <a:endParaRPr lang="en-US" dirty="0"/>
              </a:p>
              <a:p>
                <a:pPr lvl="2"/>
                <a:r>
                  <a:rPr lang="en-US" b="1" dirty="0"/>
                  <a:t>Rule-based ordering</a:t>
                </a:r>
                <a:endParaRPr lang="en-US" dirty="0"/>
              </a:p>
              <a:p>
                <a:r>
                  <a:rPr lang="en-US" b="1" dirty="0"/>
                  <a:t>Main idea</a:t>
                </a:r>
              </a:p>
              <a:p>
                <a:r>
                  <a:rPr lang="en-US" dirty="0"/>
                  <a:t>When multiple rules match one tuple, choose the rule by </a:t>
                </a:r>
                <a:r>
                  <a:rPr lang="en-US" b="1" dirty="0"/>
                  <a:t>specificity</a:t>
                </a:r>
                <a:r>
                  <a:rPr lang="en-US" dirty="0"/>
                  <a:t> or by </a:t>
                </a:r>
                <a:r>
                  <a:rPr lang="en-US" b="1" dirty="0"/>
                  <a:t>predefined priority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F2E3DE-E42B-4183-92E5-06B890FA639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Rule Extraction from a Decision Tree</a:t>
            </a:r>
          </a:p>
          <a:p>
            <a:r>
              <a:rPr lang="en-US" dirty="0"/>
              <a:t>Rules are often </a:t>
            </a:r>
            <a:r>
              <a:rPr lang="en-US" b="1" dirty="0"/>
              <a:t>easier to understand</a:t>
            </a:r>
            <a:r>
              <a:rPr lang="en-US" dirty="0"/>
              <a:t> than a large decision tree</a:t>
            </a:r>
          </a:p>
          <a:p>
            <a:r>
              <a:rPr lang="en-US" dirty="0"/>
              <a:t>Create </a:t>
            </a:r>
            <a:r>
              <a:rPr lang="en-US" b="1" dirty="0"/>
              <a:t>one rule for each root-to-leaf path</a:t>
            </a:r>
            <a:endParaRPr lang="en-US" dirty="0"/>
          </a:p>
          <a:p>
            <a:r>
              <a:rPr lang="en-US" dirty="0"/>
              <a:t>Each condition along the path becomes an </a:t>
            </a:r>
            <a:r>
              <a:rPr lang="en-US" b="1" dirty="0"/>
              <a:t>AND conjunction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leaf node</a:t>
            </a:r>
            <a:r>
              <a:rPr lang="en-US" dirty="0"/>
              <a:t> gives the final </a:t>
            </a:r>
            <a:r>
              <a:rPr lang="en-US" b="1" dirty="0"/>
              <a:t>class prediction</a:t>
            </a:r>
            <a:endParaRPr lang="en-US" dirty="0"/>
          </a:p>
          <a:p>
            <a:r>
              <a:rPr lang="en-US" dirty="0"/>
              <a:t>The extracted rules are usually </a:t>
            </a:r>
            <a:r>
              <a:rPr lang="en-US" b="1" dirty="0"/>
              <a:t>mutually exclusive</a:t>
            </a:r>
            <a:r>
              <a:rPr lang="en-US" dirty="0"/>
              <a:t> and </a:t>
            </a:r>
            <a:r>
              <a:rPr lang="en-US" b="1" dirty="0"/>
              <a:t>exhaustive</a:t>
            </a:r>
            <a:endParaRPr lang="en-US" dirty="0"/>
          </a:p>
          <a:p>
            <a:pPr lvl="1"/>
            <a:r>
              <a:rPr lang="en-US" b="1" dirty="0"/>
              <a:t>Mutually exclusive:</a:t>
            </a:r>
            <a:r>
              <a:rPr lang="en-US" dirty="0"/>
              <a:t> one case matches only one rule</a:t>
            </a:r>
          </a:p>
          <a:p>
            <a:pPr lvl="1"/>
            <a:r>
              <a:rPr lang="en-US" b="1" dirty="0"/>
              <a:t>Exhaustive:</a:t>
            </a:r>
            <a:r>
              <a:rPr lang="en-US" dirty="0"/>
              <a:t> every case is covered by some rule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F2E3DE-E42B-4183-92E5-06B890FA639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359736-7B20-4309-B593-4C001D5DD98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Rule Induction: Sequential Covering Method</a:t>
            </a:r>
          </a:p>
          <a:p>
            <a:r>
              <a:rPr lang="en-US" b="1" dirty="0"/>
              <a:t>Sequential covering</a:t>
            </a:r>
            <a:r>
              <a:rPr lang="en-US" dirty="0"/>
              <a:t> learns rules </a:t>
            </a:r>
            <a:r>
              <a:rPr lang="en-US" b="1" dirty="0"/>
              <a:t>directly from training data</a:t>
            </a:r>
            <a:endParaRPr lang="en-US" dirty="0"/>
          </a:p>
          <a:p>
            <a:r>
              <a:rPr lang="en-US" dirty="0"/>
              <a:t>Rules are learned </a:t>
            </a:r>
            <a:r>
              <a:rPr lang="en-US" b="1" dirty="0"/>
              <a:t>one by one</a:t>
            </a:r>
            <a:r>
              <a:rPr lang="en-US" dirty="0"/>
              <a:t>, usually for a target class</a:t>
            </a:r>
          </a:p>
          <a:p>
            <a:r>
              <a:rPr lang="en-US" dirty="0"/>
              <a:t>Each rule should cover </a:t>
            </a:r>
            <a:r>
              <a:rPr lang="en-US" b="1" dirty="0"/>
              <a:t>many tuples of that class</a:t>
            </a:r>
            <a:r>
              <a:rPr lang="en-US" dirty="0"/>
              <a:t> and </a:t>
            </a:r>
            <a:r>
              <a:rPr lang="en-US" b="1" dirty="0"/>
              <a:t>few or none</a:t>
            </a:r>
            <a:r>
              <a:rPr lang="en-US" dirty="0"/>
              <a:t> from other classes</a:t>
            </a:r>
          </a:p>
          <a:p>
            <a:r>
              <a:rPr lang="en-US" b="1" dirty="0"/>
              <a:t>Steps</a:t>
            </a:r>
          </a:p>
          <a:p>
            <a:r>
              <a:rPr lang="en-US" dirty="0"/>
              <a:t>Learn </a:t>
            </a:r>
            <a:r>
              <a:rPr lang="en-US" b="1" dirty="0"/>
              <a:t>one rule</a:t>
            </a:r>
            <a:endParaRPr lang="en-US" dirty="0"/>
          </a:p>
          <a:p>
            <a:r>
              <a:rPr lang="en-US" dirty="0"/>
              <a:t>Remove the tuples </a:t>
            </a:r>
            <a:r>
              <a:rPr lang="en-US" b="1" dirty="0"/>
              <a:t>covered by that rule</a:t>
            </a:r>
            <a:endParaRPr lang="en-US" dirty="0"/>
          </a:p>
          <a:p>
            <a:r>
              <a:rPr lang="en-US" dirty="0"/>
              <a:t>Learn the next rule from the </a:t>
            </a:r>
            <a:r>
              <a:rPr lang="en-US" b="1" dirty="0"/>
              <a:t>remaining tuples</a:t>
            </a:r>
            <a:endParaRPr lang="en-US" dirty="0"/>
          </a:p>
          <a:p>
            <a:r>
              <a:rPr lang="en-US" dirty="0"/>
              <a:t>Repeat until a </a:t>
            </a:r>
            <a:r>
              <a:rPr lang="en-US" b="1" dirty="0"/>
              <a:t>stopping condition</a:t>
            </a:r>
            <a:r>
              <a:rPr lang="en-US" dirty="0"/>
              <a:t> is reached</a:t>
            </a:r>
          </a:p>
          <a:p>
            <a:pPr lvl="1"/>
            <a:r>
              <a:rPr lang="en-US" dirty="0"/>
              <a:t>no more training examples</a:t>
            </a:r>
          </a:p>
          <a:p>
            <a:pPr lvl="1"/>
            <a:r>
              <a:rPr lang="en-US" dirty="0"/>
              <a:t>or rule quality becomes too low</a:t>
            </a:r>
          </a:p>
          <a:p>
            <a:r>
              <a:rPr lang="en-US" b="1" dirty="0"/>
              <a:t>Main difference from decision tree</a:t>
            </a:r>
          </a:p>
          <a:p>
            <a:r>
              <a:rPr lang="en-US" b="1" dirty="0"/>
              <a:t>Sequential covering:</a:t>
            </a:r>
            <a:r>
              <a:rPr lang="en-US" dirty="0"/>
              <a:t> learns rules </a:t>
            </a:r>
            <a:r>
              <a:rPr lang="en-US" b="1" dirty="0"/>
              <a:t>sequentially</a:t>
            </a:r>
            <a:endParaRPr lang="en-US" dirty="0"/>
          </a:p>
          <a:p>
            <a:r>
              <a:rPr lang="en-US" b="1" dirty="0"/>
              <a:t>Decision tree induction:</a:t>
            </a:r>
            <a:r>
              <a:rPr lang="en-US" dirty="0"/>
              <a:t> learns a set of rules </a:t>
            </a:r>
            <a:r>
              <a:rPr lang="en-US" b="1" dirty="0"/>
              <a:t>simultaneously</a:t>
            </a:r>
            <a:r>
              <a:rPr lang="en-US" dirty="0"/>
              <a:t> through the tree structure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2BD25D-4CDA-4E46-B7F3-7ABFFA3F11D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10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>
                <a:normAutofit fontScale="32500" lnSpcReduction="20000"/>
              </a:bodyPr>
              <a:lstStyle/>
              <a:p>
                <a:r>
                  <a:rPr lang="en-US" b="1" dirty="0"/>
                  <a:t>How to Learn One Rule</a:t>
                </a:r>
              </a:p>
              <a:p>
                <a:r>
                  <a:rPr lang="en-US" dirty="0"/>
                  <a:t>Start with the </a:t>
                </a:r>
                <a:r>
                  <a:rPr lang="en-US" b="1" dirty="0"/>
                  <a:t>most general rule</a:t>
                </a:r>
                <a:endParaRPr lang="en-US" dirty="0"/>
              </a:p>
              <a:p>
                <a:pPr lvl="1"/>
                <a:r>
                  <a:rPr lang="en-US" dirty="0"/>
                  <a:t>condition is </a:t>
                </a:r>
                <a:r>
                  <a:rPr lang="en-US" b="1" dirty="0"/>
                  <a:t>empty</a:t>
                </a:r>
                <a:endParaRPr lang="en-US" dirty="0"/>
              </a:p>
              <a:p>
                <a:r>
                  <a:rPr lang="en-US" dirty="0"/>
                  <a:t>Then </a:t>
                </a:r>
                <a:r>
                  <a:rPr lang="en-US" b="1" dirty="0"/>
                  <a:t>add attributes one by one</a:t>
                </a:r>
                <a:endParaRPr lang="en-US" dirty="0"/>
              </a:p>
              <a:p>
                <a:pPr lvl="1"/>
                <a:r>
                  <a:rPr lang="en-US" dirty="0"/>
                  <a:t>use a </a:t>
                </a:r>
                <a:r>
                  <a:rPr lang="en-US" b="1" dirty="0"/>
                  <a:t>greedy depth-first strategy</a:t>
                </a:r>
                <a:endParaRPr lang="en-US" dirty="0"/>
              </a:p>
              <a:p>
                <a:pPr lvl="1"/>
                <a:r>
                  <a:rPr lang="en-US" dirty="0"/>
                  <a:t>at each step, choose the attribute that </a:t>
                </a:r>
                <a:r>
                  <a:rPr lang="en-US" b="1" dirty="0"/>
                  <a:t>improves rule quality the most</a:t>
                </a:r>
                <a:endParaRPr lang="en-US" dirty="0"/>
              </a:p>
              <a:p>
                <a:r>
                  <a:rPr lang="en-US" dirty="0"/>
                  <a:t>Rule quality considers both:</a:t>
                </a:r>
              </a:p>
              <a:p>
                <a:pPr lvl="1"/>
                <a:r>
                  <a:rPr lang="en-US" b="1" dirty="0"/>
                  <a:t>coverage</a:t>
                </a:r>
                <a:endParaRPr lang="en-US" dirty="0"/>
              </a:p>
              <a:p>
                <a:pPr lvl="1"/>
                <a:r>
                  <a:rPr lang="en-US" b="1" dirty="0"/>
                  <a:t>accuracy</a:t>
                </a:r>
                <a:endParaRPr lang="en-US" dirty="0"/>
              </a:p>
              <a:p>
                <a:r>
                  <a:rPr lang="en-US" dirty="0"/>
                  <a:t>A common measure is </a:t>
                </a:r>
                <a:r>
                  <a:rPr lang="en-US" b="1" dirty="0"/>
                  <a:t>FOIL-Gain</a:t>
                </a:r>
                <a:endParaRPr lang="en-US" dirty="0"/>
              </a:p>
              <a:p>
                <a:pPr lvl="1"/>
                <a:r>
                  <a:rPr lang="en-US" dirty="0"/>
                  <a:t>it measures how much the rule improves after adding a new condition</a:t>
                </a:r>
              </a:p>
              <a:p>
                <a:pPr lvl="1"/>
                <a:r>
                  <a:rPr lang="en-US" dirty="0"/>
                  <a:t>it favors rules that:</a:t>
                </a:r>
              </a:p>
              <a:p>
                <a:pPr lvl="2"/>
                <a:r>
                  <a:rPr lang="en-US" dirty="0"/>
                  <a:t>have </a:t>
                </a:r>
                <a:r>
                  <a:rPr lang="en-US" b="1" dirty="0"/>
                  <a:t>high accuracy</a:t>
                </a:r>
                <a:endParaRPr lang="en-US" dirty="0"/>
              </a:p>
              <a:p>
                <a:pPr lvl="2"/>
                <a:r>
                  <a:rPr lang="en-US" dirty="0"/>
                  <a:t>cover </a:t>
                </a:r>
                <a:r>
                  <a:rPr lang="en-US" b="1" dirty="0"/>
                  <a:t>many positive tuples</a:t>
                </a:r>
                <a:endParaRPr lang="en-US" dirty="0"/>
              </a:p>
              <a:p>
                <a:r>
                  <a:rPr lang="en-US" b="1" dirty="0"/>
                  <a:t>Main idea</a:t>
                </a:r>
              </a:p>
              <a:p>
                <a:r>
                  <a:rPr lang="en-US" dirty="0"/>
                  <a:t>Start with a broad rule, then keep making it more specific until it becomes a </a:t>
                </a:r>
                <a:r>
                  <a:rPr lang="en-US" b="1" dirty="0"/>
                  <a:t>good-quality rule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FOIL-Gain is calculated by comparing the rule </a:t>
                </a:r>
                <a:r>
                  <a:rPr lang="en-US" b="1" dirty="0"/>
                  <a:t>before</a:t>
                </a:r>
                <a:r>
                  <a:rPr lang="en-US" dirty="0"/>
                  <a:t> and </a:t>
                </a:r>
                <a:r>
                  <a:rPr lang="en-US" b="1" dirty="0"/>
                  <a:t>after</a:t>
                </a:r>
                <a:r>
                  <a:rPr lang="en-US" dirty="0"/>
                  <a:t> adding a new condition.</a:t>
                </a:r>
              </a:p>
              <a:p>
                <a:r>
                  <a:rPr lang="en-US" b="1" dirty="0"/>
                  <a:t>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𝐹𝑂𝐼𝐿</m:t>
                      </m:r>
                      <m:r>
                        <m:rPr>
                          <m:lit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𝐺𝑎𝑖𝑛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𝑝𝑜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log</m:t>
                                  </m:r>
                                </m:fName>
                                <m:e/>
                              </m:func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𝑝𝑜</m:t>
                              </m:r>
                              <m:sSup>
                                <m:sSup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′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𝑝𝑜</m:t>
                              </m:r>
                              <m:sSup>
                                <m:sSup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𝑛𝑒</m:t>
                              </m:r>
                              <m:sSup>
                                <m:sSup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′</m:t>
                                  </m:r>
                                </m:sup>
                              </m:sSup>
                            </m:den>
                          </m:f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log</m:t>
                                  </m:r>
                                </m:fName>
                                <m:e/>
                              </m:func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𝑝𝑜𝑠</m:t>
                              </m:r>
                            </m:num>
                            <m:den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𝑝𝑜𝑠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𝑛𝑒𝑔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b="1" dirty="0"/>
                  <a:t>Meaning of symbols</a:t>
                </a:r>
              </a:p>
              <a:p>
                <a:r>
                  <a:rPr lang="en-US" b="1" dirty="0"/>
                  <a:t>pos</a:t>
                </a:r>
                <a:r>
                  <a:rPr lang="en-US" dirty="0"/>
                  <a:t> = number of positive tuples covered by the </a:t>
                </a:r>
                <a:r>
                  <a:rPr lang="en-US" b="1" dirty="0"/>
                  <a:t>current rule</a:t>
                </a:r>
                <a:endParaRPr lang="en-US" dirty="0"/>
              </a:p>
              <a:p>
                <a:r>
                  <a:rPr lang="en-US" b="1" dirty="0"/>
                  <a:t>neg</a:t>
                </a:r>
                <a:r>
                  <a:rPr lang="en-US" dirty="0"/>
                  <a:t> = number of negative tuples covered by the </a:t>
                </a:r>
                <a:r>
                  <a:rPr lang="en-US" b="1" dirty="0"/>
                  <a:t>current rule</a:t>
                </a:r>
                <a:endParaRPr lang="en-US" dirty="0"/>
              </a:p>
              <a:p>
                <a:r>
                  <a:rPr lang="en-US" b="1" dirty="0" err="1"/>
                  <a:t>pos′</a:t>
                </a:r>
                <a:r>
                  <a:rPr lang="en-US" dirty="0"/>
                  <a:t> = number of positive tuples covered </a:t>
                </a:r>
                <a:r>
                  <a:rPr lang="en-US" b="1" dirty="0"/>
                  <a:t>after adding the new condition</a:t>
                </a:r>
                <a:endParaRPr lang="en-US" dirty="0"/>
              </a:p>
              <a:p>
                <a:r>
                  <a:rPr lang="en-US" b="1" dirty="0"/>
                  <a:t>neg′</a:t>
                </a:r>
                <a:r>
                  <a:rPr lang="en-US" dirty="0"/>
                  <a:t> = number of negative tuples covered </a:t>
                </a:r>
                <a:r>
                  <a:rPr lang="en-US" b="1" dirty="0"/>
                  <a:t>after adding the new condition</a:t>
                </a:r>
                <a:endParaRPr lang="en-US" dirty="0"/>
              </a:p>
              <a:p>
                <a:r>
                  <a:rPr lang="en-US" b="1" dirty="0"/>
                  <a:t>How to calculate step by step</a:t>
                </a:r>
              </a:p>
              <a:p>
                <a:r>
                  <a:rPr lang="en-US" dirty="0"/>
                  <a:t>Suppose current rule covers:</a:t>
                </a:r>
              </a:p>
              <a:p>
                <a:r>
                  <a:rPr lang="en-US" b="1" dirty="0"/>
                  <a:t>pos = 8</a:t>
                </a:r>
                <a:endParaRPr lang="en-US" dirty="0"/>
              </a:p>
              <a:p>
                <a:r>
                  <a:rPr lang="en-US" b="1" dirty="0"/>
                  <a:t>neg = 4</a:t>
                </a:r>
                <a:endParaRPr lang="en-US" dirty="0"/>
              </a:p>
              <a:p>
                <a:r>
                  <a:rPr lang="en-US" dirty="0"/>
                  <a:t>After adding a new condition, new rule covers:</a:t>
                </a:r>
              </a:p>
              <a:p>
                <a:r>
                  <a:rPr lang="en-US" b="1" dirty="0" err="1"/>
                  <a:t>pos′</a:t>
                </a:r>
                <a:r>
                  <a:rPr lang="en-US" b="1" dirty="0"/>
                  <a:t> = 6</a:t>
                </a:r>
                <a:endParaRPr lang="en-US" dirty="0"/>
              </a:p>
              <a:p>
                <a:r>
                  <a:rPr lang="en-US" b="1" dirty="0"/>
                  <a:t>neg′ = 1</a:t>
                </a:r>
                <a:endParaRPr lang="en-US" dirty="0"/>
              </a:p>
              <a:p>
                <a:r>
                  <a:rPr lang="en-US" dirty="0"/>
                  <a:t>Now calculate.</a:t>
                </a:r>
              </a:p>
              <a:p>
                <a:r>
                  <a:rPr lang="en-US" b="1" dirty="0"/>
                  <a:t>Step 1: Compute old positive ratio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𝑝𝑜𝑠</m:t>
                          </m:r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𝑝𝑜𝑠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𝑛𝑒𝑔</m:t>
                          </m:r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</m:t>
                          </m:r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</m:t>
                          </m:r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6667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b="1" dirty="0"/>
                  <a:t>Step 2: Compute new positive ratio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𝑛𝑒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</m:t>
                          </m:r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</m:t>
                          </m:r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8571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b="1" dirty="0"/>
                  <a:t>Step 3: Take log base 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8571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≈−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222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6667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≈−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585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b="1" dirty="0"/>
                  <a:t>Step 4: Subtract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222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585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363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b="1" dirty="0"/>
                  <a:t>Step 5: Multiply by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𝑝𝑜</m:t>
                    </m:r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′</m:t>
                        </m:r>
                      </m:sup>
                    </m:sSup>
                  </m:oMath>
                </a14:m>
                <a:endParaRPr lang="ar-AE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𝐹𝑂𝐼𝐿</m:t>
                      </m:r>
                      <m:r>
                        <m:rPr>
                          <m:lit/>
                        </m:rP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𝐺𝑎𝑖𝑛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363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178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b="1" dirty="0"/>
                  <a:t>Final answer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borderBox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𝐹𝑂𝐼𝐿</m:t>
                          </m:r>
                          <m:r>
                            <m:rPr>
                              <m:lit/>
                            </m:rP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_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𝐺𝑎𝑖𝑛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≈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18</m:t>
                          </m:r>
                        </m:e>
                      </m:borderBox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US" b="1" dirty="0"/>
                  <a:t>Interpretation</a:t>
                </a:r>
              </a:p>
              <a:p>
                <a:r>
                  <a:rPr lang="en-US" b="1" dirty="0"/>
                  <a:t>Higher FOIL-Gain</a:t>
                </a:r>
                <a:r>
                  <a:rPr lang="en-US" dirty="0"/>
                  <a:t> = better condition</a:t>
                </a:r>
              </a:p>
              <a:p>
                <a:r>
                  <a:rPr lang="en-US" dirty="0"/>
                  <a:t>It means the new condition:</a:t>
                </a:r>
              </a:p>
              <a:p>
                <a:pPr lvl="1"/>
                <a:r>
                  <a:rPr lang="en-US" dirty="0"/>
                  <a:t>improves rule accuracy</a:t>
                </a:r>
              </a:p>
              <a:p>
                <a:pPr lvl="1"/>
                <a:r>
                  <a:rPr lang="en-US" dirty="0"/>
                  <a:t>while still keeping enough positive examples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210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>
                <a:normAutofit fontScale="32500" lnSpcReduction="20000"/>
              </a:bodyPr>
              <a:lstStyle/>
              <a:p>
                <a:r>
                  <a:rPr lang="en-US" b="1" dirty="0"/>
                  <a:t>How to Learn One Rule</a:t>
                </a:r>
              </a:p>
              <a:p>
                <a:r>
                  <a:rPr lang="en-US" dirty="0"/>
                  <a:t>Start with the </a:t>
                </a:r>
                <a:r>
                  <a:rPr lang="en-US" b="1" dirty="0"/>
                  <a:t>most general rule</a:t>
                </a:r>
                <a:endParaRPr lang="en-US" dirty="0"/>
              </a:p>
              <a:p>
                <a:pPr lvl="1"/>
                <a:r>
                  <a:rPr lang="en-US" dirty="0"/>
                  <a:t>condition is </a:t>
                </a:r>
                <a:r>
                  <a:rPr lang="en-US" b="1" dirty="0"/>
                  <a:t>empty</a:t>
                </a:r>
                <a:endParaRPr lang="en-US" dirty="0"/>
              </a:p>
              <a:p>
                <a:r>
                  <a:rPr lang="en-US" dirty="0"/>
                  <a:t>Then </a:t>
                </a:r>
                <a:r>
                  <a:rPr lang="en-US" b="1" dirty="0"/>
                  <a:t>add attributes one by one</a:t>
                </a:r>
                <a:endParaRPr lang="en-US" dirty="0"/>
              </a:p>
              <a:p>
                <a:pPr lvl="1"/>
                <a:r>
                  <a:rPr lang="en-US" dirty="0"/>
                  <a:t>use a </a:t>
                </a:r>
                <a:r>
                  <a:rPr lang="en-US" b="1" dirty="0"/>
                  <a:t>greedy depth-first strategy</a:t>
                </a:r>
                <a:endParaRPr lang="en-US" dirty="0"/>
              </a:p>
              <a:p>
                <a:pPr lvl="1"/>
                <a:r>
                  <a:rPr lang="en-US" dirty="0"/>
                  <a:t>at each step, choose the attribute that </a:t>
                </a:r>
                <a:r>
                  <a:rPr lang="en-US" b="1" dirty="0"/>
                  <a:t>improves rule quality the most</a:t>
                </a:r>
                <a:endParaRPr lang="en-US" dirty="0"/>
              </a:p>
              <a:p>
                <a:r>
                  <a:rPr lang="en-US" dirty="0"/>
                  <a:t>Rule quality considers both:</a:t>
                </a:r>
              </a:p>
              <a:p>
                <a:pPr lvl="1"/>
                <a:r>
                  <a:rPr lang="en-US" b="1" dirty="0"/>
                  <a:t>coverage</a:t>
                </a:r>
                <a:endParaRPr lang="en-US" dirty="0"/>
              </a:p>
              <a:p>
                <a:pPr lvl="1"/>
                <a:r>
                  <a:rPr lang="en-US" b="1" dirty="0"/>
                  <a:t>accuracy</a:t>
                </a:r>
                <a:endParaRPr lang="en-US" dirty="0"/>
              </a:p>
              <a:p>
                <a:r>
                  <a:rPr lang="en-US" dirty="0"/>
                  <a:t>A common measure is </a:t>
                </a:r>
                <a:r>
                  <a:rPr lang="en-US" b="1" dirty="0"/>
                  <a:t>FOIL-Gain</a:t>
                </a:r>
                <a:endParaRPr lang="en-US" dirty="0"/>
              </a:p>
              <a:p>
                <a:pPr lvl="1"/>
                <a:r>
                  <a:rPr lang="en-US" dirty="0"/>
                  <a:t>it measures how much the rule improves after adding a new condition</a:t>
                </a:r>
              </a:p>
              <a:p>
                <a:pPr lvl="1"/>
                <a:r>
                  <a:rPr lang="en-US" dirty="0"/>
                  <a:t>it favors rules that:</a:t>
                </a:r>
              </a:p>
              <a:p>
                <a:pPr lvl="2"/>
                <a:r>
                  <a:rPr lang="en-US" dirty="0"/>
                  <a:t>have </a:t>
                </a:r>
                <a:r>
                  <a:rPr lang="en-US" b="1" dirty="0"/>
                  <a:t>high accuracy</a:t>
                </a:r>
                <a:endParaRPr lang="en-US" dirty="0"/>
              </a:p>
              <a:p>
                <a:pPr lvl="2"/>
                <a:r>
                  <a:rPr lang="en-US" dirty="0"/>
                  <a:t>cover </a:t>
                </a:r>
                <a:r>
                  <a:rPr lang="en-US" b="1" dirty="0"/>
                  <a:t>many positive tuples</a:t>
                </a:r>
                <a:endParaRPr lang="en-US" dirty="0"/>
              </a:p>
              <a:p>
                <a:r>
                  <a:rPr lang="en-US" b="1" dirty="0"/>
                  <a:t>Main idea</a:t>
                </a:r>
              </a:p>
              <a:p>
                <a:r>
                  <a:rPr lang="en-US" dirty="0"/>
                  <a:t>Start with a broad rule, then keep making it more specific until it becomes a </a:t>
                </a:r>
                <a:r>
                  <a:rPr lang="en-US" b="1" dirty="0"/>
                  <a:t>good-quality rule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FOIL-Gain is calculated by comparing the rule </a:t>
                </a:r>
                <a:r>
                  <a:rPr lang="en-US" b="1" dirty="0"/>
                  <a:t>before</a:t>
                </a:r>
                <a:r>
                  <a:rPr lang="en-US" dirty="0"/>
                  <a:t> and </a:t>
                </a:r>
                <a:r>
                  <a:rPr lang="en-US" b="1" dirty="0"/>
                  <a:t>after</a:t>
                </a:r>
                <a:r>
                  <a:rPr lang="en-US" dirty="0"/>
                  <a:t> adding a new condition.</a:t>
                </a:r>
              </a:p>
              <a:p>
                <a:r>
                  <a:rPr lang="en-US" b="1" dirty="0"/>
                  <a:t>Formula</a:t>
                </a:r>
              </a:p>
              <a:p>
                <a:pPr/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𝐹𝑂𝐼𝐿\_𝐺𝑎𝑖𝑛=𝑝𝑜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𝑠^′×(〖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log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⁡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〗_2  (𝑝𝑜𝑠^′)/(𝑝𝑜𝑠^′+𝑛𝑒𝑔^′ )−〖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log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⁡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〗_2  𝑝𝑜𝑠/(𝑝𝑜𝑠+𝑛𝑒𝑔))</a:t>
                </a:r>
                <a:endParaRPr lang="ar-AE" dirty="0"/>
              </a:p>
              <a:p>
                <a:r>
                  <a:rPr lang="en-US" b="1" dirty="0"/>
                  <a:t>Meaning of symbols</a:t>
                </a:r>
              </a:p>
              <a:p>
                <a:r>
                  <a:rPr lang="en-US" b="1" dirty="0"/>
                  <a:t>pos</a:t>
                </a:r>
                <a:r>
                  <a:rPr lang="en-US" dirty="0"/>
                  <a:t> = number of positive tuples covered by the </a:t>
                </a:r>
                <a:r>
                  <a:rPr lang="en-US" b="1" dirty="0"/>
                  <a:t>current rule</a:t>
                </a:r>
                <a:endParaRPr lang="en-US" dirty="0"/>
              </a:p>
              <a:p>
                <a:r>
                  <a:rPr lang="en-US" b="1" dirty="0"/>
                  <a:t>neg</a:t>
                </a:r>
                <a:r>
                  <a:rPr lang="en-US" dirty="0"/>
                  <a:t> = number of negative tuples covered by the </a:t>
                </a:r>
                <a:r>
                  <a:rPr lang="en-US" b="1" dirty="0"/>
                  <a:t>current rule</a:t>
                </a:r>
                <a:endParaRPr lang="en-US" dirty="0"/>
              </a:p>
              <a:p>
                <a:r>
                  <a:rPr lang="en-US" b="1" dirty="0" err="1"/>
                  <a:t>pos′</a:t>
                </a:r>
                <a:r>
                  <a:rPr lang="en-US" dirty="0"/>
                  <a:t> = number of positive tuples covered </a:t>
                </a:r>
                <a:r>
                  <a:rPr lang="en-US" b="1" dirty="0"/>
                  <a:t>after adding the new condition</a:t>
                </a:r>
                <a:endParaRPr lang="en-US" dirty="0"/>
              </a:p>
              <a:p>
                <a:r>
                  <a:rPr lang="en-US" b="1" dirty="0"/>
                  <a:t>neg′</a:t>
                </a:r>
                <a:r>
                  <a:rPr lang="en-US" dirty="0"/>
                  <a:t> = number of negative tuples covered </a:t>
                </a:r>
                <a:r>
                  <a:rPr lang="en-US" b="1" dirty="0"/>
                  <a:t>after adding the new condition</a:t>
                </a:r>
                <a:endParaRPr lang="en-US" dirty="0"/>
              </a:p>
              <a:p>
                <a:r>
                  <a:rPr lang="en-US" b="1" dirty="0"/>
                  <a:t>How to calculate step by step</a:t>
                </a:r>
              </a:p>
              <a:p>
                <a:r>
                  <a:rPr lang="en-US" dirty="0"/>
                  <a:t>Suppose current rule covers:</a:t>
                </a:r>
              </a:p>
              <a:p>
                <a:r>
                  <a:rPr lang="en-US" b="1" dirty="0"/>
                  <a:t>pos = 8</a:t>
                </a:r>
                <a:endParaRPr lang="en-US" dirty="0"/>
              </a:p>
              <a:p>
                <a:r>
                  <a:rPr lang="en-US" b="1" dirty="0"/>
                  <a:t>neg = 4</a:t>
                </a:r>
                <a:endParaRPr lang="en-US" dirty="0"/>
              </a:p>
              <a:p>
                <a:r>
                  <a:rPr lang="en-US" dirty="0"/>
                  <a:t>After adding a new condition, new rule covers:</a:t>
                </a:r>
              </a:p>
              <a:p>
                <a:r>
                  <a:rPr lang="en-US" b="1" dirty="0" err="1"/>
                  <a:t>pos′</a:t>
                </a:r>
                <a:r>
                  <a:rPr lang="en-US" b="1" dirty="0"/>
                  <a:t> = 6</a:t>
                </a:r>
                <a:endParaRPr lang="en-US" dirty="0"/>
              </a:p>
              <a:p>
                <a:r>
                  <a:rPr lang="en-US" b="1" dirty="0"/>
                  <a:t>neg′ = 1</a:t>
                </a:r>
                <a:endParaRPr lang="en-US" dirty="0"/>
              </a:p>
              <a:p>
                <a:r>
                  <a:rPr lang="en-US" dirty="0"/>
                  <a:t>Now calculate.</a:t>
                </a:r>
              </a:p>
              <a:p>
                <a:r>
                  <a:rPr lang="en-US" b="1" dirty="0"/>
                  <a:t>Step 1: Compute old positive ratio</a:t>
                </a:r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𝑝𝑜𝑠/(𝑝𝑜𝑠+𝑛𝑒𝑔)=8/(8+4)=8/12</a:t>
                </a:r>
                <a:endParaRPr lang="ar-AE" dirty="0"/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=0.6667</a:t>
                </a:r>
                <a:endParaRPr lang="ar-AE" dirty="0"/>
              </a:p>
              <a:p>
                <a:r>
                  <a:rPr lang="en-US" b="1" dirty="0"/>
                  <a:t>Step 2: Compute new positive ratio</a:t>
                </a:r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(𝑝𝑜𝑠^′)/(𝑝𝑜𝑠^′+𝑛𝑒𝑔^′ )=6/(6+1)=6/7</a:t>
                </a:r>
                <a:endParaRPr lang="ar-AE" dirty="0"/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=0.8571</a:t>
                </a:r>
                <a:endParaRPr lang="ar-AE" dirty="0"/>
              </a:p>
              <a:p>
                <a:r>
                  <a:rPr lang="en-US" b="1" dirty="0"/>
                  <a:t>Step 3: Take log base 2</a:t>
                </a:r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〖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log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⁡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〗_2 (0.8571)≈−0.222</a:t>
                </a:r>
                <a:endParaRPr lang="ar-AE" dirty="0"/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〖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log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⁡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〗_2 (0.6667)≈−0.585</a:t>
                </a:r>
                <a:endParaRPr lang="ar-AE" dirty="0"/>
              </a:p>
              <a:p>
                <a:r>
                  <a:rPr lang="en-US" b="1" dirty="0"/>
                  <a:t>Step 4: Subtract</a:t>
                </a:r>
              </a:p>
              <a:p>
                <a:pPr/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−0.222−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(−0.585)=0.363</a:t>
                </a:r>
                <a:endParaRPr lang="ar-AE" dirty="0"/>
              </a:p>
              <a:p>
                <a:r>
                  <a:rPr lang="en-US" b="1" dirty="0"/>
                  <a:t>Step 5: Multiply by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𝑝𝑜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𝑠^′</a:t>
                </a:r>
                <a:endParaRPr lang="ar-AE" b="1" dirty="0"/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𝐹𝑂𝐼𝐿\_𝐺𝑎𝑖𝑛=6×0.363</a:t>
                </a:r>
                <a:endParaRPr lang="ar-AE" dirty="0"/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=2.178</a:t>
                </a:r>
                <a:endParaRPr lang="ar-AE" dirty="0"/>
              </a:p>
              <a:p>
                <a:r>
                  <a:rPr lang="en-US" b="1" dirty="0"/>
                  <a:t>Final answer</a:t>
                </a:r>
              </a:p>
              <a:p>
                <a:pPr/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▭(𝐹𝑂𝐼𝐿\_𝐺𝑎𝑖𝑛≈2.18)</a:t>
                </a:r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US" b="1" dirty="0"/>
                  <a:t>Interpretation</a:t>
                </a:r>
              </a:p>
              <a:p>
                <a:r>
                  <a:rPr lang="en-US" b="1" dirty="0"/>
                  <a:t>Higher FOIL-Gain</a:t>
                </a:r>
                <a:r>
                  <a:rPr lang="en-US" dirty="0"/>
                  <a:t> = better condition</a:t>
                </a:r>
              </a:p>
              <a:p>
                <a:r>
                  <a:rPr lang="en-US" dirty="0"/>
                  <a:t>It means the new condition:</a:t>
                </a:r>
              </a:p>
              <a:p>
                <a:pPr lvl="1"/>
                <a:r>
                  <a:rPr lang="en-US" dirty="0"/>
                  <a:t>improves rule accuracy</a:t>
                </a:r>
              </a:p>
              <a:p>
                <a:pPr lvl="1"/>
                <a:r>
                  <a:rPr lang="en-US" dirty="0"/>
                  <a:t>while still keeping enough positive examples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FDA5B184-F20E-A373-D636-59FE59C50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1. Lazy learning</a:t>
            </a:r>
          </a:p>
          <a:p>
            <a:r>
              <a:rPr lang="en-US" dirty="0"/>
              <a:t>Lazy learning does </a:t>
            </a:r>
            <a:r>
              <a:rPr lang="en-US" b="1" dirty="0"/>
              <a:t>not build a real model first</a:t>
            </a:r>
            <a:r>
              <a:rPr lang="en-US" dirty="0"/>
              <a:t>.</a:t>
            </a:r>
          </a:p>
          <a:p>
            <a:r>
              <a:rPr lang="en-US" dirty="0"/>
              <a:t>It mostly:</a:t>
            </a:r>
          </a:p>
          <a:p>
            <a:r>
              <a:rPr lang="en-US" dirty="0"/>
              <a:t>stores the training data with little processing</a:t>
            </a:r>
          </a:p>
          <a:p>
            <a:r>
              <a:rPr lang="en-US" dirty="0"/>
              <a:t>waits until a new test sample comes</a:t>
            </a:r>
          </a:p>
          <a:p>
            <a:r>
              <a:rPr lang="en-US" dirty="0"/>
              <a:t>then uses the stored data to make prediction</a:t>
            </a:r>
          </a:p>
          <a:p>
            <a:r>
              <a:rPr lang="en-US" dirty="0"/>
              <a:t>So learning happens </a:t>
            </a:r>
            <a:r>
              <a:rPr lang="en-US" b="1" dirty="0"/>
              <a:t>at prediction time</a:t>
            </a:r>
            <a:r>
              <a:rPr lang="en-US" dirty="0"/>
              <a:t>.</a:t>
            </a:r>
          </a:p>
          <a:p>
            <a:r>
              <a:rPr lang="en-US" b="1" dirty="0"/>
              <a:t>Example algorithms</a:t>
            </a:r>
          </a:p>
          <a:p>
            <a:r>
              <a:rPr lang="en-US" b="1" dirty="0"/>
              <a:t>k-NN (k-nearest neighbors)</a:t>
            </a:r>
            <a:endParaRPr lang="en-US" dirty="0"/>
          </a:p>
          <a:p>
            <a:r>
              <a:rPr lang="en-US" b="1" dirty="0"/>
              <a:t>Eager learning</a:t>
            </a:r>
          </a:p>
          <a:p>
            <a:r>
              <a:rPr lang="en-US" dirty="0"/>
              <a:t>Eager learning builds the model </a:t>
            </a:r>
            <a:r>
              <a:rPr lang="en-US" b="1" dirty="0"/>
              <a:t>before</a:t>
            </a:r>
            <a:r>
              <a:rPr lang="en-US" dirty="0"/>
              <a:t> any test sample comes.</a:t>
            </a:r>
          </a:p>
          <a:p>
            <a:r>
              <a:rPr lang="en-US" dirty="0"/>
              <a:t>It uses the training data to create:</a:t>
            </a:r>
          </a:p>
          <a:p>
            <a:r>
              <a:rPr lang="en-US" dirty="0"/>
              <a:t>a decision tree</a:t>
            </a:r>
          </a:p>
          <a:p>
            <a:r>
              <a:rPr lang="en-US" dirty="0"/>
              <a:t>a rule set</a:t>
            </a:r>
          </a:p>
          <a:p>
            <a:r>
              <a:rPr lang="en-US" dirty="0"/>
              <a:t>a classifier model</a:t>
            </a:r>
          </a:p>
          <a:p>
            <a:r>
              <a:rPr lang="en-US" b="1" dirty="0"/>
              <a:t>Time difference</a:t>
            </a:r>
          </a:p>
          <a:p>
            <a:r>
              <a:rPr lang="en-US" b="1" dirty="0"/>
              <a:t>Lazy learning</a:t>
            </a:r>
            <a:endParaRPr lang="en-US" dirty="0"/>
          </a:p>
          <a:p>
            <a:pPr lvl="1"/>
            <a:r>
              <a:rPr lang="en-US" dirty="0"/>
              <a:t>less time in </a:t>
            </a:r>
            <a:r>
              <a:rPr lang="en-US" b="1" dirty="0"/>
              <a:t>training</a:t>
            </a:r>
            <a:endParaRPr lang="en-US" dirty="0"/>
          </a:p>
          <a:p>
            <a:pPr lvl="1"/>
            <a:r>
              <a:rPr lang="en-US" dirty="0"/>
              <a:t>more time in </a:t>
            </a:r>
            <a:r>
              <a:rPr lang="en-US" b="1" dirty="0"/>
              <a:t>prediction</a:t>
            </a:r>
            <a:endParaRPr lang="en-US" dirty="0"/>
          </a:p>
          <a:p>
            <a:r>
              <a:rPr lang="en-US" b="1" dirty="0"/>
              <a:t>Eager learning</a:t>
            </a:r>
            <a:endParaRPr lang="en-US" dirty="0"/>
          </a:p>
          <a:p>
            <a:pPr lvl="1"/>
            <a:r>
              <a:rPr lang="en-US" dirty="0"/>
              <a:t>more time in </a:t>
            </a:r>
            <a:r>
              <a:rPr lang="en-US" b="1" dirty="0"/>
              <a:t>training</a:t>
            </a:r>
            <a:endParaRPr lang="en-US" dirty="0"/>
          </a:p>
          <a:p>
            <a:pPr lvl="1"/>
            <a:r>
              <a:rPr lang="en-US" dirty="0"/>
              <a:t>usually less time in </a:t>
            </a:r>
            <a:r>
              <a:rPr lang="en-US" b="1" dirty="0"/>
              <a:t>prediction</a:t>
            </a:r>
          </a:p>
          <a:p>
            <a:pPr lvl="1"/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b="1" dirty="0"/>
              <a:t>lazy method</a:t>
            </a:r>
            <a:r>
              <a:rPr lang="en-US" dirty="0"/>
              <a:t> can sometimes be more accurate because it does </a:t>
            </a:r>
            <a:r>
              <a:rPr lang="en-US" b="1" dirty="0"/>
              <a:t>not use one fixed rule for all data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Instead, it makes prediction by looking at the </a:t>
            </a:r>
            <a:r>
              <a:rPr lang="en-US" b="1" dirty="0"/>
              <a:t>nearby examples</a:t>
            </a:r>
            <a:r>
              <a:rPr lang="en-US" dirty="0"/>
              <a:t> of the test point.</a:t>
            </a:r>
          </a:p>
          <a:p>
            <a:r>
              <a:rPr lang="en-US" b="1" dirty="0"/>
              <a:t>“Richer hypothesis space”</a:t>
            </a:r>
          </a:p>
          <a:p>
            <a:r>
              <a:rPr lang="en-US" dirty="0"/>
              <a:t>This means:</a:t>
            </a:r>
          </a:p>
          <a:p>
            <a:r>
              <a:rPr lang="en-US" dirty="0"/>
              <a:t>the model can represent </a:t>
            </a:r>
            <a:r>
              <a:rPr lang="en-US" b="1" dirty="0"/>
              <a:t>more kinds of patterns</a:t>
            </a:r>
            <a:endParaRPr lang="en-US" dirty="0"/>
          </a:p>
          <a:p>
            <a:r>
              <a:rPr lang="en-US" dirty="0"/>
              <a:t>it is more flexible</a:t>
            </a:r>
          </a:p>
          <a:p>
            <a:r>
              <a:rPr lang="en-US" dirty="0"/>
              <a:t>it is not forced to use only one simple global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1625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9DC6D-C4E2-405C-9F83-41BA8304616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895C71B-6DC5-3533-5D32-ABDA88456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Lazy Learner (Instance-Based Methods) – Simple Explanation</a:t>
            </a:r>
            <a:endParaRPr lang="en-US" dirty="0"/>
          </a:p>
          <a:p>
            <a:r>
              <a:rPr lang="en-US" b="1" dirty="0"/>
              <a:t>Instance-based learning:</a:t>
            </a:r>
            <a:br>
              <a:rPr lang="en-US" dirty="0"/>
            </a:br>
            <a:r>
              <a:rPr lang="en-US" dirty="0"/>
              <a:t>The model </a:t>
            </a:r>
            <a:r>
              <a:rPr lang="en-US" b="1" dirty="0"/>
              <a:t>does not learn immediately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simply </a:t>
            </a:r>
            <a:r>
              <a:rPr lang="en-US" b="1" dirty="0"/>
              <a:t>stores training data</a:t>
            </a:r>
            <a:r>
              <a:rPr lang="en-US" dirty="0"/>
              <a:t> and waits.</a:t>
            </a:r>
            <a:br>
              <a:rPr lang="en-US" dirty="0"/>
            </a:br>
            <a:r>
              <a:rPr lang="en-US" dirty="0"/>
              <a:t>When a new data point comes, it </a:t>
            </a:r>
            <a:r>
              <a:rPr lang="en-US" b="1" dirty="0"/>
              <a:t>processes at that time</a:t>
            </a:r>
            <a:r>
              <a:rPr lang="en-US" dirty="0"/>
              <a:t> (lazy learning).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Typical Approaches</a:t>
            </a:r>
          </a:p>
          <a:p>
            <a:r>
              <a:rPr lang="en-US" b="1" dirty="0"/>
              <a:t>k-Nearest Neighbor (k-NN):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Data points are treated as </a:t>
            </a:r>
            <a:r>
              <a:rPr lang="en-US" b="1" dirty="0"/>
              <a:t>points in space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For a new point, find </a:t>
            </a:r>
            <a:r>
              <a:rPr lang="en-US" b="1" dirty="0"/>
              <a:t>k closest neighbors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Predict based on their labels. </a:t>
            </a:r>
          </a:p>
          <a:p>
            <a:br>
              <a:rPr lang="en-US" dirty="0"/>
            </a:br>
            <a:r>
              <a:rPr lang="en-US" b="1" dirty="0"/>
              <a:t>Locally Weighted Regression: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Instead of global model, it builds a </a:t>
            </a:r>
            <a:r>
              <a:rPr lang="en-US" b="1" dirty="0"/>
              <a:t>local model near the query point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Gives more importance to </a:t>
            </a:r>
            <a:r>
              <a:rPr lang="en-US" b="1" dirty="0"/>
              <a:t>nearby data points</a:t>
            </a:r>
            <a:r>
              <a:rPr lang="en-US" dirty="0"/>
              <a:t>. </a:t>
            </a:r>
          </a:p>
          <a:p>
            <a:br>
              <a:rPr lang="en-US" dirty="0"/>
            </a:br>
            <a:r>
              <a:rPr lang="en-US" b="1" dirty="0"/>
              <a:t>Case-Based Reasoning: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past similar cases</a:t>
            </a:r>
            <a:r>
              <a:rPr lang="en-US" dirty="0"/>
              <a:t> to solve new problems. </a:t>
            </a:r>
          </a:p>
          <a:p>
            <a:pPr lvl="1"/>
            <a:r>
              <a:rPr lang="en-US" dirty="0"/>
              <a:t>Works like </a:t>
            </a:r>
            <a:r>
              <a:rPr lang="en-US" b="1" dirty="0"/>
              <a:t>“solve based on previous experience”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840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To classify a new point, k-NN looks at its </a:t>
            </a:r>
            <a:r>
              <a:rPr lang="en-US" b="1" dirty="0"/>
              <a:t>closest stored examples</a:t>
            </a:r>
            <a:r>
              <a:rPr lang="en-US" dirty="0"/>
              <a:t> and predicts based on them.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104871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47405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CS252 S05</a:t>
            </a:r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1E8ECEB-82CC-4598-934F-541F9CB94AD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F085F-0862-4687-969E-A113ED526F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212DC-59E6-444E-AD7D-AB217D4E46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1DB46-EA3B-4771-84A7-EF2A89089F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7241A-14B4-47C9-97AA-E825931DEA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899CB-E299-4B2F-A5FF-BAA7A44558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54605-094D-467A-98B4-485DD38572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456F1-5FD4-4074-A7F5-122F6C81D7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69C9D-9F2F-431A-8109-7CE4B4AFDF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D69A7-3DB0-47C4-8AB7-03B3E235F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5A3F1-4B91-4C91-96E0-C7B24072A8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256C4-D2FC-483B-A9EE-73C10A4B54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D61D0-5A32-4214-9618-E7413E4A3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FB4B7-C880-4E23-B63A-36FC71DF65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7AFD74-5170-4EB8-8EBC-53EAF0F4BF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716607F1-F5B4-40CE-9840-A0B6A98E7C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7176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946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5" r:id="rId13"/>
    <p:sldLayoutId id="2147483826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5913" y="990600"/>
            <a:ext cx="6781800" cy="1066800"/>
          </a:xfrm>
        </p:spPr>
        <p:txBody>
          <a:bodyPr/>
          <a:lstStyle/>
          <a:p>
            <a:pPr algn="ctr" eaLnBrk="1" hangingPunct="1"/>
            <a:r>
              <a:rPr lang="en-US" sz="2800" dirty="0"/>
              <a:t>Data Mining (CSE 6506)</a:t>
            </a:r>
            <a:br>
              <a:rPr lang="en-US" sz="2800" dirty="0"/>
            </a:br>
            <a:br>
              <a:rPr lang="en-US" sz="2800" dirty="0"/>
            </a:br>
            <a:endParaRPr lang="en-US" sz="2800" b="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 eaLnBrk="1" hangingPunct="1">
              <a:lnSpc>
                <a:spcPct val="90000"/>
              </a:lnSpc>
            </a:pPr>
            <a:r>
              <a:rPr lang="en-US" sz="2400"/>
              <a:t>Mahmuda</a:t>
            </a:r>
            <a:r>
              <a:rPr lang="en-US" sz="2400" dirty="0"/>
              <a:t> </a:t>
            </a:r>
            <a:r>
              <a:rPr lang="en-US" sz="2400" dirty="0" err="1"/>
              <a:t>Naznin</a:t>
            </a:r>
            <a:endParaRPr lang="en-US" sz="2400" dirty="0"/>
          </a:p>
          <a:p>
            <a:pPr algn="ctr" eaLnBrk="1" hangingPunct="1">
              <a:lnSpc>
                <a:spcPct val="90000"/>
              </a:lnSpc>
            </a:pPr>
            <a:r>
              <a:rPr lang="en-US" sz="2400" dirty="0"/>
              <a:t>Department of Computer Science Engineering, BUET </a:t>
            </a:r>
            <a:br>
              <a:rPr lang="en-US" sz="2400" dirty="0"/>
            </a:br>
            <a:endParaRPr lang="en-US" sz="2400" dirty="0"/>
          </a:p>
          <a:p>
            <a:pPr algn="ctr" eaLnBrk="1" hangingPunct="1">
              <a:lnSpc>
                <a:spcPct val="90000"/>
              </a:lnSpc>
            </a:pPr>
            <a:br>
              <a:rPr lang="en-US" sz="2400" dirty="0"/>
            </a:br>
            <a:endParaRPr lang="en-US" sz="24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200" y="1905000"/>
            <a:ext cx="6781800" cy="609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/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Classification-Part2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588645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Bayes’ Theorem: Basics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71500" y="1143001"/>
                <a:ext cx="109728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400" dirty="0"/>
                  <a:t>Total probability Theorem: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 sz="240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nary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e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dirty="0"/>
              </a:p>
              <a:p>
                <a:pPr eaLnBrk="1" hangingPunct="1"/>
                <a:r>
                  <a:rPr lang="en-US" altLang="en-US" sz="2400" dirty="0"/>
                  <a:t>Bayes’ Theorem: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 sz="2400" i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en-US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en-US" alt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b="1" i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en-US" sz="2400" i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altLang="en-US" sz="2400" dirty="0"/>
              </a:p>
              <a:p>
                <a:pPr eaLnBrk="1" hangingPunct="1"/>
                <a:endParaRPr lang="en-US" altLang="en-US" sz="2400" dirty="0"/>
              </a:p>
              <a:p>
                <a:pPr lvl="1" eaLnBrk="1" hangingPunct="1"/>
                <a:endParaRPr lang="en-US" altLang="en-US" sz="2400" b="1" dirty="0"/>
              </a:p>
              <a:p>
                <a:pPr lvl="1" eaLnBrk="1" hangingPunct="1"/>
                <a:endParaRPr lang="en-US" altLang="en-US" sz="2400" b="1" dirty="0"/>
              </a:p>
              <a:p>
                <a:pPr marL="200021" lvl="1" indent="0" eaLnBrk="1" hangingPunct="1">
                  <a:buNone/>
                </a:pPr>
                <a:endParaRPr lang="en-US" altLang="en-US" sz="2400" b="1" dirty="0"/>
              </a:p>
              <a:p>
                <a:pPr lvl="1" eaLnBrk="1" hangingPunct="1"/>
                <a:r>
                  <a:rPr lang="en-US" altLang="en-US" sz="2400" b="1" dirty="0"/>
                  <a:t>X:</a:t>
                </a:r>
                <a:r>
                  <a:rPr lang="en-US" altLang="en-US" sz="2400" dirty="0"/>
                  <a:t> a data sample (“</a:t>
                </a:r>
                <a:r>
                  <a:rPr lang="en-US" altLang="en-US" sz="2400" i="1" dirty="0"/>
                  <a:t>evidence</a:t>
                </a:r>
                <a:r>
                  <a:rPr lang="en-US" altLang="en-US" sz="2400" dirty="0"/>
                  <a:t>”)</a:t>
                </a:r>
              </a:p>
              <a:p>
                <a:pPr lvl="1" eaLnBrk="1" hangingPunct="1"/>
                <a:r>
                  <a:rPr lang="en-US" altLang="en-US" sz="2400" dirty="0"/>
                  <a:t>H: X belongs to class C</a:t>
                </a:r>
              </a:p>
            </p:txBody>
          </p:sp>
        </mc:Choice>
        <mc:Fallback xmlns="">
          <p:sp>
            <p:nvSpPr>
              <p:cNvPr id="3482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8625" y="1143001"/>
                <a:ext cx="8229600" cy="5410200"/>
              </a:xfrm>
              <a:blipFill rotWithShape="1">
                <a:blip r:embed="rId3"/>
                <a:stretch>
                  <a:fillRect l="-444" t="-902"/>
                </a:stretch>
              </a:blipFill>
            </p:spPr>
            <p:txBody>
              <a:bodyPr/>
              <a:lstStyle/>
              <a:p>
                <a:r>
                  <a:rPr lang="zh-CN" altLang="en-US" dirty="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791230" y="4100027"/>
            <a:ext cx="17704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posteriori probability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03929" y="4100027"/>
            <a:ext cx="19383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prior probability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497312" y="4095577"/>
            <a:ext cx="12570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likelihood</a:t>
            </a:r>
            <a:endParaRPr lang="en-US" dirty="0"/>
          </a:p>
        </p:txBody>
      </p:sp>
      <p:cxnSp>
        <p:nvCxnSpPr>
          <p:cNvPr id="9" name="Straight Connector 8"/>
          <p:cNvCxnSpPr>
            <a:endCxn id="3" idx="0"/>
          </p:cNvCxnSpPr>
          <p:nvPr/>
        </p:nvCxnSpPr>
        <p:spPr>
          <a:xfrm flipH="1">
            <a:off x="2676472" y="3548744"/>
            <a:ext cx="1432453" cy="551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4671346" y="3200400"/>
            <a:ext cx="586454" cy="888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cxnSpLocks/>
            <a:endCxn id="4" idx="0"/>
          </p:cNvCxnSpPr>
          <p:nvPr/>
        </p:nvCxnSpPr>
        <p:spPr>
          <a:xfrm>
            <a:off x="6248400" y="3200400"/>
            <a:ext cx="724705" cy="8996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4800600"/>
            <a:ext cx="2762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What we should choose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5829300" y="4671753"/>
            <a:ext cx="2787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What we knew previously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3810000" y="4572000"/>
            <a:ext cx="1941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What we just see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568655" y="5148097"/>
            <a:ext cx="2808902" cy="15696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Classification is to derive the maximum posteriori</a:t>
            </a:r>
            <a:endParaRPr lang="en-US" sz="200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248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75438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/>
              <a:t>Bayes’ Theorem Example: Picnic Day</a:t>
            </a: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603284" y="1169829"/>
            <a:ext cx="7780427" cy="2148725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The morning is cloudy </a:t>
            </a:r>
            <a:r>
              <a:rPr lang="en-US" altLang="en-US" sz="2400" dirty="0">
                <a:sym typeface="Wingdings"/>
              </a:rPr>
              <a:t></a:t>
            </a:r>
            <a:endParaRPr lang="en-US" altLang="en-US" sz="2000" dirty="0">
              <a:sym typeface="Wingdings"/>
            </a:endParaRPr>
          </a:p>
          <a:p>
            <a:r>
              <a:rPr lang="en-US" altLang="en-US" sz="2000" dirty="0"/>
              <a:t>What is the chance of rain?</a:t>
            </a:r>
          </a:p>
          <a:p>
            <a:r>
              <a:rPr lang="en-US" altLang="en-US" sz="2000" dirty="0"/>
              <a:t>50% of all rainy days start off cloudy.</a:t>
            </a:r>
          </a:p>
          <a:p>
            <a:r>
              <a:rPr lang="en-US" altLang="en-US" sz="2000" dirty="0"/>
              <a:t>Cloudy mornings are common (40% of days start cloudy)</a:t>
            </a:r>
          </a:p>
          <a:p>
            <a:r>
              <a:rPr lang="en-US" altLang="en-US" sz="2000" dirty="0"/>
              <a:t>This is usually a dry month (only 3 of 30 days </a:t>
            </a:r>
            <a:r>
              <a:rPr lang="en-US" altLang="en-US" sz="1800" dirty="0"/>
              <a:t>tend t</a:t>
            </a:r>
            <a:r>
              <a:rPr lang="en-US" altLang="en-US" sz="2000" dirty="0"/>
              <a:t>o be rainy)</a:t>
            </a: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603284" y="4010610"/>
            <a:ext cx="8065536" cy="1655852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The chance of rain is probably not as high as expected </a:t>
            </a:r>
            <a:r>
              <a:rPr lang="en-US" altLang="en-US" sz="2400" dirty="0">
                <a:sym typeface="Wingdings"/>
              </a:rPr>
              <a:t></a:t>
            </a:r>
          </a:p>
          <a:p>
            <a:r>
              <a:rPr lang="en-US" altLang="en-US" sz="2400" dirty="0">
                <a:sym typeface="Wingdings"/>
              </a:rPr>
              <a:t>Bayes’ Theorem allows us to tell back and forth between posterior and likelihood</a:t>
            </a:r>
          </a:p>
          <a:p>
            <a:pPr marL="0" indent="0">
              <a:buNone/>
            </a:pPr>
            <a:r>
              <a:rPr lang="en-US" altLang="en-US" sz="2400" dirty="0">
                <a:sym typeface="Wingdings"/>
              </a:rPr>
              <a:t>(</a:t>
            </a:r>
            <a:r>
              <a:rPr lang="en-US" altLang="en-US" sz="2400" i="1" dirty="0">
                <a:sym typeface="Wingdings"/>
              </a:rPr>
              <a:t>e.g.</a:t>
            </a:r>
            <a:r>
              <a:rPr lang="en-US" altLang="en-US" sz="2400" dirty="0">
                <a:sym typeface="Wingdings"/>
              </a:rPr>
              <a:t>, P(Rain | Cloud) and P(Cloud | Rain)), tests the reality, which is the most important trick in Bayesian Inference</a:t>
            </a:r>
            <a:endParaRPr lang="en-US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507411" y="2388237"/>
            <a:ext cx="175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P(Cloud) = 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48000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P(Rain) = 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1981200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P(Cloud | Rain) =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352800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en-US" sz="2000" dirty="0">
                <a:solidFill>
                  <a:srgbClr val="FF0000"/>
                </a:solidFill>
              </a:rPr>
              <a:t>P(Rain | Cloud) = P(Rain) P(Cloud | Rain) / P(Cloud) = 10% * 50% / 40%                = 12.5%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2747" y="1608364"/>
            <a:ext cx="3226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P(Rain | Cloud) = 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923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2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458200" cy="5257800"/>
          </a:xfrm>
          <a:noFill/>
        </p:spPr>
        <p:txBody>
          <a:bodyPr lIns="92075" tIns="46038" rIns="92075" bIns="46038">
            <a:normAutofit fontScale="92500" lnSpcReduction="10000"/>
          </a:bodyPr>
          <a:lstStyle/>
          <a:p>
            <a:r>
              <a:rPr lang="en-US" sz="2400" dirty="0"/>
              <a:t>Bayesian classification is based on </a:t>
            </a:r>
            <a:r>
              <a:rPr lang="en-US" sz="2400" dirty="0" err="1"/>
              <a:t>Bayes</a:t>
            </a:r>
            <a:r>
              <a:rPr lang="en-US" sz="2400" dirty="0"/>
              <a:t>’ theorem </a:t>
            </a:r>
          </a:p>
          <a:p>
            <a:r>
              <a:rPr lang="en-US" sz="2400" dirty="0"/>
              <a:t>Bayesian classifiers have exhibited high accuracy and fast speed when applied to large databases</a:t>
            </a:r>
          </a:p>
          <a:p>
            <a:r>
              <a:rPr lang="en-US" sz="2400" dirty="0" err="1"/>
              <a:t>Bayes</a:t>
            </a:r>
            <a:r>
              <a:rPr lang="en-US" sz="2400" dirty="0"/>
              <a:t>’ Theorem:</a:t>
            </a:r>
          </a:p>
          <a:p>
            <a:endParaRPr lang="en-US" sz="2000" dirty="0"/>
          </a:p>
          <a:p>
            <a:pPr lvl="1"/>
            <a:r>
              <a:rPr lang="en-US" sz="2000" dirty="0"/>
              <a:t>Let X be a data sample (“</a:t>
            </a:r>
            <a:r>
              <a:rPr lang="en-US" sz="2000" i="1" dirty="0"/>
              <a:t>evidence</a:t>
            </a:r>
            <a:r>
              <a:rPr lang="en-US" sz="2000" dirty="0"/>
              <a:t>”): class label is unknown</a:t>
            </a:r>
          </a:p>
          <a:p>
            <a:pPr lvl="1"/>
            <a:r>
              <a:rPr lang="en-US" sz="2000" dirty="0"/>
              <a:t>Let H be a </a:t>
            </a:r>
            <a:r>
              <a:rPr lang="en-US" sz="2000" b="1" i="1" dirty="0"/>
              <a:t>hypothesis</a:t>
            </a:r>
            <a:r>
              <a:rPr lang="en-US" sz="2000" b="1" dirty="0"/>
              <a:t> </a:t>
            </a:r>
            <a:r>
              <a:rPr lang="en-US" sz="2000" dirty="0"/>
              <a:t>that X belongs to class C </a:t>
            </a:r>
          </a:p>
          <a:p>
            <a:pPr lvl="1"/>
            <a:r>
              <a:rPr lang="en-US" sz="2000" dirty="0"/>
              <a:t>Classification is to determine P(H|X) (</a:t>
            </a:r>
            <a:r>
              <a:rPr lang="en-US" sz="2000" b="1" i="1" dirty="0"/>
              <a:t>posteriori probability)</a:t>
            </a:r>
            <a:r>
              <a:rPr lang="en-US" sz="2000" i="1" dirty="0"/>
              <a:t>: </a:t>
            </a:r>
            <a:r>
              <a:rPr lang="en-US" sz="2000" dirty="0"/>
              <a:t> the probability that the hypothesis holds given the observed data sample X</a:t>
            </a:r>
          </a:p>
          <a:p>
            <a:pPr lvl="1"/>
            <a:r>
              <a:rPr lang="en-US" sz="2000" dirty="0"/>
              <a:t>P(H) (</a:t>
            </a:r>
            <a:r>
              <a:rPr lang="en-US" sz="2000" b="1" i="1" dirty="0"/>
              <a:t>prior probability</a:t>
            </a:r>
            <a:r>
              <a:rPr lang="en-US" sz="2000" dirty="0"/>
              <a:t>): the initial probability</a:t>
            </a:r>
          </a:p>
          <a:p>
            <a:pPr lvl="2"/>
            <a:r>
              <a:rPr lang="en-US" sz="2000" dirty="0"/>
              <a:t>E.g., X will buy computer, regardless of age, income, …</a:t>
            </a:r>
          </a:p>
          <a:p>
            <a:pPr lvl="1"/>
            <a:r>
              <a:rPr lang="en-US" sz="2000" dirty="0"/>
              <a:t>P(X): probability that sample data is observed</a:t>
            </a:r>
          </a:p>
          <a:p>
            <a:pPr lvl="1"/>
            <a:r>
              <a:rPr lang="en-US" sz="2000" dirty="0"/>
              <a:t>P(X|H) (</a:t>
            </a:r>
            <a:r>
              <a:rPr lang="en-US" sz="2000" b="1" i="1" dirty="0"/>
              <a:t>likelihood</a:t>
            </a:r>
            <a:r>
              <a:rPr lang="en-US" sz="2000" dirty="0"/>
              <a:t>): the probability of observing the sample X, given that the hypothesis holds</a:t>
            </a:r>
          </a:p>
          <a:p>
            <a:pPr lvl="2"/>
            <a:r>
              <a:rPr lang="en-US" sz="2000" dirty="0"/>
              <a:t>E.g., Given that X will buy computer, the prob. that X is 31..40, medium income</a:t>
            </a:r>
          </a:p>
          <a:p>
            <a:endParaRPr lang="en-US" sz="2400" b="1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Bayesian Classification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7585" name="Object 1"/>
          <p:cNvGraphicFramePr>
            <a:graphicFrameLocks noChangeAspect="1"/>
          </p:cNvGraphicFramePr>
          <p:nvPr/>
        </p:nvGraphicFramePr>
        <p:xfrm>
          <a:off x="3063875" y="2362200"/>
          <a:ext cx="60801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13300" imgH="558800" progId="Equation.3">
                  <p:embed/>
                </p:oleObj>
              </mc:Choice>
              <mc:Fallback>
                <p:oleObj name="Equation" r:id="rId3" imgW="4813300" imgH="558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75" y="2362200"/>
                        <a:ext cx="6080125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458200" cy="5257800"/>
          </a:xfrm>
          <a:noFill/>
        </p:spPr>
        <p:txBody>
          <a:bodyPr lIns="92075" tIns="46038" rIns="92075" bIns="46038">
            <a:normAutofit fontScale="92500" lnSpcReduction="10000"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Class conditional independence</a:t>
            </a:r>
            <a:r>
              <a:rPr lang="en-US" sz="2400" dirty="0">
                <a:solidFill>
                  <a:srgbClr val="FFC000"/>
                </a:solidFill>
              </a:rPr>
              <a:t>:</a:t>
            </a:r>
            <a:r>
              <a:rPr lang="en-US" sz="2400" dirty="0"/>
              <a:t> assume that the effect of an attribute value on a given class is independent of the values of other attributes</a:t>
            </a:r>
          </a:p>
          <a:p>
            <a:r>
              <a:rPr lang="en-US" sz="2400" dirty="0"/>
              <a:t>Class </a:t>
            </a:r>
            <a:r>
              <a:rPr lang="en-US" sz="2400" i="1" dirty="0" err="1"/>
              <a:t>C</a:t>
            </a:r>
            <a:r>
              <a:rPr lang="en-US" sz="2400" i="1" baseline="-25000" dirty="0" err="1"/>
              <a:t>i</a:t>
            </a:r>
            <a:r>
              <a:rPr lang="en-US" sz="2400" dirty="0"/>
              <a:t> (</a:t>
            </a:r>
            <a:r>
              <a:rPr lang="en-US" sz="2400" i="1" dirty="0" err="1"/>
              <a:t>i</a:t>
            </a:r>
            <a:r>
              <a:rPr lang="en-US" sz="2400" dirty="0"/>
              <a:t> = 1, …, </a:t>
            </a:r>
            <a:r>
              <a:rPr lang="en-US" sz="2400" i="1" dirty="0"/>
              <a:t>m</a:t>
            </a:r>
            <a:r>
              <a:rPr lang="en-US" sz="2400" dirty="0"/>
              <a:t>) </a:t>
            </a:r>
          </a:p>
          <a:p>
            <a:r>
              <a:rPr lang="en-US" sz="2400" dirty="0"/>
              <a:t>Attribute </a:t>
            </a:r>
            <a:r>
              <a:rPr lang="en-US" sz="2400" i="1" dirty="0" err="1"/>
              <a:t>A</a:t>
            </a:r>
            <a:r>
              <a:rPr lang="en-US" sz="2400" i="1" baseline="-25000" dirty="0" err="1"/>
              <a:t>k</a:t>
            </a:r>
            <a:r>
              <a:rPr lang="en-US" sz="2400" dirty="0"/>
              <a:t> (</a:t>
            </a:r>
            <a:r>
              <a:rPr lang="en-US" sz="2400" i="1" dirty="0"/>
              <a:t>k</a:t>
            </a:r>
            <a:r>
              <a:rPr lang="en-US" sz="2400" dirty="0"/>
              <a:t> = 1, …, </a:t>
            </a:r>
            <a:r>
              <a:rPr lang="en-US" sz="2400" i="1" dirty="0"/>
              <a:t>n</a:t>
            </a:r>
            <a:r>
              <a:rPr lang="en-US" sz="2400" dirty="0"/>
              <a:t>) </a:t>
            </a:r>
          </a:p>
          <a:p>
            <a:r>
              <a:rPr lang="en-US" sz="2400" dirty="0"/>
              <a:t>Feature vector </a:t>
            </a:r>
            <a:r>
              <a:rPr lang="en-US" sz="2400" i="1" dirty="0"/>
              <a:t>X</a:t>
            </a:r>
            <a:r>
              <a:rPr lang="en-US" sz="2400" dirty="0"/>
              <a:t> = (</a:t>
            </a:r>
            <a:r>
              <a:rPr lang="en-US" sz="2400" i="1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n</a:t>
            </a:r>
            <a:r>
              <a:rPr lang="en-US" sz="2400" dirty="0"/>
              <a:t>), where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k</a:t>
            </a:r>
            <a:r>
              <a:rPr lang="en-US" sz="2400" dirty="0"/>
              <a:t> is the value of </a:t>
            </a:r>
            <a:r>
              <a:rPr lang="en-US" sz="2400" i="1" dirty="0"/>
              <a:t>X</a:t>
            </a:r>
            <a:r>
              <a:rPr lang="en-US" sz="2400" dirty="0"/>
              <a:t> on </a:t>
            </a:r>
            <a:r>
              <a:rPr lang="en-US" sz="2400" i="1" dirty="0" err="1"/>
              <a:t>A</a:t>
            </a:r>
            <a:r>
              <a:rPr lang="en-US" sz="2400" i="1" baseline="-25000" dirty="0" err="1"/>
              <a:t>k</a:t>
            </a:r>
            <a:r>
              <a:rPr lang="en-US" sz="2400" i="1" dirty="0"/>
              <a:t> </a:t>
            </a:r>
          </a:p>
          <a:p>
            <a:r>
              <a:rPr lang="en-US" sz="2400" dirty="0"/>
              <a:t>Naïve </a:t>
            </a:r>
            <a:r>
              <a:rPr lang="en-US" sz="2400" dirty="0" err="1"/>
              <a:t>Bayes</a:t>
            </a:r>
            <a:r>
              <a:rPr lang="en-US" sz="2400" dirty="0"/>
              <a:t> classifier</a:t>
            </a:r>
            <a:endParaRPr lang="en-US" sz="2400" baseline="-25000" dirty="0"/>
          </a:p>
          <a:p>
            <a:pPr lvl="1"/>
            <a:r>
              <a:rPr lang="en-US" sz="2200" dirty="0"/>
              <a:t>Predicts </a:t>
            </a:r>
            <a:r>
              <a:rPr lang="en-US" sz="2200" b="1" dirty="0"/>
              <a:t>X</a:t>
            </a:r>
            <a:r>
              <a:rPr lang="en-US" sz="2200" dirty="0"/>
              <a:t> belongs to </a:t>
            </a:r>
            <a:r>
              <a:rPr lang="en-US" sz="2200" dirty="0" err="1"/>
              <a:t>C</a:t>
            </a:r>
            <a:r>
              <a:rPr lang="en-US" sz="2200" baseline="-250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iff</a:t>
            </a:r>
            <a:r>
              <a:rPr lang="en-US" sz="2200" dirty="0"/>
              <a:t> the probability P(</a:t>
            </a:r>
            <a:r>
              <a:rPr lang="en-US" sz="2200" dirty="0" err="1"/>
              <a:t>C</a:t>
            </a:r>
            <a:r>
              <a:rPr lang="en-US" sz="2200" baseline="-25000" dirty="0" err="1"/>
              <a:t>i</a:t>
            </a:r>
            <a:r>
              <a:rPr lang="en-US" sz="2200" dirty="0" err="1"/>
              <a:t>|</a:t>
            </a:r>
            <a:r>
              <a:rPr lang="en-US" sz="2200" b="1" dirty="0" err="1"/>
              <a:t>X</a:t>
            </a:r>
            <a:r>
              <a:rPr lang="en-US" sz="2200" dirty="0"/>
              <a:t>) is the highest among all the P(</a:t>
            </a:r>
            <a:r>
              <a:rPr lang="en-US" sz="2200" dirty="0" err="1"/>
              <a:t>C</a:t>
            </a:r>
            <a:r>
              <a:rPr lang="en-US" sz="2200" baseline="-25000" dirty="0" err="1"/>
              <a:t>k</a:t>
            </a:r>
            <a:r>
              <a:rPr lang="en-US" sz="2200" dirty="0" err="1"/>
              <a:t>|X</a:t>
            </a:r>
            <a:r>
              <a:rPr lang="en-US" sz="2200" dirty="0"/>
              <a:t>) for all the </a:t>
            </a:r>
            <a:r>
              <a:rPr lang="en-US" sz="2200" i="1" dirty="0"/>
              <a:t>k</a:t>
            </a:r>
            <a:r>
              <a:rPr lang="en-US" sz="2200" dirty="0"/>
              <a:t> classes</a:t>
            </a:r>
          </a:p>
          <a:p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This can be derived from </a:t>
            </a:r>
            <a:r>
              <a:rPr lang="en-US" sz="2400" dirty="0" err="1"/>
              <a:t>Bayes</a:t>
            </a:r>
            <a:r>
              <a:rPr lang="en-US" sz="2400" dirty="0"/>
              <a:t>’ theorem: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Since P(X) is constant for all classes, only                                        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  <a:buNone/>
            </a:pPr>
            <a:r>
              <a:rPr lang="en-US" sz="2400" dirty="0"/>
              <a:t>needs to be maximized</a:t>
            </a:r>
          </a:p>
          <a:p>
            <a:endParaRPr lang="en-US" sz="2400" dirty="0"/>
          </a:p>
          <a:p>
            <a:endParaRPr lang="en-US" sz="2400" baseline="-25000" dirty="0"/>
          </a:p>
          <a:p>
            <a:endParaRPr lang="en-US" sz="24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Naïve </a:t>
            </a:r>
            <a:r>
              <a:rPr lang="en-US" sz="3600" dirty="0" err="1">
                <a:solidFill>
                  <a:schemeClr val="tx2"/>
                </a:solidFill>
                <a:latin typeface="+mj-lt"/>
              </a:rPr>
              <a:t>Bayes</a:t>
            </a:r>
            <a:r>
              <a:rPr lang="en-US" sz="3600" dirty="0">
                <a:solidFill>
                  <a:schemeClr val="tx2"/>
                </a:solidFill>
                <a:latin typeface="+mj-lt"/>
              </a:rPr>
              <a:t> Classifier 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52579" name="Object 7"/>
          <p:cNvGraphicFramePr>
            <a:graphicFrameLocks noChangeAspect="1"/>
          </p:cNvGraphicFramePr>
          <p:nvPr/>
        </p:nvGraphicFramePr>
        <p:xfrm>
          <a:off x="2133600" y="4572000"/>
          <a:ext cx="42164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06480" imgH="431640" progId="Equation.3">
                  <p:embed/>
                </p:oleObj>
              </mc:Choice>
              <mc:Fallback>
                <p:oleObj name="Equation" r:id="rId3" imgW="360648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572000"/>
                        <a:ext cx="421640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0" name="Object 5"/>
          <p:cNvGraphicFramePr>
            <a:graphicFrameLocks noChangeAspect="1"/>
          </p:cNvGraphicFramePr>
          <p:nvPr/>
        </p:nvGraphicFramePr>
        <p:xfrm>
          <a:off x="6019800" y="5257800"/>
          <a:ext cx="27432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01640" imgH="647640" progId="Equation.3">
                  <p:embed/>
                </p:oleObj>
              </mc:Choice>
              <mc:Fallback>
                <p:oleObj name="Equation" r:id="rId5" imgW="2501640" imgH="647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257800"/>
                        <a:ext cx="2743200" cy="70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1" name="Object 7"/>
          <p:cNvGraphicFramePr>
            <a:graphicFrameLocks noChangeAspect="1"/>
          </p:cNvGraphicFramePr>
          <p:nvPr/>
        </p:nvGraphicFramePr>
        <p:xfrm>
          <a:off x="914400" y="5638800"/>
          <a:ext cx="28956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76440" imgH="380880" progId="Equation.3">
                  <p:embed/>
                </p:oleObj>
              </mc:Choice>
              <mc:Fallback>
                <p:oleObj name="Equation" r:id="rId7" imgW="2476440" imgH="380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638800"/>
                        <a:ext cx="2895600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Naïve </a:t>
            </a:r>
            <a:r>
              <a:rPr lang="en-US" sz="3600" dirty="0" err="1">
                <a:solidFill>
                  <a:schemeClr val="tx2"/>
                </a:solidFill>
                <a:latin typeface="+mj-lt"/>
              </a:rPr>
              <a:t>Bayes</a:t>
            </a:r>
            <a:r>
              <a:rPr lang="en-US" sz="3600" dirty="0">
                <a:solidFill>
                  <a:schemeClr val="tx2"/>
                </a:solidFill>
                <a:latin typeface="+mj-lt"/>
              </a:rPr>
              <a:t> Classifier 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382000" cy="5105400"/>
          </a:xfrm>
        </p:spPr>
        <p:txBody>
          <a:bodyPr/>
          <a:lstStyle/>
          <a:p>
            <a:r>
              <a:rPr lang="en-US" sz="2400" dirty="0"/>
              <a:t>Since Naïve </a:t>
            </a:r>
            <a:r>
              <a:rPr lang="en-US" sz="2400" dirty="0" err="1"/>
              <a:t>Bayes</a:t>
            </a:r>
            <a:r>
              <a:rPr lang="en-US" sz="2400" dirty="0"/>
              <a:t> classifier assumes class conditional independence:</a:t>
            </a:r>
          </a:p>
          <a:p>
            <a:endParaRPr lang="en-US" sz="2400" dirty="0"/>
          </a:p>
          <a:p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This greatly reduces the computation cost: Only counts the class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If </a:t>
            </a:r>
            <a:r>
              <a:rPr lang="en-US" sz="2400" dirty="0" err="1"/>
              <a:t>A</a:t>
            </a:r>
            <a:r>
              <a:rPr lang="en-US" sz="2400" baseline="-25000" dirty="0" err="1"/>
              <a:t>k</a:t>
            </a:r>
            <a:r>
              <a:rPr lang="en-US" sz="2400" dirty="0"/>
              <a:t> is categorical, P(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 err="1"/>
              <a:t>|C</a:t>
            </a:r>
            <a:r>
              <a:rPr lang="en-US" sz="2400" baseline="-25000" dirty="0" err="1"/>
              <a:t>i</a:t>
            </a:r>
            <a:r>
              <a:rPr lang="en-US" sz="2400" dirty="0"/>
              <a:t>) is the # of </a:t>
            </a:r>
            <a:r>
              <a:rPr lang="en-US" sz="2400" dirty="0" err="1"/>
              <a:t>tuples</a:t>
            </a:r>
            <a:r>
              <a:rPr lang="en-US" sz="2400" dirty="0"/>
              <a:t> in </a:t>
            </a:r>
            <a:r>
              <a:rPr lang="en-US" sz="2400" dirty="0" err="1"/>
              <a:t>C</a:t>
            </a:r>
            <a:r>
              <a:rPr lang="en-US" sz="2400" baseline="-25000" dirty="0" err="1"/>
              <a:t>i</a:t>
            </a:r>
            <a:r>
              <a:rPr lang="en-US" sz="2400" dirty="0"/>
              <a:t> having value 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 for </a:t>
            </a:r>
            <a:r>
              <a:rPr lang="en-US" sz="2400" dirty="0" err="1"/>
              <a:t>A</a:t>
            </a:r>
            <a:r>
              <a:rPr lang="en-US" sz="2400" baseline="-25000" dirty="0" err="1"/>
              <a:t>k</a:t>
            </a:r>
            <a:r>
              <a:rPr lang="en-US" sz="2400" dirty="0"/>
              <a:t> divided by |</a:t>
            </a:r>
            <a:r>
              <a:rPr lang="en-US" sz="2400" dirty="0" err="1"/>
              <a:t>C</a:t>
            </a:r>
            <a:r>
              <a:rPr lang="en-US" sz="2400" baseline="-25000" dirty="0" err="1"/>
              <a:t>i</a:t>
            </a:r>
            <a:r>
              <a:rPr lang="en-US" sz="2400" baseline="-25000" dirty="0"/>
              <a:t>, D</a:t>
            </a:r>
            <a:r>
              <a:rPr lang="en-US" sz="2400" dirty="0"/>
              <a:t>| (# of </a:t>
            </a:r>
            <a:r>
              <a:rPr lang="en-US" sz="2400" dirty="0" err="1"/>
              <a:t>tuples</a:t>
            </a:r>
            <a:r>
              <a:rPr lang="en-US" sz="2400" dirty="0"/>
              <a:t> of </a:t>
            </a:r>
            <a:r>
              <a:rPr lang="en-US" sz="2400" dirty="0" err="1"/>
              <a:t>C</a:t>
            </a:r>
            <a:r>
              <a:rPr lang="en-US" sz="2400" baseline="-25000" dirty="0" err="1"/>
              <a:t>i</a:t>
            </a:r>
            <a:r>
              <a:rPr lang="en-US" sz="2400" dirty="0"/>
              <a:t> in D)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If </a:t>
            </a:r>
            <a:r>
              <a:rPr lang="en-US" sz="2400" dirty="0" err="1"/>
              <a:t>A</a:t>
            </a:r>
            <a:r>
              <a:rPr lang="en-US" sz="2400" baseline="-25000" dirty="0" err="1"/>
              <a:t>k</a:t>
            </a:r>
            <a:r>
              <a:rPr lang="en-US" sz="2400" dirty="0"/>
              <a:t> is </a:t>
            </a:r>
            <a:r>
              <a:rPr lang="en-US" sz="2400" dirty="0" err="1"/>
              <a:t>continous</a:t>
            </a:r>
            <a:r>
              <a:rPr lang="en-US" sz="2400" dirty="0"/>
              <a:t>-valued, P(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 err="1"/>
              <a:t>|C</a:t>
            </a:r>
            <a:r>
              <a:rPr lang="en-US" sz="2400" baseline="-25000" dirty="0" err="1"/>
              <a:t>i</a:t>
            </a:r>
            <a:r>
              <a:rPr lang="en-US" sz="2400" dirty="0"/>
              <a:t>) is usually computed based on Gaussian distribution with a mean </a:t>
            </a:r>
            <a:r>
              <a:rPr lang="el-GR" sz="2400" dirty="0"/>
              <a:t>μ</a:t>
            </a:r>
            <a:r>
              <a:rPr lang="en-US" sz="2400" dirty="0"/>
              <a:t> and standard deviation </a:t>
            </a:r>
            <a:r>
              <a:rPr lang="el-GR" sz="2400" dirty="0"/>
              <a:t>σ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and P(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 err="1"/>
              <a:t>|C</a:t>
            </a:r>
            <a:r>
              <a:rPr lang="en-US" sz="2400" baseline="-25000" dirty="0" err="1"/>
              <a:t>i</a:t>
            </a:r>
            <a:r>
              <a:rPr lang="en-US" sz="2400" dirty="0"/>
              <a:t>) is 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</p:txBody>
      </p:sp>
      <p:graphicFrame>
        <p:nvGraphicFramePr>
          <p:cNvPr id="37893" name="Object 10"/>
          <p:cNvGraphicFramePr>
            <a:graphicFrameLocks noGrp="1"/>
          </p:cNvGraphicFramePr>
          <p:nvPr>
            <p:ph sz="quarter" idx="2"/>
          </p:nvPr>
        </p:nvGraphicFramePr>
        <p:xfrm>
          <a:off x="1143000" y="2057400"/>
          <a:ext cx="61722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89240" imgH="507960" progId="Equation.3">
                  <p:embed/>
                </p:oleObj>
              </mc:Choice>
              <mc:Fallback>
                <p:oleObj name="Equation" r:id="rId3" imgW="4089240" imgH="507960" progId="Equation.3">
                  <p:embed/>
                  <p:pic>
                    <p:nvPicPr>
                      <p:cNvPr id="0" name="Object 1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057400"/>
                        <a:ext cx="61722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12"/>
          <p:cNvGraphicFramePr>
            <a:graphicFrameLocks noGrp="1"/>
          </p:cNvGraphicFramePr>
          <p:nvPr>
            <p:ph sz="quarter" idx="3"/>
          </p:nvPr>
        </p:nvGraphicFramePr>
        <p:xfrm>
          <a:off x="3048000" y="5105400"/>
          <a:ext cx="2867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0960" imgH="482400" progId="Equation.3">
                  <p:embed/>
                </p:oleObj>
              </mc:Choice>
              <mc:Fallback>
                <p:oleObj name="Equation" r:id="rId5" imgW="1650960" imgH="48240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105400"/>
                        <a:ext cx="2867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14"/>
          <p:cNvGraphicFramePr>
            <a:graphicFrameLocks/>
          </p:cNvGraphicFramePr>
          <p:nvPr/>
        </p:nvGraphicFramePr>
        <p:xfrm>
          <a:off x="2720975" y="5943600"/>
          <a:ext cx="28638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50960" imgH="241200" progId="Equation.3">
                  <p:embed/>
                </p:oleObj>
              </mc:Choice>
              <mc:Fallback>
                <p:oleObj name="Equation" r:id="rId7" imgW="1650960" imgH="24120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5" y="5943600"/>
                        <a:ext cx="28638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7AFD74-5170-4EB8-8EBC-53EAF0F4BFE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 Classifier: Example 2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52400" y="1828800"/>
            <a:ext cx="3429000" cy="4134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Class: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C1:buys_computer = ‘yes’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C2:buys_computer = ‘no’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Calibri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Data to be classified: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X = (age &lt;=30,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Income = medium,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Student = yes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latin typeface="Calibri" pitchFamily="34" charset="0"/>
              </a:rPr>
              <a:t>Credit_rating</a:t>
            </a:r>
            <a:r>
              <a:rPr lang="en-US" sz="2400" dirty="0">
                <a:latin typeface="Calibri" pitchFamily="34" charset="0"/>
              </a:rPr>
              <a:t> = Fair)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Which Class???</a:t>
            </a:r>
          </a:p>
        </p:txBody>
      </p:sp>
      <p:graphicFrame>
        <p:nvGraphicFramePr>
          <p:cNvPr id="38917" name="Object 5"/>
          <p:cNvGraphicFramePr>
            <a:graphicFrameLocks noGrp="1"/>
          </p:cNvGraphicFramePr>
          <p:nvPr>
            <p:ph idx="1"/>
          </p:nvPr>
        </p:nvGraphicFramePr>
        <p:xfrm>
          <a:off x="3810000" y="1295400"/>
          <a:ext cx="5110163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24438" imgH="4457652" progId="Excel.Sheet.8">
                  <p:embed/>
                </p:oleObj>
              </mc:Choice>
              <mc:Fallback>
                <p:oleObj name="Worksheet" r:id="rId3" imgW="4324438" imgH="4457652" progId="Excel.Sheet.8">
                  <p:embed/>
                  <p:pic>
                    <p:nvPicPr>
                      <p:cNvPr id="0" name="Picture 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95400"/>
                        <a:ext cx="5110163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8686800" cy="5715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P(</a:t>
            </a:r>
            <a:r>
              <a:rPr lang="en-US" sz="2000" dirty="0" err="1"/>
              <a:t>C</a:t>
            </a:r>
            <a:r>
              <a:rPr lang="en-US" sz="2000" baseline="-25000" dirty="0" err="1"/>
              <a:t>i</a:t>
            </a:r>
            <a:r>
              <a:rPr lang="en-US" sz="2000" dirty="0"/>
              <a:t>):    P(</a:t>
            </a:r>
            <a:r>
              <a:rPr lang="en-US" sz="2000" dirty="0" err="1"/>
              <a:t>buys_computer</a:t>
            </a:r>
            <a:r>
              <a:rPr lang="en-US" sz="2000" dirty="0"/>
              <a:t> = “yes”)  = 9/14 = 0.643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                  P(</a:t>
            </a:r>
            <a:r>
              <a:rPr lang="en-US" sz="2000" dirty="0" err="1"/>
              <a:t>buys_computer</a:t>
            </a:r>
            <a:r>
              <a:rPr lang="en-US" sz="2000" dirty="0"/>
              <a:t> = “no”)    = 5/14= 0.357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Compute P(</a:t>
            </a:r>
            <a:r>
              <a:rPr lang="en-US" sz="2000" dirty="0" err="1"/>
              <a:t>X|C</a:t>
            </a:r>
            <a:r>
              <a:rPr lang="en-US" sz="2000" baseline="-25000" dirty="0" err="1"/>
              <a:t>i</a:t>
            </a:r>
            <a:r>
              <a:rPr lang="en-US" sz="2000" dirty="0"/>
              <a:t>) for each class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FF0000"/>
                </a:solidFill>
              </a:rPr>
              <a:t>     P(age = “&lt;=30” | </a:t>
            </a:r>
            <a:r>
              <a:rPr lang="en-US" sz="2000" dirty="0" err="1">
                <a:solidFill>
                  <a:srgbClr val="FF0000"/>
                </a:solidFill>
              </a:rPr>
              <a:t>buys_computer</a:t>
            </a:r>
            <a:r>
              <a:rPr lang="en-US" sz="2000" dirty="0">
                <a:solidFill>
                  <a:srgbClr val="FF0000"/>
                </a:solidFill>
              </a:rPr>
              <a:t> = “yes”)  = 2/9 = 0.222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FF0000"/>
                </a:solidFill>
              </a:rPr>
              <a:t>     P(age = “&lt;= 30” | </a:t>
            </a:r>
            <a:r>
              <a:rPr lang="en-US" sz="2000" dirty="0" err="1">
                <a:solidFill>
                  <a:srgbClr val="FF0000"/>
                </a:solidFill>
              </a:rPr>
              <a:t>buys_computer</a:t>
            </a:r>
            <a:r>
              <a:rPr lang="en-US" sz="2000" dirty="0">
                <a:solidFill>
                  <a:srgbClr val="FF0000"/>
                </a:solidFill>
              </a:rPr>
              <a:t> = “no”) = 3/5 = 0.6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     </a:t>
            </a:r>
            <a:r>
              <a:rPr lang="en-US" sz="2000" dirty="0">
                <a:solidFill>
                  <a:srgbClr val="0070C0"/>
                </a:solidFill>
              </a:rPr>
              <a:t>P(income = “medium” | </a:t>
            </a:r>
            <a:r>
              <a:rPr lang="en-US" sz="2000" dirty="0" err="1">
                <a:solidFill>
                  <a:srgbClr val="0070C0"/>
                </a:solidFill>
              </a:rPr>
              <a:t>buys_computer</a:t>
            </a:r>
            <a:r>
              <a:rPr lang="en-US" sz="2000" dirty="0">
                <a:solidFill>
                  <a:srgbClr val="0070C0"/>
                </a:solidFill>
              </a:rPr>
              <a:t> = “yes”) = 4/9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0070C0"/>
                </a:solidFill>
              </a:rPr>
              <a:t>= 0.444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0070C0"/>
                </a:solidFill>
              </a:rPr>
              <a:t>     P(income = “medium” | </a:t>
            </a:r>
            <a:r>
              <a:rPr lang="en-US" sz="2000" dirty="0" err="1">
                <a:solidFill>
                  <a:srgbClr val="0070C0"/>
                </a:solidFill>
              </a:rPr>
              <a:t>buys_computer</a:t>
            </a:r>
            <a:r>
              <a:rPr lang="en-US" sz="2000" dirty="0">
                <a:solidFill>
                  <a:srgbClr val="0070C0"/>
                </a:solidFill>
              </a:rPr>
              <a:t> = “no”) = 2/5 = 0.4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     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P(student = “yes” | </a:t>
            </a:r>
            <a:r>
              <a:rPr lang="en-US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buys_computer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 “yes) = 6/9 = 0.667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P(student = “yes” | </a:t>
            </a:r>
            <a:r>
              <a:rPr lang="en-US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buys_computer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 “no”) = 1/5 = 0.2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     </a:t>
            </a:r>
            <a:r>
              <a:rPr lang="en-US" sz="2000" dirty="0">
                <a:solidFill>
                  <a:srgbClr val="00B050"/>
                </a:solidFill>
              </a:rPr>
              <a:t>P(</a:t>
            </a:r>
            <a:r>
              <a:rPr lang="en-US" sz="2000" dirty="0" err="1">
                <a:solidFill>
                  <a:srgbClr val="00B050"/>
                </a:solidFill>
              </a:rPr>
              <a:t>credit_rating</a:t>
            </a:r>
            <a:r>
              <a:rPr lang="en-US" sz="2000" dirty="0">
                <a:solidFill>
                  <a:srgbClr val="00B050"/>
                </a:solidFill>
              </a:rPr>
              <a:t> = “fair” | </a:t>
            </a:r>
            <a:r>
              <a:rPr lang="en-US" sz="2000" dirty="0" err="1">
                <a:solidFill>
                  <a:srgbClr val="00B050"/>
                </a:solidFill>
              </a:rPr>
              <a:t>buys_computer</a:t>
            </a:r>
            <a:r>
              <a:rPr lang="en-US" sz="2000" dirty="0">
                <a:solidFill>
                  <a:srgbClr val="00B050"/>
                </a:solidFill>
              </a:rPr>
              <a:t> = “yes”) = 6/9 =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00B050"/>
                </a:solidFill>
              </a:rPr>
              <a:t>0.667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00B050"/>
                </a:solidFill>
              </a:rPr>
              <a:t>     P(</a:t>
            </a:r>
            <a:r>
              <a:rPr lang="en-US" sz="2000" dirty="0" err="1">
                <a:solidFill>
                  <a:srgbClr val="00B050"/>
                </a:solidFill>
              </a:rPr>
              <a:t>credit_rating</a:t>
            </a:r>
            <a:r>
              <a:rPr lang="en-US" sz="2000" dirty="0">
                <a:solidFill>
                  <a:srgbClr val="00B050"/>
                </a:solidFill>
              </a:rPr>
              <a:t> = “fair” | </a:t>
            </a:r>
            <a:r>
              <a:rPr lang="en-US" sz="2000" dirty="0" err="1">
                <a:solidFill>
                  <a:srgbClr val="00B050"/>
                </a:solidFill>
              </a:rPr>
              <a:t>buys_computer</a:t>
            </a:r>
            <a:r>
              <a:rPr lang="en-US" sz="2000" dirty="0">
                <a:solidFill>
                  <a:srgbClr val="00B050"/>
                </a:solidFill>
              </a:rPr>
              <a:t> = “no”) = 2/5 = 0.4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 dirty="0"/>
              <a:t> X = (age &lt;= 30 , income = medium, student = yes, </a:t>
            </a:r>
            <a:r>
              <a:rPr lang="en-US" sz="2000" b="1" dirty="0" err="1"/>
              <a:t>credit_rating</a:t>
            </a:r>
            <a:r>
              <a:rPr lang="en-US" sz="2000" b="1" dirty="0"/>
              <a:t> = fair)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 </a:t>
            </a:r>
            <a:r>
              <a:rPr lang="en-US" sz="2000" b="1" i="1" dirty="0">
                <a:solidFill>
                  <a:srgbClr val="C00000"/>
                </a:solidFill>
              </a:rPr>
              <a:t>P(</a:t>
            </a:r>
            <a:r>
              <a:rPr lang="en-US" sz="2000" b="1" i="1" dirty="0" err="1">
                <a:solidFill>
                  <a:srgbClr val="C00000"/>
                </a:solidFill>
              </a:rPr>
              <a:t>X|C</a:t>
            </a:r>
            <a:r>
              <a:rPr lang="en-US" sz="2000" b="1" i="1" baseline="-25000" dirty="0" err="1">
                <a:solidFill>
                  <a:srgbClr val="C00000"/>
                </a:solidFill>
              </a:rPr>
              <a:t>i</a:t>
            </a:r>
            <a:r>
              <a:rPr lang="en-US" sz="2000" b="1" i="1" dirty="0">
                <a:solidFill>
                  <a:srgbClr val="C00000"/>
                </a:solidFill>
              </a:rPr>
              <a:t>) :</a:t>
            </a:r>
            <a:r>
              <a:rPr lang="en-US" sz="2000" i="1" dirty="0">
                <a:solidFill>
                  <a:srgbClr val="C00000"/>
                </a:solidFill>
              </a:rPr>
              <a:t> P(</a:t>
            </a:r>
            <a:r>
              <a:rPr lang="en-US" sz="2000" i="1" dirty="0" err="1">
                <a:solidFill>
                  <a:srgbClr val="C00000"/>
                </a:solidFill>
              </a:rPr>
              <a:t>X|buys_computer</a:t>
            </a:r>
            <a:r>
              <a:rPr lang="en-US" sz="2000" i="1" dirty="0">
                <a:solidFill>
                  <a:srgbClr val="C00000"/>
                </a:solidFill>
              </a:rPr>
              <a:t> = “yes”) = 0.222 x 0.444 x 0.667 x 0.667 = 0.044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             P(</a:t>
            </a:r>
            <a:r>
              <a:rPr lang="en-US" sz="2000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X|buys_computer</a:t>
            </a:r>
            <a:r>
              <a:rPr lang="en-US" sz="2000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= “no”) = 0.6 x 0.4 x 0.2 x 0.4 = 0.019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/>
              <a:t>P(</a:t>
            </a:r>
            <a:r>
              <a:rPr lang="en-US" sz="2000" b="1" dirty="0" err="1"/>
              <a:t>X|C</a:t>
            </a:r>
            <a:r>
              <a:rPr lang="en-US" sz="2000" b="1" baseline="-25000" dirty="0" err="1"/>
              <a:t>i</a:t>
            </a:r>
            <a:r>
              <a:rPr lang="en-US" sz="2000" b="1" dirty="0"/>
              <a:t>)*P(</a:t>
            </a:r>
            <a:r>
              <a:rPr lang="en-US" sz="2000" b="1" dirty="0" err="1"/>
              <a:t>C</a:t>
            </a:r>
            <a:r>
              <a:rPr lang="en-US" sz="2000" b="1" baseline="-25000" dirty="0" err="1"/>
              <a:t>i</a:t>
            </a:r>
            <a:r>
              <a:rPr lang="en-US" sz="2000" b="1" dirty="0"/>
              <a:t>) : </a:t>
            </a:r>
            <a:r>
              <a:rPr lang="en-US" sz="2000" dirty="0"/>
              <a:t>P(</a:t>
            </a:r>
            <a:r>
              <a:rPr lang="en-US" sz="2000" dirty="0" err="1"/>
              <a:t>X|buys_computer</a:t>
            </a:r>
            <a:r>
              <a:rPr lang="en-US" sz="2000" dirty="0"/>
              <a:t> = “yes”) * P(</a:t>
            </a:r>
            <a:r>
              <a:rPr lang="en-US" sz="2000" dirty="0" err="1"/>
              <a:t>buys_computer</a:t>
            </a:r>
            <a:r>
              <a:rPr lang="en-US" sz="2000" dirty="0"/>
              <a:t> = “yes”) = 0.028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/>
              <a:t>		             </a:t>
            </a:r>
            <a:r>
              <a:rPr lang="en-US" sz="2000" dirty="0"/>
              <a:t>P(</a:t>
            </a:r>
            <a:r>
              <a:rPr lang="en-US" sz="2000" dirty="0" err="1"/>
              <a:t>X|buys_computer</a:t>
            </a:r>
            <a:r>
              <a:rPr lang="en-US" sz="2000" dirty="0"/>
              <a:t> = “no”) * P(</a:t>
            </a:r>
            <a:r>
              <a:rPr lang="en-US" sz="2000" dirty="0" err="1"/>
              <a:t>buys_computer</a:t>
            </a:r>
            <a:r>
              <a:rPr lang="en-US" sz="2000" dirty="0"/>
              <a:t> = “no”) = 0.007</a:t>
            </a:r>
            <a:endParaRPr lang="en-US" sz="2000" b="1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>
                <a:solidFill>
                  <a:srgbClr val="FF0000"/>
                </a:solidFill>
              </a:rPr>
              <a:t>Therefore,  X belongs to class (“</a:t>
            </a:r>
            <a:r>
              <a:rPr lang="en-US" sz="2000" b="1" dirty="0" err="1">
                <a:solidFill>
                  <a:srgbClr val="FF0000"/>
                </a:solidFill>
              </a:rPr>
              <a:t>buys_computer</a:t>
            </a:r>
            <a:r>
              <a:rPr lang="en-US" sz="2000" b="1" dirty="0">
                <a:solidFill>
                  <a:srgbClr val="FF0000"/>
                </a:solidFill>
              </a:rPr>
              <a:t> = yes”)	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F0000"/>
                </a:solidFill>
              </a:rPr>
              <a:t>	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52578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 Classifier</a:t>
            </a:r>
          </a:p>
        </p:txBody>
      </p:sp>
      <p:graphicFrame>
        <p:nvGraphicFramePr>
          <p:cNvPr id="39941" name="Object 1"/>
          <p:cNvGraphicFramePr>
            <a:graphicFrameLocks/>
          </p:cNvGraphicFramePr>
          <p:nvPr/>
        </p:nvGraphicFramePr>
        <p:xfrm>
          <a:off x="6934200" y="152400"/>
          <a:ext cx="22098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24438" imgH="4457652" progId="Excel.Sheet.8">
                  <p:embed/>
                </p:oleObj>
              </mc:Choice>
              <mc:Fallback>
                <p:oleObj name="Worksheet" r:id="rId3" imgW="4324438" imgH="4457652" progId="Excel.Sheet.8">
                  <p:embed/>
                  <p:pic>
                    <p:nvPicPr>
                      <p:cNvPr id="0" name="Picture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52400"/>
                        <a:ext cx="2209800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Avoiding the Zero-Probability Problem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19200"/>
            <a:ext cx="8382000" cy="54864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/>
              <a:t>Naïve Bayesian prediction requires each conditional prob. be </a:t>
            </a:r>
            <a:r>
              <a:rPr lang="en-US" sz="2400" b="1" dirty="0"/>
              <a:t>non-zero</a:t>
            </a:r>
            <a:r>
              <a:rPr lang="en-US" sz="2400" dirty="0"/>
              <a:t>.  Otherwise, the predicted prob. will be zero</a:t>
            </a:r>
          </a:p>
          <a:p>
            <a:pPr eaLnBrk="1" hangingPunct="1"/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sz="2400" b="1" dirty="0"/>
              <a:t>	</a:t>
            </a:r>
          </a:p>
          <a:p>
            <a:pPr eaLnBrk="1" hangingPunct="1"/>
            <a:r>
              <a:rPr lang="en-US" sz="2400" dirty="0"/>
              <a:t>Ex. </a:t>
            </a:r>
            <a:r>
              <a:rPr lang="en-US" sz="2400" dirty="0">
                <a:solidFill>
                  <a:srgbClr val="FF0000"/>
                </a:solidFill>
              </a:rPr>
              <a:t>Suppose a dataset with 1000 </a:t>
            </a:r>
            <a:r>
              <a:rPr lang="en-US" sz="2400" dirty="0" err="1">
                <a:solidFill>
                  <a:srgbClr val="FF0000"/>
                </a:solidFill>
              </a:rPr>
              <a:t>tuples</a:t>
            </a:r>
            <a:r>
              <a:rPr lang="en-US" sz="2400" dirty="0">
                <a:solidFill>
                  <a:srgbClr val="FF0000"/>
                </a:solidFill>
              </a:rPr>
              <a:t>, income=low (0), income= medium (990), and income = high (10)</a:t>
            </a:r>
          </a:p>
          <a:p>
            <a:pPr eaLnBrk="1" hangingPunct="1"/>
            <a:r>
              <a:rPr lang="en-US" sz="2400" dirty="0"/>
              <a:t>Use </a:t>
            </a:r>
            <a:r>
              <a:rPr lang="en-US" sz="2400" b="1" i="1" dirty="0" err="1"/>
              <a:t>Laplacian</a:t>
            </a:r>
            <a:r>
              <a:rPr lang="en-US" sz="2400" b="1" i="1" dirty="0"/>
              <a:t> correction</a:t>
            </a:r>
            <a:r>
              <a:rPr lang="en-US" sz="2400" i="1" dirty="0"/>
              <a:t> </a:t>
            </a:r>
            <a:r>
              <a:rPr lang="en-US" sz="2400" dirty="0"/>
              <a:t>(or </a:t>
            </a:r>
            <a:r>
              <a:rPr lang="en-US" sz="2400" dirty="0" err="1"/>
              <a:t>Laplacian</a:t>
            </a:r>
            <a:r>
              <a:rPr lang="en-US" sz="2400" dirty="0"/>
              <a:t> estimator)</a:t>
            </a:r>
          </a:p>
          <a:p>
            <a:pPr lvl="1" eaLnBrk="1" hangingPunct="1"/>
            <a:r>
              <a:rPr lang="en-US" sz="2400" i="1" dirty="0"/>
              <a:t>Adding 1 to each case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err="1"/>
              <a:t>Prob</a:t>
            </a:r>
            <a:r>
              <a:rPr lang="en-US" dirty="0"/>
              <a:t>(income = low) = 1/1003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err="1"/>
              <a:t>Prob</a:t>
            </a:r>
            <a:r>
              <a:rPr lang="en-US" dirty="0"/>
              <a:t>(income = medium) = 991/1003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err="1"/>
              <a:t>Prob</a:t>
            </a:r>
            <a:r>
              <a:rPr lang="en-US" dirty="0"/>
              <a:t>(income = high) = 11/1003</a:t>
            </a:r>
          </a:p>
          <a:p>
            <a:pPr lvl="1" eaLnBrk="1" hangingPunct="1"/>
            <a:r>
              <a:rPr lang="en-US" sz="2400" dirty="0"/>
              <a:t>The “corrected” prob. estimates are close to their “uncorrected” counterparts</a:t>
            </a:r>
          </a:p>
        </p:txBody>
      </p:sp>
      <p:graphicFrame>
        <p:nvGraphicFramePr>
          <p:cNvPr id="40965" name="Object 4"/>
          <p:cNvGraphicFramePr>
            <a:graphicFrameLocks noGrp="1"/>
          </p:cNvGraphicFramePr>
          <p:nvPr>
            <p:ph sz="half" idx="2"/>
          </p:nvPr>
        </p:nvGraphicFramePr>
        <p:xfrm>
          <a:off x="2209800" y="1981200"/>
          <a:ext cx="4038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65300" imgH="508000" progId="Equation.3">
                  <p:embed/>
                </p:oleObj>
              </mc:Choice>
              <mc:Fallback>
                <p:oleObj name="Equation" r:id="rId3" imgW="1765300" imgH="508000" progId="Equation.3">
                  <p:embed/>
                  <p:pic>
                    <p:nvPicPr>
                      <p:cNvPr id="0" name="Picture 2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81200"/>
                        <a:ext cx="4038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EFB4B7-C880-4E23-B63A-36FC71DF65C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435768" y="76200"/>
            <a:ext cx="8236744" cy="9429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dirty="0"/>
              <a:t>Naïve Bayes Classifier: Strength vs. Weakness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486" y="1148522"/>
            <a:ext cx="8165307" cy="5514829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Strength </a:t>
            </a:r>
          </a:p>
          <a:p>
            <a:pPr lvl="1"/>
            <a:r>
              <a:rPr lang="en-US" altLang="en-US" sz="2400" u="sng" dirty="0"/>
              <a:t>Performance</a:t>
            </a:r>
            <a:r>
              <a:rPr lang="en-US" altLang="en-US" sz="2400" dirty="0"/>
              <a:t>:  A </a:t>
            </a:r>
            <a:r>
              <a:rPr lang="en-US" altLang="en-US" sz="2400" i="1" dirty="0"/>
              <a:t>naïve Bayesian classifier</a:t>
            </a:r>
            <a:r>
              <a:rPr lang="en-US" altLang="en-US" sz="2400" dirty="0"/>
              <a:t>, has comparable performance with decision tree and selected neural network classifiers</a:t>
            </a:r>
          </a:p>
          <a:p>
            <a:pPr lvl="1"/>
            <a:r>
              <a:rPr lang="en-US" altLang="en-US" sz="2400" u="sng" dirty="0"/>
              <a:t>Incremental</a:t>
            </a:r>
            <a:r>
              <a:rPr lang="en-US" altLang="en-US" sz="2400" dirty="0"/>
              <a:t>:   Each training example can incrementally increase/decrease the probability that a hypothesis is correct—prior knowledge can be combined with observed data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192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520112" cy="94297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/>
              <a:t>Naïve Bayes Classifier: Strength vs. Weakness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486" y="1148522"/>
            <a:ext cx="8165307" cy="5514829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Weakness</a:t>
            </a:r>
          </a:p>
          <a:p>
            <a:pPr lvl="1" eaLnBrk="1" hangingPunct="1"/>
            <a:r>
              <a:rPr lang="en-US" altLang="en-US" sz="2400" dirty="0"/>
              <a:t>Assumption: attributes conditional independence, therefore loss of accuracy</a:t>
            </a:r>
          </a:p>
          <a:p>
            <a:pPr lvl="2" eaLnBrk="1" hangingPunct="1"/>
            <a:r>
              <a:rPr lang="en-US" altLang="en-US" sz="2400" dirty="0"/>
              <a:t>E.g., Patient’s Profile: (age, family history),</a:t>
            </a:r>
          </a:p>
          <a:p>
            <a:pPr lvl="2" eaLnBrk="1" hangingPunct="1"/>
            <a:r>
              <a:rPr lang="en-US" altLang="en-US" sz="2400" dirty="0"/>
              <a:t>         Patient’s Symptoms:  (fever, cough),  </a:t>
            </a:r>
          </a:p>
          <a:p>
            <a:pPr lvl="2" eaLnBrk="1" hangingPunct="1"/>
            <a:r>
              <a:rPr lang="en-US" altLang="en-US" sz="2400" dirty="0"/>
              <a:t>         Patient’s Disease: (lung cancer, diabetes). </a:t>
            </a:r>
          </a:p>
          <a:p>
            <a:pPr lvl="2" eaLnBrk="1" hangingPunct="1"/>
            <a:r>
              <a:rPr lang="en-US" altLang="en-US" sz="2400" dirty="0"/>
              <a:t>Dependencies among these cannot be modeled by Naïve Bayes Classifier</a:t>
            </a:r>
          </a:p>
          <a:p>
            <a:pPr lvl="1"/>
            <a:r>
              <a:rPr lang="en-US" altLang="en-US" sz="2400" dirty="0"/>
              <a:t>How to deal with these dependencies? </a:t>
            </a:r>
          </a:p>
          <a:p>
            <a:pPr marL="384166" lvl="2" indent="0">
              <a:buNone/>
            </a:pPr>
            <a:r>
              <a:rPr lang="en-US" altLang="en-US" sz="2400" dirty="0"/>
              <a:t>      Use Bayesian Belief Networks </a:t>
            </a:r>
          </a:p>
          <a:p>
            <a:pPr marL="200021" lvl="1" indent="0">
              <a:buNone/>
            </a:pPr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42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dirty="0"/>
              <a:t>Classification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" y="1066800"/>
            <a:ext cx="8382000" cy="5105400"/>
          </a:xfrm>
          <a:noFill/>
        </p:spPr>
        <p:txBody>
          <a:bodyPr lIns="92075" tIns="46038" rIns="92075" bIns="46038">
            <a:normAutofit/>
          </a:bodyPr>
          <a:lstStyle/>
          <a:p>
            <a:pPr>
              <a:lnSpc>
                <a:spcPct val="130000"/>
              </a:lnSpc>
            </a:pPr>
            <a:r>
              <a:rPr lang="en-US" dirty="0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dirty="0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dirty="0" err="1"/>
              <a:t>Bayes</a:t>
            </a:r>
            <a:r>
              <a:rPr lang="en-US" dirty="0"/>
              <a:t> Classification Methods</a:t>
            </a:r>
          </a:p>
          <a:p>
            <a:pPr>
              <a:lnSpc>
                <a:spcPct val="130000"/>
              </a:lnSpc>
            </a:pPr>
            <a:r>
              <a:rPr lang="en-US" b="1" i="1" dirty="0"/>
              <a:t>Rule-Based Classification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13613-FD62-4FDA-8444-F94981C0198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/>
              <a:t>Represent the knowledge in the form of </a:t>
            </a:r>
            <a:r>
              <a:rPr lang="en-US" sz="2400" dirty="0">
                <a:solidFill>
                  <a:schemeClr val="hlink"/>
                </a:solidFill>
              </a:rPr>
              <a:t>IF-THEN</a:t>
            </a:r>
            <a:r>
              <a:rPr lang="en-US" sz="2400" dirty="0"/>
              <a:t> rules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sz="2400" dirty="0"/>
              <a:t>R:  IF </a:t>
            </a:r>
            <a:r>
              <a:rPr lang="en-US" sz="2400" i="1" dirty="0"/>
              <a:t>age</a:t>
            </a:r>
            <a:r>
              <a:rPr lang="en-US" sz="2400" dirty="0"/>
              <a:t> = youth  AND </a:t>
            </a:r>
            <a:r>
              <a:rPr lang="en-US" sz="2400" i="1" dirty="0"/>
              <a:t>student</a:t>
            </a:r>
            <a:r>
              <a:rPr lang="en-US" sz="2400" dirty="0"/>
              <a:t> = yes  THEN </a:t>
            </a:r>
            <a:r>
              <a:rPr lang="en-US" sz="2400" i="1" dirty="0" err="1"/>
              <a:t>buys_computer</a:t>
            </a:r>
            <a:r>
              <a:rPr lang="en-US" sz="2400" dirty="0"/>
              <a:t> = yes</a:t>
            </a:r>
          </a:p>
          <a:p>
            <a:pPr lvl="1" eaLnBrk="1" hangingPunct="1"/>
            <a:r>
              <a:rPr lang="en-US" sz="2400" dirty="0"/>
              <a:t>Rule antecedent/precondition vs. rule consequent</a:t>
            </a:r>
          </a:p>
          <a:p>
            <a:pPr lvl="1" eaLnBrk="1" hangingPunct="1"/>
            <a:endParaRPr lang="en-US" sz="2400" dirty="0"/>
          </a:p>
          <a:p>
            <a:pPr lvl="1" eaLnBrk="1" hangingPunct="1">
              <a:buNone/>
            </a:pPr>
            <a:endParaRPr lang="en-US" sz="2400" dirty="0"/>
          </a:p>
          <a:p>
            <a:pPr eaLnBrk="1" hangingPunct="1"/>
            <a:r>
              <a:rPr lang="en-US" sz="2400" dirty="0"/>
              <a:t>Assessment of a rule: </a:t>
            </a:r>
            <a:r>
              <a:rPr lang="en-US" sz="2400" i="1" dirty="0"/>
              <a:t>coverage</a:t>
            </a:r>
            <a:r>
              <a:rPr lang="en-US" sz="2400" dirty="0"/>
              <a:t> and </a:t>
            </a:r>
            <a:r>
              <a:rPr lang="en-US" sz="2400" i="1" dirty="0"/>
              <a:t>accuracy</a:t>
            </a:r>
            <a:r>
              <a:rPr lang="en-US" sz="2400" dirty="0"/>
              <a:t> </a:t>
            </a:r>
          </a:p>
          <a:p>
            <a:pPr lvl="1" eaLnBrk="1" hangingPunct="1"/>
            <a:r>
              <a:rPr lang="en-US" sz="2400" dirty="0" err="1"/>
              <a:t>n</a:t>
            </a:r>
            <a:r>
              <a:rPr lang="en-US" sz="2400" baseline="-25000" dirty="0" err="1"/>
              <a:t>covers</a:t>
            </a:r>
            <a:r>
              <a:rPr lang="en-US" sz="2400" baseline="-25000" dirty="0"/>
              <a:t> </a:t>
            </a:r>
            <a:r>
              <a:rPr lang="en-US" sz="2400" dirty="0"/>
              <a:t>= # of </a:t>
            </a:r>
            <a:r>
              <a:rPr lang="en-US" sz="2400" dirty="0" err="1"/>
              <a:t>tuples</a:t>
            </a:r>
            <a:r>
              <a:rPr lang="en-US" sz="2400" dirty="0"/>
              <a:t> covered by R</a:t>
            </a:r>
          </a:p>
          <a:p>
            <a:pPr lvl="1" eaLnBrk="1" hangingPunct="1"/>
            <a:r>
              <a:rPr lang="en-US" sz="2400" dirty="0" err="1"/>
              <a:t>n</a:t>
            </a:r>
            <a:r>
              <a:rPr lang="en-US" sz="2400" baseline="-25000" dirty="0" err="1"/>
              <a:t>correct</a:t>
            </a:r>
            <a:r>
              <a:rPr lang="en-US" sz="2400" baseline="-25000" dirty="0"/>
              <a:t> </a:t>
            </a:r>
            <a:r>
              <a:rPr lang="en-US" sz="2400" dirty="0"/>
              <a:t>= # of </a:t>
            </a:r>
            <a:r>
              <a:rPr lang="en-US" sz="2400" dirty="0" err="1"/>
              <a:t>tuples</a:t>
            </a:r>
            <a:r>
              <a:rPr lang="en-US" sz="2400" dirty="0"/>
              <a:t> correctly classified by R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/>
              <a:t>coverage(R) = </a:t>
            </a:r>
            <a:r>
              <a:rPr lang="en-US" sz="2400" dirty="0" err="1"/>
              <a:t>n</a:t>
            </a:r>
            <a:r>
              <a:rPr lang="en-US" sz="2400" baseline="-25000" dirty="0" err="1"/>
              <a:t>covers</a:t>
            </a:r>
            <a:r>
              <a:rPr lang="en-US" sz="2400" baseline="-25000" dirty="0"/>
              <a:t> </a:t>
            </a:r>
            <a:r>
              <a:rPr lang="en-US" sz="2400" dirty="0"/>
              <a:t>/|D|   /* D: training data set */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/>
              <a:t>accuracy(R) = </a:t>
            </a:r>
            <a:r>
              <a:rPr lang="en-US" sz="2400" dirty="0" err="1"/>
              <a:t>n</a:t>
            </a:r>
            <a:r>
              <a:rPr lang="en-US" sz="2400" baseline="-25000" dirty="0" err="1"/>
              <a:t>correct</a:t>
            </a:r>
            <a:r>
              <a:rPr lang="en-US" sz="2400" baseline="-25000" dirty="0"/>
              <a:t> </a:t>
            </a:r>
            <a:r>
              <a:rPr lang="en-US" sz="2400" dirty="0"/>
              <a:t>/ </a:t>
            </a:r>
            <a:r>
              <a:rPr lang="en-US" sz="2400" dirty="0" err="1"/>
              <a:t>n</a:t>
            </a:r>
            <a:r>
              <a:rPr lang="en-US" sz="2400" baseline="-25000" dirty="0" err="1"/>
              <a:t>covers</a:t>
            </a:r>
            <a:endParaRPr lang="en-US" sz="24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Using IF-THEN Rules for Classification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</p:spPr>
        <p:txBody>
          <a:bodyPr>
            <a:normAutofit/>
          </a:bodyPr>
          <a:lstStyle/>
          <a:p>
            <a:r>
              <a:rPr lang="en-AU" sz="2400" dirty="0"/>
              <a:t>Predict the class label for </a:t>
            </a:r>
            <a:r>
              <a:rPr lang="en-AU" sz="2400" dirty="0" err="1"/>
              <a:t>tuple</a:t>
            </a:r>
            <a:r>
              <a:rPr lang="en-AU" sz="2400" dirty="0"/>
              <a:t> X </a:t>
            </a:r>
          </a:p>
          <a:p>
            <a:pPr lvl="1"/>
            <a:r>
              <a:rPr lang="en-AU" sz="2400" dirty="0"/>
              <a:t>If a rule is satisfied by X, the rule is said to be triggered </a:t>
            </a:r>
          </a:p>
          <a:p>
            <a:pPr lvl="1"/>
            <a:r>
              <a:rPr lang="en-AU" sz="2400" dirty="0"/>
              <a:t>If a rule R is the only  one satisfied by X, the rule fires by returning the class prediction of X</a:t>
            </a:r>
          </a:p>
          <a:p>
            <a:pPr lvl="1"/>
            <a:r>
              <a:rPr lang="en-AU" sz="2400" dirty="0"/>
              <a:t>Triggering ≠ firing  More than one rule can be satisfied</a:t>
            </a:r>
            <a:endParaRPr lang="en-US" sz="2400" dirty="0"/>
          </a:p>
          <a:p>
            <a:pPr lvl="1" eaLnBrk="1" hangingPunct="1">
              <a:buNone/>
            </a:pPr>
            <a:endParaRPr lang="en-US" sz="2000" dirty="0"/>
          </a:p>
          <a:p>
            <a:r>
              <a:rPr lang="en-AU" sz="2400" dirty="0"/>
              <a:t>Problems </a:t>
            </a:r>
          </a:p>
          <a:p>
            <a:pPr lvl="1"/>
            <a:r>
              <a:rPr lang="en-AU" sz="2400" dirty="0"/>
              <a:t>What if no rule is satisfied by X?  </a:t>
            </a:r>
          </a:p>
          <a:p>
            <a:pPr lvl="2"/>
            <a:r>
              <a:rPr lang="en-AU" dirty="0"/>
              <a:t>Solution: use a default rule that fires, for example, the most frequent class</a:t>
            </a:r>
          </a:p>
          <a:p>
            <a:pPr lvl="1"/>
            <a:r>
              <a:rPr lang="en-AU" sz="2400" dirty="0"/>
              <a:t>If more than one rule is triggered, what if each rule specifies a different class?</a:t>
            </a:r>
            <a:endParaRPr lang="en-US" sz="24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Using IF-THEN Rules for Classification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AU" sz="2400" dirty="0"/>
              <a:t>		X(age=youth, student=yes, income=low)</a:t>
            </a:r>
          </a:p>
          <a:p>
            <a:pPr>
              <a:buNone/>
            </a:pPr>
            <a:r>
              <a:rPr lang="en-AU" sz="2400" dirty="0"/>
              <a:t>	</a:t>
            </a:r>
            <a:r>
              <a:rPr lang="en-AU" sz="2400" dirty="0">
                <a:solidFill>
                  <a:srgbClr val="FF0000"/>
                </a:solidFill>
              </a:rPr>
              <a:t>R1: IF age=youth  AND student=yes THEN buys_ computer=yes </a:t>
            </a:r>
          </a:p>
          <a:p>
            <a:pPr>
              <a:buNone/>
            </a:pPr>
            <a:r>
              <a:rPr lang="en-AU" sz="2400" dirty="0">
                <a:solidFill>
                  <a:srgbClr val="FF0000"/>
                </a:solidFill>
              </a:rPr>
              <a:t>	R2: IF income=low THEN </a:t>
            </a:r>
            <a:r>
              <a:rPr lang="en-AU" sz="2400" dirty="0" err="1">
                <a:solidFill>
                  <a:srgbClr val="FF0000"/>
                </a:solidFill>
              </a:rPr>
              <a:t>buys_computer</a:t>
            </a:r>
            <a:r>
              <a:rPr lang="en-AU" sz="2400" dirty="0">
                <a:solidFill>
                  <a:srgbClr val="FF0000"/>
                </a:solidFill>
              </a:rPr>
              <a:t>=no </a:t>
            </a:r>
          </a:p>
          <a:p>
            <a:pPr>
              <a:buNone/>
            </a:pPr>
            <a:endParaRPr lang="en-AU" sz="2400" dirty="0"/>
          </a:p>
          <a:p>
            <a:r>
              <a:rPr lang="en-AU" sz="2400" dirty="0"/>
              <a:t>Need a conflict resolution strategy </a:t>
            </a:r>
          </a:p>
          <a:p>
            <a:r>
              <a:rPr lang="en-AU" sz="2400" dirty="0"/>
              <a:t>Size ordering approach  </a:t>
            </a:r>
          </a:p>
          <a:p>
            <a:pPr lvl="1"/>
            <a:r>
              <a:rPr lang="en-AU" sz="2200" dirty="0"/>
              <a:t>Give priority to the rule having the toughest requirement  </a:t>
            </a:r>
          </a:p>
          <a:p>
            <a:pPr lvl="1"/>
            <a:r>
              <a:rPr lang="en-AU" sz="2200" dirty="0"/>
              <a:t>Toughness is measured by the rule antecedent size  </a:t>
            </a:r>
          </a:p>
          <a:p>
            <a:pPr lvl="1"/>
            <a:r>
              <a:rPr lang="en-AU" sz="2200" dirty="0"/>
              <a:t>The triggering rule with the most attribute sets is fired </a:t>
            </a:r>
          </a:p>
          <a:p>
            <a:r>
              <a:rPr lang="en-AU" sz="2400" dirty="0"/>
              <a:t>Rule ordering approach </a:t>
            </a:r>
          </a:p>
          <a:p>
            <a:pPr lvl="1"/>
            <a:r>
              <a:rPr lang="en-AU" sz="2200" dirty="0"/>
              <a:t>Prioritize the rules beforehand  </a:t>
            </a:r>
          </a:p>
          <a:p>
            <a:pPr lvl="1"/>
            <a:r>
              <a:rPr lang="en-AU" sz="2200" dirty="0"/>
              <a:t>Class-based ordering  </a:t>
            </a:r>
          </a:p>
          <a:p>
            <a:pPr lvl="1"/>
            <a:r>
              <a:rPr lang="en-AU" sz="2200" dirty="0"/>
              <a:t>Rule-based ordering</a:t>
            </a:r>
            <a:endParaRPr lang="en-US" sz="22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Using IF-THEN Rules for Classification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Rule Extraction from a Decision Tree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062" name="Rectangle 60"/>
          <p:cNvSpPr>
            <a:spLocks noChangeArrowheads="1"/>
          </p:cNvSpPr>
          <p:nvPr/>
        </p:nvSpPr>
        <p:spPr bwMode="auto">
          <a:xfrm>
            <a:off x="304800" y="1524000"/>
            <a:ext cx="6248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+mn-lt"/>
              </a:rPr>
              <a:t>Rules are </a:t>
            </a:r>
            <a:r>
              <a:rPr lang="en-US" sz="2400" i="1" dirty="0">
                <a:latin typeface="+mn-lt"/>
              </a:rPr>
              <a:t>easier to understand</a:t>
            </a:r>
            <a:r>
              <a:rPr lang="en-US" sz="2400" dirty="0">
                <a:latin typeface="+mn-lt"/>
              </a:rPr>
              <a:t> than large trees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+mn-lt"/>
              </a:rPr>
              <a:t>One rule is created </a:t>
            </a:r>
            <a:r>
              <a:rPr lang="en-US" sz="2400" i="1" dirty="0">
                <a:latin typeface="+mn-lt"/>
              </a:rPr>
              <a:t>for each path</a:t>
            </a:r>
            <a:r>
              <a:rPr lang="en-US" sz="2400" dirty="0">
                <a:latin typeface="+mn-lt"/>
              </a:rPr>
              <a:t> from the root to a leaf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+mn-lt"/>
              </a:rPr>
              <a:t>Each attribute-value pair along a path forms a conjunction: the leaf holds the class prediction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+mn-lt"/>
              </a:rPr>
              <a:t>Rules are mutually exclusive and exhaustive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Rule Extraction from a Decision Tree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5181600" y="1600200"/>
            <a:ext cx="3581400" cy="3276600"/>
            <a:chOff x="3504" y="144"/>
            <a:chExt cx="2091" cy="1248"/>
          </a:xfrm>
        </p:grpSpPr>
        <p:sp>
          <p:nvSpPr>
            <p:cNvPr id="45063" name="Rectangle 34"/>
            <p:cNvSpPr>
              <a:spLocks noChangeArrowheads="1"/>
            </p:cNvSpPr>
            <p:nvPr/>
          </p:nvSpPr>
          <p:spPr bwMode="auto">
            <a:xfrm>
              <a:off x="4272" y="144"/>
              <a:ext cx="336" cy="200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en-US" sz="1400">
                  <a:latin typeface="Times New Roman" pitchFamily="18" charset="0"/>
                </a:rPr>
                <a:t>age?</a:t>
              </a:r>
            </a:p>
          </p:txBody>
        </p:sp>
        <p:grpSp>
          <p:nvGrpSpPr>
            <p:cNvPr id="3" name="Group 58"/>
            <p:cNvGrpSpPr>
              <a:grpSpLocks/>
            </p:cNvGrpSpPr>
            <p:nvPr/>
          </p:nvGrpSpPr>
          <p:grpSpPr bwMode="auto">
            <a:xfrm>
              <a:off x="3504" y="290"/>
              <a:ext cx="2091" cy="1102"/>
              <a:chOff x="3504" y="144"/>
              <a:chExt cx="2091" cy="1102"/>
            </a:xfrm>
          </p:grpSpPr>
          <p:sp>
            <p:nvSpPr>
              <p:cNvPr id="45065" name="Rectangle 36"/>
              <p:cNvSpPr>
                <a:spLocks noChangeArrowheads="1"/>
              </p:cNvSpPr>
              <p:nvPr/>
            </p:nvSpPr>
            <p:spPr bwMode="auto">
              <a:xfrm>
                <a:off x="3717" y="528"/>
                <a:ext cx="498" cy="200"/>
              </a:xfrm>
              <a:prstGeom prst="rect">
                <a:avLst/>
              </a:prstGeom>
              <a:solidFill>
                <a:srgbClr val="00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student?</a:t>
                </a:r>
              </a:p>
            </p:txBody>
          </p:sp>
          <p:sp>
            <p:nvSpPr>
              <p:cNvPr id="45066" name="Rectangle 37"/>
              <p:cNvSpPr>
                <a:spLocks noChangeArrowheads="1"/>
              </p:cNvSpPr>
              <p:nvPr/>
            </p:nvSpPr>
            <p:spPr bwMode="auto">
              <a:xfrm>
                <a:off x="4824" y="528"/>
                <a:ext cx="718" cy="200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credit rating?</a:t>
                </a:r>
              </a:p>
            </p:txBody>
          </p:sp>
          <p:sp>
            <p:nvSpPr>
              <p:cNvPr id="45067" name="Line 38"/>
              <p:cNvSpPr>
                <a:spLocks noChangeShapeType="1"/>
              </p:cNvSpPr>
              <p:nvPr/>
            </p:nvSpPr>
            <p:spPr bwMode="auto">
              <a:xfrm flipH="1">
                <a:off x="3971" y="155"/>
                <a:ext cx="317" cy="41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68" name="Line 39"/>
              <p:cNvSpPr>
                <a:spLocks noChangeShapeType="1"/>
              </p:cNvSpPr>
              <p:nvPr/>
            </p:nvSpPr>
            <p:spPr bwMode="auto">
              <a:xfrm flipH="1">
                <a:off x="4481" y="169"/>
                <a:ext cx="0" cy="17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69" name="Line 40"/>
              <p:cNvSpPr>
                <a:spLocks noChangeShapeType="1"/>
              </p:cNvSpPr>
              <p:nvPr/>
            </p:nvSpPr>
            <p:spPr bwMode="auto">
              <a:xfrm>
                <a:off x="4636" y="144"/>
                <a:ext cx="534" cy="44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0" name="Rectangle 41"/>
              <p:cNvSpPr>
                <a:spLocks noChangeArrowheads="1"/>
              </p:cNvSpPr>
              <p:nvPr/>
            </p:nvSpPr>
            <p:spPr bwMode="auto">
              <a:xfrm>
                <a:off x="3889" y="288"/>
                <a:ext cx="330" cy="181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 b="1">
                    <a:latin typeface="Times New Roman" pitchFamily="18" charset="0"/>
                  </a:rPr>
                  <a:t>&lt;=30</a:t>
                </a:r>
                <a:endParaRPr lang="en-US" sz="1200">
                  <a:latin typeface="Times New Roman" pitchFamily="18" charset="0"/>
                </a:endParaRPr>
              </a:p>
            </p:txBody>
          </p:sp>
          <p:sp>
            <p:nvSpPr>
              <p:cNvPr id="45071" name="Rectangle 42"/>
              <p:cNvSpPr>
                <a:spLocks noChangeArrowheads="1"/>
              </p:cNvSpPr>
              <p:nvPr/>
            </p:nvSpPr>
            <p:spPr bwMode="auto">
              <a:xfrm>
                <a:off x="4828" y="325"/>
                <a:ext cx="267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 b="1">
                    <a:latin typeface="Times New Roman" pitchFamily="18" charset="0"/>
                  </a:rPr>
                  <a:t>&gt;40</a:t>
                </a:r>
                <a:endParaRPr lang="en-US" sz="1200">
                  <a:latin typeface="Times New Roman" pitchFamily="18" charset="0"/>
                </a:endParaRPr>
              </a:p>
            </p:txBody>
          </p:sp>
          <p:sp>
            <p:nvSpPr>
              <p:cNvPr id="45072" name="Line 43"/>
              <p:cNvSpPr>
                <a:spLocks noChangeShapeType="1"/>
              </p:cNvSpPr>
              <p:nvPr/>
            </p:nvSpPr>
            <p:spPr bwMode="auto">
              <a:xfrm flipH="1">
                <a:off x="3636" y="743"/>
                <a:ext cx="268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3" name="Line 44"/>
              <p:cNvSpPr>
                <a:spLocks noChangeShapeType="1"/>
              </p:cNvSpPr>
              <p:nvPr/>
            </p:nvSpPr>
            <p:spPr bwMode="auto">
              <a:xfrm>
                <a:off x="4026" y="743"/>
                <a:ext cx="244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4" name="Line 45"/>
              <p:cNvSpPr>
                <a:spLocks noChangeShapeType="1"/>
              </p:cNvSpPr>
              <p:nvPr/>
            </p:nvSpPr>
            <p:spPr bwMode="auto">
              <a:xfrm flipH="1">
                <a:off x="4856" y="743"/>
                <a:ext cx="244" cy="2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5" name="Line 46"/>
              <p:cNvSpPr>
                <a:spLocks noChangeShapeType="1"/>
              </p:cNvSpPr>
              <p:nvPr/>
            </p:nvSpPr>
            <p:spPr bwMode="auto">
              <a:xfrm>
                <a:off x="5246" y="743"/>
                <a:ext cx="220" cy="2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6" name="Line 47"/>
              <p:cNvSpPr>
                <a:spLocks noChangeShapeType="1"/>
              </p:cNvSpPr>
              <p:nvPr/>
            </p:nvSpPr>
            <p:spPr bwMode="auto">
              <a:xfrm>
                <a:off x="4481" y="438"/>
                <a:ext cx="0" cy="1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7" name="Rectangle 48"/>
              <p:cNvSpPr>
                <a:spLocks noChangeArrowheads="1"/>
              </p:cNvSpPr>
              <p:nvPr/>
            </p:nvSpPr>
            <p:spPr bwMode="auto">
              <a:xfrm>
                <a:off x="3504" y="1054"/>
                <a:ext cx="228" cy="192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no</a:t>
                </a:r>
              </a:p>
            </p:txBody>
          </p:sp>
          <p:sp>
            <p:nvSpPr>
              <p:cNvPr id="45078" name="Rectangle 49"/>
              <p:cNvSpPr>
                <a:spLocks noChangeArrowheads="1"/>
              </p:cNvSpPr>
              <p:nvPr/>
            </p:nvSpPr>
            <p:spPr bwMode="auto">
              <a:xfrm>
                <a:off x="4139" y="1054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yes</a:t>
                </a:r>
              </a:p>
            </p:txBody>
          </p:sp>
          <p:sp>
            <p:nvSpPr>
              <p:cNvPr id="45079" name="Rectangle 50"/>
              <p:cNvSpPr>
                <a:spLocks noChangeArrowheads="1"/>
              </p:cNvSpPr>
              <p:nvPr/>
            </p:nvSpPr>
            <p:spPr bwMode="auto">
              <a:xfrm>
                <a:off x="5329" y="1030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yes</a:t>
                </a:r>
              </a:p>
            </p:txBody>
          </p:sp>
          <p:sp>
            <p:nvSpPr>
              <p:cNvPr id="45080" name="Rectangle 51"/>
              <p:cNvSpPr>
                <a:spLocks noChangeArrowheads="1"/>
              </p:cNvSpPr>
              <p:nvPr/>
            </p:nvSpPr>
            <p:spPr bwMode="auto">
              <a:xfrm>
                <a:off x="4348" y="595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yes</a:t>
                </a:r>
              </a:p>
            </p:txBody>
          </p:sp>
          <p:sp>
            <p:nvSpPr>
              <p:cNvPr id="45081" name="Rectangle 52"/>
              <p:cNvSpPr>
                <a:spLocks noChangeArrowheads="1"/>
              </p:cNvSpPr>
              <p:nvPr/>
            </p:nvSpPr>
            <p:spPr bwMode="auto">
              <a:xfrm>
                <a:off x="4295" y="335"/>
                <a:ext cx="341" cy="96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1200" b="1">
                    <a:latin typeface="Times New Roman" pitchFamily="18" charset="0"/>
                  </a:rPr>
                  <a:t>31..40</a:t>
                </a:r>
                <a:endParaRPr lang="en-US" sz="1200">
                  <a:latin typeface="Times New Roman" pitchFamily="18" charset="0"/>
                </a:endParaRPr>
              </a:p>
            </p:txBody>
          </p:sp>
          <p:sp>
            <p:nvSpPr>
              <p:cNvPr id="45082" name="Rectangle 53"/>
              <p:cNvSpPr>
                <a:spLocks noChangeArrowheads="1"/>
              </p:cNvSpPr>
              <p:nvPr/>
            </p:nvSpPr>
            <p:spPr bwMode="auto">
              <a:xfrm rot="-143156">
                <a:off x="4723" y="1030"/>
                <a:ext cx="228" cy="192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no</a:t>
                </a:r>
              </a:p>
            </p:txBody>
          </p:sp>
          <p:sp>
            <p:nvSpPr>
              <p:cNvPr id="45083" name="Rectangle 54"/>
              <p:cNvSpPr>
                <a:spLocks noChangeArrowheads="1"/>
              </p:cNvSpPr>
              <p:nvPr/>
            </p:nvSpPr>
            <p:spPr bwMode="auto">
              <a:xfrm>
                <a:off x="5242" y="815"/>
                <a:ext cx="250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>
                    <a:latin typeface="Times New Roman" pitchFamily="18" charset="0"/>
                  </a:rPr>
                  <a:t>fair</a:t>
                </a:r>
              </a:p>
            </p:txBody>
          </p:sp>
          <p:sp>
            <p:nvSpPr>
              <p:cNvPr id="45084" name="Rectangle 55"/>
              <p:cNvSpPr>
                <a:spLocks noChangeArrowheads="1"/>
              </p:cNvSpPr>
              <p:nvPr/>
            </p:nvSpPr>
            <p:spPr bwMode="auto">
              <a:xfrm>
                <a:off x="4682" y="815"/>
                <a:ext cx="465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>
                    <a:latin typeface="Times New Roman" pitchFamily="18" charset="0"/>
                  </a:rPr>
                  <a:t>excellent</a:t>
                </a:r>
              </a:p>
            </p:txBody>
          </p:sp>
          <p:sp>
            <p:nvSpPr>
              <p:cNvPr id="45085" name="Rectangle 56"/>
              <p:cNvSpPr>
                <a:spLocks noChangeArrowheads="1"/>
              </p:cNvSpPr>
              <p:nvPr/>
            </p:nvSpPr>
            <p:spPr bwMode="auto">
              <a:xfrm>
                <a:off x="4070" y="839"/>
                <a:ext cx="244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>
                    <a:latin typeface="Times New Roman" pitchFamily="18" charset="0"/>
                  </a:rPr>
                  <a:t>yes</a:t>
                </a:r>
              </a:p>
            </p:txBody>
          </p:sp>
          <p:sp>
            <p:nvSpPr>
              <p:cNvPr id="45086" name="Rectangle 57"/>
              <p:cNvSpPr>
                <a:spLocks noChangeArrowheads="1"/>
              </p:cNvSpPr>
              <p:nvPr/>
            </p:nvSpPr>
            <p:spPr bwMode="auto">
              <a:xfrm>
                <a:off x="3637" y="839"/>
                <a:ext cx="218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>
                    <a:latin typeface="Times New Roman" pitchFamily="18" charset="0"/>
                  </a:rPr>
                  <a:t>no</a:t>
                </a:r>
              </a:p>
            </p:txBody>
          </p:sp>
        </p:grpSp>
      </p:grp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4876800" cy="2362200"/>
          </a:xfrm>
        </p:spPr>
        <p:txBody>
          <a:bodyPr/>
          <a:lstStyle/>
          <a:p>
            <a:pPr eaLnBrk="1" hangingPunct="1"/>
            <a:r>
              <a:rPr lang="en-US" sz="2400" dirty="0"/>
              <a:t>Example: Rule extraction from our </a:t>
            </a:r>
            <a:r>
              <a:rPr lang="en-US" sz="2400" i="1" dirty="0" err="1"/>
              <a:t>buys_computer</a:t>
            </a:r>
            <a:r>
              <a:rPr lang="en-US" sz="2400" dirty="0"/>
              <a:t> decision-tree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sz="2000" dirty="0"/>
              <a:t>IF </a:t>
            </a:r>
            <a:r>
              <a:rPr lang="en-US" sz="2000" i="1" dirty="0"/>
              <a:t>age</a:t>
            </a:r>
            <a:r>
              <a:rPr lang="en-US" sz="2000" dirty="0"/>
              <a:t> = young AND </a:t>
            </a:r>
            <a:r>
              <a:rPr lang="en-US" sz="2000" i="1" dirty="0"/>
              <a:t>student</a:t>
            </a:r>
            <a:r>
              <a:rPr lang="en-US" sz="2000" dirty="0"/>
              <a:t> = </a:t>
            </a:r>
            <a:r>
              <a:rPr lang="en-US" sz="2000" i="1" dirty="0"/>
              <a:t>no</a:t>
            </a:r>
            <a:r>
              <a:rPr lang="en-US" sz="2000" dirty="0"/>
              <a:t>                 THEN </a:t>
            </a:r>
            <a:r>
              <a:rPr lang="en-US" sz="2000" i="1" dirty="0" err="1"/>
              <a:t>buys_computer</a:t>
            </a:r>
            <a:r>
              <a:rPr lang="en-US" sz="2000" dirty="0"/>
              <a:t> = </a:t>
            </a:r>
            <a:r>
              <a:rPr lang="en-US" sz="2000" i="1" dirty="0"/>
              <a:t>no</a:t>
            </a:r>
            <a:endParaRPr lang="en-US" sz="2000" dirty="0"/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/>
              <a:t>IF </a:t>
            </a:r>
            <a:r>
              <a:rPr lang="en-US" sz="2000" i="1" dirty="0"/>
              <a:t>age</a:t>
            </a:r>
            <a:r>
              <a:rPr lang="en-US" sz="2000" dirty="0"/>
              <a:t> = young AND </a:t>
            </a:r>
            <a:r>
              <a:rPr lang="en-US" sz="2000" i="1" dirty="0"/>
              <a:t>student</a:t>
            </a:r>
            <a:r>
              <a:rPr lang="en-US" sz="2000" dirty="0"/>
              <a:t> = </a:t>
            </a:r>
            <a:r>
              <a:rPr lang="en-US" sz="2000" i="1" dirty="0"/>
              <a:t>yes</a:t>
            </a:r>
            <a:r>
              <a:rPr lang="en-US" sz="2000" dirty="0"/>
              <a:t>                THEN </a:t>
            </a:r>
            <a:r>
              <a:rPr lang="en-US" sz="2000" i="1" dirty="0" err="1"/>
              <a:t>buys_computer</a:t>
            </a:r>
            <a:r>
              <a:rPr lang="en-US" sz="2000" dirty="0"/>
              <a:t> = </a:t>
            </a:r>
            <a:r>
              <a:rPr lang="en-US" sz="2000" i="1" dirty="0"/>
              <a:t>yes</a:t>
            </a:r>
            <a:endParaRPr lang="en-US" sz="2000" dirty="0"/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/>
              <a:t>IF </a:t>
            </a:r>
            <a:r>
              <a:rPr lang="en-US" sz="2000" i="1" dirty="0"/>
              <a:t>age</a:t>
            </a:r>
            <a:r>
              <a:rPr lang="en-US" sz="2000" dirty="0"/>
              <a:t> = mid-age 		           THEN </a:t>
            </a:r>
            <a:r>
              <a:rPr lang="en-US" sz="2000" i="1" dirty="0" err="1"/>
              <a:t>buys_computer</a:t>
            </a:r>
            <a:r>
              <a:rPr lang="en-US" sz="2000" dirty="0"/>
              <a:t> = </a:t>
            </a:r>
            <a:r>
              <a:rPr lang="en-US" sz="2000" i="1" dirty="0"/>
              <a:t>yes</a:t>
            </a:r>
            <a:endParaRPr lang="en-US" sz="2000" dirty="0"/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/>
              <a:t>IF </a:t>
            </a:r>
            <a:r>
              <a:rPr lang="en-US" sz="2000" i="1" dirty="0"/>
              <a:t>age</a:t>
            </a:r>
            <a:r>
              <a:rPr lang="en-US" sz="2000" dirty="0"/>
              <a:t> = old AND </a:t>
            </a:r>
            <a:r>
              <a:rPr lang="en-US" sz="2000" i="1" dirty="0" err="1"/>
              <a:t>credit_rating</a:t>
            </a:r>
            <a:r>
              <a:rPr lang="en-US" sz="2000" dirty="0"/>
              <a:t> = </a:t>
            </a:r>
            <a:r>
              <a:rPr lang="en-US" sz="2000" i="1" dirty="0"/>
              <a:t>excellent</a:t>
            </a:r>
            <a:r>
              <a:rPr lang="en-US" sz="2000" dirty="0"/>
              <a:t>    THEN </a:t>
            </a:r>
            <a:r>
              <a:rPr lang="en-US" sz="2000" i="1" dirty="0" err="1"/>
              <a:t>buys_computer</a:t>
            </a:r>
            <a:r>
              <a:rPr lang="en-US" sz="2000" i="1" dirty="0"/>
              <a:t> </a:t>
            </a:r>
            <a:r>
              <a:rPr lang="en-US" sz="2000" dirty="0"/>
              <a:t>= </a:t>
            </a:r>
            <a:r>
              <a:rPr lang="en-US" sz="2000" i="1" dirty="0"/>
              <a:t>no</a:t>
            </a:r>
            <a:endParaRPr lang="en-US" sz="2000" dirty="0"/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/>
              <a:t>IF </a:t>
            </a:r>
            <a:r>
              <a:rPr lang="en-US" sz="2000" i="1" dirty="0"/>
              <a:t>age</a:t>
            </a:r>
            <a:r>
              <a:rPr lang="en-US" sz="2000" dirty="0"/>
              <a:t> = old AND </a:t>
            </a:r>
            <a:r>
              <a:rPr lang="en-US" sz="2000" i="1" dirty="0" err="1"/>
              <a:t>credit_rating</a:t>
            </a:r>
            <a:r>
              <a:rPr lang="en-US" sz="2000" dirty="0"/>
              <a:t> = </a:t>
            </a:r>
            <a:r>
              <a:rPr lang="en-US" sz="2000" i="1" dirty="0"/>
              <a:t>fair</a:t>
            </a:r>
            <a:r>
              <a:rPr lang="en-US" sz="2000" dirty="0"/>
              <a:t>           THEN </a:t>
            </a:r>
            <a:r>
              <a:rPr lang="en-US" sz="2000" i="1" dirty="0" err="1"/>
              <a:t>buys_computer</a:t>
            </a:r>
            <a:r>
              <a:rPr lang="en-US" sz="2000" dirty="0"/>
              <a:t> = </a:t>
            </a:r>
            <a:r>
              <a:rPr lang="en-US" sz="2000" i="1" dirty="0"/>
              <a:t>yes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991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Sequential covering algorithm: Extracts rules directly from training data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Rules are learned </a:t>
            </a:r>
            <a:r>
              <a:rPr lang="en-US" sz="2400" i="1" dirty="0"/>
              <a:t>sequentially</a:t>
            </a:r>
            <a:r>
              <a:rPr lang="en-US" sz="2400" dirty="0"/>
              <a:t>, each for a given class </a:t>
            </a:r>
            <a:r>
              <a:rPr lang="en-US" sz="2400" dirty="0" err="1"/>
              <a:t>C</a:t>
            </a:r>
            <a:r>
              <a:rPr lang="en-US" sz="2400" baseline="-25000" dirty="0" err="1"/>
              <a:t>i</a:t>
            </a:r>
            <a:r>
              <a:rPr lang="en-US" sz="2400" baseline="-25000" dirty="0"/>
              <a:t> </a:t>
            </a:r>
            <a:r>
              <a:rPr lang="en-US" sz="2400" dirty="0"/>
              <a:t>will cover many </a:t>
            </a:r>
            <a:r>
              <a:rPr lang="en-US" sz="2400" dirty="0" err="1"/>
              <a:t>tuples</a:t>
            </a:r>
            <a:r>
              <a:rPr lang="en-US" sz="2400" dirty="0"/>
              <a:t> of </a:t>
            </a:r>
            <a:r>
              <a:rPr lang="en-US" sz="2400" dirty="0" err="1"/>
              <a:t>C</a:t>
            </a:r>
            <a:r>
              <a:rPr lang="en-US" sz="2400" baseline="-25000" dirty="0" err="1"/>
              <a:t>i</a:t>
            </a:r>
            <a:r>
              <a:rPr lang="en-US" sz="2400" baseline="-25000" dirty="0"/>
              <a:t> </a:t>
            </a:r>
            <a:r>
              <a:rPr lang="en-US" sz="2400" dirty="0"/>
              <a:t>but none (or few) of the </a:t>
            </a:r>
            <a:r>
              <a:rPr lang="en-US" sz="2400" dirty="0" err="1"/>
              <a:t>tuples</a:t>
            </a:r>
            <a:r>
              <a:rPr lang="en-US" sz="2400" dirty="0"/>
              <a:t> of other classes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Steps: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Rules are learned one at a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Each time a rule is learned, the </a:t>
            </a:r>
            <a:r>
              <a:rPr lang="en-US" sz="2400" dirty="0" err="1"/>
              <a:t>tuples</a:t>
            </a:r>
            <a:r>
              <a:rPr lang="en-US" sz="2400" dirty="0"/>
              <a:t> covered by the rules are removed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Repeat the process on the remaining </a:t>
            </a:r>
            <a:r>
              <a:rPr lang="en-US" sz="2400" dirty="0" err="1"/>
              <a:t>tuples</a:t>
            </a:r>
            <a:r>
              <a:rPr lang="en-US" sz="2400" dirty="0"/>
              <a:t> until </a:t>
            </a:r>
            <a:r>
              <a:rPr lang="en-US" sz="2400" i="1" dirty="0"/>
              <a:t>termination condition</a:t>
            </a:r>
            <a:r>
              <a:rPr lang="en-US" sz="2400" dirty="0"/>
              <a:t>, e.g., when no more training examples or when the quality of a rule returned is below a user-specified threshold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Comp. w. decision-tree induction: learning a set of rules </a:t>
            </a:r>
            <a:r>
              <a:rPr lang="en-US" sz="2400" i="1" dirty="0"/>
              <a:t>simultaneously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Rule Induction: Sequential Covering Method 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How to Learn-One-Rule?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19200"/>
            <a:ext cx="8686800" cy="5181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/>
              <a:t>Start with the </a:t>
            </a:r>
            <a:r>
              <a:rPr lang="en-US" sz="2400" i="1" dirty="0"/>
              <a:t>most general rule</a:t>
            </a:r>
            <a:r>
              <a:rPr lang="en-US" sz="2400" dirty="0"/>
              <a:t> possible: condition = empty</a:t>
            </a:r>
          </a:p>
          <a:p>
            <a:pPr eaLnBrk="1" hangingPunct="1"/>
            <a:r>
              <a:rPr lang="en-US" sz="2400" i="1" dirty="0"/>
              <a:t>Adding new attributes</a:t>
            </a:r>
            <a:r>
              <a:rPr lang="en-US" sz="2400" dirty="0"/>
              <a:t> by adopting a greedy depth-first strategy</a:t>
            </a:r>
          </a:p>
          <a:p>
            <a:pPr lvl="1" eaLnBrk="1" hangingPunct="1"/>
            <a:r>
              <a:rPr lang="en-US" sz="2400" dirty="0"/>
              <a:t>Picks the one that most improves the rule quality</a:t>
            </a:r>
          </a:p>
          <a:p>
            <a:pPr eaLnBrk="1" hangingPunct="1"/>
            <a:r>
              <a:rPr lang="en-US" sz="2400" dirty="0"/>
              <a:t>Rule-Quality measures: consider both coverage and accuracy</a:t>
            </a:r>
          </a:p>
          <a:p>
            <a:pPr lvl="1" eaLnBrk="1" hangingPunct="1"/>
            <a:r>
              <a:rPr lang="en-US" sz="2400" dirty="0"/>
              <a:t>Foil-gain : assesses </a:t>
            </a:r>
            <a:r>
              <a:rPr lang="en-US" sz="2400" dirty="0" err="1"/>
              <a:t>info_gain</a:t>
            </a:r>
            <a:r>
              <a:rPr lang="en-US" sz="2400" dirty="0"/>
              <a:t> by extending condition</a:t>
            </a:r>
          </a:p>
          <a:p>
            <a:pPr lvl="1" eaLnBrk="1" hangingPunct="1"/>
            <a:endParaRPr lang="en-US" sz="2400" dirty="0"/>
          </a:p>
          <a:p>
            <a:pPr lvl="2" eaLnBrk="1" hangingPunct="1"/>
            <a:endParaRPr lang="en-US" sz="2000" dirty="0"/>
          </a:p>
          <a:p>
            <a:pPr lvl="2" eaLnBrk="1" hangingPunct="1"/>
            <a:endParaRPr lang="en-US" sz="2000" dirty="0"/>
          </a:p>
          <a:p>
            <a:pPr lvl="2" eaLnBrk="1" hangingPunct="1"/>
            <a:r>
              <a:rPr lang="en-US" sz="2000" dirty="0"/>
              <a:t>favors rules that have high accuracy and cover many positive </a:t>
            </a:r>
            <a:r>
              <a:rPr lang="en-US" sz="2000" dirty="0" err="1"/>
              <a:t>tuples</a:t>
            </a:r>
            <a:endParaRPr lang="en-US" sz="2000" dirty="0"/>
          </a:p>
        </p:txBody>
      </p:sp>
      <p:graphicFrame>
        <p:nvGraphicFramePr>
          <p:cNvPr id="49157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676400" y="4419600"/>
          <a:ext cx="5105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65280" imgH="419040" progId="Equation.3">
                  <p:embed/>
                </p:oleObj>
              </mc:Choice>
              <mc:Fallback>
                <p:oleObj name="Equation" r:id="rId3" imgW="336528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419600"/>
                        <a:ext cx="5105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7AFD74-5170-4EB8-8EBC-53EAF0F4BFEE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257300" y="381000"/>
            <a:ext cx="66294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Lazy vs. Eager Learning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158163" cy="501015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u="sng" dirty="0"/>
              <a:t>Lazy vs. Eager learning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b="1" dirty="0"/>
              <a:t>Lazy learning</a:t>
            </a:r>
            <a:r>
              <a:rPr lang="en-US" altLang="en-US" sz="2400" dirty="0"/>
              <a:t> (e.g., instance-based learning): Simply stores training data (or only minor processing) and waits until it is given a test tuple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b="1" dirty="0"/>
              <a:t>Eager learning</a:t>
            </a:r>
            <a:r>
              <a:rPr lang="en-US" altLang="en-US" sz="2400" dirty="0"/>
              <a:t> (the above discussed methods): Given a set of training tuples, constructs a classification model before receiving new (e.g., test) data to classify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Lazy: less time in training but more time in predicting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Accuracy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Lazy method effectively uses a richer hypothesis space since it uses many local linear functions to form an implicit global approximation to the target function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Eager: must commit to a single hypothesis that covers the entire instance space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052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421481" y="-1"/>
            <a:ext cx="8286750" cy="1076325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 dirty="0"/>
              <a:t>Lazy Learner: Instance-Based Methods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4362" y="1371600"/>
            <a:ext cx="7958138" cy="50292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Instance-based learning: </a:t>
            </a:r>
          </a:p>
          <a:p>
            <a:pPr lvl="1" eaLnBrk="1" hangingPunct="1"/>
            <a:r>
              <a:rPr lang="en-US" altLang="en-US" sz="2400" dirty="0"/>
              <a:t>Store training examples and delay the processing (“lazy evaluation”) until a new instance must be classified</a:t>
            </a:r>
          </a:p>
          <a:p>
            <a:pPr eaLnBrk="1" hangingPunct="1"/>
            <a:r>
              <a:rPr lang="en-US" altLang="en-US" sz="2400" dirty="0"/>
              <a:t>Typical approaches</a:t>
            </a:r>
            <a:endParaRPr lang="en-US" altLang="en-US" sz="2400" u="sng" dirty="0"/>
          </a:p>
          <a:p>
            <a:pPr lvl="1" eaLnBrk="1" hangingPunct="1"/>
            <a:r>
              <a:rPr lang="en-US" altLang="en-US" sz="2400" i="1" u="sng" dirty="0"/>
              <a:t>k</a:t>
            </a:r>
            <a:r>
              <a:rPr lang="en-US" altLang="en-US" sz="2400" u="sng" dirty="0"/>
              <a:t>-nearest neighbor approach</a:t>
            </a:r>
            <a:endParaRPr lang="en-US" altLang="en-US" sz="2400" dirty="0"/>
          </a:p>
          <a:p>
            <a:pPr lvl="2" eaLnBrk="1" hangingPunct="1"/>
            <a:r>
              <a:rPr lang="en-US" altLang="en-US" sz="2400" dirty="0"/>
              <a:t>Instances represented as points in a Euclidean space.</a:t>
            </a:r>
          </a:p>
          <a:p>
            <a:pPr lvl="1" eaLnBrk="1" hangingPunct="1"/>
            <a:r>
              <a:rPr lang="en-US" altLang="en-US" sz="2400" u="sng" dirty="0"/>
              <a:t>Locally weighted regression</a:t>
            </a:r>
            <a:endParaRPr lang="en-US" altLang="en-US" sz="2400" dirty="0"/>
          </a:p>
          <a:p>
            <a:pPr lvl="2" eaLnBrk="1" hangingPunct="1"/>
            <a:r>
              <a:rPr lang="en-US" altLang="en-US" sz="2400" dirty="0"/>
              <a:t>Constructs local approximation</a:t>
            </a:r>
          </a:p>
          <a:p>
            <a:pPr lvl="1" eaLnBrk="1" hangingPunct="1"/>
            <a:r>
              <a:rPr lang="en-US" altLang="en-US" sz="2400" u="sng" dirty="0"/>
              <a:t>Case-based reasoning</a:t>
            </a:r>
            <a:endParaRPr lang="en-US" altLang="en-US" sz="2400" dirty="0"/>
          </a:p>
          <a:p>
            <a:pPr lvl="2" eaLnBrk="1" hangingPunct="1"/>
            <a:r>
              <a:rPr lang="en-US" altLang="en-US" sz="2400" dirty="0"/>
              <a:t>Uses symbolic representations and knowledge-based inference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0516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392906" y="0"/>
            <a:ext cx="8272463" cy="1014414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i="1" dirty="0"/>
              <a:t>k</a:t>
            </a:r>
            <a:r>
              <a:rPr lang="en-US" altLang="en-US" dirty="0"/>
              <a:t>-Nearest Neighbor Algorithm</a:t>
            </a:r>
            <a:endParaRPr lang="en-US" altLang="en-US" sz="3200" dirty="0"/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5782" y="1243014"/>
            <a:ext cx="8008144" cy="300672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000" dirty="0"/>
              <a:t>All instances correspond to points in the n-D space</a:t>
            </a:r>
          </a:p>
          <a:p>
            <a:pPr eaLnBrk="1" hangingPunct="1"/>
            <a:r>
              <a:rPr lang="en-US" altLang="en-US" sz="2000" dirty="0"/>
              <a:t>The nearest neighbor are defined in terms of Euclidean distance, </a:t>
            </a:r>
            <a:r>
              <a:rPr lang="en-US" altLang="en-US" sz="2000" dirty="0" err="1"/>
              <a:t>dist</a:t>
            </a:r>
            <a:r>
              <a:rPr lang="en-US" altLang="en-US" sz="2000" dirty="0"/>
              <a:t>(</a:t>
            </a:r>
            <a:r>
              <a:rPr lang="en-US" altLang="en-US" sz="2000" b="1" dirty="0"/>
              <a:t>X</a:t>
            </a:r>
            <a:r>
              <a:rPr lang="en-US" altLang="en-US" sz="2000" b="1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b="1" dirty="0"/>
              <a:t>X</a:t>
            </a:r>
            <a:r>
              <a:rPr lang="en-US" altLang="en-US" sz="2000" b="1" baseline="-25000" dirty="0"/>
              <a:t>2</a:t>
            </a:r>
            <a:r>
              <a:rPr lang="en-US" altLang="en-US" sz="2000" dirty="0"/>
              <a:t>)</a:t>
            </a:r>
          </a:p>
          <a:p>
            <a:pPr eaLnBrk="1" hangingPunct="1"/>
            <a:r>
              <a:rPr lang="en-US" altLang="en-US" sz="2000" dirty="0"/>
              <a:t>Target function could be discrete- or real- valued</a:t>
            </a:r>
          </a:p>
          <a:p>
            <a:pPr eaLnBrk="1" hangingPunct="1"/>
            <a:r>
              <a:rPr lang="en-US" altLang="en-US" sz="2000" dirty="0"/>
              <a:t>For discrete-valued, </a:t>
            </a:r>
            <a:r>
              <a:rPr lang="en-US" altLang="en-US" sz="2000" i="1" dirty="0"/>
              <a:t>k</a:t>
            </a:r>
            <a:r>
              <a:rPr lang="en-US" altLang="en-US" sz="2000" dirty="0"/>
              <a:t>-NN returns the most common value among the </a:t>
            </a:r>
            <a:r>
              <a:rPr lang="en-US" altLang="en-US" sz="2000" i="1" dirty="0"/>
              <a:t>k</a:t>
            </a:r>
            <a:r>
              <a:rPr lang="en-US" altLang="en-US" sz="2000" dirty="0"/>
              <a:t> training examples nearest to </a:t>
            </a:r>
            <a:r>
              <a:rPr lang="en-US" altLang="en-US" sz="2000" i="1" dirty="0" err="1"/>
              <a:t>x</a:t>
            </a:r>
            <a:r>
              <a:rPr lang="en-US" altLang="en-US" sz="2000" i="1" baseline="-25000" dirty="0" err="1"/>
              <a:t>q</a:t>
            </a:r>
            <a:endParaRPr lang="en-US" altLang="en-US" sz="2000" dirty="0"/>
          </a:p>
          <a:p>
            <a:pPr eaLnBrk="1" hangingPunct="1"/>
            <a:r>
              <a:rPr lang="en-US" altLang="en-US" sz="2000" dirty="0" err="1"/>
              <a:t>Vonoroi</a:t>
            </a:r>
            <a:r>
              <a:rPr lang="en-US" altLang="en-US" sz="2000" dirty="0"/>
              <a:t> diagram: the decision surface induced by 1-NN for a typical set of training examples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497807" y="4419600"/>
            <a:ext cx="5517356" cy="2063612"/>
            <a:chOff x="2168525" y="4724400"/>
            <a:chExt cx="7356475" cy="2063612"/>
          </a:xfrm>
        </p:grpSpPr>
        <p:sp>
          <p:nvSpPr>
            <p:cNvPr id="54277" name="Rectangle 4"/>
            <p:cNvSpPr>
              <a:spLocks noChangeArrowheads="1"/>
            </p:cNvSpPr>
            <p:nvPr/>
          </p:nvSpPr>
          <p:spPr bwMode="auto">
            <a:xfrm>
              <a:off x="2168525" y="4762501"/>
              <a:ext cx="3581400" cy="19050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78" name="Rectangle 5"/>
            <p:cNvSpPr>
              <a:spLocks noChangeArrowheads="1"/>
            </p:cNvSpPr>
            <p:nvPr/>
          </p:nvSpPr>
          <p:spPr bwMode="auto">
            <a:xfrm>
              <a:off x="6096000" y="4724400"/>
              <a:ext cx="3429000" cy="19050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79" name="Oval 6"/>
            <p:cNvSpPr>
              <a:spLocks noChangeArrowheads="1"/>
            </p:cNvSpPr>
            <p:nvPr/>
          </p:nvSpPr>
          <p:spPr bwMode="auto">
            <a:xfrm>
              <a:off x="3276600" y="5029200"/>
              <a:ext cx="1371600" cy="1447800"/>
            </a:xfrm>
            <a:prstGeom prst="ellipse">
              <a:avLst/>
            </a:prstGeom>
            <a:solidFill>
              <a:srgbClr val="FF6699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  . </a:t>
              </a:r>
            </a:p>
          </p:txBody>
        </p:sp>
        <p:sp>
          <p:nvSpPr>
            <p:cNvPr id="54280" name="Text Box 7"/>
            <p:cNvSpPr txBox="1">
              <a:spLocks noChangeArrowheads="1"/>
            </p:cNvSpPr>
            <p:nvPr/>
          </p:nvSpPr>
          <p:spPr bwMode="auto">
            <a:xfrm>
              <a:off x="3505200" y="5257801"/>
              <a:ext cx="4001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</a:p>
          </p:txBody>
        </p:sp>
        <p:sp>
          <p:nvSpPr>
            <p:cNvPr id="54281" name="Text Box 8"/>
            <p:cNvSpPr txBox="1">
              <a:spLocks noChangeArrowheads="1"/>
            </p:cNvSpPr>
            <p:nvPr/>
          </p:nvSpPr>
          <p:spPr bwMode="auto">
            <a:xfrm>
              <a:off x="4038600" y="5486401"/>
              <a:ext cx="4193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+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2" name="Text Box 9"/>
            <p:cNvSpPr txBox="1">
              <a:spLocks noChangeArrowheads="1"/>
            </p:cNvSpPr>
            <p:nvPr/>
          </p:nvSpPr>
          <p:spPr bwMode="auto">
            <a:xfrm>
              <a:off x="3352800" y="5715001"/>
              <a:ext cx="4001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</a:p>
          </p:txBody>
        </p:sp>
        <p:sp>
          <p:nvSpPr>
            <p:cNvPr id="54283" name="Text Box 10"/>
            <p:cNvSpPr txBox="1">
              <a:spLocks noChangeArrowheads="1"/>
            </p:cNvSpPr>
            <p:nvPr/>
          </p:nvSpPr>
          <p:spPr bwMode="auto">
            <a:xfrm>
              <a:off x="3962400" y="5791201"/>
              <a:ext cx="4920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1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x</a:t>
              </a:r>
              <a:r>
                <a:rPr kumimoji="0" lang="en-US" altLang="en-US" sz="1600" b="1" i="1" u="none" strike="noStrike" kern="1200" cap="none" spc="0" normalizeH="0" baseline="-2500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q</a:t>
              </a:r>
              <a:endParaRPr kumimoji="0" lang="en-US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4" name="Text Box 11"/>
            <p:cNvSpPr txBox="1">
              <a:spLocks noChangeArrowheads="1"/>
            </p:cNvSpPr>
            <p:nvPr/>
          </p:nvSpPr>
          <p:spPr bwMode="auto">
            <a:xfrm>
              <a:off x="3810001" y="6248401"/>
              <a:ext cx="29686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+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5" name="Text Box 12"/>
            <p:cNvSpPr txBox="1">
              <a:spLocks noChangeArrowheads="1"/>
            </p:cNvSpPr>
            <p:nvPr/>
          </p:nvSpPr>
          <p:spPr bwMode="auto">
            <a:xfrm>
              <a:off x="4114800" y="5105401"/>
              <a:ext cx="4001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6" name="Text Box 13"/>
            <p:cNvSpPr txBox="1">
              <a:spLocks noChangeArrowheads="1"/>
            </p:cNvSpPr>
            <p:nvPr/>
          </p:nvSpPr>
          <p:spPr bwMode="auto">
            <a:xfrm>
              <a:off x="4556125" y="5143501"/>
              <a:ext cx="4001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7" name="Text Box 14"/>
            <p:cNvSpPr txBox="1">
              <a:spLocks noChangeArrowheads="1"/>
            </p:cNvSpPr>
            <p:nvPr/>
          </p:nvSpPr>
          <p:spPr bwMode="auto">
            <a:xfrm>
              <a:off x="2879725" y="5372101"/>
              <a:ext cx="4193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+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88" name="Text Box 15"/>
            <p:cNvSpPr txBox="1">
              <a:spLocks noChangeArrowheads="1"/>
            </p:cNvSpPr>
            <p:nvPr/>
          </p:nvSpPr>
          <p:spPr bwMode="auto">
            <a:xfrm>
              <a:off x="3108325" y="6134101"/>
              <a:ext cx="4001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</a:p>
          </p:txBody>
        </p:sp>
        <p:sp>
          <p:nvSpPr>
            <p:cNvPr id="54289" name="Text Box 16"/>
            <p:cNvSpPr txBox="1">
              <a:spLocks noChangeArrowheads="1"/>
            </p:cNvSpPr>
            <p:nvPr/>
          </p:nvSpPr>
          <p:spPr bwMode="auto">
            <a:xfrm>
              <a:off x="3200400" y="4876801"/>
              <a:ext cx="4001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90" name="Text Box 17"/>
            <p:cNvSpPr txBox="1">
              <a:spLocks noChangeArrowheads="1"/>
            </p:cNvSpPr>
            <p:nvPr/>
          </p:nvSpPr>
          <p:spPr bwMode="auto">
            <a:xfrm>
              <a:off x="4632325" y="5753101"/>
              <a:ext cx="4193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1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+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91" name="Text Box 18"/>
            <p:cNvSpPr txBox="1">
              <a:spLocks noChangeArrowheads="1"/>
            </p:cNvSpPr>
            <p:nvPr/>
          </p:nvSpPr>
          <p:spPr bwMode="auto">
            <a:xfrm>
              <a:off x="7315200" y="4759326"/>
              <a:ext cx="41720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.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92" name="Line 19"/>
            <p:cNvSpPr>
              <a:spLocks noChangeShapeType="1"/>
            </p:cNvSpPr>
            <p:nvPr/>
          </p:nvSpPr>
          <p:spPr bwMode="auto">
            <a:xfrm>
              <a:off x="6705600" y="5181600"/>
              <a:ext cx="609600" cy="6096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3" name="Line 20"/>
            <p:cNvSpPr>
              <a:spLocks noChangeShapeType="1"/>
            </p:cNvSpPr>
            <p:nvPr/>
          </p:nvSpPr>
          <p:spPr bwMode="auto">
            <a:xfrm flipV="1">
              <a:off x="7315200" y="5410200"/>
              <a:ext cx="1295400" cy="3810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4" name="Line 21"/>
            <p:cNvSpPr>
              <a:spLocks noChangeShapeType="1"/>
            </p:cNvSpPr>
            <p:nvPr/>
          </p:nvSpPr>
          <p:spPr bwMode="auto">
            <a:xfrm>
              <a:off x="7315200" y="5791200"/>
              <a:ext cx="0" cy="3810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5" name="Line 22"/>
            <p:cNvSpPr>
              <a:spLocks noChangeShapeType="1"/>
            </p:cNvSpPr>
            <p:nvPr/>
          </p:nvSpPr>
          <p:spPr bwMode="auto">
            <a:xfrm>
              <a:off x="7315200" y="6172200"/>
              <a:ext cx="1447800" cy="3048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6" name="Line 23"/>
            <p:cNvSpPr>
              <a:spLocks noChangeShapeType="1"/>
            </p:cNvSpPr>
            <p:nvPr/>
          </p:nvSpPr>
          <p:spPr bwMode="auto">
            <a:xfrm flipH="1">
              <a:off x="6477000" y="6172200"/>
              <a:ext cx="838200" cy="2286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7" name="Line 24"/>
            <p:cNvSpPr>
              <a:spLocks noChangeShapeType="1"/>
            </p:cNvSpPr>
            <p:nvPr/>
          </p:nvSpPr>
          <p:spPr bwMode="auto">
            <a:xfrm>
              <a:off x="8305800" y="5486400"/>
              <a:ext cx="228600" cy="91440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298" name="Rectangle 25"/>
            <p:cNvSpPr>
              <a:spLocks noChangeArrowheads="1"/>
            </p:cNvSpPr>
            <p:nvPr/>
          </p:nvSpPr>
          <p:spPr bwMode="auto">
            <a:xfrm>
              <a:off x="7772400" y="5521326"/>
              <a:ext cx="41720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.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299" name="Text Box 26"/>
            <p:cNvSpPr txBox="1">
              <a:spLocks noChangeArrowheads="1"/>
            </p:cNvSpPr>
            <p:nvPr/>
          </p:nvSpPr>
          <p:spPr bwMode="auto">
            <a:xfrm>
              <a:off x="7299325" y="6080126"/>
              <a:ext cx="41720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.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300" name="Text Box 27"/>
            <p:cNvSpPr txBox="1">
              <a:spLocks noChangeArrowheads="1"/>
            </p:cNvSpPr>
            <p:nvPr/>
          </p:nvSpPr>
          <p:spPr bwMode="auto">
            <a:xfrm>
              <a:off x="6623051" y="5334001"/>
              <a:ext cx="41720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.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54301" name="Text Box 28"/>
            <p:cNvSpPr txBox="1">
              <a:spLocks noChangeArrowheads="1"/>
            </p:cNvSpPr>
            <p:nvPr/>
          </p:nvSpPr>
          <p:spPr bwMode="auto">
            <a:xfrm>
              <a:off x="8839200" y="5394326"/>
              <a:ext cx="41720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4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.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377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620000" cy="6858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 dirty="0"/>
              <a:t>Discussion on the </a:t>
            </a:r>
            <a:r>
              <a:rPr lang="en-US" altLang="en-US" i="1" dirty="0"/>
              <a:t>k</a:t>
            </a:r>
            <a:r>
              <a:rPr lang="en-US" altLang="en-US" dirty="0"/>
              <a:t>-NN Algorithm</a:t>
            </a:r>
            <a:endParaRPr lang="en-US" altLang="en-US" sz="3200" dirty="0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056" y="1447800"/>
            <a:ext cx="7958138" cy="50292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i="1" dirty="0"/>
              <a:t>k</a:t>
            </a:r>
            <a:r>
              <a:rPr lang="en-US" altLang="en-US" sz="2400" dirty="0"/>
              <a:t>-NN for </a:t>
            </a:r>
            <a:r>
              <a:rPr lang="en-US" altLang="en-US" sz="2400" u="sng" dirty="0"/>
              <a:t>real-valued prediction</a:t>
            </a:r>
            <a:r>
              <a:rPr lang="en-US" altLang="en-US" sz="2400" dirty="0"/>
              <a:t> for a given unknown tuple</a:t>
            </a:r>
          </a:p>
          <a:p>
            <a:pPr lvl="1" eaLnBrk="1" hangingPunct="1"/>
            <a:r>
              <a:rPr lang="en-US" altLang="en-US" sz="2400" dirty="0"/>
              <a:t>Returns the mean values of the</a:t>
            </a:r>
            <a:r>
              <a:rPr lang="en-US" altLang="en-US" sz="2400" i="1" dirty="0"/>
              <a:t> k</a:t>
            </a:r>
            <a:r>
              <a:rPr lang="en-US" altLang="en-US" sz="2400" dirty="0"/>
              <a:t> nearest neighbors</a:t>
            </a:r>
          </a:p>
          <a:p>
            <a:pPr eaLnBrk="1" hangingPunct="1"/>
            <a:r>
              <a:rPr lang="en-US" altLang="en-US" sz="2400" u="sng" dirty="0"/>
              <a:t>Distance-weighted</a:t>
            </a:r>
            <a:r>
              <a:rPr lang="en-US" altLang="en-US" sz="2400" dirty="0"/>
              <a:t> nearest neighbor algorithm</a:t>
            </a:r>
          </a:p>
          <a:p>
            <a:pPr lvl="1" eaLnBrk="1" hangingPunct="1"/>
            <a:r>
              <a:rPr lang="en-US" altLang="en-US" sz="2400" dirty="0"/>
              <a:t>Weight the contribution of each of the </a:t>
            </a:r>
            <a:r>
              <a:rPr lang="en-US" altLang="en-US" sz="2400" i="1" dirty="0"/>
              <a:t>k</a:t>
            </a:r>
            <a:r>
              <a:rPr lang="en-US" altLang="en-US" sz="2400" dirty="0"/>
              <a:t> neighbors according to their distance to the query </a:t>
            </a:r>
            <a:r>
              <a:rPr lang="en-US" altLang="en-US" sz="2400" i="1" dirty="0" err="1"/>
              <a:t>x</a:t>
            </a:r>
            <a:r>
              <a:rPr lang="en-US" altLang="en-US" sz="2400" i="1" baseline="-25000" dirty="0" err="1"/>
              <a:t>q</a:t>
            </a:r>
            <a:endParaRPr lang="en-US" altLang="en-US" sz="2400" dirty="0"/>
          </a:p>
          <a:p>
            <a:pPr lvl="2" eaLnBrk="1" hangingPunct="1"/>
            <a:r>
              <a:rPr lang="en-US" altLang="en-US" sz="2400" dirty="0">
                <a:solidFill>
                  <a:srgbClr val="FF0000"/>
                </a:solidFill>
              </a:rPr>
              <a:t>Give greater weight to closer neighbors</a:t>
            </a:r>
          </a:p>
          <a:p>
            <a:pPr eaLnBrk="1" hangingPunct="1"/>
            <a:r>
              <a:rPr lang="en-US" altLang="en-US" sz="2400" u="sng" dirty="0"/>
              <a:t>Robust</a:t>
            </a:r>
            <a:r>
              <a:rPr lang="en-US" altLang="en-US" sz="2400" dirty="0"/>
              <a:t> to noisy data by averaging </a:t>
            </a:r>
            <a:r>
              <a:rPr lang="en-US" altLang="en-US" sz="2400" i="1" dirty="0"/>
              <a:t>k</a:t>
            </a:r>
            <a:r>
              <a:rPr lang="en-US" altLang="en-US" sz="2400" dirty="0"/>
              <a:t>-nearest neighbors</a:t>
            </a:r>
          </a:p>
          <a:p>
            <a:pPr eaLnBrk="1" hangingPunct="1"/>
            <a:r>
              <a:rPr lang="en-US" altLang="en-US" sz="2400" u="sng" dirty="0"/>
              <a:t>Curse of dimensionality</a:t>
            </a:r>
            <a:r>
              <a:rPr lang="en-US" altLang="en-US" sz="2400" dirty="0"/>
              <a:t>: distance between neighbors could be dominated by irrelevant attributes   </a:t>
            </a:r>
          </a:p>
          <a:p>
            <a:pPr lvl="1" eaLnBrk="1" hangingPunct="1"/>
            <a:r>
              <a:rPr lang="en-US" altLang="en-US" sz="2400" dirty="0"/>
              <a:t>To overcome it, axes stretch or elimination of the least relevant attributes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01" name="Object 4"/>
              <p:cNvSpPr txBox="1"/>
              <p:nvPr/>
            </p:nvSpPr>
            <p:spPr bwMode="auto">
              <a:xfrm>
                <a:off x="6985088" y="3505200"/>
                <a:ext cx="1976437" cy="9509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𝑤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530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85088" y="3505200"/>
                <a:ext cx="1976437" cy="95091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816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Acknowledgement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 eaLnBrk="1" hangingPunct="1"/>
            <a:r>
              <a:rPr lang="en-US" sz="2600" dirty="0" err="1"/>
              <a:t>Jiawei</a:t>
            </a:r>
            <a:r>
              <a:rPr lang="en-US" sz="2600" dirty="0"/>
              <a:t> Han (UIUC)  (CS412)</a:t>
            </a:r>
          </a:p>
          <a:p>
            <a:pPr lvl="1" eaLnBrk="1" hangingPunct="1"/>
            <a:r>
              <a:rPr lang="en-US" dirty="0" err="1"/>
              <a:t>Vipin</a:t>
            </a:r>
            <a:r>
              <a:rPr lang="en-US" dirty="0"/>
              <a:t> Kumar et al., University of Minnesota at Twin Cities</a:t>
            </a:r>
          </a:p>
          <a:p>
            <a:pPr lvl="1" eaLnBrk="1" hangingPunct="1"/>
            <a:endParaRPr lang="en-US" dirty="0"/>
          </a:p>
          <a:p>
            <a:pPr lvl="1" eaLnBrk="1" hangingPunct="1">
              <a:buNone/>
            </a:pPr>
            <a:endParaRPr lang="en-US" sz="2600" dirty="0"/>
          </a:p>
          <a:p>
            <a:pPr lvl="1"/>
            <a:endParaRPr lang="en-US" dirty="0"/>
          </a:p>
          <a:p>
            <a:pPr lvl="1" eaLnBrk="1" hangingPunct="1"/>
            <a:endParaRPr lang="en-US" sz="2600" dirty="0"/>
          </a:p>
          <a:p>
            <a:pPr lvl="1" eaLnBrk="1" hangingPunct="1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2848</TotalTime>
  <Words>3841</Words>
  <Application>Microsoft Office PowerPoint</Application>
  <PresentationFormat>On-screen Show (4:3)</PresentationFormat>
  <Paragraphs>546</Paragraphs>
  <Slides>24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Cambria Math</vt:lpstr>
      <vt:lpstr>Times New Roman</vt:lpstr>
      <vt:lpstr>Wingdings</vt:lpstr>
      <vt:lpstr>Network</vt:lpstr>
      <vt:lpstr>Equation</vt:lpstr>
      <vt:lpstr>Worksheet</vt:lpstr>
      <vt:lpstr>Data Mining (CSE 6506)  </vt:lpstr>
      <vt:lpstr>Bayes’ Theorem: Basics</vt:lpstr>
      <vt:lpstr>Bayes’ Theorem Example: Picnic Day</vt:lpstr>
      <vt:lpstr>PowerPoint Presentation</vt:lpstr>
      <vt:lpstr>PowerPoint Presentation</vt:lpstr>
      <vt:lpstr>PowerPoint Presentation</vt:lpstr>
      <vt:lpstr>Naïve Bayes Classifier: Example 2</vt:lpstr>
      <vt:lpstr>Naïve Bayes Classifier</vt:lpstr>
      <vt:lpstr>PowerPoint Presentation</vt:lpstr>
      <vt:lpstr>Naïve Bayes Classifier: Strength vs. Weakness</vt:lpstr>
      <vt:lpstr>Naïve Bayes Classifier: Strength vs. Weakness</vt:lpstr>
      <vt:lpstr>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Lazy vs. Eager Learning</vt:lpstr>
      <vt:lpstr>Lazy Learner: Instance-Based Methods</vt:lpstr>
      <vt:lpstr>The k-Nearest Neighbor Algorithm</vt:lpstr>
      <vt:lpstr>Discussion on the k-NN Algorithm</vt:lpstr>
      <vt:lpstr>Acknowledgement</vt:lpstr>
    </vt:vector>
  </TitlesOfParts>
  <Company>Orion Research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COVERAGE IN HETEROGENEOUS SENSOR NETWORK</dc:title>
  <dc:creator>Orion</dc:creator>
  <cp:lastModifiedBy>Md Manirujjaman</cp:lastModifiedBy>
  <cp:revision>183</cp:revision>
  <dcterms:created xsi:type="dcterms:W3CDTF">2006-11-09T03:30:31Z</dcterms:created>
  <dcterms:modified xsi:type="dcterms:W3CDTF">2026-03-29T14:40:04Z</dcterms:modified>
</cp:coreProperties>
</file>