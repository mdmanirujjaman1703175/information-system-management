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5" r:id="rId1"/>
  </p:sldMasterIdLst>
  <p:notesMasterIdLst>
    <p:notesMasterId r:id="rId85"/>
  </p:notesMasterIdLst>
  <p:handoutMasterIdLst>
    <p:handoutMasterId r:id="rId86"/>
  </p:handoutMasterIdLst>
  <p:sldIdLst>
    <p:sldId id="429" r:id="rId2"/>
    <p:sldId id="466" r:id="rId3"/>
    <p:sldId id="467" r:id="rId4"/>
    <p:sldId id="529" r:id="rId5"/>
    <p:sldId id="530" r:id="rId6"/>
    <p:sldId id="468" r:id="rId7"/>
    <p:sldId id="469" r:id="rId8"/>
    <p:sldId id="470" r:id="rId9"/>
    <p:sldId id="471" r:id="rId10"/>
    <p:sldId id="472" r:id="rId11"/>
    <p:sldId id="473" r:id="rId12"/>
    <p:sldId id="474" r:id="rId13"/>
    <p:sldId id="475" r:id="rId14"/>
    <p:sldId id="476" r:id="rId15"/>
    <p:sldId id="477" r:id="rId16"/>
    <p:sldId id="478" r:id="rId17"/>
    <p:sldId id="479" r:id="rId18"/>
    <p:sldId id="480" r:id="rId19"/>
    <p:sldId id="481" r:id="rId20"/>
    <p:sldId id="482" r:id="rId21"/>
    <p:sldId id="483" r:id="rId22"/>
    <p:sldId id="484" r:id="rId23"/>
    <p:sldId id="485" r:id="rId24"/>
    <p:sldId id="486" r:id="rId25"/>
    <p:sldId id="487" r:id="rId26"/>
    <p:sldId id="488" r:id="rId27"/>
    <p:sldId id="489" r:id="rId28"/>
    <p:sldId id="490" r:id="rId29"/>
    <p:sldId id="491" r:id="rId30"/>
    <p:sldId id="492" r:id="rId31"/>
    <p:sldId id="493" r:id="rId32"/>
    <p:sldId id="494" r:id="rId33"/>
    <p:sldId id="495" r:id="rId34"/>
    <p:sldId id="531" r:id="rId35"/>
    <p:sldId id="532" r:id="rId36"/>
    <p:sldId id="533" r:id="rId37"/>
    <p:sldId id="534" r:id="rId38"/>
    <p:sldId id="496" r:id="rId39"/>
    <p:sldId id="497" r:id="rId40"/>
    <p:sldId id="498" r:id="rId41"/>
    <p:sldId id="535" r:id="rId42"/>
    <p:sldId id="499" r:id="rId43"/>
    <p:sldId id="536" r:id="rId44"/>
    <p:sldId id="500" r:id="rId45"/>
    <p:sldId id="537" r:id="rId46"/>
    <p:sldId id="501" r:id="rId47"/>
    <p:sldId id="538" r:id="rId48"/>
    <p:sldId id="539" r:id="rId49"/>
    <p:sldId id="540" r:id="rId50"/>
    <p:sldId id="541" r:id="rId51"/>
    <p:sldId id="502" r:id="rId52"/>
    <p:sldId id="503" r:id="rId53"/>
    <p:sldId id="504" r:id="rId54"/>
    <p:sldId id="505" r:id="rId55"/>
    <p:sldId id="506" r:id="rId56"/>
    <p:sldId id="507" r:id="rId57"/>
    <p:sldId id="508" r:id="rId58"/>
    <p:sldId id="509" r:id="rId59"/>
    <p:sldId id="510" r:id="rId60"/>
    <p:sldId id="511" r:id="rId61"/>
    <p:sldId id="542" r:id="rId62"/>
    <p:sldId id="512" r:id="rId63"/>
    <p:sldId id="513" r:id="rId64"/>
    <p:sldId id="514" r:id="rId65"/>
    <p:sldId id="543" r:id="rId66"/>
    <p:sldId id="544" r:id="rId67"/>
    <p:sldId id="545" r:id="rId68"/>
    <p:sldId id="546" r:id="rId69"/>
    <p:sldId id="547" r:id="rId70"/>
    <p:sldId id="515" r:id="rId71"/>
    <p:sldId id="516" r:id="rId72"/>
    <p:sldId id="517" r:id="rId73"/>
    <p:sldId id="518" r:id="rId74"/>
    <p:sldId id="519" r:id="rId75"/>
    <p:sldId id="520" r:id="rId76"/>
    <p:sldId id="521" r:id="rId77"/>
    <p:sldId id="522" r:id="rId78"/>
    <p:sldId id="523" r:id="rId79"/>
    <p:sldId id="524" r:id="rId80"/>
    <p:sldId id="525" r:id="rId81"/>
    <p:sldId id="526" r:id="rId82"/>
    <p:sldId id="527" r:id="rId83"/>
    <p:sldId id="528" r:id="rId84"/>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94" autoAdjust="0"/>
    <p:restoredTop sz="75425" autoAdjust="0"/>
  </p:normalViewPr>
  <p:slideViewPr>
    <p:cSldViewPr>
      <p:cViewPr varScale="1">
        <p:scale>
          <a:sx n="62" d="100"/>
          <a:sy n="62" d="100"/>
        </p:scale>
        <p:origin x="2059"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78851" name="Rectangle 3"/>
          <p:cNvSpPr>
            <a:spLocks noGrp="1" noChangeArrowheads="1"/>
          </p:cNvSpPr>
          <p:nvPr>
            <p:ph type="dt" sz="quarter" idx="1"/>
          </p:nvPr>
        </p:nvSpPr>
        <p:spPr bwMode="auto">
          <a:xfrm>
            <a:off x="3970338"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78852" name="Rectangle 4"/>
          <p:cNvSpPr>
            <a:spLocks noGrp="1" noChangeArrowheads="1"/>
          </p:cNvSpPr>
          <p:nvPr>
            <p:ph type="ftr" sz="quarter" idx="2"/>
          </p:nvPr>
        </p:nvSpPr>
        <p:spPr bwMode="auto">
          <a:xfrm>
            <a:off x="0"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78853" name="Rectangle 5"/>
          <p:cNvSpPr>
            <a:spLocks noGrp="1" noChangeArrowheads="1"/>
          </p:cNvSpPr>
          <p:nvPr>
            <p:ph type="sldNum" sz="quarter" idx="3"/>
          </p:nvPr>
        </p:nvSpPr>
        <p:spPr bwMode="auto">
          <a:xfrm>
            <a:off x="3970338"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F9EFEA9-66BC-4174-926C-F8093975A336}"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pPr>
              <a:defRPr/>
            </a:pPr>
            <a:fld id="{1BD0B02A-F0B0-4301-8903-DF68581631A0}" type="datetimeFigureOut">
              <a:rPr lang="en-US"/>
              <a:pPr>
                <a:defRPr/>
              </a:pPr>
              <a:t>3/29/2026</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pPr>
              <a:defRPr/>
            </a:pPr>
            <a:fld id="{C6A44F01-B7E3-454B-9683-8F374F9D0B7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xfrm>
            <a:off x="1179636" y="699471"/>
            <a:ext cx="4655945" cy="3482949"/>
          </a:xfrm>
          <a:ln/>
        </p:spPr>
      </p:sp>
      <p:sp>
        <p:nvSpPr>
          <p:cNvPr id="44035" name="Rectangle 3"/>
          <p:cNvSpPr>
            <a:spLocks noGrp="1" noChangeArrowheads="1"/>
          </p:cNvSpPr>
          <p:nvPr>
            <p:ph type="body" idx="1"/>
          </p:nvPr>
        </p:nvSpPr>
        <p:spPr>
          <a:xfrm>
            <a:off x="934078" y="4416111"/>
            <a:ext cx="5142244" cy="4180819"/>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59" tIns="45774" rIns="91559" bIns="45774"/>
          <a:lstStyle/>
          <a:p>
            <a:endParaRPr lang="en-US" altLang="en-US"/>
          </a:p>
        </p:txBody>
      </p:sp>
    </p:spTree>
    <p:extLst>
      <p:ext uri="{BB962C8B-B14F-4D97-AF65-F5344CB8AC3E}">
        <p14:creationId xmlns:p14="http://schemas.microsoft.com/office/powerpoint/2010/main" val="2381228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complexity of the </a:t>
            </a:r>
            <a:r>
              <a:rPr lang="en-US" dirty="0" err="1"/>
              <a:t>Apriori</a:t>
            </a:r>
            <a:r>
              <a:rPr lang="en-US" dirty="0"/>
              <a:t> algorithm is affected by several factors including the choice of minimum support threshold, dimensionality of the dataset, size of the database, and average transaction width. A lower support threshold increases the number of frequent </a:t>
            </a:r>
            <a:r>
              <a:rPr lang="en-US" dirty="0" err="1"/>
              <a:t>itemsets</a:t>
            </a:r>
            <a:r>
              <a:rPr lang="en-US" dirty="0"/>
              <a:t> and candidates, while higher dimensionality and wider transactions increase the number of possible combinations. Additionally, larger databases increase the number of scans and I/O cost, making the algorithm more computationally expensive.</a:t>
            </a:r>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3</a:t>
            </a:fld>
            <a:endParaRPr lang="en-US"/>
          </a:p>
        </p:txBody>
      </p:sp>
    </p:spTree>
    <p:extLst>
      <p:ext uri="{BB962C8B-B14F-4D97-AF65-F5344CB8AC3E}">
        <p14:creationId xmlns:p14="http://schemas.microsoft.com/office/powerpoint/2010/main" val="3372317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shows that lowering the support threshold significantly increases both the number of candidate and frequent </a:t>
            </a:r>
            <a:r>
              <a:rPr lang="en-US" dirty="0" err="1"/>
              <a:t>itemsets</a:t>
            </a:r>
            <a:r>
              <a:rPr lang="en-US" dirty="0"/>
              <a:t>, leading to higher computational complexity in the </a:t>
            </a:r>
            <a:r>
              <a:rPr lang="en-US" dirty="0" err="1"/>
              <a:t>Apriori</a:t>
            </a:r>
            <a:r>
              <a:rPr lang="en-US" dirty="0"/>
              <a:t> algorithm. The number of </a:t>
            </a:r>
            <a:r>
              <a:rPr lang="en-US" dirty="0" err="1"/>
              <a:t>itemsets</a:t>
            </a:r>
            <a:r>
              <a:rPr lang="en-US" dirty="0"/>
              <a:t> increases rapidly for medium-sized </a:t>
            </a:r>
            <a:r>
              <a:rPr lang="en-US" dirty="0" err="1"/>
              <a:t>itemsets</a:t>
            </a:r>
            <a:r>
              <a:rPr lang="en-US" dirty="0"/>
              <a:t> and then decreases for larger sizes. Thus, a lower support threshold causes candidate explosion, while a higher support threshold reduces the number of </a:t>
            </a:r>
            <a:r>
              <a:rPr lang="en-US" dirty="0" err="1"/>
              <a:t>itemsets</a:t>
            </a:r>
            <a:r>
              <a:rPr lang="en-US" dirty="0"/>
              <a:t> and improves efficiency.</a:t>
            </a:r>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4</a:t>
            </a:fld>
            <a:endParaRPr lang="en-US"/>
          </a:p>
        </p:txBody>
      </p:sp>
    </p:spTree>
    <p:extLst>
      <p:ext uri="{BB962C8B-B14F-4D97-AF65-F5344CB8AC3E}">
        <p14:creationId xmlns:p14="http://schemas.microsoft.com/office/powerpoint/2010/main" val="2884107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Factors Affecting Complexity of </a:t>
            </a:r>
            <a:r>
              <a:rPr lang="en-US" b="1" dirty="0" err="1"/>
              <a:t>Apriori</a:t>
            </a:r>
            <a:r>
              <a:rPr lang="en-US" b="1" dirty="0"/>
              <a:t> – Short Explanation</a:t>
            </a:r>
            <a:endParaRPr lang="en-US" dirty="0"/>
          </a:p>
          <a:p>
            <a:r>
              <a:rPr lang="en-US" b="1" dirty="0"/>
              <a:t>Support threshold is the main factor:</a:t>
            </a:r>
            <a:r>
              <a:rPr lang="en-US" dirty="0"/>
              <a:t> </a:t>
            </a:r>
          </a:p>
          <a:p>
            <a:pPr lvl="1"/>
            <a:r>
              <a:rPr lang="en-US" b="1" dirty="0"/>
              <a:t>Low support → many candidate </a:t>
            </a:r>
            <a:r>
              <a:rPr lang="en-US" b="1" dirty="0" err="1"/>
              <a:t>itemsets</a:t>
            </a:r>
            <a:r>
              <a:rPr lang="en-US" b="1" dirty="0"/>
              <a:t> → high complexity</a:t>
            </a:r>
            <a:r>
              <a:rPr lang="en-US" dirty="0"/>
              <a:t> </a:t>
            </a:r>
          </a:p>
          <a:p>
            <a:pPr lvl="1"/>
            <a:r>
              <a:rPr lang="en-US" b="1" dirty="0"/>
              <a:t>High support → fewer candidates → low complexity</a:t>
            </a:r>
            <a:r>
              <a:rPr lang="en-US" dirty="0"/>
              <a:t> </a:t>
            </a:r>
          </a:p>
          <a:p>
            <a:r>
              <a:rPr lang="en-US" dirty="0"/>
              <a:t>Number of </a:t>
            </a:r>
            <a:r>
              <a:rPr lang="en-US" b="1" dirty="0"/>
              <a:t>candidate </a:t>
            </a:r>
            <a:r>
              <a:rPr lang="en-US" b="1" dirty="0" err="1"/>
              <a:t>itemsets</a:t>
            </a:r>
            <a:r>
              <a:rPr lang="en-US" b="1" dirty="0"/>
              <a:t> increases first</a:t>
            </a:r>
            <a:r>
              <a:rPr lang="en-US" dirty="0"/>
              <a:t>, then decreases as itemset size grows. </a:t>
            </a:r>
          </a:p>
          <a:p>
            <a:r>
              <a:rPr lang="en-US" dirty="0"/>
              <a:t>More candidates → more </a:t>
            </a:r>
            <a:r>
              <a:rPr lang="en-US" b="1" dirty="0"/>
              <a:t>database scans and computations</a:t>
            </a:r>
            <a:r>
              <a:rPr lang="en-US" dirty="0"/>
              <a:t>.</a:t>
            </a:r>
          </a:p>
          <a:p>
            <a:endParaRPr lang="en-US" dirty="0"/>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5</a:t>
            </a:fld>
            <a:endParaRPr lang="en-US"/>
          </a:p>
        </p:txBody>
      </p:sp>
    </p:spTree>
    <p:extLst>
      <p:ext uri="{BB962C8B-B14F-4D97-AF65-F5344CB8AC3E}">
        <p14:creationId xmlns:p14="http://schemas.microsoft.com/office/powerpoint/2010/main" val="42098552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shows that increasing the average transaction width significantly increases the number of candidate and frequent </a:t>
            </a:r>
            <a:r>
              <a:rPr lang="en-US" dirty="0" err="1"/>
              <a:t>itemsets</a:t>
            </a:r>
            <a:r>
              <a:rPr lang="en-US" dirty="0"/>
              <a:t>. Wider transactions contain more items, leading to a larger number of possible subsets and combinations. This results in higher computational complexity and memory usage in the </a:t>
            </a:r>
            <a:r>
              <a:rPr lang="en-US" dirty="0" err="1"/>
              <a:t>Apriori</a:t>
            </a:r>
            <a:r>
              <a:rPr lang="en-US" dirty="0"/>
              <a:t> algorithm, making it less efficient for dense datasets. </a:t>
            </a:r>
          </a:p>
          <a:p>
            <a:r>
              <a:rPr lang="en-US" dirty="0"/>
              <a:t>The number of candidate and frequent </a:t>
            </a:r>
            <a:r>
              <a:rPr lang="en-US" dirty="0" err="1"/>
              <a:t>itemsets</a:t>
            </a:r>
            <a:r>
              <a:rPr lang="en-US" dirty="0"/>
              <a:t> decreases as the size of </a:t>
            </a:r>
            <a:r>
              <a:rPr lang="en-US" dirty="0" err="1"/>
              <a:t>itemsets</a:t>
            </a:r>
            <a:r>
              <a:rPr lang="en-US" dirty="0"/>
              <a:t> increases because larger </a:t>
            </a:r>
            <a:r>
              <a:rPr lang="en-US" dirty="0" err="1"/>
              <a:t>itemsets</a:t>
            </a:r>
            <a:r>
              <a:rPr lang="en-US" dirty="0"/>
              <a:t> have lower support and are less likely to appear in many transactions. According to the </a:t>
            </a:r>
            <a:r>
              <a:rPr lang="en-US" dirty="0" err="1"/>
              <a:t>Apriori</a:t>
            </a:r>
            <a:r>
              <a:rPr lang="en-US" dirty="0"/>
              <a:t> property, if any subset of an itemset is infrequent, the entire itemset is pruned. This significantly reduces the number of candidates at higher levels, causing the number of </a:t>
            </a:r>
            <a:r>
              <a:rPr lang="en-US" dirty="0" err="1"/>
              <a:t>itemsets</a:t>
            </a:r>
            <a:r>
              <a:rPr lang="en-US" dirty="0"/>
              <a:t> to decrease regardless of transaction width.</a:t>
            </a:r>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6</a:t>
            </a:fld>
            <a:endParaRPr lang="en-US"/>
          </a:p>
        </p:txBody>
      </p:sp>
    </p:spTree>
    <p:extLst>
      <p:ext uri="{BB962C8B-B14F-4D97-AF65-F5344CB8AC3E}">
        <p14:creationId xmlns:p14="http://schemas.microsoft.com/office/powerpoint/2010/main" val="554698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a:t>
            </a:r>
            <a:r>
              <a:rPr lang="en-US" dirty="0" err="1"/>
              <a:t>itemsets</a:t>
            </a:r>
            <a:r>
              <a:rPr lang="en-US" dirty="0"/>
              <a:t> are redundant because they have the same support as their supersets when items always occur together in transactions. This leads to a very large number of frequent </a:t>
            </a:r>
            <a:r>
              <a:rPr lang="en-US" dirty="0" err="1"/>
              <a:t>itemsets</a:t>
            </a:r>
            <a:r>
              <a:rPr lang="en-US" dirty="0"/>
              <a:t>, as all subsets become frequent. Therefore, storing all </a:t>
            </a:r>
            <a:r>
              <a:rPr lang="en-US" dirty="0" err="1"/>
              <a:t>itemsets</a:t>
            </a:r>
            <a:r>
              <a:rPr lang="en-US" dirty="0"/>
              <a:t> is inefficient, and compact representations such as closed or maximal </a:t>
            </a:r>
            <a:r>
              <a:rPr lang="en-US" dirty="0" err="1"/>
              <a:t>itemsets</a:t>
            </a:r>
            <a:r>
              <a:rPr lang="en-US" dirty="0"/>
              <a:t> are used to reduce redundancy.</a:t>
            </a:r>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7</a:t>
            </a:fld>
            <a:endParaRPr lang="en-US"/>
          </a:p>
        </p:txBody>
      </p:sp>
    </p:spTree>
    <p:extLst>
      <p:ext uri="{BB962C8B-B14F-4D97-AF65-F5344CB8AC3E}">
        <p14:creationId xmlns:p14="http://schemas.microsoft.com/office/powerpoint/2010/main" val="3436685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maximal frequent itemset is a frequent itemset for which none of its supersets is frequent. It represents the largest frequent patterns and lies on the boundary between frequent and infrequent </a:t>
            </a:r>
            <a:r>
              <a:rPr lang="en-US" dirty="0" err="1"/>
              <a:t>itemsets</a:t>
            </a:r>
            <a:r>
              <a:rPr lang="en-US" dirty="0"/>
              <a:t>. Storing maximal frequent </a:t>
            </a:r>
            <a:r>
              <a:rPr lang="en-US" dirty="0" err="1"/>
              <a:t>itemsets</a:t>
            </a:r>
            <a:r>
              <a:rPr lang="en-US" dirty="0"/>
              <a:t> helps reduce redundancy since all their subsets are also frequent.</a:t>
            </a:r>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8</a:t>
            </a:fld>
            <a:endParaRPr lang="en-US"/>
          </a:p>
        </p:txBody>
      </p:sp>
    </p:spTree>
    <p:extLst>
      <p:ext uri="{BB962C8B-B14F-4D97-AF65-F5344CB8AC3E}">
        <p14:creationId xmlns:p14="http://schemas.microsoft.com/office/powerpoint/2010/main" val="2635357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 </a:t>
            </a:r>
            <a:r>
              <a:rPr lang="en-US" dirty="0" err="1"/>
              <a:t>Itemsets</a:t>
            </a:r>
            <a:r>
              <a:rPr lang="en-US" dirty="0"/>
              <a:t>:</a:t>
            </a:r>
          </a:p>
          <a:p>
            <a:endParaRPr lang="en-US" dirty="0"/>
          </a:p>
          <a:p>
            <a:r>
              <a:rPr lang="en-US" dirty="0"/>
              <a:t>{B}</a:t>
            </a:r>
          </a:p>
          <a:p>
            <a:r>
              <a:rPr lang="en-US" dirty="0"/>
              <a:t>{A,B}</a:t>
            </a:r>
          </a:p>
          <a:p>
            <a:r>
              <a:rPr lang="en-US" dirty="0"/>
              <a:t>{B,C}</a:t>
            </a:r>
          </a:p>
          <a:p>
            <a:r>
              <a:rPr lang="en-US" dirty="0"/>
              <a:t>{B,D}</a:t>
            </a:r>
          </a:p>
          <a:p>
            <a:r>
              <a:rPr lang="en-US" dirty="0"/>
              <a:t>{C,D}</a:t>
            </a:r>
          </a:p>
          <a:p>
            <a:r>
              <a:rPr lang="en-US" dirty="0"/>
              <a:t>{A,B,D}</a:t>
            </a:r>
          </a:p>
          <a:p>
            <a:r>
              <a:rPr lang="en-US" dirty="0"/>
              <a:t>{A,B,C,D}</a:t>
            </a:r>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21</a:t>
            </a:fld>
            <a:endParaRPr lang="en-US"/>
          </a:p>
        </p:txBody>
      </p:sp>
    </p:spTree>
    <p:extLst>
      <p:ext uri="{BB962C8B-B14F-4D97-AF65-F5344CB8AC3E}">
        <p14:creationId xmlns:p14="http://schemas.microsoft.com/office/powerpoint/2010/main" val="981509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For dataset 1: Frequent </a:t>
                </a:r>
                <a:r>
                  <a:rPr lang="en-US" dirty="0" err="1"/>
                  <a:t>itemsets</a:t>
                </a:r>
                <a:r>
                  <a:rPr lang="en-US" dirty="0"/>
                  <a:t>=(2^5−1)+(2^5−1)=31+31 </a:t>
                </a:r>
                <a14:m>
                  <m:oMath xmlns:m="http://schemas.openxmlformats.org/officeDocument/2006/math">
                    <m:r>
                      <a:rPr lang="en-US" sz="1200" kern="1200">
                        <a:solidFill>
                          <a:schemeClr val="tx1"/>
                        </a:solidFill>
                        <a:latin typeface="Cambria Math" panose="02040503050406030204" pitchFamily="18" charset="0"/>
                        <a:ea typeface="+mn-ea"/>
                        <a:cs typeface="+mn-cs"/>
                      </a:rPr>
                      <m:t>=</m:t>
                    </m:r>
                    <m:borderBox>
                      <m:borderBoxPr>
                        <m:ctrlPr>
                          <a:rPr lang="ar-AE" sz="1200" i="1" kern="1200">
                            <a:solidFill>
                              <a:schemeClr val="tx1"/>
                            </a:solidFill>
                            <a:latin typeface="Cambria Math" panose="02040503050406030204" pitchFamily="18" charset="0"/>
                            <a:ea typeface="+mn-ea"/>
                            <a:cs typeface="+mn-cs"/>
                          </a:rPr>
                        </m:ctrlPr>
                      </m:borderBoxPr>
                      <m:e>
                        <m:r>
                          <a:rPr lang="ar-AE" sz="1200" i="0" kern="1200">
                            <a:solidFill>
                              <a:schemeClr val="tx1"/>
                            </a:solidFill>
                            <a:latin typeface="Cambria Math" panose="02040503050406030204" pitchFamily="18" charset="0"/>
                            <a:ea typeface="+mn-ea"/>
                            <a:cs typeface="+mn-cs"/>
                          </a:rPr>
                          <m:t>62</m:t>
                        </m:r>
                      </m:e>
                    </m:borderBox>
                  </m:oMath>
                </a14:m>
                <a:endParaRPr lang="ar-AE" dirty="0"/>
              </a:p>
              <a:p>
                <a:endParaRPr lang="en-US" dirty="0"/>
              </a:p>
            </p:txBody>
          </p:sp>
        </mc:Choice>
        <mc:Fallback xmlns="">
          <p:sp>
            <p:nvSpPr>
              <p:cNvPr id="3" name="Notes Placeholder 2"/>
              <p:cNvSpPr>
                <a:spLocks noGrp="1"/>
              </p:cNvSpPr>
              <p:nvPr>
                <p:ph type="body" idx="1"/>
              </p:nvPr>
            </p:nvSpPr>
            <p:spPr/>
            <p:txBody>
              <a:bodyPr/>
              <a:lstStyle/>
              <a:p>
                <a:r>
                  <a:rPr lang="en-US" dirty="0"/>
                  <a:t>For dataset 1: Frequent </a:t>
                </a:r>
                <a:r>
                  <a:rPr lang="en-US" dirty="0" err="1"/>
                  <a:t>itemsets</a:t>
                </a:r>
                <a:r>
                  <a:rPr lang="en-US" dirty="0"/>
                  <a:t>=(2^5−1)+(2^5−1)=31+31 </a:t>
                </a:r>
                <a:r>
                  <a:rPr lang="en-US" sz="1200" i="0" kern="1200">
                    <a:solidFill>
                      <a:schemeClr val="tx1"/>
                    </a:solidFill>
                    <a:latin typeface="+mn-lt"/>
                    <a:ea typeface="+mn-ea"/>
                    <a:cs typeface="+mn-cs"/>
                  </a:rPr>
                  <a:t>=</a:t>
                </a:r>
                <a:r>
                  <a:rPr lang="ar-AE" sz="1200" i="0" kern="1200">
                    <a:solidFill>
                      <a:schemeClr val="tx1"/>
                    </a:solidFill>
                    <a:latin typeface="+mn-lt"/>
                    <a:ea typeface="+mn-ea"/>
                    <a:cs typeface="+mn-cs"/>
                  </a:rPr>
                  <a:t>▭62</a:t>
                </a:r>
                <a:endParaRPr lang="ar-AE" dirty="0"/>
              </a:p>
              <a:p>
                <a:endParaRPr lang="en-US" dirty="0"/>
              </a:p>
            </p:txBody>
          </p:sp>
        </mc:Fallback>
      </mc:AlternateContent>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32</a:t>
            </a:fld>
            <a:endParaRPr lang="en-US"/>
          </a:p>
        </p:txBody>
      </p:sp>
    </p:spTree>
    <p:extLst>
      <p:ext uri="{BB962C8B-B14F-4D97-AF65-F5344CB8AC3E}">
        <p14:creationId xmlns:p14="http://schemas.microsoft.com/office/powerpoint/2010/main" val="1816673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Association rule algorithms produce many rules</a:t>
            </a:r>
            <a:br>
              <a:rPr lang="en-US" dirty="0"/>
            </a:br>
            <a:r>
              <a:rPr lang="en-US" dirty="0"/>
              <a:t>When we mine data, especially with low support, we get </a:t>
            </a:r>
            <a:r>
              <a:rPr lang="en-US" b="1" dirty="0"/>
              <a:t>too many rules</a:t>
            </a:r>
            <a:r>
              <a:rPr lang="en-US" dirty="0"/>
              <a:t>, many of which are not useful or meaningful. </a:t>
            </a:r>
            <a:r>
              <a:rPr lang="en-US" b="1" dirty="0"/>
              <a:t>So we need to filter them</a:t>
            </a:r>
            <a:br>
              <a:rPr lang="en-US" dirty="0"/>
            </a:br>
            <a:r>
              <a:rPr lang="en-US" dirty="0"/>
              <a:t>👉 That’s why we use </a:t>
            </a:r>
            <a:r>
              <a:rPr lang="en-US" b="1" dirty="0"/>
              <a:t>interestingness measures</a:t>
            </a:r>
            <a:r>
              <a:rPr lang="en-US" dirty="0"/>
              <a:t> to: Remove unimportant rules (</a:t>
            </a:r>
            <a:r>
              <a:rPr lang="en-US" b="1" dirty="0"/>
              <a:t>pruning</a:t>
            </a:r>
            <a:r>
              <a:rPr lang="en-US" dirty="0"/>
              <a:t>) </a:t>
            </a:r>
          </a:p>
          <a:p>
            <a:r>
              <a:rPr lang="en-US" dirty="0"/>
              <a:t>Rank rules based on usefulness (</a:t>
            </a:r>
            <a:r>
              <a:rPr lang="en-US" b="1" dirty="0"/>
              <a:t>ranking</a:t>
            </a:r>
            <a:r>
              <a:rPr lang="en-US" dirty="0"/>
              <a:t>) </a:t>
            </a:r>
          </a:p>
          <a:p>
            <a:r>
              <a:rPr lang="en-US" b="1" dirty="0"/>
              <a:t>Basic measures (original approach)</a:t>
            </a:r>
            <a:br>
              <a:rPr lang="en-US" dirty="0"/>
            </a:br>
            <a:r>
              <a:rPr lang="en-US" dirty="0"/>
              <a:t>Initially, only two measures were used: </a:t>
            </a:r>
            <a:r>
              <a:rPr lang="en-US" b="1" dirty="0"/>
              <a:t>Support</a:t>
            </a:r>
            <a:r>
              <a:rPr lang="en-US" dirty="0"/>
              <a:t> → how often the rule appears in the dataset </a:t>
            </a:r>
          </a:p>
          <a:p>
            <a:r>
              <a:rPr lang="en-US" b="1" dirty="0"/>
              <a:t>Confidence</a:t>
            </a:r>
            <a:r>
              <a:rPr lang="en-US" dirty="0"/>
              <a:t> → how strong the rule is (probability of RHS given LHS)</a:t>
            </a:r>
          </a:p>
          <a:p>
            <a:endParaRPr lang="en-US" dirty="0"/>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33</a:t>
            </a:fld>
            <a:endParaRPr lang="en-US"/>
          </a:p>
        </p:txBody>
      </p:sp>
    </p:spTree>
    <p:extLst>
      <p:ext uri="{BB962C8B-B14F-4D97-AF65-F5344CB8AC3E}">
        <p14:creationId xmlns:p14="http://schemas.microsoft.com/office/powerpoint/2010/main" val="13207090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does not measure real correlation; it only measures conditional probability and can be biased when the consequent is very frequent.</a:t>
            </a:r>
          </a:p>
          <a:p>
            <a:r>
              <a:rPr lang="en-US" dirty="0"/>
              <a:t>Confidence=P(</a:t>
            </a:r>
            <a:r>
              <a:rPr lang="en-US" dirty="0" err="1"/>
              <a:t>Coffee∣Tea</a:t>
            </a:r>
            <a:r>
              <a:rPr lang="en-US" dirty="0"/>
              <a:t>)=20/15​=0.75</a:t>
            </a:r>
          </a:p>
          <a:p>
            <a:r>
              <a:rPr lang="en-US" dirty="0"/>
              <a:t>P(Coffee)=90/100​=0.90</a:t>
            </a:r>
          </a:p>
          <a:p>
            <a:r>
              <a:rPr lang="en-US" dirty="0"/>
              <a:t>People drink coffee even without tea</a:t>
            </a:r>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39</a:t>
            </a:fld>
            <a:endParaRPr lang="en-US"/>
          </a:p>
        </p:txBody>
      </p:sp>
    </p:spTree>
    <p:extLst>
      <p:ext uri="{BB962C8B-B14F-4D97-AF65-F5344CB8AC3E}">
        <p14:creationId xmlns:p14="http://schemas.microsoft.com/office/powerpoint/2010/main" val="4582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Confidence is misleading because it ignores the base probability of the consequent. Even though confidence is high, Tea and Coffee are negatively correlated since </a:t>
                </a:r>
                <a14:m>
                  <m:oMath xmlns:m="http://schemas.openxmlformats.org/officeDocument/2006/math">
                    <m:r>
                      <a:rPr lang="en-US"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𝐶𝑜𝑓𝑓𝑒𝑒</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𝑇𝑒𝑎</m:t>
                        </m:r>
                      </m:e>
                    </m:d>
                    <m:r>
                      <a:rPr lang="ar-AE" sz="1200" i="0" kern="1200">
                        <a:solidFill>
                          <a:schemeClr val="tx1"/>
                        </a:solidFill>
                        <a:latin typeface="Cambria Math" panose="02040503050406030204" pitchFamily="18" charset="0"/>
                        <a:ea typeface="+mn-ea"/>
                        <a:cs typeface="+mn-cs"/>
                      </a:rPr>
                      <m:t>&lt;</m:t>
                    </m:r>
                    <m:r>
                      <a:rPr lang="ar-AE"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𝐶𝑜𝑓𝑓𝑒𝑒</m:t>
                        </m:r>
                      </m:e>
                    </m:d>
                  </m:oMath>
                </a14:m>
                <a:r>
                  <a:rPr lang="ar-AE" dirty="0"/>
                  <a:t>.</a:t>
                </a:r>
                <a:endParaRPr lang="en-US" dirty="0"/>
              </a:p>
            </p:txBody>
          </p:sp>
        </mc:Choice>
        <mc:Fallback xmlns="">
          <p:sp>
            <p:nvSpPr>
              <p:cNvPr id="3" name="Notes Placeholder 2"/>
              <p:cNvSpPr>
                <a:spLocks noGrp="1"/>
              </p:cNvSpPr>
              <p:nvPr>
                <p:ph type="body" idx="1"/>
              </p:nvPr>
            </p:nvSpPr>
            <p:spPr/>
            <p:txBody>
              <a:bodyPr/>
              <a:lstStyle/>
              <a:p>
                <a:r>
                  <a:rPr lang="en-US" dirty="0"/>
                  <a:t>Confidence is misleading because it ignores the base probability of the consequent. Even though confidence is high, Tea and Coffee are negatively correlated since </a:t>
                </a:r>
                <a:r>
                  <a:rPr lang="en-US" sz="1200" i="0" kern="1200">
                    <a:solidFill>
                      <a:schemeClr val="tx1"/>
                    </a:solidFill>
                    <a:latin typeface="+mn-lt"/>
                    <a:ea typeface="+mn-ea"/>
                    <a:cs typeface="+mn-cs"/>
                  </a:rPr>
                  <a:t>𝑃</a:t>
                </a:r>
                <a:r>
                  <a:rPr lang="ar-AE" sz="1200" i="0" kern="1200">
                    <a:solidFill>
                      <a:schemeClr val="tx1"/>
                    </a:solidFill>
                    <a:latin typeface="+mn-lt"/>
                    <a:ea typeface="+mn-ea"/>
                    <a:cs typeface="+mn-cs"/>
                  </a:rPr>
                  <a:t>(𝐶𝑜𝑓𝑓𝑒𝑒∣𝑇𝑒𝑎)&lt;𝑃(𝐶𝑜𝑓𝑓𝑒𝑒)</a:t>
                </a:r>
                <a:r>
                  <a:rPr lang="ar-AE" dirty="0"/>
                  <a:t>.</a:t>
                </a:r>
                <a:endParaRPr lang="en-US" dirty="0"/>
              </a:p>
            </p:txBody>
          </p:sp>
        </mc:Fallback>
      </mc:AlternateContent>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40</a:t>
            </a:fld>
            <a:endParaRPr lang="en-US"/>
          </a:p>
        </p:txBody>
      </p:sp>
    </p:spTree>
    <p:extLst>
      <p:ext uri="{BB962C8B-B14F-4D97-AF65-F5344CB8AC3E}">
        <p14:creationId xmlns:p14="http://schemas.microsoft.com/office/powerpoint/2010/main" val="3764951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&gt; Support(Y)     </a:t>
            </a:r>
            <a:r>
              <a:rPr lang="en-US" dirty="0">
                <a:sym typeface="Wingdings" panose="05000000000000000000" pitchFamily="2" charset="2"/>
              </a:rPr>
              <a:t>  </a:t>
            </a:r>
            <a:r>
              <a:rPr lang="en-US" dirty="0"/>
              <a:t>X increases chance of Y (good rule)</a:t>
            </a:r>
          </a:p>
          <a:p>
            <a:r>
              <a:rPr lang="en-US" dirty="0"/>
              <a:t>Confidence = Support(Y)     </a:t>
            </a:r>
            <a:r>
              <a:rPr lang="en-US" dirty="0">
                <a:sym typeface="Wingdings" panose="05000000000000000000" pitchFamily="2" charset="2"/>
              </a:rPr>
              <a:t>  </a:t>
            </a:r>
            <a:r>
              <a:rPr lang="en-US" dirty="0"/>
              <a:t>X has no effect</a:t>
            </a:r>
          </a:p>
          <a:p>
            <a:r>
              <a:rPr lang="en-US" dirty="0"/>
              <a:t>Confidence &lt; Support(Y)     </a:t>
            </a:r>
            <a:r>
              <a:rPr lang="en-US" dirty="0">
                <a:sym typeface="Wingdings" panose="05000000000000000000" pitchFamily="2" charset="2"/>
              </a:rPr>
              <a:t>  </a:t>
            </a:r>
            <a:r>
              <a:rPr lang="en-US" dirty="0"/>
              <a:t>X reduces chance of Y (bad rule)</a:t>
            </a:r>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42</a:t>
            </a:fld>
            <a:endParaRPr lang="en-US"/>
          </a:p>
        </p:txBody>
      </p:sp>
    </p:spTree>
    <p:extLst>
      <p:ext uri="{BB962C8B-B14F-4D97-AF65-F5344CB8AC3E}">
        <p14:creationId xmlns:p14="http://schemas.microsoft.com/office/powerpoint/2010/main" val="30424649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confidence(X→Y)=support(Y)</a:t>
            </a:r>
          </a:p>
          <a:p>
            <a:r>
              <a:rPr lang="en-US" dirty="0"/>
              <a:t>Knowing </a:t>
            </a:r>
            <a:r>
              <a:rPr lang="en-US" b="1" dirty="0"/>
              <a:t>X</a:t>
            </a:r>
            <a:r>
              <a:rPr lang="en-US" dirty="0"/>
              <a:t> does </a:t>
            </a:r>
            <a:r>
              <a:rPr lang="en-US" b="1" dirty="0"/>
              <a:t>NOT change</a:t>
            </a:r>
            <a:r>
              <a:rPr lang="en-US" dirty="0"/>
              <a:t> probability of </a:t>
            </a:r>
            <a:r>
              <a:rPr lang="en-US" b="1" dirty="0"/>
              <a:t>Y</a:t>
            </a:r>
            <a:endParaRPr lang="en-US" dirty="0"/>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44</a:t>
            </a:fld>
            <a:endParaRPr lang="en-US"/>
          </a:p>
        </p:txBody>
      </p:sp>
    </p:spTree>
    <p:extLst>
      <p:ext uri="{BB962C8B-B14F-4D97-AF65-F5344CB8AC3E}">
        <p14:creationId xmlns:p14="http://schemas.microsoft.com/office/powerpoint/2010/main" val="26051594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normAutofit fontScale="92500" lnSpcReduction="20000"/>
              </a:bodyPr>
              <a:lstStyle/>
              <a:p>
                <a:r>
                  <a:rPr lang="en-US" b="1" dirty="0"/>
                  <a:t>1. Lift</a:t>
                </a:r>
              </a:p>
              <a:p>
                <a:r>
                  <a:rPr lang="en-US" b="1" dirty="0"/>
                  <a:t>Definition:</a:t>
                </a:r>
                <a:br>
                  <a:rPr lang="en-US" dirty="0"/>
                </a:br>
                <a:r>
                  <a:rPr lang="en-US" dirty="0"/>
                  <a:t>Lift measures how much more likely Y occurs with X compared to when X is absent.</a:t>
                </a:r>
              </a:p>
              <a:p>
                <a:pPr/>
                <a14:m>
                  <m:oMathPara xmlns:m="http://schemas.openxmlformats.org/officeDocument/2006/math">
                    <m:oMathParaPr>
                      <m:jc m:val="centerGroup"/>
                    </m:oMathParaPr>
                    <m:oMath xmlns:m="http://schemas.openxmlformats.org/officeDocument/2006/math">
                      <m:r>
                        <m:rPr>
                          <m:nor/>
                        </m:rPr>
                        <a:rPr lang="en-US" b="0"/>
                        <m:t>Lift</m:t>
                      </m:r>
                      <m:r>
                        <a:rPr lang="en-US" sz="1200" b="0" i="0" kern="1200">
                          <a:solidFill>
                            <a:schemeClr val="tx1"/>
                          </a:solidFill>
                          <a:latin typeface="Cambria Math" panose="02040503050406030204" pitchFamily="18" charset="0"/>
                          <a:ea typeface="+mn-ea"/>
                          <a:cs typeface="+mn-cs"/>
                        </a:rPr>
                        <m:t>=</m:t>
                      </m:r>
                      <m:f>
                        <m:fPr>
                          <m:ctrlPr>
                            <a:rPr lang="ar-AE" sz="1200" b="0" i="1" kern="1200">
                              <a:solidFill>
                                <a:schemeClr val="tx1"/>
                              </a:solidFill>
                              <a:latin typeface="Cambria Math" panose="02040503050406030204" pitchFamily="18" charset="0"/>
                              <a:ea typeface="+mn-ea"/>
                              <a:cs typeface="+mn-cs"/>
                            </a:rPr>
                          </m:ctrlPr>
                        </m:fPr>
                        <m:num>
                          <m:r>
                            <a:rPr lang="ar-AE" sz="1200" b="0" i="1" kern="1200">
                              <a:solidFill>
                                <a:schemeClr val="tx1"/>
                              </a:solidFill>
                              <a:latin typeface="Cambria Math" panose="02040503050406030204" pitchFamily="18" charset="0"/>
                              <a:ea typeface="+mn-ea"/>
                              <a:cs typeface="+mn-cs"/>
                            </a:rPr>
                            <m:t>𝑃</m:t>
                          </m:r>
                          <m:d>
                            <m:dPr>
                              <m:ctrlPr>
                                <a:rPr lang="ar-AE" sz="1200" b="0" i="1" kern="1200">
                                  <a:solidFill>
                                    <a:schemeClr val="tx1"/>
                                  </a:solidFill>
                                  <a:latin typeface="Cambria Math" panose="02040503050406030204" pitchFamily="18" charset="0"/>
                                  <a:ea typeface="+mn-ea"/>
                                  <a:cs typeface="+mn-cs"/>
                                </a:rPr>
                              </m:ctrlPr>
                            </m:dPr>
                            <m:e>
                              <m:r>
                                <a:rPr lang="ar-AE" sz="1200" b="0" i="1" kern="1200">
                                  <a:solidFill>
                                    <a:schemeClr val="tx1"/>
                                  </a:solidFill>
                                  <a:latin typeface="Cambria Math" panose="02040503050406030204" pitchFamily="18" charset="0"/>
                                  <a:ea typeface="+mn-ea"/>
                                  <a:cs typeface="+mn-cs"/>
                                </a:rPr>
                                <m:t>𝑌</m:t>
                              </m:r>
                              <m:r>
                                <a:rPr lang="ar-AE" sz="1200" b="0" i="0" kern="1200">
                                  <a:solidFill>
                                    <a:schemeClr val="tx1"/>
                                  </a:solidFill>
                                  <a:latin typeface="Cambria Math" panose="02040503050406030204" pitchFamily="18" charset="0"/>
                                  <a:ea typeface="+mn-ea"/>
                                  <a:cs typeface="+mn-cs"/>
                                </a:rPr>
                                <m:t>∣</m:t>
                              </m:r>
                              <m:r>
                                <a:rPr lang="ar-AE" sz="1200" b="0" i="1" kern="1200">
                                  <a:solidFill>
                                    <a:schemeClr val="tx1"/>
                                  </a:solidFill>
                                  <a:latin typeface="Cambria Math" panose="02040503050406030204" pitchFamily="18" charset="0"/>
                                  <a:ea typeface="+mn-ea"/>
                                  <a:cs typeface="+mn-cs"/>
                                </a:rPr>
                                <m:t>𝑋</m:t>
                              </m:r>
                            </m:e>
                          </m:d>
                        </m:num>
                        <m:den>
                          <m:r>
                            <a:rPr lang="ar-AE" sz="1200" b="0" i="1" kern="1200">
                              <a:solidFill>
                                <a:schemeClr val="tx1"/>
                              </a:solidFill>
                              <a:latin typeface="Cambria Math" panose="02040503050406030204" pitchFamily="18" charset="0"/>
                              <a:ea typeface="+mn-ea"/>
                              <a:cs typeface="+mn-cs"/>
                            </a:rPr>
                            <m:t>𝑃</m:t>
                          </m:r>
                          <m:d>
                            <m:dPr>
                              <m:ctrlPr>
                                <a:rPr lang="ar-AE" sz="1200" b="0" i="1" kern="1200">
                                  <a:solidFill>
                                    <a:schemeClr val="tx1"/>
                                  </a:solidFill>
                                  <a:latin typeface="Cambria Math" panose="02040503050406030204" pitchFamily="18" charset="0"/>
                                  <a:ea typeface="+mn-ea"/>
                                  <a:cs typeface="+mn-cs"/>
                                </a:rPr>
                              </m:ctrlPr>
                            </m:dPr>
                            <m:e>
                              <m:r>
                                <a:rPr lang="ar-AE" sz="1200" b="0" i="1" kern="1200">
                                  <a:solidFill>
                                    <a:schemeClr val="tx1"/>
                                  </a:solidFill>
                                  <a:latin typeface="Cambria Math" panose="02040503050406030204" pitchFamily="18" charset="0"/>
                                  <a:ea typeface="+mn-ea"/>
                                  <a:cs typeface="+mn-cs"/>
                                </a:rPr>
                                <m:t>𝑌</m:t>
                              </m:r>
                            </m:e>
                          </m:d>
                        </m:den>
                      </m:f>
                    </m:oMath>
                  </m:oMathPara>
                </a14:m>
                <a:endParaRPr lang="ar-AE" b="0" dirty="0"/>
              </a:p>
              <a:p>
                <a:r>
                  <a:rPr lang="en-US" b="1" dirty="0"/>
                  <a:t>2. Interest</a:t>
                </a:r>
              </a:p>
              <a:p>
                <a:r>
                  <a:rPr lang="en-US" b="1" dirty="0"/>
                  <a:t>Definition:</a:t>
                </a:r>
                <a:br>
                  <a:rPr lang="en-US" dirty="0"/>
                </a:br>
                <a:r>
                  <a:rPr lang="en-US" dirty="0"/>
                  <a:t>Interest measures the strength of dependence between X and Y by comparing observed co-occurrence with expected co-occurrence under independence.</a:t>
                </a:r>
              </a:p>
              <a:p>
                <a:pPr/>
                <a14:m>
                  <m:oMathPara xmlns:m="http://schemas.openxmlformats.org/officeDocument/2006/math">
                    <m:oMathParaPr>
                      <m:jc m:val="centerGroup"/>
                    </m:oMathParaPr>
                    <m:oMath xmlns:m="http://schemas.openxmlformats.org/officeDocument/2006/math">
                      <m:r>
                        <m:rPr>
                          <m:nor/>
                        </m:rPr>
                        <a:rPr lang="en-US" b="0"/>
                        <m:t>Interest</m:t>
                      </m:r>
                      <m:r>
                        <a:rPr lang="en-US" sz="1200" b="0" i="0" kern="1200">
                          <a:solidFill>
                            <a:schemeClr val="tx1"/>
                          </a:solidFill>
                          <a:latin typeface="Cambria Math" panose="02040503050406030204" pitchFamily="18" charset="0"/>
                          <a:ea typeface="+mn-ea"/>
                          <a:cs typeface="+mn-cs"/>
                        </a:rPr>
                        <m:t>=</m:t>
                      </m:r>
                      <m:f>
                        <m:fPr>
                          <m:ctrlPr>
                            <a:rPr lang="ar-AE" sz="1200" b="0" i="1" kern="1200">
                              <a:solidFill>
                                <a:schemeClr val="tx1"/>
                              </a:solidFill>
                              <a:latin typeface="Cambria Math" panose="02040503050406030204" pitchFamily="18" charset="0"/>
                              <a:ea typeface="+mn-ea"/>
                              <a:cs typeface="+mn-cs"/>
                            </a:rPr>
                          </m:ctrlPr>
                        </m:fPr>
                        <m:num>
                          <m:r>
                            <a:rPr lang="ar-AE" sz="1200" b="0" i="1" kern="1200">
                              <a:solidFill>
                                <a:schemeClr val="tx1"/>
                              </a:solidFill>
                              <a:latin typeface="Cambria Math" panose="02040503050406030204" pitchFamily="18" charset="0"/>
                              <a:ea typeface="+mn-ea"/>
                              <a:cs typeface="+mn-cs"/>
                            </a:rPr>
                            <m:t>𝑃</m:t>
                          </m:r>
                          <m:d>
                            <m:dPr>
                              <m:sepChr m:val=","/>
                              <m:ctrlPr>
                                <a:rPr lang="ar-AE" sz="1200" b="0" i="1" kern="1200">
                                  <a:solidFill>
                                    <a:schemeClr val="tx1"/>
                                  </a:solidFill>
                                  <a:latin typeface="Cambria Math" panose="02040503050406030204" pitchFamily="18" charset="0"/>
                                  <a:ea typeface="+mn-ea"/>
                                  <a:cs typeface="+mn-cs"/>
                                </a:rPr>
                              </m:ctrlPr>
                            </m:dPr>
                            <m:e>
                              <m:r>
                                <a:rPr lang="ar-AE" sz="1200" b="0" i="1" kern="1200">
                                  <a:solidFill>
                                    <a:schemeClr val="tx1"/>
                                  </a:solidFill>
                                  <a:latin typeface="Cambria Math" panose="02040503050406030204" pitchFamily="18" charset="0"/>
                                  <a:ea typeface="+mn-ea"/>
                                  <a:cs typeface="+mn-cs"/>
                                </a:rPr>
                                <m:t>𝑋</m:t>
                              </m:r>
                            </m:e>
                            <m:e>
                              <m:r>
                                <a:rPr lang="ar-AE" sz="1200" b="0" i="1" kern="1200">
                                  <a:solidFill>
                                    <a:schemeClr val="tx1"/>
                                  </a:solidFill>
                                  <a:latin typeface="Cambria Math" panose="02040503050406030204" pitchFamily="18" charset="0"/>
                                  <a:ea typeface="+mn-ea"/>
                                  <a:cs typeface="+mn-cs"/>
                                </a:rPr>
                                <m:t>𝑌</m:t>
                              </m:r>
                            </m:e>
                          </m:d>
                        </m:num>
                        <m:den>
                          <m:r>
                            <a:rPr lang="ar-AE" sz="1200" b="0" i="1" kern="1200">
                              <a:solidFill>
                                <a:schemeClr val="tx1"/>
                              </a:solidFill>
                              <a:latin typeface="Cambria Math" panose="02040503050406030204" pitchFamily="18" charset="0"/>
                              <a:ea typeface="+mn-ea"/>
                              <a:cs typeface="+mn-cs"/>
                            </a:rPr>
                            <m:t>𝑃</m:t>
                          </m:r>
                          <m:d>
                            <m:dPr>
                              <m:ctrlPr>
                                <a:rPr lang="ar-AE" sz="1200" b="0" i="1" kern="1200">
                                  <a:solidFill>
                                    <a:schemeClr val="tx1"/>
                                  </a:solidFill>
                                  <a:latin typeface="Cambria Math" panose="02040503050406030204" pitchFamily="18" charset="0"/>
                                  <a:ea typeface="+mn-ea"/>
                                  <a:cs typeface="+mn-cs"/>
                                </a:rPr>
                              </m:ctrlPr>
                            </m:dPr>
                            <m:e>
                              <m:r>
                                <a:rPr lang="ar-AE" sz="1200" b="0" i="1" kern="1200">
                                  <a:solidFill>
                                    <a:schemeClr val="tx1"/>
                                  </a:solidFill>
                                  <a:latin typeface="Cambria Math" panose="02040503050406030204" pitchFamily="18" charset="0"/>
                                  <a:ea typeface="+mn-ea"/>
                                  <a:cs typeface="+mn-cs"/>
                                </a:rPr>
                                <m:t>𝑋</m:t>
                              </m:r>
                            </m:e>
                          </m:d>
                          <m:r>
                            <a:rPr lang="ar-AE" sz="1200" b="0" i="1" kern="1200">
                              <a:solidFill>
                                <a:schemeClr val="tx1"/>
                              </a:solidFill>
                              <a:latin typeface="Cambria Math" panose="02040503050406030204" pitchFamily="18" charset="0"/>
                              <a:ea typeface="+mn-ea"/>
                              <a:cs typeface="+mn-cs"/>
                            </a:rPr>
                            <m:t>𝑃</m:t>
                          </m:r>
                          <m:d>
                            <m:dPr>
                              <m:ctrlPr>
                                <a:rPr lang="ar-AE" sz="1200" b="0" i="1" kern="1200">
                                  <a:solidFill>
                                    <a:schemeClr val="tx1"/>
                                  </a:solidFill>
                                  <a:latin typeface="Cambria Math" panose="02040503050406030204" pitchFamily="18" charset="0"/>
                                  <a:ea typeface="+mn-ea"/>
                                  <a:cs typeface="+mn-cs"/>
                                </a:rPr>
                              </m:ctrlPr>
                            </m:dPr>
                            <m:e>
                              <m:r>
                                <a:rPr lang="ar-AE" sz="1200" b="0" i="1" kern="1200">
                                  <a:solidFill>
                                    <a:schemeClr val="tx1"/>
                                  </a:solidFill>
                                  <a:latin typeface="Cambria Math" panose="02040503050406030204" pitchFamily="18" charset="0"/>
                                  <a:ea typeface="+mn-ea"/>
                                  <a:cs typeface="+mn-cs"/>
                                </a:rPr>
                                <m:t>𝑌</m:t>
                              </m:r>
                            </m:e>
                          </m:d>
                        </m:den>
                      </m:f>
                    </m:oMath>
                  </m:oMathPara>
                </a14:m>
                <a:endParaRPr lang="ar-AE" b="0" dirty="0"/>
              </a:p>
              <a:p>
                <a:r>
                  <a:rPr lang="en-US" b="1" dirty="0"/>
                  <a:t>3. PS (Probability Difference)</a:t>
                </a:r>
              </a:p>
              <a:p>
                <a:r>
                  <a:rPr lang="en-US" b="1" dirty="0"/>
                  <a:t>Definition:</a:t>
                </a:r>
                <a:br>
                  <a:rPr lang="en-US" dirty="0"/>
                </a:br>
                <a:r>
                  <a:rPr lang="en-US" dirty="0"/>
                  <a:t>PS measures the difference between the actual joint probability of X and Y and their expected probability if they were independent.</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𝑃𝑆</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𝑃</m:t>
                      </m:r>
                      <m:d>
                        <m:dPr>
                          <m:sep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𝑋</m:t>
                          </m:r>
                        </m:e>
                        <m:e>
                          <m:r>
                            <a:rPr lang="ar-AE" sz="1200" i="1" kern="1200">
                              <a:solidFill>
                                <a:schemeClr val="tx1"/>
                              </a:solidFill>
                              <a:latin typeface="Cambria Math" panose="02040503050406030204" pitchFamily="18" charset="0"/>
                              <a:ea typeface="+mn-ea"/>
                              <a:cs typeface="+mn-cs"/>
                            </a:rPr>
                            <m:t>𝑌</m:t>
                          </m:r>
                        </m:e>
                      </m:d>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𝑋</m:t>
                          </m:r>
                        </m:e>
                      </m:d>
                      <m:r>
                        <a:rPr lang="ar-AE"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𝑌</m:t>
                          </m:r>
                        </m:e>
                      </m:d>
                    </m:oMath>
                  </m:oMathPara>
                </a14:m>
                <a:endParaRPr lang="ar-AE" dirty="0"/>
              </a:p>
              <a:p>
                <a:r>
                  <a:rPr lang="en-US" b="1" dirty="0"/>
                  <a:t>4. Phi (</a:t>
                </a:r>
                <a:r>
                  <a:rPr lang="el-GR" b="1" dirty="0"/>
                  <a:t>φ) </a:t>
                </a:r>
                <a:r>
                  <a:rPr lang="en-US" b="1" dirty="0"/>
                  <a:t>Coefficient</a:t>
                </a:r>
              </a:p>
              <a:p>
                <a:r>
                  <a:rPr lang="en-US" b="1" dirty="0"/>
                  <a:t>Definition:</a:t>
                </a:r>
                <a:br>
                  <a:rPr lang="en-US" dirty="0"/>
                </a:br>
                <a:r>
                  <a:rPr lang="en-US" dirty="0"/>
                  <a:t>Phi coefficient measures the degree of correlation between X and Y, normalized between −1 and +1.</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𝜙</m:t>
                      </m:r>
                      <m:r>
                        <a:rPr lang="en-US"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1" kern="1200">
                              <a:solidFill>
                                <a:schemeClr val="tx1"/>
                              </a:solidFill>
                              <a:latin typeface="Cambria Math" panose="02040503050406030204" pitchFamily="18" charset="0"/>
                              <a:ea typeface="+mn-ea"/>
                              <a:cs typeface="+mn-cs"/>
                            </a:rPr>
                            <m:t>𝑃</m:t>
                          </m:r>
                          <m:d>
                            <m:dPr>
                              <m:sep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𝑋</m:t>
                              </m:r>
                            </m:e>
                            <m:e>
                              <m:r>
                                <a:rPr lang="ar-AE" sz="1200" i="1" kern="1200">
                                  <a:solidFill>
                                    <a:schemeClr val="tx1"/>
                                  </a:solidFill>
                                  <a:latin typeface="Cambria Math" panose="02040503050406030204" pitchFamily="18" charset="0"/>
                                  <a:ea typeface="+mn-ea"/>
                                  <a:cs typeface="+mn-cs"/>
                                </a:rPr>
                                <m:t>𝑌</m:t>
                              </m:r>
                            </m:e>
                          </m:d>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𝑋</m:t>
                              </m:r>
                            </m:e>
                          </m:d>
                          <m:r>
                            <a:rPr lang="ar-AE"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𝑌</m:t>
                              </m:r>
                            </m:e>
                          </m:d>
                        </m:num>
                        <m:den>
                          <m:rad>
                            <m:radPr>
                              <m:degHide m:val="on"/>
                              <m:ctrlPr>
                                <a:rPr lang="ar-AE" sz="1200" i="1" kern="1200">
                                  <a:solidFill>
                                    <a:schemeClr val="tx1"/>
                                  </a:solidFill>
                                  <a:latin typeface="Cambria Math" panose="02040503050406030204" pitchFamily="18" charset="0"/>
                                  <a:ea typeface="+mn-ea"/>
                                  <a:cs typeface="+mn-cs"/>
                                </a:rPr>
                              </m:ctrlPr>
                            </m:radPr>
                            <m:deg/>
                            <m:e>
                              <m:r>
                                <a:rPr lang="ar-AE"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𝑋</m:t>
                                  </m:r>
                                </m:e>
                              </m:d>
                              <m:d>
                                <m:dPr>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𝑋</m:t>
                                      </m:r>
                                    </m:e>
                                  </m:d>
                                </m:e>
                              </m:d>
                              <m:r>
                                <a:rPr lang="ar-AE"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𝑌</m:t>
                                  </m:r>
                                </m:e>
                              </m:d>
                              <m:d>
                                <m:dPr>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𝑌</m:t>
                                      </m:r>
                                    </m:e>
                                  </m:d>
                                </m:e>
                              </m:d>
                            </m:e>
                          </m:rad>
                        </m:den>
                      </m:f>
                    </m:oMath>
                  </m:oMathPara>
                </a14:m>
                <a:endParaRPr lang="ar-AE" dirty="0"/>
              </a:p>
              <a:p>
                <a:r>
                  <a:rPr lang="en-US" dirty="0"/>
                  <a:t>Lift and Interest have the same formula, but Lift is used for rules while Interest is used for </a:t>
                </a:r>
                <a:r>
                  <a:rPr lang="en-US" dirty="0" err="1"/>
                  <a:t>itemsets</a:t>
                </a:r>
                <a:r>
                  <a:rPr lang="en-US" dirty="0"/>
                  <a:t>.</a:t>
                </a:r>
              </a:p>
            </p:txBody>
          </p:sp>
        </mc:Choice>
        <mc:Fallback>
          <p:sp>
            <p:nvSpPr>
              <p:cNvPr id="3" name="Notes Placeholder 2"/>
              <p:cNvSpPr>
                <a:spLocks noGrp="1"/>
              </p:cNvSpPr>
              <p:nvPr>
                <p:ph type="body" idx="1"/>
              </p:nvPr>
            </p:nvSpPr>
            <p:spPr/>
            <p:txBody>
              <a:bodyPr>
                <a:normAutofit fontScale="92500" lnSpcReduction="20000"/>
              </a:bodyPr>
              <a:lstStyle/>
              <a:p>
                <a:r>
                  <a:rPr lang="en-US" b="1" dirty="0"/>
                  <a:t>1. Lift</a:t>
                </a:r>
              </a:p>
              <a:p>
                <a:r>
                  <a:rPr lang="en-US" b="1" dirty="0"/>
                  <a:t>Definition:</a:t>
                </a:r>
                <a:br>
                  <a:rPr lang="en-US" dirty="0"/>
                </a:br>
                <a:r>
                  <a:rPr lang="en-US" dirty="0"/>
                  <a:t>Lift measures how much more likely Y occurs with X compared to when X is absent.</a:t>
                </a:r>
              </a:p>
              <a:p>
                <a:pPr/>
                <a:r>
                  <a:rPr lang="en-US" b="0" i="0">
                    <a:latin typeface="Cambria Math" panose="02040503050406030204" pitchFamily="18" charset="0"/>
                  </a:rPr>
                  <a:t>"Lift</a:t>
                </a:r>
                <a:r>
                  <a:rPr lang="en-US" sz="1200" b="0" i="0" kern="1200">
                    <a:solidFill>
                      <a:schemeClr val="tx1"/>
                    </a:solidFill>
                    <a:latin typeface="Cambria Math" panose="02040503050406030204" pitchFamily="18" charset="0"/>
                    <a:ea typeface="+mn-ea"/>
                    <a:cs typeface="+mn-cs"/>
                  </a:rPr>
                  <a:t>"=</a:t>
                </a:r>
                <a:r>
                  <a:rPr lang="ar-AE" sz="1200" b="0" i="0" kern="1200">
                    <a:solidFill>
                      <a:schemeClr val="tx1"/>
                    </a:solidFill>
                    <a:latin typeface="Cambria Math" panose="02040503050406030204" pitchFamily="18" charset="0"/>
                    <a:ea typeface="+mn-ea"/>
                    <a:cs typeface="+mn-cs"/>
                  </a:rPr>
                  <a:t>𝑃(𝑌∣𝑋)/𝑃(𝑌) </a:t>
                </a:r>
                <a:endParaRPr lang="ar-AE" b="0" dirty="0"/>
              </a:p>
              <a:p>
                <a:r>
                  <a:rPr lang="en-US" b="1" dirty="0"/>
                  <a:t>2. Interest</a:t>
                </a:r>
              </a:p>
              <a:p>
                <a:r>
                  <a:rPr lang="en-US" b="1" dirty="0"/>
                  <a:t>Definition:</a:t>
                </a:r>
                <a:br>
                  <a:rPr lang="en-US" dirty="0"/>
                </a:br>
                <a:r>
                  <a:rPr lang="en-US" dirty="0"/>
                  <a:t>Interest measures the strength of dependence between X and Y by comparing observed co-occurrence with expected co-occurrence under independence.</a:t>
                </a:r>
              </a:p>
              <a:p>
                <a:pPr/>
                <a:r>
                  <a:rPr lang="en-US" b="0" i="0">
                    <a:latin typeface="Cambria Math" panose="02040503050406030204" pitchFamily="18" charset="0"/>
                  </a:rPr>
                  <a:t>"Interest</a:t>
                </a:r>
                <a:r>
                  <a:rPr lang="en-US" sz="1200" b="0" i="0" kern="1200">
                    <a:solidFill>
                      <a:schemeClr val="tx1"/>
                    </a:solidFill>
                    <a:latin typeface="Cambria Math" panose="02040503050406030204" pitchFamily="18" charset="0"/>
                    <a:ea typeface="+mn-ea"/>
                    <a:cs typeface="+mn-cs"/>
                  </a:rPr>
                  <a:t>"=</a:t>
                </a:r>
                <a:r>
                  <a:rPr lang="ar-AE" sz="1200" b="0" i="0" kern="1200">
                    <a:solidFill>
                      <a:schemeClr val="tx1"/>
                    </a:solidFill>
                    <a:latin typeface="Cambria Math" panose="02040503050406030204" pitchFamily="18" charset="0"/>
                    <a:ea typeface="+mn-ea"/>
                    <a:cs typeface="+mn-cs"/>
                  </a:rPr>
                  <a:t>(𝑃(𝑋ⓜ,𝑌))/𝑃(𝑋)𝑃(𝑌) </a:t>
                </a:r>
                <a:endParaRPr lang="ar-AE" b="0" dirty="0"/>
              </a:p>
              <a:p>
                <a:r>
                  <a:rPr lang="en-US" b="1" dirty="0"/>
                  <a:t>3. PS (Probability Difference)</a:t>
                </a:r>
              </a:p>
              <a:p>
                <a:r>
                  <a:rPr lang="en-US" b="1" dirty="0"/>
                  <a:t>Definition:</a:t>
                </a:r>
                <a:br>
                  <a:rPr lang="en-US" dirty="0"/>
                </a:br>
                <a:r>
                  <a:rPr lang="en-US" dirty="0"/>
                  <a:t>PS measures the difference between the actual joint probability of X and Y and their expected probability if they were independent.</a:t>
                </a:r>
              </a:p>
              <a:p>
                <a:pPr/>
                <a:r>
                  <a:rPr lang="en-US" sz="1200" i="0" kern="1200">
                    <a:solidFill>
                      <a:schemeClr val="tx1"/>
                    </a:solidFill>
                    <a:latin typeface="Cambria Math" panose="02040503050406030204" pitchFamily="18" charset="0"/>
                    <a:ea typeface="+mn-ea"/>
                    <a:cs typeface="+mn-cs"/>
                  </a:rPr>
                  <a:t>𝑃𝑆=𝑃</a:t>
                </a:r>
                <a:r>
                  <a:rPr lang="ar-AE" sz="1200" i="0" kern="1200">
                    <a:solidFill>
                      <a:schemeClr val="tx1"/>
                    </a:solidFill>
                    <a:latin typeface="Cambria Math" panose="02040503050406030204" pitchFamily="18" charset="0"/>
                    <a:ea typeface="+mn-ea"/>
                    <a:cs typeface="+mn-cs"/>
                  </a:rPr>
                  <a:t>(𝑋ⓜ,𝑌)−𝑃(𝑋)𝑃(𝑌)</a:t>
                </a:r>
                <a:endParaRPr lang="ar-AE" dirty="0"/>
              </a:p>
              <a:p>
                <a:r>
                  <a:rPr lang="en-US" b="1" dirty="0"/>
                  <a:t>4. Phi (</a:t>
                </a:r>
                <a:r>
                  <a:rPr lang="el-GR" b="1" dirty="0"/>
                  <a:t>φ) </a:t>
                </a:r>
                <a:r>
                  <a:rPr lang="en-US" b="1" dirty="0"/>
                  <a:t>Coefficient</a:t>
                </a:r>
              </a:p>
              <a:p>
                <a:r>
                  <a:rPr lang="en-US" b="1" dirty="0"/>
                  <a:t>Definition:</a:t>
                </a:r>
                <a:br>
                  <a:rPr lang="en-US" dirty="0"/>
                </a:br>
                <a:r>
                  <a:rPr lang="en-US" dirty="0"/>
                  <a:t>Phi coefficient measures the degree of correlation between X and Y, normalized between −1 and +1.</a:t>
                </a:r>
              </a:p>
              <a:p>
                <a:pPr/>
                <a:r>
                  <a:rPr lang="en-US" sz="1200" i="0" kern="1200">
                    <a:solidFill>
                      <a:schemeClr val="tx1"/>
                    </a:solidFill>
                    <a:latin typeface="Cambria Math" panose="02040503050406030204" pitchFamily="18" charset="0"/>
                    <a:ea typeface="+mn-ea"/>
                    <a:cs typeface="+mn-cs"/>
                  </a:rPr>
                  <a:t>𝜙=</a:t>
                </a:r>
                <a:r>
                  <a:rPr lang="ar-AE" sz="1200" i="0" kern="1200">
                    <a:solidFill>
                      <a:schemeClr val="tx1"/>
                    </a:solidFill>
                    <a:latin typeface="Cambria Math" panose="02040503050406030204" pitchFamily="18" charset="0"/>
                    <a:ea typeface="+mn-ea"/>
                    <a:cs typeface="+mn-cs"/>
                  </a:rPr>
                  <a:t>(𝑃(𝑋ⓜ,𝑌)−𝑃(𝑋)𝑃(𝑌))/√(𝑃(𝑋)(1−𝑃(𝑋))𝑃(𝑌)(1−𝑃(𝑌)) )</a:t>
                </a:r>
                <a:endParaRPr lang="ar-AE" dirty="0"/>
              </a:p>
              <a:p>
                <a:r>
                  <a:rPr lang="en-US" dirty="0"/>
                  <a:t>Lift and Interest have the same formula, but Lift is used for rules while Interest is used for </a:t>
                </a:r>
                <a:r>
                  <a:rPr lang="en-US" dirty="0" err="1"/>
                  <a:t>itemsets</a:t>
                </a:r>
                <a:r>
                  <a:rPr lang="en-US" dirty="0"/>
                  <a:t>.</a:t>
                </a:r>
              </a:p>
            </p:txBody>
          </p:sp>
        </mc:Fallback>
      </mc:AlternateContent>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46</a:t>
            </a:fld>
            <a:endParaRPr lang="en-US"/>
          </a:p>
        </p:txBody>
      </p:sp>
    </p:spTree>
    <p:extLst>
      <p:ext uri="{BB962C8B-B14F-4D97-AF65-F5344CB8AC3E}">
        <p14:creationId xmlns:p14="http://schemas.microsoft.com/office/powerpoint/2010/main" val="4433951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Lift=0.8333&lt;1⇒X and Y are negatively correlated</a:t>
            </a:r>
          </a:p>
          <a:p>
            <a:r>
              <a:rPr lang="en-US" dirty="0"/>
              <a:t>“Is confidence/lift enough for pruning?”</a:t>
            </a:r>
          </a:p>
          <a:p>
            <a:r>
              <a:rPr lang="en-US" b="1" dirty="0"/>
              <a:t>NO</a:t>
            </a:r>
            <a:endParaRPr lang="en-US" dirty="0"/>
          </a:p>
          <a:p>
            <a:r>
              <a:rPr lang="en-US" b="1" dirty="0"/>
              <a:t>Why?</a:t>
            </a:r>
          </a:p>
          <a:p>
            <a:r>
              <a:rPr lang="en-US" dirty="0"/>
              <a:t>Confidence can be misleading </a:t>
            </a:r>
          </a:p>
          <a:p>
            <a:r>
              <a:rPr lang="en-US" dirty="0"/>
              <a:t>Lift only checks pairwise relation </a:t>
            </a:r>
          </a:p>
          <a:p>
            <a:r>
              <a:rPr lang="en-US" dirty="0"/>
              <a:t>Does not consider all statistical aspects</a:t>
            </a:r>
          </a:p>
          <a:p>
            <a:r>
              <a:rPr lang="en-US" dirty="0"/>
              <a:t>We need: </a:t>
            </a:r>
          </a:p>
          <a:p>
            <a:r>
              <a:rPr lang="en-US" dirty="0"/>
              <a:t>χ² (chi-square) φ coefficient other measures</a:t>
            </a:r>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51</a:t>
            </a:fld>
            <a:endParaRPr lang="en-US"/>
          </a:p>
        </p:txBody>
      </p:sp>
    </p:spTree>
    <p:extLst>
      <p:ext uri="{BB962C8B-B14F-4D97-AF65-F5344CB8AC3E}">
        <p14:creationId xmlns:p14="http://schemas.microsoft.com/office/powerpoint/2010/main" val="2320910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Lift measures deviation from independence; a high lift indicates strong correlation even if support is low, while high support alone does not imply strong association.</a:t>
            </a:r>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52</a:t>
            </a:fld>
            <a:endParaRPr lang="en-US"/>
          </a:p>
        </p:txBody>
      </p:sp>
    </p:spTree>
    <p:extLst>
      <p:ext uri="{BB962C8B-B14F-4D97-AF65-F5344CB8AC3E}">
        <p14:creationId xmlns:p14="http://schemas.microsoft.com/office/powerpoint/2010/main" val="2112892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Simpson’s Paradox occurs when an observed relationship in aggregated data reverses or disappears when the data is partitioned due to hidden variables.</a:t>
            </a:r>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64</a:t>
            </a:fld>
            <a:endParaRPr lang="en-US"/>
          </a:p>
        </p:txBody>
      </p:sp>
    </p:spTree>
    <p:extLst>
      <p:ext uri="{BB962C8B-B14F-4D97-AF65-F5344CB8AC3E}">
        <p14:creationId xmlns:p14="http://schemas.microsoft.com/office/powerpoint/2010/main" val="21912690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645D3131-574A-4C83-B42B-C2C7F6201AAC}" type="slidenum">
              <a:rPr lang="en-US" smtClean="0"/>
              <a:pPr/>
              <a:t>82</a:t>
            </a:fld>
            <a:endParaRPr lang="en-US"/>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p:spPr>
        <p:txBody>
          <a:bodyPr/>
          <a:lstStyle/>
          <a:p>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4"/>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r>
              <a:rPr lang="en-US"/>
              <a:t>CS252 S05</a:t>
            </a:r>
          </a:p>
        </p:txBody>
      </p:sp>
      <p:sp>
        <p:nvSpPr>
          <p:cNvPr id="74755" name="Rectangle 5"/>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81E8ECEB-82CC-4598-934F-541F9CB94AD6}" type="slidenum">
              <a:rPr lang="en-US" smtClean="0"/>
              <a:pPr/>
              <a:t>83</a:t>
            </a:fld>
            <a:endParaRPr lang="en-US"/>
          </a:p>
        </p:txBody>
      </p:sp>
      <p:sp>
        <p:nvSpPr>
          <p:cNvPr id="7475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475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ffectLst/>
        </p:spPr>
        <p:txBody>
          <a:bodyPr/>
          <a:lstStyle/>
          <a:p>
            <a:pPr>
              <a:defRPr/>
            </a:pPr>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p>
              <a:pPr>
                <a:defRPr/>
              </a:pPr>
              <a:endParaRPr lang="en-US"/>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p>
              <a:pPr>
                <a:defRPr/>
              </a:pPr>
              <a:endParaRPr lang="en-US"/>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p>
              <a:pPr>
                <a:defRPr/>
              </a:pPr>
              <a:endParaRPr lang="en-US"/>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p>
              <a:pPr>
                <a:defRPr/>
              </a:pPr>
              <a:endParaRPr lang="en-US"/>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p>
              <a:pPr>
                <a:defRPr/>
              </a:pPr>
              <a:endParaRPr lang="en-US"/>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p>
              <a:pPr>
                <a:defRPr/>
              </a:pPr>
              <a:endParaRPr lang="en-US"/>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p>
              <a:pPr>
                <a:defRPr/>
              </a:pPr>
              <a:endParaRPr lang="en-US"/>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p>
              <a:pPr>
                <a:defRPr/>
              </a:pPr>
              <a:endParaRPr lang="en-US"/>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p>
              <a:pPr>
                <a:defRPr/>
              </a:pPr>
              <a:endParaRPr lang="en-US"/>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p>
              <a:pPr>
                <a:defRPr/>
              </a:pPr>
              <a:endParaRPr lang="en-US"/>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p>
              <a:pPr>
                <a:defRPr/>
              </a:pPr>
              <a:endParaRPr lang="en-US"/>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p>
              <a:pPr>
                <a:defRPr/>
              </a:pPr>
              <a:endParaRPr lang="en-US"/>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p>
              <a:pPr>
                <a:defRPr/>
              </a:pPr>
              <a:endParaRPr lang="en-US"/>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p>
              <a:pPr>
                <a:defRPr/>
              </a:pPr>
              <a:endParaRPr lang="en-US"/>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p>
              <a:pPr>
                <a:defRPr/>
              </a:pPr>
              <a:endParaRPr lang="en-US"/>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p>
              <a:pPr>
                <a:defRPr/>
              </a:pPr>
              <a:endParaRPr lang="en-US"/>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p>
              <a:pPr>
                <a:defRPr/>
              </a:pPr>
              <a:endParaRPr lang="en-US"/>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p>
              <a:pPr>
                <a:defRPr/>
              </a:pPr>
              <a:endParaRPr lang="en-US"/>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p>
              <a:pPr>
                <a:defRPr/>
              </a:pPr>
              <a:endParaRPr lang="en-US"/>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p>
              <a:pPr>
                <a:defRPr/>
              </a:pPr>
              <a:endParaRPr lang="en-US"/>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p>
              <a:pPr>
                <a:defRPr/>
              </a:pPr>
              <a:endParaRPr lang="en-US"/>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p>
              <a:pPr>
                <a:defRPr/>
              </a:pPr>
              <a:endParaRPr lang="en-US"/>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p>
              <a:pPr>
                <a:defRPr/>
              </a:pPr>
              <a:endParaRPr 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ffectLst/>
        </p:spPr>
        <p:txBody>
          <a:bodyPr/>
          <a:lstStyle/>
          <a:p>
            <a:pPr>
              <a:defRPr/>
            </a:pPr>
            <a:endParaRPr lang="en-US"/>
          </a:p>
        </p:txBody>
      </p:sp>
      <p:sp>
        <p:nvSpPr>
          <p:cNvPr id="20483"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20484"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p:txBody>
          <a:bodyPr/>
          <a:lstStyle>
            <a:lvl1pPr>
              <a:defRPr/>
            </a:lvl1pPr>
          </a:lstStyle>
          <a:p>
            <a:pPr>
              <a:defRPr/>
            </a:pPr>
            <a:endParaRPr lang="en-US" altLang="en-US"/>
          </a:p>
        </p:txBody>
      </p:sp>
      <p:sp>
        <p:nvSpPr>
          <p:cNvPr id="40" name="Rectangle 7"/>
          <p:cNvSpPr>
            <a:spLocks noGrp="1" noChangeArrowheads="1"/>
          </p:cNvSpPr>
          <p:nvPr>
            <p:ph type="sldNum" sz="quarter" idx="12"/>
          </p:nvPr>
        </p:nvSpPr>
        <p:spPr/>
        <p:txBody>
          <a:bodyPr/>
          <a:lstStyle>
            <a:lvl1pPr>
              <a:defRPr/>
            </a:lvl1pPr>
          </a:lstStyle>
          <a:p>
            <a:pPr>
              <a:defRPr/>
            </a:pPr>
            <a:fld id="{DBFF085F-0862-4687-969E-A113ED526F73}"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D3D212DC-59E6-444E-AD7D-AB217D4E4668}"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9411DB46-EA3B-4771-84A7-EF2A89089F66}"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E7C7241A-14B4-47C9-97AA-E825931DEA7A}"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7"/>
          <p:cNvSpPr>
            <a:spLocks noGrp="1" noChangeArrowheads="1"/>
          </p:cNvSpPr>
          <p:nvPr>
            <p:ph type="sldNum" sz="quarter" idx="12"/>
          </p:nvPr>
        </p:nvSpPr>
        <p:spPr>
          <a:ln/>
        </p:spPr>
        <p:txBody>
          <a:bodyPr/>
          <a:lstStyle>
            <a:lvl1pPr>
              <a:defRPr/>
            </a:lvl1pPr>
          </a:lstStyle>
          <a:p>
            <a:pPr>
              <a:defRPr/>
            </a:pPr>
            <a:fld id="{E75899CB-E299-4B2F-A5FF-BAA7A44558A6}"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7"/>
          <p:cNvSpPr>
            <a:spLocks noGrp="1" noChangeArrowheads="1"/>
          </p:cNvSpPr>
          <p:nvPr>
            <p:ph type="sldNum" sz="quarter" idx="12"/>
          </p:nvPr>
        </p:nvSpPr>
        <p:spPr>
          <a:ln/>
        </p:spPr>
        <p:txBody>
          <a:bodyPr/>
          <a:lstStyle>
            <a:lvl1pPr>
              <a:defRPr/>
            </a:lvl1pPr>
          </a:lstStyle>
          <a:p>
            <a:pPr>
              <a:defRPr/>
            </a:pPr>
            <a:fld id="{DC454605-094D-467A-98B4-485DD38572BC}"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7"/>
          <p:cNvSpPr>
            <a:spLocks noGrp="1" noChangeArrowheads="1"/>
          </p:cNvSpPr>
          <p:nvPr>
            <p:ph type="sldNum" sz="quarter" idx="12"/>
          </p:nvPr>
        </p:nvSpPr>
        <p:spPr>
          <a:ln/>
        </p:spPr>
        <p:txBody>
          <a:bodyPr/>
          <a:lstStyle>
            <a:lvl1pPr>
              <a:defRPr/>
            </a:lvl1pPr>
          </a:lstStyle>
          <a:p>
            <a:pPr>
              <a:defRPr/>
            </a:pPr>
            <a:fld id="{E32456F1-5FD4-4074-A7F5-122F6C81D70D}"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08169C9D-9F2F-431A-8109-7CE4B4AFDF93}"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C89D69A7-3DB0-47C4-8AB7-03B3E235F1F1}"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9375A3F1-4B91-4C91-96E0-C7B24072A8E6}"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C97256C4-D2FC-483B-A9EE-73C10A4B54BD}" type="slidenum">
              <a:rPr lang="en-US" altLang="en-US"/>
              <a:pPr>
                <a:defRPr/>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7"/>
          <p:cNvSpPr>
            <a:spLocks noGrp="1" noChangeArrowheads="1"/>
          </p:cNvSpPr>
          <p:nvPr>
            <p:ph type="sldNum" sz="quarter" idx="12"/>
          </p:nvPr>
        </p:nvSpPr>
        <p:spPr>
          <a:ln/>
        </p:spPr>
        <p:txBody>
          <a:bodyPr/>
          <a:lstStyle>
            <a:lvl1pPr>
              <a:defRPr/>
            </a:lvl1pPr>
          </a:lstStyle>
          <a:p>
            <a:pPr>
              <a:defRPr/>
            </a:pPr>
            <a:fld id="{A94D61D0-5A32-4214-9618-E7413E4A3991}"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Line 2"/>
          <p:cNvSpPr>
            <a:spLocks noChangeShapeType="1"/>
          </p:cNvSpPr>
          <p:nvPr/>
        </p:nvSpPr>
        <p:spPr bwMode="auto">
          <a:xfrm>
            <a:off x="7962900" y="152400"/>
            <a:ext cx="0" cy="1524000"/>
          </a:xfrm>
          <a:prstGeom prst="line">
            <a:avLst/>
          </a:prstGeom>
          <a:noFill/>
          <a:ln w="9525">
            <a:solidFill>
              <a:schemeClr val="tx1"/>
            </a:solidFill>
            <a:round/>
            <a:headEnd/>
            <a:tailEnd/>
          </a:ln>
          <a:effectLst/>
        </p:spPr>
        <p:txBody>
          <a:bodyPr/>
          <a:lstStyle/>
          <a:p>
            <a:pPr>
              <a:defRPr/>
            </a:pPr>
            <a:endParaRPr lang="en-US"/>
          </a:p>
        </p:txBody>
      </p:sp>
      <p:sp>
        <p:nvSpPr>
          <p:cNvPr id="7171" name="Rectangle 3"/>
          <p:cNvSpPr>
            <a:spLocks noGrp="1" noChangeArrowheads="1"/>
          </p:cNvSpPr>
          <p:nvPr>
            <p:ph type="title"/>
          </p:nvPr>
        </p:nvSpPr>
        <p:spPr bwMode="auto">
          <a:xfrm>
            <a:off x="457200" y="122238"/>
            <a:ext cx="7543800" cy="1295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7172" name="Rectangle 4"/>
          <p:cNvSpPr>
            <a:spLocks noGrp="1" noChangeArrowheads="1"/>
          </p:cNvSpPr>
          <p:nvPr>
            <p:ph type="body" idx="1"/>
          </p:nvPr>
        </p:nvSpPr>
        <p:spPr bwMode="auto">
          <a:xfrm>
            <a:off x="457200" y="1719263"/>
            <a:ext cx="8229600" cy="44116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9461"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vl1pPr>
          </a:lstStyle>
          <a:p>
            <a:pPr>
              <a:defRPr/>
            </a:pPr>
            <a:endParaRPr lang="en-US" altLang="en-US"/>
          </a:p>
        </p:txBody>
      </p:sp>
      <p:sp>
        <p:nvSpPr>
          <p:cNvPr id="19462"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vl1pPr>
          </a:lstStyle>
          <a:p>
            <a:pPr>
              <a:defRPr/>
            </a:pPr>
            <a:endParaRPr lang="en-US" altLang="en-US"/>
          </a:p>
        </p:txBody>
      </p:sp>
      <p:sp>
        <p:nvSpPr>
          <p:cNvPr id="19463"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pPr>
              <a:defRPr/>
            </a:pPr>
            <a:fld id="{716607F1-F5B4-40CE-9840-A0B6A98E7C97}" type="slidenum">
              <a:rPr lang="en-US" altLang="en-US"/>
              <a:pPr>
                <a:defRPr/>
              </a:pPr>
              <a:t>‹#›</a:t>
            </a:fld>
            <a:endParaRPr lang="en-US" altLang="en-US"/>
          </a:p>
        </p:txBody>
      </p:sp>
      <p:grpSp>
        <p:nvGrpSpPr>
          <p:cNvPr id="7176" name="Group 8"/>
          <p:cNvGrpSpPr>
            <a:grpSpLocks/>
          </p:cNvGrpSpPr>
          <p:nvPr/>
        </p:nvGrpSpPr>
        <p:grpSpPr bwMode="auto">
          <a:xfrm>
            <a:off x="8153400" y="152400"/>
            <a:ext cx="792163" cy="1295400"/>
            <a:chOff x="5136" y="960"/>
            <a:chExt cx="528" cy="864"/>
          </a:xfrm>
        </p:grpSpPr>
        <p:sp>
          <p:nvSpPr>
            <p:cNvPr id="19465" name="Oval 9"/>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pPr>
                <a:defRPr/>
              </a:pPr>
              <a:endParaRPr lang="en-US"/>
            </a:p>
          </p:txBody>
        </p:sp>
        <p:sp>
          <p:nvSpPr>
            <p:cNvPr id="19466" name="Oval 10"/>
            <p:cNvSpPr>
              <a:spLocks noChangeArrowheads="1"/>
            </p:cNvSpPr>
            <p:nvPr/>
          </p:nvSpPr>
          <p:spPr bwMode="auto">
            <a:xfrm>
              <a:off x="5248" y="960"/>
              <a:ext cx="79" cy="80"/>
            </a:xfrm>
            <a:prstGeom prst="ellipse">
              <a:avLst/>
            </a:prstGeom>
            <a:solidFill>
              <a:schemeClr val="tx2"/>
            </a:solidFill>
            <a:ln w="9525">
              <a:noFill/>
              <a:round/>
              <a:headEnd/>
              <a:tailEnd/>
            </a:ln>
            <a:effectLst/>
          </p:spPr>
          <p:txBody>
            <a:bodyPr wrap="none" anchor="ctr"/>
            <a:lstStyle/>
            <a:p>
              <a:pPr>
                <a:defRPr/>
              </a:pPr>
              <a:endParaRPr lang="en-US"/>
            </a:p>
          </p:txBody>
        </p:sp>
        <p:sp>
          <p:nvSpPr>
            <p:cNvPr id="19467" name="Oval 11"/>
            <p:cNvSpPr>
              <a:spLocks noChangeArrowheads="1"/>
            </p:cNvSpPr>
            <p:nvPr/>
          </p:nvSpPr>
          <p:spPr bwMode="auto">
            <a:xfrm>
              <a:off x="5360" y="960"/>
              <a:ext cx="76" cy="80"/>
            </a:xfrm>
            <a:prstGeom prst="ellipse">
              <a:avLst/>
            </a:prstGeom>
            <a:solidFill>
              <a:schemeClr val="tx2"/>
            </a:solidFill>
            <a:ln w="9525">
              <a:noFill/>
              <a:round/>
              <a:headEnd/>
              <a:tailEnd/>
            </a:ln>
            <a:effectLst/>
          </p:spPr>
          <p:txBody>
            <a:bodyPr wrap="none" anchor="ctr"/>
            <a:lstStyle/>
            <a:p>
              <a:pPr>
                <a:defRPr/>
              </a:pPr>
              <a:endParaRPr lang="en-US"/>
            </a:p>
          </p:txBody>
        </p:sp>
        <p:sp>
          <p:nvSpPr>
            <p:cNvPr id="19468" name="Oval 12"/>
            <p:cNvSpPr>
              <a:spLocks noChangeArrowheads="1"/>
            </p:cNvSpPr>
            <p:nvPr/>
          </p:nvSpPr>
          <p:spPr bwMode="auto">
            <a:xfrm>
              <a:off x="5136" y="1072"/>
              <a:ext cx="80" cy="77"/>
            </a:xfrm>
            <a:prstGeom prst="ellipse">
              <a:avLst/>
            </a:prstGeom>
            <a:solidFill>
              <a:schemeClr val="tx2"/>
            </a:solidFill>
            <a:ln w="9525">
              <a:noFill/>
              <a:round/>
              <a:headEnd/>
              <a:tailEnd/>
            </a:ln>
            <a:effectLst/>
          </p:spPr>
          <p:txBody>
            <a:bodyPr wrap="none" anchor="ctr"/>
            <a:lstStyle/>
            <a:p>
              <a:pPr>
                <a:defRPr/>
              </a:pPr>
              <a:endParaRPr lang="en-US"/>
            </a:p>
          </p:txBody>
        </p:sp>
        <p:sp>
          <p:nvSpPr>
            <p:cNvPr id="19469" name="Oval 13"/>
            <p:cNvSpPr>
              <a:spLocks noChangeArrowheads="1"/>
            </p:cNvSpPr>
            <p:nvPr/>
          </p:nvSpPr>
          <p:spPr bwMode="auto">
            <a:xfrm>
              <a:off x="5248" y="1072"/>
              <a:ext cx="79" cy="77"/>
            </a:xfrm>
            <a:prstGeom prst="ellipse">
              <a:avLst/>
            </a:prstGeom>
            <a:solidFill>
              <a:schemeClr val="tx2"/>
            </a:solidFill>
            <a:ln w="9525">
              <a:noFill/>
              <a:round/>
              <a:headEnd/>
              <a:tailEnd/>
            </a:ln>
            <a:effectLst/>
          </p:spPr>
          <p:txBody>
            <a:bodyPr wrap="none" anchor="ctr"/>
            <a:lstStyle/>
            <a:p>
              <a:pPr>
                <a:defRPr/>
              </a:pPr>
              <a:endParaRPr lang="en-US"/>
            </a:p>
          </p:txBody>
        </p:sp>
        <p:sp>
          <p:nvSpPr>
            <p:cNvPr id="19470" name="Oval 14"/>
            <p:cNvSpPr>
              <a:spLocks noChangeArrowheads="1"/>
            </p:cNvSpPr>
            <p:nvPr/>
          </p:nvSpPr>
          <p:spPr bwMode="auto">
            <a:xfrm>
              <a:off x="5360" y="1072"/>
              <a:ext cx="76" cy="77"/>
            </a:xfrm>
            <a:prstGeom prst="ellipse">
              <a:avLst/>
            </a:prstGeom>
            <a:solidFill>
              <a:schemeClr val="tx2"/>
            </a:solidFill>
            <a:ln w="9525">
              <a:noFill/>
              <a:round/>
              <a:headEnd/>
              <a:tailEnd/>
            </a:ln>
            <a:effectLst/>
          </p:spPr>
          <p:txBody>
            <a:bodyPr wrap="none" anchor="ctr"/>
            <a:lstStyle/>
            <a:p>
              <a:pPr>
                <a:defRPr/>
              </a:pPr>
              <a:endParaRPr lang="en-US"/>
            </a:p>
          </p:txBody>
        </p:sp>
        <p:sp>
          <p:nvSpPr>
            <p:cNvPr id="19471" name="Oval 15"/>
            <p:cNvSpPr>
              <a:spLocks noChangeArrowheads="1"/>
            </p:cNvSpPr>
            <p:nvPr/>
          </p:nvSpPr>
          <p:spPr bwMode="auto">
            <a:xfrm>
              <a:off x="5472" y="1072"/>
              <a:ext cx="73" cy="77"/>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72" name="Oval 16"/>
            <p:cNvSpPr>
              <a:spLocks noChangeArrowheads="1"/>
            </p:cNvSpPr>
            <p:nvPr/>
          </p:nvSpPr>
          <p:spPr bwMode="auto">
            <a:xfrm>
              <a:off x="5136" y="1184"/>
              <a:ext cx="80" cy="73"/>
            </a:xfrm>
            <a:prstGeom prst="ellipse">
              <a:avLst/>
            </a:prstGeom>
            <a:solidFill>
              <a:schemeClr val="tx2"/>
            </a:solidFill>
            <a:ln w="9525">
              <a:noFill/>
              <a:round/>
              <a:headEnd/>
              <a:tailEnd/>
            </a:ln>
            <a:effectLst/>
          </p:spPr>
          <p:txBody>
            <a:bodyPr wrap="none" anchor="ctr"/>
            <a:lstStyle/>
            <a:p>
              <a:pPr>
                <a:defRPr/>
              </a:pPr>
              <a:endParaRPr lang="en-US"/>
            </a:p>
          </p:txBody>
        </p:sp>
        <p:sp>
          <p:nvSpPr>
            <p:cNvPr id="19473" name="Oval 17"/>
            <p:cNvSpPr>
              <a:spLocks noChangeArrowheads="1"/>
            </p:cNvSpPr>
            <p:nvPr/>
          </p:nvSpPr>
          <p:spPr bwMode="auto">
            <a:xfrm>
              <a:off x="5248" y="1184"/>
              <a:ext cx="79" cy="73"/>
            </a:xfrm>
            <a:prstGeom prst="ellipse">
              <a:avLst/>
            </a:prstGeom>
            <a:solidFill>
              <a:schemeClr val="tx2"/>
            </a:solidFill>
            <a:ln w="9525">
              <a:noFill/>
              <a:round/>
              <a:headEnd/>
              <a:tailEnd/>
            </a:ln>
            <a:effectLst/>
          </p:spPr>
          <p:txBody>
            <a:bodyPr wrap="none" anchor="ctr"/>
            <a:lstStyle/>
            <a:p>
              <a:pPr>
                <a:defRPr/>
              </a:pPr>
              <a:endParaRPr lang="en-US"/>
            </a:p>
          </p:txBody>
        </p:sp>
        <p:sp>
          <p:nvSpPr>
            <p:cNvPr id="19474" name="Oval 18"/>
            <p:cNvSpPr>
              <a:spLocks noChangeArrowheads="1"/>
            </p:cNvSpPr>
            <p:nvPr/>
          </p:nvSpPr>
          <p:spPr bwMode="auto">
            <a:xfrm>
              <a:off x="5360" y="1184"/>
              <a:ext cx="76" cy="73"/>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75" name="Oval 19"/>
            <p:cNvSpPr>
              <a:spLocks noChangeArrowheads="1"/>
            </p:cNvSpPr>
            <p:nvPr/>
          </p:nvSpPr>
          <p:spPr bwMode="auto">
            <a:xfrm>
              <a:off x="5472" y="1184"/>
              <a:ext cx="73" cy="73"/>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76" name="Oval 20"/>
            <p:cNvSpPr>
              <a:spLocks noChangeArrowheads="1"/>
            </p:cNvSpPr>
            <p:nvPr/>
          </p:nvSpPr>
          <p:spPr bwMode="auto">
            <a:xfrm>
              <a:off x="5584" y="1184"/>
              <a:ext cx="80" cy="73"/>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77" name="Oval 21"/>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pPr>
                <a:defRPr/>
              </a:pPr>
              <a:endParaRPr lang="en-US"/>
            </a:p>
          </p:txBody>
        </p:sp>
        <p:sp>
          <p:nvSpPr>
            <p:cNvPr id="19478" name="Oval 22"/>
            <p:cNvSpPr>
              <a:spLocks noChangeArrowheads="1"/>
            </p:cNvSpPr>
            <p:nvPr/>
          </p:nvSpPr>
          <p:spPr bwMode="auto">
            <a:xfrm>
              <a:off x="5248" y="1296"/>
              <a:ext cx="79" cy="80"/>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79" name="Oval 23"/>
            <p:cNvSpPr>
              <a:spLocks noChangeArrowheads="1"/>
            </p:cNvSpPr>
            <p:nvPr/>
          </p:nvSpPr>
          <p:spPr bwMode="auto">
            <a:xfrm>
              <a:off x="5360" y="1296"/>
              <a:ext cx="76" cy="80"/>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80" name="Oval 24"/>
            <p:cNvSpPr>
              <a:spLocks noChangeArrowheads="1"/>
            </p:cNvSpPr>
            <p:nvPr/>
          </p:nvSpPr>
          <p:spPr bwMode="auto">
            <a:xfrm>
              <a:off x="5472" y="1296"/>
              <a:ext cx="73" cy="80"/>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81" name="Oval 25"/>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82" name="Oval 26"/>
            <p:cNvSpPr>
              <a:spLocks noChangeArrowheads="1"/>
            </p:cNvSpPr>
            <p:nvPr/>
          </p:nvSpPr>
          <p:spPr bwMode="auto">
            <a:xfrm>
              <a:off x="5248" y="1408"/>
              <a:ext cx="79" cy="80"/>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83" name="Oval 27"/>
            <p:cNvSpPr>
              <a:spLocks noChangeArrowheads="1"/>
            </p:cNvSpPr>
            <p:nvPr/>
          </p:nvSpPr>
          <p:spPr bwMode="auto">
            <a:xfrm>
              <a:off x="5360" y="1408"/>
              <a:ext cx="76" cy="80"/>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84" name="Oval 28"/>
            <p:cNvSpPr>
              <a:spLocks noChangeArrowheads="1"/>
            </p:cNvSpPr>
            <p:nvPr/>
          </p:nvSpPr>
          <p:spPr bwMode="auto">
            <a:xfrm>
              <a:off x="5472" y="1408"/>
              <a:ext cx="73" cy="80"/>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85" name="Oval 29"/>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pPr>
                <a:defRPr/>
              </a:pPr>
              <a:endParaRPr lang="en-US"/>
            </a:p>
          </p:txBody>
        </p:sp>
        <p:sp>
          <p:nvSpPr>
            <p:cNvPr id="19486" name="Oval 30"/>
            <p:cNvSpPr>
              <a:spLocks noChangeArrowheads="1"/>
            </p:cNvSpPr>
            <p:nvPr/>
          </p:nvSpPr>
          <p:spPr bwMode="auto">
            <a:xfrm>
              <a:off x="5136" y="1520"/>
              <a:ext cx="80" cy="79"/>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87" name="Oval 31"/>
            <p:cNvSpPr>
              <a:spLocks noChangeArrowheads="1"/>
            </p:cNvSpPr>
            <p:nvPr/>
          </p:nvSpPr>
          <p:spPr bwMode="auto">
            <a:xfrm>
              <a:off x="5248" y="1520"/>
              <a:ext cx="79" cy="79"/>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88" name="Oval 32"/>
            <p:cNvSpPr>
              <a:spLocks noChangeArrowheads="1"/>
            </p:cNvSpPr>
            <p:nvPr/>
          </p:nvSpPr>
          <p:spPr bwMode="auto">
            <a:xfrm>
              <a:off x="5360" y="1520"/>
              <a:ext cx="76" cy="79"/>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89" name="Oval 33"/>
            <p:cNvSpPr>
              <a:spLocks noChangeArrowheads="1"/>
            </p:cNvSpPr>
            <p:nvPr/>
          </p:nvSpPr>
          <p:spPr bwMode="auto">
            <a:xfrm>
              <a:off x="5472" y="1520"/>
              <a:ext cx="73" cy="79"/>
            </a:xfrm>
            <a:prstGeom prst="ellipse">
              <a:avLst/>
            </a:prstGeom>
            <a:solidFill>
              <a:schemeClr val="folHlink"/>
            </a:solidFill>
            <a:ln w="9525">
              <a:noFill/>
              <a:round/>
              <a:headEnd/>
              <a:tailEnd/>
            </a:ln>
            <a:effectLst/>
          </p:spPr>
          <p:txBody>
            <a:bodyPr wrap="none" anchor="ctr"/>
            <a:lstStyle/>
            <a:p>
              <a:pPr>
                <a:defRPr/>
              </a:pPr>
              <a:endParaRPr lang="en-US"/>
            </a:p>
          </p:txBody>
        </p:sp>
        <p:sp>
          <p:nvSpPr>
            <p:cNvPr id="19490" name="Oval 34"/>
            <p:cNvSpPr>
              <a:spLocks noChangeArrowheads="1"/>
            </p:cNvSpPr>
            <p:nvPr/>
          </p:nvSpPr>
          <p:spPr bwMode="auto">
            <a:xfrm>
              <a:off x="5136" y="1632"/>
              <a:ext cx="80" cy="75"/>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91" name="Oval 35"/>
            <p:cNvSpPr>
              <a:spLocks noChangeArrowheads="1"/>
            </p:cNvSpPr>
            <p:nvPr/>
          </p:nvSpPr>
          <p:spPr bwMode="auto">
            <a:xfrm>
              <a:off x="5248" y="1632"/>
              <a:ext cx="79" cy="75"/>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92" name="Oval 36"/>
            <p:cNvSpPr>
              <a:spLocks noChangeArrowheads="1"/>
            </p:cNvSpPr>
            <p:nvPr/>
          </p:nvSpPr>
          <p:spPr bwMode="auto">
            <a:xfrm>
              <a:off x="5360" y="1632"/>
              <a:ext cx="76" cy="75"/>
            </a:xfrm>
            <a:prstGeom prst="ellipse">
              <a:avLst/>
            </a:prstGeom>
            <a:solidFill>
              <a:schemeClr val="folHlink"/>
            </a:solidFill>
            <a:ln w="9525">
              <a:noFill/>
              <a:round/>
              <a:headEnd/>
              <a:tailEnd/>
            </a:ln>
            <a:effectLst/>
          </p:spPr>
          <p:txBody>
            <a:bodyPr wrap="none" anchor="ctr"/>
            <a:lstStyle/>
            <a:p>
              <a:pPr>
                <a:defRPr/>
              </a:pPr>
              <a:endParaRPr lang="en-US"/>
            </a:p>
          </p:txBody>
        </p:sp>
        <p:sp>
          <p:nvSpPr>
            <p:cNvPr id="19493" name="Oval 37"/>
            <p:cNvSpPr>
              <a:spLocks noChangeArrowheads="1"/>
            </p:cNvSpPr>
            <p:nvPr/>
          </p:nvSpPr>
          <p:spPr bwMode="auto">
            <a:xfrm>
              <a:off x="5472" y="1632"/>
              <a:ext cx="73" cy="75"/>
            </a:xfrm>
            <a:prstGeom prst="ellipse">
              <a:avLst/>
            </a:prstGeom>
            <a:solidFill>
              <a:schemeClr val="folHlink"/>
            </a:solidFill>
            <a:ln w="9525">
              <a:noFill/>
              <a:round/>
              <a:headEnd/>
              <a:tailEnd/>
            </a:ln>
            <a:effectLst/>
          </p:spPr>
          <p:txBody>
            <a:bodyPr wrap="none" anchor="ctr"/>
            <a:lstStyle/>
            <a:p>
              <a:pPr>
                <a:defRPr/>
              </a:pPr>
              <a:endParaRPr lang="en-US"/>
            </a:p>
          </p:txBody>
        </p:sp>
        <p:sp>
          <p:nvSpPr>
            <p:cNvPr id="19494" name="Oval 38"/>
            <p:cNvSpPr>
              <a:spLocks noChangeArrowheads="1"/>
            </p:cNvSpPr>
            <p:nvPr/>
          </p:nvSpPr>
          <p:spPr bwMode="auto">
            <a:xfrm>
              <a:off x="5248" y="1744"/>
              <a:ext cx="79" cy="80"/>
            </a:xfrm>
            <a:prstGeom prst="ellipse">
              <a:avLst/>
            </a:prstGeom>
            <a:solidFill>
              <a:schemeClr val="folHlink"/>
            </a:solidFill>
            <a:ln w="9525">
              <a:noFill/>
              <a:round/>
              <a:headEnd/>
              <a:tailEnd/>
            </a:ln>
            <a:effectLst/>
          </p:spPr>
          <p:txBody>
            <a:bodyPr wrap="none" anchor="ctr"/>
            <a:lstStyle/>
            <a:p>
              <a:pPr>
                <a:defRPr/>
              </a:pPr>
              <a:endParaRPr lang="en-US"/>
            </a:p>
          </p:txBody>
        </p:sp>
        <p:sp>
          <p:nvSpPr>
            <p:cNvPr id="19495" name="Oval 39"/>
            <p:cNvSpPr>
              <a:spLocks noChangeArrowheads="1"/>
            </p:cNvSpPr>
            <p:nvPr/>
          </p:nvSpPr>
          <p:spPr bwMode="auto">
            <a:xfrm>
              <a:off x="5472" y="1744"/>
              <a:ext cx="73" cy="80"/>
            </a:xfrm>
            <a:prstGeom prst="ellipse">
              <a:avLst/>
            </a:prstGeom>
            <a:solidFill>
              <a:schemeClr val="folHlink"/>
            </a:solidFill>
            <a:ln w="9525">
              <a:noFill/>
              <a:round/>
              <a:headEnd/>
              <a:tailEnd/>
            </a:ln>
            <a:effectLst/>
          </p:spPr>
          <p:txBody>
            <a:bodyPr wrap="none" anchor="ct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3823"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Lst>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defRPr>
      </a:lvl2pPr>
      <a:lvl3pPr algn="l" rtl="0" eaLnBrk="0" fontAlgn="base" hangingPunct="0">
        <a:spcBef>
          <a:spcPct val="0"/>
        </a:spcBef>
        <a:spcAft>
          <a:spcPct val="0"/>
        </a:spcAft>
        <a:defRPr sz="3900" b="1">
          <a:solidFill>
            <a:schemeClr val="tx2"/>
          </a:solidFill>
          <a:latin typeface="Arial" charset="0"/>
        </a:defRPr>
      </a:lvl3pPr>
      <a:lvl4pPr algn="l" rtl="0" eaLnBrk="0" fontAlgn="base" hangingPunct="0">
        <a:spcBef>
          <a:spcPct val="0"/>
        </a:spcBef>
        <a:spcAft>
          <a:spcPct val="0"/>
        </a:spcAft>
        <a:defRPr sz="3900" b="1">
          <a:solidFill>
            <a:schemeClr val="tx2"/>
          </a:solidFill>
          <a:latin typeface="Arial" charset="0"/>
        </a:defRPr>
      </a:lvl4pPr>
      <a:lvl5pPr algn="l" rtl="0" eaLnBrk="0" fontAlgn="base" hangingPunct="0">
        <a:spcBef>
          <a:spcPct val="0"/>
        </a:spcBef>
        <a:spcAft>
          <a:spcPct val="0"/>
        </a:spcAft>
        <a:defRPr sz="3900" b="1">
          <a:solidFill>
            <a:schemeClr val="tx2"/>
          </a:solidFill>
          <a:latin typeface="Arial" charset="0"/>
        </a:defRPr>
      </a:lvl5pPr>
      <a:lvl6pPr marL="457200" algn="l" rtl="0" fontAlgn="base">
        <a:spcBef>
          <a:spcPct val="0"/>
        </a:spcBef>
        <a:spcAft>
          <a:spcPct val="0"/>
        </a:spcAft>
        <a:defRPr sz="3900" b="1">
          <a:solidFill>
            <a:schemeClr val="tx2"/>
          </a:solidFill>
          <a:latin typeface="Arial" charset="0"/>
        </a:defRPr>
      </a:lvl6pPr>
      <a:lvl7pPr marL="914400" algn="l" rtl="0" fontAlgn="base">
        <a:spcBef>
          <a:spcPct val="0"/>
        </a:spcBef>
        <a:spcAft>
          <a:spcPct val="0"/>
        </a:spcAft>
        <a:defRPr sz="3900" b="1">
          <a:solidFill>
            <a:schemeClr val="tx2"/>
          </a:solidFill>
          <a:latin typeface="Arial" charset="0"/>
        </a:defRPr>
      </a:lvl7pPr>
      <a:lvl8pPr marL="1371600" algn="l" rtl="0" fontAlgn="base">
        <a:spcBef>
          <a:spcPct val="0"/>
        </a:spcBef>
        <a:spcAft>
          <a:spcPct val="0"/>
        </a:spcAft>
        <a:defRPr sz="3900" b="1">
          <a:solidFill>
            <a:schemeClr val="tx2"/>
          </a:solidFill>
          <a:latin typeface="Arial" charset="0"/>
        </a:defRPr>
      </a:lvl8pPr>
      <a:lvl9pPr marL="1828800" algn="l" rtl="0" fontAlgn="base">
        <a:spcBef>
          <a:spcPct val="0"/>
        </a:spcBef>
        <a:spcAft>
          <a:spcPct val="0"/>
        </a:spcAft>
        <a:defRPr sz="39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emf"/><Relationship Id="rId5" Type="http://schemas.openxmlformats.org/officeDocument/2006/relationships/oleObject" Target="../embeddings/oleObject4.bin"/><Relationship Id="rId4" Type="http://schemas.openxmlformats.org/officeDocument/2006/relationships/image" Target="../media/image8.emf"/></Relationships>
</file>

<file path=ppt/slides/_rels/slide2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6.bin"/><Relationship Id="rId1" Type="http://schemas.openxmlformats.org/officeDocument/2006/relationships/slideLayout" Target="../slideLayouts/slideLayout6.xml"/><Relationship Id="rId5" Type="http://schemas.openxmlformats.org/officeDocument/2006/relationships/image" Target="../media/image12.wmf"/><Relationship Id="rId4" Type="http://schemas.openxmlformats.org/officeDocument/2006/relationships/oleObject" Target="../embeddings/oleObject7.bin"/></Relationships>
</file>

<file path=ppt/slides/_rels/slide2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8.bin"/><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1.wmf"/></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6.wmf"/><Relationship Id="rId5" Type="http://schemas.openxmlformats.org/officeDocument/2006/relationships/oleObject" Target="../embeddings/oleObject12.bin"/><Relationship Id="rId4" Type="http://schemas.openxmlformats.org/officeDocument/2006/relationships/image" Target="../media/image25.wmf"/></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oleObject" Target="../embeddings/oleObject13.bin"/><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oleObject" Target="../embeddings/oleObject14.bin"/><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oleObject" Target="../embeddings/oleObject15.bin"/></Relationships>
</file>

<file path=ppt/slides/_rels/slide55.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16.bin"/><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17.bin"/><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18.bin"/><Relationship Id="rId1" Type="http://schemas.openxmlformats.org/officeDocument/2006/relationships/slideLayout" Target="../slideLayouts/slideLayout2.xml"/><Relationship Id="rId5" Type="http://schemas.openxmlformats.org/officeDocument/2006/relationships/image" Target="../media/image33.wmf"/><Relationship Id="rId4" Type="http://schemas.openxmlformats.org/officeDocument/2006/relationships/oleObject" Target="../embeddings/oleObject19.bin"/></Relationships>
</file>

<file path=ppt/slides/_rels/slide59.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20.bin"/><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7.w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image" Target="../media/image38.png"/><Relationship Id="rId1" Type="http://schemas.openxmlformats.org/officeDocument/2006/relationships/slideLayout" Target="../slideLayouts/slideLayout6.xml"/><Relationship Id="rId6" Type="http://schemas.openxmlformats.org/officeDocument/2006/relationships/image" Target="../media/image40.wmf"/><Relationship Id="rId5" Type="http://schemas.openxmlformats.org/officeDocument/2006/relationships/oleObject" Target="../embeddings/oleObject23.bin"/><Relationship Id="rId4" Type="http://schemas.openxmlformats.org/officeDocument/2006/relationships/image" Target="../media/image39.wmf"/></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350.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a:xfrm>
            <a:off x="315913" y="990600"/>
            <a:ext cx="6781800" cy="1066800"/>
          </a:xfrm>
        </p:spPr>
        <p:txBody>
          <a:bodyPr/>
          <a:lstStyle/>
          <a:p>
            <a:pPr algn="ctr" eaLnBrk="1" hangingPunct="1"/>
            <a:r>
              <a:rPr lang="en-US" sz="2800" dirty="0"/>
              <a:t>Data Mining (CSE 6506)</a:t>
            </a:r>
            <a:br>
              <a:rPr lang="en-US" sz="2800" dirty="0"/>
            </a:br>
            <a:br>
              <a:rPr lang="en-US" sz="2800" dirty="0"/>
            </a:br>
            <a:endParaRPr lang="en-US" sz="2800" b="0" dirty="0"/>
          </a:p>
        </p:txBody>
      </p:sp>
      <p:sp>
        <p:nvSpPr>
          <p:cNvPr id="14339" name="Rectangle 3"/>
          <p:cNvSpPr>
            <a:spLocks noGrp="1" noChangeArrowheads="1"/>
          </p:cNvSpPr>
          <p:nvPr>
            <p:ph type="subTitle" idx="1"/>
          </p:nvPr>
        </p:nvSpPr>
        <p:spPr/>
        <p:txBody>
          <a:bodyPr/>
          <a:lstStyle/>
          <a:p>
            <a:pPr algn="ctr" eaLnBrk="1" hangingPunct="1">
              <a:lnSpc>
                <a:spcPct val="90000"/>
              </a:lnSpc>
            </a:pPr>
            <a:r>
              <a:rPr lang="en-US" sz="2400"/>
              <a:t>Mahmuda</a:t>
            </a:r>
            <a:r>
              <a:rPr lang="en-US" sz="2400" dirty="0"/>
              <a:t> </a:t>
            </a:r>
            <a:r>
              <a:rPr lang="en-US" sz="2400" dirty="0" err="1"/>
              <a:t>Naznin</a:t>
            </a:r>
            <a:endParaRPr lang="en-US" sz="2400" dirty="0"/>
          </a:p>
          <a:p>
            <a:pPr algn="ctr" eaLnBrk="1" hangingPunct="1">
              <a:lnSpc>
                <a:spcPct val="90000"/>
              </a:lnSpc>
            </a:pPr>
            <a:r>
              <a:rPr lang="en-US" sz="2400" dirty="0"/>
              <a:t>Department of Computer Science Engineering, BUET </a:t>
            </a:r>
            <a:br>
              <a:rPr lang="en-US" sz="2400" dirty="0"/>
            </a:br>
            <a:endParaRPr lang="en-US" sz="2400" dirty="0"/>
          </a:p>
          <a:p>
            <a:pPr algn="ctr" eaLnBrk="1" hangingPunct="1">
              <a:lnSpc>
                <a:spcPct val="90000"/>
              </a:lnSpc>
            </a:pPr>
            <a:br>
              <a:rPr lang="en-US" sz="2400" dirty="0"/>
            </a:br>
            <a:endParaRPr lang="en-US" sz="2400" dirty="0"/>
          </a:p>
        </p:txBody>
      </p:sp>
      <p:sp>
        <p:nvSpPr>
          <p:cNvPr id="5" name="Rectangle 2"/>
          <p:cNvSpPr txBox="1">
            <a:spLocks noChangeArrowheads="1"/>
          </p:cNvSpPr>
          <p:nvPr/>
        </p:nvSpPr>
        <p:spPr bwMode="auto">
          <a:xfrm>
            <a:off x="457200" y="1600200"/>
            <a:ext cx="6781800" cy="914400"/>
          </a:xfrm>
          <a:prstGeom prst="rect">
            <a:avLst/>
          </a:prstGeom>
          <a:solidFill>
            <a:schemeClr val="bg1">
              <a:lumMod val="85000"/>
            </a:schemeClr>
          </a:solidFill>
          <a:ln w="9525">
            <a:noFill/>
            <a:miter lim="800000"/>
            <a:headEnd/>
            <a:tailEnd/>
          </a:ln>
        </p:spPr>
        <p:txBody>
          <a:bodyPr vert="horz" wrap="square" lIns="91440" tIns="45720" rIns="91440" bIns="45720" numCol="1" anchor="b" anchorCtr="0" compatLnSpc="1">
            <a:prstTxWarp prst="textNoShape">
              <a:avLst/>
            </a:prstTxWarp>
          </a:bodyPr>
          <a:lstStyle/>
          <a:p>
            <a:pPr lvl="0" algn="ctr"/>
            <a:r>
              <a:rPr lang="en-US" sz="2800" b="1" kern="0" dirty="0">
                <a:solidFill>
                  <a:schemeClr val="tx2"/>
                </a:solidFill>
                <a:latin typeface="+mj-lt"/>
                <a:ea typeface="+mj-ea"/>
                <a:cs typeface="+mj-cs"/>
              </a:rPr>
              <a:t>Association Rule Mining (ARM)- Part 2 </a:t>
            </a:r>
            <a:endParaRPr kumimoji="0" lang="en-US" sz="28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381000" y="3505200"/>
            <a:ext cx="82296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eaLnBrk="1" hangingPunct="1">
              <a:spcBef>
                <a:spcPct val="20000"/>
              </a:spcBef>
              <a:spcAft>
                <a:spcPct val="0"/>
              </a:spcAft>
              <a:buClr>
                <a:schemeClr val="folHlink"/>
              </a:buClr>
              <a:buSzPct val="60000"/>
              <a:buFont typeface="Wingdings" pitchFamily="2" charset="2"/>
              <a:buNone/>
            </a:pPr>
            <a:r>
              <a:rPr lang="en-US" altLang="en-US" sz="3200" b="0"/>
              <a:t>Algorithms and Complexity</a:t>
            </a:r>
            <a:endParaRPr lang="en-US" altLang="en-US" sz="1600" b="0">
              <a:solidFill>
                <a:srgbClr val="0000FF"/>
              </a:solidFill>
            </a:endParaRPr>
          </a:p>
          <a:p>
            <a:pPr algn="ctr">
              <a:spcBef>
                <a:spcPct val="0"/>
              </a:spcBef>
              <a:spcAft>
                <a:spcPct val="0"/>
              </a:spcAft>
              <a:buClrTx/>
              <a:buSzTx/>
              <a:buFontTx/>
              <a:buNone/>
            </a:pPr>
            <a:endParaRPr lang="en-US" altLang="en-US" sz="1600" b="0"/>
          </a:p>
          <a:p>
            <a:pPr algn="ctr">
              <a:spcBef>
                <a:spcPct val="0"/>
              </a:spcBef>
              <a:spcAft>
                <a:spcPct val="0"/>
              </a:spcAft>
              <a:buClrTx/>
              <a:buSzTx/>
              <a:buFontTx/>
              <a:buNone/>
            </a:pPr>
            <a:endParaRPr lang="en-US" altLang="en-US" sz="1600" b="0"/>
          </a:p>
          <a:p>
            <a:pPr algn="ctr">
              <a:spcBef>
                <a:spcPct val="0"/>
              </a:spcBef>
              <a:spcAft>
                <a:spcPct val="0"/>
              </a:spcAft>
              <a:buClrTx/>
              <a:buSzTx/>
              <a:buFontTx/>
              <a:buNone/>
            </a:pPr>
            <a:endParaRPr lang="en-US" altLang="en-US" sz="1600" b="0"/>
          </a:p>
          <a:p>
            <a:pPr>
              <a:spcBef>
                <a:spcPct val="0"/>
              </a:spcBef>
              <a:spcAft>
                <a:spcPct val="0"/>
              </a:spcAft>
              <a:buClrTx/>
              <a:buSzTx/>
              <a:buFontTx/>
              <a:buNone/>
            </a:pPr>
            <a:endParaRPr lang="en-US" altLang="en-US" sz="2000" b="0"/>
          </a:p>
        </p:txBody>
      </p:sp>
      <p:sp>
        <p:nvSpPr>
          <p:cNvPr id="43011" name="Rectangle 3"/>
          <p:cNvSpPr>
            <a:spLocks noGrp="1" noChangeArrowheads="1"/>
          </p:cNvSpPr>
          <p:nvPr>
            <p:ph type="title"/>
          </p:nvPr>
        </p:nvSpPr>
        <p:spPr>
          <a:xfrm>
            <a:off x="381000" y="1371600"/>
            <a:ext cx="8763000" cy="838200"/>
          </a:xfrm>
          <a:noFill/>
        </p:spPr>
        <p:txBody>
          <a:bodyPr/>
          <a:lstStyle/>
          <a:p>
            <a:pPr algn="ctr"/>
            <a:br>
              <a:rPr lang="en-US" altLang="en-US"/>
            </a:br>
            <a:r>
              <a:rPr lang="en-US" altLang="en-US"/>
              <a:t>Association Analysis: Basic Concepts </a:t>
            </a:r>
            <a:br>
              <a:rPr lang="en-US" altLang="en-US"/>
            </a:br>
            <a:r>
              <a:rPr lang="en-US" altLang="en-US"/>
              <a:t>and Algorithms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228600" y="152400"/>
            <a:ext cx="8610600" cy="731838"/>
          </a:xfrm>
        </p:spPr>
        <p:txBody>
          <a:bodyPr/>
          <a:lstStyle/>
          <a:p>
            <a:r>
              <a:rPr lang="en-US" altLang="en-US" sz="3200" dirty="0"/>
              <a:t>Factors Affecting Complexity of </a:t>
            </a:r>
            <a:r>
              <a:rPr lang="en-US" altLang="en-US" sz="3200" dirty="0" err="1"/>
              <a:t>Apriori</a:t>
            </a:r>
            <a:endParaRPr lang="en-US" altLang="en-US" sz="3200" dirty="0"/>
          </a:p>
        </p:txBody>
      </p:sp>
      <p:sp>
        <p:nvSpPr>
          <p:cNvPr id="45059" name="Rectangle 3"/>
          <p:cNvSpPr>
            <a:spLocks noGrp="1" noChangeArrowheads="1"/>
          </p:cNvSpPr>
          <p:nvPr>
            <p:ph type="body" idx="1"/>
          </p:nvPr>
        </p:nvSpPr>
        <p:spPr>
          <a:xfrm>
            <a:off x="411163" y="1143000"/>
            <a:ext cx="8504237" cy="5181600"/>
          </a:xfrm>
        </p:spPr>
        <p:txBody>
          <a:bodyPr/>
          <a:lstStyle/>
          <a:p>
            <a:pPr>
              <a:lnSpc>
                <a:spcPct val="80000"/>
              </a:lnSpc>
            </a:pPr>
            <a:r>
              <a:rPr lang="en-US" altLang="en-US" sz="2400"/>
              <a:t>Choice of minimum support threshold</a:t>
            </a:r>
          </a:p>
          <a:p>
            <a:pPr lvl="1">
              <a:lnSpc>
                <a:spcPct val="80000"/>
              </a:lnSpc>
            </a:pPr>
            <a:r>
              <a:rPr lang="en-US" altLang="en-US" sz="2000"/>
              <a:t> lowering support threshold results in more frequent itemsets</a:t>
            </a:r>
          </a:p>
          <a:p>
            <a:pPr lvl="1">
              <a:lnSpc>
                <a:spcPct val="80000"/>
              </a:lnSpc>
            </a:pPr>
            <a:r>
              <a:rPr lang="en-US" altLang="en-US" sz="2000"/>
              <a:t> this may increase number of candidates and max length of frequent itemsets</a:t>
            </a:r>
          </a:p>
          <a:p>
            <a:pPr>
              <a:lnSpc>
                <a:spcPct val="80000"/>
              </a:lnSpc>
            </a:pPr>
            <a:r>
              <a:rPr lang="en-US" altLang="en-US" sz="2400"/>
              <a:t>Dimensionality (number of items) of the data set</a:t>
            </a:r>
          </a:p>
          <a:p>
            <a:pPr lvl="1">
              <a:lnSpc>
                <a:spcPct val="80000"/>
              </a:lnSpc>
            </a:pPr>
            <a:r>
              <a:rPr lang="en-US" altLang="en-US" sz="2000"/>
              <a:t> more space is needed to store support count of each item</a:t>
            </a:r>
          </a:p>
          <a:p>
            <a:pPr lvl="1">
              <a:lnSpc>
                <a:spcPct val="80000"/>
              </a:lnSpc>
            </a:pPr>
            <a:r>
              <a:rPr lang="en-US" altLang="en-US" sz="2000"/>
              <a:t> if number of frequent items also increases, both computation and I/O costs may also increase</a:t>
            </a:r>
          </a:p>
          <a:p>
            <a:pPr>
              <a:lnSpc>
                <a:spcPct val="80000"/>
              </a:lnSpc>
            </a:pPr>
            <a:r>
              <a:rPr lang="en-US" altLang="en-US" sz="2400"/>
              <a:t>Size of database</a:t>
            </a:r>
          </a:p>
          <a:p>
            <a:pPr lvl="1">
              <a:lnSpc>
                <a:spcPct val="80000"/>
              </a:lnSpc>
            </a:pPr>
            <a:r>
              <a:rPr lang="en-US" altLang="en-US" sz="2000"/>
              <a:t> since Apriori makes multiple passes, run time of algorithm may increase with number of transactions</a:t>
            </a:r>
          </a:p>
          <a:p>
            <a:pPr>
              <a:lnSpc>
                <a:spcPct val="80000"/>
              </a:lnSpc>
            </a:pPr>
            <a:r>
              <a:rPr lang="en-US" altLang="en-US" sz="2400"/>
              <a:t>Average transaction width</a:t>
            </a:r>
          </a:p>
          <a:p>
            <a:pPr lvl="1">
              <a:lnSpc>
                <a:spcPct val="80000"/>
              </a:lnSpc>
            </a:pPr>
            <a:r>
              <a:rPr lang="en-US" altLang="en-US" sz="2000"/>
              <a:t> transaction width increases with denser data sets</a:t>
            </a:r>
          </a:p>
          <a:p>
            <a:pPr lvl="1">
              <a:lnSpc>
                <a:spcPct val="80000"/>
              </a:lnSpc>
            </a:pPr>
            <a:r>
              <a:rPr lang="en-US" altLang="en-US" sz="2000"/>
              <a:t>This may increase max length of frequent itemsets and traversals of hash tree (number of subsets in a transaction increases with its width)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304800" y="152400"/>
            <a:ext cx="8229600" cy="731838"/>
          </a:xfrm>
        </p:spPr>
        <p:txBody>
          <a:bodyPr/>
          <a:lstStyle/>
          <a:p>
            <a:r>
              <a:rPr lang="en-US" altLang="en-US" sz="3200" dirty="0"/>
              <a:t>Factors Affecting Complexity of </a:t>
            </a:r>
            <a:r>
              <a:rPr lang="en-US" altLang="en-US" sz="3200" dirty="0" err="1"/>
              <a:t>Apriori</a:t>
            </a:r>
            <a:endParaRPr lang="en-US" altLang="en-US" sz="3200" dirty="0"/>
          </a:p>
        </p:txBody>
      </p:sp>
      <p:pic>
        <p:nvPicPr>
          <p:cNvPr id="46083"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52400" y="1143000"/>
            <a:ext cx="8153400" cy="5486400"/>
          </a:xfr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D32A6D-DE32-9C52-3924-3FFF980FC844}"/>
              </a:ext>
            </a:extLst>
          </p:cNvPr>
          <p:cNvSpPr>
            <a:spLocks noGrp="1"/>
          </p:cNvSpPr>
          <p:nvPr>
            <p:ph type="sldNum" sz="quarter" idx="12"/>
          </p:nvPr>
        </p:nvSpPr>
        <p:spPr/>
        <p:txBody>
          <a:bodyPr/>
          <a:lstStyle/>
          <a:p>
            <a:pPr>
              <a:defRPr/>
            </a:pPr>
            <a:fld id="{E32456F1-5FD4-4074-A7F5-122F6C81D70D}" type="slidenum">
              <a:rPr lang="en-US" altLang="en-US" smtClean="0"/>
              <a:pPr>
                <a:defRPr/>
              </a:pPr>
              <a:t>5</a:t>
            </a:fld>
            <a:endParaRPr lang="en-US" altLang="en-US"/>
          </a:p>
        </p:txBody>
      </p:sp>
      <p:sp>
        <p:nvSpPr>
          <p:cNvPr id="3" name="AutoShape 2" descr="Output image">
            <a:extLst>
              <a:ext uri="{FF2B5EF4-FFF2-40B4-BE49-F238E27FC236}">
                <a16:creationId xmlns:a16="http://schemas.microsoft.com/office/drawing/2014/main" id="{27475D5B-F1F1-956D-5809-04D00A09A66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B37CEB6E-21CC-0A07-8749-114292A92D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32" y="-10297"/>
            <a:ext cx="4953000" cy="3439297"/>
          </a:xfrm>
          <a:prstGeom prst="rect">
            <a:avLst/>
          </a:prstGeom>
        </p:spPr>
      </p:pic>
      <p:pic>
        <p:nvPicPr>
          <p:cNvPr id="7" name="Picture 6">
            <a:extLst>
              <a:ext uri="{FF2B5EF4-FFF2-40B4-BE49-F238E27FC236}">
                <a16:creationId xmlns:a16="http://schemas.microsoft.com/office/drawing/2014/main" id="{60739737-CA2A-A525-9B89-C89029E0BC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62169" y="3276600"/>
            <a:ext cx="4953000" cy="3439297"/>
          </a:xfrm>
          <a:prstGeom prst="rect">
            <a:avLst/>
          </a:prstGeom>
        </p:spPr>
      </p:pic>
    </p:spTree>
    <p:extLst>
      <p:ext uri="{BB962C8B-B14F-4D97-AF65-F5344CB8AC3E}">
        <p14:creationId xmlns:p14="http://schemas.microsoft.com/office/powerpoint/2010/main" val="3243979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304800" y="152400"/>
            <a:ext cx="8229600" cy="731838"/>
          </a:xfrm>
        </p:spPr>
        <p:txBody>
          <a:bodyPr/>
          <a:lstStyle/>
          <a:p>
            <a:r>
              <a:rPr lang="en-US" altLang="en-US" sz="3200" dirty="0"/>
              <a:t>Factors Affecting Complexity of </a:t>
            </a:r>
            <a:r>
              <a:rPr lang="en-US" altLang="en-US" sz="3200" dirty="0" err="1"/>
              <a:t>Apriori</a:t>
            </a:r>
            <a:endParaRPr lang="en-US" altLang="en-US" sz="3200" dirty="0"/>
          </a:p>
        </p:txBody>
      </p:sp>
      <p:pic>
        <p:nvPicPr>
          <p:cNvPr id="4608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990600"/>
            <a:ext cx="83058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228600" y="152400"/>
            <a:ext cx="7543800" cy="503238"/>
          </a:xfrm>
        </p:spPr>
        <p:txBody>
          <a:bodyPr/>
          <a:lstStyle/>
          <a:p>
            <a:r>
              <a:rPr lang="en-US" altLang="en-US" sz="2400" dirty="0"/>
              <a:t>Compact Representation of Frequent </a:t>
            </a:r>
            <a:r>
              <a:rPr lang="en-US" altLang="en-US" sz="2400" dirty="0" err="1"/>
              <a:t>Itemsets</a:t>
            </a:r>
            <a:endParaRPr lang="en-US" altLang="en-US" sz="2400" dirty="0"/>
          </a:p>
        </p:txBody>
      </p:sp>
      <p:sp>
        <p:nvSpPr>
          <p:cNvPr id="47107" name="Rectangle 3"/>
          <p:cNvSpPr>
            <a:spLocks noGrp="1" noChangeArrowheads="1"/>
          </p:cNvSpPr>
          <p:nvPr>
            <p:ph type="body" idx="1"/>
          </p:nvPr>
        </p:nvSpPr>
        <p:spPr>
          <a:xfrm>
            <a:off x="304800" y="838200"/>
            <a:ext cx="8229600" cy="4411662"/>
          </a:xfrm>
        </p:spPr>
        <p:txBody>
          <a:bodyPr/>
          <a:lstStyle/>
          <a:p>
            <a:pPr>
              <a:lnSpc>
                <a:spcPct val="90000"/>
              </a:lnSpc>
            </a:pPr>
            <a:r>
              <a:rPr lang="en-US" altLang="en-US" sz="2400" dirty="0"/>
              <a:t>Some </a:t>
            </a:r>
            <a:r>
              <a:rPr lang="en-US" altLang="en-US" sz="2400" dirty="0" err="1"/>
              <a:t>itemsets</a:t>
            </a:r>
            <a:r>
              <a:rPr lang="en-US" altLang="en-US" sz="2400" dirty="0"/>
              <a:t> are redundant because they have identical support as their supersets</a:t>
            </a:r>
          </a:p>
          <a:p>
            <a:pPr>
              <a:lnSpc>
                <a:spcPct val="90000"/>
              </a:lnSpc>
            </a:pPr>
            <a:endParaRPr lang="en-US" altLang="en-US" sz="2400" dirty="0"/>
          </a:p>
          <a:p>
            <a:pPr>
              <a:lnSpc>
                <a:spcPct val="90000"/>
              </a:lnSpc>
            </a:pPr>
            <a:endParaRPr lang="en-US" altLang="en-US" sz="2400" dirty="0"/>
          </a:p>
          <a:p>
            <a:pPr>
              <a:lnSpc>
                <a:spcPct val="90000"/>
              </a:lnSpc>
            </a:pPr>
            <a:endParaRPr lang="en-US" altLang="en-US" sz="2400" dirty="0"/>
          </a:p>
          <a:p>
            <a:pPr>
              <a:lnSpc>
                <a:spcPct val="90000"/>
              </a:lnSpc>
            </a:pPr>
            <a:endParaRPr lang="en-US" altLang="en-US" sz="2400" dirty="0"/>
          </a:p>
          <a:p>
            <a:pPr>
              <a:lnSpc>
                <a:spcPct val="90000"/>
              </a:lnSpc>
            </a:pPr>
            <a:endParaRPr lang="en-US" altLang="en-US" sz="2400" dirty="0"/>
          </a:p>
          <a:p>
            <a:pPr>
              <a:lnSpc>
                <a:spcPct val="90000"/>
              </a:lnSpc>
            </a:pPr>
            <a:endParaRPr lang="en-US" altLang="en-US" sz="2400" dirty="0"/>
          </a:p>
          <a:p>
            <a:pPr>
              <a:lnSpc>
                <a:spcPct val="90000"/>
              </a:lnSpc>
            </a:pPr>
            <a:endParaRPr lang="en-US" altLang="en-US" sz="2400" dirty="0"/>
          </a:p>
          <a:p>
            <a:pPr lvl="4">
              <a:lnSpc>
                <a:spcPct val="90000"/>
              </a:lnSpc>
            </a:pPr>
            <a:endParaRPr lang="en-US" altLang="en-US" sz="1800" dirty="0"/>
          </a:p>
          <a:p>
            <a:pPr>
              <a:lnSpc>
                <a:spcPct val="90000"/>
              </a:lnSpc>
            </a:pPr>
            <a:r>
              <a:rPr lang="en-US" altLang="en-US" sz="2400" dirty="0"/>
              <a:t>Number of frequent </a:t>
            </a:r>
            <a:r>
              <a:rPr lang="en-US" altLang="en-US" sz="2400" dirty="0" err="1"/>
              <a:t>itemsets</a:t>
            </a:r>
            <a:endParaRPr lang="en-US" altLang="en-US" sz="2400" dirty="0"/>
          </a:p>
          <a:p>
            <a:pPr lvl="4">
              <a:lnSpc>
                <a:spcPct val="90000"/>
              </a:lnSpc>
            </a:pPr>
            <a:endParaRPr lang="en-US" altLang="en-US" sz="1800" dirty="0"/>
          </a:p>
          <a:p>
            <a:pPr>
              <a:lnSpc>
                <a:spcPct val="90000"/>
              </a:lnSpc>
            </a:pPr>
            <a:r>
              <a:rPr lang="en-US" altLang="en-US" sz="2400" dirty="0"/>
              <a:t>Need a compact representation</a:t>
            </a:r>
          </a:p>
        </p:txBody>
      </p:sp>
      <p:pic>
        <p:nvPicPr>
          <p:cNvPr id="47108" name="Picture 4"/>
          <p:cNvPicPr>
            <a:picLocks noGrp="1" noChangeAspect="1" noChangeArrowheads="1"/>
          </p:cNvPicPr>
          <p:nvPr>
            <p:ph sz="half" idx="4294967295"/>
          </p:nvPr>
        </p:nvPicPr>
        <p:blipFill>
          <a:blip r:embed="rId3" cstate="print">
            <a:extLst>
              <a:ext uri="{28A0092B-C50C-407E-A947-70E740481C1C}">
                <a14:useLocalDpi xmlns:a14="http://schemas.microsoft.com/office/drawing/2010/main" val="0"/>
              </a:ext>
            </a:extLst>
          </a:blip>
          <a:srcRect/>
          <a:stretch>
            <a:fillRect/>
          </a:stretch>
        </p:blipFill>
        <p:spPr>
          <a:xfrm>
            <a:off x="152400" y="1963738"/>
            <a:ext cx="8839200" cy="2684462"/>
          </a:xfrm>
          <a:noFill/>
        </p:spPr>
      </p:pic>
      <p:graphicFrame>
        <p:nvGraphicFramePr>
          <p:cNvPr id="47109" name="Object 5"/>
          <p:cNvGraphicFramePr>
            <a:graphicFrameLocks noGrp="1" noChangeAspect="1"/>
          </p:cNvGraphicFramePr>
          <p:nvPr>
            <p:ph sz="half" idx="4294967295"/>
          </p:nvPr>
        </p:nvGraphicFramePr>
        <p:xfrm>
          <a:off x="4724400" y="4800600"/>
          <a:ext cx="1714500" cy="1019175"/>
        </p:xfrm>
        <a:graphic>
          <a:graphicData uri="http://schemas.openxmlformats.org/presentationml/2006/ole">
            <mc:AlternateContent xmlns:mc="http://schemas.openxmlformats.org/markup-compatibility/2006">
              <mc:Choice xmlns:v="urn:schemas-microsoft-com:vml" Requires="v">
                <p:oleObj name="Equation" r:id="rId4" imgW="1409700" imgH="838200" progId="Equation.3">
                  <p:embed/>
                </p:oleObj>
              </mc:Choice>
              <mc:Fallback>
                <p:oleObj name="Equation" r:id="rId4" imgW="1409700" imgH="838200" progId="Equation.3">
                  <p:embed/>
                  <p:pic>
                    <p:nvPicPr>
                      <p:cNvPr id="0" name="Picture 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4800600"/>
                        <a:ext cx="1714500" cy="1019175"/>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457200" y="152400"/>
            <a:ext cx="7543800" cy="579438"/>
          </a:xfrm>
        </p:spPr>
        <p:txBody>
          <a:bodyPr/>
          <a:lstStyle/>
          <a:p>
            <a:r>
              <a:rPr lang="en-US" altLang="en-US" dirty="0"/>
              <a:t>Maximal Frequent </a:t>
            </a:r>
            <a:r>
              <a:rPr lang="en-US" altLang="en-US" dirty="0" err="1"/>
              <a:t>Itemset</a:t>
            </a:r>
            <a:endParaRPr lang="en-US" altLang="en-US" dirty="0"/>
          </a:p>
        </p:txBody>
      </p:sp>
      <p:graphicFrame>
        <p:nvGraphicFramePr>
          <p:cNvPr id="48131" name="Object 3"/>
          <p:cNvGraphicFramePr>
            <a:graphicFrameLocks noChangeAspect="1"/>
          </p:cNvGraphicFramePr>
          <p:nvPr/>
        </p:nvGraphicFramePr>
        <p:xfrm>
          <a:off x="1162050" y="1524000"/>
          <a:ext cx="7140575" cy="4873625"/>
        </p:xfrm>
        <a:graphic>
          <a:graphicData uri="http://schemas.openxmlformats.org/presentationml/2006/ole">
            <mc:AlternateContent xmlns:mc="http://schemas.openxmlformats.org/markup-compatibility/2006">
              <mc:Choice xmlns:v="urn:schemas-microsoft-com:vml" Requires="v">
                <p:oleObj name="Visio" r:id="rId3" imgW="9687611" imgH="7157416" progId="">
                  <p:embed/>
                </p:oleObj>
              </mc:Choice>
              <mc:Fallback>
                <p:oleObj name="Visio" r:id="rId3" imgW="9687611" imgH="7157416"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2050" y="1524000"/>
                        <a:ext cx="7140575" cy="487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2" name="Text Box 4"/>
          <p:cNvSpPr txBox="1">
            <a:spLocks noChangeArrowheads="1"/>
          </p:cNvSpPr>
          <p:nvPr/>
        </p:nvSpPr>
        <p:spPr bwMode="auto">
          <a:xfrm>
            <a:off x="7270750" y="5897563"/>
            <a:ext cx="11112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Border</a:t>
            </a:r>
          </a:p>
        </p:txBody>
      </p:sp>
      <p:sp>
        <p:nvSpPr>
          <p:cNvPr id="48133" name="Text Box 5"/>
          <p:cNvSpPr txBox="1">
            <a:spLocks noChangeArrowheads="1"/>
          </p:cNvSpPr>
          <p:nvPr/>
        </p:nvSpPr>
        <p:spPr bwMode="auto">
          <a:xfrm>
            <a:off x="685800" y="5610225"/>
            <a:ext cx="11112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Infrequent Itemsets</a:t>
            </a:r>
          </a:p>
        </p:txBody>
      </p:sp>
      <p:sp>
        <p:nvSpPr>
          <p:cNvPr id="48134" name="Text Box 6"/>
          <p:cNvSpPr txBox="1">
            <a:spLocks noChangeArrowheads="1"/>
          </p:cNvSpPr>
          <p:nvPr/>
        </p:nvSpPr>
        <p:spPr bwMode="auto">
          <a:xfrm>
            <a:off x="844550" y="2097088"/>
            <a:ext cx="11128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Maximal Itemsets</a:t>
            </a:r>
          </a:p>
        </p:txBody>
      </p:sp>
      <p:sp>
        <p:nvSpPr>
          <p:cNvPr id="48135" name="Line 7"/>
          <p:cNvSpPr>
            <a:spLocks noChangeShapeType="1"/>
          </p:cNvSpPr>
          <p:nvPr/>
        </p:nvSpPr>
        <p:spPr bwMode="auto">
          <a:xfrm flipH="1">
            <a:off x="1241425" y="4606925"/>
            <a:ext cx="158750" cy="1074738"/>
          </a:xfrm>
          <a:prstGeom prst="line">
            <a:avLst/>
          </a:prstGeom>
          <a:noFill/>
          <a:ln w="25400">
            <a:solidFill>
              <a:srgbClr val="80008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136" name="Line 8"/>
          <p:cNvSpPr>
            <a:spLocks noChangeShapeType="1"/>
          </p:cNvSpPr>
          <p:nvPr/>
        </p:nvSpPr>
        <p:spPr bwMode="auto">
          <a:xfrm flipH="1" flipV="1">
            <a:off x="1717675" y="2527300"/>
            <a:ext cx="1030288" cy="646113"/>
          </a:xfrm>
          <a:prstGeom prst="line">
            <a:avLst/>
          </a:prstGeom>
          <a:noFill/>
          <a:ln w="25400">
            <a:solidFill>
              <a:srgbClr val="80008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137" name="Line 9"/>
          <p:cNvSpPr>
            <a:spLocks noChangeShapeType="1"/>
          </p:cNvSpPr>
          <p:nvPr/>
        </p:nvSpPr>
        <p:spPr bwMode="auto">
          <a:xfrm flipH="1">
            <a:off x="1717675" y="4535488"/>
            <a:ext cx="1030288" cy="1146175"/>
          </a:xfrm>
          <a:prstGeom prst="line">
            <a:avLst/>
          </a:prstGeom>
          <a:noFill/>
          <a:ln w="25400">
            <a:solidFill>
              <a:srgbClr val="80008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138" name="Line 10"/>
          <p:cNvSpPr>
            <a:spLocks noChangeShapeType="1"/>
          </p:cNvSpPr>
          <p:nvPr/>
        </p:nvSpPr>
        <p:spPr bwMode="auto">
          <a:xfrm flipH="1">
            <a:off x="1797050" y="5538788"/>
            <a:ext cx="635000" cy="287337"/>
          </a:xfrm>
          <a:prstGeom prst="line">
            <a:avLst/>
          </a:prstGeom>
          <a:noFill/>
          <a:ln w="25400">
            <a:solidFill>
              <a:srgbClr val="80008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139" name="Line 11"/>
          <p:cNvSpPr>
            <a:spLocks noChangeShapeType="1"/>
          </p:cNvSpPr>
          <p:nvPr/>
        </p:nvSpPr>
        <p:spPr bwMode="auto">
          <a:xfrm flipH="1" flipV="1">
            <a:off x="1638300" y="5969000"/>
            <a:ext cx="2697163" cy="287338"/>
          </a:xfrm>
          <a:prstGeom prst="line">
            <a:avLst/>
          </a:prstGeom>
          <a:noFill/>
          <a:ln w="25400">
            <a:solidFill>
              <a:srgbClr val="80008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140" name="Line 12"/>
          <p:cNvSpPr>
            <a:spLocks noChangeShapeType="1"/>
          </p:cNvSpPr>
          <p:nvPr/>
        </p:nvSpPr>
        <p:spPr bwMode="auto">
          <a:xfrm flipH="1" flipV="1">
            <a:off x="1558925" y="2598738"/>
            <a:ext cx="2632075" cy="1668462"/>
          </a:xfrm>
          <a:prstGeom prst="line">
            <a:avLst/>
          </a:prstGeom>
          <a:noFill/>
          <a:ln w="25400">
            <a:solidFill>
              <a:srgbClr val="80008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141" name="Line 13"/>
          <p:cNvSpPr>
            <a:spLocks noChangeShapeType="1"/>
          </p:cNvSpPr>
          <p:nvPr/>
        </p:nvSpPr>
        <p:spPr bwMode="auto">
          <a:xfrm flipH="1">
            <a:off x="1479550" y="4535488"/>
            <a:ext cx="555625" cy="1074737"/>
          </a:xfrm>
          <a:prstGeom prst="line">
            <a:avLst/>
          </a:prstGeom>
          <a:noFill/>
          <a:ln w="25400">
            <a:solidFill>
              <a:srgbClr val="80008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142" name="Text Box 14"/>
          <p:cNvSpPr txBox="1">
            <a:spLocks noChangeArrowheads="1"/>
          </p:cNvSpPr>
          <p:nvPr/>
        </p:nvSpPr>
        <p:spPr bwMode="auto">
          <a:xfrm>
            <a:off x="457200" y="914400"/>
            <a:ext cx="8305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2000" dirty="0"/>
              <a:t>An </a:t>
            </a:r>
            <a:r>
              <a:rPr lang="en-US" altLang="en-US" sz="2000" dirty="0" err="1"/>
              <a:t>itemset</a:t>
            </a:r>
            <a:r>
              <a:rPr lang="en-US" altLang="en-US" sz="2000" dirty="0"/>
              <a:t> is maximal frequent if it is frequent and  none of its immediate supersets is frequent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304800" y="304800"/>
            <a:ext cx="7543800" cy="655638"/>
          </a:xfrm>
        </p:spPr>
        <p:txBody>
          <a:bodyPr/>
          <a:lstStyle/>
          <a:p>
            <a:r>
              <a:rPr lang="en-US" altLang="en-US" sz="2000" dirty="0"/>
              <a:t>What are the Maximal Frequent </a:t>
            </a:r>
            <a:r>
              <a:rPr lang="en-US" altLang="en-US" sz="2000" dirty="0" err="1"/>
              <a:t>Itemsets</a:t>
            </a:r>
            <a:r>
              <a:rPr lang="en-US" altLang="en-US" sz="2000" dirty="0"/>
              <a:t> in this Data?</a:t>
            </a:r>
          </a:p>
        </p:txBody>
      </p:sp>
      <p:sp>
        <p:nvSpPr>
          <p:cNvPr id="49155" name="Rectangle 3"/>
          <p:cNvSpPr>
            <a:spLocks noGrp="1" noChangeArrowheads="1"/>
          </p:cNvSpPr>
          <p:nvPr>
            <p:ph type="body" idx="1"/>
          </p:nvPr>
        </p:nvSpPr>
        <p:spPr/>
        <p:txBody>
          <a:bodyPr/>
          <a:lstStyle/>
          <a:p>
            <a:pPr>
              <a:lnSpc>
                <a:spcPct val="90000"/>
              </a:lnSpc>
            </a:pPr>
            <a:endParaRPr lang="en-US" altLang="en-US" sz="2400"/>
          </a:p>
          <a:p>
            <a:pPr>
              <a:lnSpc>
                <a:spcPct val="90000"/>
              </a:lnSpc>
            </a:pPr>
            <a:endParaRPr lang="en-US" altLang="en-US" sz="2400"/>
          </a:p>
          <a:p>
            <a:pPr>
              <a:lnSpc>
                <a:spcPct val="90000"/>
              </a:lnSpc>
            </a:pPr>
            <a:endParaRPr lang="en-US" altLang="en-US" sz="2400"/>
          </a:p>
          <a:p>
            <a:pPr>
              <a:lnSpc>
                <a:spcPct val="90000"/>
              </a:lnSpc>
            </a:pPr>
            <a:endParaRPr lang="en-US" altLang="en-US" sz="2400"/>
          </a:p>
          <a:p>
            <a:pPr>
              <a:lnSpc>
                <a:spcPct val="90000"/>
              </a:lnSpc>
            </a:pPr>
            <a:endParaRPr lang="en-US" altLang="en-US" sz="2400"/>
          </a:p>
          <a:p>
            <a:pPr>
              <a:lnSpc>
                <a:spcPct val="90000"/>
              </a:lnSpc>
            </a:pPr>
            <a:endParaRPr lang="en-US" altLang="en-US" sz="2400"/>
          </a:p>
          <a:p>
            <a:pPr>
              <a:lnSpc>
                <a:spcPct val="90000"/>
              </a:lnSpc>
            </a:pPr>
            <a:endParaRPr lang="en-US" altLang="en-US" sz="2400"/>
          </a:p>
        </p:txBody>
      </p:sp>
      <p:pic>
        <p:nvPicPr>
          <p:cNvPr id="49156" name="Picture 4"/>
          <p:cNvPicPr>
            <a:picLocks noGrp="1" noChangeAspect="1" noChangeArrowheads="1"/>
          </p:cNvPicPr>
          <p:nvPr>
            <p:ph sz="half" idx="4294967295"/>
          </p:nvPr>
        </p:nvPicPr>
        <p:blipFill>
          <a:blip r:embed="rId2" cstate="print">
            <a:extLst>
              <a:ext uri="{28A0092B-C50C-407E-A947-70E740481C1C}">
                <a14:useLocalDpi xmlns:a14="http://schemas.microsoft.com/office/drawing/2010/main" val="0"/>
              </a:ext>
            </a:extLst>
          </a:blip>
          <a:srcRect/>
          <a:stretch>
            <a:fillRect/>
          </a:stretch>
        </p:blipFill>
        <p:spPr>
          <a:xfrm>
            <a:off x="152400" y="1295400"/>
            <a:ext cx="8839200" cy="2684463"/>
          </a:xfrm>
          <a:noFill/>
        </p:spPr>
      </p:pic>
      <p:sp>
        <p:nvSpPr>
          <p:cNvPr id="49157" name="TextBox 1"/>
          <p:cNvSpPr txBox="1">
            <a:spLocks noChangeArrowheads="1"/>
          </p:cNvSpPr>
          <p:nvPr/>
        </p:nvSpPr>
        <p:spPr bwMode="auto">
          <a:xfrm>
            <a:off x="609600" y="4343400"/>
            <a:ext cx="7010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Minimum support threshold = 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en-US"/>
              <a:t>An illustrative example</a:t>
            </a:r>
          </a:p>
        </p:txBody>
      </p:sp>
      <p:graphicFrame>
        <p:nvGraphicFramePr>
          <p:cNvPr id="4" name="Content Placeholder 3"/>
          <p:cNvGraphicFramePr>
            <a:graphicFrameLocks noGrp="1"/>
          </p:cNvGraphicFramePr>
          <p:nvPr>
            <p:ph idx="1"/>
          </p:nvPr>
        </p:nvGraphicFramePr>
        <p:xfrm>
          <a:off x="342900" y="1690688"/>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50325" name="TextBox 4"/>
          <p:cNvSpPr txBox="1">
            <a:spLocks noChangeArrowheads="1"/>
          </p:cNvSpPr>
          <p:nvPr/>
        </p:nvSpPr>
        <p:spPr bwMode="auto">
          <a:xfrm>
            <a:off x="5570538" y="1789113"/>
            <a:ext cx="3309937" cy="84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a:t>Support threshold (by count) : 5</a:t>
            </a:r>
          </a:p>
          <a:p>
            <a:pPr>
              <a:spcBef>
                <a:spcPct val="0"/>
              </a:spcBef>
              <a:spcAft>
                <a:spcPct val="0"/>
              </a:spcAft>
              <a:buClrTx/>
              <a:buSzTx/>
              <a:buFontTx/>
              <a:buNone/>
            </a:pPr>
            <a:r>
              <a:rPr lang="en-US" altLang="en-US" sz="1100"/>
              <a:t>Frequent itemsets: ?</a:t>
            </a:r>
          </a:p>
          <a:p>
            <a:pPr>
              <a:spcBef>
                <a:spcPct val="0"/>
              </a:spcBef>
              <a:spcAft>
                <a:spcPct val="0"/>
              </a:spcAft>
              <a:buClrTx/>
              <a:buSzTx/>
              <a:buFontTx/>
              <a:buNone/>
            </a:pPr>
            <a:r>
              <a:rPr lang="en-US" altLang="en-US" sz="1100"/>
              <a:t> </a:t>
            </a:r>
          </a:p>
          <a:p>
            <a:pPr>
              <a:spcBef>
                <a:spcPct val="0"/>
              </a:spcBef>
              <a:spcAft>
                <a:spcPct val="0"/>
              </a:spcAft>
              <a:buClrTx/>
              <a:buSzTx/>
              <a:buFontTx/>
              <a:buNone/>
            </a:pPr>
            <a:endParaRPr lang="en-US" altLang="en-US" sz="1100"/>
          </a:p>
        </p:txBody>
      </p:sp>
      <p:sp>
        <p:nvSpPr>
          <p:cNvPr id="50326" name="TextBox 2"/>
          <p:cNvSpPr txBox="1">
            <a:spLocks noChangeArrowheads="1"/>
          </p:cNvSpPr>
          <p:nvPr/>
        </p:nvSpPr>
        <p:spPr bwMode="auto">
          <a:xfrm>
            <a:off x="2376488" y="1370013"/>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50327" name="TextBox 5"/>
          <p:cNvSpPr txBox="1">
            <a:spLocks noChangeArrowheads="1"/>
          </p:cNvSpPr>
          <p:nvPr/>
        </p:nvSpPr>
        <p:spPr bwMode="auto">
          <a:xfrm rot="-5400000">
            <a:off x="-491331" y="3547269"/>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a:t>An illustrative example</a:t>
            </a:r>
          </a:p>
        </p:txBody>
      </p:sp>
      <p:sp>
        <p:nvSpPr>
          <p:cNvPr id="51203" name="TextBox 4"/>
          <p:cNvSpPr txBox="1">
            <a:spLocks noChangeArrowheads="1"/>
          </p:cNvSpPr>
          <p:nvPr/>
        </p:nvSpPr>
        <p:spPr bwMode="auto">
          <a:xfrm>
            <a:off x="5570538" y="1789113"/>
            <a:ext cx="3309937" cy="84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a:t>Support threshold (by count) : 5</a:t>
            </a:r>
          </a:p>
          <a:p>
            <a:pPr>
              <a:spcBef>
                <a:spcPct val="0"/>
              </a:spcBef>
              <a:spcAft>
                <a:spcPct val="0"/>
              </a:spcAft>
              <a:buClrTx/>
              <a:buSzTx/>
              <a:buFontTx/>
              <a:buNone/>
            </a:pPr>
            <a:r>
              <a:rPr lang="en-US" altLang="en-US" sz="1100"/>
              <a:t>Frequent itemsets: </a:t>
            </a:r>
            <a:r>
              <a:rPr lang="en-US" altLang="en-US" sz="1100">
                <a:solidFill>
                  <a:srgbClr val="FF0000"/>
                </a:solidFill>
              </a:rPr>
              <a:t>{F}</a:t>
            </a:r>
          </a:p>
          <a:p>
            <a:pPr>
              <a:spcBef>
                <a:spcPct val="0"/>
              </a:spcBef>
              <a:spcAft>
                <a:spcPct val="0"/>
              </a:spcAft>
              <a:buClrTx/>
              <a:buSzTx/>
              <a:buFontTx/>
              <a:buNone/>
            </a:pPr>
            <a:r>
              <a:rPr lang="en-US" altLang="en-US" sz="1100"/>
              <a:t> </a:t>
            </a:r>
          </a:p>
          <a:p>
            <a:pPr>
              <a:spcBef>
                <a:spcPct val="0"/>
              </a:spcBef>
              <a:spcAft>
                <a:spcPct val="0"/>
              </a:spcAft>
              <a:buClrTx/>
              <a:buSzTx/>
              <a:buFontTx/>
              <a:buNone/>
            </a:pPr>
            <a:endParaRPr lang="en-US" altLang="en-US" sz="1100"/>
          </a:p>
        </p:txBody>
      </p:sp>
      <p:graphicFrame>
        <p:nvGraphicFramePr>
          <p:cNvPr id="6" name="Content Placeholder 3"/>
          <p:cNvGraphicFramePr>
            <a:graphicFrameLocks/>
          </p:cNvGraphicFramePr>
          <p:nvPr/>
        </p:nvGraphicFramePr>
        <p:xfrm>
          <a:off x="342900" y="1690688"/>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51350" name="TextBox 6"/>
          <p:cNvSpPr txBox="1">
            <a:spLocks noChangeArrowheads="1"/>
          </p:cNvSpPr>
          <p:nvPr/>
        </p:nvSpPr>
        <p:spPr bwMode="auto">
          <a:xfrm>
            <a:off x="2376488" y="1370013"/>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51351" name="TextBox 7"/>
          <p:cNvSpPr txBox="1">
            <a:spLocks noChangeArrowheads="1"/>
          </p:cNvSpPr>
          <p:nvPr/>
        </p:nvSpPr>
        <p:spPr bwMode="auto">
          <a:xfrm rot="-5400000">
            <a:off x="-491331" y="3547269"/>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r>
              <a:rPr lang="en-US" altLang="en-US"/>
              <a:t>An illustrative example</a:t>
            </a:r>
          </a:p>
        </p:txBody>
      </p:sp>
      <p:graphicFrame>
        <p:nvGraphicFramePr>
          <p:cNvPr id="4" name="Content Placeholder 3"/>
          <p:cNvGraphicFramePr>
            <a:graphicFrameLocks noGrp="1"/>
          </p:cNvGraphicFramePr>
          <p:nvPr>
            <p:ph idx="1"/>
          </p:nvPr>
        </p:nvGraphicFramePr>
        <p:xfrm>
          <a:off x="342900" y="1690688"/>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52373" name="TextBox 4"/>
          <p:cNvSpPr txBox="1">
            <a:spLocks noChangeArrowheads="1"/>
          </p:cNvSpPr>
          <p:nvPr/>
        </p:nvSpPr>
        <p:spPr bwMode="auto">
          <a:xfrm>
            <a:off x="5570538" y="1871663"/>
            <a:ext cx="3309937" cy="16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a:t>Support threshold (by count) : 5</a:t>
            </a:r>
          </a:p>
          <a:p>
            <a:pPr>
              <a:spcBef>
                <a:spcPct val="0"/>
              </a:spcBef>
              <a:spcAft>
                <a:spcPct val="0"/>
              </a:spcAft>
              <a:buClrTx/>
              <a:buSzTx/>
              <a:buFontTx/>
              <a:buNone/>
            </a:pPr>
            <a:r>
              <a:rPr lang="en-US" altLang="en-US" sz="1100"/>
              <a:t>Frequent itemsets: </a:t>
            </a:r>
            <a:r>
              <a:rPr lang="en-US" altLang="en-US" sz="1100">
                <a:solidFill>
                  <a:srgbClr val="FF0000"/>
                </a:solidFill>
              </a:rPr>
              <a:t>{F}</a:t>
            </a:r>
            <a:endParaRPr lang="en-US" altLang="en-US" sz="1100"/>
          </a:p>
          <a:p>
            <a:pPr>
              <a:spcBef>
                <a:spcPct val="0"/>
              </a:spcBef>
              <a:spcAft>
                <a:spcPct val="0"/>
              </a:spcAft>
              <a:buClrTx/>
              <a:buSzTx/>
              <a:buFontTx/>
              <a:buNone/>
            </a:pPr>
            <a:r>
              <a:rPr lang="en-US" altLang="en-US" sz="1100"/>
              <a:t> </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4</a:t>
            </a:r>
          </a:p>
          <a:p>
            <a:pPr>
              <a:spcBef>
                <a:spcPct val="0"/>
              </a:spcBef>
              <a:spcAft>
                <a:spcPct val="0"/>
              </a:spcAft>
              <a:buClrTx/>
              <a:buSzTx/>
              <a:buFontTx/>
              <a:buNone/>
            </a:pPr>
            <a:r>
              <a:rPr lang="en-US" altLang="en-US" sz="1100"/>
              <a:t>Frequent itemsets: ?</a:t>
            </a:r>
          </a:p>
          <a:p>
            <a:pPr>
              <a:spcBef>
                <a:spcPct val="0"/>
              </a:spcBef>
              <a:spcAft>
                <a:spcPct val="0"/>
              </a:spcAft>
              <a:buClrTx/>
              <a:buSzTx/>
              <a:buFontTx/>
              <a:buNone/>
            </a:pPr>
            <a:r>
              <a:rPr lang="en-US" altLang="en-US" sz="1100"/>
              <a:t> </a:t>
            </a:r>
          </a:p>
          <a:p>
            <a:pPr>
              <a:spcBef>
                <a:spcPct val="0"/>
              </a:spcBef>
              <a:spcAft>
                <a:spcPct val="0"/>
              </a:spcAft>
              <a:buClrTx/>
              <a:buSzTx/>
              <a:buFontTx/>
              <a:buNone/>
            </a:pPr>
            <a:endParaRPr lang="en-US" altLang="en-US" sz="1100"/>
          </a:p>
        </p:txBody>
      </p:sp>
      <p:sp>
        <p:nvSpPr>
          <p:cNvPr id="52374" name="TextBox 2"/>
          <p:cNvSpPr txBox="1">
            <a:spLocks noChangeArrowheads="1"/>
          </p:cNvSpPr>
          <p:nvPr/>
        </p:nvSpPr>
        <p:spPr bwMode="auto">
          <a:xfrm>
            <a:off x="2376488" y="1370013"/>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52375" name="TextBox 5"/>
          <p:cNvSpPr txBox="1">
            <a:spLocks noChangeArrowheads="1"/>
          </p:cNvSpPr>
          <p:nvPr/>
        </p:nvSpPr>
        <p:spPr bwMode="auto">
          <a:xfrm rot="-5400000">
            <a:off x="-491331" y="3547269"/>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altLang="en-US"/>
              <a:t>An illustrative example</a:t>
            </a:r>
          </a:p>
        </p:txBody>
      </p:sp>
      <p:sp>
        <p:nvSpPr>
          <p:cNvPr id="53251" name="TextBox 4"/>
          <p:cNvSpPr txBox="1">
            <a:spLocks noChangeArrowheads="1"/>
          </p:cNvSpPr>
          <p:nvPr/>
        </p:nvSpPr>
        <p:spPr bwMode="auto">
          <a:xfrm>
            <a:off x="5570538" y="1789113"/>
            <a:ext cx="3309937" cy="16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a:t>Support threshold (by count) : 5</a:t>
            </a:r>
          </a:p>
          <a:p>
            <a:pPr>
              <a:spcBef>
                <a:spcPct val="0"/>
              </a:spcBef>
              <a:spcAft>
                <a:spcPct val="0"/>
              </a:spcAft>
              <a:buClrTx/>
              <a:buSzTx/>
              <a:buFontTx/>
              <a:buNone/>
            </a:pPr>
            <a:r>
              <a:rPr lang="en-US" altLang="en-US" sz="1100"/>
              <a:t>Frequent itemsets: </a:t>
            </a:r>
            <a:r>
              <a:rPr lang="en-US" altLang="en-US" sz="1100">
                <a:solidFill>
                  <a:srgbClr val="FF0000"/>
                </a:solidFill>
              </a:rPr>
              <a:t>{F}</a:t>
            </a:r>
          </a:p>
          <a:p>
            <a:pPr>
              <a:spcBef>
                <a:spcPct val="0"/>
              </a:spcBef>
              <a:spcAft>
                <a:spcPct val="0"/>
              </a:spcAft>
              <a:buClrTx/>
              <a:buSzTx/>
              <a:buFontTx/>
              <a:buNone/>
            </a:pPr>
            <a:r>
              <a:rPr lang="en-US" altLang="en-US" sz="1100"/>
              <a:t> </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4</a:t>
            </a:r>
          </a:p>
          <a:p>
            <a:pPr>
              <a:spcBef>
                <a:spcPct val="0"/>
              </a:spcBef>
              <a:spcAft>
                <a:spcPct val="0"/>
              </a:spcAft>
              <a:buClrTx/>
              <a:buSzTx/>
              <a:buFontTx/>
              <a:buNone/>
            </a:pPr>
            <a:r>
              <a:rPr lang="en-US" altLang="en-US" sz="1100"/>
              <a:t>Frequent itemsets: </a:t>
            </a:r>
            <a:r>
              <a:rPr lang="en-US" altLang="en-US" sz="1100">
                <a:solidFill>
                  <a:srgbClr val="FF0000"/>
                </a:solidFill>
              </a:rPr>
              <a:t>{E}, {F}, {E,F}, {J}</a:t>
            </a:r>
          </a:p>
          <a:p>
            <a:pPr>
              <a:spcBef>
                <a:spcPct val="0"/>
              </a:spcBef>
              <a:spcAft>
                <a:spcPct val="0"/>
              </a:spcAft>
              <a:buClrTx/>
              <a:buSzTx/>
              <a:buFontTx/>
              <a:buNone/>
            </a:pPr>
            <a:r>
              <a:rPr lang="en-US" altLang="en-US" sz="1100"/>
              <a:t> </a:t>
            </a:r>
          </a:p>
          <a:p>
            <a:pPr>
              <a:spcBef>
                <a:spcPct val="0"/>
              </a:spcBef>
              <a:spcAft>
                <a:spcPct val="0"/>
              </a:spcAft>
              <a:buClrTx/>
              <a:buSzTx/>
              <a:buFontTx/>
              <a:buNone/>
            </a:pPr>
            <a:endParaRPr lang="en-US" altLang="en-US" sz="1100"/>
          </a:p>
        </p:txBody>
      </p:sp>
      <p:graphicFrame>
        <p:nvGraphicFramePr>
          <p:cNvPr id="6" name="Content Placeholder 3"/>
          <p:cNvGraphicFramePr>
            <a:graphicFrameLocks/>
          </p:cNvGraphicFramePr>
          <p:nvPr/>
        </p:nvGraphicFramePr>
        <p:xfrm>
          <a:off x="342900" y="1690688"/>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53398" name="TextBox 6"/>
          <p:cNvSpPr txBox="1">
            <a:spLocks noChangeArrowheads="1"/>
          </p:cNvSpPr>
          <p:nvPr/>
        </p:nvSpPr>
        <p:spPr bwMode="auto">
          <a:xfrm>
            <a:off x="2376488" y="1370013"/>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53399" name="TextBox 7"/>
          <p:cNvSpPr txBox="1">
            <a:spLocks noChangeArrowheads="1"/>
          </p:cNvSpPr>
          <p:nvPr/>
        </p:nvSpPr>
        <p:spPr bwMode="auto">
          <a:xfrm rot="-5400000">
            <a:off x="-491331" y="3547269"/>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altLang="en-US"/>
              <a:t>An illustrative example</a:t>
            </a:r>
          </a:p>
        </p:txBody>
      </p:sp>
      <p:graphicFrame>
        <p:nvGraphicFramePr>
          <p:cNvPr id="4" name="Content Placeholder 3"/>
          <p:cNvGraphicFramePr>
            <a:graphicFrameLocks noGrp="1"/>
          </p:cNvGraphicFramePr>
          <p:nvPr>
            <p:ph idx="1"/>
          </p:nvPr>
        </p:nvGraphicFramePr>
        <p:xfrm>
          <a:off x="342900" y="1690688"/>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54421" name="TextBox 4"/>
          <p:cNvSpPr txBox="1">
            <a:spLocks noChangeArrowheads="1"/>
          </p:cNvSpPr>
          <p:nvPr/>
        </p:nvSpPr>
        <p:spPr bwMode="auto">
          <a:xfrm>
            <a:off x="5570538" y="1789113"/>
            <a:ext cx="3309937" cy="203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a:t>Support threshold (by count) : 5</a:t>
            </a:r>
          </a:p>
          <a:p>
            <a:pPr>
              <a:spcBef>
                <a:spcPct val="0"/>
              </a:spcBef>
              <a:spcAft>
                <a:spcPct val="0"/>
              </a:spcAft>
              <a:buClrTx/>
              <a:buSzTx/>
              <a:buFontTx/>
              <a:buNone/>
            </a:pPr>
            <a:r>
              <a:rPr lang="en-US" altLang="en-US" sz="1100"/>
              <a:t>Frequent itemsets: </a:t>
            </a:r>
            <a:r>
              <a:rPr lang="en-US" altLang="en-US" sz="1100">
                <a:solidFill>
                  <a:srgbClr val="FF0000"/>
                </a:solidFill>
              </a:rPr>
              <a:t>{F}</a:t>
            </a:r>
            <a:endParaRPr lang="en-US" altLang="en-US" sz="1100"/>
          </a:p>
          <a:p>
            <a:pPr>
              <a:spcBef>
                <a:spcPct val="0"/>
              </a:spcBef>
              <a:spcAft>
                <a:spcPct val="0"/>
              </a:spcAft>
              <a:buClrTx/>
              <a:buSzTx/>
              <a:buFontTx/>
              <a:buNone/>
            </a:pPr>
            <a:r>
              <a:rPr lang="en-US" altLang="en-US" sz="1100"/>
              <a:t> </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4</a:t>
            </a:r>
          </a:p>
          <a:p>
            <a:pPr>
              <a:spcBef>
                <a:spcPct val="0"/>
              </a:spcBef>
              <a:spcAft>
                <a:spcPct val="0"/>
              </a:spcAft>
              <a:buClrTx/>
              <a:buSzTx/>
              <a:buFontTx/>
              <a:buNone/>
            </a:pPr>
            <a:r>
              <a:rPr lang="en-US" altLang="en-US" sz="1100"/>
              <a:t>Frequent itemsets: </a:t>
            </a:r>
            <a:r>
              <a:rPr lang="en-US" altLang="en-US" sz="1100">
                <a:solidFill>
                  <a:srgbClr val="FF0000"/>
                </a:solidFill>
              </a:rPr>
              <a:t>{E}, {F}, {E,F}, {J}</a:t>
            </a:r>
            <a:endParaRPr lang="en-US" altLang="en-US" sz="1100"/>
          </a:p>
          <a:p>
            <a:pPr>
              <a:spcBef>
                <a:spcPct val="0"/>
              </a:spcBef>
              <a:spcAft>
                <a:spcPct val="0"/>
              </a:spcAft>
              <a:buClrTx/>
              <a:buSzTx/>
              <a:buFontTx/>
              <a:buNone/>
            </a:pPr>
            <a:r>
              <a:rPr lang="en-US" altLang="en-US" sz="1100"/>
              <a:t> </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3</a:t>
            </a:r>
          </a:p>
          <a:p>
            <a:pPr>
              <a:spcBef>
                <a:spcPct val="0"/>
              </a:spcBef>
              <a:spcAft>
                <a:spcPct val="0"/>
              </a:spcAft>
              <a:buClrTx/>
              <a:buSzTx/>
              <a:buFontTx/>
              <a:buNone/>
            </a:pPr>
            <a:r>
              <a:rPr lang="en-US" altLang="en-US" sz="1100"/>
              <a:t>Frequent itemsets: ?</a:t>
            </a:r>
          </a:p>
        </p:txBody>
      </p:sp>
      <p:sp>
        <p:nvSpPr>
          <p:cNvPr id="54422" name="TextBox 2"/>
          <p:cNvSpPr txBox="1">
            <a:spLocks noChangeArrowheads="1"/>
          </p:cNvSpPr>
          <p:nvPr/>
        </p:nvSpPr>
        <p:spPr bwMode="auto">
          <a:xfrm>
            <a:off x="2376488" y="1370013"/>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54423" name="TextBox 5"/>
          <p:cNvSpPr txBox="1">
            <a:spLocks noChangeArrowheads="1"/>
          </p:cNvSpPr>
          <p:nvPr/>
        </p:nvSpPr>
        <p:spPr bwMode="auto">
          <a:xfrm rot="-5400000">
            <a:off x="-491331" y="3547269"/>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en-US" altLang="en-US"/>
              <a:t>An illustrative example</a:t>
            </a:r>
          </a:p>
        </p:txBody>
      </p:sp>
      <p:sp>
        <p:nvSpPr>
          <p:cNvPr id="55299" name="TextBox 4"/>
          <p:cNvSpPr txBox="1">
            <a:spLocks noChangeArrowheads="1"/>
          </p:cNvSpPr>
          <p:nvPr/>
        </p:nvSpPr>
        <p:spPr bwMode="auto">
          <a:xfrm>
            <a:off x="5570538" y="1789113"/>
            <a:ext cx="3309937"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a:t>Support threshold (by count) : 5</a:t>
            </a:r>
          </a:p>
          <a:p>
            <a:pPr>
              <a:spcBef>
                <a:spcPct val="0"/>
              </a:spcBef>
              <a:spcAft>
                <a:spcPct val="0"/>
              </a:spcAft>
              <a:buClrTx/>
              <a:buSzTx/>
              <a:buFontTx/>
              <a:buNone/>
            </a:pPr>
            <a:r>
              <a:rPr lang="en-US" altLang="en-US" sz="1100"/>
              <a:t>Frequent itemsets: </a:t>
            </a:r>
            <a:r>
              <a:rPr lang="en-US" altLang="en-US" sz="1100">
                <a:solidFill>
                  <a:srgbClr val="FF0000"/>
                </a:solidFill>
              </a:rPr>
              <a:t>{F}</a:t>
            </a:r>
          </a:p>
          <a:p>
            <a:pPr>
              <a:spcBef>
                <a:spcPct val="0"/>
              </a:spcBef>
              <a:spcAft>
                <a:spcPct val="0"/>
              </a:spcAft>
              <a:buClrTx/>
              <a:buSzTx/>
              <a:buFontTx/>
              <a:buNone/>
            </a:pPr>
            <a:r>
              <a:rPr lang="en-US" altLang="en-US" sz="1100"/>
              <a:t> </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4</a:t>
            </a:r>
          </a:p>
          <a:p>
            <a:pPr>
              <a:spcBef>
                <a:spcPct val="0"/>
              </a:spcBef>
              <a:spcAft>
                <a:spcPct val="0"/>
              </a:spcAft>
              <a:buClrTx/>
              <a:buSzTx/>
              <a:buFontTx/>
              <a:buNone/>
            </a:pPr>
            <a:r>
              <a:rPr lang="en-US" altLang="en-US" sz="1100"/>
              <a:t>Frequent itemsets: </a:t>
            </a:r>
            <a:r>
              <a:rPr lang="en-US" altLang="en-US" sz="1100">
                <a:solidFill>
                  <a:srgbClr val="FF0000"/>
                </a:solidFill>
              </a:rPr>
              <a:t>{E}, {F}, {E,F}, {J}</a:t>
            </a:r>
          </a:p>
          <a:p>
            <a:pPr>
              <a:spcBef>
                <a:spcPct val="0"/>
              </a:spcBef>
              <a:spcAft>
                <a:spcPct val="0"/>
              </a:spcAft>
              <a:buClrTx/>
              <a:buSzTx/>
              <a:buFontTx/>
              <a:buNone/>
            </a:pPr>
            <a:r>
              <a:rPr lang="en-US" altLang="en-US" sz="1100"/>
              <a:t> </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3</a:t>
            </a:r>
          </a:p>
          <a:p>
            <a:pPr>
              <a:spcBef>
                <a:spcPct val="0"/>
              </a:spcBef>
              <a:spcAft>
                <a:spcPct val="0"/>
              </a:spcAft>
              <a:buClrTx/>
              <a:buSzTx/>
              <a:buFontTx/>
              <a:buNone/>
            </a:pPr>
            <a:r>
              <a:rPr lang="en-US" altLang="en-US" sz="1100"/>
              <a:t>Frequent itemsets:</a:t>
            </a:r>
          </a:p>
          <a:p>
            <a:pPr>
              <a:spcBef>
                <a:spcPct val="0"/>
              </a:spcBef>
              <a:spcAft>
                <a:spcPct val="0"/>
              </a:spcAft>
              <a:buClrTx/>
              <a:buSzTx/>
              <a:buFontTx/>
              <a:buNone/>
            </a:pPr>
            <a:r>
              <a:rPr lang="en-US" altLang="en-US" sz="1100">
                <a:solidFill>
                  <a:srgbClr val="FF0000"/>
                </a:solidFill>
              </a:rPr>
              <a:t>        All subsets of {C,D,E,F} + {J}</a:t>
            </a:r>
          </a:p>
        </p:txBody>
      </p:sp>
      <p:graphicFrame>
        <p:nvGraphicFramePr>
          <p:cNvPr id="6" name="Content Placeholder 3"/>
          <p:cNvGraphicFramePr>
            <a:graphicFrameLocks/>
          </p:cNvGraphicFramePr>
          <p:nvPr/>
        </p:nvGraphicFramePr>
        <p:xfrm>
          <a:off x="342900" y="1690688"/>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55446" name="TextBox 6"/>
          <p:cNvSpPr txBox="1">
            <a:spLocks noChangeArrowheads="1"/>
          </p:cNvSpPr>
          <p:nvPr/>
        </p:nvSpPr>
        <p:spPr bwMode="auto">
          <a:xfrm>
            <a:off x="2376488" y="1370013"/>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55447" name="TextBox 7"/>
          <p:cNvSpPr txBox="1">
            <a:spLocks noChangeArrowheads="1"/>
          </p:cNvSpPr>
          <p:nvPr/>
        </p:nvSpPr>
        <p:spPr bwMode="auto">
          <a:xfrm rot="-5400000">
            <a:off x="-491331" y="3547269"/>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altLang="en-US"/>
              <a:t>An illustrative example</a:t>
            </a:r>
          </a:p>
        </p:txBody>
      </p:sp>
      <p:sp>
        <p:nvSpPr>
          <p:cNvPr id="56323" name="TextBox 4"/>
          <p:cNvSpPr txBox="1">
            <a:spLocks noChangeArrowheads="1"/>
          </p:cNvSpPr>
          <p:nvPr/>
        </p:nvSpPr>
        <p:spPr bwMode="auto">
          <a:xfrm>
            <a:off x="5570538" y="1789113"/>
            <a:ext cx="3309937"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a:t>Support threshold (by count) : 5</a:t>
            </a:r>
          </a:p>
          <a:p>
            <a:pPr>
              <a:spcBef>
                <a:spcPct val="0"/>
              </a:spcBef>
              <a:spcAft>
                <a:spcPct val="0"/>
              </a:spcAft>
              <a:buClrTx/>
              <a:buSzTx/>
              <a:buFontTx/>
              <a:buNone/>
            </a:pPr>
            <a:r>
              <a:rPr lang="en-US" altLang="en-US" sz="1100"/>
              <a:t>Frequent itemsets: {F}</a:t>
            </a:r>
          </a:p>
          <a:p>
            <a:pPr>
              <a:spcBef>
                <a:spcPct val="0"/>
              </a:spcBef>
              <a:spcAft>
                <a:spcPct val="0"/>
              </a:spcAft>
              <a:buClrTx/>
              <a:buSzTx/>
              <a:buFontTx/>
              <a:buNone/>
            </a:pPr>
            <a:r>
              <a:rPr lang="en-US" altLang="en-US" sz="1100">
                <a:solidFill>
                  <a:srgbClr val="FF0000"/>
                </a:solidFill>
              </a:rPr>
              <a:t>Maximal itemsets: ? </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4</a:t>
            </a:r>
          </a:p>
          <a:p>
            <a:pPr>
              <a:spcBef>
                <a:spcPct val="0"/>
              </a:spcBef>
              <a:spcAft>
                <a:spcPct val="0"/>
              </a:spcAft>
              <a:buClrTx/>
              <a:buSzTx/>
              <a:buFontTx/>
              <a:buNone/>
            </a:pPr>
            <a:r>
              <a:rPr lang="en-US" altLang="en-US" sz="1100"/>
              <a:t>Frequent itemsets: {E}, {F}, {E,F}, {J}</a:t>
            </a:r>
          </a:p>
          <a:p>
            <a:pPr>
              <a:spcBef>
                <a:spcPct val="0"/>
              </a:spcBef>
              <a:spcAft>
                <a:spcPct val="0"/>
              </a:spcAft>
              <a:buClrTx/>
              <a:buSzTx/>
              <a:buFontTx/>
              <a:buNone/>
            </a:pPr>
            <a:r>
              <a:rPr lang="en-US" altLang="en-US" sz="1100">
                <a:solidFill>
                  <a:srgbClr val="FF0000"/>
                </a:solidFill>
              </a:rPr>
              <a:t>Maximal itemsets: ? </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3</a:t>
            </a:r>
          </a:p>
          <a:p>
            <a:pPr>
              <a:spcBef>
                <a:spcPct val="0"/>
              </a:spcBef>
              <a:spcAft>
                <a:spcPct val="0"/>
              </a:spcAft>
              <a:buClrTx/>
              <a:buSzTx/>
              <a:buFontTx/>
              <a:buNone/>
            </a:pPr>
            <a:r>
              <a:rPr lang="en-US" altLang="en-US" sz="1100"/>
              <a:t>Frequent itemsets:</a:t>
            </a:r>
          </a:p>
          <a:p>
            <a:pPr>
              <a:spcBef>
                <a:spcPct val="0"/>
              </a:spcBef>
              <a:spcAft>
                <a:spcPct val="0"/>
              </a:spcAft>
              <a:buClrTx/>
              <a:buSzTx/>
              <a:buFontTx/>
              <a:buNone/>
            </a:pPr>
            <a:r>
              <a:rPr lang="en-US" altLang="en-US" sz="1100"/>
              <a:t>        All subsets of {C,D,E,F} + {J}</a:t>
            </a:r>
          </a:p>
          <a:p>
            <a:pPr>
              <a:spcBef>
                <a:spcPct val="0"/>
              </a:spcBef>
              <a:spcAft>
                <a:spcPct val="0"/>
              </a:spcAft>
              <a:buClrTx/>
              <a:buSzTx/>
              <a:buFontTx/>
              <a:buNone/>
            </a:pPr>
            <a:r>
              <a:rPr lang="en-US" altLang="en-US" sz="1100">
                <a:solidFill>
                  <a:srgbClr val="FF0000"/>
                </a:solidFill>
              </a:rPr>
              <a:t>Maximal itemsets: ?</a:t>
            </a:r>
          </a:p>
        </p:txBody>
      </p:sp>
      <p:graphicFrame>
        <p:nvGraphicFramePr>
          <p:cNvPr id="6" name="Content Placeholder 3"/>
          <p:cNvGraphicFramePr>
            <a:graphicFrameLocks/>
          </p:cNvGraphicFramePr>
          <p:nvPr/>
        </p:nvGraphicFramePr>
        <p:xfrm>
          <a:off x="342900" y="1690688"/>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56470" name="TextBox 6"/>
          <p:cNvSpPr txBox="1">
            <a:spLocks noChangeArrowheads="1"/>
          </p:cNvSpPr>
          <p:nvPr/>
        </p:nvSpPr>
        <p:spPr bwMode="auto">
          <a:xfrm>
            <a:off x="2376488" y="1370013"/>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56471" name="TextBox 7"/>
          <p:cNvSpPr txBox="1">
            <a:spLocks noChangeArrowheads="1"/>
          </p:cNvSpPr>
          <p:nvPr/>
        </p:nvSpPr>
        <p:spPr bwMode="auto">
          <a:xfrm rot="-5400000">
            <a:off x="-491331" y="3547269"/>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US" altLang="en-US"/>
              <a:t>An illustrative example</a:t>
            </a:r>
          </a:p>
        </p:txBody>
      </p:sp>
      <p:sp>
        <p:nvSpPr>
          <p:cNvPr id="57347" name="TextBox 4"/>
          <p:cNvSpPr txBox="1">
            <a:spLocks noChangeArrowheads="1"/>
          </p:cNvSpPr>
          <p:nvPr/>
        </p:nvSpPr>
        <p:spPr bwMode="auto">
          <a:xfrm>
            <a:off x="5570538" y="1755775"/>
            <a:ext cx="3309937" cy="235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a:t>Support threshold (by count) : 5</a:t>
            </a:r>
          </a:p>
          <a:p>
            <a:pPr>
              <a:spcBef>
                <a:spcPct val="0"/>
              </a:spcBef>
              <a:spcAft>
                <a:spcPct val="0"/>
              </a:spcAft>
              <a:buClrTx/>
              <a:buSzTx/>
              <a:buFontTx/>
              <a:buNone/>
            </a:pPr>
            <a:r>
              <a:rPr lang="en-US" altLang="en-US" sz="1100"/>
              <a:t>Frequent itemsets: {F}</a:t>
            </a:r>
          </a:p>
          <a:p>
            <a:pPr>
              <a:spcBef>
                <a:spcPct val="0"/>
              </a:spcBef>
              <a:spcAft>
                <a:spcPct val="0"/>
              </a:spcAft>
              <a:buClrTx/>
              <a:buSzTx/>
              <a:buFontTx/>
              <a:buNone/>
            </a:pPr>
            <a:r>
              <a:rPr lang="en-US" altLang="en-US" sz="1100"/>
              <a:t>Maximal itemsets: </a:t>
            </a:r>
            <a:r>
              <a:rPr lang="en-US" altLang="en-US" sz="1100">
                <a:solidFill>
                  <a:srgbClr val="FF0000"/>
                </a:solidFill>
              </a:rPr>
              <a:t>{F} </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4</a:t>
            </a:r>
          </a:p>
          <a:p>
            <a:pPr>
              <a:spcBef>
                <a:spcPct val="0"/>
              </a:spcBef>
              <a:spcAft>
                <a:spcPct val="0"/>
              </a:spcAft>
              <a:buClrTx/>
              <a:buSzTx/>
              <a:buFontTx/>
              <a:buNone/>
            </a:pPr>
            <a:r>
              <a:rPr lang="en-US" altLang="en-US" sz="1100"/>
              <a:t>Frequent itemsets: {E}, {F}, {E,F}, {J}</a:t>
            </a:r>
          </a:p>
          <a:p>
            <a:pPr>
              <a:spcBef>
                <a:spcPct val="0"/>
              </a:spcBef>
              <a:spcAft>
                <a:spcPct val="0"/>
              </a:spcAft>
              <a:buClrTx/>
              <a:buSzTx/>
              <a:buFontTx/>
              <a:buNone/>
            </a:pPr>
            <a:r>
              <a:rPr lang="en-US" altLang="en-US" sz="1100"/>
              <a:t>Maximal itemsets: </a:t>
            </a:r>
            <a:r>
              <a:rPr lang="en-US" altLang="en-US" sz="1100">
                <a:solidFill>
                  <a:srgbClr val="FF0000"/>
                </a:solidFill>
              </a:rPr>
              <a:t>?</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3</a:t>
            </a:r>
          </a:p>
          <a:p>
            <a:pPr>
              <a:spcBef>
                <a:spcPct val="0"/>
              </a:spcBef>
              <a:spcAft>
                <a:spcPct val="0"/>
              </a:spcAft>
              <a:buClrTx/>
              <a:buSzTx/>
              <a:buFontTx/>
              <a:buNone/>
            </a:pPr>
            <a:r>
              <a:rPr lang="en-US" altLang="en-US" sz="1100"/>
              <a:t>Frequent itemsets:</a:t>
            </a:r>
          </a:p>
          <a:p>
            <a:pPr>
              <a:spcBef>
                <a:spcPct val="0"/>
              </a:spcBef>
              <a:spcAft>
                <a:spcPct val="0"/>
              </a:spcAft>
              <a:buClrTx/>
              <a:buSzTx/>
              <a:buFontTx/>
              <a:buNone/>
            </a:pPr>
            <a:r>
              <a:rPr lang="en-US" altLang="en-US" sz="1100"/>
              <a:t>        All subsets of {C,D,E,F} + {J}</a:t>
            </a:r>
          </a:p>
          <a:p>
            <a:pPr>
              <a:spcBef>
                <a:spcPct val="0"/>
              </a:spcBef>
              <a:spcAft>
                <a:spcPct val="0"/>
              </a:spcAft>
              <a:buClrTx/>
              <a:buSzTx/>
              <a:buFontTx/>
              <a:buNone/>
            </a:pPr>
            <a:r>
              <a:rPr lang="en-US" altLang="en-US" sz="1100"/>
              <a:t>Maximal itemsets:</a:t>
            </a:r>
            <a:r>
              <a:rPr lang="en-US" altLang="en-US" sz="1100">
                <a:solidFill>
                  <a:srgbClr val="FF0000"/>
                </a:solidFill>
              </a:rPr>
              <a:t> ?</a:t>
            </a:r>
            <a:endParaRPr lang="en-US" altLang="en-US" sz="1100"/>
          </a:p>
        </p:txBody>
      </p:sp>
      <p:graphicFrame>
        <p:nvGraphicFramePr>
          <p:cNvPr id="6" name="Content Placeholder 3"/>
          <p:cNvGraphicFramePr>
            <a:graphicFrameLocks/>
          </p:cNvGraphicFramePr>
          <p:nvPr/>
        </p:nvGraphicFramePr>
        <p:xfrm>
          <a:off x="342900" y="1690688"/>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57494" name="TextBox 6"/>
          <p:cNvSpPr txBox="1">
            <a:spLocks noChangeArrowheads="1"/>
          </p:cNvSpPr>
          <p:nvPr/>
        </p:nvSpPr>
        <p:spPr bwMode="auto">
          <a:xfrm>
            <a:off x="2376488" y="1370013"/>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57495" name="TextBox 7"/>
          <p:cNvSpPr txBox="1">
            <a:spLocks noChangeArrowheads="1"/>
          </p:cNvSpPr>
          <p:nvPr/>
        </p:nvSpPr>
        <p:spPr bwMode="auto">
          <a:xfrm rot="-5400000">
            <a:off x="-491331" y="3547269"/>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US" altLang="en-US"/>
              <a:t>An illustrative example</a:t>
            </a:r>
          </a:p>
        </p:txBody>
      </p:sp>
      <p:sp>
        <p:nvSpPr>
          <p:cNvPr id="58371" name="TextBox 4"/>
          <p:cNvSpPr txBox="1">
            <a:spLocks noChangeArrowheads="1"/>
          </p:cNvSpPr>
          <p:nvPr/>
        </p:nvSpPr>
        <p:spPr bwMode="auto">
          <a:xfrm>
            <a:off x="5570538" y="1755775"/>
            <a:ext cx="3309937" cy="235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a:t>Support threshold (by count) : 5</a:t>
            </a:r>
          </a:p>
          <a:p>
            <a:pPr>
              <a:spcBef>
                <a:spcPct val="0"/>
              </a:spcBef>
              <a:spcAft>
                <a:spcPct val="0"/>
              </a:spcAft>
              <a:buClrTx/>
              <a:buSzTx/>
              <a:buFontTx/>
              <a:buNone/>
            </a:pPr>
            <a:r>
              <a:rPr lang="en-US" altLang="en-US" sz="1100"/>
              <a:t>Frequent itemsets: {F}</a:t>
            </a:r>
          </a:p>
          <a:p>
            <a:pPr>
              <a:spcBef>
                <a:spcPct val="0"/>
              </a:spcBef>
              <a:spcAft>
                <a:spcPct val="0"/>
              </a:spcAft>
              <a:buClrTx/>
              <a:buSzTx/>
              <a:buFontTx/>
              <a:buNone/>
            </a:pPr>
            <a:r>
              <a:rPr lang="en-US" altLang="en-US" sz="1100"/>
              <a:t>Maximal itemsets: </a:t>
            </a:r>
            <a:r>
              <a:rPr lang="en-US" altLang="en-US" sz="1100">
                <a:solidFill>
                  <a:srgbClr val="FF0000"/>
                </a:solidFill>
              </a:rPr>
              <a:t>{F} </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4</a:t>
            </a:r>
          </a:p>
          <a:p>
            <a:pPr>
              <a:spcBef>
                <a:spcPct val="0"/>
              </a:spcBef>
              <a:spcAft>
                <a:spcPct val="0"/>
              </a:spcAft>
              <a:buClrTx/>
              <a:buSzTx/>
              <a:buFontTx/>
              <a:buNone/>
            </a:pPr>
            <a:r>
              <a:rPr lang="en-US" altLang="en-US" sz="1100"/>
              <a:t>Frequent itemsets: {E}, {F}, {E,F}, {J}</a:t>
            </a:r>
          </a:p>
          <a:p>
            <a:pPr>
              <a:spcBef>
                <a:spcPct val="0"/>
              </a:spcBef>
              <a:spcAft>
                <a:spcPct val="0"/>
              </a:spcAft>
              <a:buClrTx/>
              <a:buSzTx/>
              <a:buFontTx/>
              <a:buNone/>
            </a:pPr>
            <a:r>
              <a:rPr lang="en-US" altLang="en-US" sz="1100"/>
              <a:t>Maximal itemsets: </a:t>
            </a:r>
            <a:r>
              <a:rPr lang="en-US" altLang="en-US" sz="1100">
                <a:solidFill>
                  <a:srgbClr val="FF0000"/>
                </a:solidFill>
              </a:rPr>
              <a:t>{E,F}, {J} </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3</a:t>
            </a:r>
          </a:p>
          <a:p>
            <a:pPr>
              <a:spcBef>
                <a:spcPct val="0"/>
              </a:spcBef>
              <a:spcAft>
                <a:spcPct val="0"/>
              </a:spcAft>
              <a:buClrTx/>
              <a:buSzTx/>
              <a:buFontTx/>
              <a:buNone/>
            </a:pPr>
            <a:r>
              <a:rPr lang="en-US" altLang="en-US" sz="1100"/>
              <a:t>Frequent itemsets:</a:t>
            </a:r>
          </a:p>
          <a:p>
            <a:pPr>
              <a:spcBef>
                <a:spcPct val="0"/>
              </a:spcBef>
              <a:spcAft>
                <a:spcPct val="0"/>
              </a:spcAft>
              <a:buClrTx/>
              <a:buSzTx/>
              <a:buFontTx/>
              <a:buNone/>
            </a:pPr>
            <a:r>
              <a:rPr lang="en-US" altLang="en-US" sz="1100"/>
              <a:t>        All subsets of {C,D,E,F} + {J}</a:t>
            </a:r>
          </a:p>
          <a:p>
            <a:pPr>
              <a:spcBef>
                <a:spcPct val="0"/>
              </a:spcBef>
              <a:spcAft>
                <a:spcPct val="0"/>
              </a:spcAft>
              <a:buClrTx/>
              <a:buSzTx/>
              <a:buFontTx/>
              <a:buNone/>
            </a:pPr>
            <a:r>
              <a:rPr lang="en-US" altLang="en-US" sz="1100"/>
              <a:t>Maximal itemsets:</a:t>
            </a:r>
            <a:r>
              <a:rPr lang="en-US" altLang="en-US" sz="1100">
                <a:solidFill>
                  <a:srgbClr val="FF0000"/>
                </a:solidFill>
              </a:rPr>
              <a:t> ?</a:t>
            </a:r>
            <a:endParaRPr lang="en-US" altLang="en-US" sz="1100"/>
          </a:p>
        </p:txBody>
      </p:sp>
      <p:graphicFrame>
        <p:nvGraphicFramePr>
          <p:cNvPr id="6" name="Content Placeholder 3"/>
          <p:cNvGraphicFramePr>
            <a:graphicFrameLocks/>
          </p:cNvGraphicFramePr>
          <p:nvPr/>
        </p:nvGraphicFramePr>
        <p:xfrm>
          <a:off x="342900" y="1690688"/>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58518" name="TextBox 6"/>
          <p:cNvSpPr txBox="1">
            <a:spLocks noChangeArrowheads="1"/>
          </p:cNvSpPr>
          <p:nvPr/>
        </p:nvSpPr>
        <p:spPr bwMode="auto">
          <a:xfrm>
            <a:off x="2376488" y="1370013"/>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58519" name="TextBox 7"/>
          <p:cNvSpPr txBox="1">
            <a:spLocks noChangeArrowheads="1"/>
          </p:cNvSpPr>
          <p:nvPr/>
        </p:nvSpPr>
        <p:spPr bwMode="auto">
          <a:xfrm rot="-5400000">
            <a:off x="-491331" y="3547269"/>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altLang="en-US"/>
              <a:t>An illustrative example</a:t>
            </a:r>
          </a:p>
        </p:txBody>
      </p:sp>
      <p:sp>
        <p:nvSpPr>
          <p:cNvPr id="59395" name="TextBox 4"/>
          <p:cNvSpPr txBox="1">
            <a:spLocks noChangeArrowheads="1"/>
          </p:cNvSpPr>
          <p:nvPr/>
        </p:nvSpPr>
        <p:spPr bwMode="auto">
          <a:xfrm>
            <a:off x="5570538" y="1755775"/>
            <a:ext cx="3309937"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a:t>Support threshold (by count) : 5</a:t>
            </a:r>
          </a:p>
          <a:p>
            <a:pPr>
              <a:spcBef>
                <a:spcPct val="0"/>
              </a:spcBef>
              <a:spcAft>
                <a:spcPct val="0"/>
              </a:spcAft>
              <a:buClrTx/>
              <a:buSzTx/>
              <a:buFontTx/>
              <a:buNone/>
            </a:pPr>
            <a:r>
              <a:rPr lang="en-US" altLang="en-US" sz="1100"/>
              <a:t>Frequent itemsets: {F}</a:t>
            </a:r>
          </a:p>
          <a:p>
            <a:pPr>
              <a:spcBef>
                <a:spcPct val="0"/>
              </a:spcBef>
              <a:spcAft>
                <a:spcPct val="0"/>
              </a:spcAft>
              <a:buClrTx/>
              <a:buSzTx/>
              <a:buFontTx/>
              <a:buNone/>
            </a:pPr>
            <a:r>
              <a:rPr lang="en-US" altLang="en-US" sz="1100"/>
              <a:t>Maximal itemsets: </a:t>
            </a:r>
            <a:r>
              <a:rPr lang="en-US" altLang="en-US" sz="1100">
                <a:solidFill>
                  <a:srgbClr val="FF0000"/>
                </a:solidFill>
              </a:rPr>
              <a:t>{F} </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4</a:t>
            </a:r>
          </a:p>
          <a:p>
            <a:pPr>
              <a:spcBef>
                <a:spcPct val="0"/>
              </a:spcBef>
              <a:spcAft>
                <a:spcPct val="0"/>
              </a:spcAft>
              <a:buClrTx/>
              <a:buSzTx/>
              <a:buFontTx/>
              <a:buNone/>
            </a:pPr>
            <a:r>
              <a:rPr lang="en-US" altLang="en-US" sz="1100"/>
              <a:t>Frequent itemsets: {E}, {F}, {E,F}, {J}</a:t>
            </a:r>
          </a:p>
          <a:p>
            <a:pPr>
              <a:spcBef>
                <a:spcPct val="0"/>
              </a:spcBef>
              <a:spcAft>
                <a:spcPct val="0"/>
              </a:spcAft>
              <a:buClrTx/>
              <a:buSzTx/>
              <a:buFontTx/>
              <a:buNone/>
            </a:pPr>
            <a:r>
              <a:rPr lang="en-US" altLang="en-US" sz="1100"/>
              <a:t>Maximal itemsets: </a:t>
            </a:r>
            <a:r>
              <a:rPr lang="en-US" altLang="en-US" sz="1100">
                <a:solidFill>
                  <a:srgbClr val="FF0000"/>
                </a:solidFill>
              </a:rPr>
              <a:t>{E,F}, {J} </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3</a:t>
            </a:r>
          </a:p>
          <a:p>
            <a:pPr>
              <a:spcBef>
                <a:spcPct val="0"/>
              </a:spcBef>
              <a:spcAft>
                <a:spcPct val="0"/>
              </a:spcAft>
              <a:buClrTx/>
              <a:buSzTx/>
              <a:buFontTx/>
              <a:buNone/>
            </a:pPr>
            <a:r>
              <a:rPr lang="en-US" altLang="en-US" sz="1100"/>
              <a:t>Frequent itemsets:</a:t>
            </a:r>
          </a:p>
          <a:p>
            <a:pPr>
              <a:spcBef>
                <a:spcPct val="0"/>
              </a:spcBef>
              <a:spcAft>
                <a:spcPct val="0"/>
              </a:spcAft>
              <a:buClrTx/>
              <a:buSzTx/>
              <a:buFontTx/>
              <a:buNone/>
            </a:pPr>
            <a:r>
              <a:rPr lang="en-US" altLang="en-US" sz="1100"/>
              <a:t>        All subsets of {C,D,E,F} + {J}</a:t>
            </a:r>
          </a:p>
          <a:p>
            <a:pPr>
              <a:spcBef>
                <a:spcPct val="0"/>
              </a:spcBef>
              <a:spcAft>
                <a:spcPct val="0"/>
              </a:spcAft>
              <a:buClrTx/>
              <a:buSzTx/>
              <a:buFontTx/>
              <a:buNone/>
            </a:pPr>
            <a:r>
              <a:rPr lang="en-US" altLang="en-US" sz="1100"/>
              <a:t>Maximal itemsets:</a:t>
            </a:r>
          </a:p>
          <a:p>
            <a:pPr>
              <a:spcBef>
                <a:spcPct val="0"/>
              </a:spcBef>
              <a:spcAft>
                <a:spcPct val="0"/>
              </a:spcAft>
              <a:buClrTx/>
              <a:buSzTx/>
              <a:buFontTx/>
              <a:buNone/>
            </a:pPr>
            <a:r>
              <a:rPr lang="en-US" altLang="en-US" sz="1100">
                <a:solidFill>
                  <a:srgbClr val="FF0000"/>
                </a:solidFill>
              </a:rPr>
              <a:t>        {C,D,E,F}, {J}</a:t>
            </a:r>
          </a:p>
        </p:txBody>
      </p:sp>
      <p:graphicFrame>
        <p:nvGraphicFramePr>
          <p:cNvPr id="6" name="Content Placeholder 3"/>
          <p:cNvGraphicFramePr>
            <a:graphicFrameLocks/>
          </p:cNvGraphicFramePr>
          <p:nvPr/>
        </p:nvGraphicFramePr>
        <p:xfrm>
          <a:off x="342900" y="1690688"/>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59542" name="TextBox 6"/>
          <p:cNvSpPr txBox="1">
            <a:spLocks noChangeArrowheads="1"/>
          </p:cNvSpPr>
          <p:nvPr/>
        </p:nvSpPr>
        <p:spPr bwMode="auto">
          <a:xfrm>
            <a:off x="2376488" y="1370013"/>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59543" name="TextBox 7"/>
          <p:cNvSpPr txBox="1">
            <a:spLocks noChangeArrowheads="1"/>
          </p:cNvSpPr>
          <p:nvPr/>
        </p:nvSpPr>
        <p:spPr bwMode="auto">
          <a:xfrm rot="-5400000">
            <a:off x="-491331" y="3547269"/>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r>
              <a:rPr lang="en-US" altLang="en-US"/>
              <a:t>Another illustrative example</a:t>
            </a:r>
          </a:p>
        </p:txBody>
      </p:sp>
      <p:sp>
        <p:nvSpPr>
          <p:cNvPr id="60419" name="TextBox 3"/>
          <p:cNvSpPr txBox="1">
            <a:spLocks noChangeArrowheads="1"/>
          </p:cNvSpPr>
          <p:nvPr/>
        </p:nvSpPr>
        <p:spPr bwMode="auto">
          <a:xfrm>
            <a:off x="5519738" y="1690688"/>
            <a:ext cx="3309937"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a:t>Support threshold (by count) : 5</a:t>
            </a:r>
          </a:p>
          <a:p>
            <a:pPr>
              <a:spcBef>
                <a:spcPct val="0"/>
              </a:spcBef>
              <a:spcAft>
                <a:spcPct val="0"/>
              </a:spcAft>
              <a:buClrTx/>
              <a:buSzTx/>
              <a:buFontTx/>
              <a:buNone/>
            </a:pPr>
            <a:r>
              <a:rPr lang="en-US" altLang="en-US" sz="1100"/>
              <a:t>Maximal itemsets: </a:t>
            </a:r>
            <a:r>
              <a:rPr lang="en-US" altLang="en-US" sz="1100">
                <a:solidFill>
                  <a:srgbClr val="FF0000"/>
                </a:solidFill>
              </a:rPr>
              <a:t>{A}, {B}, {C} </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4</a:t>
            </a:r>
          </a:p>
          <a:p>
            <a:pPr>
              <a:spcBef>
                <a:spcPct val="0"/>
              </a:spcBef>
              <a:spcAft>
                <a:spcPct val="0"/>
              </a:spcAft>
              <a:buClrTx/>
              <a:buSzTx/>
              <a:buFontTx/>
              <a:buNone/>
            </a:pPr>
            <a:r>
              <a:rPr lang="en-US" altLang="en-US" sz="1100"/>
              <a:t>Maximal itemsets: </a:t>
            </a:r>
            <a:r>
              <a:rPr lang="en-US" altLang="en-US" sz="1100">
                <a:solidFill>
                  <a:srgbClr val="FF0000"/>
                </a:solidFill>
              </a:rPr>
              <a:t>{A,B}, {A,C},{B,C} </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3</a:t>
            </a:r>
          </a:p>
          <a:p>
            <a:pPr>
              <a:spcBef>
                <a:spcPct val="0"/>
              </a:spcBef>
              <a:spcAft>
                <a:spcPct val="0"/>
              </a:spcAft>
              <a:buClrTx/>
              <a:buSzTx/>
              <a:buFontTx/>
              <a:buNone/>
            </a:pPr>
            <a:r>
              <a:rPr lang="en-US" altLang="en-US" sz="1100"/>
              <a:t>Maximal itemsets: </a:t>
            </a:r>
            <a:r>
              <a:rPr lang="en-US" altLang="en-US" sz="1100">
                <a:solidFill>
                  <a:srgbClr val="FF0000"/>
                </a:solidFill>
              </a:rPr>
              <a:t>{A,B,C}</a:t>
            </a:r>
          </a:p>
        </p:txBody>
      </p:sp>
      <p:graphicFrame>
        <p:nvGraphicFramePr>
          <p:cNvPr id="5" name="Content Placeholder 3"/>
          <p:cNvGraphicFramePr>
            <a:graphicFrameLocks/>
          </p:cNvGraphicFramePr>
          <p:nvPr/>
        </p:nvGraphicFramePr>
        <p:xfrm>
          <a:off x="342900" y="1690688"/>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60566" name="TextBox 5"/>
          <p:cNvSpPr txBox="1">
            <a:spLocks noChangeArrowheads="1"/>
          </p:cNvSpPr>
          <p:nvPr/>
        </p:nvSpPr>
        <p:spPr bwMode="auto">
          <a:xfrm rot="-5400000">
            <a:off x="-491331" y="3547269"/>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
        <p:nvSpPr>
          <p:cNvPr id="60567" name="TextBox 11"/>
          <p:cNvSpPr txBox="1">
            <a:spLocks noChangeArrowheads="1"/>
          </p:cNvSpPr>
          <p:nvPr/>
        </p:nvSpPr>
        <p:spPr bwMode="auto">
          <a:xfrm>
            <a:off x="2376488" y="1370013"/>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457200" y="228600"/>
            <a:ext cx="7543800" cy="808038"/>
          </a:xfrm>
        </p:spPr>
        <p:txBody>
          <a:bodyPr/>
          <a:lstStyle/>
          <a:p>
            <a:r>
              <a:rPr lang="en-US" altLang="en-US" dirty="0"/>
              <a:t>Closed </a:t>
            </a:r>
            <a:r>
              <a:rPr lang="en-US" altLang="en-US" dirty="0" err="1"/>
              <a:t>Itemset</a:t>
            </a:r>
            <a:endParaRPr lang="en-US" altLang="en-US" dirty="0"/>
          </a:p>
        </p:txBody>
      </p:sp>
      <p:sp>
        <p:nvSpPr>
          <p:cNvPr id="23558" name="Rectangle 3"/>
          <p:cNvSpPr>
            <a:spLocks noGrp="1" noChangeArrowheads="1"/>
          </p:cNvSpPr>
          <p:nvPr>
            <p:ph type="body" idx="1"/>
          </p:nvPr>
        </p:nvSpPr>
        <p:spPr>
          <a:xfrm>
            <a:off x="381000" y="1524000"/>
            <a:ext cx="8229600" cy="4411662"/>
          </a:xfrm>
        </p:spPr>
        <p:txBody>
          <a:bodyPr/>
          <a:lstStyle/>
          <a:p>
            <a:r>
              <a:rPr lang="en-US" altLang="en-US" sz="2400" dirty="0"/>
              <a:t>An </a:t>
            </a:r>
            <a:r>
              <a:rPr lang="en-US" altLang="en-US" sz="2400" dirty="0" err="1"/>
              <a:t>itemset</a:t>
            </a:r>
            <a:r>
              <a:rPr lang="en-US" altLang="en-US" sz="2400" dirty="0"/>
              <a:t> X is closed if none of its immediate supersets has the same support as the </a:t>
            </a:r>
            <a:r>
              <a:rPr lang="en-US" altLang="en-US" sz="2400" dirty="0" err="1"/>
              <a:t>itemset</a:t>
            </a:r>
            <a:r>
              <a:rPr lang="en-US" altLang="en-US" sz="2400" dirty="0"/>
              <a:t> X.</a:t>
            </a:r>
          </a:p>
          <a:p>
            <a:r>
              <a:rPr lang="en-US" altLang="en-US" sz="2400" dirty="0">
                <a:solidFill>
                  <a:srgbClr val="FF0000"/>
                </a:solidFill>
              </a:rPr>
              <a:t>X is not closed if at least one of its immediate supersets has support count as X.</a:t>
            </a:r>
          </a:p>
          <a:p>
            <a:pPr>
              <a:buFont typeface="Monotype Sorts" pitchFamily="2" charset="2"/>
              <a:buNone/>
            </a:pPr>
            <a:endParaRPr lang="en-US" altLang="en-US" sz="2000" dirty="0"/>
          </a:p>
        </p:txBody>
      </p:sp>
      <p:graphicFrame>
        <p:nvGraphicFramePr>
          <p:cNvPr id="61444" name="Object 4"/>
          <p:cNvGraphicFramePr>
            <a:graphicFrameLocks noGrp="1" noChangeAspect="1"/>
          </p:cNvGraphicFramePr>
          <p:nvPr>
            <p:ph sz="half" idx="4294967295"/>
          </p:nvPr>
        </p:nvGraphicFramePr>
        <p:xfrm>
          <a:off x="838200" y="3551238"/>
          <a:ext cx="2032000" cy="1782762"/>
        </p:xfrm>
        <a:graphic>
          <a:graphicData uri="http://schemas.openxmlformats.org/presentationml/2006/ole">
            <mc:AlternateContent xmlns:mc="http://schemas.openxmlformats.org/markup-compatibility/2006">
              <mc:Choice xmlns:v="urn:schemas-microsoft-com:vml" Requires="v">
                <p:oleObj name="Worksheet" r:id="rId3" imgW="1988871" imgH="1744914" progId="Excel.Sheet.8">
                  <p:embed/>
                </p:oleObj>
              </mc:Choice>
              <mc:Fallback>
                <p:oleObj name="Worksheet" r:id="rId3" imgW="1988871" imgH="1744914" progId="Excel.Sheet.8">
                  <p:embed/>
                  <p:pic>
                    <p:nvPicPr>
                      <p:cNvPr id="0" name="Picture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3551238"/>
                        <a:ext cx="2032000" cy="178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45" name="Object 5"/>
          <p:cNvGraphicFramePr>
            <a:graphicFrameLocks noGrp="1" noChangeAspect="1"/>
          </p:cNvGraphicFramePr>
          <p:nvPr>
            <p:ph sz="half" idx="4294967295"/>
          </p:nvPr>
        </p:nvGraphicFramePr>
        <p:xfrm>
          <a:off x="4114800" y="3200400"/>
          <a:ext cx="2260600" cy="3265487"/>
        </p:xfrm>
        <a:graphic>
          <a:graphicData uri="http://schemas.openxmlformats.org/presentationml/2006/ole">
            <mc:AlternateContent xmlns:mc="http://schemas.openxmlformats.org/markup-compatibility/2006">
              <mc:Choice xmlns:v="urn:schemas-microsoft-com:vml" Requires="v">
                <p:oleObj name="Worksheet" r:id="rId5" imgW="2209698" imgH="3192747" progId="Excel.Sheet.8">
                  <p:embed/>
                </p:oleObj>
              </mc:Choice>
              <mc:Fallback>
                <p:oleObj name="Worksheet" r:id="rId5" imgW="2209698" imgH="3192747" progId="Excel.Sheet.8">
                  <p:embed/>
                  <p:pic>
                    <p:nvPicPr>
                      <p:cNvPr id="0" name="Picture 3"/>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3200400"/>
                        <a:ext cx="2260600" cy="326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46" name="Object 6"/>
          <p:cNvGraphicFramePr>
            <a:graphicFrameLocks noGrp="1" noChangeAspect="1"/>
          </p:cNvGraphicFramePr>
          <p:nvPr>
            <p:ph sz="half" idx="4294967295"/>
          </p:nvPr>
        </p:nvGraphicFramePr>
        <p:xfrm>
          <a:off x="6553200" y="3665538"/>
          <a:ext cx="2209800" cy="1744662"/>
        </p:xfrm>
        <a:graphic>
          <a:graphicData uri="http://schemas.openxmlformats.org/presentationml/2006/ole">
            <mc:AlternateContent xmlns:mc="http://schemas.openxmlformats.org/markup-compatibility/2006">
              <mc:Choice xmlns:v="urn:schemas-microsoft-com:vml" Requires="v">
                <p:oleObj name="Worksheet" r:id="rId7" imgW="2209698" imgH="1744914" progId="Excel.Sheet.8">
                  <p:embed/>
                </p:oleObj>
              </mc:Choice>
              <mc:Fallback>
                <p:oleObj name="Worksheet" r:id="rId7" imgW="2209698" imgH="1744914" progId="Excel.Sheet.8">
                  <p:embed/>
                  <p:pic>
                    <p:nvPicPr>
                      <p:cNvPr id="0" name="Picture 4"/>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53200" y="3665538"/>
                        <a:ext cx="2209800" cy="174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55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381000" y="152400"/>
            <a:ext cx="7543800" cy="884238"/>
          </a:xfrm>
        </p:spPr>
        <p:txBody>
          <a:bodyPr/>
          <a:lstStyle/>
          <a:p>
            <a:r>
              <a:rPr lang="en-US" altLang="en-US" dirty="0"/>
              <a:t>Maximal </a:t>
            </a:r>
            <a:r>
              <a:rPr lang="en-US" altLang="en-US" dirty="0" err="1"/>
              <a:t>vs</a:t>
            </a:r>
            <a:r>
              <a:rPr lang="en-US" altLang="en-US" dirty="0"/>
              <a:t> Closed </a:t>
            </a:r>
            <a:r>
              <a:rPr lang="en-US" altLang="en-US" dirty="0" err="1"/>
              <a:t>Itemsets</a:t>
            </a:r>
            <a:endParaRPr lang="en-US" altLang="en-US" dirty="0"/>
          </a:p>
        </p:txBody>
      </p:sp>
      <p:graphicFrame>
        <p:nvGraphicFramePr>
          <p:cNvPr id="62467" name="Object 3"/>
          <p:cNvGraphicFramePr>
            <a:graphicFrameLocks noChangeAspect="1"/>
          </p:cNvGraphicFramePr>
          <p:nvPr/>
        </p:nvGraphicFramePr>
        <p:xfrm>
          <a:off x="228600" y="1143000"/>
          <a:ext cx="1600200" cy="2203450"/>
        </p:xfrm>
        <a:graphic>
          <a:graphicData uri="http://schemas.openxmlformats.org/presentationml/2006/ole">
            <mc:AlternateContent xmlns:mc="http://schemas.openxmlformats.org/markup-compatibility/2006">
              <mc:Choice xmlns:v="urn:schemas-microsoft-com:vml" Requires="v">
                <p:oleObj name="Worksheet" r:id="rId2" imgW="1638000" imgH="1974240" progId="Excel.Sheet.8">
                  <p:embed/>
                </p:oleObj>
              </mc:Choice>
              <mc:Fallback>
                <p:oleObj name="Worksheet" r:id="rId2" imgW="1638000" imgH="1974240" progId="Excel.Sheet.8">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143000"/>
                        <a:ext cx="1600200" cy="220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68" name="Object 4"/>
          <p:cNvGraphicFramePr>
            <a:graphicFrameLocks noChangeAspect="1"/>
          </p:cNvGraphicFramePr>
          <p:nvPr/>
        </p:nvGraphicFramePr>
        <p:xfrm>
          <a:off x="1828800" y="1066800"/>
          <a:ext cx="7229475" cy="5289550"/>
        </p:xfrm>
        <a:graphic>
          <a:graphicData uri="http://schemas.openxmlformats.org/presentationml/2006/ole">
            <mc:AlternateContent xmlns:mc="http://schemas.openxmlformats.org/markup-compatibility/2006">
              <mc:Choice xmlns:v="urn:schemas-microsoft-com:vml" Requires="v">
                <p:oleObj name="VISIO" r:id="rId4" imgW="10120884" imgH="7392924" progId="">
                  <p:embed/>
                </p:oleObj>
              </mc:Choice>
              <mc:Fallback>
                <p:oleObj name="VISIO" r:id="rId4" imgW="10120884" imgH="7392924" progId="">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1066800"/>
                        <a:ext cx="7229475" cy="528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469" name="Text Box 5"/>
          <p:cNvSpPr txBox="1">
            <a:spLocks noChangeArrowheads="1"/>
          </p:cNvSpPr>
          <p:nvPr/>
        </p:nvSpPr>
        <p:spPr bwMode="auto">
          <a:xfrm>
            <a:off x="7162800" y="990600"/>
            <a:ext cx="152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Transaction Ids</a:t>
            </a:r>
          </a:p>
        </p:txBody>
      </p:sp>
      <p:sp>
        <p:nvSpPr>
          <p:cNvPr id="62470" name="Line 6"/>
          <p:cNvSpPr>
            <a:spLocks noChangeShapeType="1"/>
          </p:cNvSpPr>
          <p:nvPr/>
        </p:nvSpPr>
        <p:spPr bwMode="auto">
          <a:xfrm flipH="1">
            <a:off x="6400800" y="1295400"/>
            <a:ext cx="838200" cy="381000"/>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471" name="Line 7"/>
          <p:cNvSpPr>
            <a:spLocks noChangeShapeType="1"/>
          </p:cNvSpPr>
          <p:nvPr/>
        </p:nvSpPr>
        <p:spPr bwMode="auto">
          <a:xfrm flipH="1">
            <a:off x="7772400" y="1371600"/>
            <a:ext cx="76200" cy="228600"/>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472" name="Text Box 8"/>
          <p:cNvSpPr txBox="1">
            <a:spLocks noChangeArrowheads="1"/>
          </p:cNvSpPr>
          <p:nvPr/>
        </p:nvSpPr>
        <p:spPr bwMode="auto">
          <a:xfrm>
            <a:off x="1219200" y="5715000"/>
            <a:ext cx="17526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Not supported by any transactions</a:t>
            </a:r>
          </a:p>
        </p:txBody>
      </p:sp>
      <p:sp>
        <p:nvSpPr>
          <p:cNvPr id="62473" name="Line 9"/>
          <p:cNvSpPr>
            <a:spLocks noChangeShapeType="1"/>
          </p:cNvSpPr>
          <p:nvPr/>
        </p:nvSpPr>
        <p:spPr bwMode="auto">
          <a:xfrm>
            <a:off x="2819400" y="6019800"/>
            <a:ext cx="2286000" cy="76200"/>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474" name="Line 10"/>
          <p:cNvSpPr>
            <a:spLocks noChangeShapeType="1"/>
          </p:cNvSpPr>
          <p:nvPr/>
        </p:nvSpPr>
        <p:spPr bwMode="auto">
          <a:xfrm flipV="1">
            <a:off x="2819400" y="5486400"/>
            <a:ext cx="1524000" cy="533400"/>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381000" y="304800"/>
            <a:ext cx="7543800" cy="579438"/>
          </a:xfrm>
        </p:spPr>
        <p:txBody>
          <a:bodyPr/>
          <a:lstStyle/>
          <a:p>
            <a:r>
              <a:rPr lang="en-US" altLang="en-US" sz="3200" dirty="0"/>
              <a:t>Maximal </a:t>
            </a:r>
            <a:r>
              <a:rPr lang="en-US" altLang="en-US" sz="3200" dirty="0" err="1"/>
              <a:t>vs</a:t>
            </a:r>
            <a:r>
              <a:rPr lang="en-US" altLang="en-US" sz="3200" dirty="0"/>
              <a:t> Closed Frequent </a:t>
            </a:r>
            <a:r>
              <a:rPr lang="en-US" altLang="en-US" sz="3200" dirty="0" err="1"/>
              <a:t>Itemsets</a:t>
            </a:r>
            <a:endParaRPr lang="en-US" altLang="en-US" sz="3200" dirty="0"/>
          </a:p>
        </p:txBody>
      </p:sp>
      <p:graphicFrame>
        <p:nvGraphicFramePr>
          <p:cNvPr id="63491" name="Object 3"/>
          <p:cNvGraphicFramePr>
            <a:graphicFrameLocks noChangeAspect="1"/>
          </p:cNvGraphicFramePr>
          <p:nvPr/>
        </p:nvGraphicFramePr>
        <p:xfrm>
          <a:off x="228600" y="1066800"/>
          <a:ext cx="7086600" cy="5143500"/>
        </p:xfrm>
        <a:graphic>
          <a:graphicData uri="http://schemas.openxmlformats.org/presentationml/2006/ole">
            <mc:AlternateContent xmlns:mc="http://schemas.openxmlformats.org/markup-compatibility/2006">
              <mc:Choice xmlns:v="urn:schemas-microsoft-com:vml" Requires="v">
                <p:oleObj name="VISIO" r:id="rId2" imgW="10169652" imgH="7367016" progId="">
                  <p:embed/>
                </p:oleObj>
              </mc:Choice>
              <mc:Fallback>
                <p:oleObj name="VISIO" r:id="rId2" imgW="10169652" imgH="7367016"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066800"/>
                        <a:ext cx="708660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3492" name="Text Box 4"/>
          <p:cNvSpPr txBox="1">
            <a:spLocks noChangeArrowheads="1"/>
          </p:cNvSpPr>
          <p:nvPr/>
        </p:nvSpPr>
        <p:spPr bwMode="auto">
          <a:xfrm>
            <a:off x="381000" y="1066800"/>
            <a:ext cx="2286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Minimum support = 2</a:t>
            </a:r>
          </a:p>
        </p:txBody>
      </p:sp>
      <p:sp>
        <p:nvSpPr>
          <p:cNvPr id="63493" name="Text Box 5"/>
          <p:cNvSpPr txBox="1">
            <a:spLocks noChangeArrowheads="1"/>
          </p:cNvSpPr>
          <p:nvPr/>
        </p:nvSpPr>
        <p:spPr bwMode="auto">
          <a:xfrm>
            <a:off x="7010400" y="5105400"/>
            <a:ext cx="152400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 Closed = 9</a:t>
            </a:r>
          </a:p>
          <a:p>
            <a:pPr>
              <a:spcBef>
                <a:spcPct val="50000"/>
              </a:spcBef>
              <a:spcAft>
                <a:spcPct val="0"/>
              </a:spcAft>
              <a:buClrTx/>
              <a:buSzTx/>
              <a:buFontTx/>
              <a:buNone/>
            </a:pPr>
            <a:r>
              <a:rPr lang="en-US" altLang="en-US" sz="1400"/>
              <a:t># Maximal = 4</a:t>
            </a:r>
          </a:p>
        </p:txBody>
      </p:sp>
      <p:sp>
        <p:nvSpPr>
          <p:cNvPr id="63494" name="Text Box 6"/>
          <p:cNvSpPr txBox="1">
            <a:spLocks noChangeArrowheads="1"/>
          </p:cNvSpPr>
          <p:nvPr/>
        </p:nvSpPr>
        <p:spPr bwMode="auto">
          <a:xfrm>
            <a:off x="7543800" y="1905000"/>
            <a:ext cx="1219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Closed and maximal</a:t>
            </a:r>
          </a:p>
        </p:txBody>
      </p:sp>
      <p:sp>
        <p:nvSpPr>
          <p:cNvPr id="63495" name="Line 7"/>
          <p:cNvSpPr>
            <a:spLocks noChangeShapeType="1"/>
          </p:cNvSpPr>
          <p:nvPr/>
        </p:nvSpPr>
        <p:spPr bwMode="auto">
          <a:xfrm flipH="1">
            <a:off x="6477000" y="2209800"/>
            <a:ext cx="1066800" cy="6096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496" name="Line 8"/>
          <p:cNvSpPr>
            <a:spLocks noChangeShapeType="1"/>
          </p:cNvSpPr>
          <p:nvPr/>
        </p:nvSpPr>
        <p:spPr bwMode="auto">
          <a:xfrm flipH="1">
            <a:off x="7239000" y="2209800"/>
            <a:ext cx="304800" cy="6096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497" name="Line 9"/>
          <p:cNvSpPr>
            <a:spLocks noChangeShapeType="1"/>
          </p:cNvSpPr>
          <p:nvPr/>
        </p:nvSpPr>
        <p:spPr bwMode="auto">
          <a:xfrm flipH="1">
            <a:off x="4876800" y="1371600"/>
            <a:ext cx="609600" cy="381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498" name="Text Box 10"/>
          <p:cNvSpPr txBox="1">
            <a:spLocks noChangeArrowheads="1"/>
          </p:cNvSpPr>
          <p:nvPr/>
        </p:nvSpPr>
        <p:spPr bwMode="auto">
          <a:xfrm>
            <a:off x="5486400" y="990600"/>
            <a:ext cx="1219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Closed but not maximal</a:t>
            </a:r>
          </a:p>
        </p:txBody>
      </p:sp>
      <p:sp>
        <p:nvSpPr>
          <p:cNvPr id="63499" name="Line 11"/>
          <p:cNvSpPr>
            <a:spLocks noChangeShapeType="1"/>
          </p:cNvSpPr>
          <p:nvPr/>
        </p:nvSpPr>
        <p:spPr bwMode="auto">
          <a:xfrm flipH="1">
            <a:off x="3962400" y="1219200"/>
            <a:ext cx="1524000" cy="5334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500" name="Line 12"/>
          <p:cNvSpPr>
            <a:spLocks noChangeShapeType="1"/>
          </p:cNvSpPr>
          <p:nvPr/>
        </p:nvSpPr>
        <p:spPr bwMode="auto">
          <a:xfrm>
            <a:off x="5715000" y="1447800"/>
            <a:ext cx="0" cy="304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381000" y="76200"/>
            <a:ext cx="8280400" cy="533400"/>
          </a:xfrm>
        </p:spPr>
        <p:txBody>
          <a:bodyPr/>
          <a:lstStyle/>
          <a:p>
            <a:r>
              <a:rPr lang="en-US" altLang="en-US" sz="2000"/>
              <a:t>What are the Closed Itemsets in this Data?</a:t>
            </a:r>
          </a:p>
        </p:txBody>
      </p:sp>
      <p:sp>
        <p:nvSpPr>
          <p:cNvPr id="64515" name="Rectangle 3"/>
          <p:cNvSpPr>
            <a:spLocks noGrp="1" noChangeArrowheads="1"/>
          </p:cNvSpPr>
          <p:nvPr>
            <p:ph type="body" idx="1"/>
          </p:nvPr>
        </p:nvSpPr>
        <p:spPr/>
        <p:txBody>
          <a:bodyPr/>
          <a:lstStyle/>
          <a:p>
            <a:pPr>
              <a:lnSpc>
                <a:spcPct val="90000"/>
              </a:lnSpc>
            </a:pPr>
            <a:endParaRPr lang="en-US" altLang="en-US" sz="2400"/>
          </a:p>
          <a:p>
            <a:pPr>
              <a:lnSpc>
                <a:spcPct val="90000"/>
              </a:lnSpc>
            </a:pPr>
            <a:endParaRPr lang="en-US" altLang="en-US" sz="2400"/>
          </a:p>
          <a:p>
            <a:pPr>
              <a:lnSpc>
                <a:spcPct val="90000"/>
              </a:lnSpc>
            </a:pPr>
            <a:endParaRPr lang="en-US" altLang="en-US" sz="2400"/>
          </a:p>
          <a:p>
            <a:pPr>
              <a:lnSpc>
                <a:spcPct val="90000"/>
              </a:lnSpc>
            </a:pPr>
            <a:endParaRPr lang="en-US" altLang="en-US" sz="2400"/>
          </a:p>
          <a:p>
            <a:pPr>
              <a:lnSpc>
                <a:spcPct val="90000"/>
              </a:lnSpc>
            </a:pPr>
            <a:endParaRPr lang="en-US" altLang="en-US" sz="2400"/>
          </a:p>
          <a:p>
            <a:pPr>
              <a:lnSpc>
                <a:spcPct val="90000"/>
              </a:lnSpc>
            </a:pPr>
            <a:endParaRPr lang="en-US" altLang="en-US" sz="2400"/>
          </a:p>
          <a:p>
            <a:pPr>
              <a:lnSpc>
                <a:spcPct val="90000"/>
              </a:lnSpc>
            </a:pPr>
            <a:endParaRPr lang="en-US" altLang="en-US" sz="2400"/>
          </a:p>
        </p:txBody>
      </p:sp>
      <p:pic>
        <p:nvPicPr>
          <p:cNvPr id="64516" name="Picture 4"/>
          <p:cNvPicPr>
            <a:picLocks noGrp="1" noChangeAspect="1" noChangeArrowheads="1"/>
          </p:cNvPicPr>
          <p:nvPr>
            <p:ph sz="half" idx="4294967295"/>
          </p:nvPr>
        </p:nvPicPr>
        <p:blipFill>
          <a:blip r:embed="rId2" cstate="print">
            <a:extLst>
              <a:ext uri="{28A0092B-C50C-407E-A947-70E740481C1C}">
                <a14:useLocalDpi xmlns:a14="http://schemas.microsoft.com/office/drawing/2010/main" val="0"/>
              </a:ext>
            </a:extLst>
          </a:blip>
          <a:srcRect/>
          <a:stretch>
            <a:fillRect/>
          </a:stretch>
        </p:blipFill>
        <p:spPr>
          <a:xfrm>
            <a:off x="152400" y="1295400"/>
            <a:ext cx="8839200" cy="2684463"/>
          </a:xfr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r>
              <a:rPr lang="en-US" altLang="en-US"/>
              <a:t>Example 1</a:t>
            </a:r>
          </a:p>
        </p:txBody>
      </p:sp>
      <p:graphicFrame>
        <p:nvGraphicFramePr>
          <p:cNvPr id="6" name="Content Placeholder 3"/>
          <p:cNvGraphicFramePr>
            <a:graphicFrameLocks/>
          </p:cNvGraphicFramePr>
          <p:nvPr/>
        </p:nvGraphicFramePr>
        <p:xfrm>
          <a:off x="342900" y="1820863"/>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65685" name="TextBox 6"/>
          <p:cNvSpPr txBox="1">
            <a:spLocks noChangeArrowheads="1"/>
          </p:cNvSpPr>
          <p:nvPr/>
        </p:nvSpPr>
        <p:spPr bwMode="auto">
          <a:xfrm>
            <a:off x="2376488" y="1500188"/>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65686" name="TextBox 7"/>
          <p:cNvSpPr txBox="1">
            <a:spLocks noChangeArrowheads="1"/>
          </p:cNvSpPr>
          <p:nvPr/>
        </p:nvSpPr>
        <p:spPr bwMode="auto">
          <a:xfrm rot="-5400000">
            <a:off x="-491331" y="3677444"/>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graphicFrame>
        <p:nvGraphicFramePr>
          <p:cNvPr id="10" name="Table 9"/>
          <p:cNvGraphicFramePr>
            <a:graphicFrameLocks noGrp="1"/>
          </p:cNvGraphicFramePr>
          <p:nvPr/>
        </p:nvGraphicFramePr>
        <p:xfrm>
          <a:off x="5654675" y="1860550"/>
          <a:ext cx="3260725" cy="1692274"/>
        </p:xfrm>
        <a:graphic>
          <a:graphicData uri="http://schemas.openxmlformats.org/drawingml/2006/table">
            <a:tbl>
              <a:tblPr firstRow="1" bandRow="1">
                <a:tableStyleId>{EB344D84-9AFB-497E-A393-DC336BA19D2E}</a:tableStyleId>
              </a:tblPr>
              <a:tblGrid>
                <a:gridCol w="1151546">
                  <a:extLst>
                    <a:ext uri="{9D8B030D-6E8A-4147-A177-3AD203B41FA5}">
                      <a16:colId xmlns:a16="http://schemas.microsoft.com/office/drawing/2014/main" val="20000"/>
                    </a:ext>
                  </a:extLst>
                </a:gridCol>
                <a:gridCol w="1022271">
                  <a:extLst>
                    <a:ext uri="{9D8B030D-6E8A-4147-A177-3AD203B41FA5}">
                      <a16:colId xmlns:a16="http://schemas.microsoft.com/office/drawing/2014/main" val="20001"/>
                    </a:ext>
                  </a:extLst>
                </a:gridCol>
                <a:gridCol w="1086908">
                  <a:extLst>
                    <a:ext uri="{9D8B030D-6E8A-4147-A177-3AD203B41FA5}">
                      <a16:colId xmlns:a16="http://schemas.microsoft.com/office/drawing/2014/main" val="20002"/>
                    </a:ext>
                  </a:extLst>
                </a:gridCol>
              </a:tblGrid>
              <a:tr h="579337">
                <a:tc>
                  <a:txBody>
                    <a:bodyPr/>
                    <a:lstStyle/>
                    <a:p>
                      <a:r>
                        <a:rPr lang="en-US" sz="1600" b="1" baseline="0" dirty="0" err="1">
                          <a:solidFill>
                            <a:schemeClr val="tx1"/>
                          </a:solidFill>
                        </a:rPr>
                        <a:t>Itemsets</a:t>
                      </a:r>
                      <a:endParaRPr lang="en-US" sz="1600" b="1" dirty="0">
                        <a:solidFill>
                          <a:schemeClr val="tx1"/>
                        </a:solidFill>
                      </a:endParaRPr>
                    </a:p>
                  </a:txBody>
                  <a:tcPr marL="91453" marR="91453" marT="45737" marB="45737"/>
                </a:tc>
                <a:tc>
                  <a:txBody>
                    <a:bodyPr/>
                    <a:lstStyle/>
                    <a:p>
                      <a:r>
                        <a:rPr lang="en-US" sz="1600" b="1" dirty="0">
                          <a:solidFill>
                            <a:schemeClr val="tx1"/>
                          </a:solidFill>
                        </a:rPr>
                        <a:t>Support</a:t>
                      </a:r>
                    </a:p>
                    <a:p>
                      <a:r>
                        <a:rPr lang="en-US" sz="1600" b="1" dirty="0">
                          <a:solidFill>
                            <a:schemeClr val="tx1"/>
                          </a:solidFill>
                        </a:rPr>
                        <a:t>(counts)</a:t>
                      </a:r>
                    </a:p>
                  </a:txBody>
                  <a:tcPr marL="91453" marR="91453" marT="45737" marB="45737"/>
                </a:tc>
                <a:tc>
                  <a:txBody>
                    <a:bodyPr/>
                    <a:lstStyle/>
                    <a:p>
                      <a:r>
                        <a:rPr lang="en-US" sz="1600" b="1" dirty="0">
                          <a:solidFill>
                            <a:schemeClr val="tx1"/>
                          </a:solidFill>
                        </a:rPr>
                        <a:t>Closed </a:t>
                      </a:r>
                      <a:r>
                        <a:rPr lang="en-US" sz="1600" b="1" dirty="0" err="1">
                          <a:solidFill>
                            <a:schemeClr val="tx1"/>
                          </a:solidFill>
                        </a:rPr>
                        <a:t>itemsets</a:t>
                      </a:r>
                      <a:endParaRPr lang="en-US" sz="1600" b="1" dirty="0">
                        <a:solidFill>
                          <a:schemeClr val="tx1"/>
                        </a:solidFill>
                      </a:endParaRPr>
                    </a:p>
                  </a:txBody>
                  <a:tcPr marL="91453" marR="91453" marT="45737" marB="45737"/>
                </a:tc>
                <a:extLst>
                  <a:ext uri="{0D108BD9-81ED-4DB2-BD59-A6C34878D82A}">
                    <a16:rowId xmlns:a16="http://schemas.microsoft.com/office/drawing/2014/main" val="10000"/>
                  </a:ext>
                </a:extLst>
              </a:tr>
              <a:tr h="370979">
                <a:tc>
                  <a:txBody>
                    <a:bodyPr/>
                    <a:lstStyle/>
                    <a:p>
                      <a:r>
                        <a:rPr lang="en-US" sz="1800" b="0" dirty="0">
                          <a:solidFill>
                            <a:schemeClr val="tx1"/>
                          </a:solidFill>
                        </a:rPr>
                        <a:t>{C}</a:t>
                      </a:r>
                    </a:p>
                  </a:txBody>
                  <a:tcPr marL="91453" marR="91453" marT="45737" marB="45737"/>
                </a:tc>
                <a:tc>
                  <a:txBody>
                    <a:bodyPr/>
                    <a:lstStyle/>
                    <a:p>
                      <a:r>
                        <a:rPr lang="en-US" sz="1800" b="0" dirty="0">
                          <a:solidFill>
                            <a:schemeClr val="tx1"/>
                          </a:solidFill>
                        </a:rPr>
                        <a:t>3</a:t>
                      </a:r>
                    </a:p>
                  </a:txBody>
                  <a:tcPr marL="91453" marR="91453" marT="45737" marB="45737"/>
                </a:tc>
                <a:tc>
                  <a:txBody>
                    <a:bodyPr/>
                    <a:lstStyle/>
                    <a:p>
                      <a:endParaRPr lang="en-US" sz="1800" b="0" dirty="0">
                        <a:solidFill>
                          <a:schemeClr val="tx1"/>
                        </a:solidFill>
                      </a:endParaRPr>
                    </a:p>
                  </a:txBody>
                  <a:tcPr marL="91453" marR="91453" marT="45737" marB="45737"/>
                </a:tc>
                <a:extLst>
                  <a:ext uri="{0D108BD9-81ED-4DB2-BD59-A6C34878D82A}">
                    <a16:rowId xmlns:a16="http://schemas.microsoft.com/office/drawing/2014/main" val="10001"/>
                  </a:ext>
                </a:extLst>
              </a:tr>
              <a:tr h="370979">
                <a:tc>
                  <a:txBody>
                    <a:bodyPr/>
                    <a:lstStyle/>
                    <a:p>
                      <a:r>
                        <a:rPr lang="en-US" sz="1800" b="0" dirty="0">
                          <a:solidFill>
                            <a:schemeClr val="tx1"/>
                          </a:solidFill>
                        </a:rPr>
                        <a:t>{D}</a:t>
                      </a:r>
                    </a:p>
                  </a:txBody>
                  <a:tcPr marL="91453" marR="91453" marT="45737" marB="45737"/>
                </a:tc>
                <a:tc>
                  <a:txBody>
                    <a:bodyPr/>
                    <a:lstStyle/>
                    <a:p>
                      <a:r>
                        <a:rPr lang="en-US" sz="1800" b="0" dirty="0">
                          <a:solidFill>
                            <a:schemeClr val="tx1"/>
                          </a:solidFill>
                        </a:rPr>
                        <a:t>2</a:t>
                      </a:r>
                    </a:p>
                  </a:txBody>
                  <a:tcPr marL="91453" marR="91453" marT="45737" marB="45737"/>
                </a:tc>
                <a:tc>
                  <a:txBody>
                    <a:bodyPr/>
                    <a:lstStyle/>
                    <a:p>
                      <a:endParaRPr lang="en-US" sz="1800" b="0" dirty="0">
                        <a:solidFill>
                          <a:schemeClr val="tx1"/>
                        </a:solidFill>
                      </a:endParaRPr>
                    </a:p>
                  </a:txBody>
                  <a:tcPr marL="91453" marR="91453" marT="45737" marB="45737"/>
                </a:tc>
                <a:extLst>
                  <a:ext uri="{0D108BD9-81ED-4DB2-BD59-A6C34878D82A}">
                    <a16:rowId xmlns:a16="http://schemas.microsoft.com/office/drawing/2014/main" val="10002"/>
                  </a:ext>
                </a:extLst>
              </a:tr>
              <a:tr h="370979">
                <a:tc>
                  <a:txBody>
                    <a:bodyPr/>
                    <a:lstStyle/>
                    <a:p>
                      <a:r>
                        <a:rPr lang="en-US" sz="1800" b="0" dirty="0">
                          <a:solidFill>
                            <a:schemeClr val="tx1"/>
                          </a:solidFill>
                        </a:rPr>
                        <a:t>{C,D}</a:t>
                      </a:r>
                    </a:p>
                  </a:txBody>
                  <a:tcPr marL="91453" marR="91453" marT="45737" marB="45737"/>
                </a:tc>
                <a:tc>
                  <a:txBody>
                    <a:bodyPr/>
                    <a:lstStyle/>
                    <a:p>
                      <a:r>
                        <a:rPr lang="en-US" sz="1800" b="0" dirty="0">
                          <a:solidFill>
                            <a:schemeClr val="tx1"/>
                          </a:solidFill>
                        </a:rPr>
                        <a:t>2</a:t>
                      </a:r>
                    </a:p>
                  </a:txBody>
                  <a:tcPr marL="91453" marR="91453" marT="45737" marB="4573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b="0" dirty="0">
                        <a:solidFill>
                          <a:schemeClr val="tx1"/>
                        </a:solidFill>
                      </a:endParaRPr>
                    </a:p>
                  </a:txBody>
                  <a:tcPr marL="91453" marR="91453" marT="45737" marB="45737"/>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altLang="en-US"/>
              <a:t>Example 1</a:t>
            </a:r>
          </a:p>
        </p:txBody>
      </p:sp>
      <p:graphicFrame>
        <p:nvGraphicFramePr>
          <p:cNvPr id="6" name="Content Placeholder 3"/>
          <p:cNvGraphicFramePr>
            <a:graphicFrameLocks/>
          </p:cNvGraphicFramePr>
          <p:nvPr/>
        </p:nvGraphicFramePr>
        <p:xfrm>
          <a:off x="342900" y="1820863"/>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66709" name="TextBox 6"/>
          <p:cNvSpPr txBox="1">
            <a:spLocks noChangeArrowheads="1"/>
          </p:cNvSpPr>
          <p:nvPr/>
        </p:nvSpPr>
        <p:spPr bwMode="auto">
          <a:xfrm>
            <a:off x="2376488" y="1500188"/>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66710" name="TextBox 7"/>
          <p:cNvSpPr txBox="1">
            <a:spLocks noChangeArrowheads="1"/>
          </p:cNvSpPr>
          <p:nvPr/>
        </p:nvSpPr>
        <p:spPr bwMode="auto">
          <a:xfrm rot="-5400000">
            <a:off x="-491331" y="3677444"/>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graphicFrame>
        <p:nvGraphicFramePr>
          <p:cNvPr id="10" name="Table 9"/>
          <p:cNvGraphicFramePr>
            <a:graphicFrameLocks noGrp="1"/>
          </p:cNvGraphicFramePr>
          <p:nvPr/>
        </p:nvGraphicFramePr>
        <p:xfrm>
          <a:off x="5654675" y="1860550"/>
          <a:ext cx="3260725" cy="1692274"/>
        </p:xfrm>
        <a:graphic>
          <a:graphicData uri="http://schemas.openxmlformats.org/drawingml/2006/table">
            <a:tbl>
              <a:tblPr firstRow="1" bandRow="1">
                <a:tableStyleId>{EB344D84-9AFB-497E-A393-DC336BA19D2E}</a:tableStyleId>
              </a:tblPr>
              <a:tblGrid>
                <a:gridCol w="1151546">
                  <a:extLst>
                    <a:ext uri="{9D8B030D-6E8A-4147-A177-3AD203B41FA5}">
                      <a16:colId xmlns:a16="http://schemas.microsoft.com/office/drawing/2014/main" val="20000"/>
                    </a:ext>
                  </a:extLst>
                </a:gridCol>
                <a:gridCol w="1022271">
                  <a:extLst>
                    <a:ext uri="{9D8B030D-6E8A-4147-A177-3AD203B41FA5}">
                      <a16:colId xmlns:a16="http://schemas.microsoft.com/office/drawing/2014/main" val="20001"/>
                    </a:ext>
                  </a:extLst>
                </a:gridCol>
                <a:gridCol w="1086908">
                  <a:extLst>
                    <a:ext uri="{9D8B030D-6E8A-4147-A177-3AD203B41FA5}">
                      <a16:colId xmlns:a16="http://schemas.microsoft.com/office/drawing/2014/main" val="20002"/>
                    </a:ext>
                  </a:extLst>
                </a:gridCol>
              </a:tblGrid>
              <a:tr h="579337">
                <a:tc>
                  <a:txBody>
                    <a:bodyPr/>
                    <a:lstStyle/>
                    <a:p>
                      <a:r>
                        <a:rPr lang="en-US" sz="1600" baseline="0" dirty="0" err="1">
                          <a:solidFill>
                            <a:schemeClr val="tx1"/>
                          </a:solidFill>
                        </a:rPr>
                        <a:t>Itemsets</a:t>
                      </a:r>
                      <a:endParaRPr lang="en-US" sz="1600" dirty="0">
                        <a:solidFill>
                          <a:schemeClr val="tx1"/>
                        </a:solidFill>
                      </a:endParaRPr>
                    </a:p>
                  </a:txBody>
                  <a:tcPr marL="91453" marR="91453" marT="45737" marB="45737"/>
                </a:tc>
                <a:tc>
                  <a:txBody>
                    <a:bodyPr/>
                    <a:lstStyle/>
                    <a:p>
                      <a:r>
                        <a:rPr lang="en-US" sz="1600" dirty="0">
                          <a:solidFill>
                            <a:schemeClr val="tx1"/>
                          </a:solidFill>
                        </a:rPr>
                        <a:t>Support</a:t>
                      </a:r>
                    </a:p>
                    <a:p>
                      <a:r>
                        <a:rPr lang="en-US" sz="1600" dirty="0">
                          <a:solidFill>
                            <a:schemeClr val="tx1"/>
                          </a:solidFill>
                        </a:rPr>
                        <a:t>(counts)</a:t>
                      </a:r>
                    </a:p>
                  </a:txBody>
                  <a:tcPr marL="91453" marR="91453" marT="45737" marB="45737"/>
                </a:tc>
                <a:tc>
                  <a:txBody>
                    <a:bodyPr/>
                    <a:lstStyle/>
                    <a:p>
                      <a:r>
                        <a:rPr lang="en-US" sz="1600" dirty="0">
                          <a:solidFill>
                            <a:schemeClr val="tx1"/>
                          </a:solidFill>
                        </a:rPr>
                        <a:t>Closed </a:t>
                      </a:r>
                      <a:r>
                        <a:rPr lang="en-US" sz="1600" dirty="0" err="1">
                          <a:solidFill>
                            <a:schemeClr val="tx1"/>
                          </a:solidFill>
                        </a:rPr>
                        <a:t>itemsets</a:t>
                      </a:r>
                      <a:endParaRPr lang="en-US" sz="1600" dirty="0">
                        <a:solidFill>
                          <a:schemeClr val="tx1"/>
                        </a:solidFill>
                      </a:endParaRPr>
                    </a:p>
                  </a:txBody>
                  <a:tcPr marL="91453" marR="91453" marT="45737" marB="45737"/>
                </a:tc>
                <a:extLst>
                  <a:ext uri="{0D108BD9-81ED-4DB2-BD59-A6C34878D82A}">
                    <a16:rowId xmlns:a16="http://schemas.microsoft.com/office/drawing/2014/main" val="10000"/>
                  </a:ext>
                </a:extLst>
              </a:tr>
              <a:tr h="370979">
                <a:tc>
                  <a:txBody>
                    <a:bodyPr/>
                    <a:lstStyle/>
                    <a:p>
                      <a:r>
                        <a:rPr lang="en-US" sz="1800" b="1" dirty="0">
                          <a:solidFill>
                            <a:srgbClr val="FF0000"/>
                          </a:solidFill>
                        </a:rPr>
                        <a:t>{C}</a:t>
                      </a:r>
                    </a:p>
                  </a:txBody>
                  <a:tcPr marL="91453" marR="91453" marT="45737" marB="45737"/>
                </a:tc>
                <a:tc>
                  <a:txBody>
                    <a:bodyPr/>
                    <a:lstStyle/>
                    <a:p>
                      <a:r>
                        <a:rPr lang="en-US" sz="1800" b="1" dirty="0">
                          <a:solidFill>
                            <a:srgbClr val="FF0000"/>
                          </a:solidFill>
                        </a:rPr>
                        <a:t>3</a:t>
                      </a:r>
                    </a:p>
                  </a:txBody>
                  <a:tcPr marL="91453" marR="91453" marT="45737" marB="45737"/>
                </a:tc>
                <a:tc>
                  <a:txBody>
                    <a:bodyPr/>
                    <a:lstStyle/>
                    <a:p>
                      <a:r>
                        <a:rPr lang="en-US" sz="1800" b="1" dirty="0">
                          <a:solidFill>
                            <a:srgbClr val="FF0000"/>
                          </a:solidFill>
                          <a:sym typeface="Wingdings" panose="05000000000000000000" pitchFamily="2" charset="2"/>
                        </a:rPr>
                        <a:t></a:t>
                      </a:r>
                      <a:endParaRPr lang="en-US" sz="1800" b="1" dirty="0">
                        <a:solidFill>
                          <a:srgbClr val="FF0000"/>
                        </a:solidFill>
                      </a:endParaRPr>
                    </a:p>
                  </a:txBody>
                  <a:tcPr marL="91453" marR="91453" marT="45737" marB="45737"/>
                </a:tc>
                <a:extLst>
                  <a:ext uri="{0D108BD9-81ED-4DB2-BD59-A6C34878D82A}">
                    <a16:rowId xmlns:a16="http://schemas.microsoft.com/office/drawing/2014/main" val="10001"/>
                  </a:ext>
                </a:extLst>
              </a:tr>
              <a:tr h="370979">
                <a:tc>
                  <a:txBody>
                    <a:bodyPr/>
                    <a:lstStyle/>
                    <a:p>
                      <a:r>
                        <a:rPr lang="en-US" sz="1800" dirty="0"/>
                        <a:t>{D}</a:t>
                      </a:r>
                    </a:p>
                  </a:txBody>
                  <a:tcPr marL="91453" marR="91453" marT="45737" marB="45737"/>
                </a:tc>
                <a:tc>
                  <a:txBody>
                    <a:bodyPr/>
                    <a:lstStyle/>
                    <a:p>
                      <a:r>
                        <a:rPr lang="en-US" sz="1800" dirty="0"/>
                        <a:t>2</a:t>
                      </a:r>
                    </a:p>
                  </a:txBody>
                  <a:tcPr marL="91453" marR="91453" marT="45737" marB="45737"/>
                </a:tc>
                <a:tc>
                  <a:txBody>
                    <a:bodyPr/>
                    <a:lstStyle/>
                    <a:p>
                      <a:endParaRPr lang="en-US" sz="1800"/>
                    </a:p>
                  </a:txBody>
                  <a:tcPr marL="91453" marR="91453" marT="45737" marB="45737"/>
                </a:tc>
                <a:extLst>
                  <a:ext uri="{0D108BD9-81ED-4DB2-BD59-A6C34878D82A}">
                    <a16:rowId xmlns:a16="http://schemas.microsoft.com/office/drawing/2014/main" val="10002"/>
                  </a:ext>
                </a:extLst>
              </a:tr>
              <a:tr h="370979">
                <a:tc>
                  <a:txBody>
                    <a:bodyPr/>
                    <a:lstStyle/>
                    <a:p>
                      <a:r>
                        <a:rPr lang="en-US" sz="1800" b="1" dirty="0">
                          <a:solidFill>
                            <a:srgbClr val="FF0000"/>
                          </a:solidFill>
                        </a:rPr>
                        <a:t>{C,D}</a:t>
                      </a:r>
                    </a:p>
                  </a:txBody>
                  <a:tcPr marL="91453" marR="91453" marT="45737" marB="45737"/>
                </a:tc>
                <a:tc>
                  <a:txBody>
                    <a:bodyPr/>
                    <a:lstStyle/>
                    <a:p>
                      <a:r>
                        <a:rPr lang="en-US" sz="1800" b="1" dirty="0">
                          <a:solidFill>
                            <a:srgbClr val="FF0000"/>
                          </a:solidFill>
                        </a:rPr>
                        <a:t>2</a:t>
                      </a:r>
                    </a:p>
                  </a:txBody>
                  <a:tcPr marL="91453" marR="91453" marT="45737" marB="4573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FF0000"/>
                          </a:solidFill>
                          <a:sym typeface="Wingdings" panose="05000000000000000000" pitchFamily="2" charset="2"/>
                        </a:rPr>
                        <a:t></a:t>
                      </a:r>
                      <a:endParaRPr lang="en-US" sz="1800" b="1" dirty="0">
                        <a:solidFill>
                          <a:srgbClr val="FF0000"/>
                        </a:solidFill>
                      </a:endParaRPr>
                    </a:p>
                  </a:txBody>
                  <a:tcPr marL="91453" marR="91453" marT="45737" marB="45737"/>
                </a:tc>
                <a:extLst>
                  <a:ext uri="{0D108BD9-81ED-4DB2-BD59-A6C34878D82A}">
                    <a16:rowId xmlns:a16="http://schemas.microsoft.com/office/drawing/2014/main" val="10003"/>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altLang="en-US"/>
              <a:t>Example 2</a:t>
            </a:r>
          </a:p>
        </p:txBody>
      </p:sp>
      <p:graphicFrame>
        <p:nvGraphicFramePr>
          <p:cNvPr id="6" name="Content Placeholder 3"/>
          <p:cNvGraphicFramePr>
            <a:graphicFrameLocks/>
          </p:cNvGraphicFramePr>
          <p:nvPr/>
        </p:nvGraphicFramePr>
        <p:xfrm>
          <a:off x="342900" y="1820863"/>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67733" name="TextBox 6"/>
          <p:cNvSpPr txBox="1">
            <a:spLocks noChangeArrowheads="1"/>
          </p:cNvSpPr>
          <p:nvPr/>
        </p:nvSpPr>
        <p:spPr bwMode="auto">
          <a:xfrm>
            <a:off x="2376488" y="1500188"/>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67734" name="TextBox 7"/>
          <p:cNvSpPr txBox="1">
            <a:spLocks noChangeArrowheads="1"/>
          </p:cNvSpPr>
          <p:nvPr/>
        </p:nvSpPr>
        <p:spPr bwMode="auto">
          <a:xfrm rot="-5400000">
            <a:off x="-491331" y="3677444"/>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graphicFrame>
        <p:nvGraphicFramePr>
          <p:cNvPr id="10" name="Table 9"/>
          <p:cNvGraphicFramePr>
            <a:graphicFrameLocks noGrp="1"/>
          </p:cNvGraphicFramePr>
          <p:nvPr/>
        </p:nvGraphicFramePr>
        <p:xfrm>
          <a:off x="5654675" y="1860550"/>
          <a:ext cx="3184524" cy="3175000"/>
        </p:xfrm>
        <a:graphic>
          <a:graphicData uri="http://schemas.openxmlformats.org/drawingml/2006/table">
            <a:tbl>
              <a:tblPr firstRow="1" bandRow="1">
                <a:tableStyleId>{EB344D84-9AFB-497E-A393-DC336BA19D2E}</a:tableStyleId>
              </a:tblPr>
              <a:tblGrid>
                <a:gridCol w="1061508">
                  <a:extLst>
                    <a:ext uri="{9D8B030D-6E8A-4147-A177-3AD203B41FA5}">
                      <a16:colId xmlns:a16="http://schemas.microsoft.com/office/drawing/2014/main" val="20000"/>
                    </a:ext>
                  </a:extLst>
                </a:gridCol>
                <a:gridCol w="1061508">
                  <a:extLst>
                    <a:ext uri="{9D8B030D-6E8A-4147-A177-3AD203B41FA5}">
                      <a16:colId xmlns:a16="http://schemas.microsoft.com/office/drawing/2014/main" val="20001"/>
                    </a:ext>
                  </a:extLst>
                </a:gridCol>
                <a:gridCol w="1061508">
                  <a:extLst>
                    <a:ext uri="{9D8B030D-6E8A-4147-A177-3AD203B41FA5}">
                      <a16:colId xmlns:a16="http://schemas.microsoft.com/office/drawing/2014/main" val="20002"/>
                    </a:ext>
                  </a:extLst>
                </a:gridCol>
              </a:tblGrid>
              <a:tr h="330926">
                <a:tc>
                  <a:txBody>
                    <a:bodyPr/>
                    <a:lstStyle/>
                    <a:p>
                      <a:r>
                        <a:rPr lang="en-US" sz="1600" baseline="0" dirty="0" err="1">
                          <a:solidFill>
                            <a:schemeClr val="tx1"/>
                          </a:solidFill>
                        </a:rPr>
                        <a:t>Itemsets</a:t>
                      </a:r>
                      <a:endParaRPr lang="en-US" sz="1600" dirty="0">
                        <a:solidFill>
                          <a:schemeClr val="tx1"/>
                        </a:solidFill>
                      </a:endParaRPr>
                    </a:p>
                  </a:txBody>
                  <a:tcPr marL="91453" marR="91453"/>
                </a:tc>
                <a:tc>
                  <a:txBody>
                    <a:bodyPr/>
                    <a:lstStyle/>
                    <a:p>
                      <a:r>
                        <a:rPr lang="en-US" sz="1600" dirty="0">
                          <a:solidFill>
                            <a:schemeClr val="tx1"/>
                          </a:solidFill>
                        </a:rPr>
                        <a:t>Support</a:t>
                      </a:r>
                    </a:p>
                    <a:p>
                      <a:r>
                        <a:rPr lang="en-US" sz="1600" dirty="0">
                          <a:solidFill>
                            <a:schemeClr val="tx1"/>
                          </a:solidFill>
                        </a:rPr>
                        <a:t>(counts)</a:t>
                      </a:r>
                    </a:p>
                  </a:txBody>
                  <a:tcPr marL="91453" marR="91453"/>
                </a:tc>
                <a:tc>
                  <a:txBody>
                    <a:bodyPr/>
                    <a:lstStyle/>
                    <a:p>
                      <a:r>
                        <a:rPr lang="en-US" sz="1600" dirty="0">
                          <a:solidFill>
                            <a:schemeClr val="tx1"/>
                          </a:solidFill>
                        </a:rPr>
                        <a:t>Closed </a:t>
                      </a:r>
                      <a:r>
                        <a:rPr lang="en-US" sz="1600" dirty="0" err="1">
                          <a:solidFill>
                            <a:schemeClr val="tx1"/>
                          </a:solidFill>
                        </a:rPr>
                        <a:t>itemsets</a:t>
                      </a:r>
                      <a:endParaRPr lang="en-US" sz="1600" dirty="0">
                        <a:solidFill>
                          <a:schemeClr val="tx1"/>
                        </a:solidFill>
                      </a:endParaRPr>
                    </a:p>
                  </a:txBody>
                  <a:tcPr marL="91453" marR="91453"/>
                </a:tc>
                <a:extLst>
                  <a:ext uri="{0D108BD9-81ED-4DB2-BD59-A6C34878D82A}">
                    <a16:rowId xmlns:a16="http://schemas.microsoft.com/office/drawing/2014/main" val="10000"/>
                  </a:ext>
                </a:extLst>
              </a:tr>
              <a:tr h="370840">
                <a:tc>
                  <a:txBody>
                    <a:bodyPr/>
                    <a:lstStyle/>
                    <a:p>
                      <a:r>
                        <a:rPr lang="en-US" b="0" dirty="0">
                          <a:solidFill>
                            <a:schemeClr val="tx1"/>
                          </a:solidFill>
                        </a:rPr>
                        <a:t>{C}</a:t>
                      </a:r>
                    </a:p>
                  </a:txBody>
                  <a:tcPr marL="91453" marR="91453"/>
                </a:tc>
                <a:tc>
                  <a:txBody>
                    <a:bodyPr/>
                    <a:lstStyle/>
                    <a:p>
                      <a:r>
                        <a:rPr lang="en-US" b="0" dirty="0">
                          <a:solidFill>
                            <a:schemeClr val="tx1"/>
                          </a:solidFill>
                        </a:rPr>
                        <a:t>3</a:t>
                      </a:r>
                    </a:p>
                  </a:txBody>
                  <a:tcPr marL="91453" marR="91453"/>
                </a:tc>
                <a:tc>
                  <a:txBody>
                    <a:bodyPr/>
                    <a:lstStyle/>
                    <a:p>
                      <a:endParaRPr lang="en-US" b="0" dirty="0">
                        <a:solidFill>
                          <a:schemeClr val="tx1"/>
                        </a:solidFill>
                      </a:endParaRPr>
                    </a:p>
                  </a:txBody>
                  <a:tcPr marL="91453" marR="91453"/>
                </a:tc>
                <a:extLst>
                  <a:ext uri="{0D108BD9-81ED-4DB2-BD59-A6C34878D82A}">
                    <a16:rowId xmlns:a16="http://schemas.microsoft.com/office/drawing/2014/main" val="10001"/>
                  </a:ext>
                </a:extLst>
              </a:tr>
              <a:tr h="370840">
                <a:tc>
                  <a:txBody>
                    <a:bodyPr/>
                    <a:lstStyle/>
                    <a:p>
                      <a:r>
                        <a:rPr lang="en-US" b="0" dirty="0">
                          <a:solidFill>
                            <a:schemeClr val="tx1"/>
                          </a:solidFill>
                        </a:rPr>
                        <a:t>{D}</a:t>
                      </a:r>
                    </a:p>
                  </a:txBody>
                  <a:tcPr marL="91453" marR="91453"/>
                </a:tc>
                <a:tc>
                  <a:txBody>
                    <a:bodyPr/>
                    <a:lstStyle/>
                    <a:p>
                      <a:r>
                        <a:rPr lang="en-US" b="0" dirty="0">
                          <a:solidFill>
                            <a:schemeClr val="tx1"/>
                          </a:solidFill>
                        </a:rPr>
                        <a:t>2</a:t>
                      </a:r>
                    </a:p>
                  </a:txBody>
                  <a:tcPr marL="91453" marR="91453"/>
                </a:tc>
                <a:tc>
                  <a:txBody>
                    <a:bodyPr/>
                    <a:lstStyle/>
                    <a:p>
                      <a:endParaRPr lang="en-US" b="0">
                        <a:solidFill>
                          <a:schemeClr val="tx1"/>
                        </a:solidFill>
                      </a:endParaRPr>
                    </a:p>
                  </a:txBody>
                  <a:tcPr marL="91453" marR="91453"/>
                </a:tc>
                <a:extLst>
                  <a:ext uri="{0D108BD9-81ED-4DB2-BD59-A6C34878D82A}">
                    <a16:rowId xmlns:a16="http://schemas.microsoft.com/office/drawing/2014/main" val="10002"/>
                  </a:ext>
                </a:extLst>
              </a:tr>
              <a:tr h="370840">
                <a:tc>
                  <a:txBody>
                    <a:bodyPr/>
                    <a:lstStyle/>
                    <a:p>
                      <a:r>
                        <a:rPr lang="en-US" b="0" dirty="0">
                          <a:solidFill>
                            <a:schemeClr val="tx1"/>
                          </a:solidFill>
                        </a:rPr>
                        <a:t>{E}</a:t>
                      </a:r>
                    </a:p>
                  </a:txBody>
                  <a:tcPr marL="91453" marR="91453"/>
                </a:tc>
                <a:tc>
                  <a:txBody>
                    <a:bodyPr/>
                    <a:lstStyle/>
                    <a:p>
                      <a:r>
                        <a:rPr lang="en-US" b="0" dirty="0">
                          <a:solidFill>
                            <a:schemeClr val="tx1"/>
                          </a:solidFill>
                        </a:rPr>
                        <a:t>2</a:t>
                      </a: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3"/>
                  </a:ext>
                </a:extLst>
              </a:tr>
              <a:tr h="370840">
                <a:tc>
                  <a:txBody>
                    <a:bodyPr/>
                    <a:lstStyle/>
                    <a:p>
                      <a:r>
                        <a:rPr lang="en-US" b="0" dirty="0">
                          <a:solidFill>
                            <a:schemeClr val="tx1"/>
                          </a:solidFill>
                        </a:rPr>
                        <a:t>{C,D}</a:t>
                      </a:r>
                    </a:p>
                  </a:txBody>
                  <a:tcPr marL="91453" marR="91453"/>
                </a:tc>
                <a:tc>
                  <a:txBody>
                    <a:bodyPr/>
                    <a:lstStyle/>
                    <a:p>
                      <a:r>
                        <a:rPr lang="en-US" b="0" dirty="0">
                          <a:solidFill>
                            <a:schemeClr val="tx1"/>
                          </a:solidFill>
                        </a:rPr>
                        <a:t>2</a:t>
                      </a: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4"/>
                  </a:ext>
                </a:extLst>
              </a:tr>
              <a:tr h="370840">
                <a:tc>
                  <a:txBody>
                    <a:bodyPr/>
                    <a:lstStyle/>
                    <a:p>
                      <a:r>
                        <a:rPr lang="en-US" b="0" dirty="0">
                          <a:solidFill>
                            <a:schemeClr val="tx1"/>
                          </a:solidFill>
                        </a:rPr>
                        <a:t>{C,E}</a:t>
                      </a:r>
                    </a:p>
                  </a:txBody>
                  <a:tcPr marL="91453" marR="91453"/>
                </a:tc>
                <a:tc>
                  <a:txBody>
                    <a:bodyPr/>
                    <a:lstStyle/>
                    <a:p>
                      <a:r>
                        <a:rPr lang="en-US" b="0" dirty="0">
                          <a:solidFill>
                            <a:schemeClr val="tx1"/>
                          </a:solidFill>
                        </a:rPr>
                        <a:t>2</a:t>
                      </a: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5"/>
                  </a:ext>
                </a:extLst>
              </a:tr>
              <a:tr h="370840">
                <a:tc>
                  <a:txBody>
                    <a:bodyPr/>
                    <a:lstStyle/>
                    <a:p>
                      <a:r>
                        <a:rPr lang="en-US" b="0" dirty="0">
                          <a:solidFill>
                            <a:schemeClr val="tx1"/>
                          </a:solidFill>
                        </a:rPr>
                        <a:t>{D,E}</a:t>
                      </a:r>
                    </a:p>
                  </a:txBody>
                  <a:tcPr marL="91453" marR="91453"/>
                </a:tc>
                <a:tc>
                  <a:txBody>
                    <a:bodyPr/>
                    <a:lstStyle/>
                    <a:p>
                      <a:r>
                        <a:rPr lang="en-US" b="0" dirty="0">
                          <a:solidFill>
                            <a:schemeClr val="tx1"/>
                          </a:solidFill>
                        </a:rPr>
                        <a:t>2</a:t>
                      </a: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6"/>
                  </a:ext>
                </a:extLst>
              </a:tr>
              <a:tr h="370840">
                <a:tc>
                  <a:txBody>
                    <a:bodyPr/>
                    <a:lstStyle/>
                    <a:p>
                      <a:r>
                        <a:rPr lang="en-US" b="0" dirty="0">
                          <a:solidFill>
                            <a:schemeClr val="tx1"/>
                          </a:solidFill>
                        </a:rPr>
                        <a:t>{C,D,E}</a:t>
                      </a:r>
                    </a:p>
                  </a:txBody>
                  <a:tcPr marL="91453" marR="91453"/>
                </a:tc>
                <a:tc>
                  <a:txBody>
                    <a:bodyPr/>
                    <a:lstStyle/>
                    <a:p>
                      <a:r>
                        <a:rPr lang="en-US" b="0" dirty="0">
                          <a:solidFill>
                            <a:schemeClr val="tx1"/>
                          </a:solidFill>
                        </a:rPr>
                        <a:t>2</a:t>
                      </a: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7"/>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US" altLang="en-US"/>
              <a:t>Example 2</a:t>
            </a:r>
          </a:p>
        </p:txBody>
      </p:sp>
      <p:graphicFrame>
        <p:nvGraphicFramePr>
          <p:cNvPr id="6" name="Content Placeholder 3"/>
          <p:cNvGraphicFramePr>
            <a:graphicFrameLocks/>
          </p:cNvGraphicFramePr>
          <p:nvPr/>
        </p:nvGraphicFramePr>
        <p:xfrm>
          <a:off x="342900" y="1820863"/>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68757" name="TextBox 6"/>
          <p:cNvSpPr txBox="1">
            <a:spLocks noChangeArrowheads="1"/>
          </p:cNvSpPr>
          <p:nvPr/>
        </p:nvSpPr>
        <p:spPr bwMode="auto">
          <a:xfrm>
            <a:off x="2376488" y="1500188"/>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68758" name="TextBox 7"/>
          <p:cNvSpPr txBox="1">
            <a:spLocks noChangeArrowheads="1"/>
          </p:cNvSpPr>
          <p:nvPr/>
        </p:nvSpPr>
        <p:spPr bwMode="auto">
          <a:xfrm rot="-5400000">
            <a:off x="-491331" y="3677444"/>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graphicFrame>
        <p:nvGraphicFramePr>
          <p:cNvPr id="10" name="Table 9"/>
          <p:cNvGraphicFramePr>
            <a:graphicFrameLocks noGrp="1"/>
          </p:cNvGraphicFramePr>
          <p:nvPr/>
        </p:nvGraphicFramePr>
        <p:xfrm>
          <a:off x="5654675" y="1860550"/>
          <a:ext cx="3184524" cy="3175000"/>
        </p:xfrm>
        <a:graphic>
          <a:graphicData uri="http://schemas.openxmlformats.org/drawingml/2006/table">
            <a:tbl>
              <a:tblPr firstRow="1" bandRow="1">
                <a:tableStyleId>{EB344D84-9AFB-497E-A393-DC336BA19D2E}</a:tableStyleId>
              </a:tblPr>
              <a:tblGrid>
                <a:gridCol w="1061508">
                  <a:extLst>
                    <a:ext uri="{9D8B030D-6E8A-4147-A177-3AD203B41FA5}">
                      <a16:colId xmlns:a16="http://schemas.microsoft.com/office/drawing/2014/main" val="20000"/>
                    </a:ext>
                  </a:extLst>
                </a:gridCol>
                <a:gridCol w="1061508">
                  <a:extLst>
                    <a:ext uri="{9D8B030D-6E8A-4147-A177-3AD203B41FA5}">
                      <a16:colId xmlns:a16="http://schemas.microsoft.com/office/drawing/2014/main" val="20001"/>
                    </a:ext>
                  </a:extLst>
                </a:gridCol>
                <a:gridCol w="1061508">
                  <a:extLst>
                    <a:ext uri="{9D8B030D-6E8A-4147-A177-3AD203B41FA5}">
                      <a16:colId xmlns:a16="http://schemas.microsoft.com/office/drawing/2014/main" val="20002"/>
                    </a:ext>
                  </a:extLst>
                </a:gridCol>
              </a:tblGrid>
              <a:tr h="330926">
                <a:tc>
                  <a:txBody>
                    <a:bodyPr/>
                    <a:lstStyle/>
                    <a:p>
                      <a:r>
                        <a:rPr lang="en-US" sz="1600" baseline="0" dirty="0" err="1">
                          <a:solidFill>
                            <a:schemeClr val="tx1"/>
                          </a:solidFill>
                        </a:rPr>
                        <a:t>Itemsets</a:t>
                      </a:r>
                      <a:endParaRPr lang="en-US" sz="1600" dirty="0">
                        <a:solidFill>
                          <a:schemeClr val="tx1"/>
                        </a:solidFill>
                      </a:endParaRPr>
                    </a:p>
                  </a:txBody>
                  <a:tcPr marL="91453" marR="91453"/>
                </a:tc>
                <a:tc>
                  <a:txBody>
                    <a:bodyPr/>
                    <a:lstStyle/>
                    <a:p>
                      <a:r>
                        <a:rPr lang="en-US" sz="1600" dirty="0">
                          <a:solidFill>
                            <a:schemeClr val="tx1"/>
                          </a:solidFill>
                        </a:rPr>
                        <a:t>Support</a:t>
                      </a:r>
                    </a:p>
                    <a:p>
                      <a:r>
                        <a:rPr lang="en-US" sz="1600" dirty="0">
                          <a:solidFill>
                            <a:schemeClr val="tx1"/>
                          </a:solidFill>
                        </a:rPr>
                        <a:t>(counts)</a:t>
                      </a:r>
                    </a:p>
                  </a:txBody>
                  <a:tcPr marL="91453" marR="91453"/>
                </a:tc>
                <a:tc>
                  <a:txBody>
                    <a:bodyPr/>
                    <a:lstStyle/>
                    <a:p>
                      <a:r>
                        <a:rPr lang="en-US" sz="1600" dirty="0">
                          <a:solidFill>
                            <a:schemeClr val="tx1"/>
                          </a:solidFill>
                        </a:rPr>
                        <a:t>Closed </a:t>
                      </a:r>
                      <a:r>
                        <a:rPr lang="en-US" sz="1600" dirty="0" err="1">
                          <a:solidFill>
                            <a:schemeClr val="tx1"/>
                          </a:solidFill>
                        </a:rPr>
                        <a:t>itemsets</a:t>
                      </a:r>
                      <a:endParaRPr lang="en-US" sz="1600" dirty="0">
                        <a:solidFill>
                          <a:schemeClr val="tx1"/>
                        </a:solidFill>
                      </a:endParaRPr>
                    </a:p>
                  </a:txBody>
                  <a:tcPr marL="91453" marR="91453"/>
                </a:tc>
                <a:extLst>
                  <a:ext uri="{0D108BD9-81ED-4DB2-BD59-A6C34878D82A}">
                    <a16:rowId xmlns:a16="http://schemas.microsoft.com/office/drawing/2014/main" val="10000"/>
                  </a:ext>
                </a:extLst>
              </a:tr>
              <a:tr h="370840">
                <a:tc>
                  <a:txBody>
                    <a:bodyPr/>
                    <a:lstStyle/>
                    <a:p>
                      <a:r>
                        <a:rPr lang="en-US" b="1" dirty="0">
                          <a:solidFill>
                            <a:srgbClr val="FF0000"/>
                          </a:solidFill>
                        </a:rPr>
                        <a:t>{C}</a:t>
                      </a:r>
                    </a:p>
                  </a:txBody>
                  <a:tcPr marL="91453" marR="91453"/>
                </a:tc>
                <a:tc>
                  <a:txBody>
                    <a:bodyPr/>
                    <a:lstStyle/>
                    <a:p>
                      <a:r>
                        <a:rPr lang="en-US" b="1" dirty="0">
                          <a:solidFill>
                            <a:srgbClr val="FF0000"/>
                          </a:solidFill>
                        </a:rPr>
                        <a:t>3</a:t>
                      </a:r>
                    </a:p>
                  </a:txBody>
                  <a:tcPr marL="91453" marR="91453"/>
                </a:tc>
                <a:tc>
                  <a:txBody>
                    <a:bodyPr/>
                    <a:lstStyle/>
                    <a:p>
                      <a:r>
                        <a:rPr lang="en-US" b="1" dirty="0">
                          <a:solidFill>
                            <a:srgbClr val="FF0000"/>
                          </a:solidFill>
                          <a:sym typeface="Wingdings" panose="05000000000000000000" pitchFamily="2" charset="2"/>
                        </a:rPr>
                        <a:t></a:t>
                      </a:r>
                      <a:endParaRPr lang="en-US" b="1" dirty="0">
                        <a:solidFill>
                          <a:srgbClr val="FF0000"/>
                        </a:solidFill>
                      </a:endParaRPr>
                    </a:p>
                  </a:txBody>
                  <a:tcPr marL="91453" marR="91453"/>
                </a:tc>
                <a:extLst>
                  <a:ext uri="{0D108BD9-81ED-4DB2-BD59-A6C34878D82A}">
                    <a16:rowId xmlns:a16="http://schemas.microsoft.com/office/drawing/2014/main" val="10001"/>
                  </a:ext>
                </a:extLst>
              </a:tr>
              <a:tr h="370840">
                <a:tc>
                  <a:txBody>
                    <a:bodyPr/>
                    <a:lstStyle/>
                    <a:p>
                      <a:r>
                        <a:rPr lang="en-US" dirty="0"/>
                        <a:t>{D}</a:t>
                      </a:r>
                    </a:p>
                  </a:txBody>
                  <a:tcPr marL="91453" marR="91453"/>
                </a:tc>
                <a:tc>
                  <a:txBody>
                    <a:bodyPr/>
                    <a:lstStyle/>
                    <a:p>
                      <a:r>
                        <a:rPr lang="en-US" dirty="0"/>
                        <a:t>2</a:t>
                      </a:r>
                    </a:p>
                  </a:txBody>
                  <a:tcPr marL="91453" marR="91453"/>
                </a:tc>
                <a:tc>
                  <a:txBody>
                    <a:bodyPr/>
                    <a:lstStyle/>
                    <a:p>
                      <a:endParaRPr lang="en-US"/>
                    </a:p>
                  </a:txBody>
                  <a:tcPr marL="91453" marR="91453"/>
                </a:tc>
                <a:extLst>
                  <a:ext uri="{0D108BD9-81ED-4DB2-BD59-A6C34878D82A}">
                    <a16:rowId xmlns:a16="http://schemas.microsoft.com/office/drawing/2014/main" val="10002"/>
                  </a:ext>
                </a:extLst>
              </a:tr>
              <a:tr h="370840">
                <a:tc>
                  <a:txBody>
                    <a:bodyPr/>
                    <a:lstStyle/>
                    <a:p>
                      <a:r>
                        <a:rPr lang="en-US" dirty="0"/>
                        <a:t>{E}</a:t>
                      </a:r>
                      <a:endParaRPr lang="en-US" b="0" dirty="0">
                        <a:solidFill>
                          <a:schemeClr val="tx1"/>
                        </a:solidFill>
                      </a:endParaRPr>
                    </a:p>
                  </a:txBody>
                  <a:tcPr marL="91453" marR="91453"/>
                </a:tc>
                <a:tc>
                  <a:txBody>
                    <a:bodyPr/>
                    <a:lstStyle/>
                    <a:p>
                      <a:r>
                        <a:rPr lang="en-US" dirty="0"/>
                        <a:t>2</a:t>
                      </a:r>
                      <a:endParaRPr lang="en-US" b="0" dirty="0">
                        <a:solidFill>
                          <a:schemeClr val="tx1"/>
                        </a:solidFill>
                      </a:endParaRP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3"/>
                  </a:ext>
                </a:extLst>
              </a:tr>
              <a:tr h="370840">
                <a:tc>
                  <a:txBody>
                    <a:bodyPr/>
                    <a:lstStyle/>
                    <a:p>
                      <a:r>
                        <a:rPr lang="en-US" dirty="0"/>
                        <a:t>{C,D}</a:t>
                      </a:r>
                      <a:endParaRPr lang="en-US" b="0" dirty="0">
                        <a:solidFill>
                          <a:schemeClr val="tx1"/>
                        </a:solidFill>
                      </a:endParaRPr>
                    </a:p>
                  </a:txBody>
                  <a:tcPr marL="91453" marR="91453"/>
                </a:tc>
                <a:tc>
                  <a:txBody>
                    <a:bodyPr/>
                    <a:lstStyle/>
                    <a:p>
                      <a:r>
                        <a:rPr lang="en-US" dirty="0"/>
                        <a:t>2</a:t>
                      </a:r>
                      <a:endParaRPr lang="en-US" b="0" dirty="0">
                        <a:solidFill>
                          <a:schemeClr val="tx1"/>
                        </a:solidFill>
                      </a:endParaRP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4"/>
                  </a:ext>
                </a:extLst>
              </a:tr>
              <a:tr h="370840">
                <a:tc>
                  <a:txBody>
                    <a:bodyPr/>
                    <a:lstStyle/>
                    <a:p>
                      <a:r>
                        <a:rPr lang="en-US" dirty="0"/>
                        <a:t>{C,E}</a:t>
                      </a:r>
                      <a:endParaRPr lang="en-US" b="0" dirty="0">
                        <a:solidFill>
                          <a:schemeClr val="tx1"/>
                        </a:solidFill>
                      </a:endParaRPr>
                    </a:p>
                  </a:txBody>
                  <a:tcPr marL="91453" marR="91453"/>
                </a:tc>
                <a:tc>
                  <a:txBody>
                    <a:bodyPr/>
                    <a:lstStyle/>
                    <a:p>
                      <a:r>
                        <a:rPr lang="en-US" dirty="0"/>
                        <a:t>2</a:t>
                      </a:r>
                      <a:endParaRPr lang="en-US" b="0" dirty="0">
                        <a:solidFill>
                          <a:schemeClr val="tx1"/>
                        </a:solidFill>
                      </a:endParaRP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5"/>
                  </a:ext>
                </a:extLst>
              </a:tr>
              <a:tr h="370840">
                <a:tc>
                  <a:txBody>
                    <a:bodyPr/>
                    <a:lstStyle/>
                    <a:p>
                      <a:r>
                        <a:rPr lang="en-US" dirty="0"/>
                        <a:t>{D,E}</a:t>
                      </a:r>
                      <a:endParaRPr lang="en-US" b="0" dirty="0">
                        <a:solidFill>
                          <a:schemeClr val="tx1"/>
                        </a:solidFill>
                      </a:endParaRPr>
                    </a:p>
                  </a:txBody>
                  <a:tcPr marL="91453" marR="91453"/>
                </a:tc>
                <a:tc>
                  <a:txBody>
                    <a:bodyPr/>
                    <a:lstStyle/>
                    <a:p>
                      <a:r>
                        <a:rPr lang="en-US" dirty="0"/>
                        <a:t>2</a:t>
                      </a:r>
                      <a:endParaRPr lang="en-US" b="0" dirty="0">
                        <a:solidFill>
                          <a:schemeClr val="tx1"/>
                        </a:solidFill>
                      </a:endParaRP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6"/>
                  </a:ext>
                </a:extLst>
              </a:tr>
              <a:tr h="370840">
                <a:tc>
                  <a:txBody>
                    <a:bodyPr/>
                    <a:lstStyle/>
                    <a:p>
                      <a:r>
                        <a:rPr lang="en-US" b="1" dirty="0">
                          <a:solidFill>
                            <a:srgbClr val="FF0000"/>
                          </a:solidFill>
                        </a:rPr>
                        <a:t>{C,D,E}</a:t>
                      </a:r>
                    </a:p>
                  </a:txBody>
                  <a:tcPr marL="91453" marR="91453"/>
                </a:tc>
                <a:tc>
                  <a:txBody>
                    <a:bodyPr/>
                    <a:lstStyle/>
                    <a:p>
                      <a:r>
                        <a:rPr lang="en-US" b="1" dirty="0">
                          <a:solidFill>
                            <a:srgbClr val="FF0000"/>
                          </a:solidFill>
                        </a:rPr>
                        <a:t>2</a:t>
                      </a: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FF0000"/>
                          </a:solidFill>
                          <a:sym typeface="Wingdings" panose="05000000000000000000" pitchFamily="2" charset="2"/>
                        </a:rPr>
                        <a:t></a:t>
                      </a:r>
                      <a:endParaRPr lang="en-US" b="1" dirty="0">
                        <a:solidFill>
                          <a:srgbClr val="FF0000"/>
                        </a:solidFill>
                      </a:endParaRPr>
                    </a:p>
                  </a:txBody>
                  <a:tcPr marL="91453" marR="91453"/>
                </a:tc>
                <a:extLst>
                  <a:ext uri="{0D108BD9-81ED-4DB2-BD59-A6C34878D82A}">
                    <a16:rowId xmlns:a16="http://schemas.microsoft.com/office/drawing/2014/main" val="10007"/>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r>
              <a:rPr lang="en-US" altLang="en-US"/>
              <a:t>Example 3</a:t>
            </a:r>
          </a:p>
        </p:txBody>
      </p:sp>
      <p:graphicFrame>
        <p:nvGraphicFramePr>
          <p:cNvPr id="6" name="Content Placeholder 3"/>
          <p:cNvGraphicFramePr>
            <a:graphicFrameLocks/>
          </p:cNvGraphicFramePr>
          <p:nvPr/>
        </p:nvGraphicFramePr>
        <p:xfrm>
          <a:off x="342900" y="1820863"/>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69781" name="TextBox 6"/>
          <p:cNvSpPr txBox="1">
            <a:spLocks noChangeArrowheads="1"/>
          </p:cNvSpPr>
          <p:nvPr/>
        </p:nvSpPr>
        <p:spPr bwMode="auto">
          <a:xfrm>
            <a:off x="2376488" y="1500188"/>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69782" name="TextBox 7"/>
          <p:cNvSpPr txBox="1">
            <a:spLocks noChangeArrowheads="1"/>
          </p:cNvSpPr>
          <p:nvPr/>
        </p:nvSpPr>
        <p:spPr bwMode="auto">
          <a:xfrm rot="-5400000">
            <a:off x="-491331" y="3677444"/>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
        <p:nvSpPr>
          <p:cNvPr id="69783" name="TextBox 2"/>
          <p:cNvSpPr txBox="1">
            <a:spLocks noChangeArrowheads="1"/>
          </p:cNvSpPr>
          <p:nvPr/>
        </p:nvSpPr>
        <p:spPr bwMode="auto">
          <a:xfrm>
            <a:off x="5910263" y="1870075"/>
            <a:ext cx="3111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Closed itemsets: {C,D,E,F}, {C,F}</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US" altLang="en-US"/>
              <a:t>Example 4</a:t>
            </a:r>
          </a:p>
        </p:txBody>
      </p:sp>
      <p:graphicFrame>
        <p:nvGraphicFramePr>
          <p:cNvPr id="6" name="Content Placeholder 3"/>
          <p:cNvGraphicFramePr>
            <a:graphicFrameLocks/>
          </p:cNvGraphicFramePr>
          <p:nvPr/>
        </p:nvGraphicFramePr>
        <p:xfrm>
          <a:off x="342900" y="1820863"/>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70805" name="TextBox 6"/>
          <p:cNvSpPr txBox="1">
            <a:spLocks noChangeArrowheads="1"/>
          </p:cNvSpPr>
          <p:nvPr/>
        </p:nvSpPr>
        <p:spPr bwMode="auto">
          <a:xfrm>
            <a:off x="2376488" y="1500188"/>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70806" name="TextBox 7"/>
          <p:cNvSpPr txBox="1">
            <a:spLocks noChangeArrowheads="1"/>
          </p:cNvSpPr>
          <p:nvPr/>
        </p:nvSpPr>
        <p:spPr bwMode="auto">
          <a:xfrm rot="-5400000">
            <a:off x="-491331" y="3677444"/>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
        <p:nvSpPr>
          <p:cNvPr id="70807" name="TextBox 8"/>
          <p:cNvSpPr txBox="1">
            <a:spLocks noChangeArrowheads="1"/>
          </p:cNvSpPr>
          <p:nvPr/>
        </p:nvSpPr>
        <p:spPr bwMode="auto">
          <a:xfrm>
            <a:off x="5691188" y="1879600"/>
            <a:ext cx="3308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Closed itemsets: {C,D,E,F}, {C}, {F}</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381000" y="228600"/>
            <a:ext cx="7543800" cy="808038"/>
          </a:xfrm>
        </p:spPr>
        <p:txBody>
          <a:bodyPr/>
          <a:lstStyle/>
          <a:p>
            <a:r>
              <a:rPr lang="en-US" altLang="en-US" dirty="0"/>
              <a:t>Maximal </a:t>
            </a:r>
            <a:r>
              <a:rPr lang="en-US" altLang="en-US" dirty="0" err="1"/>
              <a:t>vs</a:t>
            </a:r>
            <a:r>
              <a:rPr lang="en-US" altLang="en-US" dirty="0"/>
              <a:t> Closed </a:t>
            </a:r>
            <a:r>
              <a:rPr lang="en-US" altLang="en-US" dirty="0" err="1"/>
              <a:t>Itemsets</a:t>
            </a:r>
            <a:endParaRPr lang="en-US" altLang="en-US" dirty="0"/>
          </a:p>
        </p:txBody>
      </p:sp>
      <p:graphicFrame>
        <p:nvGraphicFramePr>
          <p:cNvPr id="71683" name="Object 3"/>
          <p:cNvGraphicFramePr>
            <a:graphicFrameLocks noGrp="1" noChangeAspect="1"/>
          </p:cNvGraphicFramePr>
          <p:nvPr>
            <p:ph idx="1"/>
          </p:nvPr>
        </p:nvGraphicFramePr>
        <p:xfrm>
          <a:off x="1792288" y="1295400"/>
          <a:ext cx="5065712" cy="4724400"/>
        </p:xfrm>
        <a:graphic>
          <a:graphicData uri="http://schemas.openxmlformats.org/presentationml/2006/ole">
            <mc:AlternateContent xmlns:mc="http://schemas.openxmlformats.org/markup-compatibility/2006">
              <mc:Choice xmlns:v="urn:schemas-microsoft-com:vml" Requires="v">
                <p:oleObj name="Visio" r:id="rId2" imgW="6603848" imgH="6157987" progId="">
                  <p:embed/>
                </p:oleObj>
              </mc:Choice>
              <mc:Fallback>
                <p:oleObj name="Visio" r:id="rId2" imgW="6603848" imgH="6157987" progId="">
                  <p:embed/>
                  <p:pic>
                    <p:nvPicPr>
                      <p:cNvPr id="0" name="Picture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2288" y="1295400"/>
                        <a:ext cx="5065712"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7543800" cy="884238"/>
          </a:xfrm>
        </p:spPr>
        <p:txBody>
          <a:bodyPr/>
          <a:lstStyle/>
          <a:p>
            <a:r>
              <a:rPr lang="en-US" dirty="0"/>
              <a:t>Example question</a:t>
            </a:r>
          </a:p>
        </p:txBody>
      </p:sp>
      <p:sp>
        <p:nvSpPr>
          <p:cNvPr id="3" name="Content Placeholder 2"/>
          <p:cNvSpPr>
            <a:spLocks noGrp="1"/>
          </p:cNvSpPr>
          <p:nvPr>
            <p:ph idx="1"/>
          </p:nvPr>
        </p:nvSpPr>
        <p:spPr>
          <a:xfrm>
            <a:off x="457200" y="1082436"/>
            <a:ext cx="8229600" cy="762000"/>
          </a:xfrm>
        </p:spPr>
        <p:txBody>
          <a:bodyPr>
            <a:normAutofit fontScale="92500"/>
          </a:bodyPr>
          <a:lstStyle/>
          <a:p>
            <a:r>
              <a:rPr lang="en-US" sz="1800" dirty="0"/>
              <a:t>Given the following transaction data sets (dark cells indicate presence of an item in a transaction) and a support threshold of 20%, answer the following questions</a:t>
            </a: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5400" y="1676400"/>
            <a:ext cx="22860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29000" y="1679249"/>
            <a:ext cx="2206951" cy="2206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62600" y="1676400"/>
            <a:ext cx="22860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57200" y="3886200"/>
            <a:ext cx="8458200" cy="2677656"/>
          </a:xfrm>
          <a:prstGeom prst="rect">
            <a:avLst/>
          </a:prstGeom>
          <a:noFill/>
        </p:spPr>
        <p:txBody>
          <a:bodyPr wrap="square" rtlCol="0">
            <a:spAutoFit/>
          </a:bodyPr>
          <a:lstStyle/>
          <a:p>
            <a:pPr marL="342900" indent="-342900">
              <a:buAutoNum type="alphaLcPeriod"/>
            </a:pPr>
            <a:r>
              <a:rPr lang="en-US" sz="1400" dirty="0"/>
              <a:t>What is the number of frequent </a:t>
            </a:r>
            <a:r>
              <a:rPr lang="en-US" sz="1400" dirty="0" err="1"/>
              <a:t>itemsets</a:t>
            </a:r>
            <a:r>
              <a:rPr lang="en-US" sz="1400" dirty="0"/>
              <a:t> for each dataset? Which dataset will produce the most number of frequent </a:t>
            </a:r>
            <a:r>
              <a:rPr lang="en-US" sz="1400" dirty="0" err="1"/>
              <a:t>itemsets</a:t>
            </a:r>
            <a:r>
              <a:rPr lang="en-US" sz="1400" dirty="0"/>
              <a:t>?</a:t>
            </a:r>
          </a:p>
          <a:p>
            <a:pPr marL="342900" indent="-342900">
              <a:buFontTx/>
              <a:buAutoNum type="alphaLcPeriod"/>
            </a:pPr>
            <a:r>
              <a:rPr lang="en-US" sz="1400" dirty="0"/>
              <a:t>Which dataset will produce the longest frequent </a:t>
            </a:r>
            <a:r>
              <a:rPr lang="en-US" sz="1400" dirty="0" err="1"/>
              <a:t>itemset</a:t>
            </a:r>
            <a:r>
              <a:rPr lang="en-US" sz="1400" dirty="0"/>
              <a:t>?</a:t>
            </a:r>
          </a:p>
          <a:p>
            <a:pPr marL="342900" indent="-342900">
              <a:buFontTx/>
              <a:buAutoNum type="alphaLcPeriod"/>
            </a:pPr>
            <a:r>
              <a:rPr lang="en-US" sz="1400" dirty="0"/>
              <a:t>Which dataset will produce frequent </a:t>
            </a:r>
            <a:r>
              <a:rPr lang="en-US" sz="1400" dirty="0" err="1"/>
              <a:t>itemsets</a:t>
            </a:r>
            <a:r>
              <a:rPr lang="en-US" sz="1400" dirty="0"/>
              <a:t> with highest maximum support?</a:t>
            </a:r>
          </a:p>
          <a:p>
            <a:pPr marL="342900" indent="-342900">
              <a:buFontTx/>
              <a:buAutoNum type="alphaLcPeriod"/>
            </a:pPr>
            <a:r>
              <a:rPr lang="en-US" sz="1400" dirty="0"/>
              <a:t>Which dataset will produce frequent </a:t>
            </a:r>
            <a:r>
              <a:rPr lang="en-US" sz="1400" dirty="0" err="1"/>
              <a:t>itemsets</a:t>
            </a:r>
            <a:r>
              <a:rPr lang="en-US" sz="1400" dirty="0"/>
              <a:t> containing items with widely varying support levels (i.e., </a:t>
            </a:r>
            <a:r>
              <a:rPr lang="en-US" sz="1400" dirty="0" err="1"/>
              <a:t>itemsets</a:t>
            </a:r>
            <a:r>
              <a:rPr lang="en-US" sz="1400" dirty="0"/>
              <a:t> containing items with mixed support, ranging from 20% to more than 70%)?</a:t>
            </a:r>
          </a:p>
          <a:p>
            <a:pPr marL="342900" indent="-342900">
              <a:buFontTx/>
              <a:buAutoNum type="alphaLcPeriod"/>
            </a:pPr>
            <a:r>
              <a:rPr lang="en-US" sz="1400" dirty="0"/>
              <a:t>What is the number of maximal frequent </a:t>
            </a:r>
            <a:r>
              <a:rPr lang="en-US" sz="1400" dirty="0" err="1"/>
              <a:t>itemsets</a:t>
            </a:r>
            <a:r>
              <a:rPr lang="en-US" sz="1400" dirty="0"/>
              <a:t> for each dataset? Which dataset will produce the most number of maximal frequent </a:t>
            </a:r>
            <a:r>
              <a:rPr lang="en-US" sz="1400" dirty="0" err="1"/>
              <a:t>itemsets</a:t>
            </a:r>
            <a:r>
              <a:rPr lang="en-US" sz="1400" dirty="0"/>
              <a:t>?</a:t>
            </a:r>
          </a:p>
          <a:p>
            <a:pPr marL="342900" indent="-342900">
              <a:buFontTx/>
              <a:buAutoNum type="alphaLcPeriod"/>
            </a:pPr>
            <a:r>
              <a:rPr lang="en-US" sz="1400" dirty="0"/>
              <a:t>What is the number of closed frequent </a:t>
            </a:r>
            <a:r>
              <a:rPr lang="en-US" sz="1400" dirty="0" err="1"/>
              <a:t>itemsets</a:t>
            </a:r>
            <a:r>
              <a:rPr lang="en-US" sz="1400" dirty="0"/>
              <a:t> for each dataset? Which dataset will produce the most number of closed frequent </a:t>
            </a:r>
            <a:r>
              <a:rPr lang="en-US" sz="1400" dirty="0" err="1"/>
              <a:t>itemsets</a:t>
            </a:r>
            <a:r>
              <a:rPr lang="en-US" sz="1400" dirty="0"/>
              <a:t>?</a:t>
            </a:r>
          </a:p>
          <a:p>
            <a:pPr marL="342900" indent="-342900">
              <a:buAutoNum type="alphaLcPeriod"/>
            </a:pPr>
            <a:endParaRPr lang="en-US" sz="1400" dirty="0"/>
          </a:p>
          <a:p>
            <a:endParaRPr lang="en-US" sz="1400" dirty="0"/>
          </a:p>
        </p:txBody>
      </p:sp>
    </p:spTree>
    <p:extLst>
      <p:ext uri="{BB962C8B-B14F-4D97-AF65-F5344CB8AC3E}">
        <p14:creationId xmlns:p14="http://schemas.microsoft.com/office/powerpoint/2010/main" val="31529519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ltLang="en-US"/>
              <a:t>Pattern Evaluation</a:t>
            </a:r>
          </a:p>
        </p:txBody>
      </p:sp>
      <p:sp>
        <p:nvSpPr>
          <p:cNvPr id="77827" name="Rectangle 3"/>
          <p:cNvSpPr>
            <a:spLocks noGrp="1" noChangeArrowheads="1"/>
          </p:cNvSpPr>
          <p:nvPr>
            <p:ph type="body" idx="1"/>
          </p:nvPr>
        </p:nvSpPr>
        <p:spPr/>
        <p:txBody>
          <a:bodyPr/>
          <a:lstStyle/>
          <a:p>
            <a:r>
              <a:rPr lang="en-US" altLang="en-US" dirty="0"/>
              <a:t>Association rule algorithms can produce large number of rules </a:t>
            </a:r>
          </a:p>
          <a:p>
            <a:pPr lvl="1">
              <a:buFont typeface="Arial" charset="0"/>
              <a:buNone/>
            </a:pPr>
            <a:endParaRPr lang="en-US" altLang="en-US" dirty="0"/>
          </a:p>
          <a:p>
            <a:pPr lvl="1">
              <a:buFont typeface="Arial" charset="0"/>
              <a:buNone/>
            </a:pPr>
            <a:endParaRPr lang="en-US" altLang="en-US" dirty="0"/>
          </a:p>
          <a:p>
            <a:r>
              <a:rPr lang="en-US" altLang="en-US" dirty="0"/>
              <a:t>Interestingness measures can be used to prune/rank the patterns </a:t>
            </a:r>
          </a:p>
          <a:p>
            <a:pPr lvl="1"/>
            <a:r>
              <a:rPr lang="en-US" altLang="en-US" dirty="0"/>
              <a:t>In the original formulation, support &amp; confidence are the only measures used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CEB522-20DB-BE8F-D74C-B7E1FFCADA27}"/>
              </a:ext>
            </a:extLst>
          </p:cNvPr>
          <p:cNvSpPr>
            <a:spLocks noGrp="1"/>
          </p:cNvSpPr>
          <p:nvPr>
            <p:ph type="sldNum" sz="quarter" idx="12"/>
          </p:nvPr>
        </p:nvSpPr>
        <p:spPr/>
        <p:txBody>
          <a:bodyPr/>
          <a:lstStyle/>
          <a:p>
            <a:pPr>
              <a:defRPr/>
            </a:pPr>
            <a:fld id="{E32456F1-5FD4-4074-A7F5-122F6C81D70D}" type="slidenum">
              <a:rPr lang="en-US" altLang="en-US" smtClean="0"/>
              <a:pPr>
                <a:defRPr/>
              </a:pPr>
              <a:t>34</a:t>
            </a:fld>
            <a:endParaRPr lang="en-US" altLang="en-US"/>
          </a:p>
        </p:txBody>
      </p:sp>
      <p:sp>
        <p:nvSpPr>
          <p:cNvPr id="4" name="TextBox 3">
            <a:extLst>
              <a:ext uri="{FF2B5EF4-FFF2-40B4-BE49-F238E27FC236}">
                <a16:creationId xmlns:a16="http://schemas.microsoft.com/office/drawing/2014/main" id="{1861CC6C-67A8-D211-FD82-06373B9BD909}"/>
              </a:ext>
            </a:extLst>
          </p:cNvPr>
          <p:cNvSpPr txBox="1"/>
          <p:nvPr/>
        </p:nvSpPr>
        <p:spPr>
          <a:xfrm>
            <a:off x="762000" y="1443841"/>
            <a:ext cx="7620000" cy="2585323"/>
          </a:xfrm>
          <a:prstGeom prst="rect">
            <a:avLst/>
          </a:prstGeom>
          <a:noFill/>
        </p:spPr>
        <p:txBody>
          <a:bodyPr wrap="square">
            <a:spAutoFit/>
          </a:bodyPr>
          <a:lstStyle/>
          <a:p>
            <a:pPr>
              <a:buNone/>
            </a:pPr>
            <a:r>
              <a:rPr lang="en-US" b="1" dirty="0"/>
              <a:t>1) What is pattern evaluation? Why is it needed?</a:t>
            </a:r>
          </a:p>
          <a:p>
            <a:pPr>
              <a:buNone/>
            </a:pPr>
            <a:r>
              <a:rPr lang="en-US" b="1" dirty="0"/>
              <a:t>Answer:</a:t>
            </a:r>
            <a:br>
              <a:rPr lang="en-US" dirty="0"/>
            </a:br>
            <a:r>
              <a:rPr lang="en-US" dirty="0"/>
              <a:t>Pattern evaluation is the process of checking whether discovered patterns or association rules are really useful, meaningful, and interesting. In association rule mining, a very large number of rules can be generated, especially when minimum support is low. Many of these rules are redundant or unimportant. Therefore, pattern evaluation is needed to prune unimportant rules and rank useful rules using interestingness measures.</a:t>
            </a:r>
          </a:p>
        </p:txBody>
      </p:sp>
    </p:spTree>
    <p:extLst>
      <p:ext uri="{BB962C8B-B14F-4D97-AF65-F5344CB8AC3E}">
        <p14:creationId xmlns:p14="http://schemas.microsoft.com/office/powerpoint/2010/main" val="29444566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28FDBD-08B2-DCCF-DFB6-F744A5C96F7B}"/>
              </a:ext>
            </a:extLst>
          </p:cNvPr>
          <p:cNvSpPr>
            <a:spLocks noGrp="1"/>
          </p:cNvSpPr>
          <p:nvPr>
            <p:ph type="sldNum" sz="quarter" idx="12"/>
          </p:nvPr>
        </p:nvSpPr>
        <p:spPr/>
        <p:txBody>
          <a:bodyPr/>
          <a:lstStyle/>
          <a:p>
            <a:pPr>
              <a:defRPr/>
            </a:pPr>
            <a:fld id="{E32456F1-5FD4-4074-A7F5-122F6C81D70D}" type="slidenum">
              <a:rPr lang="en-US" altLang="en-US" smtClean="0"/>
              <a:pPr>
                <a:defRPr/>
              </a:pPr>
              <a:t>35</a:t>
            </a:fld>
            <a:endParaRPr lang="en-US" altLang="en-US"/>
          </a:p>
        </p:txBody>
      </p:sp>
      <p:sp>
        <p:nvSpPr>
          <p:cNvPr id="4" name="TextBox 3">
            <a:extLst>
              <a:ext uri="{FF2B5EF4-FFF2-40B4-BE49-F238E27FC236}">
                <a16:creationId xmlns:a16="http://schemas.microsoft.com/office/drawing/2014/main" id="{8490B870-DA3B-B7C2-6F18-4F799E835220}"/>
              </a:ext>
            </a:extLst>
          </p:cNvPr>
          <p:cNvSpPr txBox="1"/>
          <p:nvPr/>
        </p:nvSpPr>
        <p:spPr>
          <a:xfrm>
            <a:off x="481914" y="2209800"/>
            <a:ext cx="8229600" cy="2031325"/>
          </a:xfrm>
          <a:prstGeom prst="rect">
            <a:avLst/>
          </a:prstGeom>
          <a:noFill/>
        </p:spPr>
        <p:txBody>
          <a:bodyPr wrap="square">
            <a:spAutoFit/>
          </a:bodyPr>
          <a:lstStyle/>
          <a:p>
            <a:pPr>
              <a:buNone/>
            </a:pPr>
            <a:r>
              <a:rPr lang="en-US" b="1" dirty="0"/>
              <a:t>2) Why are interestingness measures used in association rule mining?</a:t>
            </a:r>
          </a:p>
          <a:p>
            <a:pPr>
              <a:buNone/>
            </a:pPr>
            <a:r>
              <a:rPr lang="en-US" b="1" dirty="0"/>
              <a:t>Answer:</a:t>
            </a:r>
            <a:br>
              <a:rPr lang="en-US" dirty="0"/>
            </a:br>
            <a:r>
              <a:rPr lang="en-US" dirty="0"/>
              <a:t>Interestingness measures are used because association rule mining often produces too many rules. It is difficult to examine all rules manually. These measures help us remove weak or misleading rules and keep only the important ones. They are also used to rank rules according to their usefulness, strength, and dependence between items.</a:t>
            </a:r>
          </a:p>
        </p:txBody>
      </p:sp>
    </p:spTree>
    <p:extLst>
      <p:ext uri="{BB962C8B-B14F-4D97-AF65-F5344CB8AC3E}">
        <p14:creationId xmlns:p14="http://schemas.microsoft.com/office/powerpoint/2010/main" val="27757648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CEF0D6-42DE-8668-A204-A668A67A4E81}"/>
              </a:ext>
            </a:extLst>
          </p:cNvPr>
          <p:cNvSpPr>
            <a:spLocks noGrp="1"/>
          </p:cNvSpPr>
          <p:nvPr>
            <p:ph type="sldNum" sz="quarter" idx="12"/>
          </p:nvPr>
        </p:nvSpPr>
        <p:spPr/>
        <p:txBody>
          <a:bodyPr/>
          <a:lstStyle/>
          <a:p>
            <a:pPr>
              <a:defRPr/>
            </a:pPr>
            <a:fld id="{E32456F1-5FD4-4074-A7F5-122F6C81D70D}" type="slidenum">
              <a:rPr lang="en-US" altLang="en-US" smtClean="0"/>
              <a:pPr>
                <a:defRPr/>
              </a:pPr>
              <a:t>36</a:t>
            </a:fld>
            <a:endParaRPr lang="en-US" altLang="en-US"/>
          </a:p>
        </p:txBody>
      </p:sp>
      <p:sp>
        <p:nvSpPr>
          <p:cNvPr id="4" name="TextBox 3">
            <a:extLst>
              <a:ext uri="{FF2B5EF4-FFF2-40B4-BE49-F238E27FC236}">
                <a16:creationId xmlns:a16="http://schemas.microsoft.com/office/drawing/2014/main" id="{1A8922D8-897E-5EDB-872F-3401E2CFD7D3}"/>
              </a:ext>
            </a:extLst>
          </p:cNvPr>
          <p:cNvSpPr txBox="1"/>
          <p:nvPr/>
        </p:nvSpPr>
        <p:spPr>
          <a:xfrm>
            <a:off x="533400" y="1997839"/>
            <a:ext cx="8305800" cy="2862322"/>
          </a:xfrm>
          <a:prstGeom prst="rect">
            <a:avLst/>
          </a:prstGeom>
          <a:noFill/>
        </p:spPr>
        <p:txBody>
          <a:bodyPr wrap="square">
            <a:spAutoFit/>
          </a:bodyPr>
          <a:lstStyle/>
          <a:p>
            <a:pPr>
              <a:buNone/>
            </a:pPr>
            <a:r>
              <a:rPr lang="en-US" b="1" dirty="0"/>
              <a:t>3) What are the basic interestingness measures used in the original formulation?</a:t>
            </a:r>
          </a:p>
          <a:p>
            <a:pPr>
              <a:buNone/>
            </a:pPr>
            <a:r>
              <a:rPr lang="en-US" b="1" dirty="0"/>
              <a:t>Answer:</a:t>
            </a:r>
            <a:br>
              <a:rPr lang="en-US" dirty="0"/>
            </a:br>
            <a:r>
              <a:rPr lang="en-US" dirty="0"/>
              <a:t>In the original formulation of association rule mining, the two basic measures are </a:t>
            </a:r>
            <a:r>
              <a:rPr lang="en-US" b="1" dirty="0"/>
              <a:t>support</a:t>
            </a:r>
            <a:r>
              <a:rPr lang="en-US" dirty="0"/>
              <a:t> and </a:t>
            </a:r>
            <a:r>
              <a:rPr lang="en-US" b="1" dirty="0"/>
              <a:t>confidence</a:t>
            </a:r>
            <a:r>
              <a:rPr lang="en-US" dirty="0"/>
              <a:t>.</a:t>
            </a:r>
          </a:p>
          <a:p>
            <a:pPr>
              <a:buFont typeface="Arial" panose="020B0604020202020204" pitchFamily="34" charset="0"/>
              <a:buChar char="•"/>
            </a:pPr>
            <a:r>
              <a:rPr lang="en-US" b="1" dirty="0"/>
              <a:t>Support</a:t>
            </a:r>
            <a:r>
              <a:rPr lang="en-US" dirty="0"/>
              <a:t> shows how often an itemset or rule appears in the database. </a:t>
            </a:r>
          </a:p>
          <a:p>
            <a:pPr>
              <a:buFont typeface="Arial" panose="020B0604020202020204" pitchFamily="34" charset="0"/>
              <a:buChar char="•"/>
            </a:pPr>
            <a:r>
              <a:rPr lang="en-US" b="1" dirty="0"/>
              <a:t>Confidence</a:t>
            </a:r>
            <a:r>
              <a:rPr lang="en-US" dirty="0"/>
              <a:t> shows how strong a rule is, that is, the probability of the right-hand side given the left-hand side. </a:t>
            </a:r>
          </a:p>
          <a:p>
            <a:pPr>
              <a:buNone/>
            </a:pPr>
            <a:r>
              <a:rPr lang="en-US" dirty="0"/>
              <a:t>These measures are simple and useful, but they are not always enough to measure real correlation.</a:t>
            </a:r>
          </a:p>
        </p:txBody>
      </p:sp>
    </p:spTree>
    <p:extLst>
      <p:ext uri="{BB962C8B-B14F-4D97-AF65-F5344CB8AC3E}">
        <p14:creationId xmlns:p14="http://schemas.microsoft.com/office/powerpoint/2010/main" val="12080790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95E059-5ED2-F261-088E-09E15F55AE44}"/>
              </a:ext>
            </a:extLst>
          </p:cNvPr>
          <p:cNvSpPr>
            <a:spLocks noGrp="1"/>
          </p:cNvSpPr>
          <p:nvPr>
            <p:ph type="sldNum" sz="quarter" idx="12"/>
          </p:nvPr>
        </p:nvSpPr>
        <p:spPr/>
        <p:txBody>
          <a:bodyPr/>
          <a:lstStyle/>
          <a:p>
            <a:pPr>
              <a:defRPr/>
            </a:pPr>
            <a:fld id="{E32456F1-5FD4-4074-A7F5-122F6C81D70D}" type="slidenum">
              <a:rPr lang="en-US" altLang="en-US" smtClean="0"/>
              <a:pPr>
                <a:defRPr/>
              </a:pPr>
              <a:t>37</a:t>
            </a:fld>
            <a:endParaRPr lang="en-US" altLang="en-US"/>
          </a:p>
        </p:txBody>
      </p:sp>
      <p:pic>
        <p:nvPicPr>
          <p:cNvPr id="4" name="Picture 3">
            <a:extLst>
              <a:ext uri="{FF2B5EF4-FFF2-40B4-BE49-F238E27FC236}">
                <a16:creationId xmlns:a16="http://schemas.microsoft.com/office/drawing/2014/main" id="{B5946B91-A066-86D7-6BB3-05C34442FC0D}"/>
              </a:ext>
            </a:extLst>
          </p:cNvPr>
          <p:cNvPicPr>
            <a:picLocks noChangeAspect="1"/>
          </p:cNvPicPr>
          <p:nvPr/>
        </p:nvPicPr>
        <p:blipFill>
          <a:blip r:embed="rId2"/>
          <a:stretch>
            <a:fillRect/>
          </a:stretch>
        </p:blipFill>
        <p:spPr>
          <a:xfrm>
            <a:off x="609600" y="1447800"/>
            <a:ext cx="8077200" cy="4038599"/>
          </a:xfrm>
          <a:prstGeom prst="rect">
            <a:avLst/>
          </a:prstGeom>
        </p:spPr>
      </p:pic>
    </p:spTree>
    <p:extLst>
      <p:ext uri="{BB962C8B-B14F-4D97-AF65-F5344CB8AC3E}">
        <p14:creationId xmlns:p14="http://schemas.microsoft.com/office/powerpoint/2010/main" val="16292051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idx="4294967295"/>
          </p:nvPr>
        </p:nvSpPr>
        <p:spPr>
          <a:xfrm>
            <a:off x="228600" y="228600"/>
            <a:ext cx="7543800" cy="808038"/>
          </a:xfrm>
        </p:spPr>
        <p:txBody>
          <a:bodyPr/>
          <a:lstStyle/>
          <a:p>
            <a:r>
              <a:rPr lang="en-US" altLang="en-US" sz="3200" dirty="0"/>
              <a:t>Computing Interestingness Measure</a:t>
            </a:r>
          </a:p>
        </p:txBody>
      </p:sp>
      <p:sp>
        <p:nvSpPr>
          <p:cNvPr id="78851" name="Rectangle 3"/>
          <p:cNvSpPr>
            <a:spLocks noGrp="1" noChangeArrowheads="1"/>
          </p:cNvSpPr>
          <p:nvPr>
            <p:ph type="body" idx="4294967295"/>
          </p:nvPr>
        </p:nvSpPr>
        <p:spPr>
          <a:xfrm>
            <a:off x="152400" y="1143000"/>
            <a:ext cx="8610600" cy="914400"/>
          </a:xfrm>
        </p:spPr>
        <p:txBody>
          <a:bodyPr/>
          <a:lstStyle/>
          <a:p>
            <a:pPr marL="284163" indent="-284163"/>
            <a:r>
              <a:rPr lang="en-US" altLang="en-US" sz="2400"/>
              <a:t>Given X </a:t>
            </a:r>
            <a:r>
              <a:rPr lang="en-US" altLang="en-US" sz="2400">
                <a:sym typeface="Symbol" pitchFamily="18" charset="2"/>
              </a:rPr>
              <a:t> Y or {X,Y}, i</a:t>
            </a:r>
            <a:r>
              <a:rPr lang="en-US" altLang="en-US" sz="2400"/>
              <a:t>nformation needed to compute interestingness can be obtained from a contingency table</a:t>
            </a:r>
          </a:p>
        </p:txBody>
      </p:sp>
      <p:graphicFrame>
        <p:nvGraphicFramePr>
          <p:cNvPr id="1337348" name="Group 4"/>
          <p:cNvGraphicFramePr>
            <a:graphicFrameLocks noGrp="1"/>
          </p:cNvGraphicFramePr>
          <p:nvPr/>
        </p:nvGraphicFramePr>
        <p:xfrm>
          <a:off x="533400" y="2595563"/>
          <a:ext cx="3581400" cy="1676400"/>
        </p:xfrm>
        <a:graphic>
          <a:graphicData uri="http://schemas.openxmlformats.org/drawingml/2006/table">
            <a:tbl>
              <a:tblPr/>
              <a:tblGrid>
                <a:gridCol w="895350">
                  <a:extLst>
                    <a:ext uri="{9D8B030D-6E8A-4147-A177-3AD203B41FA5}">
                      <a16:colId xmlns:a16="http://schemas.microsoft.com/office/drawing/2014/main" val="20000"/>
                    </a:ext>
                  </a:extLst>
                </a:gridCol>
                <a:gridCol w="933450">
                  <a:extLst>
                    <a:ext uri="{9D8B030D-6E8A-4147-A177-3AD203B41FA5}">
                      <a16:colId xmlns:a16="http://schemas.microsoft.com/office/drawing/2014/main" val="20001"/>
                    </a:ext>
                  </a:extLst>
                </a:gridCol>
                <a:gridCol w="857250">
                  <a:extLst>
                    <a:ext uri="{9D8B030D-6E8A-4147-A177-3AD203B41FA5}">
                      <a16:colId xmlns:a16="http://schemas.microsoft.com/office/drawing/2014/main" val="20002"/>
                    </a:ext>
                  </a:extLst>
                </a:gridCol>
                <a:gridCol w="895350">
                  <a:extLst>
                    <a:ext uri="{9D8B030D-6E8A-4147-A177-3AD203B41FA5}">
                      <a16:colId xmlns:a16="http://schemas.microsoft.com/office/drawing/2014/main" val="20003"/>
                    </a:ext>
                  </a:extLst>
                </a:gridCol>
              </a:tblGrid>
              <a:tr h="41910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Y</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Y </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910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X</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11</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910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X </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01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o+</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910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N</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8879" name="Text Box 31"/>
          <p:cNvSpPr txBox="1">
            <a:spLocks noChangeArrowheads="1"/>
          </p:cNvSpPr>
          <p:nvPr/>
        </p:nvSpPr>
        <p:spPr bwMode="auto">
          <a:xfrm>
            <a:off x="381000" y="2133600"/>
            <a:ext cx="419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
                <a:schemeClr val="accent2"/>
              </a:buClr>
              <a:buFont typeface="Monotype Sorts" pitchFamily="2" charset="2"/>
              <a:buNone/>
            </a:pPr>
            <a:r>
              <a:rPr lang="en-US" altLang="en-US" sz="2000" b="0">
                <a:solidFill>
                  <a:srgbClr val="CC0000"/>
                </a:solidFill>
              </a:rPr>
              <a:t>Contingency table</a:t>
            </a:r>
            <a:endParaRPr lang="en-US" altLang="en-US" sz="2400" b="0">
              <a:sym typeface="Symbol" pitchFamily="18" charset="2"/>
            </a:endParaRPr>
          </a:p>
        </p:txBody>
      </p:sp>
      <p:grpSp>
        <p:nvGrpSpPr>
          <p:cNvPr id="2" name="Group 32"/>
          <p:cNvGrpSpPr>
            <a:grpSpLocks/>
          </p:cNvGrpSpPr>
          <p:nvPr/>
        </p:nvGrpSpPr>
        <p:grpSpPr bwMode="auto">
          <a:xfrm>
            <a:off x="4800600" y="2590800"/>
            <a:ext cx="4114800" cy="1552575"/>
            <a:chOff x="1152" y="3024"/>
            <a:chExt cx="2592" cy="978"/>
          </a:xfrm>
        </p:grpSpPr>
        <p:sp>
          <p:nvSpPr>
            <p:cNvPr id="78885" name="Text Box 33"/>
            <p:cNvSpPr txBox="1">
              <a:spLocks noChangeArrowheads="1"/>
            </p:cNvSpPr>
            <p:nvPr/>
          </p:nvSpPr>
          <p:spPr bwMode="auto">
            <a:xfrm>
              <a:off x="1152" y="3024"/>
              <a:ext cx="2592" cy="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
                  <a:schemeClr val="accent2"/>
                </a:buClr>
                <a:buFont typeface="Monotype Sorts" pitchFamily="2" charset="2"/>
                <a:buNone/>
              </a:pPr>
              <a:r>
                <a:rPr lang="en-US" altLang="en-US" sz="2400" b="0"/>
                <a:t>f</a:t>
              </a:r>
              <a:r>
                <a:rPr lang="en-US" altLang="en-US" sz="2000" b="0" baseline="-25000"/>
                <a:t>11</a:t>
              </a:r>
              <a:r>
                <a:rPr lang="en-US" altLang="en-US" sz="2400" b="0"/>
                <a:t>: support of X and Y</a:t>
              </a:r>
              <a:br>
                <a:rPr lang="en-US" altLang="en-US" sz="2400" b="0"/>
              </a:br>
              <a:r>
                <a:rPr lang="en-US" altLang="en-US" sz="2400" b="0"/>
                <a:t>f</a:t>
              </a:r>
              <a:r>
                <a:rPr lang="en-US" altLang="en-US" sz="2000" b="0" baseline="-25000"/>
                <a:t>10</a:t>
              </a:r>
              <a:r>
                <a:rPr lang="en-US" altLang="en-US" sz="2400" b="0"/>
                <a:t>: support of X and Y</a:t>
              </a:r>
              <a:br>
                <a:rPr lang="en-US" altLang="en-US" sz="2400" b="0"/>
              </a:br>
              <a:r>
                <a:rPr lang="en-US" altLang="en-US" sz="2400" b="0"/>
                <a:t>f</a:t>
              </a:r>
              <a:r>
                <a:rPr lang="en-US" altLang="en-US" sz="2000" b="0" baseline="-25000"/>
                <a:t>01</a:t>
              </a:r>
              <a:r>
                <a:rPr lang="en-US" altLang="en-US" sz="2400" b="0"/>
                <a:t>: support of X and Y</a:t>
              </a:r>
              <a:br>
                <a:rPr lang="en-US" altLang="en-US" sz="2400" b="0"/>
              </a:br>
              <a:r>
                <a:rPr lang="en-US" altLang="en-US" sz="2400" b="0"/>
                <a:t>f</a:t>
              </a:r>
              <a:r>
                <a:rPr lang="en-US" altLang="en-US" sz="2000" b="0" baseline="-25000"/>
                <a:t>00</a:t>
              </a:r>
              <a:r>
                <a:rPr lang="en-US" altLang="en-US" sz="2400" b="0"/>
                <a:t>: support of X and Y</a:t>
              </a:r>
            </a:p>
          </p:txBody>
        </p:sp>
        <p:sp>
          <p:nvSpPr>
            <p:cNvPr id="78886" name="Line 34"/>
            <p:cNvSpPr>
              <a:spLocks noChangeShapeType="1"/>
            </p:cNvSpPr>
            <p:nvPr/>
          </p:nvSpPr>
          <p:spPr bwMode="auto">
            <a:xfrm>
              <a:off x="2928" y="331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87" name="Line 35"/>
            <p:cNvSpPr>
              <a:spLocks noChangeShapeType="1"/>
            </p:cNvSpPr>
            <p:nvPr/>
          </p:nvSpPr>
          <p:spPr bwMode="auto">
            <a:xfrm>
              <a:off x="2400" y="3744"/>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88" name="Line 36"/>
            <p:cNvSpPr>
              <a:spLocks noChangeShapeType="1"/>
            </p:cNvSpPr>
            <p:nvPr/>
          </p:nvSpPr>
          <p:spPr bwMode="auto">
            <a:xfrm>
              <a:off x="2389" y="351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89" name="Line 37"/>
            <p:cNvSpPr>
              <a:spLocks noChangeShapeType="1"/>
            </p:cNvSpPr>
            <p:nvPr/>
          </p:nvSpPr>
          <p:spPr bwMode="auto">
            <a:xfrm>
              <a:off x="2928" y="3744"/>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8881" name="Text Box 38"/>
          <p:cNvSpPr txBox="1">
            <a:spLocks noChangeArrowheads="1"/>
          </p:cNvSpPr>
          <p:nvPr/>
        </p:nvSpPr>
        <p:spPr bwMode="auto">
          <a:xfrm>
            <a:off x="4038600" y="4724400"/>
            <a:ext cx="4876800" cy="1382713"/>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
                <a:schemeClr val="accent2"/>
              </a:buClr>
              <a:buFont typeface="Monotype Sorts" pitchFamily="2" charset="2"/>
              <a:buNone/>
            </a:pPr>
            <a:r>
              <a:rPr lang="en-US" altLang="en-US" sz="2400" b="0">
                <a:solidFill>
                  <a:srgbClr val="FF0000"/>
                </a:solidFill>
              </a:rPr>
              <a:t>Used to define various measures</a:t>
            </a:r>
          </a:p>
          <a:p>
            <a:pPr>
              <a:spcBef>
                <a:spcPct val="50000"/>
              </a:spcBef>
              <a:spcAft>
                <a:spcPct val="0"/>
              </a:spcAft>
              <a:buClr>
                <a:schemeClr val="accent2"/>
              </a:buClr>
              <a:buFont typeface="Monotype Sorts" pitchFamily="2" charset="2"/>
              <a:buChar char="u"/>
            </a:pPr>
            <a:r>
              <a:rPr lang="en-US" altLang="en-US" sz="2400" b="0"/>
              <a:t> support, confidence, Gini,</a:t>
            </a:r>
            <a:br>
              <a:rPr lang="en-US" altLang="en-US" sz="2400" b="0"/>
            </a:br>
            <a:r>
              <a:rPr lang="en-US" altLang="en-US" sz="2400" b="0"/>
              <a:t>   entropy, etc.</a:t>
            </a:r>
          </a:p>
        </p:txBody>
      </p:sp>
      <p:sp>
        <p:nvSpPr>
          <p:cNvPr id="78882" name="Line 39"/>
          <p:cNvSpPr>
            <a:spLocks noChangeShapeType="1"/>
          </p:cNvSpPr>
          <p:nvPr/>
        </p:nvSpPr>
        <p:spPr bwMode="auto">
          <a:xfrm flipH="1" flipV="1">
            <a:off x="2743200" y="4271963"/>
            <a:ext cx="1295400" cy="762000"/>
          </a:xfrm>
          <a:prstGeom prst="line">
            <a:avLst/>
          </a:prstGeom>
          <a:noFill/>
          <a:ln w="25400">
            <a:solidFill>
              <a:srgbClr val="FF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78883" name="Line 40"/>
          <p:cNvSpPr>
            <a:spLocks noChangeShapeType="1"/>
          </p:cNvSpPr>
          <p:nvPr/>
        </p:nvSpPr>
        <p:spPr bwMode="auto">
          <a:xfrm flipH="1">
            <a:off x="2667000" y="2667000"/>
            <a:ext cx="228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84" name="Line 41"/>
          <p:cNvSpPr>
            <a:spLocks noChangeShapeType="1"/>
          </p:cNvSpPr>
          <p:nvPr/>
        </p:nvSpPr>
        <p:spPr bwMode="auto">
          <a:xfrm>
            <a:off x="914400" y="3505200"/>
            <a:ext cx="152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a:xfrm>
            <a:off x="304800" y="228600"/>
            <a:ext cx="7543800" cy="579438"/>
          </a:xfrm>
        </p:spPr>
        <p:txBody>
          <a:bodyPr/>
          <a:lstStyle/>
          <a:p>
            <a:r>
              <a:rPr lang="en-US" altLang="en-US"/>
              <a:t>Drawback of Confidence</a:t>
            </a:r>
          </a:p>
        </p:txBody>
      </p:sp>
      <p:graphicFrame>
        <p:nvGraphicFramePr>
          <p:cNvPr id="1339395" name="Group 3"/>
          <p:cNvGraphicFramePr>
            <a:graphicFrameLocks noGrp="1"/>
          </p:cNvGraphicFramePr>
          <p:nvPr/>
        </p:nvGraphicFramePr>
        <p:xfrm>
          <a:off x="4724400" y="1143000"/>
          <a:ext cx="4038600" cy="1971676"/>
        </p:xfrm>
        <a:graphic>
          <a:graphicData uri="http://schemas.openxmlformats.org/drawingml/2006/table">
            <a:tbl>
              <a:tblPr/>
              <a:tblGrid>
                <a:gridCol w="1009650">
                  <a:extLst>
                    <a:ext uri="{9D8B030D-6E8A-4147-A177-3AD203B41FA5}">
                      <a16:colId xmlns:a16="http://schemas.microsoft.com/office/drawing/2014/main" val="20000"/>
                    </a:ext>
                  </a:extLst>
                </a:gridCol>
                <a:gridCol w="1009650">
                  <a:extLst>
                    <a:ext uri="{9D8B030D-6E8A-4147-A177-3AD203B41FA5}">
                      <a16:colId xmlns:a16="http://schemas.microsoft.com/office/drawing/2014/main" val="20001"/>
                    </a:ext>
                  </a:extLst>
                </a:gridCol>
                <a:gridCol w="1009650">
                  <a:extLst>
                    <a:ext uri="{9D8B030D-6E8A-4147-A177-3AD203B41FA5}">
                      <a16:colId xmlns:a16="http://schemas.microsoft.com/office/drawing/2014/main" val="20002"/>
                    </a:ext>
                  </a:extLst>
                </a:gridCol>
                <a:gridCol w="1009650">
                  <a:extLst>
                    <a:ext uri="{9D8B030D-6E8A-4147-A177-3AD203B41FA5}">
                      <a16:colId xmlns:a16="http://schemas.microsoft.com/office/drawing/2014/main" val="20003"/>
                    </a:ext>
                  </a:extLst>
                </a:gridCol>
              </a:tblGrid>
              <a:tr h="782572">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dirty="0">
                        <a:ln>
                          <a:noFill/>
                        </a:ln>
                        <a:solidFill>
                          <a:schemeClr val="tx1"/>
                        </a:solidFill>
                        <a:effectLst/>
                        <a:latin typeface="Arial" charset="0"/>
                      </a:endParaRP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Coffee</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Coffee</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68">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Tea</a:t>
                      </a: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15</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5</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20</a:t>
                      </a: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68">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Tea</a:t>
                      </a: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75</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5</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80</a:t>
                      </a: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368">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90</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100</a:t>
                      </a: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9902" name="Line 30"/>
          <p:cNvSpPr>
            <a:spLocks noChangeShapeType="1"/>
          </p:cNvSpPr>
          <p:nvPr/>
        </p:nvSpPr>
        <p:spPr bwMode="auto">
          <a:xfrm>
            <a:off x="6858000" y="1571625"/>
            <a:ext cx="76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03" name="Line 31"/>
          <p:cNvSpPr>
            <a:spLocks noChangeShapeType="1"/>
          </p:cNvSpPr>
          <p:nvPr/>
        </p:nvSpPr>
        <p:spPr bwMode="auto">
          <a:xfrm>
            <a:off x="5029200" y="2362200"/>
            <a:ext cx="381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9424" name="Text Box 32"/>
          <p:cNvSpPr txBox="1">
            <a:spLocks noChangeArrowheads="1"/>
          </p:cNvSpPr>
          <p:nvPr/>
        </p:nvSpPr>
        <p:spPr bwMode="auto">
          <a:xfrm>
            <a:off x="914400" y="3825875"/>
            <a:ext cx="7391400"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eaLnBrk="1" hangingPunct="1">
              <a:spcBef>
                <a:spcPct val="50000"/>
              </a:spcBef>
              <a:spcAft>
                <a:spcPct val="0"/>
              </a:spcAft>
              <a:buClrTx/>
              <a:buSzTx/>
              <a:buFontTx/>
              <a:buNone/>
            </a:pPr>
            <a:r>
              <a:rPr lang="en-US" altLang="en-US" sz="2000" b="0">
                <a:latin typeface="Tahoma" pitchFamily="34" charset="0"/>
              </a:rPr>
              <a:t>           </a:t>
            </a:r>
            <a:r>
              <a:rPr lang="en-US" altLang="en-US" sz="2400" b="0">
                <a:solidFill>
                  <a:srgbClr val="CC3300"/>
                </a:solidFill>
                <a:latin typeface="Tahoma" pitchFamily="34" charset="0"/>
              </a:rPr>
              <a:t>Association Rule: Tea </a:t>
            </a:r>
            <a:r>
              <a:rPr lang="en-US" altLang="en-US" sz="2400" b="0">
                <a:solidFill>
                  <a:srgbClr val="CC3300"/>
                </a:solidFill>
                <a:latin typeface="Tahoma" pitchFamily="34" charset="0"/>
                <a:sym typeface="Symbol" pitchFamily="18" charset="2"/>
              </a:rPr>
              <a:t> Coffee</a:t>
            </a:r>
            <a:br>
              <a:rPr lang="en-US" altLang="en-US" sz="2400" b="0">
                <a:solidFill>
                  <a:srgbClr val="CC3300"/>
                </a:solidFill>
                <a:latin typeface="Tahoma" pitchFamily="34" charset="0"/>
                <a:sym typeface="Symbol" pitchFamily="18" charset="2"/>
              </a:rPr>
            </a:br>
            <a:endParaRPr lang="en-US" altLang="en-US" sz="2400" b="0">
              <a:solidFill>
                <a:srgbClr val="CC3300"/>
              </a:solidFill>
              <a:latin typeface="Tahoma" pitchFamily="34" charset="0"/>
            </a:endParaRPr>
          </a:p>
          <a:p>
            <a:pPr eaLnBrk="1" hangingPunct="1">
              <a:spcBef>
                <a:spcPct val="50000"/>
              </a:spcBef>
              <a:spcAft>
                <a:spcPct val="0"/>
              </a:spcAft>
              <a:buClrTx/>
              <a:buSzTx/>
              <a:buFontTx/>
              <a:buNone/>
            </a:pPr>
            <a:r>
              <a:rPr lang="en-US" altLang="en-US" sz="2000" b="0">
                <a:latin typeface="Tahoma" pitchFamily="34" charset="0"/>
              </a:rPr>
              <a:t>Confidence </a:t>
            </a:r>
            <a:r>
              <a:rPr lang="en-US" altLang="en-US" sz="2000" b="0">
                <a:latin typeface="Tahoma" pitchFamily="34" charset="0"/>
                <a:sym typeface="Symbol" pitchFamily="18" charset="2"/>
              </a:rPr>
              <a:t></a:t>
            </a:r>
            <a:r>
              <a:rPr lang="en-US" altLang="en-US" sz="2000" b="0">
                <a:latin typeface="Tahoma" pitchFamily="34" charset="0"/>
              </a:rPr>
              <a:t> P(Coffee|Tea) = 15/20 = </a:t>
            </a:r>
            <a:r>
              <a:rPr lang="en-US" altLang="en-US" sz="2000" b="0">
                <a:solidFill>
                  <a:srgbClr val="FF0000"/>
                </a:solidFill>
                <a:latin typeface="Tahoma" pitchFamily="34" charset="0"/>
              </a:rPr>
              <a:t>0.75</a:t>
            </a:r>
          </a:p>
          <a:p>
            <a:pPr eaLnBrk="1" hangingPunct="1">
              <a:spcBef>
                <a:spcPct val="50000"/>
              </a:spcBef>
              <a:spcAft>
                <a:spcPct val="0"/>
              </a:spcAft>
              <a:buClrTx/>
              <a:buSzTx/>
              <a:buFontTx/>
              <a:buNone/>
            </a:pPr>
            <a:r>
              <a:rPr lang="en-US" altLang="en-US" sz="2000" b="0">
                <a:latin typeface="Tahoma" pitchFamily="34" charset="0"/>
              </a:rPr>
              <a:t>Confidence &gt; 50%, meaning people who drink tea are more likely to drink coffee than not drink coffee</a:t>
            </a:r>
          </a:p>
          <a:p>
            <a:pPr eaLnBrk="1" hangingPunct="1">
              <a:spcBef>
                <a:spcPct val="50000"/>
              </a:spcBef>
              <a:spcAft>
                <a:spcPct val="0"/>
              </a:spcAft>
              <a:buClrTx/>
              <a:buSzTx/>
              <a:buFontTx/>
              <a:buNone/>
            </a:pPr>
            <a:r>
              <a:rPr lang="en-US" altLang="en-US" sz="2000" b="0">
                <a:latin typeface="Tahoma" pitchFamily="34" charset="0"/>
              </a:rPr>
              <a:t>So rule seems reasonable</a:t>
            </a:r>
          </a:p>
        </p:txBody>
      </p:sp>
      <p:graphicFrame>
        <p:nvGraphicFramePr>
          <p:cNvPr id="7" name="Group 3"/>
          <p:cNvGraphicFramePr>
            <a:graphicFrameLocks noGrp="1"/>
          </p:cNvGraphicFramePr>
          <p:nvPr/>
        </p:nvGraphicFramePr>
        <p:xfrm>
          <a:off x="304800" y="1077913"/>
          <a:ext cx="3836988" cy="2682874"/>
        </p:xfrm>
        <a:graphic>
          <a:graphicData uri="http://schemas.openxmlformats.org/drawingml/2006/table">
            <a:tbl>
              <a:tblPr/>
              <a:tblGrid>
                <a:gridCol w="959247">
                  <a:extLst>
                    <a:ext uri="{9D8B030D-6E8A-4147-A177-3AD203B41FA5}">
                      <a16:colId xmlns:a16="http://schemas.microsoft.com/office/drawing/2014/main" val="20000"/>
                    </a:ext>
                  </a:extLst>
                </a:gridCol>
                <a:gridCol w="959247">
                  <a:extLst>
                    <a:ext uri="{9D8B030D-6E8A-4147-A177-3AD203B41FA5}">
                      <a16:colId xmlns:a16="http://schemas.microsoft.com/office/drawing/2014/main" val="20001"/>
                    </a:ext>
                  </a:extLst>
                </a:gridCol>
                <a:gridCol w="959247">
                  <a:extLst>
                    <a:ext uri="{9D8B030D-6E8A-4147-A177-3AD203B41FA5}">
                      <a16:colId xmlns:a16="http://schemas.microsoft.com/office/drawing/2014/main" val="20002"/>
                    </a:ext>
                  </a:extLst>
                </a:gridCol>
                <a:gridCol w="959247">
                  <a:extLst>
                    <a:ext uri="{9D8B030D-6E8A-4147-A177-3AD203B41FA5}">
                      <a16:colId xmlns:a16="http://schemas.microsoft.com/office/drawing/2014/main" val="20003"/>
                    </a:ext>
                  </a:extLst>
                </a:gridCol>
              </a:tblGrid>
              <a:tr h="701189">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Customers</a:t>
                      </a:r>
                    </a:p>
                  </a:txBody>
                  <a:tcPr marL="91435" marR="91435" marT="45743" marB="4574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Tea</a:t>
                      </a:r>
                    </a:p>
                  </a:txBody>
                  <a:tcPr marL="91435" marR="91435" marT="45743" marB="4574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Coffee</a:t>
                      </a:r>
                    </a:p>
                  </a:txBody>
                  <a:tcPr marL="91435" marR="91435" marT="45743" marB="4574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a:t>
                      </a:r>
                    </a:p>
                  </a:txBody>
                  <a:tcPr marL="91435" marR="91435" marT="45743" marB="4574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37">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C1</a:t>
                      </a:r>
                    </a:p>
                  </a:txBody>
                  <a:tcPr marL="91435" marR="91435" marT="45743" marB="4574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0</a:t>
                      </a:r>
                    </a:p>
                  </a:txBody>
                  <a:tcPr marL="91435" marR="91435" marT="45743" marB="4574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1</a:t>
                      </a:r>
                    </a:p>
                  </a:txBody>
                  <a:tcPr marL="91435" marR="91435" marT="45743" marB="4574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a:t>
                      </a:r>
                    </a:p>
                  </a:txBody>
                  <a:tcPr marL="91435" marR="91435" marT="45743" marB="4574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37">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C2</a:t>
                      </a:r>
                    </a:p>
                  </a:txBody>
                  <a:tcPr marL="91435" marR="91435" marT="45743" marB="4574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1</a:t>
                      </a:r>
                    </a:p>
                  </a:txBody>
                  <a:tcPr marL="91435" marR="91435" marT="45743" marB="4574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0</a:t>
                      </a:r>
                    </a:p>
                  </a:txBody>
                  <a:tcPr marL="91435" marR="91435" marT="45743" marB="4574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a:t>
                      </a:r>
                    </a:p>
                  </a:txBody>
                  <a:tcPr marL="91435" marR="91435" marT="45743" marB="4574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337">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C3</a:t>
                      </a:r>
                    </a:p>
                  </a:txBody>
                  <a:tcPr marL="91435" marR="91435" marT="45743" marB="4574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1</a:t>
                      </a:r>
                    </a:p>
                  </a:txBody>
                  <a:tcPr marL="91435" marR="91435" marT="45743" marB="4574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1</a:t>
                      </a:r>
                    </a:p>
                  </a:txBody>
                  <a:tcPr marL="91435" marR="91435" marT="45743" marB="4574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a:t>
                      </a:r>
                    </a:p>
                  </a:txBody>
                  <a:tcPr marL="91435" marR="91435" marT="45743" marB="4574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337">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C4</a:t>
                      </a:r>
                    </a:p>
                  </a:txBody>
                  <a:tcPr marL="91435" marR="91435" marT="45743" marB="4574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1</a:t>
                      </a:r>
                    </a:p>
                  </a:txBody>
                  <a:tcPr marL="91435" marR="91435" marT="45743" marB="4574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0</a:t>
                      </a:r>
                    </a:p>
                  </a:txBody>
                  <a:tcPr marL="91435" marR="91435" marT="45743" marB="4574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a:t>
                      </a:r>
                    </a:p>
                  </a:txBody>
                  <a:tcPr marL="91435" marR="91435" marT="45743" marB="4574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337">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Arial" charset="0"/>
                        </a:rPr>
                        <a:t>…</a:t>
                      </a:r>
                    </a:p>
                  </a:txBody>
                  <a:tcPr marL="91435" marR="91435" marT="45743" marB="4574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dirty="0">
                        <a:ln>
                          <a:noFill/>
                        </a:ln>
                        <a:solidFill>
                          <a:schemeClr val="tx1"/>
                        </a:solidFill>
                        <a:effectLst/>
                        <a:latin typeface="Arial" charset="0"/>
                      </a:endParaRPr>
                    </a:p>
                  </a:txBody>
                  <a:tcPr marL="91435" marR="91435" marT="45743" marB="4574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dirty="0">
                        <a:ln>
                          <a:noFill/>
                        </a:ln>
                        <a:solidFill>
                          <a:schemeClr val="tx1"/>
                        </a:solidFill>
                        <a:effectLst/>
                        <a:latin typeface="Arial" charset="0"/>
                      </a:endParaRPr>
                    </a:p>
                  </a:txBody>
                  <a:tcPr marL="91435" marR="91435" marT="45743" marB="4574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dirty="0">
                        <a:ln>
                          <a:noFill/>
                        </a:ln>
                        <a:solidFill>
                          <a:schemeClr val="tx1"/>
                        </a:solidFill>
                        <a:effectLst/>
                        <a:latin typeface="Arial" charset="0"/>
                      </a:endParaRPr>
                    </a:p>
                  </a:txBody>
                  <a:tcPr marL="91435" marR="91435" marT="45743" marB="4574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94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942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idx="4294967295"/>
          </p:nvPr>
        </p:nvSpPr>
        <p:spPr>
          <a:xfrm>
            <a:off x="381000" y="228600"/>
            <a:ext cx="7543800" cy="655638"/>
          </a:xfrm>
        </p:spPr>
        <p:txBody>
          <a:bodyPr/>
          <a:lstStyle/>
          <a:p>
            <a:r>
              <a:rPr lang="en-US" altLang="en-US" dirty="0"/>
              <a:t>Drawback of Confidence</a:t>
            </a:r>
          </a:p>
        </p:txBody>
      </p:sp>
      <p:graphicFrame>
        <p:nvGraphicFramePr>
          <p:cNvPr id="1340419" name="Group 3"/>
          <p:cNvGraphicFramePr>
            <a:graphicFrameLocks noGrp="1"/>
          </p:cNvGraphicFramePr>
          <p:nvPr/>
        </p:nvGraphicFramePr>
        <p:xfrm>
          <a:off x="1066800" y="1219200"/>
          <a:ext cx="4038600" cy="1971676"/>
        </p:xfrm>
        <a:graphic>
          <a:graphicData uri="http://schemas.openxmlformats.org/drawingml/2006/table">
            <a:tbl>
              <a:tblPr/>
              <a:tblGrid>
                <a:gridCol w="1009650">
                  <a:extLst>
                    <a:ext uri="{9D8B030D-6E8A-4147-A177-3AD203B41FA5}">
                      <a16:colId xmlns:a16="http://schemas.microsoft.com/office/drawing/2014/main" val="20000"/>
                    </a:ext>
                  </a:extLst>
                </a:gridCol>
                <a:gridCol w="1009650">
                  <a:extLst>
                    <a:ext uri="{9D8B030D-6E8A-4147-A177-3AD203B41FA5}">
                      <a16:colId xmlns:a16="http://schemas.microsoft.com/office/drawing/2014/main" val="20001"/>
                    </a:ext>
                  </a:extLst>
                </a:gridCol>
                <a:gridCol w="1009650">
                  <a:extLst>
                    <a:ext uri="{9D8B030D-6E8A-4147-A177-3AD203B41FA5}">
                      <a16:colId xmlns:a16="http://schemas.microsoft.com/office/drawing/2014/main" val="20002"/>
                    </a:ext>
                  </a:extLst>
                </a:gridCol>
                <a:gridCol w="1009650">
                  <a:extLst>
                    <a:ext uri="{9D8B030D-6E8A-4147-A177-3AD203B41FA5}">
                      <a16:colId xmlns:a16="http://schemas.microsoft.com/office/drawing/2014/main" val="20003"/>
                    </a:ext>
                  </a:extLst>
                </a:gridCol>
              </a:tblGrid>
              <a:tr h="782572">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Coffee</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Coffee</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68">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Tea</a:t>
                      </a: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15</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5</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20</a:t>
                      </a: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68">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Tea</a:t>
                      </a: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75</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5</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80</a:t>
                      </a: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368">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90</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100</a:t>
                      </a: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0926" name="Line 30"/>
          <p:cNvSpPr>
            <a:spLocks noChangeShapeType="1"/>
          </p:cNvSpPr>
          <p:nvPr/>
        </p:nvSpPr>
        <p:spPr bwMode="auto">
          <a:xfrm>
            <a:off x="3200400" y="1600200"/>
            <a:ext cx="76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27" name="Line 31"/>
          <p:cNvSpPr>
            <a:spLocks noChangeShapeType="1"/>
          </p:cNvSpPr>
          <p:nvPr/>
        </p:nvSpPr>
        <p:spPr bwMode="auto">
          <a:xfrm>
            <a:off x="1371600" y="2438400"/>
            <a:ext cx="381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28" name="Text Box 32"/>
          <p:cNvSpPr txBox="1">
            <a:spLocks noChangeArrowheads="1"/>
          </p:cNvSpPr>
          <p:nvPr/>
        </p:nvSpPr>
        <p:spPr bwMode="auto">
          <a:xfrm>
            <a:off x="685800" y="3444875"/>
            <a:ext cx="7391400" cy="127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eaLnBrk="1" hangingPunct="1">
              <a:spcBef>
                <a:spcPct val="50000"/>
              </a:spcBef>
              <a:spcAft>
                <a:spcPct val="0"/>
              </a:spcAft>
              <a:buClrTx/>
              <a:buSzTx/>
              <a:buFontTx/>
              <a:buNone/>
            </a:pPr>
            <a:r>
              <a:rPr lang="en-US" altLang="en-US" sz="2000" b="0">
                <a:latin typeface="Tahoma" pitchFamily="34" charset="0"/>
              </a:rPr>
              <a:t>           </a:t>
            </a:r>
            <a:r>
              <a:rPr lang="en-US" altLang="en-US" sz="2400" b="0">
                <a:solidFill>
                  <a:srgbClr val="CC3300"/>
                </a:solidFill>
                <a:latin typeface="Tahoma" pitchFamily="34" charset="0"/>
              </a:rPr>
              <a:t>Association Rule: Tea </a:t>
            </a:r>
            <a:r>
              <a:rPr lang="en-US" altLang="en-US" sz="2400" b="0">
                <a:solidFill>
                  <a:srgbClr val="CC3300"/>
                </a:solidFill>
                <a:latin typeface="Tahoma" pitchFamily="34" charset="0"/>
                <a:sym typeface="Symbol" pitchFamily="18" charset="2"/>
              </a:rPr>
              <a:t> Coffee</a:t>
            </a:r>
            <a:br>
              <a:rPr lang="en-US" altLang="en-US" sz="2400" b="0">
                <a:solidFill>
                  <a:srgbClr val="CC3300"/>
                </a:solidFill>
                <a:latin typeface="Tahoma" pitchFamily="34" charset="0"/>
                <a:sym typeface="Symbol" pitchFamily="18" charset="2"/>
              </a:rPr>
            </a:br>
            <a:endParaRPr lang="en-US" altLang="en-US" sz="2400" b="0">
              <a:solidFill>
                <a:srgbClr val="CC3300"/>
              </a:solidFill>
              <a:latin typeface="Tahoma" pitchFamily="34" charset="0"/>
            </a:endParaRPr>
          </a:p>
          <a:p>
            <a:pPr eaLnBrk="1" hangingPunct="1">
              <a:spcBef>
                <a:spcPct val="50000"/>
              </a:spcBef>
              <a:spcAft>
                <a:spcPct val="0"/>
              </a:spcAft>
              <a:buClrTx/>
              <a:buSzTx/>
              <a:buFontTx/>
              <a:buNone/>
            </a:pPr>
            <a:r>
              <a:rPr lang="en-US" altLang="en-US" sz="2000" b="0">
                <a:latin typeface="Tahoma" pitchFamily="34" charset="0"/>
              </a:rPr>
              <a:t>Confidence= P(Coffee|Tea) = 15/20 = </a:t>
            </a:r>
            <a:r>
              <a:rPr lang="en-US" altLang="en-US" sz="2000" b="0">
                <a:solidFill>
                  <a:srgbClr val="FF0000"/>
                </a:solidFill>
                <a:latin typeface="Tahoma" pitchFamily="34" charset="0"/>
              </a:rPr>
              <a:t>0.75</a:t>
            </a:r>
          </a:p>
        </p:txBody>
      </p:sp>
      <p:sp>
        <p:nvSpPr>
          <p:cNvPr id="80929" name="Line 33"/>
          <p:cNvSpPr>
            <a:spLocks noChangeShapeType="1"/>
          </p:cNvSpPr>
          <p:nvPr/>
        </p:nvSpPr>
        <p:spPr bwMode="auto">
          <a:xfrm>
            <a:off x="3505200" y="5638800"/>
            <a:ext cx="304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30" name="Text Box 34"/>
          <p:cNvSpPr txBox="1">
            <a:spLocks noChangeArrowheads="1"/>
          </p:cNvSpPr>
          <p:nvPr/>
        </p:nvSpPr>
        <p:spPr bwMode="auto">
          <a:xfrm>
            <a:off x="838200" y="4876800"/>
            <a:ext cx="73914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eaLnBrk="1" hangingPunct="1">
              <a:spcBef>
                <a:spcPct val="50000"/>
              </a:spcBef>
              <a:spcAft>
                <a:spcPct val="0"/>
              </a:spcAft>
              <a:buClrTx/>
              <a:buSzTx/>
              <a:buFontTx/>
              <a:buNone/>
            </a:pPr>
            <a:r>
              <a:rPr lang="en-US" altLang="en-US" sz="2000" b="0">
                <a:latin typeface="Tahoma" pitchFamily="34" charset="0"/>
              </a:rPr>
              <a:t>but P(Coffee) = </a:t>
            </a:r>
            <a:r>
              <a:rPr lang="en-US" altLang="en-US" sz="2000" b="0">
                <a:solidFill>
                  <a:srgbClr val="FF0000"/>
                </a:solidFill>
                <a:latin typeface="Tahoma" pitchFamily="34" charset="0"/>
              </a:rPr>
              <a:t>0.9</a:t>
            </a:r>
            <a:r>
              <a:rPr lang="en-US" altLang="en-US" sz="2000" b="0">
                <a:latin typeface="Tahoma" pitchFamily="34" charset="0"/>
              </a:rPr>
              <a:t>, which means knowing </a:t>
            </a:r>
            <a:r>
              <a:rPr lang="en-US" altLang="en-US" sz="2000" b="0">
                <a:latin typeface="Tahoma" pitchFamily="34" charset="0"/>
                <a:sym typeface="Symbol" pitchFamily="18" charset="2"/>
              </a:rPr>
              <a:t>that a person drinks tea reduces the probability that the person drinks coffee!</a:t>
            </a:r>
          </a:p>
          <a:p>
            <a:pPr eaLnBrk="1" hangingPunct="1">
              <a:spcBef>
                <a:spcPct val="50000"/>
              </a:spcBef>
              <a:spcAft>
                <a:spcPct val="0"/>
              </a:spcAft>
              <a:buClrTx/>
              <a:buSzTx/>
              <a:buFont typeface="Symbol" pitchFamily="18" charset="2"/>
              <a:buChar char="Þ"/>
            </a:pPr>
            <a:r>
              <a:rPr lang="en-US" altLang="en-US" sz="2000" b="0">
                <a:latin typeface="Tahoma" pitchFamily="34" charset="0"/>
              </a:rPr>
              <a:t> Note that P(Coffee|Tea) = 75/80 = 0.9375</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6B9B07-F874-4F3F-20DE-7F8C2B9568BB}"/>
              </a:ext>
            </a:extLst>
          </p:cNvPr>
          <p:cNvSpPr>
            <a:spLocks noGrp="1"/>
          </p:cNvSpPr>
          <p:nvPr>
            <p:ph type="sldNum" sz="quarter" idx="12"/>
          </p:nvPr>
        </p:nvSpPr>
        <p:spPr/>
        <p:txBody>
          <a:bodyPr/>
          <a:lstStyle/>
          <a:p>
            <a:pPr>
              <a:defRPr/>
            </a:pPr>
            <a:fld id="{E32456F1-5FD4-4074-A7F5-122F6C81D70D}" type="slidenum">
              <a:rPr lang="en-US" altLang="en-US" smtClean="0"/>
              <a:pPr>
                <a:defRPr/>
              </a:pPr>
              <a:t>41</a:t>
            </a:fld>
            <a:endParaRPr lang="en-US" altLang="en-US"/>
          </a:p>
        </p:txBody>
      </p:sp>
      <p:sp>
        <p:nvSpPr>
          <p:cNvPr id="4" name="TextBox 3">
            <a:extLst>
              <a:ext uri="{FF2B5EF4-FFF2-40B4-BE49-F238E27FC236}">
                <a16:creationId xmlns:a16="http://schemas.microsoft.com/office/drawing/2014/main" id="{A99EA08C-FC81-7492-B8D4-AA588777830C}"/>
              </a:ext>
            </a:extLst>
          </p:cNvPr>
          <p:cNvSpPr txBox="1"/>
          <p:nvPr/>
        </p:nvSpPr>
        <p:spPr>
          <a:xfrm>
            <a:off x="609600" y="1219200"/>
            <a:ext cx="8077200" cy="2031325"/>
          </a:xfrm>
          <a:prstGeom prst="rect">
            <a:avLst/>
          </a:prstGeom>
          <a:noFill/>
        </p:spPr>
        <p:txBody>
          <a:bodyPr wrap="square">
            <a:spAutoFit/>
          </a:bodyPr>
          <a:lstStyle/>
          <a:p>
            <a:pPr>
              <a:buNone/>
            </a:pPr>
            <a:r>
              <a:rPr lang="en-US" b="1" dirty="0"/>
              <a:t>What is the drawback of confidence?</a:t>
            </a:r>
          </a:p>
          <a:p>
            <a:pPr>
              <a:buNone/>
            </a:pPr>
            <a:r>
              <a:rPr lang="en-US" b="1" dirty="0"/>
              <a:t>Answer:</a:t>
            </a:r>
            <a:br>
              <a:rPr lang="en-US" dirty="0"/>
            </a:br>
            <a:r>
              <a:rPr lang="en-US" dirty="0"/>
              <a:t>The main drawback of confidence is that it does not measure true correlation between items. It only measures conditional probability. Confidence can be high even when the consequent item is already very frequent in the database. In that case, the rule may look strong, but actually the antecedent does not increase the chance of the consequent. So confidence can be misleading.</a:t>
            </a:r>
          </a:p>
        </p:txBody>
      </p:sp>
      <p:sp>
        <p:nvSpPr>
          <p:cNvPr id="6" name="TextBox 5">
            <a:extLst>
              <a:ext uri="{FF2B5EF4-FFF2-40B4-BE49-F238E27FC236}">
                <a16:creationId xmlns:a16="http://schemas.microsoft.com/office/drawing/2014/main" id="{BF51870E-8A8C-58C8-F369-9BF00EF25505}"/>
              </a:ext>
            </a:extLst>
          </p:cNvPr>
          <p:cNvSpPr txBox="1"/>
          <p:nvPr/>
        </p:nvSpPr>
        <p:spPr>
          <a:xfrm>
            <a:off x="762000" y="3429000"/>
            <a:ext cx="7924800" cy="1754326"/>
          </a:xfrm>
          <a:prstGeom prst="rect">
            <a:avLst/>
          </a:prstGeom>
          <a:noFill/>
        </p:spPr>
        <p:txBody>
          <a:bodyPr wrap="square">
            <a:spAutoFit/>
          </a:bodyPr>
          <a:lstStyle/>
          <a:p>
            <a:r>
              <a:rPr lang="en-US" dirty="0"/>
              <a:t>Suppose the rule is </a:t>
            </a:r>
            <a:r>
              <a:rPr lang="en-US" b="1" dirty="0"/>
              <a:t>Tea → Coffee</a:t>
            </a:r>
            <a:r>
              <a:rPr lang="en-US" dirty="0"/>
              <a:t>. Its confidence is high, for example 0.75, which seems to mean that tea drinkers often drink coffee. But if the overall probability of coffee is even higher, for example 0.90, then knowing that a person drinks tea actually lowers the chance that the person drinks coffee. So even though confidence is high, the rule is not positively associated. This shows that confidence alone is not enough to judge rule quality.</a:t>
            </a:r>
          </a:p>
        </p:txBody>
      </p:sp>
    </p:spTree>
    <p:extLst>
      <p:ext uri="{BB962C8B-B14F-4D97-AF65-F5344CB8AC3E}">
        <p14:creationId xmlns:p14="http://schemas.microsoft.com/office/powerpoint/2010/main" val="9229425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p:txBody>
          <a:bodyPr/>
          <a:lstStyle/>
          <a:p>
            <a:r>
              <a:rPr lang="en-US" altLang="en-US"/>
              <a:t>Measure for Association Rules</a:t>
            </a:r>
          </a:p>
        </p:txBody>
      </p:sp>
      <p:sp>
        <p:nvSpPr>
          <p:cNvPr id="81923" name="Rectangle 3"/>
          <p:cNvSpPr>
            <a:spLocks noGrp="1" noChangeArrowheads="1"/>
          </p:cNvSpPr>
          <p:nvPr>
            <p:ph type="body" idx="4294967295"/>
          </p:nvPr>
        </p:nvSpPr>
        <p:spPr/>
        <p:txBody>
          <a:bodyPr/>
          <a:lstStyle/>
          <a:p>
            <a:r>
              <a:rPr lang="en-US" altLang="en-US"/>
              <a:t>So, what kind of rules do we really want?</a:t>
            </a:r>
          </a:p>
          <a:p>
            <a:pPr lvl="1"/>
            <a:r>
              <a:rPr lang="en-US" altLang="en-US"/>
              <a:t>Confidence(X </a:t>
            </a:r>
            <a:r>
              <a:rPr lang="en-US" altLang="en-US">
                <a:sym typeface="Symbol" pitchFamily="18" charset="2"/>
              </a:rPr>
              <a:t> Y)</a:t>
            </a:r>
            <a:r>
              <a:rPr lang="en-US" altLang="en-US"/>
              <a:t> should be sufficiently high </a:t>
            </a:r>
          </a:p>
          <a:p>
            <a:pPr lvl="2"/>
            <a:r>
              <a:rPr lang="en-US" altLang="en-US"/>
              <a:t> To ensure that people who buy X will more likely buy Y than not buy Y</a:t>
            </a:r>
          </a:p>
          <a:p>
            <a:pPr lvl="1"/>
            <a:endParaRPr lang="en-US" altLang="en-US"/>
          </a:p>
          <a:p>
            <a:pPr lvl="1"/>
            <a:r>
              <a:rPr lang="en-US" altLang="en-US"/>
              <a:t>Confidence(X </a:t>
            </a:r>
            <a:r>
              <a:rPr lang="en-US" altLang="en-US">
                <a:sym typeface="Symbol" pitchFamily="18" charset="2"/>
              </a:rPr>
              <a:t> Y) &gt; support(Y) </a:t>
            </a:r>
          </a:p>
          <a:p>
            <a:pPr lvl="2"/>
            <a:r>
              <a:rPr lang="en-US" altLang="en-US">
                <a:sym typeface="Symbol" pitchFamily="18" charset="2"/>
              </a:rPr>
              <a:t> Otherwise, rule will be misleading because having item X actually reduces the chance of having item Y in the same transaction</a:t>
            </a:r>
          </a:p>
          <a:p>
            <a:pPr lvl="2"/>
            <a:r>
              <a:rPr lang="en-US" altLang="en-US">
                <a:sym typeface="Symbol" pitchFamily="18" charset="2"/>
              </a:rPr>
              <a:t> Is there any measure that capture this constraint?</a:t>
            </a:r>
          </a:p>
          <a:p>
            <a:pPr lvl="3"/>
            <a:r>
              <a:rPr lang="en-US" altLang="en-US">
                <a:sym typeface="Symbol" pitchFamily="18" charset="2"/>
              </a:rPr>
              <a:t>Answer: Yes. There are many of them.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624264-3F00-FF43-399C-518A25BDA06B}"/>
              </a:ext>
            </a:extLst>
          </p:cNvPr>
          <p:cNvSpPr>
            <a:spLocks noGrp="1"/>
          </p:cNvSpPr>
          <p:nvPr>
            <p:ph type="sldNum" sz="quarter" idx="12"/>
          </p:nvPr>
        </p:nvSpPr>
        <p:spPr/>
        <p:txBody>
          <a:bodyPr/>
          <a:lstStyle/>
          <a:p>
            <a:pPr>
              <a:defRPr/>
            </a:pPr>
            <a:fld id="{E32456F1-5FD4-4074-A7F5-122F6C81D70D}" type="slidenum">
              <a:rPr lang="en-US" altLang="en-US" smtClean="0"/>
              <a:pPr>
                <a:defRPr/>
              </a:pPr>
              <a:t>43</a:t>
            </a:fld>
            <a:endParaRPr lang="en-US" altLang="en-US"/>
          </a:p>
        </p:txBody>
      </p:sp>
      <p:pic>
        <p:nvPicPr>
          <p:cNvPr id="4" name="Picture 3">
            <a:extLst>
              <a:ext uri="{FF2B5EF4-FFF2-40B4-BE49-F238E27FC236}">
                <a16:creationId xmlns:a16="http://schemas.microsoft.com/office/drawing/2014/main" id="{5A8D836F-2FCE-3AB3-2952-C10DFC41ED62}"/>
              </a:ext>
            </a:extLst>
          </p:cNvPr>
          <p:cNvPicPr>
            <a:picLocks noChangeAspect="1"/>
          </p:cNvPicPr>
          <p:nvPr/>
        </p:nvPicPr>
        <p:blipFill>
          <a:blip r:embed="rId2"/>
          <a:stretch>
            <a:fillRect/>
          </a:stretch>
        </p:blipFill>
        <p:spPr>
          <a:xfrm>
            <a:off x="457200" y="1752600"/>
            <a:ext cx="8534400" cy="2865223"/>
          </a:xfrm>
          <a:prstGeom prst="rect">
            <a:avLst/>
          </a:prstGeom>
        </p:spPr>
      </p:pic>
    </p:spTree>
    <p:extLst>
      <p:ext uri="{BB962C8B-B14F-4D97-AF65-F5344CB8AC3E}">
        <p14:creationId xmlns:p14="http://schemas.microsoft.com/office/powerpoint/2010/main" val="42655523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idx="4294967295"/>
          </p:nvPr>
        </p:nvSpPr>
        <p:spPr>
          <a:xfrm>
            <a:off x="228600" y="304800"/>
            <a:ext cx="7543800" cy="808038"/>
          </a:xfrm>
        </p:spPr>
        <p:txBody>
          <a:bodyPr/>
          <a:lstStyle/>
          <a:p>
            <a:r>
              <a:rPr lang="en-US" altLang="en-US" dirty="0"/>
              <a:t>Statistical Independence</a:t>
            </a:r>
          </a:p>
        </p:txBody>
      </p:sp>
      <p:sp>
        <p:nvSpPr>
          <p:cNvPr id="82947" name="Rectangle 3"/>
          <p:cNvSpPr>
            <a:spLocks noGrp="1" noChangeArrowheads="1"/>
          </p:cNvSpPr>
          <p:nvPr>
            <p:ph type="body" idx="4294967295"/>
          </p:nvPr>
        </p:nvSpPr>
        <p:spPr>
          <a:xfrm>
            <a:off x="381000" y="1219200"/>
            <a:ext cx="8229600" cy="4411662"/>
          </a:xfrm>
        </p:spPr>
        <p:txBody>
          <a:bodyPr/>
          <a:lstStyle/>
          <a:p>
            <a:r>
              <a:rPr lang="en-US" altLang="en-US" dirty="0"/>
              <a:t>The criterion </a:t>
            </a:r>
            <a:br>
              <a:rPr lang="en-US" altLang="en-US" dirty="0"/>
            </a:br>
            <a:r>
              <a:rPr lang="en-US" altLang="en-US" dirty="0"/>
              <a:t>	confidence(X </a:t>
            </a:r>
            <a:r>
              <a:rPr lang="en-US" altLang="en-US" dirty="0">
                <a:sym typeface="Symbol" pitchFamily="18" charset="2"/>
              </a:rPr>
              <a:t> Y) = support(Y) </a:t>
            </a:r>
            <a:br>
              <a:rPr lang="en-US" altLang="en-US" dirty="0">
                <a:sym typeface="Symbol" pitchFamily="18" charset="2"/>
              </a:rPr>
            </a:br>
            <a:endParaRPr lang="en-US" altLang="en-US" dirty="0">
              <a:sym typeface="Symbol" pitchFamily="18" charset="2"/>
            </a:endParaRPr>
          </a:p>
          <a:p>
            <a:pPr>
              <a:buFont typeface="Monotype Sorts" pitchFamily="2" charset="2"/>
              <a:buNone/>
            </a:pPr>
            <a:r>
              <a:rPr lang="en-US" altLang="en-US" dirty="0">
                <a:sym typeface="Symbol" pitchFamily="18" charset="2"/>
              </a:rPr>
              <a:t>	is equivalent to:</a:t>
            </a:r>
          </a:p>
          <a:p>
            <a:pPr lvl="1"/>
            <a:r>
              <a:rPr lang="en-US" altLang="en-US" dirty="0">
                <a:sym typeface="Symbol" pitchFamily="18" charset="2"/>
              </a:rPr>
              <a:t>P(Y|X) = P(Y)</a:t>
            </a:r>
          </a:p>
          <a:p>
            <a:pPr lvl="1"/>
            <a:r>
              <a:rPr lang="en-US" altLang="en-US" dirty="0">
                <a:sym typeface="Symbol" pitchFamily="18" charset="2"/>
              </a:rPr>
              <a:t>P(X,Y) = P(X)  P(Y)</a:t>
            </a:r>
          </a:p>
          <a:p>
            <a:pPr lvl="1">
              <a:buFont typeface="Arial" charset="0"/>
              <a:buNone/>
            </a:pPr>
            <a:r>
              <a:rPr lang="en-US" altLang="en-US" dirty="0">
                <a:sym typeface="Symbol" pitchFamily="18" charset="2"/>
              </a:rPr>
              <a:t>	</a:t>
            </a:r>
          </a:p>
          <a:p>
            <a:pPr lvl="1">
              <a:buFont typeface="Arial" charset="0"/>
              <a:buNone/>
            </a:pPr>
            <a:r>
              <a:rPr lang="en-US" altLang="en-US" dirty="0">
                <a:sym typeface="Symbol" pitchFamily="18" charset="2"/>
              </a:rPr>
              <a:t>If P(X,Y) &gt; P(X) </a:t>
            </a:r>
            <a:r>
              <a:rPr lang="en-US" altLang="en-US" sz="2000" dirty="0">
                <a:sym typeface="Symbol" pitchFamily="18" charset="2"/>
              </a:rPr>
              <a:t></a:t>
            </a:r>
            <a:r>
              <a:rPr lang="en-US" altLang="en-US" dirty="0">
                <a:sym typeface="Symbol" pitchFamily="18" charset="2"/>
              </a:rPr>
              <a:t> P(Y) : X &amp; Y are positively correlated</a:t>
            </a:r>
          </a:p>
          <a:p>
            <a:pPr lvl="1">
              <a:buFont typeface="Arial" charset="0"/>
              <a:buNone/>
            </a:pPr>
            <a:endParaRPr lang="en-US" altLang="en-US" dirty="0">
              <a:sym typeface="Symbol" pitchFamily="18" charset="2"/>
            </a:endParaRPr>
          </a:p>
          <a:p>
            <a:pPr lvl="1">
              <a:buFont typeface="Arial" charset="0"/>
              <a:buNone/>
            </a:pPr>
            <a:r>
              <a:rPr lang="en-US" altLang="en-US" dirty="0">
                <a:sym typeface="Symbol" pitchFamily="18" charset="2"/>
              </a:rPr>
              <a:t>If P(X,Y) &lt; P(X)  P(Y) : X &amp; Y are negatively correlated</a:t>
            </a:r>
          </a:p>
          <a:p>
            <a:pPr lvl="1">
              <a:buFont typeface="Arial" charset="0"/>
              <a:buNone/>
            </a:pPr>
            <a:endParaRPr lang="en-US" altLang="en-US" dirty="0">
              <a:sym typeface="Symbol" pitchFamily="18" charset="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4437C3-3EF0-7658-7136-666445FEE66C}"/>
              </a:ext>
            </a:extLst>
          </p:cNvPr>
          <p:cNvSpPr>
            <a:spLocks noGrp="1"/>
          </p:cNvSpPr>
          <p:nvPr>
            <p:ph type="sldNum" sz="quarter" idx="12"/>
          </p:nvPr>
        </p:nvSpPr>
        <p:spPr/>
        <p:txBody>
          <a:bodyPr/>
          <a:lstStyle/>
          <a:p>
            <a:pPr>
              <a:defRPr/>
            </a:pPr>
            <a:fld id="{E32456F1-5FD4-4074-A7F5-122F6C81D70D}" type="slidenum">
              <a:rPr lang="en-US" altLang="en-US" smtClean="0"/>
              <a:pPr>
                <a:defRPr/>
              </a:pPr>
              <a:t>45</a:t>
            </a:fld>
            <a:endParaRPr lang="en-US" altLang="en-US"/>
          </a:p>
        </p:txBody>
      </p:sp>
      <p:pic>
        <p:nvPicPr>
          <p:cNvPr id="4" name="Picture 3">
            <a:extLst>
              <a:ext uri="{FF2B5EF4-FFF2-40B4-BE49-F238E27FC236}">
                <a16:creationId xmlns:a16="http://schemas.microsoft.com/office/drawing/2014/main" id="{C67919B1-35C4-BAA7-82F1-82EA90325D5E}"/>
              </a:ext>
            </a:extLst>
          </p:cNvPr>
          <p:cNvPicPr>
            <a:picLocks noChangeAspect="1"/>
          </p:cNvPicPr>
          <p:nvPr/>
        </p:nvPicPr>
        <p:blipFill>
          <a:blip r:embed="rId2"/>
          <a:stretch>
            <a:fillRect/>
          </a:stretch>
        </p:blipFill>
        <p:spPr>
          <a:xfrm>
            <a:off x="818824" y="1524000"/>
            <a:ext cx="7867975" cy="3733800"/>
          </a:xfrm>
          <a:prstGeom prst="rect">
            <a:avLst/>
          </a:prstGeom>
        </p:spPr>
      </p:pic>
    </p:spTree>
    <p:extLst>
      <p:ext uri="{BB962C8B-B14F-4D97-AF65-F5344CB8AC3E}">
        <p14:creationId xmlns:p14="http://schemas.microsoft.com/office/powerpoint/2010/main" val="6985128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idx="4294967295"/>
          </p:nvPr>
        </p:nvSpPr>
        <p:spPr>
          <a:xfrm>
            <a:off x="381000" y="228600"/>
            <a:ext cx="7543800" cy="731838"/>
          </a:xfrm>
        </p:spPr>
        <p:txBody>
          <a:bodyPr/>
          <a:lstStyle/>
          <a:p>
            <a:r>
              <a:rPr lang="en-US" altLang="en-US" sz="2000" dirty="0"/>
              <a:t>Measures that take into account statistical dependence</a:t>
            </a:r>
          </a:p>
        </p:txBody>
      </p:sp>
      <p:grpSp>
        <p:nvGrpSpPr>
          <p:cNvPr id="2" name="Group 1"/>
          <p:cNvGrpSpPr>
            <a:grpSpLocks/>
          </p:cNvGrpSpPr>
          <p:nvPr/>
        </p:nvGrpSpPr>
        <p:grpSpPr bwMode="auto">
          <a:xfrm>
            <a:off x="609600" y="1828800"/>
            <a:ext cx="7772400" cy="3810000"/>
            <a:chOff x="685800" y="2286000"/>
            <a:chExt cx="7772400" cy="3810000"/>
          </a:xfrm>
        </p:grpSpPr>
        <p:graphicFrame>
          <p:nvGraphicFramePr>
            <p:cNvPr id="83973" name="Object 4"/>
            <p:cNvGraphicFramePr>
              <a:graphicFrameLocks noChangeAspect="1"/>
            </p:cNvGraphicFramePr>
            <p:nvPr/>
          </p:nvGraphicFramePr>
          <p:xfrm>
            <a:off x="685800" y="2286000"/>
            <a:ext cx="7620000" cy="3810000"/>
          </p:xfrm>
          <a:graphic>
            <a:graphicData uri="http://schemas.openxmlformats.org/presentationml/2006/ole">
              <mc:AlternateContent xmlns:mc="http://schemas.openxmlformats.org/markup-compatibility/2006">
                <mc:Choice xmlns:v="urn:schemas-microsoft-com:vml" Requires="v">
                  <p:oleObj name="Equation" r:id="rId3" imgW="3098800" imgH="1549400" progId="Equation.3">
                    <p:embed/>
                  </p:oleObj>
                </mc:Choice>
                <mc:Fallback>
                  <p:oleObj name="Equation" r:id="rId3" imgW="3098800" imgH="15494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286000"/>
                          <a:ext cx="7620000" cy="38100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74" name="AutoShape 5"/>
            <p:cNvSpPr>
              <a:spLocks/>
            </p:cNvSpPr>
            <p:nvPr/>
          </p:nvSpPr>
          <p:spPr bwMode="auto">
            <a:xfrm>
              <a:off x="4419600" y="2362200"/>
              <a:ext cx="533400" cy="1905000"/>
            </a:xfrm>
            <a:prstGeom prst="rightBrace">
              <a:avLst>
                <a:gd name="adj1" fmla="val 29762"/>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83975" name="Text Box 6"/>
            <p:cNvSpPr txBox="1">
              <a:spLocks noChangeArrowheads="1"/>
            </p:cNvSpPr>
            <p:nvPr/>
          </p:nvSpPr>
          <p:spPr bwMode="auto">
            <a:xfrm>
              <a:off x="5105400" y="2819400"/>
              <a:ext cx="3352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800"/>
                <a:t>lift is used for rules while interest is used for itemsets</a:t>
              </a: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4398D5-EED5-2189-DC5B-924E216A9A3B}"/>
              </a:ext>
            </a:extLst>
          </p:cNvPr>
          <p:cNvSpPr>
            <a:spLocks noGrp="1"/>
          </p:cNvSpPr>
          <p:nvPr>
            <p:ph type="sldNum" sz="quarter" idx="12"/>
          </p:nvPr>
        </p:nvSpPr>
        <p:spPr/>
        <p:txBody>
          <a:bodyPr/>
          <a:lstStyle/>
          <a:p>
            <a:pPr>
              <a:defRPr/>
            </a:pPr>
            <a:fld id="{E32456F1-5FD4-4074-A7F5-122F6C81D70D}" type="slidenum">
              <a:rPr lang="en-US" altLang="en-US" smtClean="0"/>
              <a:pPr>
                <a:defRPr/>
              </a:pPr>
              <a:t>47</a:t>
            </a:fld>
            <a:endParaRPr lang="en-US" altLang="en-US"/>
          </a:p>
        </p:txBody>
      </p:sp>
      <p:pic>
        <p:nvPicPr>
          <p:cNvPr id="4" name="Picture 3">
            <a:extLst>
              <a:ext uri="{FF2B5EF4-FFF2-40B4-BE49-F238E27FC236}">
                <a16:creationId xmlns:a16="http://schemas.microsoft.com/office/drawing/2014/main" id="{9E3C60E5-04C3-D393-5DA4-740A8B757510}"/>
              </a:ext>
            </a:extLst>
          </p:cNvPr>
          <p:cNvPicPr>
            <a:picLocks noChangeAspect="1"/>
          </p:cNvPicPr>
          <p:nvPr/>
        </p:nvPicPr>
        <p:blipFill>
          <a:blip r:embed="rId2"/>
          <a:stretch>
            <a:fillRect/>
          </a:stretch>
        </p:blipFill>
        <p:spPr>
          <a:xfrm>
            <a:off x="662601" y="1524000"/>
            <a:ext cx="7818798" cy="3375953"/>
          </a:xfrm>
          <a:prstGeom prst="rect">
            <a:avLst/>
          </a:prstGeom>
        </p:spPr>
      </p:pic>
    </p:spTree>
    <p:extLst>
      <p:ext uri="{BB962C8B-B14F-4D97-AF65-F5344CB8AC3E}">
        <p14:creationId xmlns:p14="http://schemas.microsoft.com/office/powerpoint/2010/main" val="2756631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BE6616-C50D-2527-BFE2-9A29FBC35076}"/>
              </a:ext>
            </a:extLst>
          </p:cNvPr>
          <p:cNvSpPr>
            <a:spLocks noGrp="1"/>
          </p:cNvSpPr>
          <p:nvPr>
            <p:ph type="sldNum" sz="quarter" idx="12"/>
          </p:nvPr>
        </p:nvSpPr>
        <p:spPr/>
        <p:txBody>
          <a:bodyPr/>
          <a:lstStyle/>
          <a:p>
            <a:pPr>
              <a:defRPr/>
            </a:pPr>
            <a:fld id="{E32456F1-5FD4-4074-A7F5-122F6C81D70D}" type="slidenum">
              <a:rPr lang="en-US" altLang="en-US" smtClean="0"/>
              <a:pPr>
                <a:defRPr/>
              </a:pPr>
              <a:t>48</a:t>
            </a:fld>
            <a:endParaRPr lang="en-US" altLang="en-US"/>
          </a:p>
        </p:txBody>
      </p:sp>
      <p:pic>
        <p:nvPicPr>
          <p:cNvPr id="4" name="Picture 3">
            <a:extLst>
              <a:ext uri="{FF2B5EF4-FFF2-40B4-BE49-F238E27FC236}">
                <a16:creationId xmlns:a16="http://schemas.microsoft.com/office/drawing/2014/main" id="{68D5B0C4-3C31-6181-FAC5-02647D0510B8}"/>
              </a:ext>
            </a:extLst>
          </p:cNvPr>
          <p:cNvPicPr>
            <a:picLocks noChangeAspect="1"/>
          </p:cNvPicPr>
          <p:nvPr/>
        </p:nvPicPr>
        <p:blipFill>
          <a:blip r:embed="rId2"/>
          <a:stretch>
            <a:fillRect/>
          </a:stretch>
        </p:blipFill>
        <p:spPr>
          <a:xfrm>
            <a:off x="693262" y="1655380"/>
            <a:ext cx="7757475" cy="3547239"/>
          </a:xfrm>
          <a:prstGeom prst="rect">
            <a:avLst/>
          </a:prstGeom>
        </p:spPr>
      </p:pic>
    </p:spTree>
    <p:extLst>
      <p:ext uri="{BB962C8B-B14F-4D97-AF65-F5344CB8AC3E}">
        <p14:creationId xmlns:p14="http://schemas.microsoft.com/office/powerpoint/2010/main" val="33472036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1F0928-90FA-0AB4-D353-60BCEDB8BB19}"/>
              </a:ext>
            </a:extLst>
          </p:cNvPr>
          <p:cNvSpPr>
            <a:spLocks noGrp="1"/>
          </p:cNvSpPr>
          <p:nvPr>
            <p:ph type="sldNum" sz="quarter" idx="12"/>
          </p:nvPr>
        </p:nvSpPr>
        <p:spPr/>
        <p:txBody>
          <a:bodyPr/>
          <a:lstStyle/>
          <a:p>
            <a:pPr>
              <a:defRPr/>
            </a:pPr>
            <a:fld id="{E32456F1-5FD4-4074-A7F5-122F6C81D70D}" type="slidenum">
              <a:rPr lang="en-US" altLang="en-US" smtClean="0"/>
              <a:pPr>
                <a:defRPr/>
              </a:pPr>
              <a:t>49</a:t>
            </a:fld>
            <a:endParaRPr lang="en-US" altLang="en-US"/>
          </a:p>
        </p:txBody>
      </p:sp>
      <p:sp>
        <p:nvSpPr>
          <p:cNvPr id="4" name="TextBox 3">
            <a:extLst>
              <a:ext uri="{FF2B5EF4-FFF2-40B4-BE49-F238E27FC236}">
                <a16:creationId xmlns:a16="http://schemas.microsoft.com/office/drawing/2014/main" id="{B321ACA3-5A87-B74E-EB3C-7F8809F87150}"/>
              </a:ext>
            </a:extLst>
          </p:cNvPr>
          <p:cNvSpPr txBox="1"/>
          <p:nvPr/>
        </p:nvSpPr>
        <p:spPr>
          <a:xfrm>
            <a:off x="533400" y="1143000"/>
            <a:ext cx="8382000" cy="2031325"/>
          </a:xfrm>
          <a:prstGeom prst="rect">
            <a:avLst/>
          </a:prstGeom>
          <a:noFill/>
        </p:spPr>
        <p:txBody>
          <a:bodyPr wrap="square">
            <a:spAutoFit/>
          </a:bodyPr>
          <a:lstStyle/>
          <a:p>
            <a:pPr>
              <a:buNone/>
            </a:pPr>
            <a:r>
              <a:rPr lang="en-US" b="1" dirty="0"/>
              <a:t>14) Why is lift better than confidence?</a:t>
            </a:r>
          </a:p>
          <a:p>
            <a:pPr>
              <a:buNone/>
            </a:pPr>
            <a:r>
              <a:rPr lang="en-US" b="1" dirty="0"/>
              <a:t>Answer:</a:t>
            </a:r>
            <a:br>
              <a:rPr lang="en-US" dirty="0"/>
            </a:br>
            <a:r>
              <a:rPr lang="en-US" dirty="0"/>
              <a:t>Lift is better than confidence because lift compares the observed association with the expected association under independence. Confidence only looks at conditional probability and ignores how common the consequent is in the full database. Therefore, confidence can be high even for misleading rules, while lift gives a better idea of true dependence.</a:t>
            </a:r>
          </a:p>
        </p:txBody>
      </p:sp>
      <p:sp>
        <p:nvSpPr>
          <p:cNvPr id="6" name="TextBox 5">
            <a:extLst>
              <a:ext uri="{FF2B5EF4-FFF2-40B4-BE49-F238E27FC236}">
                <a16:creationId xmlns:a16="http://schemas.microsoft.com/office/drawing/2014/main" id="{F9EBEDAC-B4B5-E16E-64C7-1FCEB644594B}"/>
              </a:ext>
            </a:extLst>
          </p:cNvPr>
          <p:cNvSpPr txBox="1"/>
          <p:nvPr/>
        </p:nvSpPr>
        <p:spPr>
          <a:xfrm>
            <a:off x="422188" y="3337679"/>
            <a:ext cx="8264611" cy="1754326"/>
          </a:xfrm>
          <a:prstGeom prst="rect">
            <a:avLst/>
          </a:prstGeom>
          <a:noFill/>
        </p:spPr>
        <p:txBody>
          <a:bodyPr wrap="square">
            <a:spAutoFit/>
          </a:bodyPr>
          <a:lstStyle/>
          <a:p>
            <a:pPr>
              <a:buNone/>
            </a:pPr>
            <a:r>
              <a:rPr lang="en-US" b="1" dirty="0"/>
              <a:t>15) Is confidence or lift enough for pruning all bad rules?</a:t>
            </a:r>
          </a:p>
          <a:p>
            <a:pPr>
              <a:buNone/>
            </a:pPr>
            <a:r>
              <a:rPr lang="en-US" b="1" dirty="0"/>
              <a:t>Answer:</a:t>
            </a:r>
            <a:br>
              <a:rPr lang="en-US" dirty="0"/>
            </a:br>
            <a:r>
              <a:rPr lang="en-US" dirty="0"/>
              <a:t>No, confidence and lift are not always enough. Confidence can be misleading, and lift only checks statistical dependence in a limited way. To evaluate rules more properly, we may need additional measures such as chi-square, phi coefficient, and other correlation-based measures.</a:t>
            </a:r>
          </a:p>
        </p:txBody>
      </p:sp>
    </p:spTree>
    <p:extLst>
      <p:ext uri="{BB962C8B-B14F-4D97-AF65-F5344CB8AC3E}">
        <p14:creationId xmlns:p14="http://schemas.microsoft.com/office/powerpoint/2010/main" val="531839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134959-2205-1BE3-EB31-F9E1FE6C4288}"/>
              </a:ext>
            </a:extLst>
          </p:cNvPr>
          <p:cNvSpPr>
            <a:spLocks noGrp="1"/>
          </p:cNvSpPr>
          <p:nvPr>
            <p:ph type="sldNum" sz="quarter" idx="12"/>
          </p:nvPr>
        </p:nvSpPr>
        <p:spPr/>
        <p:txBody>
          <a:bodyPr/>
          <a:lstStyle/>
          <a:p>
            <a:pPr>
              <a:defRPr/>
            </a:pPr>
            <a:fld id="{E32456F1-5FD4-4074-A7F5-122F6C81D70D}" type="slidenum">
              <a:rPr lang="en-US" altLang="en-US" smtClean="0"/>
              <a:pPr>
                <a:defRPr/>
              </a:pPr>
              <a:t>50</a:t>
            </a:fld>
            <a:endParaRPr lang="en-US" altLang="en-US"/>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40824E9-72B7-262A-ABA1-265C70A2314D}"/>
                  </a:ext>
                </a:extLst>
              </p:cNvPr>
              <p:cNvSpPr txBox="1"/>
              <p:nvPr/>
            </p:nvSpPr>
            <p:spPr>
              <a:xfrm>
                <a:off x="381000" y="762000"/>
                <a:ext cx="8153400" cy="2308324"/>
              </a:xfrm>
              <a:prstGeom prst="rect">
                <a:avLst/>
              </a:prstGeom>
              <a:noFill/>
            </p:spPr>
            <p:txBody>
              <a:bodyPr wrap="square">
                <a:spAutoFit/>
              </a:bodyPr>
              <a:lstStyle/>
              <a:p>
                <a:pPr>
                  <a:buNone/>
                </a:pPr>
                <a:r>
                  <a:rPr lang="en-US" b="1" dirty="0"/>
                  <a:t>17) Compare support, confidence, and lift.</a:t>
                </a:r>
              </a:p>
              <a:p>
                <a:pPr>
                  <a:buNone/>
                </a:pPr>
                <a:r>
                  <a:rPr lang="en-US" b="1" dirty="0"/>
                  <a:t>Answer:</a:t>
                </a:r>
                <a:br>
                  <a:rPr lang="en-US" dirty="0"/>
                </a:br>
                <a:r>
                  <a:rPr lang="en-US" b="1" dirty="0"/>
                  <a:t>Support</a:t>
                </a:r>
                <a:r>
                  <a:rPr lang="en-US" dirty="0"/>
                  <a:t> measures how frequently a rule appears in the database.</a:t>
                </a:r>
                <a:br>
                  <a:rPr lang="en-US" dirty="0"/>
                </a:br>
                <a:r>
                  <a:rPr lang="en-US" b="1" dirty="0"/>
                  <a:t>Confidence</a:t>
                </a:r>
                <a:r>
                  <a:rPr lang="en-US" dirty="0"/>
                  <a:t> measures how often </a:t>
                </a:r>
                <a14:m>
                  <m:oMath xmlns:m="http://schemas.openxmlformats.org/officeDocument/2006/math">
                    <m:r>
                      <a:rPr lang="en-US" i="1">
                        <a:latin typeface="Cambria Math" panose="02040503050406030204" pitchFamily="18" charset="0"/>
                      </a:rPr>
                      <m:t>𝑌</m:t>
                    </m:r>
                  </m:oMath>
                </a14:m>
                <a:r>
                  <a:rPr lang="en-US" dirty="0"/>
                  <a:t>appears when </a:t>
                </a:r>
                <a14:m>
                  <m:oMath xmlns:m="http://schemas.openxmlformats.org/officeDocument/2006/math">
                    <m:r>
                      <a:rPr lang="en-US" i="1">
                        <a:latin typeface="Cambria Math" panose="02040503050406030204" pitchFamily="18" charset="0"/>
                      </a:rPr>
                      <m:t>𝑋</m:t>
                    </m:r>
                  </m:oMath>
                </a14:m>
                <a:r>
                  <a:rPr lang="en-US" dirty="0"/>
                  <a:t>appears.</a:t>
                </a:r>
                <a:br>
                  <a:rPr lang="en-US" dirty="0"/>
                </a:br>
                <a:r>
                  <a:rPr lang="en-US" b="1" dirty="0"/>
                  <a:t>Lift</a:t>
                </a:r>
                <a:r>
                  <a:rPr lang="en-US" dirty="0"/>
                  <a:t> measures whether </a:t>
                </a:r>
                <a14:m>
                  <m:oMath xmlns:m="http://schemas.openxmlformats.org/officeDocument/2006/math">
                    <m:r>
                      <a:rPr lang="en-US" i="1">
                        <a:latin typeface="Cambria Math" panose="02040503050406030204" pitchFamily="18" charset="0"/>
                      </a:rPr>
                      <m:t>𝑋</m:t>
                    </m:r>
                  </m:oMath>
                </a14:m>
                <a:r>
                  <a:rPr lang="en-US" dirty="0"/>
                  <a:t>and </a:t>
                </a:r>
                <a14:m>
                  <m:oMath xmlns:m="http://schemas.openxmlformats.org/officeDocument/2006/math">
                    <m:r>
                      <a:rPr lang="en-US" i="1">
                        <a:latin typeface="Cambria Math" panose="02040503050406030204" pitchFamily="18" charset="0"/>
                      </a:rPr>
                      <m:t>𝑌</m:t>
                    </m:r>
                  </m:oMath>
                </a14:m>
                <a:r>
                  <a:rPr lang="en-US" dirty="0"/>
                  <a:t>occur together more often than expected under independence.</a:t>
                </a:r>
              </a:p>
              <a:p>
                <a:pPr>
                  <a:buNone/>
                </a:pPr>
                <a:r>
                  <a:rPr lang="en-US" dirty="0"/>
                  <a:t>So support measures frequency, confidence measures rule strength, and lift measures correlation or dependence.</a:t>
                </a:r>
              </a:p>
            </p:txBody>
          </p:sp>
        </mc:Choice>
        <mc:Fallback>
          <p:sp>
            <p:nvSpPr>
              <p:cNvPr id="4" name="TextBox 3">
                <a:extLst>
                  <a:ext uri="{FF2B5EF4-FFF2-40B4-BE49-F238E27FC236}">
                    <a16:creationId xmlns:a16="http://schemas.microsoft.com/office/drawing/2014/main" id="{040824E9-72B7-262A-ABA1-265C70A2314D}"/>
                  </a:ext>
                </a:extLst>
              </p:cNvPr>
              <p:cNvSpPr txBox="1">
                <a:spLocks noRot="1" noChangeAspect="1" noMove="1" noResize="1" noEditPoints="1" noAdjustHandles="1" noChangeArrowheads="1" noChangeShapeType="1" noTextEdit="1"/>
              </p:cNvSpPr>
              <p:nvPr/>
            </p:nvSpPr>
            <p:spPr>
              <a:xfrm>
                <a:off x="381000" y="762000"/>
                <a:ext cx="8153400" cy="2308324"/>
              </a:xfrm>
              <a:prstGeom prst="rect">
                <a:avLst/>
              </a:prstGeom>
              <a:blipFill>
                <a:blip r:embed="rId2"/>
                <a:stretch>
                  <a:fillRect l="-673" t="-1319" r="-150" b="-3166"/>
                </a:stretch>
              </a:blipFill>
            </p:spPr>
            <p:txBody>
              <a:bodyPr/>
              <a:lstStyle/>
              <a:p>
                <a:r>
                  <a:rPr lang="en-US">
                    <a:noFill/>
                  </a:rPr>
                  <a:t> </a:t>
                </a:r>
              </a:p>
            </p:txBody>
          </p:sp>
        </mc:Fallback>
      </mc:AlternateContent>
    </p:spTree>
    <p:extLst>
      <p:ext uri="{BB962C8B-B14F-4D97-AF65-F5344CB8AC3E}">
        <p14:creationId xmlns:p14="http://schemas.microsoft.com/office/powerpoint/2010/main" val="11663509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idx="4294967295"/>
          </p:nvPr>
        </p:nvSpPr>
        <p:spPr>
          <a:xfrm>
            <a:off x="381000" y="152400"/>
            <a:ext cx="7543800" cy="808038"/>
          </a:xfrm>
        </p:spPr>
        <p:txBody>
          <a:bodyPr/>
          <a:lstStyle/>
          <a:p>
            <a:r>
              <a:rPr lang="en-US" altLang="en-US"/>
              <a:t>Example: Lift/Interest</a:t>
            </a:r>
          </a:p>
        </p:txBody>
      </p:sp>
      <p:graphicFrame>
        <p:nvGraphicFramePr>
          <p:cNvPr id="1345539" name="Group 3"/>
          <p:cNvGraphicFramePr>
            <a:graphicFrameLocks noGrp="1"/>
          </p:cNvGraphicFramePr>
          <p:nvPr/>
        </p:nvGraphicFramePr>
        <p:xfrm>
          <a:off x="1066800" y="1219200"/>
          <a:ext cx="4038600" cy="1971676"/>
        </p:xfrm>
        <a:graphic>
          <a:graphicData uri="http://schemas.openxmlformats.org/drawingml/2006/table">
            <a:tbl>
              <a:tblPr/>
              <a:tblGrid>
                <a:gridCol w="1009650">
                  <a:extLst>
                    <a:ext uri="{9D8B030D-6E8A-4147-A177-3AD203B41FA5}">
                      <a16:colId xmlns:a16="http://schemas.microsoft.com/office/drawing/2014/main" val="20000"/>
                    </a:ext>
                  </a:extLst>
                </a:gridCol>
                <a:gridCol w="1009650">
                  <a:extLst>
                    <a:ext uri="{9D8B030D-6E8A-4147-A177-3AD203B41FA5}">
                      <a16:colId xmlns:a16="http://schemas.microsoft.com/office/drawing/2014/main" val="20001"/>
                    </a:ext>
                  </a:extLst>
                </a:gridCol>
                <a:gridCol w="1009650">
                  <a:extLst>
                    <a:ext uri="{9D8B030D-6E8A-4147-A177-3AD203B41FA5}">
                      <a16:colId xmlns:a16="http://schemas.microsoft.com/office/drawing/2014/main" val="20002"/>
                    </a:ext>
                  </a:extLst>
                </a:gridCol>
                <a:gridCol w="1009650">
                  <a:extLst>
                    <a:ext uri="{9D8B030D-6E8A-4147-A177-3AD203B41FA5}">
                      <a16:colId xmlns:a16="http://schemas.microsoft.com/office/drawing/2014/main" val="20003"/>
                    </a:ext>
                  </a:extLst>
                </a:gridCol>
              </a:tblGrid>
              <a:tr h="782572">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dirty="0">
                        <a:ln>
                          <a:noFill/>
                        </a:ln>
                        <a:solidFill>
                          <a:schemeClr val="tx1"/>
                        </a:solidFill>
                        <a:effectLst/>
                        <a:latin typeface="Arial" charset="0"/>
                      </a:endParaRP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Coffee</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Coffee</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68">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Tea</a:t>
                      </a: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15</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5</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20</a:t>
                      </a: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68">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Tea</a:t>
                      </a: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75</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5</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80</a:t>
                      </a: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368">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dirty="0">
                        <a:ln>
                          <a:noFill/>
                        </a:ln>
                        <a:solidFill>
                          <a:schemeClr val="tx1"/>
                        </a:solidFill>
                        <a:effectLst/>
                        <a:latin typeface="Arial" charset="0"/>
                      </a:endParaRPr>
                    </a:p>
                  </a:txBody>
                  <a:tcPr marT="45735" marB="4573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90</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a:t>
                      </a:r>
                    </a:p>
                  </a:txBody>
                  <a:tcPr marT="45735" marB="4573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100</a:t>
                      </a:r>
                    </a:p>
                  </a:txBody>
                  <a:tcPr marT="45735" marB="4573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5022" name="Line 30"/>
          <p:cNvSpPr>
            <a:spLocks noChangeShapeType="1"/>
          </p:cNvSpPr>
          <p:nvPr/>
        </p:nvSpPr>
        <p:spPr bwMode="auto">
          <a:xfrm>
            <a:off x="3200400" y="1600200"/>
            <a:ext cx="76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23" name="Line 31"/>
          <p:cNvSpPr>
            <a:spLocks noChangeShapeType="1"/>
          </p:cNvSpPr>
          <p:nvPr/>
        </p:nvSpPr>
        <p:spPr bwMode="auto">
          <a:xfrm>
            <a:off x="1371600" y="2438400"/>
            <a:ext cx="381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24" name="Text Box 32"/>
          <p:cNvSpPr txBox="1">
            <a:spLocks noChangeArrowheads="1"/>
          </p:cNvSpPr>
          <p:nvPr/>
        </p:nvSpPr>
        <p:spPr bwMode="auto">
          <a:xfrm>
            <a:off x="685800" y="3444875"/>
            <a:ext cx="8077200" cy="265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eaLnBrk="1" hangingPunct="1">
              <a:spcBef>
                <a:spcPct val="50000"/>
              </a:spcBef>
              <a:spcAft>
                <a:spcPct val="0"/>
              </a:spcAft>
              <a:buClrTx/>
              <a:buSzTx/>
              <a:buFontTx/>
              <a:buNone/>
            </a:pPr>
            <a:r>
              <a:rPr lang="en-US" altLang="en-US" sz="2000" b="0">
                <a:latin typeface="Tahoma" pitchFamily="34" charset="0"/>
              </a:rPr>
              <a:t>           </a:t>
            </a:r>
            <a:r>
              <a:rPr lang="en-US" altLang="en-US" sz="2400" b="0">
                <a:solidFill>
                  <a:srgbClr val="CC3300"/>
                </a:solidFill>
                <a:latin typeface="Tahoma" pitchFamily="34" charset="0"/>
              </a:rPr>
              <a:t>Association Rule: Tea </a:t>
            </a:r>
            <a:r>
              <a:rPr lang="en-US" altLang="en-US" sz="2400" b="0">
                <a:solidFill>
                  <a:srgbClr val="CC3300"/>
                </a:solidFill>
                <a:latin typeface="Tahoma" pitchFamily="34" charset="0"/>
                <a:sym typeface="Symbol" pitchFamily="18" charset="2"/>
              </a:rPr>
              <a:t> Coffee</a:t>
            </a:r>
            <a:br>
              <a:rPr lang="en-US" altLang="en-US" sz="2400" b="0">
                <a:solidFill>
                  <a:srgbClr val="CC3300"/>
                </a:solidFill>
                <a:latin typeface="Tahoma" pitchFamily="34" charset="0"/>
                <a:sym typeface="Symbol" pitchFamily="18" charset="2"/>
              </a:rPr>
            </a:br>
            <a:endParaRPr lang="en-US" altLang="en-US" sz="2400" b="0">
              <a:solidFill>
                <a:srgbClr val="CC3300"/>
              </a:solidFill>
              <a:latin typeface="Tahoma" pitchFamily="34" charset="0"/>
            </a:endParaRPr>
          </a:p>
          <a:p>
            <a:pPr eaLnBrk="1" hangingPunct="1">
              <a:spcBef>
                <a:spcPct val="50000"/>
              </a:spcBef>
              <a:spcAft>
                <a:spcPct val="0"/>
              </a:spcAft>
              <a:buClrTx/>
              <a:buSzTx/>
              <a:buFontTx/>
              <a:buNone/>
            </a:pPr>
            <a:r>
              <a:rPr lang="en-US" altLang="en-US" sz="2000" b="0">
                <a:latin typeface="Tahoma" pitchFamily="34" charset="0"/>
              </a:rPr>
              <a:t>Confidence= P(Coffee|Tea) = </a:t>
            </a:r>
            <a:r>
              <a:rPr lang="en-US" altLang="en-US" sz="2000" b="0">
                <a:solidFill>
                  <a:srgbClr val="FF0000"/>
                </a:solidFill>
                <a:latin typeface="Tahoma" pitchFamily="34" charset="0"/>
              </a:rPr>
              <a:t>0.75</a:t>
            </a:r>
          </a:p>
          <a:p>
            <a:pPr eaLnBrk="1" hangingPunct="1">
              <a:spcBef>
                <a:spcPct val="50000"/>
              </a:spcBef>
              <a:spcAft>
                <a:spcPct val="0"/>
              </a:spcAft>
              <a:buClrTx/>
              <a:buSzTx/>
              <a:buFontTx/>
              <a:buNone/>
            </a:pPr>
            <a:r>
              <a:rPr lang="en-US" altLang="en-US" sz="2000" b="0">
                <a:latin typeface="Tahoma" pitchFamily="34" charset="0"/>
              </a:rPr>
              <a:t>but P(Coffee) = </a:t>
            </a:r>
            <a:r>
              <a:rPr lang="en-US" altLang="en-US" sz="2000" b="0">
                <a:solidFill>
                  <a:srgbClr val="FF0000"/>
                </a:solidFill>
                <a:latin typeface="Tahoma" pitchFamily="34" charset="0"/>
              </a:rPr>
              <a:t>0.9</a:t>
            </a:r>
          </a:p>
          <a:p>
            <a:pPr eaLnBrk="1" hangingPunct="1">
              <a:spcBef>
                <a:spcPct val="50000"/>
              </a:spcBef>
              <a:spcAft>
                <a:spcPct val="0"/>
              </a:spcAft>
              <a:buClrTx/>
              <a:buSzTx/>
              <a:buFont typeface="Symbol" pitchFamily="18" charset="2"/>
              <a:buChar char="Þ"/>
            </a:pPr>
            <a:r>
              <a:rPr lang="en-US" altLang="en-US" sz="2000" b="0">
                <a:latin typeface="Tahoma" pitchFamily="34" charset="0"/>
                <a:sym typeface="Symbol" pitchFamily="18" charset="2"/>
              </a:rPr>
              <a:t> Lift =</a:t>
            </a:r>
            <a:r>
              <a:rPr lang="en-US" altLang="en-US" sz="2000" b="0">
                <a:latin typeface="Tahoma" pitchFamily="34" charset="0"/>
              </a:rPr>
              <a:t> 0.75/0.9= 0.8333 (&lt; 1, therefore is negatively associated)</a:t>
            </a:r>
          </a:p>
          <a:p>
            <a:pPr eaLnBrk="1" hangingPunct="1">
              <a:spcBef>
                <a:spcPct val="50000"/>
              </a:spcBef>
              <a:spcAft>
                <a:spcPct val="0"/>
              </a:spcAft>
              <a:buClrTx/>
              <a:buSzTx/>
              <a:buFont typeface="Symbol" pitchFamily="18" charset="2"/>
              <a:buNone/>
            </a:pPr>
            <a:r>
              <a:rPr lang="en-US" altLang="en-US" sz="2000" b="0">
                <a:latin typeface="Tahoma" pitchFamily="34" charset="0"/>
              </a:rPr>
              <a:t>So, is it enough to use confidence/lift for pruning?</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p:txBody>
          <a:bodyPr/>
          <a:lstStyle/>
          <a:p>
            <a:r>
              <a:rPr lang="en-US" altLang="en-US"/>
              <a:t>Lift or Interest</a:t>
            </a:r>
          </a:p>
        </p:txBody>
      </p:sp>
      <p:graphicFrame>
        <p:nvGraphicFramePr>
          <p:cNvPr id="1346563" name="Group 3"/>
          <p:cNvGraphicFramePr>
            <a:graphicFrameLocks noGrp="1"/>
          </p:cNvGraphicFramePr>
          <p:nvPr/>
        </p:nvGraphicFramePr>
        <p:xfrm>
          <a:off x="457200" y="1676400"/>
          <a:ext cx="3581400" cy="1584400"/>
        </p:xfrm>
        <a:graphic>
          <a:graphicData uri="http://schemas.openxmlformats.org/drawingml/2006/table">
            <a:tbl>
              <a:tblPr/>
              <a:tblGrid>
                <a:gridCol w="920750">
                  <a:extLst>
                    <a:ext uri="{9D8B030D-6E8A-4147-A177-3AD203B41FA5}">
                      <a16:colId xmlns:a16="http://schemas.microsoft.com/office/drawing/2014/main" val="20000"/>
                    </a:ext>
                  </a:extLst>
                </a:gridCol>
                <a:gridCol w="927100">
                  <a:extLst>
                    <a:ext uri="{9D8B030D-6E8A-4147-A177-3AD203B41FA5}">
                      <a16:colId xmlns:a16="http://schemas.microsoft.com/office/drawing/2014/main" val="20001"/>
                    </a:ext>
                  </a:extLst>
                </a:gridCol>
                <a:gridCol w="920750">
                  <a:extLst>
                    <a:ext uri="{9D8B030D-6E8A-4147-A177-3AD203B41FA5}">
                      <a16:colId xmlns:a16="http://schemas.microsoft.com/office/drawing/2014/main" val="20002"/>
                    </a:ext>
                  </a:extLst>
                </a:gridCol>
                <a:gridCol w="812800">
                  <a:extLst>
                    <a:ext uri="{9D8B030D-6E8A-4147-A177-3AD203B41FA5}">
                      <a16:colId xmlns:a16="http://schemas.microsoft.com/office/drawing/2014/main" val="20003"/>
                    </a:ext>
                  </a:extLst>
                </a:gridCol>
              </a:tblGrid>
              <a:tr h="396081">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650" marB="4565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Y</a:t>
                      </a:r>
                    </a:p>
                  </a:txBody>
                  <a:tcPr marT="45650" marB="4565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Y</a:t>
                      </a:r>
                    </a:p>
                  </a:txBody>
                  <a:tcPr marT="45650" marB="4565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650" marB="4565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1">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X</a:t>
                      </a:r>
                    </a:p>
                  </a:txBody>
                  <a:tcPr marT="45650" marB="4565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a:t>
                      </a:r>
                    </a:p>
                  </a:txBody>
                  <a:tcPr marT="45650" marB="4565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0</a:t>
                      </a:r>
                    </a:p>
                  </a:txBody>
                  <a:tcPr marT="45650" marB="4565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a:t>
                      </a:r>
                    </a:p>
                  </a:txBody>
                  <a:tcPr marT="45650" marB="4565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081">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X</a:t>
                      </a:r>
                    </a:p>
                  </a:txBody>
                  <a:tcPr marT="45650" marB="4565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0</a:t>
                      </a:r>
                    </a:p>
                  </a:txBody>
                  <a:tcPr marT="45650" marB="4565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90</a:t>
                      </a:r>
                    </a:p>
                  </a:txBody>
                  <a:tcPr marT="45650" marB="4565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90</a:t>
                      </a:r>
                    </a:p>
                  </a:txBody>
                  <a:tcPr marT="45650" marB="4565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081">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650" marB="4565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a:t>
                      </a:r>
                    </a:p>
                  </a:txBody>
                  <a:tcPr marT="45650" marB="4565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90</a:t>
                      </a:r>
                    </a:p>
                  </a:txBody>
                  <a:tcPr marT="45650" marB="4565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100</a:t>
                      </a:r>
                    </a:p>
                  </a:txBody>
                  <a:tcPr marT="45650" marB="4565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346590" name="Group 30"/>
          <p:cNvGraphicFramePr>
            <a:graphicFrameLocks noGrp="1"/>
          </p:cNvGraphicFramePr>
          <p:nvPr/>
        </p:nvGraphicFramePr>
        <p:xfrm>
          <a:off x="4800600" y="1676400"/>
          <a:ext cx="3581400" cy="1589087"/>
        </p:xfrm>
        <a:graphic>
          <a:graphicData uri="http://schemas.openxmlformats.org/drawingml/2006/table">
            <a:tbl>
              <a:tblPr/>
              <a:tblGrid>
                <a:gridCol w="920750">
                  <a:extLst>
                    <a:ext uri="{9D8B030D-6E8A-4147-A177-3AD203B41FA5}">
                      <a16:colId xmlns:a16="http://schemas.microsoft.com/office/drawing/2014/main" val="20000"/>
                    </a:ext>
                  </a:extLst>
                </a:gridCol>
                <a:gridCol w="927100">
                  <a:extLst>
                    <a:ext uri="{9D8B030D-6E8A-4147-A177-3AD203B41FA5}">
                      <a16:colId xmlns:a16="http://schemas.microsoft.com/office/drawing/2014/main" val="20001"/>
                    </a:ext>
                  </a:extLst>
                </a:gridCol>
                <a:gridCol w="920750">
                  <a:extLst>
                    <a:ext uri="{9D8B030D-6E8A-4147-A177-3AD203B41FA5}">
                      <a16:colId xmlns:a16="http://schemas.microsoft.com/office/drawing/2014/main" val="20002"/>
                    </a:ext>
                  </a:extLst>
                </a:gridCol>
                <a:gridCol w="812800">
                  <a:extLst>
                    <a:ext uri="{9D8B030D-6E8A-4147-A177-3AD203B41FA5}">
                      <a16:colId xmlns:a16="http://schemas.microsoft.com/office/drawing/2014/main" val="20003"/>
                    </a:ext>
                  </a:extLst>
                </a:gridCol>
              </a:tblGrid>
              <a:tr h="40013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729" marB="45729"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Y</a:t>
                      </a:r>
                    </a:p>
                  </a:txBody>
                  <a:tcPr marT="45729" marB="4572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Y</a:t>
                      </a:r>
                    </a:p>
                  </a:txBody>
                  <a:tcPr marT="45729" marB="4572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19">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X</a:t>
                      </a:r>
                    </a:p>
                  </a:txBody>
                  <a:tcPr marT="45729" marB="45729"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90</a:t>
                      </a:r>
                    </a:p>
                  </a:txBody>
                  <a:tcPr marT="45729" marB="4572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0</a:t>
                      </a:r>
                    </a:p>
                  </a:txBody>
                  <a:tcPr marT="45729" marB="4572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90</a:t>
                      </a:r>
                    </a:p>
                  </a:txBody>
                  <a:tcPr marT="45729" marB="45729"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19">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X</a:t>
                      </a:r>
                    </a:p>
                  </a:txBody>
                  <a:tcPr marT="45729" marB="45729"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0</a:t>
                      </a:r>
                    </a:p>
                  </a:txBody>
                  <a:tcPr marT="45729" marB="4572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a:t>
                      </a:r>
                    </a:p>
                  </a:txBody>
                  <a:tcPr marT="45729" marB="4572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a:t>
                      </a:r>
                    </a:p>
                  </a:txBody>
                  <a:tcPr marT="45729" marB="45729"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319">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729" marB="45729"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90</a:t>
                      </a:r>
                    </a:p>
                  </a:txBody>
                  <a:tcPr marT="45729" marB="4572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a:t>
                      </a:r>
                    </a:p>
                  </a:txBody>
                  <a:tcPr marT="45729" marB="4572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100</a:t>
                      </a:r>
                    </a:p>
                  </a:txBody>
                  <a:tcPr marT="45729" marB="45729"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86073" name="Object 2"/>
          <p:cNvGraphicFramePr>
            <a:graphicFrameLocks noChangeAspect="1"/>
          </p:cNvGraphicFramePr>
          <p:nvPr/>
        </p:nvGraphicFramePr>
        <p:xfrm>
          <a:off x="596900" y="3657600"/>
          <a:ext cx="3071813" cy="957263"/>
        </p:xfrm>
        <a:graphic>
          <a:graphicData uri="http://schemas.openxmlformats.org/presentationml/2006/ole">
            <mc:AlternateContent xmlns:mc="http://schemas.openxmlformats.org/markup-compatibility/2006">
              <mc:Choice xmlns:v="urn:schemas-microsoft-com:vml" Requires="v">
                <p:oleObj name="Equation" r:id="rId3" imgW="2527300" imgH="787400" progId="Equation.3">
                  <p:embed/>
                </p:oleObj>
              </mc:Choice>
              <mc:Fallback>
                <p:oleObj name="Equation" r:id="rId3" imgW="2527300" imgH="7874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 y="3657600"/>
                        <a:ext cx="3071813" cy="95726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74" name="Object 3"/>
          <p:cNvGraphicFramePr>
            <a:graphicFrameLocks noChangeAspect="1"/>
          </p:cNvGraphicFramePr>
          <p:nvPr/>
        </p:nvGraphicFramePr>
        <p:xfrm>
          <a:off x="4787900" y="3733800"/>
          <a:ext cx="3381375" cy="957263"/>
        </p:xfrm>
        <a:graphic>
          <a:graphicData uri="http://schemas.openxmlformats.org/presentationml/2006/ole">
            <mc:AlternateContent xmlns:mc="http://schemas.openxmlformats.org/markup-compatibility/2006">
              <mc:Choice xmlns:v="urn:schemas-microsoft-com:vml" Requires="v">
                <p:oleObj name="Equation" r:id="rId5" imgW="2781300" imgH="787400" progId="Equation.3">
                  <p:embed/>
                </p:oleObj>
              </mc:Choice>
              <mc:Fallback>
                <p:oleObj name="Equation" r:id="rId5" imgW="2781300" imgH="7874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7900" y="3733800"/>
                        <a:ext cx="3381375" cy="95726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75" name="Text Box 59"/>
          <p:cNvSpPr txBox="1">
            <a:spLocks noChangeArrowheads="1"/>
          </p:cNvSpPr>
          <p:nvPr/>
        </p:nvSpPr>
        <p:spPr bwMode="auto">
          <a:xfrm>
            <a:off x="4572000" y="5105400"/>
            <a:ext cx="44196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2000"/>
              <a:t>Statistical independence:</a:t>
            </a:r>
          </a:p>
          <a:p>
            <a:pPr>
              <a:spcBef>
                <a:spcPct val="50000"/>
              </a:spcBef>
              <a:spcAft>
                <a:spcPct val="0"/>
              </a:spcAft>
              <a:buClrTx/>
              <a:buSzTx/>
              <a:buFontTx/>
              <a:buNone/>
            </a:pPr>
            <a:r>
              <a:rPr lang="en-US" altLang="en-US" sz="2000"/>
              <a:t>If P(X,Y)=P(X)P(Y)  =&gt; Lift = 1</a:t>
            </a:r>
          </a:p>
        </p:txBody>
      </p:sp>
      <p:sp>
        <p:nvSpPr>
          <p:cNvPr id="86076" name="Line 60"/>
          <p:cNvSpPr>
            <a:spLocks noChangeShapeType="1"/>
          </p:cNvSpPr>
          <p:nvPr/>
        </p:nvSpPr>
        <p:spPr bwMode="auto">
          <a:xfrm>
            <a:off x="2667000" y="1752600"/>
            <a:ext cx="228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77" name="Line 61"/>
          <p:cNvSpPr>
            <a:spLocks noChangeShapeType="1"/>
          </p:cNvSpPr>
          <p:nvPr/>
        </p:nvSpPr>
        <p:spPr bwMode="auto">
          <a:xfrm>
            <a:off x="838200" y="2514600"/>
            <a:ext cx="152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78" name="Line 62"/>
          <p:cNvSpPr>
            <a:spLocks noChangeShapeType="1"/>
          </p:cNvSpPr>
          <p:nvPr/>
        </p:nvSpPr>
        <p:spPr bwMode="auto">
          <a:xfrm>
            <a:off x="7010400" y="1752600"/>
            <a:ext cx="152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79" name="Line 63"/>
          <p:cNvSpPr>
            <a:spLocks noChangeShapeType="1"/>
          </p:cNvSpPr>
          <p:nvPr/>
        </p:nvSpPr>
        <p:spPr bwMode="auto">
          <a:xfrm>
            <a:off x="5181600" y="2514600"/>
            <a:ext cx="152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042" name="Object 2"/>
          <p:cNvGraphicFramePr>
            <a:graphicFrameLocks noChangeAspect="1"/>
          </p:cNvGraphicFramePr>
          <p:nvPr/>
        </p:nvGraphicFramePr>
        <p:xfrm>
          <a:off x="2286000" y="79375"/>
          <a:ext cx="6781800" cy="6773863"/>
        </p:xfrm>
        <a:graphic>
          <a:graphicData uri="http://schemas.openxmlformats.org/presentationml/2006/ole">
            <mc:AlternateContent xmlns:mc="http://schemas.openxmlformats.org/markup-compatibility/2006">
              <mc:Choice xmlns:v="urn:schemas-microsoft-com:vml" Requires="v">
                <p:oleObj name="Bitmap Image" r:id="rId2" imgW="7438095" imgH="7430537" progId="PBrush">
                  <p:embed/>
                </p:oleObj>
              </mc:Choice>
              <mc:Fallback>
                <p:oleObj name="Bitmap Image" r:id="rId2" imgW="7438095" imgH="7430537" progId="PBrush">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79375"/>
                        <a:ext cx="6781800" cy="677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7043" name="Text Box 3"/>
          <p:cNvSpPr txBox="1">
            <a:spLocks noChangeArrowheads="1"/>
          </p:cNvSpPr>
          <p:nvPr/>
        </p:nvSpPr>
        <p:spPr bwMode="auto">
          <a:xfrm>
            <a:off x="0" y="1371600"/>
            <a:ext cx="2209800"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600"/>
              <a:t>There are lots of measures proposed in the literature</a:t>
            </a:r>
          </a:p>
          <a:p>
            <a:pPr>
              <a:spcBef>
                <a:spcPct val="50000"/>
              </a:spcBef>
              <a:spcAft>
                <a:spcPct val="0"/>
              </a:spcAft>
              <a:buClrTx/>
              <a:buSzTx/>
              <a:buFontTx/>
              <a:buNone/>
            </a:pPr>
            <a:endParaRPr lang="en-US" altLang="en-US" sz="16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idx="4294967295"/>
          </p:nvPr>
        </p:nvSpPr>
        <p:spPr>
          <a:xfrm>
            <a:off x="228600" y="152400"/>
            <a:ext cx="7543800" cy="655638"/>
          </a:xfrm>
        </p:spPr>
        <p:txBody>
          <a:bodyPr/>
          <a:lstStyle/>
          <a:p>
            <a:r>
              <a:rPr lang="en-US" altLang="en-US" dirty="0"/>
              <a:t>Comparing Different Measures</a:t>
            </a:r>
          </a:p>
        </p:txBody>
      </p:sp>
      <p:graphicFrame>
        <p:nvGraphicFramePr>
          <p:cNvPr id="88067" name="Object 2"/>
          <p:cNvGraphicFramePr>
            <a:graphicFrameLocks noChangeAspect="1"/>
          </p:cNvGraphicFramePr>
          <p:nvPr/>
        </p:nvGraphicFramePr>
        <p:xfrm>
          <a:off x="4648200" y="1006475"/>
          <a:ext cx="3352800" cy="2679700"/>
        </p:xfrm>
        <a:graphic>
          <a:graphicData uri="http://schemas.openxmlformats.org/presentationml/2006/ole">
            <mc:AlternateContent xmlns:mc="http://schemas.openxmlformats.org/markup-compatibility/2006">
              <mc:Choice xmlns:v="urn:schemas-microsoft-com:vml" Requires="v">
                <p:oleObj name="Worksheet" r:id="rId2" imgW="3852000" imgH="2970000" progId="Excel.Sheet.8">
                  <p:embed/>
                </p:oleObj>
              </mc:Choice>
              <mc:Fallback>
                <p:oleObj name="Worksheet" r:id="rId2" imgW="3852000" imgH="2970000" progId="Excel.Sheet.8">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006475"/>
                        <a:ext cx="3352800" cy="267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068" name="Text Box 4"/>
          <p:cNvSpPr txBox="1">
            <a:spLocks noChangeArrowheads="1"/>
          </p:cNvSpPr>
          <p:nvPr/>
        </p:nvSpPr>
        <p:spPr bwMode="auto">
          <a:xfrm>
            <a:off x="1752600" y="1143000"/>
            <a:ext cx="2819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
                <a:schemeClr val="accent2"/>
              </a:buClr>
              <a:buFont typeface="Monotype Sorts" pitchFamily="2" charset="2"/>
              <a:buNone/>
            </a:pPr>
            <a:r>
              <a:rPr lang="en-US" altLang="en-US" sz="2400" b="0"/>
              <a:t>10 examples of contingency tables:</a:t>
            </a:r>
          </a:p>
        </p:txBody>
      </p:sp>
      <p:graphicFrame>
        <p:nvGraphicFramePr>
          <p:cNvPr id="88069" name="Object 3"/>
          <p:cNvGraphicFramePr>
            <a:graphicFrameLocks noChangeAspect="1"/>
          </p:cNvGraphicFramePr>
          <p:nvPr/>
        </p:nvGraphicFramePr>
        <p:xfrm>
          <a:off x="152400" y="3810000"/>
          <a:ext cx="8839200" cy="2522538"/>
        </p:xfrm>
        <a:graphic>
          <a:graphicData uri="http://schemas.openxmlformats.org/presentationml/2006/ole">
            <mc:AlternateContent xmlns:mc="http://schemas.openxmlformats.org/markup-compatibility/2006">
              <mc:Choice xmlns:v="urn:schemas-microsoft-com:vml" Requires="v">
                <p:oleObj name="Bitmap Image" r:id="rId4" imgW="0" imgH="0" progId="PBrush">
                  <p:embed/>
                </p:oleObj>
              </mc:Choice>
              <mc:Fallback>
                <p:oleObj name="Bitmap Image" r:id="rId4" imgW="0" imgH="0" progId="PBrush">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3810000"/>
                        <a:ext cx="8839200" cy="2522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070" name="Text Box 6"/>
          <p:cNvSpPr txBox="1">
            <a:spLocks noChangeArrowheads="1"/>
          </p:cNvSpPr>
          <p:nvPr/>
        </p:nvSpPr>
        <p:spPr bwMode="auto">
          <a:xfrm>
            <a:off x="152400" y="3048000"/>
            <a:ext cx="3962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
                <a:schemeClr val="accent2"/>
              </a:buClr>
              <a:buFont typeface="Monotype Sorts" pitchFamily="2" charset="2"/>
              <a:buNone/>
            </a:pPr>
            <a:r>
              <a:rPr lang="en-US" altLang="en-US" sz="2000" b="0"/>
              <a:t>Rankings of contingency tables using various measures:</a:t>
            </a:r>
          </a:p>
        </p:txBody>
      </p:sp>
      <p:sp>
        <p:nvSpPr>
          <p:cNvPr id="69639" name="Oval 7"/>
          <p:cNvSpPr>
            <a:spLocks noChangeArrowheads="1"/>
          </p:cNvSpPr>
          <p:nvPr/>
        </p:nvSpPr>
        <p:spPr bwMode="auto">
          <a:xfrm>
            <a:off x="3733800" y="6019800"/>
            <a:ext cx="381000" cy="381000"/>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69640" name="Oval 8"/>
          <p:cNvSpPr>
            <a:spLocks noChangeArrowheads="1"/>
          </p:cNvSpPr>
          <p:nvPr/>
        </p:nvSpPr>
        <p:spPr bwMode="auto">
          <a:xfrm>
            <a:off x="5657850" y="6019800"/>
            <a:ext cx="381000" cy="381000"/>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6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9" grpId="0" animBg="1"/>
      <p:bldP spid="6964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altLang="en-US"/>
              <a:t>Property under Variable Permutation</a:t>
            </a:r>
          </a:p>
        </p:txBody>
      </p:sp>
      <p:graphicFrame>
        <p:nvGraphicFramePr>
          <p:cNvPr id="89091" name="Object 3"/>
          <p:cNvGraphicFramePr>
            <a:graphicFrameLocks noChangeAspect="1"/>
          </p:cNvGraphicFramePr>
          <p:nvPr/>
        </p:nvGraphicFramePr>
        <p:xfrm>
          <a:off x="839788" y="1543050"/>
          <a:ext cx="7248525" cy="1276350"/>
        </p:xfrm>
        <a:graphic>
          <a:graphicData uri="http://schemas.openxmlformats.org/presentationml/2006/ole">
            <mc:AlternateContent xmlns:mc="http://schemas.openxmlformats.org/markup-compatibility/2006">
              <mc:Choice xmlns:v="urn:schemas-microsoft-com:vml" Requires="v">
                <p:oleObj name="VISIO" r:id="rId2" imgW="7251085" imgH="1280771" progId="">
                  <p:embed/>
                </p:oleObj>
              </mc:Choice>
              <mc:Fallback>
                <p:oleObj name="VISIO" r:id="rId2" imgW="7251085" imgH="1280771"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788" y="1543050"/>
                        <a:ext cx="7248525"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9092" name="Text Box 4"/>
          <p:cNvSpPr txBox="1">
            <a:spLocks noChangeArrowheads="1"/>
          </p:cNvSpPr>
          <p:nvPr/>
        </p:nvSpPr>
        <p:spPr bwMode="auto">
          <a:xfrm>
            <a:off x="609600" y="3276600"/>
            <a:ext cx="7924800"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50000"/>
              </a:spcBef>
              <a:spcAft>
                <a:spcPct val="0"/>
              </a:spcAft>
              <a:buClr>
                <a:schemeClr val="accent2"/>
              </a:buClr>
              <a:buFont typeface="Monotype Sorts" pitchFamily="2" charset="2"/>
              <a:buNone/>
            </a:pPr>
            <a:r>
              <a:rPr lang="en-US" altLang="en-US" sz="2400" b="0">
                <a:solidFill>
                  <a:srgbClr val="FF0000"/>
                </a:solidFill>
              </a:rPr>
              <a:t>Does M(A,B) = M(B,A)?</a:t>
            </a:r>
          </a:p>
          <a:p>
            <a:pPr algn="ctr">
              <a:spcBef>
                <a:spcPct val="50000"/>
              </a:spcBef>
              <a:spcAft>
                <a:spcPct val="0"/>
              </a:spcAft>
              <a:buClr>
                <a:schemeClr val="accent2"/>
              </a:buClr>
              <a:buFont typeface="Monotype Sorts" pitchFamily="2" charset="2"/>
              <a:buNone/>
            </a:pPr>
            <a:endParaRPr lang="en-US" altLang="en-US" sz="1000" b="0">
              <a:solidFill>
                <a:srgbClr val="FF0000"/>
              </a:solidFill>
            </a:endParaRPr>
          </a:p>
          <a:p>
            <a:pPr>
              <a:spcBef>
                <a:spcPct val="50000"/>
              </a:spcBef>
              <a:spcAft>
                <a:spcPct val="0"/>
              </a:spcAft>
              <a:buClr>
                <a:schemeClr val="accent2"/>
              </a:buClr>
              <a:buFont typeface="Monotype Sorts" pitchFamily="2" charset="2"/>
              <a:buNone/>
            </a:pPr>
            <a:r>
              <a:rPr lang="en-US" altLang="en-US" sz="2400" b="0"/>
              <a:t>Symmetric measures:</a:t>
            </a:r>
          </a:p>
          <a:p>
            <a:pPr lvl="1">
              <a:spcBef>
                <a:spcPct val="50000"/>
              </a:spcBef>
              <a:spcAft>
                <a:spcPct val="0"/>
              </a:spcAft>
              <a:buClr>
                <a:schemeClr val="accent2"/>
              </a:buClr>
              <a:buSzPct val="75000"/>
              <a:buFont typeface="Monotype Sorts" pitchFamily="2" charset="2"/>
              <a:buChar char="u"/>
            </a:pPr>
            <a:r>
              <a:rPr lang="en-US" altLang="en-US" b="0"/>
              <a:t> support, lift, collective strength, cosine, Jaccard, etc</a:t>
            </a:r>
          </a:p>
          <a:p>
            <a:pPr>
              <a:spcBef>
                <a:spcPct val="50000"/>
              </a:spcBef>
              <a:spcAft>
                <a:spcPct val="0"/>
              </a:spcAft>
              <a:buClr>
                <a:schemeClr val="accent2"/>
              </a:buClr>
              <a:buFont typeface="Monotype Sorts" pitchFamily="2" charset="2"/>
              <a:buNone/>
            </a:pPr>
            <a:r>
              <a:rPr lang="en-US" altLang="en-US" sz="2400" b="0"/>
              <a:t>Asymmetric measures:</a:t>
            </a:r>
          </a:p>
          <a:p>
            <a:pPr lvl="1">
              <a:spcBef>
                <a:spcPct val="50000"/>
              </a:spcBef>
              <a:spcAft>
                <a:spcPct val="0"/>
              </a:spcAft>
              <a:buClr>
                <a:schemeClr val="accent2"/>
              </a:buClr>
              <a:buSzPct val="75000"/>
              <a:buFont typeface="Monotype Sorts" pitchFamily="2" charset="2"/>
              <a:buChar char="u"/>
            </a:pPr>
            <a:r>
              <a:rPr lang="en-US" altLang="en-US" b="0"/>
              <a:t> confidence, conviction, Laplace, J-measure, etc</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ltLang="en-US"/>
              <a:t>Property under Row/Column Scaling</a:t>
            </a:r>
          </a:p>
        </p:txBody>
      </p:sp>
      <p:graphicFrame>
        <p:nvGraphicFramePr>
          <p:cNvPr id="1299459" name="Group 3"/>
          <p:cNvGraphicFramePr>
            <a:graphicFrameLocks noGrp="1"/>
          </p:cNvGraphicFramePr>
          <p:nvPr/>
        </p:nvGraphicFramePr>
        <p:xfrm>
          <a:off x="838200" y="1981200"/>
          <a:ext cx="3581400" cy="1676400"/>
        </p:xfrm>
        <a:graphic>
          <a:graphicData uri="http://schemas.openxmlformats.org/drawingml/2006/table">
            <a:tbl>
              <a:tblPr/>
              <a:tblGrid>
                <a:gridCol w="838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41910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dirty="0">
                          <a:ln>
                            <a:noFill/>
                          </a:ln>
                          <a:solidFill>
                            <a:schemeClr val="tx1"/>
                          </a:solidFill>
                          <a:effectLst/>
                          <a:latin typeface="Arial" charset="0"/>
                        </a:rPr>
                        <a:t>Female</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dirty="0">
                          <a:ln>
                            <a:noFill/>
                          </a:ln>
                          <a:solidFill>
                            <a:schemeClr val="tx1"/>
                          </a:solidFill>
                          <a:effectLst/>
                          <a:latin typeface="Arial" charset="0"/>
                        </a:rPr>
                        <a:t>Male</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910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High</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3</a:t>
                      </a:r>
                      <a:endParaRPr kumimoji="0" lang="en-US" sz="1800" b="0" i="0" u="none" strike="noStrike" cap="none" normalizeH="0" baseline="-2500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5</a:t>
                      </a:r>
                      <a:endParaRPr kumimoji="0" lang="en-US" sz="1800" b="0" i="0" u="none" strike="noStrike" cap="none" normalizeH="0" baseline="-2500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910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Low</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1</a:t>
                      </a:r>
                      <a:endParaRPr kumimoji="0" lang="en-US" sz="1800" b="0" i="0" u="none" strike="noStrike" cap="none" normalizeH="0" baseline="-2500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4</a:t>
                      </a:r>
                      <a:endParaRPr kumimoji="0" lang="en-US" sz="1800" b="0" i="0" u="none" strike="noStrike" cap="none" normalizeH="0" baseline="-2500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5</a:t>
                      </a:r>
                      <a:endParaRPr kumimoji="0" lang="en-US" sz="1800" b="0" i="0" u="none" strike="noStrike" cap="none" normalizeH="0" baseline="-2500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910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3</a:t>
                      </a:r>
                      <a:endParaRPr kumimoji="0" lang="en-US" sz="1800" b="0" i="0" u="none" strike="noStrike" cap="none" normalizeH="0" baseline="-2500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7</a:t>
                      </a:r>
                      <a:endParaRPr kumimoji="0" lang="en-US" sz="1800" b="0" i="0" u="none" strike="noStrike" cap="none" normalizeH="0" baseline="-2500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299486" name="Group 30"/>
          <p:cNvGraphicFramePr>
            <a:graphicFrameLocks noGrp="1"/>
          </p:cNvGraphicFramePr>
          <p:nvPr/>
        </p:nvGraphicFramePr>
        <p:xfrm>
          <a:off x="4876800" y="1981200"/>
          <a:ext cx="3581400" cy="1676400"/>
        </p:xfrm>
        <a:graphic>
          <a:graphicData uri="http://schemas.openxmlformats.org/drawingml/2006/table">
            <a:tbl>
              <a:tblPr/>
              <a:tblGrid>
                <a:gridCol w="838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41910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dirty="0">
                          <a:ln>
                            <a:noFill/>
                          </a:ln>
                          <a:solidFill>
                            <a:schemeClr val="tx1"/>
                          </a:solidFill>
                          <a:effectLst/>
                          <a:latin typeface="Arial" charset="0"/>
                        </a:rPr>
                        <a:t>Female</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dirty="0">
                          <a:ln>
                            <a:noFill/>
                          </a:ln>
                          <a:solidFill>
                            <a:schemeClr val="tx1"/>
                          </a:solidFill>
                          <a:effectLst/>
                          <a:latin typeface="Arial" charset="0"/>
                        </a:rPr>
                        <a:t>Male</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910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High</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30</a:t>
                      </a:r>
                      <a:endParaRPr kumimoji="0" lang="en-US" sz="1800" b="0" i="0" u="none" strike="noStrike" cap="none" normalizeH="0" baseline="-2500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34</a:t>
                      </a:r>
                      <a:endParaRPr kumimoji="0" lang="en-US" sz="1800" b="0" i="0" u="none" strike="noStrike" cap="none" normalizeH="0" baseline="-2500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910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Low</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2</a:t>
                      </a:r>
                      <a:endParaRPr kumimoji="0" lang="en-US" sz="1800" b="0" i="0" u="none" strike="noStrike" cap="none" normalizeH="0" baseline="-2500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40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42</a:t>
                      </a:r>
                      <a:endParaRPr kumimoji="0" lang="en-US" sz="1800" b="0" i="0" u="none" strike="noStrike" cap="none" normalizeH="0" baseline="-2500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910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6</a:t>
                      </a:r>
                      <a:endParaRPr kumimoji="0" lang="en-US" sz="1800" b="0" i="0" u="none" strike="noStrike" cap="none" normalizeH="0" baseline="-2500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70</a:t>
                      </a:r>
                      <a:endParaRPr kumimoji="0" lang="en-US" sz="1800" b="0" i="0" u="none" strike="noStrike" cap="none" normalizeH="0" baseline="-2500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charset="0"/>
                        </a:rPr>
                        <a:t>76</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0169" name="Text Box 57"/>
          <p:cNvSpPr txBox="1">
            <a:spLocks noChangeArrowheads="1"/>
          </p:cNvSpPr>
          <p:nvPr/>
        </p:nvSpPr>
        <p:spPr bwMode="auto">
          <a:xfrm>
            <a:off x="304800" y="1219200"/>
            <a:ext cx="769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
                <a:schemeClr val="accent2"/>
              </a:buClr>
              <a:buFont typeface="Monotype Sorts" pitchFamily="2" charset="2"/>
              <a:buNone/>
            </a:pPr>
            <a:r>
              <a:rPr lang="en-US" altLang="en-US" sz="2400" b="0"/>
              <a:t>Grade-Gender Example (Mosteller, 1968):</a:t>
            </a:r>
          </a:p>
        </p:txBody>
      </p:sp>
      <p:sp>
        <p:nvSpPr>
          <p:cNvPr id="90170" name="Text Box 58"/>
          <p:cNvSpPr txBox="1">
            <a:spLocks noChangeArrowheads="1"/>
          </p:cNvSpPr>
          <p:nvPr/>
        </p:nvSpPr>
        <p:spPr bwMode="auto">
          <a:xfrm>
            <a:off x="381000" y="4343400"/>
            <a:ext cx="76962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
                <a:schemeClr val="accent2"/>
              </a:buClr>
              <a:buFont typeface="Monotype Sorts" pitchFamily="2" charset="2"/>
              <a:buNone/>
            </a:pPr>
            <a:r>
              <a:rPr lang="en-US" altLang="en-US" sz="2400" b="0"/>
              <a:t>Mosteller: </a:t>
            </a:r>
            <a:br>
              <a:rPr lang="en-US" altLang="en-US" sz="2400" b="0"/>
            </a:br>
            <a:r>
              <a:rPr lang="en-US" altLang="en-US" sz="2400" b="0"/>
              <a:t>	Underlying association should be independent of</a:t>
            </a:r>
            <a:br>
              <a:rPr lang="en-US" altLang="en-US" sz="2400" b="0"/>
            </a:br>
            <a:r>
              <a:rPr lang="en-US" altLang="en-US" sz="2400" b="0"/>
              <a:t>	the relative number of male and female students</a:t>
            </a:r>
            <a:br>
              <a:rPr lang="en-US" altLang="en-US" sz="2400" b="0"/>
            </a:br>
            <a:r>
              <a:rPr lang="en-US" altLang="en-US" sz="2400" b="0"/>
              <a:t>	in the samples</a:t>
            </a:r>
          </a:p>
        </p:txBody>
      </p:sp>
      <p:sp>
        <p:nvSpPr>
          <p:cNvPr id="90171" name="Line 59"/>
          <p:cNvSpPr>
            <a:spLocks noChangeShapeType="1"/>
          </p:cNvSpPr>
          <p:nvPr/>
        </p:nvSpPr>
        <p:spPr bwMode="auto">
          <a:xfrm>
            <a:off x="6170613" y="3729038"/>
            <a:ext cx="0" cy="38417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0172" name="Line 60"/>
          <p:cNvSpPr>
            <a:spLocks noChangeShapeType="1"/>
          </p:cNvSpPr>
          <p:nvPr/>
        </p:nvSpPr>
        <p:spPr bwMode="auto">
          <a:xfrm>
            <a:off x="7086600" y="3733800"/>
            <a:ext cx="0" cy="38417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0173" name="Text Box 61"/>
          <p:cNvSpPr txBox="1">
            <a:spLocks noChangeArrowheads="1"/>
          </p:cNvSpPr>
          <p:nvPr/>
        </p:nvSpPr>
        <p:spPr bwMode="auto">
          <a:xfrm>
            <a:off x="5943600" y="4114800"/>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
                <a:schemeClr val="accent2"/>
              </a:buClr>
              <a:buFont typeface="Monotype Sorts" pitchFamily="2" charset="2"/>
              <a:buNone/>
            </a:pPr>
            <a:r>
              <a:rPr lang="en-US" altLang="en-US" sz="2000" b="0"/>
              <a:t>2x</a:t>
            </a:r>
          </a:p>
        </p:txBody>
      </p:sp>
      <p:sp>
        <p:nvSpPr>
          <p:cNvPr id="90174" name="Text Box 62"/>
          <p:cNvSpPr txBox="1">
            <a:spLocks noChangeArrowheads="1"/>
          </p:cNvSpPr>
          <p:nvPr/>
        </p:nvSpPr>
        <p:spPr bwMode="auto">
          <a:xfrm>
            <a:off x="6781800" y="4114800"/>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
                <a:schemeClr val="accent2"/>
              </a:buClr>
              <a:buFont typeface="Monotype Sorts" pitchFamily="2" charset="2"/>
              <a:buNone/>
            </a:pPr>
            <a:r>
              <a:rPr lang="en-US" altLang="en-US" sz="2000" b="0"/>
              <a:t>10x</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altLang="en-US"/>
              <a:t>Property under Inversion Operation</a:t>
            </a:r>
          </a:p>
        </p:txBody>
      </p:sp>
      <p:graphicFrame>
        <p:nvGraphicFramePr>
          <p:cNvPr id="91139" name="Object 3"/>
          <p:cNvGraphicFramePr>
            <a:graphicFrameLocks noChangeAspect="1"/>
          </p:cNvGraphicFramePr>
          <p:nvPr/>
        </p:nvGraphicFramePr>
        <p:xfrm>
          <a:off x="2316163" y="1143000"/>
          <a:ext cx="5761037" cy="5191125"/>
        </p:xfrm>
        <a:graphic>
          <a:graphicData uri="http://schemas.openxmlformats.org/presentationml/2006/ole">
            <mc:AlternateContent xmlns:mc="http://schemas.openxmlformats.org/markup-compatibility/2006">
              <mc:Choice xmlns:v="urn:schemas-microsoft-com:vml" Requires="v">
                <p:oleObj name="VISIO" r:id="rId2" imgW="5753100" imgH="5195316" progId="">
                  <p:embed/>
                </p:oleObj>
              </mc:Choice>
              <mc:Fallback>
                <p:oleObj name="VISIO" r:id="rId2" imgW="5753100" imgH="5195316"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6163" y="1143000"/>
                        <a:ext cx="5761037" cy="5191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40" name="Text Box 4"/>
          <p:cNvSpPr txBox="1">
            <a:spLocks noChangeArrowheads="1"/>
          </p:cNvSpPr>
          <p:nvPr/>
        </p:nvSpPr>
        <p:spPr bwMode="auto">
          <a:xfrm>
            <a:off x="639763" y="1676400"/>
            <a:ext cx="1295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
                <a:schemeClr val="accent2"/>
              </a:buClr>
              <a:buFont typeface="Monotype Sorts" pitchFamily="2" charset="2"/>
              <a:buNone/>
            </a:pPr>
            <a:r>
              <a:rPr lang="en-US" altLang="en-US" sz="1400" b="0"/>
              <a:t>Transaction 1</a:t>
            </a:r>
          </a:p>
        </p:txBody>
      </p:sp>
      <p:sp>
        <p:nvSpPr>
          <p:cNvPr id="91141" name="Text Box 5"/>
          <p:cNvSpPr txBox="1">
            <a:spLocks noChangeArrowheads="1"/>
          </p:cNvSpPr>
          <p:nvPr/>
        </p:nvSpPr>
        <p:spPr bwMode="auto">
          <a:xfrm>
            <a:off x="639763" y="5029200"/>
            <a:ext cx="1295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
                <a:schemeClr val="accent2"/>
              </a:buClr>
              <a:buFont typeface="Monotype Sorts" pitchFamily="2" charset="2"/>
              <a:buNone/>
            </a:pPr>
            <a:r>
              <a:rPr lang="en-US" altLang="en-US" sz="1400" b="0"/>
              <a:t>Transaction N</a:t>
            </a:r>
          </a:p>
        </p:txBody>
      </p:sp>
      <p:sp>
        <p:nvSpPr>
          <p:cNvPr id="91142" name="Line 6"/>
          <p:cNvSpPr>
            <a:spLocks noChangeShapeType="1"/>
          </p:cNvSpPr>
          <p:nvPr/>
        </p:nvSpPr>
        <p:spPr bwMode="auto">
          <a:xfrm>
            <a:off x="1935163" y="1828800"/>
            <a:ext cx="381000"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1143" name="Line 7"/>
          <p:cNvSpPr>
            <a:spLocks noChangeShapeType="1"/>
          </p:cNvSpPr>
          <p:nvPr/>
        </p:nvSpPr>
        <p:spPr bwMode="auto">
          <a:xfrm>
            <a:off x="1935163" y="5181600"/>
            <a:ext cx="381000"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1144" name="Text Box 8"/>
          <p:cNvSpPr txBox="1">
            <a:spLocks noChangeArrowheads="1"/>
          </p:cNvSpPr>
          <p:nvPr/>
        </p:nvSpPr>
        <p:spPr bwMode="auto">
          <a:xfrm>
            <a:off x="1066800" y="2286000"/>
            <a:ext cx="533400"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nSpc>
                <a:spcPct val="10000"/>
              </a:lnSpc>
              <a:spcBef>
                <a:spcPct val="50000"/>
              </a:spcBef>
              <a:spcAft>
                <a:spcPct val="0"/>
              </a:spcAft>
              <a:buClrTx/>
              <a:buSzTx/>
              <a:buFontTx/>
              <a:buNone/>
            </a:pPr>
            <a:r>
              <a:rPr lang="en-US" altLang="en-US" sz="6000"/>
              <a:t>.</a:t>
            </a:r>
          </a:p>
          <a:p>
            <a:pPr>
              <a:lnSpc>
                <a:spcPct val="10000"/>
              </a:lnSpc>
              <a:spcBef>
                <a:spcPct val="50000"/>
              </a:spcBef>
              <a:spcAft>
                <a:spcPct val="0"/>
              </a:spcAft>
              <a:buClrTx/>
              <a:buSzTx/>
              <a:buFontTx/>
              <a:buNone/>
            </a:pPr>
            <a:r>
              <a:rPr lang="en-US" altLang="en-US" sz="6000"/>
              <a:t>.</a:t>
            </a:r>
          </a:p>
          <a:p>
            <a:pPr>
              <a:lnSpc>
                <a:spcPct val="10000"/>
              </a:lnSpc>
              <a:spcBef>
                <a:spcPct val="50000"/>
              </a:spcBef>
              <a:spcAft>
                <a:spcPct val="0"/>
              </a:spcAft>
              <a:buClrTx/>
              <a:buSzTx/>
              <a:buFontTx/>
              <a:buNone/>
            </a:pPr>
            <a:r>
              <a:rPr lang="en-US" altLang="en-US" sz="6000"/>
              <a:t>.</a:t>
            </a:r>
          </a:p>
          <a:p>
            <a:pPr>
              <a:lnSpc>
                <a:spcPct val="10000"/>
              </a:lnSpc>
              <a:spcBef>
                <a:spcPct val="50000"/>
              </a:spcBef>
              <a:spcAft>
                <a:spcPct val="0"/>
              </a:spcAft>
              <a:buClrTx/>
              <a:buSzTx/>
              <a:buFontTx/>
              <a:buNone/>
            </a:pPr>
            <a:r>
              <a:rPr lang="en-US" altLang="en-US" sz="6000"/>
              <a:t>.</a:t>
            </a:r>
          </a:p>
          <a:p>
            <a:pPr>
              <a:lnSpc>
                <a:spcPct val="10000"/>
              </a:lnSpc>
              <a:spcBef>
                <a:spcPct val="50000"/>
              </a:spcBef>
              <a:spcAft>
                <a:spcPct val="0"/>
              </a:spcAft>
              <a:buClrTx/>
              <a:buSzTx/>
              <a:buFontTx/>
              <a:buNone/>
            </a:pPr>
            <a:r>
              <a:rPr lang="en-US" altLang="en-US" sz="6000"/>
              <a:t>.</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228600" y="152400"/>
            <a:ext cx="7543800" cy="731838"/>
          </a:xfrm>
        </p:spPr>
        <p:txBody>
          <a:bodyPr/>
          <a:lstStyle/>
          <a:p>
            <a:r>
              <a:rPr lang="en-US" altLang="en-US" dirty="0"/>
              <a:t>Example: </a:t>
            </a:r>
            <a:r>
              <a:rPr lang="en-US" altLang="en-US" dirty="0">
                <a:sym typeface="Symbol" pitchFamily="18" charset="2"/>
              </a:rPr>
              <a:t>-Coefficient</a:t>
            </a:r>
            <a:endParaRPr lang="en-US" altLang="en-US" dirty="0"/>
          </a:p>
        </p:txBody>
      </p:sp>
      <p:sp>
        <p:nvSpPr>
          <p:cNvPr id="92163" name="Rectangle 3"/>
          <p:cNvSpPr>
            <a:spLocks noGrp="1" noChangeArrowheads="1"/>
          </p:cNvSpPr>
          <p:nvPr>
            <p:ph type="body" idx="1"/>
          </p:nvPr>
        </p:nvSpPr>
        <p:spPr>
          <a:xfrm>
            <a:off x="304800" y="1066800"/>
            <a:ext cx="8424863" cy="990600"/>
          </a:xfrm>
        </p:spPr>
        <p:txBody>
          <a:bodyPr/>
          <a:lstStyle/>
          <a:p>
            <a:r>
              <a:rPr lang="en-US" altLang="en-US">
                <a:sym typeface="Symbol" pitchFamily="18" charset="2"/>
              </a:rPr>
              <a:t>-coefficient is analogous to correlation coefficient for continuous variables</a:t>
            </a:r>
          </a:p>
        </p:txBody>
      </p:sp>
      <p:graphicFrame>
        <p:nvGraphicFramePr>
          <p:cNvPr id="1301508" name="Group 4"/>
          <p:cNvGraphicFramePr>
            <a:graphicFrameLocks noGrp="1"/>
          </p:cNvGraphicFramePr>
          <p:nvPr/>
        </p:nvGraphicFramePr>
        <p:xfrm>
          <a:off x="533400" y="2133600"/>
          <a:ext cx="3352800" cy="1584368"/>
        </p:xfrm>
        <a:graphic>
          <a:graphicData uri="http://schemas.openxmlformats.org/drawingml/2006/table">
            <a:tbl>
              <a:tblPr/>
              <a:tblGrid>
                <a:gridCol w="8382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396081">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646" marB="4564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Y</a:t>
                      </a:r>
                    </a:p>
                  </a:txBody>
                  <a:tcPr marT="45646" marB="456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Y</a:t>
                      </a:r>
                    </a:p>
                  </a:txBody>
                  <a:tcPr marT="45646" marB="456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646" marB="4564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1">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X</a:t>
                      </a:r>
                    </a:p>
                  </a:txBody>
                  <a:tcPr marT="45646" marB="4564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60</a:t>
                      </a:r>
                    </a:p>
                  </a:txBody>
                  <a:tcPr marT="45646" marB="456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a:t>
                      </a:r>
                    </a:p>
                  </a:txBody>
                  <a:tcPr marT="45646" marB="456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70</a:t>
                      </a:r>
                    </a:p>
                  </a:txBody>
                  <a:tcPr marT="45646" marB="4564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081">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X</a:t>
                      </a:r>
                    </a:p>
                  </a:txBody>
                  <a:tcPr marT="45646" marB="4564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a:t>
                      </a:r>
                    </a:p>
                  </a:txBody>
                  <a:tcPr marT="45646" marB="456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20</a:t>
                      </a:r>
                    </a:p>
                  </a:txBody>
                  <a:tcPr marT="45646" marB="456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30</a:t>
                      </a:r>
                    </a:p>
                  </a:txBody>
                  <a:tcPr marT="45646" marB="4564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081">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646" marB="4564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70</a:t>
                      </a:r>
                    </a:p>
                  </a:txBody>
                  <a:tcPr marT="45646" marB="456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30</a:t>
                      </a:r>
                    </a:p>
                  </a:txBody>
                  <a:tcPr marT="45646" marB="456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100</a:t>
                      </a:r>
                    </a:p>
                  </a:txBody>
                  <a:tcPr marT="45646" marB="4564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301535" name="Group 31"/>
          <p:cNvGraphicFramePr>
            <a:graphicFrameLocks noGrp="1"/>
          </p:cNvGraphicFramePr>
          <p:nvPr/>
        </p:nvGraphicFramePr>
        <p:xfrm>
          <a:off x="5181600" y="2133600"/>
          <a:ext cx="3352800" cy="1584368"/>
        </p:xfrm>
        <a:graphic>
          <a:graphicData uri="http://schemas.openxmlformats.org/drawingml/2006/table">
            <a:tbl>
              <a:tblPr/>
              <a:tblGrid>
                <a:gridCol w="8382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396081">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646" marB="4564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Y</a:t>
                      </a:r>
                    </a:p>
                  </a:txBody>
                  <a:tcPr marT="45646" marB="456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Y</a:t>
                      </a:r>
                    </a:p>
                  </a:txBody>
                  <a:tcPr marT="45646" marB="456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646" marB="4564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1">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X</a:t>
                      </a:r>
                    </a:p>
                  </a:txBody>
                  <a:tcPr marT="45646" marB="4564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20</a:t>
                      </a:r>
                    </a:p>
                  </a:txBody>
                  <a:tcPr marT="45646" marB="456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a:t>
                      </a:r>
                    </a:p>
                  </a:txBody>
                  <a:tcPr marT="45646" marB="456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30</a:t>
                      </a:r>
                    </a:p>
                  </a:txBody>
                  <a:tcPr marT="45646" marB="4564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081">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X</a:t>
                      </a:r>
                    </a:p>
                  </a:txBody>
                  <a:tcPr marT="45646" marB="4564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a:t>
                      </a:r>
                    </a:p>
                  </a:txBody>
                  <a:tcPr marT="45646" marB="456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60</a:t>
                      </a:r>
                    </a:p>
                  </a:txBody>
                  <a:tcPr marT="45646" marB="456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70</a:t>
                      </a:r>
                    </a:p>
                  </a:txBody>
                  <a:tcPr marT="45646" marB="4564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081">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2000" b="0" i="0" u="none" strike="noStrike" cap="none" normalizeH="0" baseline="0">
                        <a:ln>
                          <a:noFill/>
                        </a:ln>
                        <a:solidFill>
                          <a:schemeClr val="tx1"/>
                        </a:solidFill>
                        <a:effectLst/>
                        <a:latin typeface="Arial" charset="0"/>
                      </a:endParaRPr>
                    </a:p>
                  </a:txBody>
                  <a:tcPr marT="45646" marB="4564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30</a:t>
                      </a:r>
                    </a:p>
                  </a:txBody>
                  <a:tcPr marT="45646" marB="456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70</a:t>
                      </a:r>
                    </a:p>
                  </a:txBody>
                  <a:tcPr marT="45646" marB="4564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2000" b="0" i="0" u="none" strike="noStrike" cap="none" normalizeH="0" baseline="0">
                          <a:ln>
                            <a:noFill/>
                          </a:ln>
                          <a:solidFill>
                            <a:schemeClr val="tx1"/>
                          </a:solidFill>
                          <a:effectLst/>
                          <a:latin typeface="Arial" charset="0"/>
                        </a:rPr>
                        <a:t>100</a:t>
                      </a:r>
                    </a:p>
                  </a:txBody>
                  <a:tcPr marT="45646" marB="4564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92218" name="Object 58"/>
          <p:cNvGraphicFramePr>
            <a:graphicFrameLocks noChangeAspect="1"/>
          </p:cNvGraphicFramePr>
          <p:nvPr/>
        </p:nvGraphicFramePr>
        <p:xfrm>
          <a:off x="309563" y="4191000"/>
          <a:ext cx="4017962" cy="1517650"/>
        </p:xfrm>
        <a:graphic>
          <a:graphicData uri="http://schemas.openxmlformats.org/presentationml/2006/ole">
            <mc:AlternateContent xmlns:mc="http://schemas.openxmlformats.org/markup-compatibility/2006">
              <mc:Choice xmlns:v="urn:schemas-microsoft-com:vml" Requires="v">
                <p:oleObj name="Equation" r:id="rId2" imgW="2959100" imgH="1117600" progId="Equation.3">
                  <p:embed/>
                </p:oleObj>
              </mc:Choice>
              <mc:Fallback>
                <p:oleObj name="Equation" r:id="rId2" imgW="2959100" imgH="111760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563" y="4191000"/>
                        <a:ext cx="4017962" cy="151765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19" name="Text Box 59"/>
          <p:cNvSpPr txBox="1">
            <a:spLocks noChangeArrowheads="1"/>
          </p:cNvSpPr>
          <p:nvPr/>
        </p:nvSpPr>
        <p:spPr bwMode="auto">
          <a:xfrm>
            <a:off x="1447800" y="5867400"/>
            <a:ext cx="655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2400">
                <a:solidFill>
                  <a:srgbClr val="FF0000"/>
                </a:solidFill>
                <a:sym typeface="Symbol" pitchFamily="18" charset="2"/>
              </a:rPr>
              <a:t> Coefficient is the same for both tables</a:t>
            </a:r>
            <a:endParaRPr lang="en-US" altLang="en-US" sz="2400">
              <a:solidFill>
                <a:srgbClr val="FF0000"/>
              </a:solidFill>
            </a:endParaRPr>
          </a:p>
        </p:txBody>
      </p:sp>
      <p:graphicFrame>
        <p:nvGraphicFramePr>
          <p:cNvPr id="92220" name="Object 60"/>
          <p:cNvGraphicFramePr>
            <a:graphicFrameLocks noChangeAspect="1"/>
          </p:cNvGraphicFramePr>
          <p:nvPr/>
        </p:nvGraphicFramePr>
        <p:xfrm>
          <a:off x="4729163" y="4191000"/>
          <a:ext cx="4017962" cy="1517650"/>
        </p:xfrm>
        <a:graphic>
          <a:graphicData uri="http://schemas.openxmlformats.org/presentationml/2006/ole">
            <mc:AlternateContent xmlns:mc="http://schemas.openxmlformats.org/markup-compatibility/2006">
              <mc:Choice xmlns:v="urn:schemas-microsoft-com:vml" Requires="v">
                <p:oleObj name="Equation" r:id="rId4" imgW="2959100" imgH="1117600" progId="Equation.3">
                  <p:embed/>
                </p:oleObj>
              </mc:Choice>
              <mc:Fallback>
                <p:oleObj name="Equation" r:id="rId4" imgW="2959100" imgH="111760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9163" y="4191000"/>
                        <a:ext cx="4017962" cy="151765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21" name="Line 61"/>
          <p:cNvSpPr>
            <a:spLocks noChangeShapeType="1"/>
          </p:cNvSpPr>
          <p:nvPr/>
        </p:nvSpPr>
        <p:spPr bwMode="auto">
          <a:xfrm>
            <a:off x="2514600" y="2209800"/>
            <a:ext cx="228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22" name="Line 62"/>
          <p:cNvSpPr>
            <a:spLocks noChangeShapeType="1"/>
          </p:cNvSpPr>
          <p:nvPr/>
        </p:nvSpPr>
        <p:spPr bwMode="auto">
          <a:xfrm>
            <a:off x="838200" y="2971800"/>
            <a:ext cx="228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23" name="Line 63"/>
          <p:cNvSpPr>
            <a:spLocks noChangeShapeType="1"/>
          </p:cNvSpPr>
          <p:nvPr/>
        </p:nvSpPr>
        <p:spPr bwMode="auto">
          <a:xfrm>
            <a:off x="7162800" y="2209800"/>
            <a:ext cx="228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24" name="Line 64"/>
          <p:cNvSpPr>
            <a:spLocks noChangeShapeType="1"/>
          </p:cNvSpPr>
          <p:nvPr/>
        </p:nvSpPr>
        <p:spPr bwMode="auto">
          <a:xfrm>
            <a:off x="5486400" y="2971800"/>
            <a:ext cx="228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US" altLang="en-US"/>
              <a:t>Property under Null Addition</a:t>
            </a:r>
          </a:p>
        </p:txBody>
      </p:sp>
      <p:graphicFrame>
        <p:nvGraphicFramePr>
          <p:cNvPr id="93187" name="Object 3"/>
          <p:cNvGraphicFramePr>
            <a:graphicFrameLocks noChangeAspect="1"/>
          </p:cNvGraphicFramePr>
          <p:nvPr/>
        </p:nvGraphicFramePr>
        <p:xfrm>
          <a:off x="992188" y="1524000"/>
          <a:ext cx="7248525" cy="1274763"/>
        </p:xfrm>
        <a:graphic>
          <a:graphicData uri="http://schemas.openxmlformats.org/presentationml/2006/ole">
            <mc:AlternateContent xmlns:mc="http://schemas.openxmlformats.org/markup-compatibility/2006">
              <mc:Choice xmlns:v="urn:schemas-microsoft-com:vml" Requires="v">
                <p:oleObj name="VISIO" r:id="rId2" imgW="7251085" imgH="1277718" progId="">
                  <p:embed/>
                </p:oleObj>
              </mc:Choice>
              <mc:Fallback>
                <p:oleObj name="VISIO" r:id="rId2" imgW="7251085" imgH="1277718"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188" y="1524000"/>
                        <a:ext cx="7248525" cy="1274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3188" name="Text Box 4"/>
          <p:cNvSpPr txBox="1">
            <a:spLocks noChangeArrowheads="1"/>
          </p:cNvSpPr>
          <p:nvPr/>
        </p:nvSpPr>
        <p:spPr bwMode="auto">
          <a:xfrm>
            <a:off x="609600" y="3276600"/>
            <a:ext cx="8077200"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
                <a:schemeClr val="accent2"/>
              </a:buClr>
              <a:buFont typeface="Monotype Sorts" pitchFamily="2" charset="2"/>
              <a:buNone/>
            </a:pPr>
            <a:r>
              <a:rPr lang="en-US" altLang="en-US" sz="2400" b="0"/>
              <a:t>Invariant measures:</a:t>
            </a:r>
          </a:p>
          <a:p>
            <a:pPr lvl="1">
              <a:spcBef>
                <a:spcPct val="50000"/>
              </a:spcBef>
              <a:spcAft>
                <a:spcPct val="0"/>
              </a:spcAft>
              <a:buClr>
                <a:schemeClr val="accent2"/>
              </a:buClr>
              <a:buSzPct val="75000"/>
              <a:buFont typeface="Monotype Sorts" pitchFamily="2" charset="2"/>
              <a:buChar char="u"/>
            </a:pPr>
            <a:r>
              <a:rPr lang="en-US" altLang="en-US" b="0"/>
              <a:t> support, cosine, Jaccard, etc</a:t>
            </a:r>
          </a:p>
          <a:p>
            <a:pPr>
              <a:spcBef>
                <a:spcPct val="50000"/>
              </a:spcBef>
              <a:spcAft>
                <a:spcPct val="0"/>
              </a:spcAft>
              <a:buClr>
                <a:schemeClr val="accent2"/>
              </a:buClr>
              <a:buFont typeface="Monotype Sorts" pitchFamily="2" charset="2"/>
              <a:buNone/>
            </a:pPr>
            <a:r>
              <a:rPr lang="en-US" altLang="en-US" sz="2400" b="0"/>
              <a:t>Non-invariant measures:</a:t>
            </a:r>
          </a:p>
          <a:p>
            <a:pPr lvl="1">
              <a:spcBef>
                <a:spcPct val="50000"/>
              </a:spcBef>
              <a:spcAft>
                <a:spcPct val="0"/>
              </a:spcAft>
              <a:buClr>
                <a:schemeClr val="accent2"/>
              </a:buClr>
              <a:buSzPct val="75000"/>
              <a:buFont typeface="Monotype Sorts" pitchFamily="2" charset="2"/>
              <a:buChar char="u"/>
            </a:pPr>
            <a:r>
              <a:rPr lang="en-US" altLang="en-US" b="0"/>
              <a:t> correlation, Gini, mutual information, odds ratio, etc</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ltLang="en-US" sz="2800"/>
              <a:t>Different Measures have Different Properties</a:t>
            </a:r>
          </a:p>
        </p:txBody>
      </p:sp>
      <p:pic>
        <p:nvPicPr>
          <p:cNvPr id="94211" name="Picture 3"/>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762000" y="1600200"/>
            <a:ext cx="7315200" cy="3170238"/>
          </a:xfrm>
          <a:noFill/>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C2B124-70EF-3880-3F36-6077F88511B9}"/>
              </a:ext>
            </a:extLst>
          </p:cNvPr>
          <p:cNvSpPr>
            <a:spLocks noGrp="1"/>
          </p:cNvSpPr>
          <p:nvPr>
            <p:ph type="sldNum" sz="quarter" idx="12"/>
          </p:nvPr>
        </p:nvSpPr>
        <p:spPr/>
        <p:txBody>
          <a:bodyPr/>
          <a:lstStyle/>
          <a:p>
            <a:pPr>
              <a:defRPr/>
            </a:pPr>
            <a:fld id="{E32456F1-5FD4-4074-A7F5-122F6C81D70D}" type="slidenum">
              <a:rPr lang="en-US" altLang="en-US" smtClean="0"/>
              <a:pPr>
                <a:defRPr/>
              </a:pPr>
              <a:t>61</a:t>
            </a:fld>
            <a:endParaRPr lang="en-US" altLang="en-US"/>
          </a:p>
        </p:txBody>
      </p:sp>
      <p:sp>
        <p:nvSpPr>
          <p:cNvPr id="4" name="TextBox 3">
            <a:extLst>
              <a:ext uri="{FF2B5EF4-FFF2-40B4-BE49-F238E27FC236}">
                <a16:creationId xmlns:a16="http://schemas.microsoft.com/office/drawing/2014/main" id="{5067CD34-5A6F-42F6-EBB8-D4B6E172374F}"/>
              </a:ext>
            </a:extLst>
          </p:cNvPr>
          <p:cNvSpPr txBox="1"/>
          <p:nvPr/>
        </p:nvSpPr>
        <p:spPr>
          <a:xfrm>
            <a:off x="419100" y="990600"/>
            <a:ext cx="8305800" cy="2031325"/>
          </a:xfrm>
          <a:prstGeom prst="rect">
            <a:avLst/>
          </a:prstGeom>
          <a:noFill/>
        </p:spPr>
        <p:txBody>
          <a:bodyPr wrap="square">
            <a:spAutoFit/>
          </a:bodyPr>
          <a:lstStyle/>
          <a:p>
            <a:pPr>
              <a:buNone/>
            </a:pPr>
            <a:r>
              <a:rPr lang="en-US" b="1" dirty="0"/>
              <a:t>19) What is Simpson’s paradox?</a:t>
            </a:r>
          </a:p>
          <a:p>
            <a:pPr>
              <a:buNone/>
            </a:pPr>
            <a:r>
              <a:rPr lang="en-US" b="1" dirty="0"/>
              <a:t>Answer:</a:t>
            </a:r>
            <a:br>
              <a:rPr lang="en-US" dirty="0"/>
            </a:br>
            <a:r>
              <a:rPr lang="en-US" dirty="0"/>
              <a:t>Simpson’s paradox is a situation where a relationship observed in the whole dataset disappears or reverses when the data is divided into groups. This happens because of hidden variables or confounding factors. As a result, the overall pattern may be misleading. Proper stratification is needed to avoid generating false or spurious association patterns.</a:t>
            </a:r>
          </a:p>
        </p:txBody>
      </p:sp>
      <p:sp>
        <p:nvSpPr>
          <p:cNvPr id="6" name="TextBox 5">
            <a:extLst>
              <a:ext uri="{FF2B5EF4-FFF2-40B4-BE49-F238E27FC236}">
                <a16:creationId xmlns:a16="http://schemas.microsoft.com/office/drawing/2014/main" id="{2BE32299-4AB1-1A09-6989-2EF71970B50A}"/>
              </a:ext>
            </a:extLst>
          </p:cNvPr>
          <p:cNvSpPr txBox="1"/>
          <p:nvPr/>
        </p:nvSpPr>
        <p:spPr>
          <a:xfrm>
            <a:off x="419100" y="3060680"/>
            <a:ext cx="8305800" cy="2031325"/>
          </a:xfrm>
          <a:prstGeom prst="rect">
            <a:avLst/>
          </a:prstGeom>
          <a:noFill/>
        </p:spPr>
        <p:txBody>
          <a:bodyPr wrap="square">
            <a:spAutoFit/>
          </a:bodyPr>
          <a:lstStyle/>
          <a:p>
            <a:pPr>
              <a:buNone/>
            </a:pPr>
            <a:r>
              <a:rPr lang="en-US" b="1" dirty="0"/>
              <a:t>20) Why is Simpson’s paradox important in data mining?</a:t>
            </a:r>
          </a:p>
          <a:p>
            <a:pPr>
              <a:buNone/>
            </a:pPr>
            <a:r>
              <a:rPr lang="en-US" b="1" dirty="0"/>
              <a:t>Answer:</a:t>
            </a:r>
            <a:br>
              <a:rPr lang="en-US" dirty="0"/>
            </a:br>
            <a:r>
              <a:rPr lang="en-US" dirty="0"/>
              <a:t>Simpson’s paradox is important because it warns us that patterns found in aggregated data may not be real. A hidden variable may create a false relationship or reverse the direction of a true relationship. Therefore, before accepting a discovered pattern, we should check whether the pattern still holds within subgroups of the data.</a:t>
            </a:r>
          </a:p>
        </p:txBody>
      </p:sp>
    </p:spTree>
    <p:extLst>
      <p:ext uri="{BB962C8B-B14F-4D97-AF65-F5344CB8AC3E}">
        <p14:creationId xmlns:p14="http://schemas.microsoft.com/office/powerpoint/2010/main" val="34743494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381000" y="152400"/>
            <a:ext cx="7543800" cy="808038"/>
          </a:xfrm>
        </p:spPr>
        <p:txBody>
          <a:bodyPr/>
          <a:lstStyle/>
          <a:p>
            <a:r>
              <a:rPr lang="en-US" altLang="en-US" dirty="0"/>
              <a:t>Simpson’s Paradox</a:t>
            </a:r>
          </a:p>
        </p:txBody>
      </p:sp>
      <p:pic>
        <p:nvPicPr>
          <p:cNvPr id="95235" name="Picture 3"/>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905000" y="1371600"/>
            <a:ext cx="4800600" cy="1690688"/>
          </a:xfrm>
          <a:noFill/>
        </p:spPr>
      </p:pic>
      <p:graphicFrame>
        <p:nvGraphicFramePr>
          <p:cNvPr id="95236" name="Object 4"/>
          <p:cNvGraphicFramePr>
            <a:graphicFrameLocks noGrp="1" noChangeAspect="1"/>
          </p:cNvGraphicFramePr>
          <p:nvPr>
            <p:ph idx="1"/>
          </p:nvPr>
        </p:nvGraphicFramePr>
        <p:xfrm>
          <a:off x="990600" y="3581400"/>
          <a:ext cx="7086600" cy="752475"/>
        </p:xfrm>
        <a:graphic>
          <a:graphicData uri="http://schemas.openxmlformats.org/presentationml/2006/ole">
            <mc:AlternateContent xmlns:mc="http://schemas.openxmlformats.org/markup-compatibility/2006">
              <mc:Choice xmlns:v="urn:schemas-microsoft-com:vml" Requires="v">
                <p:oleObj name="Equation" r:id="rId3" imgW="4064000" imgH="431800" progId="Equation.3">
                  <p:embed/>
                </p:oleObj>
              </mc:Choice>
              <mc:Fallback>
                <p:oleObj name="Equation" r:id="rId3" imgW="4064000" imgH="431800" progId="Equation.3">
                  <p:embed/>
                  <p:pic>
                    <p:nvPicPr>
                      <p:cNvPr id="0" name="Picture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3581400"/>
                        <a:ext cx="7086600" cy="752475"/>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37" name="Text Box 5"/>
          <p:cNvSpPr txBox="1">
            <a:spLocks noChangeArrowheads="1"/>
          </p:cNvSpPr>
          <p:nvPr/>
        </p:nvSpPr>
        <p:spPr bwMode="auto">
          <a:xfrm>
            <a:off x="685800" y="5119688"/>
            <a:ext cx="792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800"/>
              <a:t>=&gt; Customers who buy HDTV are more likely to buy exercise machines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228600" y="228600"/>
            <a:ext cx="7543800" cy="884238"/>
          </a:xfrm>
        </p:spPr>
        <p:txBody>
          <a:bodyPr/>
          <a:lstStyle/>
          <a:p>
            <a:r>
              <a:rPr lang="en-US" altLang="en-US" dirty="0"/>
              <a:t>Simpson’s Paradox</a:t>
            </a:r>
          </a:p>
        </p:txBody>
      </p:sp>
      <p:pic>
        <p:nvPicPr>
          <p:cNvPr id="96259" name="Picture 3"/>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914400" y="1219200"/>
            <a:ext cx="7391400" cy="1962150"/>
          </a:xfrm>
          <a:noFill/>
        </p:spPr>
      </p:pic>
      <p:graphicFrame>
        <p:nvGraphicFramePr>
          <p:cNvPr id="96260" name="Object 4"/>
          <p:cNvGraphicFramePr>
            <a:graphicFrameLocks noGrp="1" noChangeAspect="1"/>
          </p:cNvGraphicFramePr>
          <p:nvPr>
            <p:ph sz="quarter" idx="4294967295"/>
          </p:nvPr>
        </p:nvGraphicFramePr>
        <p:xfrm>
          <a:off x="1520825" y="3886200"/>
          <a:ext cx="6937375" cy="720725"/>
        </p:xfrm>
        <a:graphic>
          <a:graphicData uri="http://schemas.openxmlformats.org/presentationml/2006/ole">
            <mc:AlternateContent xmlns:mc="http://schemas.openxmlformats.org/markup-compatibility/2006">
              <mc:Choice xmlns:v="urn:schemas-microsoft-com:vml" Requires="v">
                <p:oleObj name="Equation" r:id="rId3" imgW="3975100" imgH="431800" progId="Equation.3">
                  <p:embed/>
                </p:oleObj>
              </mc:Choice>
              <mc:Fallback>
                <p:oleObj name="Equation" r:id="rId3" imgW="3975100" imgH="431800" progId="Equation.3">
                  <p:embed/>
                  <p:pic>
                    <p:nvPicPr>
                      <p:cNvPr id="0" name="Picture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0825" y="3886200"/>
                        <a:ext cx="6937375" cy="720725"/>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61" name="Object 5"/>
          <p:cNvGraphicFramePr>
            <a:graphicFrameLocks noGrp="1" noChangeAspect="1"/>
          </p:cNvGraphicFramePr>
          <p:nvPr>
            <p:ph sz="quarter" idx="4294967295"/>
          </p:nvPr>
        </p:nvGraphicFramePr>
        <p:xfrm>
          <a:off x="1447800" y="5391150"/>
          <a:ext cx="6705600" cy="695325"/>
        </p:xfrm>
        <a:graphic>
          <a:graphicData uri="http://schemas.openxmlformats.org/presentationml/2006/ole">
            <mc:AlternateContent xmlns:mc="http://schemas.openxmlformats.org/markup-compatibility/2006">
              <mc:Choice xmlns:v="urn:schemas-microsoft-com:vml" Requires="v">
                <p:oleObj name="Equation" r:id="rId5" imgW="4165600" imgH="431800" progId="Equation.3">
                  <p:embed/>
                </p:oleObj>
              </mc:Choice>
              <mc:Fallback>
                <p:oleObj name="Equation" r:id="rId5" imgW="4165600" imgH="431800" progId="Equation.3">
                  <p:embed/>
                  <p:pic>
                    <p:nvPicPr>
                      <p:cNvPr id="0" name="Picture 3"/>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5391150"/>
                        <a:ext cx="6705600" cy="695325"/>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262" name="Text Box 6"/>
          <p:cNvSpPr txBox="1">
            <a:spLocks noChangeArrowheads="1"/>
          </p:cNvSpPr>
          <p:nvPr/>
        </p:nvSpPr>
        <p:spPr bwMode="auto">
          <a:xfrm>
            <a:off x="381000" y="4926013"/>
            <a:ext cx="2438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800"/>
              <a:t>Working adults:</a:t>
            </a:r>
          </a:p>
        </p:txBody>
      </p:sp>
      <p:sp>
        <p:nvSpPr>
          <p:cNvPr id="96263" name="Text Box 7"/>
          <p:cNvSpPr txBox="1">
            <a:spLocks noChangeArrowheads="1"/>
          </p:cNvSpPr>
          <p:nvPr/>
        </p:nvSpPr>
        <p:spPr bwMode="auto">
          <a:xfrm>
            <a:off x="381000" y="3429000"/>
            <a:ext cx="792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800"/>
              <a:t>College students: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altLang="en-US"/>
              <a:t>Simpson’s Paradox</a:t>
            </a:r>
          </a:p>
        </p:txBody>
      </p:sp>
      <p:sp>
        <p:nvSpPr>
          <p:cNvPr id="97283" name="Rectangle 3"/>
          <p:cNvSpPr>
            <a:spLocks noGrp="1" noChangeArrowheads="1"/>
          </p:cNvSpPr>
          <p:nvPr>
            <p:ph type="body" idx="1"/>
          </p:nvPr>
        </p:nvSpPr>
        <p:spPr/>
        <p:txBody>
          <a:bodyPr/>
          <a:lstStyle/>
          <a:p>
            <a:r>
              <a:rPr lang="en-US" altLang="en-US"/>
              <a:t>Observed relationship in data may be influenced by the presence of other confounding factors (hidden variables)</a:t>
            </a:r>
          </a:p>
          <a:p>
            <a:pPr lvl="1"/>
            <a:r>
              <a:rPr lang="en-US" altLang="en-US"/>
              <a:t>Hidden variables may cause the observed relationship to disappear or reverse its direction!</a:t>
            </a:r>
          </a:p>
          <a:p>
            <a:pPr lvl="1"/>
            <a:endParaRPr lang="en-US" altLang="en-US"/>
          </a:p>
          <a:p>
            <a:r>
              <a:rPr lang="en-US" altLang="en-US"/>
              <a:t>Proper stratification is needed to avoid generating spurious patterns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2350CD-A985-9C20-68C4-CDEBE6426EEC}"/>
              </a:ext>
            </a:extLst>
          </p:cNvPr>
          <p:cNvSpPr>
            <a:spLocks noGrp="1"/>
          </p:cNvSpPr>
          <p:nvPr>
            <p:ph type="sldNum" sz="quarter" idx="12"/>
          </p:nvPr>
        </p:nvSpPr>
        <p:spPr/>
        <p:txBody>
          <a:bodyPr/>
          <a:lstStyle/>
          <a:p>
            <a:pPr>
              <a:defRPr/>
            </a:pPr>
            <a:fld id="{E32456F1-5FD4-4074-A7F5-122F6C81D70D}" type="slidenum">
              <a:rPr lang="en-US" altLang="en-US" smtClean="0"/>
              <a:pPr>
                <a:defRPr/>
              </a:pPr>
              <a:t>65</a:t>
            </a:fld>
            <a:endParaRPr lang="en-US" altLang="en-US"/>
          </a:p>
        </p:txBody>
      </p:sp>
      <p:sp>
        <p:nvSpPr>
          <p:cNvPr id="4" name="TextBox 3">
            <a:extLst>
              <a:ext uri="{FF2B5EF4-FFF2-40B4-BE49-F238E27FC236}">
                <a16:creationId xmlns:a16="http://schemas.microsoft.com/office/drawing/2014/main" id="{AC0845AC-9A17-EFA5-B9C4-D5623BCB737B}"/>
              </a:ext>
            </a:extLst>
          </p:cNvPr>
          <p:cNvSpPr txBox="1"/>
          <p:nvPr/>
        </p:nvSpPr>
        <p:spPr>
          <a:xfrm>
            <a:off x="457200" y="1219200"/>
            <a:ext cx="8534400" cy="1477328"/>
          </a:xfrm>
          <a:prstGeom prst="rect">
            <a:avLst/>
          </a:prstGeom>
          <a:noFill/>
        </p:spPr>
        <p:txBody>
          <a:bodyPr wrap="square">
            <a:spAutoFit/>
          </a:bodyPr>
          <a:lstStyle/>
          <a:p>
            <a:pPr>
              <a:buNone/>
            </a:pPr>
            <a:r>
              <a:rPr lang="en-US" b="1" dirty="0"/>
              <a:t>21) What is meant by skewed support distribution?</a:t>
            </a:r>
          </a:p>
          <a:p>
            <a:pPr>
              <a:buNone/>
            </a:pPr>
            <a:r>
              <a:rPr lang="en-US" b="1" dirty="0"/>
              <a:t>Answer:</a:t>
            </a:r>
            <a:br>
              <a:rPr lang="en-US" dirty="0"/>
            </a:br>
            <a:r>
              <a:rPr lang="en-US" dirty="0"/>
              <a:t>In many real datasets, support distribution is skewed. This means a few items have very high support, while many items have very low support. This creates difficulty in selecting a proper minimum support threshold.</a:t>
            </a:r>
          </a:p>
        </p:txBody>
      </p:sp>
      <p:sp>
        <p:nvSpPr>
          <p:cNvPr id="6" name="TextBox 5">
            <a:extLst>
              <a:ext uri="{FF2B5EF4-FFF2-40B4-BE49-F238E27FC236}">
                <a16:creationId xmlns:a16="http://schemas.microsoft.com/office/drawing/2014/main" id="{3BFB55FA-07FF-A1D8-7C24-1535394F5110}"/>
              </a:ext>
            </a:extLst>
          </p:cNvPr>
          <p:cNvSpPr txBox="1"/>
          <p:nvPr/>
        </p:nvSpPr>
        <p:spPr>
          <a:xfrm>
            <a:off x="457200" y="2814573"/>
            <a:ext cx="8382000" cy="2031325"/>
          </a:xfrm>
          <a:prstGeom prst="rect">
            <a:avLst/>
          </a:prstGeom>
          <a:noFill/>
        </p:spPr>
        <p:txBody>
          <a:bodyPr wrap="square">
            <a:spAutoFit/>
          </a:bodyPr>
          <a:lstStyle/>
          <a:p>
            <a:pPr>
              <a:buNone/>
            </a:pPr>
            <a:r>
              <a:rPr lang="en-US" b="1" dirty="0"/>
              <a:t>22) Why is it difficult to choose minimum support in skewed data?</a:t>
            </a:r>
          </a:p>
          <a:p>
            <a:pPr>
              <a:buNone/>
            </a:pPr>
            <a:r>
              <a:rPr lang="en-US" b="1" dirty="0"/>
              <a:t>Answer:</a:t>
            </a:r>
            <a:br>
              <a:rPr lang="en-US" dirty="0"/>
            </a:br>
            <a:r>
              <a:rPr lang="en-US" dirty="0"/>
              <a:t>If minimum support is set too high, then rare but important patterns will be missed. For example, rare items like expensive products may never appear in frequent </a:t>
            </a:r>
            <a:r>
              <a:rPr lang="en-US" dirty="0" err="1"/>
              <a:t>itemsets</a:t>
            </a:r>
            <a:r>
              <a:rPr lang="en-US" dirty="0"/>
              <a:t>. If minimum support is set too low, then the number of discovered </a:t>
            </a:r>
            <a:r>
              <a:rPr lang="en-US" dirty="0" err="1"/>
              <a:t>itemsets</a:t>
            </a:r>
            <a:r>
              <a:rPr lang="en-US" dirty="0"/>
              <a:t> becomes very large and computation becomes expensive. So choosing minimum support is difficult in skewed datasets.</a:t>
            </a:r>
          </a:p>
        </p:txBody>
      </p:sp>
    </p:spTree>
    <p:extLst>
      <p:ext uri="{BB962C8B-B14F-4D97-AF65-F5344CB8AC3E}">
        <p14:creationId xmlns:p14="http://schemas.microsoft.com/office/powerpoint/2010/main" val="26685984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957771-295A-B959-A631-4361A2591E3B}"/>
              </a:ext>
            </a:extLst>
          </p:cNvPr>
          <p:cNvSpPr>
            <a:spLocks noGrp="1"/>
          </p:cNvSpPr>
          <p:nvPr>
            <p:ph type="sldNum" sz="quarter" idx="12"/>
          </p:nvPr>
        </p:nvSpPr>
        <p:spPr/>
        <p:txBody>
          <a:bodyPr/>
          <a:lstStyle/>
          <a:p>
            <a:pPr>
              <a:defRPr/>
            </a:pPr>
            <a:fld id="{E32456F1-5FD4-4074-A7F5-122F6C81D70D}" type="slidenum">
              <a:rPr lang="en-US" altLang="en-US" smtClean="0"/>
              <a:pPr>
                <a:defRPr/>
              </a:pPr>
              <a:t>66</a:t>
            </a:fld>
            <a:endParaRPr lang="en-US" altLang="en-US"/>
          </a:p>
        </p:txBody>
      </p:sp>
      <p:sp>
        <p:nvSpPr>
          <p:cNvPr id="4" name="TextBox 3">
            <a:extLst>
              <a:ext uri="{FF2B5EF4-FFF2-40B4-BE49-F238E27FC236}">
                <a16:creationId xmlns:a16="http://schemas.microsoft.com/office/drawing/2014/main" id="{BD6CD87B-A2F4-3129-B83B-477692EC4C9E}"/>
              </a:ext>
            </a:extLst>
          </p:cNvPr>
          <p:cNvSpPr txBox="1"/>
          <p:nvPr/>
        </p:nvSpPr>
        <p:spPr>
          <a:xfrm>
            <a:off x="1219200" y="1143000"/>
            <a:ext cx="7467600" cy="1754326"/>
          </a:xfrm>
          <a:prstGeom prst="rect">
            <a:avLst/>
          </a:prstGeom>
          <a:noFill/>
        </p:spPr>
        <p:txBody>
          <a:bodyPr wrap="square">
            <a:spAutoFit/>
          </a:bodyPr>
          <a:lstStyle/>
          <a:p>
            <a:pPr>
              <a:buNone/>
            </a:pPr>
            <a:r>
              <a:rPr lang="en-US" b="1" dirty="0"/>
              <a:t>23) What is a cross-support pattern?</a:t>
            </a:r>
          </a:p>
          <a:p>
            <a:pPr>
              <a:buNone/>
            </a:pPr>
            <a:r>
              <a:rPr lang="en-US" b="1" dirty="0"/>
              <a:t>Answer:</a:t>
            </a:r>
            <a:br>
              <a:rPr lang="en-US" dirty="0"/>
            </a:br>
            <a:r>
              <a:rPr lang="en-US" dirty="0"/>
              <a:t>A cross-support pattern is an itemset that contains items with very different support values. For example, one item may be very common, while another item is very rare. Such patterns are often not meaningful because the strong support of one item can dominate the pattern.</a:t>
            </a:r>
          </a:p>
        </p:txBody>
      </p:sp>
      <p:sp>
        <p:nvSpPr>
          <p:cNvPr id="6" name="TextBox 5">
            <a:extLst>
              <a:ext uri="{FF2B5EF4-FFF2-40B4-BE49-F238E27FC236}">
                <a16:creationId xmlns:a16="http://schemas.microsoft.com/office/drawing/2014/main" id="{E243B482-6A4A-C639-C523-BB74BF1D5624}"/>
              </a:ext>
            </a:extLst>
          </p:cNvPr>
          <p:cNvSpPr txBox="1"/>
          <p:nvPr/>
        </p:nvSpPr>
        <p:spPr>
          <a:xfrm>
            <a:off x="838200" y="2919980"/>
            <a:ext cx="7924800" cy="2031325"/>
          </a:xfrm>
          <a:prstGeom prst="rect">
            <a:avLst/>
          </a:prstGeom>
          <a:noFill/>
        </p:spPr>
        <p:txBody>
          <a:bodyPr wrap="square">
            <a:spAutoFit/>
          </a:bodyPr>
          <a:lstStyle/>
          <a:p>
            <a:pPr>
              <a:buNone/>
            </a:pPr>
            <a:r>
              <a:rPr lang="en-US" b="1" dirty="0"/>
              <a:t>24) Why are cross-support patterns a problem?</a:t>
            </a:r>
          </a:p>
          <a:p>
            <a:pPr>
              <a:buNone/>
            </a:pPr>
            <a:r>
              <a:rPr lang="en-US" b="1" dirty="0"/>
              <a:t>Answer:</a:t>
            </a:r>
            <a:br>
              <a:rPr lang="en-US" dirty="0"/>
            </a:br>
            <a:r>
              <a:rPr lang="en-US" dirty="0"/>
              <a:t>Cross-support patterns are problematic because they may produce misleading association rules. For example, a rule from a rare item to a common item can have high confidence, but the reverse rule may have very low confidence. This indicates that the items do not have balanced support and may not form a truly coherent pattern.</a:t>
            </a:r>
          </a:p>
        </p:txBody>
      </p:sp>
    </p:spTree>
    <p:extLst>
      <p:ext uri="{BB962C8B-B14F-4D97-AF65-F5344CB8AC3E}">
        <p14:creationId xmlns:p14="http://schemas.microsoft.com/office/powerpoint/2010/main" val="6898710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C88029-074C-0466-B566-486F943AB98D}"/>
              </a:ext>
            </a:extLst>
          </p:cNvPr>
          <p:cNvSpPr>
            <a:spLocks noGrp="1"/>
          </p:cNvSpPr>
          <p:nvPr>
            <p:ph type="sldNum" sz="quarter" idx="12"/>
          </p:nvPr>
        </p:nvSpPr>
        <p:spPr/>
        <p:txBody>
          <a:bodyPr/>
          <a:lstStyle/>
          <a:p>
            <a:pPr>
              <a:defRPr/>
            </a:pPr>
            <a:fld id="{E32456F1-5FD4-4074-A7F5-122F6C81D70D}" type="slidenum">
              <a:rPr lang="en-US" altLang="en-US" smtClean="0"/>
              <a:pPr>
                <a:defRPr/>
              </a:pPr>
              <a:t>67</a:t>
            </a:fld>
            <a:endParaRPr lang="en-US" altLang="en-US"/>
          </a:p>
        </p:txBody>
      </p:sp>
      <p:sp>
        <p:nvSpPr>
          <p:cNvPr id="4" name="TextBox 3">
            <a:extLst>
              <a:ext uri="{FF2B5EF4-FFF2-40B4-BE49-F238E27FC236}">
                <a16:creationId xmlns:a16="http://schemas.microsoft.com/office/drawing/2014/main" id="{D75D4CDA-3AC8-33DD-FD23-32B07F2921B3}"/>
              </a:ext>
            </a:extLst>
          </p:cNvPr>
          <p:cNvSpPr txBox="1"/>
          <p:nvPr/>
        </p:nvSpPr>
        <p:spPr>
          <a:xfrm>
            <a:off x="1066800" y="1219200"/>
            <a:ext cx="7391400" cy="4801314"/>
          </a:xfrm>
          <a:prstGeom prst="rect">
            <a:avLst/>
          </a:prstGeom>
          <a:noFill/>
        </p:spPr>
        <p:txBody>
          <a:bodyPr wrap="square">
            <a:spAutoFit/>
          </a:bodyPr>
          <a:lstStyle/>
          <a:p>
            <a:pPr>
              <a:buNone/>
            </a:pPr>
            <a:r>
              <a:rPr lang="en-US" b="1" dirty="0"/>
              <a:t>25) What is h-confidence?</a:t>
            </a:r>
          </a:p>
          <a:p>
            <a:pPr>
              <a:buNone/>
            </a:pPr>
            <a:r>
              <a:rPr lang="en-US" b="1" dirty="0"/>
              <a:t>Answer:</a:t>
            </a:r>
            <a:br>
              <a:rPr lang="en-US" dirty="0"/>
            </a:br>
            <a:r>
              <a:rPr lang="en-US" dirty="0"/>
              <a:t>H-confidence, also called all-confidence, is a measure used to avoid cross-support patterns. It is defined as the minimum confidence among all possible association rules that can be generated from an itemset.</a:t>
            </a:r>
          </a:p>
          <a:p>
            <a:pPr>
              <a:buNone/>
            </a:pPr>
            <a:r>
              <a:rPr lang="en-US" dirty="0"/>
              <a:t>It checks whether all items in the itemset are strongly associated with one another. A high h-confidence means the itemset has strong affinity and similar support behavior.</a:t>
            </a:r>
          </a:p>
          <a:p>
            <a:pPr>
              <a:buNone/>
            </a:pPr>
            <a:br>
              <a:rPr lang="en-US" dirty="0"/>
            </a:br>
            <a:endParaRPr lang="en-US" dirty="0"/>
          </a:p>
          <a:p>
            <a:pPr>
              <a:buNone/>
            </a:pPr>
            <a:r>
              <a:rPr lang="en-US" b="1" dirty="0"/>
              <a:t>26) Why is h-confidence used?</a:t>
            </a:r>
          </a:p>
          <a:p>
            <a:pPr>
              <a:buNone/>
            </a:pPr>
            <a:r>
              <a:rPr lang="en-US" b="1" dirty="0"/>
              <a:t>Answer:</a:t>
            </a:r>
            <a:br>
              <a:rPr lang="en-US" dirty="0"/>
            </a:br>
            <a:r>
              <a:rPr lang="en-US" dirty="0"/>
              <a:t>H-confidence is used to eliminate </a:t>
            </a:r>
            <a:r>
              <a:rPr lang="en-US" dirty="0" err="1"/>
              <a:t>itemsets</a:t>
            </a:r>
            <a:r>
              <a:rPr lang="en-US" dirty="0"/>
              <a:t> whose items have very different support values. It is useful for avoiding cross-support patterns. Unlike ordinary confidence, h-confidence evaluates the itemset more strictly by looking at the weakest rule implied by that itemset. Therefore, it helps identify strongly coherent groups of items.</a:t>
            </a:r>
          </a:p>
        </p:txBody>
      </p:sp>
    </p:spTree>
    <p:extLst>
      <p:ext uri="{BB962C8B-B14F-4D97-AF65-F5344CB8AC3E}">
        <p14:creationId xmlns:p14="http://schemas.microsoft.com/office/powerpoint/2010/main" val="20599515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EC16AB-5DCF-5490-821C-48D820DA612C}"/>
              </a:ext>
            </a:extLst>
          </p:cNvPr>
          <p:cNvSpPr>
            <a:spLocks noGrp="1"/>
          </p:cNvSpPr>
          <p:nvPr>
            <p:ph type="sldNum" sz="quarter" idx="12"/>
          </p:nvPr>
        </p:nvSpPr>
        <p:spPr/>
        <p:txBody>
          <a:bodyPr/>
          <a:lstStyle/>
          <a:p>
            <a:pPr>
              <a:defRPr/>
            </a:pPr>
            <a:fld id="{E32456F1-5FD4-4074-A7F5-122F6C81D70D}" type="slidenum">
              <a:rPr lang="en-US" altLang="en-US" smtClean="0"/>
              <a:pPr>
                <a:defRPr/>
              </a:pPr>
              <a:t>68</a:t>
            </a:fld>
            <a:endParaRPr lang="en-US" altLang="en-US"/>
          </a:p>
        </p:txBody>
      </p:sp>
      <p:sp>
        <p:nvSpPr>
          <p:cNvPr id="4" name="TextBox 3">
            <a:extLst>
              <a:ext uri="{FF2B5EF4-FFF2-40B4-BE49-F238E27FC236}">
                <a16:creationId xmlns:a16="http://schemas.microsoft.com/office/drawing/2014/main" id="{B48EDDE0-635D-F562-8BB5-FE2DBF524409}"/>
              </a:ext>
            </a:extLst>
          </p:cNvPr>
          <p:cNvSpPr txBox="1"/>
          <p:nvPr/>
        </p:nvSpPr>
        <p:spPr>
          <a:xfrm>
            <a:off x="609600" y="457200"/>
            <a:ext cx="7315200" cy="5078313"/>
          </a:xfrm>
          <a:prstGeom prst="rect">
            <a:avLst/>
          </a:prstGeom>
          <a:noFill/>
        </p:spPr>
        <p:txBody>
          <a:bodyPr wrap="square">
            <a:spAutoFit/>
          </a:bodyPr>
          <a:lstStyle/>
          <a:p>
            <a:pPr>
              <a:buNone/>
            </a:pPr>
            <a:r>
              <a:rPr lang="en-US" b="1" dirty="0"/>
              <a:t>27) What is a </a:t>
            </a:r>
            <a:r>
              <a:rPr lang="en-US" b="1" dirty="0" err="1"/>
              <a:t>hyperclique</a:t>
            </a:r>
            <a:r>
              <a:rPr lang="en-US" b="1" dirty="0"/>
              <a:t> pattern?</a:t>
            </a:r>
          </a:p>
          <a:p>
            <a:pPr>
              <a:buNone/>
            </a:pPr>
            <a:r>
              <a:rPr lang="en-US" b="1" dirty="0"/>
              <a:t>Answer:</a:t>
            </a:r>
            <a:br>
              <a:rPr lang="en-US" dirty="0"/>
            </a:br>
            <a:r>
              <a:rPr lang="en-US" dirty="0"/>
              <a:t>An itemset that satisfies a user-defined h-confidence threshold is called a </a:t>
            </a:r>
            <a:r>
              <a:rPr lang="en-US" b="1" dirty="0" err="1"/>
              <a:t>hyperclique</a:t>
            </a:r>
            <a:r>
              <a:rPr lang="en-US" b="1" dirty="0"/>
              <a:t> pattern</a:t>
            </a:r>
            <a:r>
              <a:rPr lang="en-US" dirty="0"/>
              <a:t>. </a:t>
            </a:r>
            <a:r>
              <a:rPr lang="en-US" dirty="0" err="1"/>
              <a:t>Hypercliques</a:t>
            </a:r>
            <a:r>
              <a:rPr lang="en-US" dirty="0"/>
              <a:t> are useful because they represent groups of items with strong mutual affinity. They do not need to be frequent </a:t>
            </a:r>
            <a:r>
              <a:rPr lang="en-US" dirty="0" err="1"/>
              <a:t>itemsets</a:t>
            </a:r>
            <a:r>
              <a:rPr lang="en-US" dirty="0"/>
              <a:t>, so they can also find important low-support patterns.</a:t>
            </a:r>
          </a:p>
          <a:p>
            <a:pPr>
              <a:buNone/>
            </a:pPr>
            <a:br>
              <a:rPr lang="en-US" dirty="0"/>
            </a:br>
            <a:endParaRPr lang="en-US" dirty="0"/>
          </a:p>
          <a:p>
            <a:pPr>
              <a:buNone/>
            </a:pPr>
            <a:r>
              <a:rPr lang="en-US" b="1" dirty="0"/>
              <a:t>28) What are the properties of </a:t>
            </a:r>
            <a:r>
              <a:rPr lang="en-US" b="1" dirty="0" err="1"/>
              <a:t>hypercliques</a:t>
            </a:r>
            <a:r>
              <a:rPr lang="en-US" b="1" dirty="0"/>
              <a:t>?</a:t>
            </a:r>
          </a:p>
          <a:p>
            <a:pPr>
              <a:buNone/>
            </a:pPr>
            <a:r>
              <a:rPr lang="en-US" b="1" dirty="0"/>
              <a:t>Answer:</a:t>
            </a:r>
            <a:br>
              <a:rPr lang="en-US" dirty="0"/>
            </a:br>
            <a:r>
              <a:rPr lang="en-US" dirty="0"/>
              <a:t>Important properties of </a:t>
            </a:r>
            <a:r>
              <a:rPr lang="en-US" dirty="0" err="1"/>
              <a:t>hypercliques</a:t>
            </a:r>
            <a:r>
              <a:rPr lang="en-US" dirty="0"/>
              <a:t> are:</a:t>
            </a:r>
          </a:p>
          <a:p>
            <a:pPr>
              <a:buFont typeface="+mj-lt"/>
              <a:buAutoNum type="arabicPeriod"/>
            </a:pPr>
            <a:r>
              <a:rPr lang="en-US" dirty="0"/>
              <a:t>They are </a:t>
            </a:r>
            <a:r>
              <a:rPr lang="en-US" dirty="0" err="1"/>
              <a:t>itemsets</a:t>
            </a:r>
            <a:r>
              <a:rPr lang="en-US" dirty="0"/>
              <a:t> with high h-confidence. </a:t>
            </a:r>
          </a:p>
          <a:p>
            <a:pPr>
              <a:buFont typeface="+mj-lt"/>
              <a:buAutoNum type="arabicPeriod"/>
            </a:pPr>
            <a:r>
              <a:rPr lang="en-US" dirty="0"/>
              <a:t>They are good for finding strong low-support patterns. </a:t>
            </a:r>
          </a:p>
          <a:p>
            <a:pPr>
              <a:buFont typeface="+mj-lt"/>
              <a:buAutoNum type="arabicPeriod"/>
            </a:pPr>
            <a:r>
              <a:rPr lang="en-US" dirty="0"/>
              <a:t>H-confidence is anti-monotone, so pruning becomes efficient. </a:t>
            </a:r>
          </a:p>
          <a:p>
            <a:pPr>
              <a:buFont typeface="+mj-lt"/>
              <a:buAutoNum type="arabicPeriod"/>
            </a:pPr>
            <a:r>
              <a:rPr lang="en-US" dirty="0" err="1"/>
              <a:t>Hypercliques</a:t>
            </a:r>
            <a:r>
              <a:rPr lang="en-US" dirty="0"/>
              <a:t> have high-affinity property, meaning the items are strongly similar and do not have widely different support values. </a:t>
            </a:r>
          </a:p>
          <a:p>
            <a:pPr>
              <a:buFont typeface="+mj-lt"/>
              <a:buAutoNum type="arabicPeriod"/>
            </a:pPr>
            <a:r>
              <a:rPr lang="en-US" dirty="0"/>
              <a:t>Closed and maximal </a:t>
            </a:r>
            <a:r>
              <a:rPr lang="en-US" dirty="0" err="1"/>
              <a:t>hypercliques</a:t>
            </a:r>
            <a:r>
              <a:rPr lang="en-US" dirty="0"/>
              <a:t> can also be defined.</a:t>
            </a:r>
          </a:p>
        </p:txBody>
      </p:sp>
    </p:spTree>
    <p:extLst>
      <p:ext uri="{BB962C8B-B14F-4D97-AF65-F5344CB8AC3E}">
        <p14:creationId xmlns:p14="http://schemas.microsoft.com/office/powerpoint/2010/main" val="40755159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EF8686-6064-FD3D-D2DE-AA4BF9D427AB}"/>
              </a:ext>
            </a:extLst>
          </p:cNvPr>
          <p:cNvSpPr>
            <a:spLocks noGrp="1"/>
          </p:cNvSpPr>
          <p:nvPr>
            <p:ph type="sldNum" sz="quarter" idx="12"/>
          </p:nvPr>
        </p:nvSpPr>
        <p:spPr/>
        <p:txBody>
          <a:bodyPr/>
          <a:lstStyle/>
          <a:p>
            <a:pPr>
              <a:defRPr/>
            </a:pPr>
            <a:fld id="{E32456F1-5FD4-4074-A7F5-122F6C81D70D}" type="slidenum">
              <a:rPr lang="en-US" altLang="en-US" smtClean="0"/>
              <a:pPr>
                <a:defRPr/>
              </a:pPr>
              <a:t>69</a:t>
            </a:fld>
            <a:endParaRPr lang="en-US" altLang="en-US"/>
          </a:p>
        </p:txBody>
      </p:sp>
      <p:sp>
        <p:nvSpPr>
          <p:cNvPr id="4" name="TextBox 3">
            <a:extLst>
              <a:ext uri="{FF2B5EF4-FFF2-40B4-BE49-F238E27FC236}">
                <a16:creationId xmlns:a16="http://schemas.microsoft.com/office/drawing/2014/main" id="{9888815B-0D50-9549-E42A-6A3D51BD8E31}"/>
              </a:ext>
            </a:extLst>
          </p:cNvPr>
          <p:cNvSpPr txBox="1"/>
          <p:nvPr/>
        </p:nvSpPr>
        <p:spPr>
          <a:xfrm>
            <a:off x="1219200" y="533400"/>
            <a:ext cx="6172200" cy="5355312"/>
          </a:xfrm>
          <a:prstGeom prst="rect">
            <a:avLst/>
          </a:prstGeom>
          <a:noFill/>
        </p:spPr>
        <p:txBody>
          <a:bodyPr wrap="square">
            <a:spAutoFit/>
          </a:bodyPr>
          <a:lstStyle/>
          <a:p>
            <a:pPr>
              <a:buNone/>
            </a:pPr>
            <a:r>
              <a:rPr lang="en-US" b="1" dirty="0"/>
              <a:t>29) What does anti-monotone property of h-confidence mean?</a:t>
            </a:r>
          </a:p>
          <a:p>
            <a:pPr>
              <a:buNone/>
            </a:pPr>
            <a:r>
              <a:rPr lang="en-US" b="1" dirty="0"/>
              <a:t>Answer:</a:t>
            </a:r>
            <a:br>
              <a:rPr lang="en-US" dirty="0"/>
            </a:br>
            <a:r>
              <a:rPr lang="en-US" dirty="0"/>
              <a:t>The anti-monotone property means that if an itemset does not satisfy the h-confidence threshold, then none of its supersets can satisfy it either. This property is very useful in pruning because once a pattern fails, all larger patterns built from it can be removed immediately.</a:t>
            </a:r>
          </a:p>
          <a:p>
            <a:pPr>
              <a:buNone/>
            </a:pPr>
            <a:br>
              <a:rPr lang="en-US" dirty="0"/>
            </a:br>
            <a:endParaRPr lang="en-US" dirty="0"/>
          </a:p>
          <a:p>
            <a:pPr>
              <a:buNone/>
            </a:pPr>
            <a:r>
              <a:rPr lang="en-US" b="1" dirty="0"/>
              <a:t>30) What is the advantage of h-confidence over support?</a:t>
            </a:r>
          </a:p>
          <a:p>
            <a:pPr>
              <a:buNone/>
            </a:pPr>
            <a:r>
              <a:rPr lang="en-US" b="1" dirty="0"/>
              <a:t>Answer:</a:t>
            </a:r>
            <a:br>
              <a:rPr lang="en-US" dirty="0"/>
            </a:br>
            <a:r>
              <a:rPr lang="en-US" dirty="0"/>
              <a:t>Support mainly checks frequency, but h-confidence checks coherence and affinity among items. Therefore, h-confidence can find meaningful low-support patterns that support-based methods may miss. It is especially useful when support distribution is skewed and when we want to avoid cross-support patterns.</a:t>
            </a:r>
          </a:p>
        </p:txBody>
      </p:sp>
    </p:spTree>
    <p:extLst>
      <p:ext uri="{BB962C8B-B14F-4D97-AF65-F5344CB8AC3E}">
        <p14:creationId xmlns:p14="http://schemas.microsoft.com/office/powerpoint/2010/main" val="12760361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p:txBody>
          <a:bodyPr>
            <a:noAutofit/>
          </a:bodyPr>
          <a:lstStyle/>
          <a:p>
            <a:r>
              <a:rPr lang="en-US" altLang="en-US" sz="2400" dirty="0"/>
              <a:t>Effect of Support Distribution on Association Mining</a:t>
            </a:r>
          </a:p>
        </p:txBody>
      </p:sp>
      <p:sp>
        <p:nvSpPr>
          <p:cNvPr id="72707" name="Rectangle 3"/>
          <p:cNvSpPr>
            <a:spLocks noGrp="1" noChangeArrowheads="1"/>
          </p:cNvSpPr>
          <p:nvPr>
            <p:ph type="body" idx="4294967295"/>
          </p:nvPr>
        </p:nvSpPr>
        <p:spPr/>
        <p:txBody>
          <a:bodyPr/>
          <a:lstStyle/>
          <a:p>
            <a:r>
              <a:rPr lang="en-US" altLang="en-US" dirty="0"/>
              <a:t>Many real data sets have skewed support distribution</a:t>
            </a:r>
          </a:p>
        </p:txBody>
      </p:sp>
      <p:pic>
        <p:nvPicPr>
          <p:cNvPr id="72708" name="Picture 4"/>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t="2753" b="5312"/>
          <a:stretch>
            <a:fillRect/>
          </a:stretch>
        </p:blipFill>
        <p:spPr>
          <a:xfrm>
            <a:off x="2667000" y="2098503"/>
            <a:ext cx="5562600" cy="4038600"/>
          </a:xfrm>
          <a:noFill/>
        </p:spPr>
      </p:pic>
      <p:sp>
        <p:nvSpPr>
          <p:cNvPr id="72709" name="Text Box 5"/>
          <p:cNvSpPr txBox="1">
            <a:spLocks noChangeArrowheads="1"/>
          </p:cNvSpPr>
          <p:nvPr/>
        </p:nvSpPr>
        <p:spPr bwMode="auto">
          <a:xfrm>
            <a:off x="304800" y="3657600"/>
            <a:ext cx="1905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800"/>
              <a:t>Support distribution of a retail data set</a:t>
            </a:r>
          </a:p>
        </p:txBody>
      </p:sp>
      <p:sp>
        <p:nvSpPr>
          <p:cNvPr id="72710" name="Text Box 6"/>
          <p:cNvSpPr txBox="1">
            <a:spLocks noChangeArrowheads="1"/>
          </p:cNvSpPr>
          <p:nvPr/>
        </p:nvSpPr>
        <p:spPr bwMode="auto">
          <a:xfrm>
            <a:off x="4800600" y="601980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Rank of item (in log scale)</a:t>
            </a:r>
          </a:p>
        </p:txBody>
      </p:sp>
      <p:sp>
        <p:nvSpPr>
          <p:cNvPr id="1330183" name="AutoShape 7"/>
          <p:cNvSpPr>
            <a:spLocks noChangeArrowheads="1"/>
          </p:cNvSpPr>
          <p:nvPr/>
        </p:nvSpPr>
        <p:spPr bwMode="auto">
          <a:xfrm>
            <a:off x="3886200" y="2286000"/>
            <a:ext cx="2133600" cy="914400"/>
          </a:xfrm>
          <a:prstGeom prst="cloudCallout">
            <a:avLst>
              <a:gd name="adj1" fmla="val -43750"/>
              <a:gd name="adj2" fmla="val 70000"/>
            </a:avLst>
          </a:prstGeom>
          <a:solidFill>
            <a:schemeClr val="accent1"/>
          </a:solidFill>
          <a:ln w="12700">
            <a:solidFill>
              <a:schemeClr val="tx1"/>
            </a:solidFill>
            <a:round/>
            <a:headEnd/>
            <a:tailEnd/>
          </a:ln>
        </p:spPr>
        <p:txBody>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r>
              <a:rPr lang="en-US" altLang="en-US" sz="1400">
                <a:solidFill>
                  <a:srgbClr val="FFFF00"/>
                </a:solidFill>
              </a:rPr>
              <a:t>Few items with high support</a:t>
            </a:r>
          </a:p>
        </p:txBody>
      </p:sp>
      <p:sp>
        <p:nvSpPr>
          <p:cNvPr id="1330184" name="AutoShape 8"/>
          <p:cNvSpPr>
            <a:spLocks noChangeArrowheads="1"/>
          </p:cNvSpPr>
          <p:nvPr/>
        </p:nvSpPr>
        <p:spPr bwMode="auto">
          <a:xfrm>
            <a:off x="5410200" y="3429000"/>
            <a:ext cx="1828800" cy="1066800"/>
          </a:xfrm>
          <a:prstGeom prst="cloudCallout">
            <a:avLst>
              <a:gd name="adj1" fmla="val 12500"/>
              <a:gd name="adj2" fmla="val 152528"/>
            </a:avLst>
          </a:prstGeom>
          <a:solidFill>
            <a:schemeClr val="accent1"/>
          </a:solidFill>
          <a:ln w="12700">
            <a:solidFill>
              <a:schemeClr val="tx1"/>
            </a:solidFill>
            <a:round/>
            <a:headEnd/>
            <a:tailEnd/>
          </a:ln>
        </p:spPr>
        <p:txBody>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r>
              <a:rPr lang="en-US" altLang="en-US" sz="1400">
                <a:solidFill>
                  <a:srgbClr val="FFFF00"/>
                </a:solidFill>
              </a:rPr>
              <a:t>Many items with low support</a:t>
            </a:r>
          </a:p>
        </p:txBody>
      </p:sp>
    </p:spTree>
    <p:extLst>
      <p:ext uri="{BB962C8B-B14F-4D97-AF65-F5344CB8AC3E}">
        <p14:creationId xmlns:p14="http://schemas.microsoft.com/office/powerpoint/2010/main" val="40017480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018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01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0183" grpId="0" animBg="1"/>
      <p:bldP spid="133018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p:txBody>
          <a:bodyPr/>
          <a:lstStyle/>
          <a:p>
            <a:r>
              <a:rPr lang="en-US" altLang="en-US" dirty="0"/>
              <a:t>Effect of Support Distribution</a:t>
            </a:r>
          </a:p>
        </p:txBody>
      </p:sp>
      <p:sp>
        <p:nvSpPr>
          <p:cNvPr id="73731" name="Rectangle 3"/>
          <p:cNvSpPr>
            <a:spLocks noGrp="1" noChangeArrowheads="1"/>
          </p:cNvSpPr>
          <p:nvPr>
            <p:ph type="body" idx="4294967295"/>
          </p:nvPr>
        </p:nvSpPr>
        <p:spPr/>
        <p:txBody>
          <a:bodyPr/>
          <a:lstStyle/>
          <a:p>
            <a:r>
              <a:rPr lang="en-US" altLang="en-US" dirty="0"/>
              <a:t>Difficult to set the appropriate </a:t>
            </a:r>
            <a:r>
              <a:rPr lang="en-US" altLang="en-US" i="1" dirty="0" err="1"/>
              <a:t>minsup</a:t>
            </a:r>
            <a:r>
              <a:rPr lang="en-US" altLang="en-US" dirty="0"/>
              <a:t> threshold</a:t>
            </a:r>
          </a:p>
          <a:p>
            <a:pPr lvl="1"/>
            <a:r>
              <a:rPr lang="en-US" altLang="en-US" dirty="0"/>
              <a:t>If </a:t>
            </a:r>
            <a:r>
              <a:rPr lang="en-US" altLang="en-US" i="1" dirty="0" err="1"/>
              <a:t>minsup</a:t>
            </a:r>
            <a:r>
              <a:rPr lang="en-US" altLang="en-US" dirty="0"/>
              <a:t> is too high, we could miss </a:t>
            </a:r>
            <a:r>
              <a:rPr lang="en-US" altLang="en-US" dirty="0" err="1"/>
              <a:t>itemsets</a:t>
            </a:r>
            <a:r>
              <a:rPr lang="en-US" altLang="en-US" dirty="0"/>
              <a:t> involving interesting rare items (e.g., {caviar, vodka})</a:t>
            </a:r>
          </a:p>
          <a:p>
            <a:pPr lvl="1">
              <a:buFont typeface="Arial" charset="0"/>
              <a:buNone/>
            </a:pPr>
            <a:endParaRPr lang="en-US" altLang="en-US" dirty="0"/>
          </a:p>
          <a:p>
            <a:pPr lvl="1"/>
            <a:r>
              <a:rPr lang="en-US" altLang="en-US" dirty="0"/>
              <a:t>If </a:t>
            </a:r>
            <a:r>
              <a:rPr lang="en-US" altLang="en-US" i="1" dirty="0" err="1"/>
              <a:t>minsup</a:t>
            </a:r>
            <a:r>
              <a:rPr lang="en-US" altLang="en-US" dirty="0"/>
              <a:t> is too low, it is computationally expensive and the number of </a:t>
            </a:r>
            <a:r>
              <a:rPr lang="en-US" altLang="en-US" dirty="0" err="1"/>
              <a:t>itemsets</a:t>
            </a:r>
            <a:r>
              <a:rPr lang="en-US" altLang="en-US" dirty="0"/>
              <a:t> is very large</a:t>
            </a:r>
          </a:p>
          <a:p>
            <a:pPr lvl="1"/>
            <a:endParaRPr lang="en-US" altLang="en-US" dirty="0"/>
          </a:p>
        </p:txBody>
      </p:sp>
    </p:spTree>
    <p:extLst>
      <p:ext uri="{BB962C8B-B14F-4D97-AF65-F5344CB8AC3E}">
        <p14:creationId xmlns:p14="http://schemas.microsoft.com/office/powerpoint/2010/main" val="27979256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idx="4294967295"/>
          </p:nvPr>
        </p:nvSpPr>
        <p:spPr/>
        <p:txBody>
          <a:bodyPr/>
          <a:lstStyle/>
          <a:p>
            <a:r>
              <a:rPr lang="en-US" altLang="en-US" sz="2800"/>
              <a:t>Cross-Support Patterns</a:t>
            </a:r>
          </a:p>
        </p:txBody>
      </p:sp>
      <p:pic>
        <p:nvPicPr>
          <p:cNvPr id="74755" name="Picture 3" descr="suppdist"/>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t="9784"/>
          <a:stretch>
            <a:fillRect/>
          </a:stretch>
        </p:blipFill>
        <p:spPr>
          <a:xfrm>
            <a:off x="228600" y="2133600"/>
            <a:ext cx="4572000" cy="3200400"/>
          </a:xfrm>
          <a:noFill/>
        </p:spPr>
      </p:pic>
      <p:sp>
        <p:nvSpPr>
          <p:cNvPr id="74756" name="Text Box 4"/>
          <p:cNvSpPr txBox="1">
            <a:spLocks noChangeArrowheads="1"/>
          </p:cNvSpPr>
          <p:nvPr/>
        </p:nvSpPr>
        <p:spPr bwMode="auto">
          <a:xfrm>
            <a:off x="4114800" y="5715000"/>
            <a:ext cx="68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eaLnBrk="1" hangingPunct="1">
              <a:spcBef>
                <a:spcPct val="50000"/>
              </a:spcBef>
              <a:spcAft>
                <a:spcPct val="0"/>
              </a:spcAft>
              <a:buClrTx/>
              <a:buSzTx/>
              <a:buFontTx/>
              <a:buNone/>
            </a:pPr>
            <a:r>
              <a:rPr lang="en-US" altLang="en-US" sz="2000" b="0">
                <a:latin typeface="Tahoma" pitchFamily="34" charset="0"/>
              </a:rPr>
              <a:t>milk</a:t>
            </a:r>
          </a:p>
        </p:txBody>
      </p:sp>
      <p:sp>
        <p:nvSpPr>
          <p:cNvPr id="74757" name="Line 5"/>
          <p:cNvSpPr>
            <a:spLocks noChangeShapeType="1"/>
          </p:cNvSpPr>
          <p:nvPr/>
        </p:nvSpPr>
        <p:spPr bwMode="auto">
          <a:xfrm flipV="1">
            <a:off x="4419600" y="5181600"/>
            <a:ext cx="0" cy="533400"/>
          </a:xfrm>
          <a:prstGeom prst="line">
            <a:avLst/>
          </a:prstGeom>
          <a:noFill/>
          <a:ln w="254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758" name="Line 6"/>
          <p:cNvSpPr>
            <a:spLocks noChangeShapeType="1"/>
          </p:cNvSpPr>
          <p:nvPr/>
        </p:nvSpPr>
        <p:spPr bwMode="auto">
          <a:xfrm flipV="1">
            <a:off x="1752600" y="5165725"/>
            <a:ext cx="0" cy="533400"/>
          </a:xfrm>
          <a:prstGeom prst="line">
            <a:avLst/>
          </a:prstGeom>
          <a:noFill/>
          <a:ln w="254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759" name="Text Box 7"/>
          <p:cNvSpPr txBox="1">
            <a:spLocks noChangeArrowheads="1"/>
          </p:cNvSpPr>
          <p:nvPr/>
        </p:nvSpPr>
        <p:spPr bwMode="auto">
          <a:xfrm>
            <a:off x="1295400" y="5699125"/>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eaLnBrk="1" hangingPunct="1">
              <a:spcBef>
                <a:spcPct val="50000"/>
              </a:spcBef>
              <a:spcAft>
                <a:spcPct val="0"/>
              </a:spcAft>
              <a:buClrTx/>
              <a:buSzTx/>
              <a:buFontTx/>
              <a:buNone/>
            </a:pPr>
            <a:r>
              <a:rPr lang="en-US" altLang="en-US" sz="2000" b="0">
                <a:latin typeface="Tahoma" pitchFamily="34" charset="0"/>
              </a:rPr>
              <a:t>caviar</a:t>
            </a:r>
          </a:p>
        </p:txBody>
      </p:sp>
      <p:sp>
        <p:nvSpPr>
          <p:cNvPr id="74760" name="Text Box 8"/>
          <p:cNvSpPr txBox="1">
            <a:spLocks noChangeArrowheads="1"/>
          </p:cNvSpPr>
          <p:nvPr/>
        </p:nvSpPr>
        <p:spPr bwMode="auto">
          <a:xfrm>
            <a:off x="4953000" y="2162175"/>
            <a:ext cx="4114800"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eaLnBrk="1" hangingPunct="1">
              <a:spcBef>
                <a:spcPct val="50000"/>
              </a:spcBef>
              <a:spcAft>
                <a:spcPct val="0"/>
              </a:spcAft>
              <a:buClrTx/>
              <a:buSzTx/>
              <a:buFontTx/>
              <a:buNone/>
            </a:pPr>
            <a:r>
              <a:rPr lang="en-US" altLang="en-US" sz="2000" b="0" dirty="0">
                <a:latin typeface="Tahoma" pitchFamily="34" charset="0"/>
              </a:rPr>
              <a:t>A cross-support pattern involves items with varying degree of support</a:t>
            </a:r>
          </a:p>
          <a:p>
            <a:pPr eaLnBrk="1" hangingPunct="1">
              <a:spcBef>
                <a:spcPct val="50000"/>
              </a:spcBef>
              <a:spcAft>
                <a:spcPct val="0"/>
              </a:spcAft>
              <a:buClrTx/>
              <a:buSzTx/>
              <a:buFontTx/>
              <a:buChar char="•"/>
            </a:pPr>
            <a:r>
              <a:rPr lang="en-US" altLang="en-US" sz="2000" b="0" dirty="0">
                <a:latin typeface="Tahoma" pitchFamily="34" charset="0"/>
              </a:rPr>
              <a:t> Example: {</a:t>
            </a:r>
            <a:r>
              <a:rPr lang="en-US" altLang="en-US" sz="2000" b="0" dirty="0" err="1">
                <a:latin typeface="Tahoma" pitchFamily="34" charset="0"/>
              </a:rPr>
              <a:t>caviar,milk</a:t>
            </a:r>
            <a:r>
              <a:rPr lang="en-US" altLang="en-US" sz="2000" b="0" dirty="0">
                <a:latin typeface="Tahoma" pitchFamily="34" charset="0"/>
              </a:rPr>
              <a:t>}</a:t>
            </a:r>
          </a:p>
          <a:p>
            <a:pPr eaLnBrk="1" hangingPunct="1">
              <a:spcBef>
                <a:spcPct val="50000"/>
              </a:spcBef>
              <a:spcAft>
                <a:spcPct val="0"/>
              </a:spcAft>
              <a:buClrTx/>
              <a:buSzTx/>
              <a:buFontTx/>
              <a:buChar char="•"/>
            </a:pPr>
            <a:endParaRPr lang="en-US" altLang="en-US" sz="2000" b="0" dirty="0">
              <a:latin typeface="Tahoma" pitchFamily="34" charset="0"/>
            </a:endParaRPr>
          </a:p>
          <a:p>
            <a:pPr eaLnBrk="1" hangingPunct="1">
              <a:spcBef>
                <a:spcPct val="50000"/>
              </a:spcBef>
              <a:spcAft>
                <a:spcPct val="0"/>
              </a:spcAft>
              <a:buClrTx/>
              <a:buSzTx/>
              <a:buFontTx/>
              <a:buNone/>
            </a:pPr>
            <a:r>
              <a:rPr lang="en-US" altLang="en-US" sz="2000" b="0" dirty="0">
                <a:solidFill>
                  <a:srgbClr val="FF0000"/>
                </a:solidFill>
                <a:latin typeface="Tahoma" pitchFamily="34" charset="0"/>
              </a:rPr>
              <a:t>How to avoid such patterns?</a:t>
            </a:r>
          </a:p>
          <a:p>
            <a:pPr eaLnBrk="1" hangingPunct="1">
              <a:spcBef>
                <a:spcPct val="50000"/>
              </a:spcBef>
              <a:spcAft>
                <a:spcPct val="0"/>
              </a:spcAft>
              <a:buClrTx/>
              <a:buSzTx/>
              <a:buFontTx/>
              <a:buNone/>
            </a:pPr>
            <a:endParaRPr lang="en-US" altLang="en-US" sz="2000" b="0" dirty="0">
              <a:latin typeface="Tahoma" pitchFamily="34" charset="0"/>
            </a:endParaRPr>
          </a:p>
        </p:txBody>
      </p:sp>
    </p:spTree>
    <p:extLst>
      <p:ext uri="{BB962C8B-B14F-4D97-AF65-F5344CB8AC3E}">
        <p14:creationId xmlns:p14="http://schemas.microsoft.com/office/powerpoint/2010/main" val="6579384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p:txBody>
          <a:bodyPr/>
          <a:lstStyle/>
          <a:p>
            <a:r>
              <a:rPr lang="en-US" altLang="en-US" dirty="0"/>
              <a:t>A Measure of Cross Support</a:t>
            </a:r>
          </a:p>
        </p:txBody>
      </p:sp>
      <mc:AlternateContent xmlns:mc="http://schemas.openxmlformats.org/markup-compatibility/2006" xmlns:a14="http://schemas.microsoft.com/office/drawing/2010/main">
        <mc:Choice Requires="a14">
          <p:sp>
            <p:nvSpPr>
              <p:cNvPr id="1334275" name="Rectangle 3"/>
              <p:cNvSpPr>
                <a:spLocks noGrp="1" noChangeArrowheads="1"/>
              </p:cNvSpPr>
              <p:nvPr>
                <p:ph type="body" idx="4294967295"/>
              </p:nvPr>
            </p:nvSpPr>
            <p:spPr/>
            <p:txBody>
              <a:bodyPr>
                <a:normAutofit fontScale="92500"/>
              </a:bodyPr>
              <a:lstStyle/>
              <a:p>
                <a:pPr marL="292100" lvl="1" indent="-292100">
                  <a:lnSpc>
                    <a:spcPct val="90000"/>
                  </a:lnSpc>
                  <a:buSzPct val="75000"/>
                  <a:buFont typeface="Monotype Sorts" pitchFamily="2" charset="2"/>
                  <a:buChar char="l"/>
                </a:pPr>
                <a:r>
                  <a:rPr lang="en-US" altLang="en-US" dirty="0"/>
                  <a:t>Given an </a:t>
                </a:r>
                <a:r>
                  <a:rPr lang="en-US" altLang="en-US" dirty="0" err="1"/>
                  <a:t>itemset</a:t>
                </a:r>
                <a:r>
                  <a:rPr lang="en-US" altLang="en-US" dirty="0"/>
                  <a:t>,</a:t>
                </a:r>
                <a14:m>
                  <m:oMath xmlns:m="http://schemas.openxmlformats.org/officeDocument/2006/math">
                    <m:r>
                      <a:rPr lang="en-US" altLang="en-US" b="0" i="1" smtClean="0">
                        <a:latin typeface="Cambria Math"/>
                      </a:rPr>
                      <m:t>𝑋</m:t>
                    </m:r>
                    <m:r>
                      <a:rPr lang="en-US" altLang="en-US" b="0" i="1" smtClean="0">
                        <a:latin typeface="Cambria Math"/>
                      </a:rPr>
                      <m:t>={</m:t>
                    </m:r>
                    <m:sSub>
                      <m:sSubPr>
                        <m:ctrlPr>
                          <a:rPr lang="en-US" altLang="en-US" b="0" i="1" smtClean="0">
                            <a:latin typeface="Cambria Math" panose="02040503050406030204" pitchFamily="18" charset="0"/>
                          </a:rPr>
                        </m:ctrlPr>
                      </m:sSubPr>
                      <m:e>
                        <m:r>
                          <a:rPr lang="en-US" altLang="en-US" b="0" i="1" smtClean="0">
                            <a:latin typeface="Cambria Math"/>
                          </a:rPr>
                          <m:t>𝑥</m:t>
                        </m:r>
                      </m:e>
                      <m:sub>
                        <m:r>
                          <a:rPr lang="en-US" altLang="en-US" b="0" i="1" smtClean="0">
                            <a:latin typeface="Cambria Math"/>
                          </a:rPr>
                          <m:t>1</m:t>
                        </m:r>
                      </m:sub>
                    </m:sSub>
                    <m:r>
                      <a:rPr lang="en-US" altLang="en-US" b="0" i="1" smtClean="0">
                        <a:latin typeface="Cambria Math"/>
                      </a:rPr>
                      <m:t>,</m:t>
                    </m:r>
                    <m:sSub>
                      <m:sSubPr>
                        <m:ctrlPr>
                          <a:rPr lang="en-US" altLang="en-US" i="1">
                            <a:latin typeface="Cambria Math" panose="02040503050406030204" pitchFamily="18" charset="0"/>
                          </a:rPr>
                        </m:ctrlPr>
                      </m:sSubPr>
                      <m:e>
                        <m:r>
                          <a:rPr lang="en-US" altLang="en-US" i="1">
                            <a:latin typeface="Cambria Math"/>
                          </a:rPr>
                          <m:t>𝑥</m:t>
                        </m:r>
                      </m:e>
                      <m:sub>
                        <m:r>
                          <a:rPr lang="en-US" altLang="en-US" b="0" i="1" smtClean="0">
                            <a:latin typeface="Cambria Math"/>
                          </a:rPr>
                          <m:t>2</m:t>
                        </m:r>
                      </m:sub>
                    </m:sSub>
                    <m:r>
                      <a:rPr lang="en-US" altLang="en-US" b="0" i="1" smtClean="0">
                        <a:latin typeface="Cambria Math"/>
                      </a:rPr>
                      <m:t>,…,</m:t>
                    </m:r>
                    <m:sSub>
                      <m:sSubPr>
                        <m:ctrlPr>
                          <a:rPr lang="en-US" altLang="en-US" i="1" smtClean="0">
                            <a:latin typeface="Cambria Math" panose="02040503050406030204" pitchFamily="18" charset="0"/>
                          </a:rPr>
                        </m:ctrlPr>
                      </m:sSubPr>
                      <m:e>
                        <m:r>
                          <a:rPr lang="en-US" altLang="en-US" i="1">
                            <a:latin typeface="Cambria Math"/>
                          </a:rPr>
                          <m:t>𝑥</m:t>
                        </m:r>
                      </m:e>
                      <m:sub>
                        <m:r>
                          <a:rPr lang="en-US" altLang="en-US" b="0" i="1" smtClean="0">
                            <a:latin typeface="Cambria Math"/>
                          </a:rPr>
                          <m:t>𝑑</m:t>
                        </m:r>
                      </m:sub>
                    </m:sSub>
                    <m:r>
                      <a:rPr lang="en-US" altLang="en-US" b="0" i="1" smtClean="0">
                        <a:latin typeface="Cambria Math"/>
                      </a:rPr>
                      <m:t>}</m:t>
                    </m:r>
                  </m:oMath>
                </a14:m>
                <a:r>
                  <a:rPr lang="en-US" altLang="en-US" dirty="0"/>
                  <a:t>, with </a:t>
                </a:r>
                <a14:m>
                  <m:oMath xmlns:m="http://schemas.openxmlformats.org/officeDocument/2006/math">
                    <m:r>
                      <a:rPr lang="en-US" altLang="en-US" i="1">
                        <a:latin typeface="Cambria Math"/>
                      </a:rPr>
                      <m:t>𝑑</m:t>
                    </m:r>
                  </m:oMath>
                </a14:m>
                <a:r>
                  <a:rPr lang="en-US" altLang="en-US" dirty="0"/>
                  <a:t>items, we can define a measure of cross </a:t>
                </a:r>
                <a:r>
                  <a:rPr lang="en-US" altLang="en-US" dirty="0" err="1"/>
                  <a:t>support,</a:t>
                </a:r>
                <a:r>
                  <a:rPr lang="en-US" altLang="en-US" i="1" dirty="0" err="1">
                    <a:latin typeface="Cambria Math" panose="02040503050406030204" pitchFamily="18" charset="0"/>
                    <a:ea typeface="Cambria Math" panose="02040503050406030204" pitchFamily="18" charset="0"/>
                  </a:rPr>
                  <a:t>r</a:t>
                </a:r>
                <a:r>
                  <a:rPr lang="en-US" altLang="en-US" dirty="0">
                    <a:latin typeface="Cambria Math" panose="02040503050406030204" pitchFamily="18" charset="0"/>
                    <a:ea typeface="Cambria Math" panose="02040503050406030204" pitchFamily="18" charset="0"/>
                  </a:rPr>
                  <a:t>,for the </a:t>
                </a:r>
                <a:r>
                  <a:rPr lang="en-US" altLang="en-US" dirty="0" err="1">
                    <a:latin typeface="Cambria Math" panose="02040503050406030204" pitchFamily="18" charset="0"/>
                    <a:ea typeface="Cambria Math" panose="02040503050406030204" pitchFamily="18" charset="0"/>
                  </a:rPr>
                  <a:t>itemset</a:t>
                </a:r>
                <a:br>
                  <a:rPr lang="en-US" altLang="en-US" dirty="0">
                    <a:latin typeface="Cambria Math" panose="02040503050406030204" pitchFamily="18" charset="0"/>
                    <a:ea typeface="Cambria Math" panose="02040503050406030204" pitchFamily="18" charset="0"/>
                  </a:rPr>
                </a:br>
                <a:br>
                  <a:rPr lang="en-US" altLang="en-US" dirty="0">
                    <a:latin typeface="Cambria Math" panose="02040503050406030204" pitchFamily="18" charset="0"/>
                    <a:ea typeface="Cambria Math" panose="02040503050406030204" pitchFamily="18" charset="0"/>
                  </a:rPr>
                </a:br>
                <a:br>
                  <a:rPr lang="en-US" altLang="en-US" dirty="0">
                    <a:latin typeface="Cambria Math" panose="02040503050406030204" pitchFamily="18" charset="0"/>
                    <a:ea typeface="Cambria Math" panose="02040503050406030204" pitchFamily="18" charset="0"/>
                  </a:rPr>
                </a:br>
                <a:br>
                  <a:rPr lang="en-US" altLang="en-US" dirty="0">
                    <a:latin typeface="Cambria Math" panose="02040503050406030204" pitchFamily="18" charset="0"/>
                    <a:ea typeface="Cambria Math" panose="02040503050406030204" pitchFamily="18" charset="0"/>
                  </a:rPr>
                </a:br>
                <a:br>
                  <a:rPr lang="en-US" altLang="en-US" dirty="0">
                    <a:latin typeface="Cambria Math" panose="02040503050406030204" pitchFamily="18" charset="0"/>
                    <a:ea typeface="Cambria Math" panose="02040503050406030204" pitchFamily="18" charset="0"/>
                  </a:rPr>
                </a:br>
                <a:br>
                  <a:rPr lang="en-US" altLang="en-US" dirty="0">
                    <a:latin typeface="Cambria Math" panose="02040503050406030204" pitchFamily="18" charset="0"/>
                    <a:ea typeface="Cambria Math" panose="02040503050406030204" pitchFamily="18" charset="0"/>
                  </a:rPr>
                </a:br>
                <a:br>
                  <a:rPr lang="en-US" altLang="en-US" dirty="0">
                    <a:latin typeface="Cambria Math" panose="02040503050406030204" pitchFamily="18" charset="0"/>
                    <a:ea typeface="Cambria Math" panose="02040503050406030204" pitchFamily="18" charset="0"/>
                  </a:rPr>
                </a:br>
                <a:r>
                  <a:rPr lang="en-US" altLang="en-US" dirty="0"/>
                  <a:t>where </a:t>
                </a:r>
                <a14:m>
                  <m:oMath xmlns:m="http://schemas.openxmlformats.org/officeDocument/2006/math">
                    <m:r>
                      <a:rPr lang="en-US" altLang="en-US" i="1">
                        <a:latin typeface="Cambria Math"/>
                      </a:rPr>
                      <m:t>𝑠</m:t>
                    </m:r>
                    <m:r>
                      <a:rPr lang="en-US" altLang="en-US" i="1">
                        <a:latin typeface="Cambria Math"/>
                      </a:rPr>
                      <m:t>(</m:t>
                    </m:r>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𝑖</m:t>
                        </m:r>
                      </m:sub>
                    </m:sSub>
                  </m:oMath>
                </a14:m>
                <a:r>
                  <a:rPr lang="en-US" altLang="en-US" dirty="0"/>
                  <a:t>) is the support of item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𝑖</m:t>
                        </m:r>
                      </m:sub>
                    </m:sSub>
                  </m:oMath>
                </a14:m>
                <a:endParaRPr lang="en-US" altLang="en-US" dirty="0"/>
              </a:p>
              <a:p>
                <a:pPr>
                  <a:lnSpc>
                    <a:spcPct val="90000"/>
                  </a:lnSpc>
                </a:pPr>
                <a:endParaRPr lang="en-US" altLang="en-US" dirty="0"/>
              </a:p>
              <a:p>
                <a:pPr lvl="1">
                  <a:lnSpc>
                    <a:spcPct val="90000"/>
                  </a:lnSpc>
                </a:pPr>
                <a:r>
                  <a:rPr lang="en-US" altLang="en-US" dirty="0"/>
                  <a:t>Can use </a:t>
                </a:r>
                <a14:m>
                  <m:oMath xmlns:m="http://schemas.openxmlformats.org/officeDocument/2006/math">
                    <m:r>
                      <a:rPr lang="en-US" i="1">
                        <a:latin typeface="Cambria Math"/>
                      </a:rPr>
                      <m:t>𝑟</m:t>
                    </m:r>
                    <m:d>
                      <m:dPr>
                        <m:ctrlPr>
                          <a:rPr lang="en-US" i="1">
                            <a:latin typeface="Cambria Math" panose="02040503050406030204" pitchFamily="18" charset="0"/>
                          </a:rPr>
                        </m:ctrlPr>
                      </m:dPr>
                      <m:e>
                        <m:r>
                          <a:rPr lang="en-US" i="1">
                            <a:latin typeface="Cambria Math"/>
                          </a:rPr>
                          <m:t>𝑋</m:t>
                        </m:r>
                      </m:e>
                    </m:d>
                  </m:oMath>
                </a14:m>
                <a:r>
                  <a:rPr lang="en-US" altLang="en-US" dirty="0"/>
                  <a:t> to prune cross support patterns, but not to avoid them</a:t>
                </a:r>
              </a:p>
            </p:txBody>
          </p:sp>
        </mc:Choice>
        <mc:Fallback xmlns="">
          <p:sp>
            <p:nvSpPr>
              <p:cNvPr id="1334275" name="Rectangle 3"/>
              <p:cNvSpPr>
                <a:spLocks noGrp="1" noRot="1" noChangeAspect="1" noMove="1" noResize="1" noEditPoints="1" noAdjustHandles="1" noChangeArrowheads="1" noChangeShapeType="1" noTextEdit="1"/>
              </p:cNvSpPr>
              <p:nvPr>
                <p:ph type="body" idx="4294967295"/>
              </p:nvPr>
            </p:nvSpPr>
            <p:spPr>
              <a:blipFill>
                <a:blip r:embed="rId2"/>
                <a:stretch>
                  <a:fillRect l="-815" t="-1796" r="-7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1295400" y="2438400"/>
                <a:ext cx="5758628" cy="99116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a:rPr>
                        <m:t>𝑟</m:t>
                      </m:r>
                      <m:r>
                        <a:rPr lang="en-US" sz="2800" b="0" i="1" smtClean="0">
                          <a:latin typeface="Cambria Math"/>
                        </a:rPr>
                        <m:t>(</m:t>
                      </m:r>
                      <m:r>
                        <a:rPr lang="en-US" sz="2800" b="0" i="1" smtClean="0">
                          <a:latin typeface="Cambria Math"/>
                        </a:rPr>
                        <m:t>𝑋</m:t>
                      </m:r>
                      <m:r>
                        <a:rPr lang="en-US" sz="2800" b="0" i="1" smtClean="0">
                          <a:latin typeface="Cambria Math"/>
                        </a:rPr>
                        <m:t>)= </m:t>
                      </m:r>
                      <m:f>
                        <m:fPr>
                          <m:ctrlPr>
                            <a:rPr lang="en-US" sz="2800" b="0" i="1" smtClean="0">
                              <a:latin typeface="Cambria Math" panose="02040503050406030204" pitchFamily="18" charset="0"/>
                            </a:rPr>
                          </m:ctrlPr>
                        </m:fPr>
                        <m:num>
                          <m:r>
                            <a:rPr lang="en-US" sz="2800" b="1" i="0" smtClean="0">
                              <a:latin typeface="Cambria Math"/>
                            </a:rPr>
                            <m:t>𝐦𝐢𝐧</m:t>
                          </m:r>
                          <m:r>
                            <a:rPr lang="en-US" sz="2800" b="0" i="1" smtClean="0">
                              <a:latin typeface="Cambria Math"/>
                            </a:rPr>
                            <m:t>{</m:t>
                          </m:r>
                          <m:r>
                            <a:rPr lang="en-US" sz="2800" b="0" i="1" smtClean="0">
                              <a:latin typeface="Cambria Math"/>
                            </a:rPr>
                            <m:t>𝑠</m:t>
                          </m:r>
                          <m:r>
                            <a:rPr lang="en-US" sz="2800" b="0" i="1" smtClean="0">
                              <a:latin typeface="Cambria Math"/>
                            </a:rPr>
                            <m:t>(</m:t>
                          </m:r>
                          <m:sSub>
                            <m:sSubPr>
                              <m:ctrlPr>
                                <a:rPr lang="en-US" sz="2800" b="0" i="1" smtClean="0">
                                  <a:latin typeface="Cambria Math" panose="02040503050406030204" pitchFamily="18" charset="0"/>
                                </a:rPr>
                              </m:ctrlPr>
                            </m:sSubPr>
                            <m:e>
                              <m:r>
                                <a:rPr lang="en-US" sz="2800" b="0" i="1" smtClean="0">
                                  <a:latin typeface="Cambria Math"/>
                                </a:rPr>
                                <m:t>𝑥</m:t>
                              </m:r>
                            </m:e>
                            <m:sub>
                              <m:r>
                                <a:rPr lang="en-US" sz="2800" b="0" i="1" smtClean="0">
                                  <a:latin typeface="Cambria Math"/>
                                </a:rPr>
                                <m:t>1</m:t>
                              </m:r>
                            </m:sub>
                          </m:sSub>
                          <m:r>
                            <a:rPr lang="en-US" sz="2800" b="0" i="1" smtClean="0">
                              <a:latin typeface="Cambria Math"/>
                            </a:rPr>
                            <m:t>),</m:t>
                          </m:r>
                          <m:r>
                            <a:rPr lang="en-US" sz="2800" b="0" i="1">
                              <a:latin typeface="Cambria Math"/>
                            </a:rPr>
                            <m:t>𝑠</m:t>
                          </m:r>
                          <m:r>
                            <a:rPr lang="en-US" sz="2800" b="0" i="1">
                              <a:latin typeface="Cambria Math"/>
                            </a:rPr>
                            <m:t>(</m:t>
                          </m:r>
                          <m:sSub>
                            <m:sSubPr>
                              <m:ctrlPr>
                                <a:rPr lang="en-US" sz="2800" b="0" i="1">
                                  <a:latin typeface="Cambria Math" panose="02040503050406030204" pitchFamily="18" charset="0"/>
                                </a:rPr>
                              </m:ctrlPr>
                            </m:sSubPr>
                            <m:e>
                              <m:r>
                                <a:rPr lang="en-US" sz="2800" b="0" i="1">
                                  <a:latin typeface="Cambria Math"/>
                                </a:rPr>
                                <m:t>𝑥</m:t>
                              </m:r>
                            </m:e>
                            <m:sub>
                              <m:r>
                                <a:rPr lang="en-US" sz="2800" b="0" i="1" smtClean="0">
                                  <a:latin typeface="Cambria Math"/>
                                </a:rPr>
                                <m:t>2</m:t>
                              </m:r>
                            </m:sub>
                          </m:sSub>
                          <m:r>
                            <a:rPr lang="en-US" sz="2800" b="0" i="1">
                              <a:latin typeface="Cambria Math"/>
                            </a:rPr>
                            <m:t>)</m:t>
                          </m:r>
                          <m:r>
                            <a:rPr lang="en-US" sz="2800" b="0" i="1" smtClean="0">
                              <a:latin typeface="Cambria Math"/>
                            </a:rPr>
                            <m:t>, …,</m:t>
                          </m:r>
                          <m:r>
                            <a:rPr lang="en-US" sz="2800" b="0" i="1">
                              <a:latin typeface="Cambria Math"/>
                            </a:rPr>
                            <m:t>𝑠</m:t>
                          </m:r>
                          <m:r>
                            <a:rPr lang="en-US" sz="2800" b="0" i="1">
                              <a:latin typeface="Cambria Math"/>
                            </a:rPr>
                            <m:t>(</m:t>
                          </m:r>
                          <m:sSub>
                            <m:sSubPr>
                              <m:ctrlPr>
                                <a:rPr lang="en-US" sz="2800" b="0" i="1">
                                  <a:latin typeface="Cambria Math" panose="02040503050406030204" pitchFamily="18" charset="0"/>
                                </a:rPr>
                              </m:ctrlPr>
                            </m:sSubPr>
                            <m:e>
                              <m:r>
                                <a:rPr lang="en-US" sz="2800" b="0" i="1">
                                  <a:latin typeface="Cambria Math"/>
                                </a:rPr>
                                <m:t>𝑥</m:t>
                              </m:r>
                            </m:e>
                            <m:sub>
                              <m:r>
                                <a:rPr lang="en-US" sz="2800" b="0" i="1" smtClean="0">
                                  <a:latin typeface="Cambria Math"/>
                                </a:rPr>
                                <m:t>𝑑</m:t>
                              </m:r>
                            </m:sub>
                          </m:sSub>
                          <m:r>
                            <a:rPr lang="en-US" sz="2800" b="0" i="1">
                              <a:latin typeface="Cambria Math"/>
                            </a:rPr>
                            <m:t>)</m:t>
                          </m:r>
                          <m:r>
                            <a:rPr lang="en-US" sz="2800" b="0" i="1" smtClean="0">
                              <a:latin typeface="Cambria Math"/>
                            </a:rPr>
                            <m:t>}</m:t>
                          </m:r>
                        </m:num>
                        <m:den>
                          <m:r>
                            <a:rPr lang="en-US" sz="2800" b="1" i="0" smtClean="0">
                              <a:latin typeface="Cambria Math"/>
                            </a:rPr>
                            <m:t>𝐦𝐚𝐱</m:t>
                          </m:r>
                          <m:r>
                            <a:rPr lang="en-US" sz="2800" b="0" i="1">
                              <a:latin typeface="Cambria Math"/>
                            </a:rPr>
                            <m:t>{</m:t>
                          </m:r>
                          <m:r>
                            <a:rPr lang="en-US" sz="2800" b="0" i="1">
                              <a:latin typeface="Cambria Math"/>
                            </a:rPr>
                            <m:t>𝑠</m:t>
                          </m:r>
                          <m:r>
                            <a:rPr lang="en-US" sz="2800" b="0" i="1">
                              <a:latin typeface="Cambria Math"/>
                            </a:rPr>
                            <m:t>(</m:t>
                          </m:r>
                          <m:sSub>
                            <m:sSubPr>
                              <m:ctrlPr>
                                <a:rPr lang="en-US" sz="2800" b="0" i="1">
                                  <a:latin typeface="Cambria Math" panose="02040503050406030204" pitchFamily="18" charset="0"/>
                                </a:rPr>
                              </m:ctrlPr>
                            </m:sSubPr>
                            <m:e>
                              <m:r>
                                <a:rPr lang="en-US" sz="2800" b="0" i="1">
                                  <a:latin typeface="Cambria Math"/>
                                </a:rPr>
                                <m:t>𝑥</m:t>
                              </m:r>
                            </m:e>
                            <m:sub>
                              <m:r>
                                <a:rPr lang="en-US" sz="2800" b="0" i="1">
                                  <a:latin typeface="Cambria Math"/>
                                </a:rPr>
                                <m:t>1</m:t>
                              </m:r>
                            </m:sub>
                          </m:sSub>
                          <m:r>
                            <a:rPr lang="en-US" sz="2800" b="0" i="1">
                              <a:latin typeface="Cambria Math"/>
                            </a:rPr>
                            <m:t>),</m:t>
                          </m:r>
                          <m:r>
                            <a:rPr lang="en-US" sz="2800" b="0" i="1">
                              <a:latin typeface="Cambria Math"/>
                            </a:rPr>
                            <m:t>𝑠</m:t>
                          </m:r>
                          <m:r>
                            <a:rPr lang="en-US" sz="2800" b="0" i="1">
                              <a:latin typeface="Cambria Math"/>
                            </a:rPr>
                            <m:t>(</m:t>
                          </m:r>
                          <m:sSub>
                            <m:sSubPr>
                              <m:ctrlPr>
                                <a:rPr lang="en-US" sz="2800" b="0" i="1">
                                  <a:latin typeface="Cambria Math" panose="02040503050406030204" pitchFamily="18" charset="0"/>
                                </a:rPr>
                              </m:ctrlPr>
                            </m:sSubPr>
                            <m:e>
                              <m:r>
                                <a:rPr lang="en-US" sz="2800" b="0" i="1">
                                  <a:latin typeface="Cambria Math"/>
                                </a:rPr>
                                <m:t>𝑥</m:t>
                              </m:r>
                            </m:e>
                            <m:sub>
                              <m:r>
                                <a:rPr lang="en-US" sz="2800" b="0" i="1">
                                  <a:latin typeface="Cambria Math"/>
                                </a:rPr>
                                <m:t>2</m:t>
                              </m:r>
                            </m:sub>
                          </m:sSub>
                          <m:r>
                            <a:rPr lang="en-US" sz="2800" b="0" i="1">
                              <a:latin typeface="Cambria Math"/>
                            </a:rPr>
                            <m:t>), …,</m:t>
                          </m:r>
                          <m:r>
                            <a:rPr lang="en-US" sz="2800" b="0" i="1">
                              <a:latin typeface="Cambria Math"/>
                            </a:rPr>
                            <m:t>𝑠</m:t>
                          </m:r>
                          <m:r>
                            <a:rPr lang="en-US" sz="2800" b="0" i="1">
                              <a:latin typeface="Cambria Math"/>
                            </a:rPr>
                            <m:t>(</m:t>
                          </m:r>
                          <m:sSub>
                            <m:sSubPr>
                              <m:ctrlPr>
                                <a:rPr lang="en-US" sz="2800" b="0" i="1">
                                  <a:latin typeface="Cambria Math" panose="02040503050406030204" pitchFamily="18" charset="0"/>
                                </a:rPr>
                              </m:ctrlPr>
                            </m:sSubPr>
                            <m:e>
                              <m:r>
                                <a:rPr lang="en-US" sz="2800" b="0" i="1">
                                  <a:latin typeface="Cambria Math"/>
                                </a:rPr>
                                <m:t>𝑥</m:t>
                              </m:r>
                            </m:e>
                            <m:sub>
                              <m:r>
                                <a:rPr lang="en-US" sz="2800" b="0" i="1">
                                  <a:latin typeface="Cambria Math"/>
                                </a:rPr>
                                <m:t>𝑑</m:t>
                              </m:r>
                            </m:sub>
                          </m:sSub>
                          <m:r>
                            <a:rPr lang="en-US" sz="2800" b="0" i="1">
                              <a:latin typeface="Cambria Math"/>
                            </a:rPr>
                            <m:t>)}</m:t>
                          </m:r>
                        </m:den>
                      </m:f>
                    </m:oMath>
                  </m:oMathPara>
                </a14:m>
                <a:endParaRPr lang="en-US" sz="2800" b="0" dirty="0"/>
              </a:p>
            </p:txBody>
          </p:sp>
        </mc:Choice>
        <mc:Fallback xmlns="">
          <p:sp>
            <p:nvSpPr>
              <p:cNvPr id="4" name="TextBox 3"/>
              <p:cNvSpPr txBox="1">
                <a:spLocks noRot="1" noChangeAspect="1" noMove="1" noResize="1" noEditPoints="1" noAdjustHandles="1" noChangeArrowheads="1" noChangeShapeType="1" noTextEdit="1"/>
              </p:cNvSpPr>
              <p:nvPr/>
            </p:nvSpPr>
            <p:spPr>
              <a:xfrm>
                <a:off x="1295400" y="2438400"/>
                <a:ext cx="5758628" cy="991169"/>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662213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p:txBody>
          <a:bodyPr/>
          <a:lstStyle/>
          <a:p>
            <a:r>
              <a:rPr lang="en-US" altLang="en-US" sz="2800" dirty="0"/>
              <a:t>Confidence and Cross-Support Patterns</a:t>
            </a:r>
          </a:p>
        </p:txBody>
      </p:sp>
      <p:pic>
        <p:nvPicPr>
          <p:cNvPr id="75779" name="Picture 3" descr="suppdist"/>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t="9784"/>
          <a:stretch>
            <a:fillRect/>
          </a:stretch>
        </p:blipFill>
        <p:spPr>
          <a:xfrm>
            <a:off x="228600" y="2133600"/>
            <a:ext cx="4572000" cy="3200400"/>
          </a:xfrm>
          <a:noFill/>
        </p:spPr>
      </p:pic>
      <p:sp>
        <p:nvSpPr>
          <p:cNvPr id="75780" name="Text Box 4"/>
          <p:cNvSpPr txBox="1">
            <a:spLocks noChangeArrowheads="1"/>
          </p:cNvSpPr>
          <p:nvPr/>
        </p:nvSpPr>
        <p:spPr bwMode="auto">
          <a:xfrm>
            <a:off x="4114800" y="5715000"/>
            <a:ext cx="68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eaLnBrk="1" hangingPunct="1">
              <a:spcBef>
                <a:spcPct val="50000"/>
              </a:spcBef>
              <a:spcAft>
                <a:spcPct val="0"/>
              </a:spcAft>
              <a:buClrTx/>
              <a:buSzTx/>
              <a:buFontTx/>
              <a:buNone/>
            </a:pPr>
            <a:r>
              <a:rPr lang="en-US" altLang="en-US" sz="2000" b="0">
                <a:latin typeface="Tahoma" pitchFamily="34" charset="0"/>
              </a:rPr>
              <a:t>milk</a:t>
            </a:r>
          </a:p>
        </p:txBody>
      </p:sp>
      <p:sp>
        <p:nvSpPr>
          <p:cNvPr id="75781" name="Line 5"/>
          <p:cNvSpPr>
            <a:spLocks noChangeShapeType="1"/>
          </p:cNvSpPr>
          <p:nvPr/>
        </p:nvSpPr>
        <p:spPr bwMode="auto">
          <a:xfrm flipV="1">
            <a:off x="4419600" y="5181600"/>
            <a:ext cx="0" cy="533400"/>
          </a:xfrm>
          <a:prstGeom prst="line">
            <a:avLst/>
          </a:prstGeom>
          <a:noFill/>
          <a:ln w="254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5782" name="Line 6"/>
          <p:cNvSpPr>
            <a:spLocks noChangeShapeType="1"/>
          </p:cNvSpPr>
          <p:nvPr/>
        </p:nvSpPr>
        <p:spPr bwMode="auto">
          <a:xfrm flipV="1">
            <a:off x="1752600" y="5165725"/>
            <a:ext cx="0" cy="533400"/>
          </a:xfrm>
          <a:prstGeom prst="line">
            <a:avLst/>
          </a:prstGeom>
          <a:noFill/>
          <a:ln w="254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5783" name="Text Box 7"/>
          <p:cNvSpPr txBox="1">
            <a:spLocks noChangeArrowheads="1"/>
          </p:cNvSpPr>
          <p:nvPr/>
        </p:nvSpPr>
        <p:spPr bwMode="auto">
          <a:xfrm>
            <a:off x="1295400" y="5699125"/>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eaLnBrk="1" hangingPunct="1">
              <a:spcBef>
                <a:spcPct val="50000"/>
              </a:spcBef>
              <a:spcAft>
                <a:spcPct val="0"/>
              </a:spcAft>
              <a:buClrTx/>
              <a:buSzTx/>
              <a:buFontTx/>
              <a:buNone/>
            </a:pPr>
            <a:r>
              <a:rPr lang="en-US" altLang="en-US" sz="2000" b="0">
                <a:latin typeface="Tahoma" pitchFamily="34" charset="0"/>
              </a:rPr>
              <a:t>caviar</a:t>
            </a:r>
          </a:p>
        </p:txBody>
      </p:sp>
      <p:sp>
        <p:nvSpPr>
          <p:cNvPr id="75784" name="Text Box 8"/>
          <p:cNvSpPr txBox="1">
            <a:spLocks noChangeArrowheads="1"/>
          </p:cNvSpPr>
          <p:nvPr/>
        </p:nvSpPr>
        <p:spPr bwMode="auto">
          <a:xfrm>
            <a:off x="4953000" y="1673225"/>
            <a:ext cx="4114800" cy="418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eaLnBrk="1" hangingPunct="1">
              <a:spcBef>
                <a:spcPct val="50000"/>
              </a:spcBef>
              <a:spcAft>
                <a:spcPct val="0"/>
              </a:spcAft>
              <a:buClrTx/>
              <a:buSzTx/>
              <a:buFontTx/>
              <a:buNone/>
            </a:pPr>
            <a:r>
              <a:rPr lang="en-US" altLang="en-US" sz="2000" dirty="0">
                <a:latin typeface="Tahoma" pitchFamily="34" charset="0"/>
              </a:rPr>
              <a:t>Observation:</a:t>
            </a:r>
          </a:p>
          <a:p>
            <a:pPr eaLnBrk="1" hangingPunct="1">
              <a:spcBef>
                <a:spcPct val="50000"/>
              </a:spcBef>
              <a:spcAft>
                <a:spcPct val="0"/>
              </a:spcAft>
              <a:buClrTx/>
              <a:buSzTx/>
              <a:buFontTx/>
              <a:buNone/>
            </a:pPr>
            <a:r>
              <a:rPr lang="en-US" altLang="en-US" sz="2000" b="0" dirty="0" err="1">
                <a:latin typeface="Tahoma" pitchFamily="34" charset="0"/>
              </a:rPr>
              <a:t>conf</a:t>
            </a:r>
            <a:r>
              <a:rPr lang="en-US" altLang="en-US" sz="2000" b="0" dirty="0">
                <a:latin typeface="Tahoma" pitchFamily="34" charset="0"/>
              </a:rPr>
              <a:t>(</a:t>
            </a:r>
            <a:r>
              <a:rPr lang="en-US" altLang="en-US" sz="2000" b="0" dirty="0" err="1">
                <a:latin typeface="Tahoma" pitchFamily="34" charset="0"/>
              </a:rPr>
              <a:t>caviar</a:t>
            </a:r>
            <a:r>
              <a:rPr lang="en-US" altLang="en-US" sz="2000" b="0" dirty="0" err="1">
                <a:latin typeface="Tahoma" pitchFamily="34" charset="0"/>
                <a:sym typeface="Symbol" pitchFamily="18" charset="2"/>
              </a:rPr>
              <a:t>milk</a:t>
            </a:r>
            <a:r>
              <a:rPr lang="en-US" altLang="en-US" sz="2000" b="0" dirty="0">
                <a:latin typeface="Tahoma" pitchFamily="34" charset="0"/>
                <a:sym typeface="Symbol" pitchFamily="18" charset="2"/>
              </a:rPr>
              <a:t>) is very high</a:t>
            </a:r>
          </a:p>
          <a:p>
            <a:pPr eaLnBrk="1" hangingPunct="1">
              <a:spcBef>
                <a:spcPct val="50000"/>
              </a:spcBef>
              <a:spcAft>
                <a:spcPct val="0"/>
              </a:spcAft>
              <a:buClrTx/>
              <a:buSzTx/>
              <a:buFontTx/>
              <a:buNone/>
            </a:pPr>
            <a:r>
              <a:rPr lang="en-US" altLang="en-US" sz="2000" b="0" dirty="0">
                <a:latin typeface="Tahoma" pitchFamily="34" charset="0"/>
                <a:sym typeface="Symbol" pitchFamily="18" charset="2"/>
              </a:rPr>
              <a:t>	but</a:t>
            </a:r>
          </a:p>
          <a:p>
            <a:pPr eaLnBrk="1" hangingPunct="1">
              <a:spcBef>
                <a:spcPct val="50000"/>
              </a:spcBef>
              <a:spcAft>
                <a:spcPct val="0"/>
              </a:spcAft>
              <a:buClrTx/>
              <a:buSzTx/>
              <a:buFontTx/>
              <a:buNone/>
            </a:pPr>
            <a:r>
              <a:rPr lang="en-US" altLang="en-US" sz="2000" b="0" dirty="0" err="1">
                <a:latin typeface="Tahoma" pitchFamily="34" charset="0"/>
              </a:rPr>
              <a:t>conf</a:t>
            </a:r>
            <a:r>
              <a:rPr lang="en-US" altLang="en-US" sz="2000" b="0" dirty="0">
                <a:latin typeface="Tahoma" pitchFamily="34" charset="0"/>
              </a:rPr>
              <a:t>(</a:t>
            </a:r>
            <a:r>
              <a:rPr lang="en-US" altLang="en-US" sz="2000" b="0" dirty="0" err="1">
                <a:latin typeface="Tahoma" pitchFamily="34" charset="0"/>
              </a:rPr>
              <a:t>milk</a:t>
            </a:r>
            <a:r>
              <a:rPr lang="en-US" altLang="en-US" sz="2000" b="0" dirty="0" err="1">
                <a:latin typeface="Tahoma" pitchFamily="34" charset="0"/>
                <a:sym typeface="Symbol" pitchFamily="18" charset="2"/>
              </a:rPr>
              <a:t>caviar</a:t>
            </a:r>
            <a:r>
              <a:rPr lang="en-US" altLang="en-US" sz="2000" b="0" dirty="0">
                <a:latin typeface="Tahoma" pitchFamily="34" charset="0"/>
                <a:sym typeface="Symbol" pitchFamily="18" charset="2"/>
              </a:rPr>
              <a:t>) is very low</a:t>
            </a:r>
          </a:p>
          <a:p>
            <a:pPr eaLnBrk="1" hangingPunct="1">
              <a:spcBef>
                <a:spcPct val="50000"/>
              </a:spcBef>
              <a:spcAft>
                <a:spcPct val="0"/>
              </a:spcAft>
              <a:buClrTx/>
              <a:buSzTx/>
              <a:buFontTx/>
              <a:buNone/>
            </a:pPr>
            <a:endParaRPr lang="en-US" altLang="en-US" sz="800" b="0" dirty="0">
              <a:latin typeface="Tahoma" pitchFamily="34" charset="0"/>
              <a:sym typeface="Symbol" pitchFamily="18" charset="2"/>
            </a:endParaRPr>
          </a:p>
          <a:p>
            <a:pPr eaLnBrk="1" hangingPunct="1">
              <a:spcBef>
                <a:spcPct val="50000"/>
              </a:spcBef>
              <a:spcAft>
                <a:spcPct val="0"/>
              </a:spcAft>
              <a:buClrTx/>
              <a:buSzTx/>
              <a:buFontTx/>
              <a:buNone/>
            </a:pPr>
            <a:endParaRPr lang="en-US" altLang="en-US" sz="800" b="0" dirty="0">
              <a:latin typeface="Tahoma" pitchFamily="34" charset="0"/>
              <a:sym typeface="Symbol" pitchFamily="18" charset="2"/>
            </a:endParaRPr>
          </a:p>
          <a:p>
            <a:pPr eaLnBrk="1" hangingPunct="1">
              <a:spcBef>
                <a:spcPct val="50000"/>
              </a:spcBef>
              <a:spcAft>
                <a:spcPct val="0"/>
              </a:spcAft>
              <a:buClrTx/>
              <a:buSzTx/>
              <a:buFontTx/>
              <a:buNone/>
            </a:pPr>
            <a:r>
              <a:rPr lang="en-US" altLang="en-US" sz="2000" dirty="0">
                <a:latin typeface="Tahoma" pitchFamily="34" charset="0"/>
                <a:sym typeface="Symbol" pitchFamily="18" charset="2"/>
              </a:rPr>
              <a:t>Therefore,</a:t>
            </a:r>
          </a:p>
          <a:p>
            <a:pPr eaLnBrk="1" hangingPunct="1">
              <a:spcBef>
                <a:spcPct val="50000"/>
              </a:spcBef>
              <a:spcAft>
                <a:spcPct val="0"/>
              </a:spcAft>
              <a:buClrTx/>
              <a:buSzTx/>
              <a:buFontTx/>
              <a:buNone/>
            </a:pPr>
            <a:r>
              <a:rPr lang="en-US" altLang="en-US" sz="2000" b="0" dirty="0">
                <a:latin typeface="Tahoma" pitchFamily="34" charset="0"/>
                <a:sym typeface="Symbol" pitchFamily="18" charset="2"/>
              </a:rPr>
              <a:t>min( </a:t>
            </a:r>
            <a:r>
              <a:rPr lang="en-US" altLang="en-US" sz="2000" b="0" dirty="0" err="1">
                <a:latin typeface="Tahoma" pitchFamily="34" charset="0"/>
                <a:sym typeface="Symbol" pitchFamily="18" charset="2"/>
              </a:rPr>
              <a:t>c</a:t>
            </a:r>
            <a:r>
              <a:rPr lang="en-US" altLang="en-US" sz="2000" b="0" dirty="0" err="1">
                <a:latin typeface="Tahoma" pitchFamily="34" charset="0"/>
              </a:rPr>
              <a:t>onf</a:t>
            </a:r>
            <a:r>
              <a:rPr lang="en-US" altLang="en-US" sz="2000" b="0" dirty="0">
                <a:latin typeface="Tahoma" pitchFamily="34" charset="0"/>
              </a:rPr>
              <a:t>(</a:t>
            </a:r>
            <a:r>
              <a:rPr lang="en-US" altLang="en-US" sz="2000" b="0" dirty="0" err="1">
                <a:latin typeface="Tahoma" pitchFamily="34" charset="0"/>
              </a:rPr>
              <a:t>caviar</a:t>
            </a:r>
            <a:r>
              <a:rPr lang="en-US" altLang="en-US" sz="2000" b="0" dirty="0" err="1">
                <a:latin typeface="Tahoma" pitchFamily="34" charset="0"/>
                <a:sym typeface="Symbol" pitchFamily="18" charset="2"/>
              </a:rPr>
              <a:t>milk</a:t>
            </a:r>
            <a:r>
              <a:rPr lang="en-US" altLang="en-US" sz="2000" b="0" dirty="0">
                <a:latin typeface="Tahoma" pitchFamily="34" charset="0"/>
                <a:sym typeface="Symbol" pitchFamily="18" charset="2"/>
              </a:rPr>
              <a:t>),</a:t>
            </a:r>
            <a:br>
              <a:rPr lang="en-US" altLang="en-US" sz="2000" b="0" dirty="0">
                <a:latin typeface="Tahoma" pitchFamily="34" charset="0"/>
                <a:sym typeface="Symbol" pitchFamily="18" charset="2"/>
              </a:rPr>
            </a:br>
            <a:r>
              <a:rPr lang="en-US" altLang="en-US" sz="2000" b="0" dirty="0">
                <a:latin typeface="Tahoma" pitchFamily="34" charset="0"/>
                <a:sym typeface="Symbol" pitchFamily="18" charset="2"/>
              </a:rPr>
              <a:t>        </a:t>
            </a:r>
            <a:r>
              <a:rPr lang="en-US" altLang="en-US" sz="2000" b="0" dirty="0" err="1">
                <a:latin typeface="Tahoma" pitchFamily="34" charset="0"/>
                <a:sym typeface="Symbol" pitchFamily="18" charset="2"/>
              </a:rPr>
              <a:t>c</a:t>
            </a:r>
            <a:r>
              <a:rPr lang="en-US" altLang="en-US" sz="2000" b="0" dirty="0" err="1">
                <a:latin typeface="Tahoma" pitchFamily="34" charset="0"/>
              </a:rPr>
              <a:t>onf</a:t>
            </a:r>
            <a:r>
              <a:rPr lang="en-US" altLang="en-US" sz="2000" b="0" dirty="0">
                <a:latin typeface="Tahoma" pitchFamily="34" charset="0"/>
              </a:rPr>
              <a:t>(</a:t>
            </a:r>
            <a:r>
              <a:rPr lang="en-US" altLang="en-US" sz="2000" b="0" dirty="0" err="1">
                <a:latin typeface="Tahoma" pitchFamily="34" charset="0"/>
              </a:rPr>
              <a:t>milk</a:t>
            </a:r>
            <a:r>
              <a:rPr lang="en-US" altLang="en-US" sz="2000" b="0" dirty="0" err="1">
                <a:latin typeface="Tahoma" pitchFamily="34" charset="0"/>
                <a:sym typeface="Symbol" pitchFamily="18" charset="2"/>
              </a:rPr>
              <a:t>caviar</a:t>
            </a:r>
            <a:r>
              <a:rPr lang="en-US" altLang="en-US" sz="2000" b="0" dirty="0">
                <a:latin typeface="Tahoma" pitchFamily="34" charset="0"/>
                <a:sym typeface="Symbol" pitchFamily="18" charset="2"/>
              </a:rPr>
              <a:t>) )</a:t>
            </a:r>
            <a:br>
              <a:rPr lang="en-US" altLang="en-US" sz="2000" b="0" dirty="0">
                <a:latin typeface="Tahoma" pitchFamily="34" charset="0"/>
                <a:sym typeface="Symbol" pitchFamily="18" charset="2"/>
              </a:rPr>
            </a:br>
            <a:br>
              <a:rPr lang="en-US" altLang="en-US" sz="2000" b="0" dirty="0">
                <a:latin typeface="Tahoma" pitchFamily="34" charset="0"/>
                <a:sym typeface="Symbol" pitchFamily="18" charset="2"/>
              </a:rPr>
            </a:br>
            <a:r>
              <a:rPr lang="en-US" altLang="en-US" sz="2000" b="0" dirty="0">
                <a:latin typeface="Tahoma" pitchFamily="34" charset="0"/>
                <a:sym typeface="Symbol" pitchFamily="18" charset="2"/>
              </a:rPr>
              <a:t>is also very low</a:t>
            </a:r>
          </a:p>
          <a:p>
            <a:pPr eaLnBrk="1" hangingPunct="1">
              <a:spcBef>
                <a:spcPct val="50000"/>
              </a:spcBef>
              <a:spcAft>
                <a:spcPct val="0"/>
              </a:spcAft>
              <a:buClrTx/>
              <a:buSzTx/>
              <a:buFontTx/>
              <a:buNone/>
            </a:pPr>
            <a:endParaRPr lang="en-US" altLang="en-US" sz="800" b="0" dirty="0">
              <a:latin typeface="Tahoma" pitchFamily="34" charset="0"/>
              <a:sym typeface="Symbol" pitchFamily="18" charset="2"/>
            </a:endParaRPr>
          </a:p>
        </p:txBody>
      </p:sp>
    </p:spTree>
    <p:extLst>
      <p:ext uri="{BB962C8B-B14F-4D97-AF65-F5344CB8AC3E}">
        <p14:creationId xmlns:p14="http://schemas.microsoft.com/office/powerpoint/2010/main" val="28973816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p:txBody>
          <a:bodyPr/>
          <a:lstStyle/>
          <a:p>
            <a:r>
              <a:rPr lang="en-US" altLang="en-US" dirty="0"/>
              <a:t>H-Confidence</a:t>
            </a:r>
          </a:p>
        </p:txBody>
      </p:sp>
      <mc:AlternateContent xmlns:mc="http://schemas.openxmlformats.org/markup-compatibility/2006" xmlns:a14="http://schemas.microsoft.com/office/drawing/2010/main">
        <mc:Choice Requires="a14">
          <p:sp>
            <p:nvSpPr>
              <p:cNvPr id="1334275" name="Rectangle 3"/>
              <p:cNvSpPr>
                <a:spLocks noGrp="1" noChangeArrowheads="1"/>
              </p:cNvSpPr>
              <p:nvPr>
                <p:ph type="body" idx="4294967295"/>
              </p:nvPr>
            </p:nvSpPr>
            <p:spPr/>
            <p:txBody>
              <a:bodyPr>
                <a:normAutofit fontScale="92500" lnSpcReduction="20000"/>
              </a:bodyPr>
              <a:lstStyle/>
              <a:p>
                <a:pPr>
                  <a:lnSpc>
                    <a:spcPct val="90000"/>
                  </a:lnSpc>
                </a:pPr>
                <a:r>
                  <a:rPr lang="en-US" altLang="en-US" dirty="0"/>
                  <a:t>To avoid patterns whose items have very different support, define a new evaluation measure for </a:t>
                </a:r>
                <a:r>
                  <a:rPr lang="en-US" altLang="en-US" dirty="0" err="1"/>
                  <a:t>itemsets</a:t>
                </a:r>
                <a:endParaRPr lang="en-US" altLang="en-US" dirty="0"/>
              </a:p>
              <a:p>
                <a:pPr lvl="1">
                  <a:lnSpc>
                    <a:spcPct val="90000"/>
                  </a:lnSpc>
                </a:pPr>
                <a:r>
                  <a:rPr lang="en-US" altLang="en-US" dirty="0">
                    <a:solidFill>
                      <a:srgbClr val="C00000"/>
                    </a:solidFill>
                  </a:rPr>
                  <a:t>Known as h-confidence or all-confidence</a:t>
                </a:r>
              </a:p>
              <a:p>
                <a:pPr lvl="1">
                  <a:lnSpc>
                    <a:spcPct val="90000"/>
                  </a:lnSpc>
                </a:pPr>
                <a:endParaRPr lang="en-US" altLang="en-US" dirty="0">
                  <a:solidFill>
                    <a:srgbClr val="C00000"/>
                  </a:solidFill>
                </a:endParaRPr>
              </a:p>
              <a:p>
                <a:pPr>
                  <a:lnSpc>
                    <a:spcPct val="90000"/>
                  </a:lnSpc>
                </a:pPr>
                <a:r>
                  <a:rPr lang="en-US" altLang="en-US" dirty="0"/>
                  <a:t>Specifically, given an </a:t>
                </a:r>
                <a:r>
                  <a:rPr lang="en-US" altLang="en-US" dirty="0" err="1"/>
                  <a:t>itemset</a:t>
                </a:r>
                <a14:m>
                  <m:oMath xmlns:m="http://schemas.openxmlformats.org/officeDocument/2006/math">
                    <m:r>
                      <a:rPr lang="en-US" altLang="en-US" i="1">
                        <a:latin typeface="Cambria Math"/>
                      </a:rPr>
                      <m:t>𝑋</m:t>
                    </m:r>
                    <m:r>
                      <a:rPr lang="en-US" altLang="en-US" i="1">
                        <a:latin typeface="Cambria Math"/>
                      </a:rPr>
                      <m:t>={</m:t>
                    </m:r>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1</m:t>
                        </m:r>
                      </m:sub>
                    </m:sSub>
                    <m:r>
                      <a:rPr lang="en-US" altLang="en-US" i="1">
                        <a:latin typeface="Cambria Math"/>
                      </a:rPr>
                      <m:t>,</m:t>
                    </m:r>
                    <m:sSub>
                      <m:sSubPr>
                        <m:ctrlPr>
                          <a:rPr lang="en-US" altLang="en-US" i="1">
                            <a:latin typeface="Cambria Math" panose="02040503050406030204" pitchFamily="18" charset="0"/>
                          </a:rPr>
                        </m:ctrlPr>
                      </m:sSubPr>
                      <m:e>
                        <m:r>
                          <a:rPr lang="en-US" altLang="en-US" i="1">
                            <a:latin typeface="Cambria Math"/>
                          </a:rPr>
                          <m:t>𝑥</m:t>
                        </m:r>
                      </m:e>
                      <m:sub>
                        <m:r>
                          <a:rPr lang="en-US" altLang="en-US" b="0" i="1" smtClean="0">
                            <a:latin typeface="Cambria Math"/>
                          </a:rPr>
                          <m:t>2</m:t>
                        </m:r>
                      </m:sub>
                    </m:sSub>
                    <m:r>
                      <a:rPr lang="en-US" altLang="en-US" i="1">
                        <a:latin typeface="Cambria Math"/>
                      </a:rPr>
                      <m:t>,…,</m:t>
                    </m:r>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𝑑</m:t>
                        </m:r>
                      </m:sub>
                    </m:sSub>
                    <m:r>
                      <a:rPr lang="en-US" altLang="en-US" i="1">
                        <a:latin typeface="Cambria Math"/>
                      </a:rPr>
                      <m:t>}</m:t>
                    </m:r>
                  </m:oMath>
                </a14:m>
                <a:endParaRPr lang="en-US" altLang="en-US" dirty="0"/>
              </a:p>
              <a:p>
                <a:pPr lvl="1">
                  <a:lnSpc>
                    <a:spcPct val="90000"/>
                  </a:lnSpc>
                </a:pPr>
                <a:r>
                  <a:rPr lang="en-US" altLang="en-US" dirty="0"/>
                  <a:t>h-confidence is the  minimum confidence of any association rule formed from </a:t>
                </a:r>
                <a:r>
                  <a:rPr lang="en-US" altLang="en-US" dirty="0" err="1"/>
                  <a:t>itemset</a:t>
                </a:r>
                <a14:m>
                  <m:oMath xmlns:m="http://schemas.openxmlformats.org/officeDocument/2006/math">
                    <m:r>
                      <a:rPr lang="en-US" altLang="en-US" b="0" i="0" smtClean="0">
                        <a:latin typeface="Cambria Math"/>
                      </a:rPr>
                      <m:t>  </m:t>
                    </m:r>
                    <m:r>
                      <a:rPr lang="en-US" altLang="en-US" i="1">
                        <a:latin typeface="Cambria Math"/>
                      </a:rPr>
                      <m:t>𝑋</m:t>
                    </m:r>
                  </m:oMath>
                </a14:m>
                <a:endParaRPr lang="en-US" altLang="en-US" dirty="0"/>
              </a:p>
              <a:p>
                <a:pPr lvl="1">
                  <a:lnSpc>
                    <a:spcPct val="90000"/>
                  </a:lnSpc>
                </a:pPr>
                <a:endParaRPr lang="en-US" altLang="en-US" dirty="0"/>
              </a:p>
              <a:p>
                <a:pPr lvl="1">
                  <a:lnSpc>
                    <a:spcPct val="90000"/>
                  </a:lnSpc>
                </a:pPr>
                <a:r>
                  <a:rPr lang="en-US" altLang="en-US" dirty="0">
                    <a:solidFill>
                      <a:srgbClr val="C00000"/>
                    </a:solidFill>
                  </a:rPr>
                  <a:t>hconf(</a:t>
                </a:r>
                <a14:m>
                  <m:oMath xmlns:m="http://schemas.openxmlformats.org/officeDocument/2006/math">
                    <m:r>
                      <a:rPr lang="en-US" altLang="en-US" b="0" i="0" smtClean="0">
                        <a:latin typeface="Cambria Math"/>
                      </a:rPr>
                      <m:t> </m:t>
                    </m:r>
                    <m:r>
                      <a:rPr lang="en-US" altLang="en-US" i="1">
                        <a:solidFill>
                          <a:srgbClr val="C00000"/>
                        </a:solidFill>
                        <a:latin typeface="Cambria Math"/>
                      </a:rPr>
                      <m:t>𝑋</m:t>
                    </m:r>
                  </m:oMath>
                </a14:m>
                <a:r>
                  <a:rPr lang="en-US" altLang="en-US" dirty="0">
                    <a:solidFill>
                      <a:srgbClr val="C00000"/>
                    </a:solidFill>
                  </a:rPr>
                  <a:t> ) = min( conf(</a:t>
                </a:r>
                <a14:m>
                  <m:oMath xmlns:m="http://schemas.openxmlformats.org/officeDocument/2006/math">
                    <m:r>
                      <a:rPr lang="en-US" altLang="en-US" i="1">
                        <a:solidFill>
                          <a:srgbClr val="C00000"/>
                        </a:solidFill>
                        <a:latin typeface="Cambria Math"/>
                      </a:rPr>
                      <m:t>𝑋</m:t>
                    </m:r>
                  </m:oMath>
                </a14:m>
                <a:r>
                  <a:rPr lang="en-US" altLang="en-US" baseline="-25000" dirty="0">
                    <a:solidFill>
                      <a:srgbClr val="C00000"/>
                    </a:solidFill>
                  </a:rPr>
                  <a:t>1</a:t>
                </a:r>
                <a:r>
                  <a:rPr lang="en-US" dirty="0">
                    <a:solidFill>
                      <a:srgbClr val="C00000"/>
                    </a:solidFill>
                  </a:rPr>
                  <a:t>→</a:t>
                </a:r>
                <a14:m>
                  <m:oMath xmlns:m="http://schemas.openxmlformats.org/officeDocument/2006/math">
                    <m:r>
                      <a:rPr lang="en-US" altLang="en-US" i="1">
                        <a:solidFill>
                          <a:srgbClr val="C00000"/>
                        </a:solidFill>
                        <a:latin typeface="Cambria Math"/>
                      </a:rPr>
                      <m:t>𝑋</m:t>
                    </m:r>
                  </m:oMath>
                </a14:m>
                <a:r>
                  <a:rPr lang="en-US" baseline="-25000" dirty="0">
                    <a:solidFill>
                      <a:srgbClr val="C00000"/>
                    </a:solidFill>
                  </a:rPr>
                  <a:t>2</a:t>
                </a:r>
                <a:r>
                  <a:rPr lang="en-US" dirty="0">
                    <a:solidFill>
                      <a:srgbClr val="C00000"/>
                    </a:solidFill>
                  </a:rPr>
                  <a:t>) ), </a:t>
                </a:r>
                <a:br>
                  <a:rPr lang="en-US" dirty="0">
                    <a:solidFill>
                      <a:srgbClr val="C00000"/>
                    </a:solidFill>
                  </a:rPr>
                </a:br>
                <a:br>
                  <a:rPr lang="en-US" dirty="0">
                    <a:solidFill>
                      <a:srgbClr val="C00000"/>
                    </a:solidFill>
                  </a:rPr>
                </a:br>
                <a:r>
                  <a:rPr lang="en-US" dirty="0"/>
                  <a:t>where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a:rPr>
                          <m:t>𝑋</m:t>
                        </m:r>
                      </m:e>
                      <m:sub>
                        <m:r>
                          <a:rPr lang="en-US" altLang="en-US" b="0" i="1" smtClean="0">
                            <a:latin typeface="Cambria Math"/>
                          </a:rPr>
                          <m:t>1</m:t>
                        </m:r>
                      </m:sub>
                    </m:sSub>
                  </m:oMath>
                </a14:m>
                <a:r>
                  <a:rPr lang="en-US" altLang="en-US" dirty="0"/>
                  <a:t>,</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a:rPr>
                          <m:t>𝑋</m:t>
                        </m:r>
                      </m:e>
                      <m:sub>
                        <m:r>
                          <a:rPr lang="en-US" altLang="en-US" i="1">
                            <a:latin typeface="Cambria Math"/>
                          </a:rPr>
                          <m:t>2</m:t>
                        </m:r>
                      </m:sub>
                    </m:sSub>
                    <m:r>
                      <a:rPr lang="en-US" altLang="en-US" i="1">
                        <a:latin typeface="Cambria Math"/>
                      </a:rPr>
                      <m:t> </m:t>
                    </m:r>
                    <m:r>
                      <a:rPr lang="en-US" altLang="en-US" i="1" smtClean="0">
                        <a:latin typeface="Cambria Math"/>
                        <a:ea typeface="Cambria Math"/>
                      </a:rPr>
                      <m:t>⊂</m:t>
                    </m:r>
                    <m:r>
                      <a:rPr lang="en-US" altLang="en-US" i="1" smtClean="0">
                        <a:latin typeface="Cambria Math"/>
                      </a:rPr>
                      <m:t>𝑋</m:t>
                    </m:r>
                  </m:oMath>
                </a14:m>
                <a:r>
                  <a:rPr lang="en-US" altLang="en-US" dirty="0"/>
                  <a:t>,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a:rPr>
                          <m:t>𝑋</m:t>
                        </m:r>
                      </m:e>
                      <m:sub>
                        <m:r>
                          <a:rPr lang="en-US" altLang="en-US" b="0" i="1" smtClean="0">
                            <a:latin typeface="Cambria Math"/>
                          </a:rPr>
                          <m:t>1</m:t>
                        </m:r>
                      </m:sub>
                    </m:sSub>
                    <m:r>
                      <a:rPr lang="en-US" altLang="en-US" i="1" dirty="0" smtClean="0">
                        <a:latin typeface="Cambria Math"/>
                        <a:ea typeface="Cambria Math"/>
                      </a:rPr>
                      <m:t>∩</m:t>
                    </m:r>
                    <m:sSub>
                      <m:sSubPr>
                        <m:ctrlPr>
                          <a:rPr lang="en-US" altLang="en-US" i="1">
                            <a:latin typeface="Cambria Math" panose="02040503050406030204" pitchFamily="18" charset="0"/>
                          </a:rPr>
                        </m:ctrlPr>
                      </m:sSubPr>
                      <m:e>
                        <m:r>
                          <a:rPr lang="en-US" altLang="en-US" i="1">
                            <a:latin typeface="Cambria Math"/>
                          </a:rPr>
                          <m:t>𝑋</m:t>
                        </m:r>
                      </m:e>
                      <m:sub>
                        <m:r>
                          <a:rPr lang="en-US" altLang="en-US" i="1">
                            <a:latin typeface="Cambria Math"/>
                          </a:rPr>
                          <m:t>2</m:t>
                        </m:r>
                      </m:sub>
                    </m:sSub>
                    <m:r>
                      <a:rPr lang="en-US" altLang="en-US" b="0" i="0" smtClean="0">
                        <a:latin typeface="Cambria Math"/>
                        <a:ea typeface="Cambria Math"/>
                      </a:rPr>
                      <m:t>=</m:t>
                    </m:r>
                    <m:r>
                      <a:rPr lang="en-US" altLang="en-US" b="0" i="1" smtClean="0">
                        <a:latin typeface="Cambria Math"/>
                        <a:ea typeface="Cambria Math"/>
                      </a:rPr>
                      <m:t>∅</m:t>
                    </m:r>
                    <m:r>
                      <a:rPr lang="en-US" altLang="en-US" b="0" i="1" smtClean="0">
                        <a:latin typeface="Cambria Math"/>
                        <a:ea typeface="Cambria Math"/>
                      </a:rPr>
                      <m:t>,</m:t>
                    </m:r>
                    <m:sSub>
                      <m:sSubPr>
                        <m:ctrlPr>
                          <a:rPr lang="en-US" altLang="en-US" i="1">
                            <a:latin typeface="Cambria Math" panose="02040503050406030204" pitchFamily="18" charset="0"/>
                          </a:rPr>
                        </m:ctrlPr>
                      </m:sSubPr>
                      <m:e>
                        <m:r>
                          <a:rPr lang="en-US" altLang="en-US" i="1">
                            <a:latin typeface="Cambria Math"/>
                          </a:rPr>
                          <m:t>𝑋</m:t>
                        </m:r>
                      </m:e>
                      <m:sub>
                        <m:r>
                          <a:rPr lang="en-US" altLang="en-US" b="0" i="1" smtClean="0">
                            <a:latin typeface="Cambria Math"/>
                          </a:rPr>
                          <m:t>1</m:t>
                        </m:r>
                      </m:sub>
                    </m:sSub>
                    <m:r>
                      <a:rPr lang="en-US" altLang="en-US" i="1" dirty="0" smtClean="0">
                        <a:latin typeface="Cambria Math"/>
                        <a:ea typeface="Cambria Math"/>
                      </a:rPr>
                      <m:t>∪</m:t>
                    </m:r>
                    <m:sSub>
                      <m:sSubPr>
                        <m:ctrlPr>
                          <a:rPr lang="en-US" altLang="en-US" i="1">
                            <a:latin typeface="Cambria Math" panose="02040503050406030204" pitchFamily="18" charset="0"/>
                          </a:rPr>
                        </m:ctrlPr>
                      </m:sSubPr>
                      <m:e>
                        <m:r>
                          <a:rPr lang="en-US" altLang="en-US" i="1">
                            <a:latin typeface="Cambria Math"/>
                          </a:rPr>
                          <m:t>𝑋</m:t>
                        </m:r>
                      </m:e>
                      <m:sub>
                        <m:r>
                          <a:rPr lang="en-US" altLang="en-US" i="1">
                            <a:latin typeface="Cambria Math"/>
                          </a:rPr>
                          <m:t>2</m:t>
                        </m:r>
                      </m:sub>
                    </m:sSub>
                    <m:r>
                      <a:rPr lang="en-US" altLang="en-US" b="0" i="0" smtClean="0">
                        <a:latin typeface="Cambria Math"/>
                      </a:rPr>
                      <m:t>= </m:t>
                    </m:r>
                    <m:r>
                      <a:rPr lang="en-US" altLang="en-US" i="1">
                        <a:latin typeface="Cambria Math"/>
                      </a:rPr>
                      <m:t>𝑋</m:t>
                    </m:r>
                  </m:oMath>
                </a14:m>
                <a:br>
                  <a:rPr lang="en-US" altLang="en-US" dirty="0"/>
                </a:br>
                <a:br>
                  <a:rPr lang="en-US" altLang="en-US" dirty="0"/>
                </a:br>
                <a:r>
                  <a:rPr lang="en-US" altLang="en-US" dirty="0"/>
                  <a:t>For example:</a:t>
                </a:r>
                <a14:m>
                  <m:oMath xmlns:m="http://schemas.openxmlformats.org/officeDocument/2006/math">
                    <m:sSub>
                      <m:sSubPr>
                        <m:ctrlPr>
                          <a:rPr lang="en-US" altLang="en-US" i="1">
                            <a:latin typeface="Cambria Math" panose="02040503050406030204" pitchFamily="18" charset="0"/>
                          </a:rPr>
                        </m:ctrlPr>
                      </m:sSubPr>
                      <m:e>
                        <m:r>
                          <a:rPr lang="en-US" altLang="en-US" b="0" i="1" smtClean="0">
                            <a:latin typeface="Cambria Math"/>
                          </a:rPr>
                          <m:t> </m:t>
                        </m:r>
                        <m:r>
                          <a:rPr lang="en-US" altLang="en-US" i="1">
                            <a:latin typeface="Cambria Math"/>
                          </a:rPr>
                          <m:t>𝑋</m:t>
                        </m:r>
                      </m:e>
                      <m:sub>
                        <m:r>
                          <a:rPr lang="en-US" altLang="en-US" b="0" i="1" smtClean="0">
                            <a:latin typeface="Cambria Math"/>
                          </a:rPr>
                          <m:t>1</m:t>
                        </m:r>
                      </m:sub>
                    </m:sSub>
                    <m:r>
                      <a:rPr lang="en-US" altLang="en-US" b="0" i="0" smtClean="0">
                        <a:latin typeface="Cambria Math"/>
                      </a:rPr>
                      <m:t>=</m:t>
                    </m:r>
                    <m:d>
                      <m:dPr>
                        <m:begChr m:val="{"/>
                        <m:endChr m:val="}"/>
                        <m:ctrlPr>
                          <a:rPr lang="en-US" altLang="en-US" i="1">
                            <a:latin typeface="Cambria Math" panose="02040503050406030204" pitchFamily="18" charset="0"/>
                          </a:rPr>
                        </m:ctrlPr>
                      </m:dPr>
                      <m:e>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1</m:t>
                            </m:r>
                          </m:sub>
                        </m:sSub>
                        <m:r>
                          <a:rPr lang="en-US" altLang="en-US" i="1">
                            <a:latin typeface="Cambria Math"/>
                          </a:rPr>
                          <m:t>,</m:t>
                        </m:r>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2</m:t>
                            </m:r>
                          </m:sub>
                        </m:sSub>
                      </m:e>
                    </m:d>
                    <m:r>
                      <a:rPr lang="en-US" altLang="en-US" b="0" i="1" smtClean="0">
                        <a:latin typeface="Cambria Math"/>
                      </a:rPr>
                      <m:t>, </m:t>
                    </m:r>
                    <m:sSub>
                      <m:sSubPr>
                        <m:ctrlPr>
                          <a:rPr lang="en-US" altLang="en-US" b="0" i="1" smtClean="0">
                            <a:latin typeface="Cambria Math" panose="02040503050406030204" pitchFamily="18" charset="0"/>
                          </a:rPr>
                        </m:ctrlPr>
                      </m:sSubPr>
                      <m:e>
                        <m:r>
                          <a:rPr lang="en-US" altLang="en-US" i="1">
                            <a:latin typeface="Cambria Math"/>
                          </a:rPr>
                          <m:t>𝑋</m:t>
                        </m:r>
                      </m:e>
                      <m:sub>
                        <m:r>
                          <a:rPr lang="en-US" altLang="en-US" b="0" i="1" smtClean="0">
                            <a:latin typeface="Cambria Math"/>
                          </a:rPr>
                          <m:t>2</m:t>
                        </m:r>
                      </m:sub>
                    </m:sSub>
                    <m:r>
                      <a:rPr lang="en-US" altLang="en-US" b="0" i="0" smtClean="0">
                        <a:latin typeface="Cambria Math"/>
                      </a:rPr>
                      <m:t>= </m:t>
                    </m:r>
                    <m:r>
                      <a:rPr lang="en-US" altLang="en-US" i="1">
                        <a:latin typeface="Cambria Math"/>
                      </a:rPr>
                      <m:t>{</m:t>
                    </m:r>
                    <m:sSub>
                      <m:sSubPr>
                        <m:ctrlPr>
                          <a:rPr lang="en-US" altLang="en-US" i="1">
                            <a:latin typeface="Cambria Math" panose="02040503050406030204" pitchFamily="18" charset="0"/>
                          </a:rPr>
                        </m:ctrlPr>
                      </m:sSubPr>
                      <m:e>
                        <m:r>
                          <a:rPr lang="en-US" altLang="en-US" i="1">
                            <a:latin typeface="Cambria Math"/>
                          </a:rPr>
                          <m:t>𝑥</m:t>
                        </m:r>
                      </m:e>
                      <m:sub>
                        <m:r>
                          <a:rPr lang="en-US" altLang="en-US" b="0" i="1" smtClean="0">
                            <a:latin typeface="Cambria Math"/>
                          </a:rPr>
                          <m:t>3</m:t>
                        </m:r>
                      </m:sub>
                    </m:sSub>
                    <m:r>
                      <a:rPr lang="en-US" altLang="en-US" i="1">
                        <a:latin typeface="Cambria Math"/>
                      </a:rPr>
                      <m:t>,…,</m:t>
                    </m:r>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𝑑</m:t>
                        </m:r>
                      </m:sub>
                    </m:sSub>
                    <m:r>
                      <a:rPr lang="en-US" altLang="en-US" i="1">
                        <a:latin typeface="Cambria Math"/>
                      </a:rPr>
                      <m:t>}</m:t>
                    </m:r>
                  </m:oMath>
                </a14:m>
                <a:endParaRPr lang="en-US" altLang="en-US" dirty="0"/>
              </a:p>
              <a:p>
                <a:pPr lvl="1">
                  <a:lnSpc>
                    <a:spcPct val="90000"/>
                  </a:lnSpc>
                </a:pPr>
                <a:endParaRPr lang="en-US" altLang="en-US" dirty="0"/>
              </a:p>
            </p:txBody>
          </p:sp>
        </mc:Choice>
        <mc:Fallback xmlns="">
          <p:sp>
            <p:nvSpPr>
              <p:cNvPr id="1334275" name="Rectangle 3"/>
              <p:cNvSpPr>
                <a:spLocks noGrp="1" noRot="1" noChangeAspect="1" noMove="1" noResize="1" noEditPoints="1" noAdjustHandles="1" noChangeArrowheads="1" noChangeShapeType="1" noTextEdit="1"/>
              </p:cNvSpPr>
              <p:nvPr>
                <p:ph type="body" idx="4294967295"/>
              </p:nvPr>
            </p:nvSpPr>
            <p:spPr>
              <a:blipFill>
                <a:blip r:embed="rId2"/>
                <a:stretch>
                  <a:fillRect l="-593" t="-4144" b="-829"/>
                </a:stretch>
              </a:blipFill>
            </p:spPr>
            <p:txBody>
              <a:bodyPr/>
              <a:lstStyle/>
              <a:p>
                <a:r>
                  <a:rPr lang="en-US">
                    <a:noFill/>
                  </a:rPr>
                  <a:t> </a:t>
                </a:r>
              </a:p>
            </p:txBody>
          </p:sp>
        </mc:Fallback>
      </mc:AlternateContent>
    </p:spTree>
    <p:extLst>
      <p:ext uri="{BB962C8B-B14F-4D97-AF65-F5344CB8AC3E}">
        <p14:creationId xmlns:p14="http://schemas.microsoft.com/office/powerpoint/2010/main" val="3057908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4275">
                                            <p:txEl>
                                              <p:char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4275">
                                            <p:txEl>
                                              <p:char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34275">
                                            <p:txEl>
                                              <p:char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p:txBody>
          <a:bodyPr/>
          <a:lstStyle/>
          <a:p>
            <a:r>
              <a:rPr lang="en-US" altLang="en-US" dirty="0"/>
              <a:t>H-Confidence …</a:t>
            </a:r>
          </a:p>
        </p:txBody>
      </p:sp>
      <mc:AlternateContent xmlns:mc="http://schemas.openxmlformats.org/markup-compatibility/2006" xmlns:a14="http://schemas.microsoft.com/office/drawing/2010/main">
        <mc:Choice Requires="a14">
          <p:sp>
            <p:nvSpPr>
              <p:cNvPr id="1334275" name="Rectangle 3"/>
              <p:cNvSpPr>
                <a:spLocks noGrp="1" noChangeArrowheads="1"/>
              </p:cNvSpPr>
              <p:nvPr>
                <p:ph type="body" idx="4294967295"/>
              </p:nvPr>
            </p:nvSpPr>
            <p:spPr/>
            <p:txBody>
              <a:bodyPr/>
              <a:lstStyle/>
              <a:p>
                <a:pPr>
                  <a:lnSpc>
                    <a:spcPct val="90000"/>
                  </a:lnSpc>
                </a:pPr>
                <a:r>
                  <a:rPr lang="en-US" altLang="en-US" dirty="0"/>
                  <a:t>But, given an </a:t>
                </a:r>
                <a:r>
                  <a:rPr lang="en-US" altLang="en-US" dirty="0" err="1"/>
                  <a:t>itemset</a:t>
                </a:r>
                <a14:m>
                  <m:oMath xmlns:m="http://schemas.openxmlformats.org/officeDocument/2006/math">
                    <m:r>
                      <a:rPr lang="en-US" altLang="en-US" i="1">
                        <a:latin typeface="Cambria Math"/>
                      </a:rPr>
                      <m:t>𝑋</m:t>
                    </m:r>
                    <m:r>
                      <a:rPr lang="en-US" altLang="en-US" i="1">
                        <a:latin typeface="Cambria Math"/>
                      </a:rPr>
                      <m:t>={</m:t>
                    </m:r>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1</m:t>
                        </m:r>
                      </m:sub>
                    </m:sSub>
                    <m:r>
                      <a:rPr lang="en-US" altLang="en-US" i="1">
                        <a:latin typeface="Cambria Math"/>
                      </a:rPr>
                      <m:t>,</m:t>
                    </m:r>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2</m:t>
                        </m:r>
                      </m:sub>
                    </m:sSub>
                    <m:r>
                      <a:rPr lang="en-US" altLang="en-US" i="1">
                        <a:latin typeface="Cambria Math"/>
                      </a:rPr>
                      <m:t>,…,</m:t>
                    </m:r>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𝑑</m:t>
                        </m:r>
                      </m:sub>
                    </m:sSub>
                    <m:r>
                      <a:rPr lang="en-US" altLang="en-US" i="1">
                        <a:latin typeface="Cambria Math"/>
                      </a:rPr>
                      <m:t>}</m:t>
                    </m:r>
                  </m:oMath>
                </a14:m>
                <a:endParaRPr lang="en-US" altLang="en-US" dirty="0" err="1"/>
              </a:p>
              <a:p>
                <a:pPr lvl="1">
                  <a:lnSpc>
                    <a:spcPct val="90000"/>
                  </a:lnSpc>
                </a:pPr>
                <a:r>
                  <a:rPr lang="en-US" altLang="en-US" dirty="0"/>
                  <a:t>What is the lowest confidence rule you can obtain from </a:t>
                </a:r>
                <a14:m>
                  <m:oMath xmlns:m="http://schemas.openxmlformats.org/officeDocument/2006/math">
                    <m:r>
                      <a:rPr lang="en-US" altLang="en-US" i="1">
                        <a:latin typeface="Cambria Math"/>
                      </a:rPr>
                      <m:t>𝑋</m:t>
                    </m:r>
                  </m:oMath>
                </a14:m>
                <a:r>
                  <a:rPr lang="en-US" altLang="en-US" dirty="0"/>
                  <a:t>?</a:t>
                </a:r>
              </a:p>
              <a:p>
                <a:pPr lvl="1">
                  <a:lnSpc>
                    <a:spcPct val="90000"/>
                  </a:lnSpc>
                </a:pPr>
                <a:r>
                  <a:rPr lang="en-US" altLang="en-US" dirty="0"/>
                  <a:t>Recall conf(</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a:rPr>
                          <m:t>𝑋</m:t>
                        </m:r>
                      </m:e>
                      <m:sub>
                        <m:r>
                          <a:rPr lang="en-US" altLang="en-US" i="1">
                            <a:latin typeface="Cambria Math"/>
                          </a:rPr>
                          <m:t>1</m:t>
                        </m:r>
                      </m:sub>
                    </m:sSub>
                  </m:oMath>
                </a14:m>
                <a:r>
                  <a:rPr lang="en-US" dirty="0"/>
                  <a:t>→</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a:rPr>
                          <m:t>𝑋</m:t>
                        </m:r>
                      </m:e>
                      <m:sub>
                        <m:r>
                          <a:rPr lang="en-US" altLang="en-US" b="0" i="1" smtClean="0">
                            <a:latin typeface="Cambria Math"/>
                          </a:rPr>
                          <m:t>2</m:t>
                        </m:r>
                      </m:sub>
                    </m:sSub>
                  </m:oMath>
                </a14:m>
                <a:r>
                  <a:rPr lang="en-US" dirty="0"/>
                  <a:t>) = </a:t>
                </a:r>
                <a:r>
                  <a:rPr lang="en-US" i="1" dirty="0"/>
                  <a:t>s</a:t>
                </a:r>
                <a:r>
                  <a:rPr lang="en-US" dirty="0"/>
                  <a:t>(</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a:rPr>
                          <m:t>𝑋</m:t>
                        </m:r>
                      </m:e>
                      <m:sub>
                        <m:r>
                          <a:rPr lang="en-US" altLang="en-US" i="1">
                            <a:latin typeface="Cambria Math"/>
                          </a:rPr>
                          <m:t>1</m:t>
                        </m:r>
                      </m:sub>
                    </m:sSub>
                    <m:r>
                      <a:rPr lang="en-US" i="1" dirty="0" smtClean="0">
                        <a:latin typeface="Cambria Math"/>
                        <a:ea typeface="Cambria Math"/>
                      </a:rPr>
                      <m:t>∪</m:t>
                    </m:r>
                    <m:sSub>
                      <m:sSubPr>
                        <m:ctrlPr>
                          <a:rPr lang="en-US" altLang="en-US" i="1">
                            <a:latin typeface="Cambria Math" panose="02040503050406030204" pitchFamily="18" charset="0"/>
                          </a:rPr>
                        </m:ctrlPr>
                      </m:sSubPr>
                      <m:e>
                        <m:r>
                          <a:rPr lang="en-US" altLang="en-US" i="1">
                            <a:latin typeface="Cambria Math"/>
                          </a:rPr>
                          <m:t>𝑋</m:t>
                        </m:r>
                      </m:e>
                      <m:sub>
                        <m:r>
                          <a:rPr lang="en-US" altLang="en-US" i="1">
                            <a:latin typeface="Cambria Math"/>
                          </a:rPr>
                          <m:t>2</m:t>
                        </m:r>
                      </m:sub>
                    </m:sSub>
                  </m:oMath>
                </a14:m>
                <a:r>
                  <a:rPr lang="en-US" dirty="0"/>
                  <a:t>) / support(</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a:rPr>
                          <m:t>𝑋</m:t>
                        </m:r>
                      </m:e>
                      <m:sub>
                        <m:r>
                          <a:rPr lang="en-US" altLang="en-US" i="1">
                            <a:latin typeface="Cambria Math"/>
                          </a:rPr>
                          <m:t>1</m:t>
                        </m:r>
                      </m:sub>
                    </m:sSub>
                  </m:oMath>
                </a14:m>
                <a:r>
                  <a:rPr lang="en-US" dirty="0"/>
                  <a:t>) </a:t>
                </a:r>
              </a:p>
              <a:p>
                <a:pPr marL="1255713" lvl="2" indent="-341313">
                  <a:lnSpc>
                    <a:spcPct val="90000"/>
                  </a:lnSpc>
                </a:pPr>
                <a:r>
                  <a:rPr lang="en-US" altLang="en-US" dirty="0"/>
                  <a:t>The numerator is fixed: </a:t>
                </a:r>
                <a:r>
                  <a:rPr lang="en-US" i="1" dirty="0"/>
                  <a:t>s</a:t>
                </a:r>
                <a:r>
                  <a:rPr lang="en-US" dirty="0"/>
                  <a:t>(</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a:rPr>
                          <m:t>𝑋</m:t>
                        </m:r>
                      </m:e>
                      <m:sub>
                        <m:r>
                          <a:rPr lang="en-US" altLang="en-US" i="1">
                            <a:latin typeface="Cambria Math"/>
                          </a:rPr>
                          <m:t>1</m:t>
                        </m:r>
                      </m:sub>
                    </m:sSub>
                    <m:r>
                      <a:rPr lang="en-US" i="1" dirty="0">
                        <a:latin typeface="Cambria Math"/>
                        <a:ea typeface="Cambria Math"/>
                      </a:rPr>
                      <m:t>∪</m:t>
                    </m:r>
                    <m:sSub>
                      <m:sSubPr>
                        <m:ctrlPr>
                          <a:rPr lang="en-US" altLang="en-US" i="1">
                            <a:latin typeface="Cambria Math" panose="02040503050406030204" pitchFamily="18" charset="0"/>
                          </a:rPr>
                        </m:ctrlPr>
                      </m:sSubPr>
                      <m:e>
                        <m:r>
                          <a:rPr lang="en-US" altLang="en-US" i="1">
                            <a:latin typeface="Cambria Math"/>
                          </a:rPr>
                          <m:t>𝑋</m:t>
                        </m:r>
                      </m:e>
                      <m:sub>
                        <m:r>
                          <a:rPr lang="en-US" altLang="en-US" i="1">
                            <a:latin typeface="Cambria Math"/>
                          </a:rPr>
                          <m:t>2</m:t>
                        </m:r>
                      </m:sub>
                    </m:sSub>
                  </m:oMath>
                </a14:m>
                <a:r>
                  <a:rPr lang="en-US" dirty="0"/>
                  <a:t>) = </a:t>
                </a:r>
                <a:r>
                  <a:rPr lang="en-US" i="1" dirty="0"/>
                  <a:t>s</a:t>
                </a:r>
                <a:r>
                  <a:rPr lang="en-US" dirty="0"/>
                  <a:t>(</a:t>
                </a:r>
                <a:r>
                  <a:rPr lang="en-US" i="1" dirty="0">
                    <a:latin typeface="Cambria Math" panose="02040503050406030204" pitchFamily="18" charset="0"/>
                    <a:ea typeface="Cambria Math" panose="02040503050406030204" pitchFamily="18" charset="0"/>
                  </a:rPr>
                  <a:t>X </a:t>
                </a:r>
                <a:r>
                  <a:rPr lang="en-US" dirty="0"/>
                  <a:t>) </a:t>
                </a:r>
                <a:endParaRPr lang="en-US" altLang="en-US" dirty="0"/>
              </a:p>
              <a:p>
                <a:pPr marL="1255713" lvl="2" indent="-341313">
                  <a:lnSpc>
                    <a:spcPct val="90000"/>
                  </a:lnSpc>
                </a:pPr>
                <a:r>
                  <a:rPr lang="en-US" altLang="en-US" dirty="0"/>
                  <a:t>Thus, to find the lowest confidence rule, we need to find the X</a:t>
                </a:r>
                <a:r>
                  <a:rPr lang="en-US" altLang="en-US" baseline="-25000" dirty="0"/>
                  <a:t>1</a:t>
                </a:r>
                <a:r>
                  <a:rPr lang="en-US" altLang="en-US" dirty="0"/>
                  <a:t> with highest support</a:t>
                </a:r>
              </a:p>
              <a:p>
                <a:pPr marL="1255713" lvl="2" indent="-341313">
                  <a:lnSpc>
                    <a:spcPct val="90000"/>
                  </a:lnSpc>
                </a:pPr>
                <a:r>
                  <a:rPr lang="en-US" altLang="en-US" dirty="0"/>
                  <a:t>Consider only rules where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a:rPr>
                          <m:t>𝑋</m:t>
                        </m:r>
                      </m:e>
                      <m:sub>
                        <m:r>
                          <a:rPr lang="en-US" altLang="en-US" i="1">
                            <a:latin typeface="Cambria Math"/>
                          </a:rPr>
                          <m:t>1</m:t>
                        </m:r>
                      </m:sub>
                    </m:sSub>
                  </m:oMath>
                </a14:m>
                <a:r>
                  <a:rPr lang="en-US" altLang="en-US" dirty="0"/>
                  <a:t> is a single item, i.e., </a:t>
                </a:r>
              </a:p>
              <a:p>
                <a:pPr lvl="2">
                  <a:lnSpc>
                    <a:spcPct val="90000"/>
                  </a:lnSpc>
                  <a:buNone/>
                </a:pPr>
                <a:r>
                  <a:rPr lang="en-US" altLang="en-US" dirty="0"/>
                  <a:t>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1</m:t>
                        </m:r>
                      </m:sub>
                    </m:sSub>
                  </m:oMath>
                </a14:m>
                <a:r>
                  <a:rPr lang="en-US" altLang="en-US" dirty="0"/>
                  <a:t>} </a:t>
                </a:r>
                <a:r>
                  <a:rPr lang="en-US" altLang="en-US" dirty="0">
                    <a:sym typeface="Symbol" pitchFamily="18" charset="2"/>
                  </a:rPr>
                  <a:t> </a:t>
                </a:r>
                <a14:m>
                  <m:oMath xmlns:m="http://schemas.openxmlformats.org/officeDocument/2006/math">
                    <m:r>
                      <a:rPr lang="en-US" altLang="en-US" i="1">
                        <a:latin typeface="Cambria Math"/>
                      </a:rPr>
                      <m:t>𝑋</m:t>
                    </m:r>
                  </m:oMath>
                </a14:m>
                <a:r>
                  <a:rPr lang="en-US" altLang="en-US" dirty="0">
                    <a:sym typeface="Symbol" pitchFamily="18" charset="2"/>
                  </a:rPr>
                  <a:t> –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1</m:t>
                        </m:r>
                      </m:sub>
                    </m:sSub>
                  </m:oMath>
                </a14:m>
                <a:r>
                  <a:rPr lang="en-US" altLang="en-US" dirty="0">
                    <a:sym typeface="Symbol" pitchFamily="18" charset="2"/>
                  </a:rPr>
                  <a:t>}, </a:t>
                </a:r>
                <a:r>
                  <a:rPr lang="en-US" altLang="en-US" dirty="0"/>
                  <a:t>{</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2</m:t>
                        </m:r>
                      </m:sub>
                    </m:sSub>
                  </m:oMath>
                </a14:m>
                <a:r>
                  <a:rPr lang="en-US" altLang="en-US" dirty="0"/>
                  <a:t>} </a:t>
                </a:r>
                <a:r>
                  <a:rPr lang="en-US" altLang="en-US" dirty="0">
                    <a:sym typeface="Symbol" pitchFamily="18" charset="2"/>
                  </a:rPr>
                  <a:t> </a:t>
                </a:r>
                <a14:m>
                  <m:oMath xmlns:m="http://schemas.openxmlformats.org/officeDocument/2006/math">
                    <m:r>
                      <a:rPr lang="en-US" altLang="en-US" i="1">
                        <a:latin typeface="Cambria Math"/>
                      </a:rPr>
                      <m:t>𝑋</m:t>
                    </m:r>
                  </m:oMath>
                </a14:m>
                <a:r>
                  <a:rPr lang="en-US" altLang="en-US" dirty="0">
                    <a:sym typeface="Symbol" pitchFamily="18" charset="2"/>
                  </a:rPr>
                  <a:t> –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2</m:t>
                        </m:r>
                      </m:sub>
                    </m:sSub>
                  </m:oMath>
                </a14:m>
                <a:r>
                  <a:rPr lang="en-US" altLang="en-US" dirty="0">
                    <a:sym typeface="Symbol" pitchFamily="18" charset="2"/>
                  </a:rPr>
                  <a:t>}, …, or </a:t>
                </a:r>
                <a:r>
                  <a:rPr lang="en-US" altLang="en-US" dirty="0"/>
                  <a:t>{</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𝑑</m:t>
                        </m:r>
                      </m:sub>
                    </m:sSub>
                  </m:oMath>
                </a14:m>
                <a:r>
                  <a:rPr lang="en-US" altLang="en-US" dirty="0"/>
                  <a:t>} </a:t>
                </a:r>
                <a:r>
                  <a:rPr lang="en-US" altLang="en-US" dirty="0">
                    <a:sym typeface="Symbol" pitchFamily="18" charset="2"/>
                  </a:rPr>
                  <a:t> </a:t>
                </a:r>
                <a14:m>
                  <m:oMath xmlns:m="http://schemas.openxmlformats.org/officeDocument/2006/math">
                    <m:r>
                      <a:rPr lang="en-US" altLang="en-US" i="1">
                        <a:latin typeface="Cambria Math"/>
                      </a:rPr>
                      <m:t>𝑋</m:t>
                    </m:r>
                  </m:oMath>
                </a14:m>
                <a:r>
                  <a:rPr lang="en-US" altLang="en-US" dirty="0">
                    <a:sym typeface="Symbol" pitchFamily="18" charset="2"/>
                  </a:rPr>
                  <a:t> –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𝑑</m:t>
                        </m:r>
                      </m:sub>
                    </m:sSub>
                  </m:oMath>
                </a14:m>
                <a:r>
                  <a:rPr lang="en-US" altLang="en-US" dirty="0">
                    <a:sym typeface="Symbol" pitchFamily="18" charset="2"/>
                  </a:rPr>
                  <a:t>}</a:t>
                </a:r>
                <a:br>
                  <a:rPr lang="en-US" altLang="en-US" dirty="0">
                    <a:sym typeface="Symbol" pitchFamily="18" charset="2"/>
                  </a:rPr>
                </a:br>
                <a:endParaRPr lang="en-US" altLang="en-US" dirty="0">
                  <a:sym typeface="Symbol" pitchFamily="18" charset="2"/>
                </a:endParaRPr>
              </a:p>
              <a:p>
                <a:pPr marL="0" lvl="2">
                  <a:lnSpc>
                    <a:spcPct val="90000"/>
                  </a:lnSpc>
                  <a:buNone/>
                </a:pPr>
                <a14:m>
                  <m:oMathPara xmlns:m="http://schemas.openxmlformats.org/officeDocument/2006/math">
                    <m:oMathParaPr>
                      <m:jc m:val="centerGroup"/>
                    </m:oMathParaPr>
                    <m:oMath xmlns:m="http://schemas.openxmlformats.org/officeDocument/2006/math">
                      <m:r>
                        <m:rPr>
                          <m:sty m:val="p"/>
                        </m:rPr>
                        <a:rPr lang="en-US" altLang="en-US" b="0" i="0" smtClean="0">
                          <a:latin typeface="Cambria Math"/>
                          <a:sym typeface="Symbol" pitchFamily="18" charset="2"/>
                        </a:rPr>
                        <m:t>hconf</m:t>
                      </m:r>
                      <m:d>
                        <m:dPr>
                          <m:ctrlPr>
                            <a:rPr lang="en-US" altLang="en-US" b="0" i="1" smtClean="0">
                              <a:latin typeface="Cambria Math" panose="02040503050406030204" pitchFamily="18" charset="0"/>
                              <a:sym typeface="Symbol" pitchFamily="18" charset="2"/>
                            </a:rPr>
                          </m:ctrlPr>
                        </m:dPr>
                        <m:e>
                          <m:r>
                            <a:rPr lang="en-US" altLang="en-US" b="0" i="1" smtClean="0">
                              <a:latin typeface="Cambria Math"/>
                              <a:sym typeface="Symbol" pitchFamily="18" charset="2"/>
                            </a:rPr>
                            <m:t>𝑋</m:t>
                          </m:r>
                        </m:e>
                      </m:d>
                      <m:r>
                        <a:rPr lang="en-US" altLang="en-US" b="0" i="0" smtClean="0">
                          <a:latin typeface="Cambria Math"/>
                          <a:sym typeface="Symbol" pitchFamily="18" charset="2"/>
                        </a:rPr>
                        <m:t> = </m:t>
                      </m:r>
                      <m:r>
                        <m:rPr>
                          <m:sty m:val="p"/>
                        </m:rPr>
                        <a:rPr lang="en-US" altLang="en-US" b="0" i="0" smtClean="0">
                          <a:latin typeface="Cambria Math"/>
                          <a:sym typeface="Symbol" pitchFamily="18" charset="2"/>
                        </a:rPr>
                        <m:t>min</m:t>
                      </m:r>
                      <m:d>
                        <m:dPr>
                          <m:begChr m:val="{"/>
                          <m:endChr m:val="}"/>
                          <m:ctrlPr>
                            <a:rPr lang="en-US" altLang="en-US" i="1" smtClean="0">
                              <a:latin typeface="Cambria Math" panose="02040503050406030204" pitchFamily="18" charset="0"/>
                              <a:sym typeface="Symbol" pitchFamily="18" charset="2"/>
                            </a:rPr>
                          </m:ctrlPr>
                        </m:dPr>
                        <m:e>
                          <m:f>
                            <m:fPr>
                              <m:ctrlPr>
                                <a:rPr lang="en-US" altLang="en-US" i="1">
                                  <a:latin typeface="Cambria Math" panose="02040503050406030204" pitchFamily="18" charset="0"/>
                                  <a:sym typeface="Symbol" pitchFamily="18" charset="2"/>
                                </a:rPr>
                              </m:ctrlPr>
                            </m:fPr>
                            <m:num>
                              <m:r>
                                <a:rPr lang="en-US" altLang="en-US" i="1">
                                  <a:latin typeface="Cambria Math"/>
                                  <a:sym typeface="Symbol" pitchFamily="18" charset="2"/>
                                </a:rPr>
                                <m:t>𝑠</m:t>
                              </m:r>
                              <m:d>
                                <m:dPr>
                                  <m:ctrlPr>
                                    <a:rPr lang="en-US" altLang="en-US" i="1">
                                      <a:latin typeface="Cambria Math" panose="02040503050406030204" pitchFamily="18" charset="0"/>
                                      <a:sym typeface="Symbol" pitchFamily="18" charset="2"/>
                                    </a:rPr>
                                  </m:ctrlPr>
                                </m:dPr>
                                <m:e>
                                  <m:r>
                                    <a:rPr lang="en-US" altLang="en-US" i="1">
                                      <a:latin typeface="Cambria Math"/>
                                      <a:sym typeface="Symbol" pitchFamily="18" charset="2"/>
                                    </a:rPr>
                                    <m:t>𝑋</m:t>
                                  </m:r>
                                </m:e>
                              </m:d>
                            </m:num>
                            <m:den>
                              <m:r>
                                <a:rPr lang="en-US" altLang="en-US" i="1">
                                  <a:latin typeface="Cambria Math"/>
                                  <a:sym typeface="Symbol" pitchFamily="18" charset="2"/>
                                </a:rPr>
                                <m:t>𝑠</m:t>
                              </m:r>
                              <m:r>
                                <a:rPr lang="en-US" altLang="en-US" i="1">
                                  <a:latin typeface="Cambria Math"/>
                                  <a:sym typeface="Symbol" pitchFamily="18" charset="2"/>
                                </a:rPr>
                                <m:t>(</m:t>
                              </m:r>
                              <m:sSub>
                                <m:sSubPr>
                                  <m:ctrlPr>
                                    <a:rPr lang="en-US" altLang="en-US" i="1">
                                      <a:latin typeface="Cambria Math" panose="02040503050406030204" pitchFamily="18" charset="0"/>
                                      <a:sym typeface="Symbol" pitchFamily="18" charset="2"/>
                                    </a:rPr>
                                  </m:ctrlPr>
                                </m:sSubPr>
                                <m:e>
                                  <m:r>
                                    <a:rPr lang="en-US" altLang="en-US" i="1">
                                      <a:latin typeface="Cambria Math"/>
                                      <a:sym typeface="Symbol" pitchFamily="18" charset="2"/>
                                    </a:rPr>
                                    <m:t>𝑥</m:t>
                                  </m:r>
                                </m:e>
                                <m:sub>
                                  <m:r>
                                    <a:rPr lang="en-US" altLang="en-US" i="1">
                                      <a:latin typeface="Cambria Math"/>
                                      <a:sym typeface="Symbol" pitchFamily="18" charset="2"/>
                                    </a:rPr>
                                    <m:t>1</m:t>
                                  </m:r>
                                </m:sub>
                              </m:sSub>
                              <m:r>
                                <a:rPr lang="en-US" altLang="en-US" i="1">
                                  <a:latin typeface="Cambria Math"/>
                                  <a:sym typeface="Symbol" pitchFamily="18" charset="2"/>
                                </a:rPr>
                                <m:t>)</m:t>
                              </m:r>
                            </m:den>
                          </m:f>
                          <m:r>
                            <a:rPr lang="en-US" altLang="en-US" i="1">
                              <a:latin typeface="Cambria Math"/>
                              <a:sym typeface="Symbol" pitchFamily="18" charset="2"/>
                            </a:rPr>
                            <m:t>,</m:t>
                          </m:r>
                          <m:f>
                            <m:fPr>
                              <m:ctrlPr>
                                <a:rPr lang="en-US" altLang="en-US" i="1">
                                  <a:latin typeface="Cambria Math" panose="02040503050406030204" pitchFamily="18" charset="0"/>
                                  <a:sym typeface="Symbol" pitchFamily="18" charset="2"/>
                                </a:rPr>
                              </m:ctrlPr>
                            </m:fPr>
                            <m:num>
                              <m:r>
                                <a:rPr lang="en-US" altLang="en-US" i="1">
                                  <a:latin typeface="Cambria Math"/>
                                  <a:sym typeface="Symbol" pitchFamily="18" charset="2"/>
                                </a:rPr>
                                <m:t>𝑠</m:t>
                              </m:r>
                              <m:d>
                                <m:dPr>
                                  <m:ctrlPr>
                                    <a:rPr lang="en-US" altLang="en-US" i="1">
                                      <a:latin typeface="Cambria Math" panose="02040503050406030204" pitchFamily="18" charset="0"/>
                                      <a:sym typeface="Symbol" pitchFamily="18" charset="2"/>
                                    </a:rPr>
                                  </m:ctrlPr>
                                </m:dPr>
                                <m:e>
                                  <m:r>
                                    <a:rPr lang="en-US" altLang="en-US" i="1">
                                      <a:latin typeface="Cambria Math"/>
                                      <a:sym typeface="Symbol" pitchFamily="18" charset="2"/>
                                    </a:rPr>
                                    <m:t>𝑋</m:t>
                                  </m:r>
                                </m:e>
                              </m:d>
                            </m:num>
                            <m:den>
                              <m:r>
                                <a:rPr lang="en-US" altLang="en-US" i="1">
                                  <a:latin typeface="Cambria Math"/>
                                  <a:sym typeface="Symbol" pitchFamily="18" charset="2"/>
                                </a:rPr>
                                <m:t>𝑠</m:t>
                              </m:r>
                              <m:r>
                                <a:rPr lang="en-US" altLang="en-US" i="1">
                                  <a:latin typeface="Cambria Math"/>
                                  <a:sym typeface="Symbol" pitchFamily="18" charset="2"/>
                                </a:rPr>
                                <m:t>(</m:t>
                              </m:r>
                              <m:sSub>
                                <m:sSubPr>
                                  <m:ctrlPr>
                                    <a:rPr lang="en-US" altLang="en-US" i="1">
                                      <a:latin typeface="Cambria Math" panose="02040503050406030204" pitchFamily="18" charset="0"/>
                                      <a:sym typeface="Symbol" pitchFamily="18" charset="2"/>
                                    </a:rPr>
                                  </m:ctrlPr>
                                </m:sSubPr>
                                <m:e>
                                  <m:r>
                                    <a:rPr lang="en-US" altLang="en-US" i="1">
                                      <a:latin typeface="Cambria Math"/>
                                      <a:sym typeface="Symbol" pitchFamily="18" charset="2"/>
                                    </a:rPr>
                                    <m:t>𝑥</m:t>
                                  </m:r>
                                </m:e>
                                <m:sub>
                                  <m:r>
                                    <a:rPr lang="en-US" altLang="en-US" i="1">
                                      <a:latin typeface="Cambria Math"/>
                                      <a:sym typeface="Symbol" pitchFamily="18" charset="2"/>
                                    </a:rPr>
                                    <m:t>2</m:t>
                                  </m:r>
                                </m:sub>
                              </m:sSub>
                              <m:r>
                                <a:rPr lang="en-US" altLang="en-US" i="1">
                                  <a:latin typeface="Cambria Math"/>
                                  <a:sym typeface="Symbol" pitchFamily="18" charset="2"/>
                                </a:rPr>
                                <m:t>)</m:t>
                              </m:r>
                            </m:den>
                          </m:f>
                          <m:r>
                            <a:rPr lang="en-US" altLang="en-US" i="1">
                              <a:latin typeface="Cambria Math"/>
                              <a:sym typeface="Symbol" pitchFamily="18" charset="2"/>
                            </a:rPr>
                            <m:t>,…,</m:t>
                          </m:r>
                          <m:f>
                            <m:fPr>
                              <m:ctrlPr>
                                <a:rPr lang="en-US" altLang="en-US" i="1">
                                  <a:latin typeface="Cambria Math" panose="02040503050406030204" pitchFamily="18" charset="0"/>
                                  <a:sym typeface="Symbol" pitchFamily="18" charset="2"/>
                                </a:rPr>
                              </m:ctrlPr>
                            </m:fPr>
                            <m:num>
                              <m:r>
                                <a:rPr lang="en-US" altLang="en-US" i="1">
                                  <a:latin typeface="Cambria Math"/>
                                  <a:sym typeface="Symbol" pitchFamily="18" charset="2"/>
                                </a:rPr>
                                <m:t>𝑠</m:t>
                              </m:r>
                              <m:d>
                                <m:dPr>
                                  <m:ctrlPr>
                                    <a:rPr lang="en-US" altLang="en-US" i="1">
                                      <a:latin typeface="Cambria Math" panose="02040503050406030204" pitchFamily="18" charset="0"/>
                                      <a:sym typeface="Symbol" pitchFamily="18" charset="2"/>
                                    </a:rPr>
                                  </m:ctrlPr>
                                </m:dPr>
                                <m:e>
                                  <m:r>
                                    <a:rPr lang="en-US" altLang="en-US" i="1">
                                      <a:latin typeface="Cambria Math"/>
                                      <a:sym typeface="Symbol" pitchFamily="18" charset="2"/>
                                    </a:rPr>
                                    <m:t>𝑋</m:t>
                                  </m:r>
                                </m:e>
                              </m:d>
                            </m:num>
                            <m:den>
                              <m:r>
                                <a:rPr lang="en-US" altLang="en-US" i="1">
                                  <a:latin typeface="Cambria Math"/>
                                  <a:sym typeface="Symbol" pitchFamily="18" charset="2"/>
                                </a:rPr>
                                <m:t>𝑠</m:t>
                              </m:r>
                              <m:r>
                                <a:rPr lang="en-US" altLang="en-US" i="1">
                                  <a:latin typeface="Cambria Math"/>
                                  <a:sym typeface="Symbol" pitchFamily="18" charset="2"/>
                                </a:rPr>
                                <m:t>(</m:t>
                              </m:r>
                              <m:sSub>
                                <m:sSubPr>
                                  <m:ctrlPr>
                                    <a:rPr lang="en-US" altLang="en-US" i="1">
                                      <a:latin typeface="Cambria Math" panose="02040503050406030204" pitchFamily="18" charset="0"/>
                                      <a:sym typeface="Symbol" pitchFamily="18" charset="2"/>
                                    </a:rPr>
                                  </m:ctrlPr>
                                </m:sSubPr>
                                <m:e>
                                  <m:r>
                                    <a:rPr lang="en-US" altLang="en-US" i="1">
                                      <a:latin typeface="Cambria Math"/>
                                      <a:sym typeface="Symbol" pitchFamily="18" charset="2"/>
                                    </a:rPr>
                                    <m:t>𝑥</m:t>
                                  </m:r>
                                </m:e>
                                <m:sub>
                                  <m:r>
                                    <a:rPr lang="en-US" altLang="en-US" i="1">
                                      <a:latin typeface="Cambria Math"/>
                                      <a:sym typeface="Symbol" pitchFamily="18" charset="2"/>
                                    </a:rPr>
                                    <m:t>𝑑</m:t>
                                  </m:r>
                                </m:sub>
                              </m:sSub>
                              <m:r>
                                <a:rPr lang="en-US" altLang="en-US" i="1">
                                  <a:latin typeface="Cambria Math"/>
                                  <a:sym typeface="Symbol" pitchFamily="18" charset="2"/>
                                </a:rPr>
                                <m:t>)</m:t>
                              </m:r>
                            </m:den>
                          </m:f>
                        </m:e>
                      </m:d>
                    </m:oMath>
                  </m:oMathPara>
                </a14:m>
                <a:br>
                  <a:rPr lang="en-US" altLang="en-US" i="1" dirty="0">
                    <a:latin typeface="Cambria Math"/>
                    <a:sym typeface="Symbol" pitchFamily="18" charset="2"/>
                  </a:rPr>
                </a:br>
                <a:br>
                  <a:rPr lang="en-US" altLang="en-US" i="1" dirty="0">
                    <a:latin typeface="Cambria Math"/>
                    <a:sym typeface="Symbol" pitchFamily="18" charset="2"/>
                  </a:rPr>
                </a:br>
                <a14:m>
                  <m:oMathPara xmlns:m="http://schemas.openxmlformats.org/officeDocument/2006/math">
                    <m:oMathParaPr>
                      <m:jc m:val="centerGroup"/>
                    </m:oMathParaPr>
                    <m:oMath xmlns:m="http://schemas.openxmlformats.org/officeDocument/2006/math">
                      <m:r>
                        <a:rPr lang="en-US" altLang="en-US" sz="2600" b="0" i="1" smtClean="0">
                          <a:latin typeface="Cambria Math"/>
                          <a:sym typeface="Symbol" pitchFamily="18" charset="2"/>
                        </a:rPr>
                        <m:t> = </m:t>
                      </m:r>
                      <m:f>
                        <m:fPr>
                          <m:ctrlPr>
                            <a:rPr lang="en-US" altLang="en-US" sz="2600" b="0" i="1" smtClean="0">
                              <a:latin typeface="Cambria Math" panose="02040503050406030204" pitchFamily="18" charset="0"/>
                              <a:sym typeface="Symbol" pitchFamily="18" charset="2"/>
                            </a:rPr>
                          </m:ctrlPr>
                        </m:fPr>
                        <m:num>
                          <m:r>
                            <a:rPr lang="en-US" altLang="en-US" sz="2600" b="0" i="1" smtClean="0">
                              <a:latin typeface="Cambria Math"/>
                              <a:sym typeface="Symbol" pitchFamily="18" charset="2"/>
                            </a:rPr>
                            <m:t>𝑠</m:t>
                          </m:r>
                          <m:r>
                            <a:rPr lang="en-US" altLang="en-US" sz="2600" b="0" i="1" smtClean="0">
                              <a:latin typeface="Cambria Math"/>
                              <a:sym typeface="Symbol" pitchFamily="18" charset="2"/>
                            </a:rPr>
                            <m:t>(</m:t>
                          </m:r>
                          <m:r>
                            <a:rPr lang="en-US" altLang="en-US" sz="2600" b="0" i="1" smtClean="0">
                              <a:latin typeface="Cambria Math"/>
                              <a:sym typeface="Symbol" pitchFamily="18" charset="2"/>
                            </a:rPr>
                            <m:t>𝑋</m:t>
                          </m:r>
                          <m:r>
                            <a:rPr lang="en-US" altLang="en-US" sz="2600" b="0" i="1" smtClean="0">
                              <a:latin typeface="Cambria Math"/>
                              <a:sym typeface="Symbol" pitchFamily="18" charset="2"/>
                            </a:rPr>
                            <m:t>)</m:t>
                          </m:r>
                        </m:num>
                        <m:den>
                          <m:r>
                            <m:rPr>
                              <m:sty m:val="p"/>
                            </m:rPr>
                            <a:rPr lang="en-US" altLang="en-US" sz="2600" b="0" i="0" smtClean="0">
                              <a:latin typeface="Cambria Math"/>
                              <a:sym typeface="Symbol" pitchFamily="18" charset="2"/>
                            </a:rPr>
                            <m:t>max</m:t>
                          </m:r>
                          <m:r>
                            <a:rPr lang="en-US" altLang="en-US" sz="2600" b="0" i="1" smtClean="0">
                              <a:latin typeface="Cambria Math"/>
                              <a:sym typeface="Symbol" pitchFamily="18" charset="2"/>
                            </a:rPr>
                            <m:t>⁡</m:t>
                          </m:r>
                          <m:d>
                            <m:dPr>
                              <m:begChr m:val="{"/>
                              <m:endChr m:val="}"/>
                              <m:ctrlPr>
                                <a:rPr lang="en-US" altLang="en-US" sz="2600" b="0" i="1" smtClean="0">
                                  <a:latin typeface="Cambria Math" panose="02040503050406030204" pitchFamily="18" charset="0"/>
                                  <a:sym typeface="Symbol" pitchFamily="18" charset="2"/>
                                </a:rPr>
                              </m:ctrlPr>
                            </m:dPr>
                            <m:e>
                              <m:r>
                                <a:rPr lang="en-US" altLang="en-US" sz="2600" i="1">
                                  <a:latin typeface="Cambria Math"/>
                                  <a:sym typeface="Symbol" pitchFamily="18" charset="2"/>
                                </a:rPr>
                                <m:t>𝑠</m:t>
                              </m:r>
                              <m:d>
                                <m:dPr>
                                  <m:ctrlPr>
                                    <a:rPr lang="en-US" altLang="en-US" sz="2600" i="1">
                                      <a:latin typeface="Cambria Math" panose="02040503050406030204" pitchFamily="18" charset="0"/>
                                      <a:sym typeface="Symbol" pitchFamily="18" charset="2"/>
                                    </a:rPr>
                                  </m:ctrlPr>
                                </m:dPr>
                                <m:e>
                                  <m:sSub>
                                    <m:sSubPr>
                                      <m:ctrlPr>
                                        <a:rPr lang="en-US" altLang="en-US" sz="2600" i="1">
                                          <a:latin typeface="Cambria Math" panose="02040503050406030204" pitchFamily="18" charset="0"/>
                                          <a:sym typeface="Symbol" pitchFamily="18" charset="2"/>
                                        </a:rPr>
                                      </m:ctrlPr>
                                    </m:sSubPr>
                                    <m:e>
                                      <m:r>
                                        <a:rPr lang="en-US" altLang="en-US" sz="2600" i="1">
                                          <a:latin typeface="Cambria Math"/>
                                          <a:sym typeface="Symbol" pitchFamily="18" charset="2"/>
                                        </a:rPr>
                                        <m:t>𝑥</m:t>
                                      </m:r>
                                    </m:e>
                                    <m:sub>
                                      <m:r>
                                        <a:rPr lang="en-US" altLang="en-US" sz="2600" i="1">
                                          <a:latin typeface="Cambria Math"/>
                                          <a:sym typeface="Symbol" pitchFamily="18" charset="2"/>
                                        </a:rPr>
                                        <m:t>1</m:t>
                                      </m:r>
                                    </m:sub>
                                  </m:sSub>
                                </m:e>
                              </m:d>
                              <m:r>
                                <a:rPr lang="en-US" altLang="en-US" sz="2600" b="0" i="1" smtClean="0">
                                  <a:latin typeface="Cambria Math"/>
                                  <a:sym typeface="Symbol" pitchFamily="18" charset="2"/>
                                </a:rPr>
                                <m:t>,   </m:t>
                              </m:r>
                              <m:r>
                                <a:rPr lang="en-US" altLang="en-US" sz="2600" i="1">
                                  <a:latin typeface="Cambria Math"/>
                                  <a:sym typeface="Symbol" pitchFamily="18" charset="2"/>
                                </a:rPr>
                                <m:t>𝑠</m:t>
                              </m:r>
                              <m:d>
                                <m:dPr>
                                  <m:ctrlPr>
                                    <a:rPr lang="en-US" altLang="en-US" sz="2600" i="1">
                                      <a:latin typeface="Cambria Math" panose="02040503050406030204" pitchFamily="18" charset="0"/>
                                      <a:sym typeface="Symbol" pitchFamily="18" charset="2"/>
                                    </a:rPr>
                                  </m:ctrlPr>
                                </m:dPr>
                                <m:e>
                                  <m:sSub>
                                    <m:sSubPr>
                                      <m:ctrlPr>
                                        <a:rPr lang="en-US" altLang="en-US" sz="2600" i="1">
                                          <a:latin typeface="Cambria Math" panose="02040503050406030204" pitchFamily="18" charset="0"/>
                                          <a:sym typeface="Symbol" pitchFamily="18" charset="2"/>
                                        </a:rPr>
                                      </m:ctrlPr>
                                    </m:sSubPr>
                                    <m:e>
                                      <m:r>
                                        <a:rPr lang="en-US" altLang="en-US" sz="2600" i="1">
                                          <a:latin typeface="Cambria Math"/>
                                          <a:sym typeface="Symbol" pitchFamily="18" charset="2"/>
                                        </a:rPr>
                                        <m:t>𝑥</m:t>
                                      </m:r>
                                    </m:e>
                                    <m:sub>
                                      <m:r>
                                        <a:rPr lang="en-US" altLang="en-US" sz="2600" b="0" i="1" smtClean="0">
                                          <a:latin typeface="Cambria Math"/>
                                          <a:sym typeface="Symbol" pitchFamily="18" charset="2"/>
                                        </a:rPr>
                                        <m:t>2</m:t>
                                      </m:r>
                                    </m:sub>
                                  </m:sSub>
                                </m:e>
                              </m:d>
                              <m:r>
                                <a:rPr lang="en-US" altLang="en-US" sz="2600" b="0" i="1" smtClean="0">
                                  <a:latin typeface="Cambria Math"/>
                                  <a:sym typeface="Symbol" pitchFamily="18" charset="2"/>
                                </a:rPr>
                                <m:t> ,   …,   </m:t>
                              </m:r>
                              <m:r>
                                <a:rPr lang="en-US" altLang="en-US" sz="2600" i="1">
                                  <a:latin typeface="Cambria Math"/>
                                  <a:sym typeface="Symbol" pitchFamily="18" charset="2"/>
                                </a:rPr>
                                <m:t>𝑠</m:t>
                              </m:r>
                              <m:r>
                                <a:rPr lang="en-US" altLang="en-US" sz="2600" i="1">
                                  <a:latin typeface="Cambria Math"/>
                                  <a:sym typeface="Symbol" pitchFamily="18" charset="2"/>
                                </a:rPr>
                                <m:t>(</m:t>
                              </m:r>
                              <m:sSub>
                                <m:sSubPr>
                                  <m:ctrlPr>
                                    <a:rPr lang="en-US" altLang="en-US" sz="2600" i="1">
                                      <a:latin typeface="Cambria Math" panose="02040503050406030204" pitchFamily="18" charset="0"/>
                                      <a:sym typeface="Symbol" pitchFamily="18" charset="2"/>
                                    </a:rPr>
                                  </m:ctrlPr>
                                </m:sSubPr>
                                <m:e>
                                  <m:r>
                                    <a:rPr lang="en-US" altLang="en-US" sz="2600" i="1">
                                      <a:latin typeface="Cambria Math"/>
                                      <a:sym typeface="Symbol" pitchFamily="18" charset="2"/>
                                    </a:rPr>
                                    <m:t>𝑥</m:t>
                                  </m:r>
                                </m:e>
                                <m:sub>
                                  <m:r>
                                    <a:rPr lang="en-US" altLang="en-US" sz="2600" b="0" i="1" smtClean="0">
                                      <a:latin typeface="Cambria Math"/>
                                      <a:sym typeface="Symbol" pitchFamily="18" charset="2"/>
                                    </a:rPr>
                                    <m:t>𝑑</m:t>
                                  </m:r>
                                </m:sub>
                              </m:sSub>
                              <m:r>
                                <a:rPr lang="en-US" altLang="en-US" sz="2600" i="1">
                                  <a:latin typeface="Cambria Math"/>
                                  <a:sym typeface="Symbol" pitchFamily="18" charset="2"/>
                                </a:rPr>
                                <m:t>)</m:t>
                              </m:r>
                            </m:e>
                          </m:d>
                        </m:den>
                      </m:f>
                    </m:oMath>
                  </m:oMathPara>
                </a14:m>
                <a:endParaRPr lang="en-US" altLang="en-US" sz="2600" dirty="0">
                  <a:sym typeface="Symbol" pitchFamily="18" charset="2"/>
                </a:endParaRPr>
              </a:p>
              <a:p>
                <a:pPr lvl="2">
                  <a:lnSpc>
                    <a:spcPct val="90000"/>
                  </a:lnSpc>
                  <a:buNone/>
                </a:pPr>
                <a:endParaRPr lang="en-US" altLang="en-US" dirty="0">
                  <a:sym typeface="Symbol" pitchFamily="18" charset="2"/>
                </a:endParaRPr>
              </a:p>
              <a:p>
                <a:pPr lvl="2">
                  <a:lnSpc>
                    <a:spcPct val="90000"/>
                  </a:lnSpc>
                  <a:buNone/>
                </a:pPr>
                <a:endParaRPr lang="en-US" altLang="en-US" dirty="0">
                  <a:sym typeface="Symbol" pitchFamily="18" charset="2"/>
                </a:endParaRPr>
              </a:p>
              <a:p>
                <a:pPr lvl="2">
                  <a:lnSpc>
                    <a:spcPct val="90000"/>
                  </a:lnSpc>
                  <a:buNone/>
                </a:pPr>
                <a:endParaRPr lang="en-US" altLang="en-US" dirty="0">
                  <a:sym typeface="Symbol" pitchFamily="18" charset="2"/>
                </a:endParaRPr>
              </a:p>
            </p:txBody>
          </p:sp>
        </mc:Choice>
        <mc:Fallback xmlns="">
          <p:sp>
            <p:nvSpPr>
              <p:cNvPr id="1334275" name="Rectangle 3"/>
              <p:cNvSpPr>
                <a:spLocks noGrp="1" noRot="1" noChangeAspect="1" noMove="1" noResize="1" noEditPoints="1" noAdjustHandles="1" noChangeArrowheads="1" noChangeShapeType="1" noTextEdit="1"/>
              </p:cNvSpPr>
              <p:nvPr>
                <p:ph type="body" idx="4294967295"/>
              </p:nvPr>
            </p:nvSpPr>
            <p:spPr>
              <a:blipFill rotWithShape="0">
                <a:blip r:embed="rId2"/>
                <a:stretch>
                  <a:fillRect l="-733" t="-2118"/>
                </a:stretch>
              </a:blipFill>
            </p:spPr>
            <p:txBody>
              <a:bodyPr/>
              <a:lstStyle/>
              <a:p>
                <a:r>
                  <a:rPr lang="en-US">
                    <a:noFill/>
                  </a:rPr>
                  <a:t> </a:t>
                </a:r>
              </a:p>
            </p:txBody>
          </p:sp>
        </mc:Fallback>
      </mc:AlternateContent>
    </p:spTree>
    <p:extLst>
      <p:ext uri="{BB962C8B-B14F-4D97-AF65-F5344CB8AC3E}">
        <p14:creationId xmlns:p14="http://schemas.microsoft.com/office/powerpoint/2010/main" val="14114479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342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42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427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3427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3427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3427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3427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34275">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34275">
                                            <p:txEl>
                                              <p:char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34275">
                                            <p:txEl>
                                              <p:char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34275">
                                            <p:txEl>
                                              <p:char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4275" grpId="0" build="p" bldLvl="2"/>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p:txBody>
          <a:bodyPr/>
          <a:lstStyle/>
          <a:p>
            <a:r>
              <a:rPr lang="en-US" altLang="en-US" dirty="0"/>
              <a:t>Cross Support and H-confidence</a:t>
            </a:r>
          </a:p>
        </p:txBody>
      </p:sp>
      <mc:AlternateContent xmlns:mc="http://schemas.openxmlformats.org/markup-compatibility/2006" xmlns:a14="http://schemas.microsoft.com/office/drawing/2010/main">
        <mc:Choice Requires="a14">
          <p:sp>
            <p:nvSpPr>
              <p:cNvPr id="1334275" name="Rectangle 3"/>
              <p:cNvSpPr>
                <a:spLocks noGrp="1" noChangeArrowheads="1"/>
              </p:cNvSpPr>
              <p:nvPr>
                <p:ph type="body" idx="4294967295"/>
              </p:nvPr>
            </p:nvSpPr>
            <p:spPr/>
            <p:txBody>
              <a:bodyPr/>
              <a:lstStyle/>
              <a:p>
                <a:pPr>
                  <a:lnSpc>
                    <a:spcPct val="90000"/>
                  </a:lnSpc>
                </a:pPr>
                <a:r>
                  <a:rPr lang="en-US" altLang="en-US" dirty="0"/>
                  <a:t>By the anti-</a:t>
                </a:r>
                <a:r>
                  <a:rPr lang="en-US" altLang="en-US" dirty="0" err="1"/>
                  <a:t>montone</a:t>
                </a:r>
                <a:r>
                  <a:rPr lang="en-US" altLang="en-US" dirty="0"/>
                  <a:t> property of support</a:t>
                </a:r>
                <a:br>
                  <a:rPr lang="en-US" altLang="en-US" dirty="0"/>
                </a:br>
                <a:endParaRPr lang="en-US" altLang="en-US" dirty="0"/>
              </a:p>
              <a:p>
                <a:pPr marL="457200" lvl="1" indent="0">
                  <a:lnSpc>
                    <a:spcPct val="90000"/>
                  </a:lnSpc>
                  <a:buNone/>
                </a:pPr>
                <a14:m>
                  <m:oMathPara xmlns:m="http://schemas.openxmlformats.org/officeDocument/2006/math">
                    <m:oMathParaPr>
                      <m:jc m:val="centerGroup"/>
                    </m:oMathParaPr>
                    <m:oMath xmlns:m="http://schemas.openxmlformats.org/officeDocument/2006/math">
                      <m:r>
                        <a:rPr lang="en-US" altLang="en-US" b="0" i="1" smtClean="0">
                          <a:latin typeface="Cambria Math"/>
                          <a:sym typeface="Symbol" pitchFamily="18" charset="2"/>
                        </a:rPr>
                        <m:t>𝑠</m:t>
                      </m:r>
                      <m:d>
                        <m:dPr>
                          <m:ctrlPr>
                            <a:rPr lang="en-US" altLang="en-US" b="0" i="1" smtClean="0">
                              <a:latin typeface="Cambria Math" panose="02040503050406030204" pitchFamily="18" charset="0"/>
                              <a:sym typeface="Symbol" pitchFamily="18" charset="2"/>
                            </a:rPr>
                          </m:ctrlPr>
                        </m:dPr>
                        <m:e>
                          <m:r>
                            <a:rPr lang="en-US" altLang="en-US" b="0" i="1" smtClean="0">
                              <a:latin typeface="Cambria Math"/>
                              <a:sym typeface="Symbol" pitchFamily="18" charset="2"/>
                            </a:rPr>
                            <m:t>𝑋</m:t>
                          </m:r>
                        </m:e>
                      </m:d>
                      <m:r>
                        <a:rPr lang="en-US" altLang="en-US" i="1">
                          <a:latin typeface="Cambria Math"/>
                          <a:ea typeface="Cambria Math"/>
                          <a:sym typeface="Symbol" pitchFamily="18" charset="2"/>
                        </a:rPr>
                        <m:t>≤</m:t>
                      </m:r>
                      <m:r>
                        <m:rPr>
                          <m:sty m:val="p"/>
                        </m:rPr>
                        <a:rPr lang="en-US" altLang="en-US" b="0" i="0" smtClean="0">
                          <a:latin typeface="Cambria Math"/>
                          <a:ea typeface="Cambria Math"/>
                          <a:sym typeface="Symbol" pitchFamily="18" charset="2"/>
                        </a:rPr>
                        <m:t>min</m:t>
                      </m:r>
                      <m:d>
                        <m:dPr>
                          <m:begChr m:val="{"/>
                          <m:endChr m:val="}"/>
                          <m:ctrlPr>
                            <a:rPr lang="en-US" altLang="en-US" b="0" i="1" smtClean="0">
                              <a:latin typeface="Cambria Math" panose="02040503050406030204" pitchFamily="18" charset="0"/>
                              <a:ea typeface="Cambria Math"/>
                              <a:sym typeface="Symbol" pitchFamily="18" charset="2"/>
                            </a:rPr>
                          </m:ctrlPr>
                        </m:dPr>
                        <m:e>
                          <m:r>
                            <a:rPr lang="en-US" altLang="en-US" b="0" i="1" smtClean="0">
                              <a:latin typeface="Cambria Math"/>
                              <a:ea typeface="Cambria Math"/>
                              <a:sym typeface="Symbol" pitchFamily="18" charset="2"/>
                            </a:rPr>
                            <m:t>𝑠</m:t>
                          </m:r>
                          <m:r>
                            <a:rPr lang="en-US" altLang="en-US" b="0" i="1" smtClean="0">
                              <a:latin typeface="Cambria Math"/>
                              <a:ea typeface="Cambria Math"/>
                              <a:sym typeface="Symbol" pitchFamily="18" charset="2"/>
                            </a:rPr>
                            <m:t>(</m:t>
                          </m:r>
                          <m:sSub>
                            <m:sSubPr>
                              <m:ctrlPr>
                                <a:rPr lang="en-US" altLang="en-US" b="0" i="1" smtClean="0">
                                  <a:latin typeface="Cambria Math" panose="02040503050406030204" pitchFamily="18" charset="0"/>
                                  <a:ea typeface="Cambria Math"/>
                                  <a:sym typeface="Symbol" pitchFamily="18" charset="2"/>
                                </a:rPr>
                              </m:ctrlPr>
                            </m:sSubPr>
                            <m:e>
                              <m:r>
                                <a:rPr lang="en-US" altLang="en-US" b="0" i="1" smtClean="0">
                                  <a:latin typeface="Cambria Math"/>
                                  <a:ea typeface="Cambria Math"/>
                                  <a:sym typeface="Symbol" pitchFamily="18" charset="2"/>
                                </a:rPr>
                                <m:t>𝑥</m:t>
                              </m:r>
                            </m:e>
                            <m:sub>
                              <m:r>
                                <a:rPr lang="en-US" altLang="en-US" b="0" i="1" smtClean="0">
                                  <a:latin typeface="Cambria Math"/>
                                  <a:ea typeface="Cambria Math"/>
                                  <a:sym typeface="Symbol" pitchFamily="18" charset="2"/>
                                </a:rPr>
                                <m:t>1</m:t>
                              </m:r>
                            </m:sub>
                          </m:sSub>
                          <m:r>
                            <a:rPr lang="en-US" altLang="en-US" b="0" i="1" smtClean="0">
                              <a:latin typeface="Cambria Math"/>
                              <a:ea typeface="Cambria Math"/>
                              <a:sym typeface="Symbol" pitchFamily="18" charset="2"/>
                            </a:rPr>
                            <m:t>),</m:t>
                          </m:r>
                          <m:sSub>
                            <m:sSubPr>
                              <m:ctrlPr>
                                <a:rPr lang="en-US" altLang="en-US" i="1">
                                  <a:latin typeface="Cambria Math" panose="02040503050406030204" pitchFamily="18" charset="0"/>
                                  <a:ea typeface="Cambria Math"/>
                                  <a:sym typeface="Symbol" pitchFamily="18" charset="2"/>
                                </a:rPr>
                              </m:ctrlPr>
                            </m:sSubPr>
                            <m:e>
                              <m:r>
                                <a:rPr lang="en-US" altLang="en-US" b="0" i="1" smtClean="0">
                                  <a:latin typeface="Cambria Math"/>
                                  <a:ea typeface="Cambria Math"/>
                                  <a:sym typeface="Symbol" pitchFamily="18" charset="2"/>
                                </a:rPr>
                                <m:t>𝑠</m:t>
                              </m:r>
                              <m:r>
                                <a:rPr lang="en-US" altLang="en-US" b="0" i="1" smtClean="0">
                                  <a:latin typeface="Cambria Math"/>
                                  <a:ea typeface="Cambria Math"/>
                                  <a:sym typeface="Symbol" pitchFamily="18" charset="2"/>
                                </a:rPr>
                                <m:t>(</m:t>
                              </m:r>
                              <m:r>
                                <a:rPr lang="en-US" altLang="en-US" i="1">
                                  <a:latin typeface="Cambria Math"/>
                                  <a:ea typeface="Cambria Math"/>
                                  <a:sym typeface="Symbol" pitchFamily="18" charset="2"/>
                                </a:rPr>
                                <m:t>𝑥</m:t>
                              </m:r>
                            </m:e>
                            <m:sub>
                              <m:r>
                                <a:rPr lang="en-US" altLang="en-US" b="0" i="1" smtClean="0">
                                  <a:latin typeface="Cambria Math"/>
                                  <a:ea typeface="Cambria Math"/>
                                  <a:sym typeface="Symbol" pitchFamily="18" charset="2"/>
                                </a:rPr>
                                <m:t>2</m:t>
                              </m:r>
                            </m:sub>
                          </m:sSub>
                          <m:r>
                            <a:rPr lang="en-US" altLang="en-US" b="0" i="1" smtClean="0">
                              <a:latin typeface="Cambria Math"/>
                              <a:ea typeface="Cambria Math"/>
                              <a:sym typeface="Symbol" pitchFamily="18" charset="2"/>
                            </a:rPr>
                            <m:t>), …,</m:t>
                          </m:r>
                          <m:sSub>
                            <m:sSubPr>
                              <m:ctrlPr>
                                <a:rPr lang="en-US" altLang="en-US" i="1">
                                  <a:latin typeface="Cambria Math" panose="02040503050406030204" pitchFamily="18" charset="0"/>
                                  <a:ea typeface="Cambria Math"/>
                                  <a:sym typeface="Symbol" pitchFamily="18" charset="2"/>
                                </a:rPr>
                              </m:ctrlPr>
                            </m:sSubPr>
                            <m:e>
                              <m:r>
                                <a:rPr lang="en-US" altLang="en-US" b="0" i="1" smtClean="0">
                                  <a:latin typeface="Cambria Math"/>
                                  <a:ea typeface="Cambria Math"/>
                                  <a:sym typeface="Symbol" pitchFamily="18" charset="2"/>
                                </a:rPr>
                                <m:t>𝑠</m:t>
                              </m:r>
                              <m:r>
                                <a:rPr lang="en-US" altLang="en-US" b="0" i="1" smtClean="0">
                                  <a:latin typeface="Cambria Math"/>
                                  <a:ea typeface="Cambria Math"/>
                                  <a:sym typeface="Symbol" pitchFamily="18" charset="2"/>
                                </a:rPr>
                                <m:t>(</m:t>
                              </m:r>
                              <m:r>
                                <a:rPr lang="en-US" altLang="en-US" i="1">
                                  <a:latin typeface="Cambria Math"/>
                                  <a:ea typeface="Cambria Math"/>
                                  <a:sym typeface="Symbol" pitchFamily="18" charset="2"/>
                                </a:rPr>
                                <m:t>𝑥</m:t>
                              </m:r>
                            </m:e>
                            <m:sub>
                              <m:r>
                                <a:rPr lang="en-US" altLang="en-US" b="0" i="1" smtClean="0">
                                  <a:latin typeface="Cambria Math"/>
                                  <a:ea typeface="Cambria Math"/>
                                  <a:sym typeface="Symbol" pitchFamily="18" charset="2"/>
                                </a:rPr>
                                <m:t>𝑑</m:t>
                              </m:r>
                            </m:sub>
                          </m:sSub>
                          <m:r>
                            <a:rPr lang="en-US" altLang="en-US" b="0" i="1" smtClean="0">
                              <a:latin typeface="Cambria Math"/>
                              <a:ea typeface="Cambria Math"/>
                              <a:sym typeface="Symbol" pitchFamily="18" charset="2"/>
                            </a:rPr>
                            <m:t>)</m:t>
                          </m:r>
                        </m:e>
                      </m:d>
                    </m:oMath>
                  </m:oMathPara>
                </a14:m>
                <a:br>
                  <a:rPr lang="en-US" altLang="en-US" dirty="0">
                    <a:sym typeface="Symbol" pitchFamily="18" charset="2"/>
                  </a:rPr>
                </a:br>
                <a:endParaRPr lang="en-US" altLang="en-US" dirty="0">
                  <a:sym typeface="Symbol" pitchFamily="18" charset="2"/>
                </a:endParaRPr>
              </a:p>
              <a:p>
                <a:pPr>
                  <a:lnSpc>
                    <a:spcPct val="90000"/>
                  </a:lnSpc>
                </a:pPr>
                <a:r>
                  <a:rPr lang="en-US" altLang="en-US" dirty="0">
                    <a:sym typeface="Symbol" pitchFamily="18" charset="2"/>
                  </a:rPr>
                  <a:t>Therefore, we can derive a relationship between the h-confidence and cross support of an </a:t>
                </a:r>
                <a:r>
                  <a:rPr lang="en-US" altLang="en-US" dirty="0" err="1">
                    <a:sym typeface="Symbol" pitchFamily="18" charset="2"/>
                  </a:rPr>
                  <a:t>itemset</a:t>
                </a:r>
              </a:p>
              <a:p>
                <a:pPr marL="0" indent="0">
                  <a:lnSpc>
                    <a:spcPct val="90000"/>
                  </a:lnSpc>
                  <a:buNone/>
                </a:pPr>
                <a14:m>
                  <m:oMathPara xmlns:m="http://schemas.openxmlformats.org/officeDocument/2006/math">
                    <m:oMathParaPr>
                      <m:jc m:val="left"/>
                    </m:oMathParaPr>
                    <m:oMath xmlns:m="http://schemas.openxmlformats.org/officeDocument/2006/math">
                      <m:r>
                        <m:rPr>
                          <m:sty m:val="p"/>
                        </m:rPr>
                        <a:rPr lang="en-US" altLang="en-US" sz="2000">
                          <a:latin typeface="Cambria Math"/>
                          <a:sym typeface="Symbol" pitchFamily="18" charset="2"/>
                        </a:rPr>
                        <m:t>hconf</m:t>
                      </m:r>
                      <m:d>
                        <m:dPr>
                          <m:ctrlPr>
                            <a:rPr lang="en-US" altLang="en-US" sz="2000" i="1">
                              <a:latin typeface="Cambria Math" panose="02040503050406030204" pitchFamily="18" charset="0"/>
                              <a:sym typeface="Symbol" pitchFamily="18" charset="2"/>
                            </a:rPr>
                          </m:ctrlPr>
                        </m:dPr>
                        <m:e>
                          <m:r>
                            <a:rPr lang="en-US" altLang="en-US" sz="2000" i="1">
                              <a:latin typeface="Cambria Math"/>
                              <a:sym typeface="Symbol" pitchFamily="18" charset="2"/>
                            </a:rPr>
                            <m:t>𝑋</m:t>
                          </m:r>
                        </m:e>
                      </m:d>
                      <m:r>
                        <a:rPr lang="en-US" altLang="en-US" sz="2000">
                          <a:latin typeface="Cambria Math"/>
                          <a:sym typeface="Symbol" pitchFamily="18" charset="2"/>
                        </a:rPr>
                        <m:t> =</m:t>
                      </m:r>
                      <m:f>
                        <m:fPr>
                          <m:ctrlPr>
                            <a:rPr lang="en-US" altLang="en-US" sz="2000" i="1">
                              <a:latin typeface="Cambria Math" panose="02040503050406030204" pitchFamily="18" charset="0"/>
                              <a:sym typeface="Symbol" pitchFamily="18" charset="2"/>
                            </a:rPr>
                          </m:ctrlPr>
                        </m:fPr>
                        <m:num>
                          <m:r>
                            <a:rPr lang="en-US" altLang="en-US" sz="2000" i="1">
                              <a:latin typeface="Cambria Math"/>
                              <a:sym typeface="Symbol" pitchFamily="18" charset="2"/>
                            </a:rPr>
                            <m:t>𝑠</m:t>
                          </m:r>
                          <m:r>
                            <a:rPr lang="en-US" altLang="en-US" sz="2000" i="1">
                              <a:latin typeface="Cambria Math"/>
                              <a:sym typeface="Symbol" pitchFamily="18" charset="2"/>
                            </a:rPr>
                            <m:t>(</m:t>
                          </m:r>
                          <m:r>
                            <a:rPr lang="en-US" altLang="en-US" sz="2000" i="1">
                              <a:latin typeface="Cambria Math"/>
                              <a:sym typeface="Symbol" pitchFamily="18" charset="2"/>
                            </a:rPr>
                            <m:t>𝑋</m:t>
                          </m:r>
                          <m:r>
                            <a:rPr lang="en-US" altLang="en-US" sz="2000" i="1">
                              <a:latin typeface="Cambria Math"/>
                              <a:sym typeface="Symbol" pitchFamily="18" charset="2"/>
                            </a:rPr>
                            <m:t>)</m:t>
                          </m:r>
                        </m:num>
                        <m:den>
                          <m:r>
                            <m:rPr>
                              <m:sty m:val="p"/>
                            </m:rPr>
                            <a:rPr lang="en-US" altLang="en-US" sz="2000">
                              <a:latin typeface="Cambria Math"/>
                              <a:sym typeface="Symbol" pitchFamily="18" charset="2"/>
                            </a:rPr>
                            <m:t>max</m:t>
                          </m:r>
                          <m:r>
                            <a:rPr lang="en-US" altLang="en-US" sz="2000" i="1">
                              <a:latin typeface="Cambria Math"/>
                              <a:sym typeface="Symbol" pitchFamily="18" charset="2"/>
                            </a:rPr>
                            <m:t>⁡</m:t>
                          </m:r>
                          <m:d>
                            <m:dPr>
                              <m:begChr m:val="{"/>
                              <m:endChr m:val="}"/>
                              <m:ctrlPr>
                                <a:rPr lang="en-US" altLang="en-US" sz="2000" i="1">
                                  <a:latin typeface="Cambria Math" panose="02040503050406030204" pitchFamily="18" charset="0"/>
                                  <a:sym typeface="Symbol" pitchFamily="18" charset="2"/>
                                </a:rPr>
                              </m:ctrlPr>
                            </m:dPr>
                            <m:e>
                              <m:r>
                                <a:rPr lang="en-US" altLang="en-US" sz="2000" i="1">
                                  <a:latin typeface="Cambria Math"/>
                                  <a:sym typeface="Symbol" pitchFamily="18" charset="2"/>
                                </a:rPr>
                                <m:t>𝑠</m:t>
                              </m:r>
                              <m:d>
                                <m:dPr>
                                  <m:ctrlPr>
                                    <a:rPr lang="en-US" altLang="en-US" sz="2000" i="1">
                                      <a:latin typeface="Cambria Math" panose="02040503050406030204" pitchFamily="18" charset="0"/>
                                      <a:sym typeface="Symbol" pitchFamily="18" charset="2"/>
                                    </a:rPr>
                                  </m:ctrlPr>
                                </m:dPr>
                                <m:e>
                                  <m:sSub>
                                    <m:sSubPr>
                                      <m:ctrlPr>
                                        <a:rPr lang="en-US" altLang="en-US" sz="2000" i="1">
                                          <a:latin typeface="Cambria Math" panose="02040503050406030204" pitchFamily="18" charset="0"/>
                                          <a:sym typeface="Symbol" pitchFamily="18" charset="2"/>
                                        </a:rPr>
                                      </m:ctrlPr>
                                    </m:sSubPr>
                                    <m:e>
                                      <m:r>
                                        <a:rPr lang="en-US" altLang="en-US" sz="2000" i="1">
                                          <a:latin typeface="Cambria Math"/>
                                          <a:sym typeface="Symbol" pitchFamily="18" charset="2"/>
                                        </a:rPr>
                                        <m:t>𝑥</m:t>
                                      </m:r>
                                    </m:e>
                                    <m:sub>
                                      <m:r>
                                        <a:rPr lang="en-US" altLang="en-US" sz="2000" i="1">
                                          <a:latin typeface="Cambria Math"/>
                                          <a:sym typeface="Symbol" pitchFamily="18" charset="2"/>
                                        </a:rPr>
                                        <m:t>1</m:t>
                                      </m:r>
                                    </m:sub>
                                  </m:sSub>
                                </m:e>
                              </m:d>
                              <m:r>
                                <a:rPr lang="en-US" altLang="en-US" sz="2000" i="1">
                                  <a:latin typeface="Cambria Math"/>
                                  <a:sym typeface="Symbol" pitchFamily="18" charset="2"/>
                                </a:rPr>
                                <m:t>,   </m:t>
                              </m:r>
                              <m:r>
                                <a:rPr lang="en-US" altLang="en-US" sz="2000" i="1">
                                  <a:latin typeface="Cambria Math"/>
                                  <a:sym typeface="Symbol" pitchFamily="18" charset="2"/>
                                </a:rPr>
                                <m:t>𝑠</m:t>
                              </m:r>
                              <m:d>
                                <m:dPr>
                                  <m:ctrlPr>
                                    <a:rPr lang="en-US" altLang="en-US" sz="2000" i="1">
                                      <a:latin typeface="Cambria Math" panose="02040503050406030204" pitchFamily="18" charset="0"/>
                                      <a:sym typeface="Symbol" pitchFamily="18" charset="2"/>
                                    </a:rPr>
                                  </m:ctrlPr>
                                </m:dPr>
                                <m:e>
                                  <m:sSub>
                                    <m:sSubPr>
                                      <m:ctrlPr>
                                        <a:rPr lang="en-US" altLang="en-US" sz="2000" i="1">
                                          <a:latin typeface="Cambria Math" panose="02040503050406030204" pitchFamily="18" charset="0"/>
                                          <a:sym typeface="Symbol" pitchFamily="18" charset="2"/>
                                        </a:rPr>
                                      </m:ctrlPr>
                                    </m:sSubPr>
                                    <m:e>
                                      <m:r>
                                        <a:rPr lang="en-US" altLang="en-US" sz="2000" i="1">
                                          <a:latin typeface="Cambria Math"/>
                                          <a:sym typeface="Symbol" pitchFamily="18" charset="2"/>
                                        </a:rPr>
                                        <m:t>𝑥</m:t>
                                      </m:r>
                                    </m:e>
                                    <m:sub>
                                      <m:r>
                                        <a:rPr lang="en-US" altLang="en-US" sz="2000" i="1">
                                          <a:latin typeface="Cambria Math"/>
                                          <a:sym typeface="Symbol" pitchFamily="18" charset="2"/>
                                        </a:rPr>
                                        <m:t>2</m:t>
                                      </m:r>
                                    </m:sub>
                                  </m:sSub>
                                </m:e>
                              </m:d>
                              <m:r>
                                <a:rPr lang="en-US" altLang="en-US" sz="2000" i="1">
                                  <a:latin typeface="Cambria Math"/>
                                  <a:sym typeface="Symbol" pitchFamily="18" charset="2"/>
                                </a:rPr>
                                <m:t> ,   …,   </m:t>
                              </m:r>
                              <m:r>
                                <a:rPr lang="en-US" altLang="en-US" sz="2000" i="1">
                                  <a:latin typeface="Cambria Math"/>
                                  <a:sym typeface="Symbol" pitchFamily="18" charset="2"/>
                                </a:rPr>
                                <m:t>𝑠</m:t>
                              </m:r>
                              <m:r>
                                <a:rPr lang="en-US" altLang="en-US" sz="2000" i="1">
                                  <a:latin typeface="Cambria Math"/>
                                  <a:sym typeface="Symbol" pitchFamily="18" charset="2"/>
                                </a:rPr>
                                <m:t>(</m:t>
                              </m:r>
                              <m:sSub>
                                <m:sSubPr>
                                  <m:ctrlPr>
                                    <a:rPr lang="en-US" altLang="en-US" sz="2000" i="1">
                                      <a:latin typeface="Cambria Math" panose="02040503050406030204" pitchFamily="18" charset="0"/>
                                      <a:sym typeface="Symbol" pitchFamily="18" charset="2"/>
                                    </a:rPr>
                                  </m:ctrlPr>
                                </m:sSubPr>
                                <m:e>
                                  <m:r>
                                    <a:rPr lang="en-US" altLang="en-US" sz="2000" i="1">
                                      <a:latin typeface="Cambria Math"/>
                                      <a:sym typeface="Symbol" pitchFamily="18" charset="2"/>
                                    </a:rPr>
                                    <m:t>𝑥</m:t>
                                  </m:r>
                                </m:e>
                                <m:sub>
                                  <m:r>
                                    <a:rPr lang="en-US" altLang="en-US" sz="2000" i="1">
                                      <a:latin typeface="Cambria Math"/>
                                      <a:sym typeface="Symbol" pitchFamily="18" charset="2"/>
                                    </a:rPr>
                                    <m:t>𝑑</m:t>
                                  </m:r>
                                </m:sub>
                              </m:sSub>
                              <m:r>
                                <a:rPr lang="en-US" altLang="en-US" sz="2000" i="1">
                                  <a:latin typeface="Cambria Math"/>
                                  <a:sym typeface="Symbol" pitchFamily="18" charset="2"/>
                                </a:rPr>
                                <m:t>)</m:t>
                              </m:r>
                            </m:e>
                          </m:d>
                        </m:den>
                      </m:f>
                      <m:r>
                        <a:rPr lang="en-US" altLang="en-US" sz="2000" b="0" i="0" smtClean="0">
                          <a:latin typeface="Cambria Math"/>
                          <a:sym typeface="Symbol" pitchFamily="18" charset="2"/>
                        </a:rPr>
                        <m:t>    </m:t>
                      </m:r>
                    </m:oMath>
                  </m:oMathPara>
                </a14:m>
                <a:br>
                  <a:rPr lang="en-US" altLang="en-US" sz="2000" b="0" i="0" dirty="0">
                    <a:latin typeface="Cambria Math"/>
                    <a:sym typeface="Symbol" pitchFamily="18" charset="2"/>
                  </a:rPr>
                </a:br>
                <a:br>
                  <a:rPr lang="en-US" altLang="en-US" sz="2000" b="0" i="0" dirty="0">
                    <a:latin typeface="Cambria Math"/>
                    <a:sym typeface="Symbol" pitchFamily="18" charset="2"/>
                  </a:rPr>
                </a:br>
                <a14:m>
                  <m:oMathPara xmlns:m="http://schemas.openxmlformats.org/officeDocument/2006/math">
                    <m:oMathParaPr>
                      <m:jc m:val="left"/>
                    </m:oMathParaPr>
                    <m:oMath xmlns:m="http://schemas.openxmlformats.org/officeDocument/2006/math">
                      <m:r>
                        <a:rPr lang="en-US" altLang="en-US" sz="2000" b="0" i="0" dirty="0" smtClean="0">
                          <a:latin typeface="Cambria Math"/>
                          <a:ea typeface="Cambria Math"/>
                          <a:sym typeface="Symbol" pitchFamily="18" charset="2"/>
                        </a:rPr>
                        <m:t>  </m:t>
                      </m:r>
                      <m:r>
                        <a:rPr lang="en-US" altLang="en-US" sz="2000" dirty="0" smtClean="0">
                          <a:latin typeface="Cambria Math"/>
                          <a:ea typeface="Cambria Math"/>
                          <a:sym typeface="Symbol" pitchFamily="18" charset="2"/>
                        </a:rPr>
                        <m:t>≤</m:t>
                      </m:r>
                      <m:f>
                        <m:fPr>
                          <m:ctrlPr>
                            <a:rPr lang="en-US" altLang="en-US" sz="2000" i="1" smtClean="0">
                              <a:latin typeface="Cambria Math" panose="02040503050406030204" pitchFamily="18" charset="0"/>
                              <a:sym typeface="Symbol" pitchFamily="18" charset="2"/>
                            </a:rPr>
                          </m:ctrlPr>
                        </m:fPr>
                        <m:num>
                          <m:r>
                            <m:rPr>
                              <m:sty m:val="p"/>
                            </m:rPr>
                            <a:rPr lang="en-US" altLang="en-US" sz="2000">
                              <a:latin typeface="Cambria Math"/>
                              <a:ea typeface="Cambria Math"/>
                              <a:sym typeface="Symbol" pitchFamily="18" charset="2"/>
                            </a:rPr>
                            <m:t>min</m:t>
                          </m:r>
                          <m:d>
                            <m:dPr>
                              <m:begChr m:val="{"/>
                              <m:endChr m:val="}"/>
                              <m:ctrlPr>
                                <a:rPr lang="en-US" altLang="en-US" sz="2000" i="1">
                                  <a:latin typeface="Cambria Math" panose="02040503050406030204" pitchFamily="18" charset="0"/>
                                  <a:ea typeface="Cambria Math"/>
                                  <a:sym typeface="Symbol" pitchFamily="18" charset="2"/>
                                </a:rPr>
                              </m:ctrlPr>
                            </m:dPr>
                            <m:e>
                              <m:r>
                                <a:rPr lang="en-US" altLang="en-US" sz="2000" i="1">
                                  <a:latin typeface="Cambria Math"/>
                                  <a:ea typeface="Cambria Math"/>
                                  <a:sym typeface="Symbol" pitchFamily="18" charset="2"/>
                                </a:rPr>
                                <m:t>𝑠</m:t>
                              </m:r>
                              <m:r>
                                <a:rPr lang="en-US" altLang="en-US" sz="2000" i="1">
                                  <a:latin typeface="Cambria Math"/>
                                  <a:ea typeface="Cambria Math"/>
                                  <a:sym typeface="Symbol" pitchFamily="18" charset="2"/>
                                </a:rPr>
                                <m:t>(</m:t>
                              </m:r>
                              <m:sSub>
                                <m:sSubPr>
                                  <m:ctrlPr>
                                    <a:rPr lang="en-US" altLang="en-US" sz="2000" i="1">
                                      <a:latin typeface="Cambria Math" panose="02040503050406030204" pitchFamily="18" charset="0"/>
                                      <a:ea typeface="Cambria Math"/>
                                      <a:sym typeface="Symbol" pitchFamily="18" charset="2"/>
                                    </a:rPr>
                                  </m:ctrlPr>
                                </m:sSubPr>
                                <m:e>
                                  <m:r>
                                    <a:rPr lang="en-US" altLang="en-US" sz="2000" i="1">
                                      <a:latin typeface="Cambria Math"/>
                                      <a:ea typeface="Cambria Math"/>
                                      <a:sym typeface="Symbol" pitchFamily="18" charset="2"/>
                                    </a:rPr>
                                    <m:t>𝑥</m:t>
                                  </m:r>
                                </m:e>
                                <m:sub>
                                  <m:r>
                                    <a:rPr lang="en-US" altLang="en-US" sz="2000" i="1">
                                      <a:latin typeface="Cambria Math"/>
                                      <a:ea typeface="Cambria Math"/>
                                      <a:sym typeface="Symbol" pitchFamily="18" charset="2"/>
                                    </a:rPr>
                                    <m:t>1</m:t>
                                  </m:r>
                                </m:sub>
                              </m:sSub>
                              <m:r>
                                <a:rPr lang="en-US" altLang="en-US" sz="2000" i="1">
                                  <a:latin typeface="Cambria Math"/>
                                  <a:ea typeface="Cambria Math"/>
                                  <a:sym typeface="Symbol" pitchFamily="18" charset="2"/>
                                </a:rPr>
                                <m:t>),</m:t>
                              </m:r>
                              <m:sSub>
                                <m:sSubPr>
                                  <m:ctrlPr>
                                    <a:rPr lang="en-US" altLang="en-US" sz="2000" i="1">
                                      <a:latin typeface="Cambria Math" panose="02040503050406030204" pitchFamily="18" charset="0"/>
                                      <a:ea typeface="Cambria Math"/>
                                      <a:sym typeface="Symbol" pitchFamily="18" charset="2"/>
                                    </a:rPr>
                                  </m:ctrlPr>
                                </m:sSubPr>
                                <m:e>
                                  <m:r>
                                    <a:rPr lang="en-US" altLang="en-US" sz="2000" b="0" i="1" smtClean="0">
                                      <a:latin typeface="Cambria Math"/>
                                      <a:ea typeface="Cambria Math"/>
                                      <a:sym typeface="Symbol" pitchFamily="18" charset="2"/>
                                    </a:rPr>
                                    <m:t> </m:t>
                                  </m:r>
                                  <m:r>
                                    <a:rPr lang="en-US" altLang="en-US" sz="2000" i="1">
                                      <a:latin typeface="Cambria Math"/>
                                      <a:ea typeface="Cambria Math"/>
                                      <a:sym typeface="Symbol" pitchFamily="18" charset="2"/>
                                    </a:rPr>
                                    <m:t>𝑠</m:t>
                                  </m:r>
                                  <m:r>
                                    <a:rPr lang="en-US" altLang="en-US" sz="2000" i="1">
                                      <a:latin typeface="Cambria Math"/>
                                      <a:ea typeface="Cambria Math"/>
                                      <a:sym typeface="Symbol" pitchFamily="18" charset="2"/>
                                    </a:rPr>
                                    <m:t>(</m:t>
                                  </m:r>
                                  <m:r>
                                    <a:rPr lang="en-US" altLang="en-US" sz="2000" i="1">
                                      <a:latin typeface="Cambria Math"/>
                                      <a:ea typeface="Cambria Math"/>
                                      <a:sym typeface="Symbol" pitchFamily="18" charset="2"/>
                                    </a:rPr>
                                    <m:t>𝑥</m:t>
                                  </m:r>
                                </m:e>
                                <m:sub>
                                  <m:r>
                                    <a:rPr lang="en-US" altLang="en-US" sz="2000" i="1">
                                      <a:latin typeface="Cambria Math"/>
                                      <a:ea typeface="Cambria Math"/>
                                      <a:sym typeface="Symbol" pitchFamily="18" charset="2"/>
                                    </a:rPr>
                                    <m:t>2</m:t>
                                  </m:r>
                                </m:sub>
                              </m:sSub>
                              <m:r>
                                <a:rPr lang="en-US" altLang="en-US" sz="2000" i="1">
                                  <a:latin typeface="Cambria Math"/>
                                  <a:ea typeface="Cambria Math"/>
                                  <a:sym typeface="Symbol" pitchFamily="18" charset="2"/>
                                </a:rPr>
                                <m:t>), </m:t>
                              </m:r>
                              <m:r>
                                <a:rPr lang="en-US" altLang="en-US" sz="2000" b="0" i="1" smtClean="0">
                                  <a:latin typeface="Cambria Math"/>
                                  <a:ea typeface="Cambria Math"/>
                                  <a:sym typeface="Symbol" pitchFamily="18" charset="2"/>
                                </a:rPr>
                                <m:t> </m:t>
                              </m:r>
                              <m:r>
                                <a:rPr lang="en-US" altLang="en-US" sz="2000" i="1">
                                  <a:latin typeface="Cambria Math"/>
                                  <a:ea typeface="Cambria Math"/>
                                  <a:sym typeface="Symbol" pitchFamily="18" charset="2"/>
                                </a:rPr>
                                <m:t>…,</m:t>
                              </m:r>
                              <m:sSub>
                                <m:sSubPr>
                                  <m:ctrlPr>
                                    <a:rPr lang="en-US" altLang="en-US" sz="2000" i="1">
                                      <a:latin typeface="Cambria Math" panose="02040503050406030204" pitchFamily="18" charset="0"/>
                                      <a:ea typeface="Cambria Math"/>
                                      <a:sym typeface="Symbol" pitchFamily="18" charset="2"/>
                                    </a:rPr>
                                  </m:ctrlPr>
                                </m:sSubPr>
                                <m:e>
                                  <m:r>
                                    <a:rPr lang="en-US" altLang="en-US" sz="2000" b="0" i="1" smtClean="0">
                                      <a:latin typeface="Cambria Math"/>
                                      <a:ea typeface="Cambria Math"/>
                                      <a:sym typeface="Symbol" pitchFamily="18" charset="2"/>
                                    </a:rPr>
                                    <m:t> </m:t>
                                  </m:r>
                                  <m:r>
                                    <a:rPr lang="en-US" altLang="en-US" sz="2000" i="1">
                                      <a:latin typeface="Cambria Math"/>
                                      <a:ea typeface="Cambria Math"/>
                                      <a:sym typeface="Symbol" pitchFamily="18" charset="2"/>
                                    </a:rPr>
                                    <m:t>𝑠</m:t>
                                  </m:r>
                                  <m:r>
                                    <a:rPr lang="en-US" altLang="en-US" sz="2000" i="1">
                                      <a:latin typeface="Cambria Math"/>
                                      <a:ea typeface="Cambria Math"/>
                                      <a:sym typeface="Symbol" pitchFamily="18" charset="2"/>
                                    </a:rPr>
                                    <m:t>(</m:t>
                                  </m:r>
                                  <m:r>
                                    <a:rPr lang="en-US" altLang="en-US" sz="2000" i="1">
                                      <a:latin typeface="Cambria Math"/>
                                      <a:ea typeface="Cambria Math"/>
                                      <a:sym typeface="Symbol" pitchFamily="18" charset="2"/>
                                    </a:rPr>
                                    <m:t>𝑥</m:t>
                                  </m:r>
                                </m:e>
                                <m:sub>
                                  <m:r>
                                    <a:rPr lang="en-US" altLang="en-US" sz="2000" i="1">
                                      <a:latin typeface="Cambria Math"/>
                                      <a:ea typeface="Cambria Math"/>
                                      <a:sym typeface="Symbol" pitchFamily="18" charset="2"/>
                                    </a:rPr>
                                    <m:t>𝑑</m:t>
                                  </m:r>
                                </m:sub>
                              </m:sSub>
                              <m:r>
                                <a:rPr lang="en-US" altLang="en-US" sz="2000" i="1">
                                  <a:latin typeface="Cambria Math"/>
                                  <a:ea typeface="Cambria Math"/>
                                  <a:sym typeface="Symbol" pitchFamily="18" charset="2"/>
                                </a:rPr>
                                <m:t>)</m:t>
                              </m:r>
                            </m:e>
                          </m:d>
                        </m:num>
                        <m:den>
                          <m:func>
                            <m:funcPr>
                              <m:ctrlPr>
                                <a:rPr lang="en-US" altLang="en-US" sz="2000" i="1">
                                  <a:latin typeface="Cambria Math" panose="02040503050406030204" pitchFamily="18" charset="0"/>
                                  <a:sym typeface="Symbol" pitchFamily="18" charset="2"/>
                                </a:rPr>
                              </m:ctrlPr>
                            </m:funcPr>
                            <m:fName>
                              <m:r>
                                <m:rPr>
                                  <m:sty m:val="p"/>
                                </m:rPr>
                                <a:rPr lang="en-US" altLang="en-US" sz="2000">
                                  <a:latin typeface="Cambria Math"/>
                                  <a:sym typeface="Symbol" pitchFamily="18" charset="2"/>
                                </a:rPr>
                                <m:t>max</m:t>
                              </m:r>
                            </m:fName>
                            <m:e>
                              <m:d>
                                <m:dPr>
                                  <m:begChr m:val="{"/>
                                  <m:endChr m:val="}"/>
                                  <m:ctrlPr>
                                    <a:rPr lang="en-US" altLang="en-US" sz="2000" i="1">
                                      <a:latin typeface="Cambria Math" panose="02040503050406030204" pitchFamily="18" charset="0"/>
                                      <a:sym typeface="Symbol" pitchFamily="18" charset="2"/>
                                    </a:rPr>
                                  </m:ctrlPr>
                                </m:dPr>
                                <m:e>
                                  <m:r>
                                    <a:rPr lang="en-US" altLang="en-US" sz="2000" i="1">
                                      <a:latin typeface="Cambria Math"/>
                                      <a:sym typeface="Symbol" pitchFamily="18" charset="2"/>
                                    </a:rPr>
                                    <m:t>𝑠</m:t>
                                  </m:r>
                                  <m:d>
                                    <m:dPr>
                                      <m:ctrlPr>
                                        <a:rPr lang="en-US" altLang="en-US" sz="2000" i="1">
                                          <a:latin typeface="Cambria Math" panose="02040503050406030204" pitchFamily="18" charset="0"/>
                                          <a:sym typeface="Symbol" pitchFamily="18" charset="2"/>
                                        </a:rPr>
                                      </m:ctrlPr>
                                    </m:dPr>
                                    <m:e>
                                      <m:sSub>
                                        <m:sSubPr>
                                          <m:ctrlPr>
                                            <a:rPr lang="en-US" altLang="en-US" sz="2000" i="1">
                                              <a:latin typeface="Cambria Math" panose="02040503050406030204" pitchFamily="18" charset="0"/>
                                              <a:sym typeface="Symbol" pitchFamily="18" charset="2"/>
                                            </a:rPr>
                                          </m:ctrlPr>
                                        </m:sSubPr>
                                        <m:e>
                                          <m:r>
                                            <a:rPr lang="en-US" altLang="en-US" sz="2000" i="1">
                                              <a:latin typeface="Cambria Math"/>
                                              <a:sym typeface="Symbol" pitchFamily="18" charset="2"/>
                                            </a:rPr>
                                            <m:t>𝑥</m:t>
                                          </m:r>
                                        </m:e>
                                        <m:sub>
                                          <m:r>
                                            <a:rPr lang="en-US" altLang="en-US" sz="2000" i="1">
                                              <a:latin typeface="Cambria Math"/>
                                              <a:sym typeface="Symbol" pitchFamily="18" charset="2"/>
                                            </a:rPr>
                                            <m:t>1</m:t>
                                          </m:r>
                                        </m:sub>
                                      </m:sSub>
                                    </m:e>
                                  </m:d>
                                  <m:r>
                                    <a:rPr lang="en-US" altLang="en-US" sz="2000" i="1">
                                      <a:latin typeface="Cambria Math"/>
                                      <a:sym typeface="Symbol" pitchFamily="18" charset="2"/>
                                    </a:rPr>
                                    <m:t>,   </m:t>
                                  </m:r>
                                  <m:r>
                                    <a:rPr lang="en-US" altLang="en-US" sz="2000" i="1">
                                      <a:latin typeface="Cambria Math"/>
                                      <a:sym typeface="Symbol" pitchFamily="18" charset="2"/>
                                    </a:rPr>
                                    <m:t>𝑠</m:t>
                                  </m:r>
                                  <m:d>
                                    <m:dPr>
                                      <m:ctrlPr>
                                        <a:rPr lang="en-US" altLang="en-US" sz="2000" i="1">
                                          <a:latin typeface="Cambria Math" panose="02040503050406030204" pitchFamily="18" charset="0"/>
                                          <a:sym typeface="Symbol" pitchFamily="18" charset="2"/>
                                        </a:rPr>
                                      </m:ctrlPr>
                                    </m:dPr>
                                    <m:e>
                                      <m:sSub>
                                        <m:sSubPr>
                                          <m:ctrlPr>
                                            <a:rPr lang="en-US" altLang="en-US" sz="2000" i="1">
                                              <a:latin typeface="Cambria Math" panose="02040503050406030204" pitchFamily="18" charset="0"/>
                                              <a:sym typeface="Symbol" pitchFamily="18" charset="2"/>
                                            </a:rPr>
                                          </m:ctrlPr>
                                        </m:sSubPr>
                                        <m:e>
                                          <m:r>
                                            <a:rPr lang="en-US" altLang="en-US" sz="2000" i="1">
                                              <a:latin typeface="Cambria Math"/>
                                              <a:sym typeface="Symbol" pitchFamily="18" charset="2"/>
                                            </a:rPr>
                                            <m:t>𝑥</m:t>
                                          </m:r>
                                        </m:e>
                                        <m:sub>
                                          <m:r>
                                            <a:rPr lang="en-US" altLang="en-US" sz="2000" i="1">
                                              <a:latin typeface="Cambria Math"/>
                                              <a:sym typeface="Symbol" pitchFamily="18" charset="2"/>
                                            </a:rPr>
                                            <m:t>2</m:t>
                                          </m:r>
                                        </m:sub>
                                      </m:sSub>
                                    </m:e>
                                  </m:d>
                                  <m:r>
                                    <a:rPr lang="en-US" altLang="en-US" sz="2000" i="1">
                                      <a:latin typeface="Cambria Math"/>
                                      <a:sym typeface="Symbol" pitchFamily="18" charset="2"/>
                                    </a:rPr>
                                    <m:t> ,   …,   </m:t>
                                  </m:r>
                                  <m:r>
                                    <a:rPr lang="en-US" altLang="en-US" sz="2000" i="1">
                                      <a:latin typeface="Cambria Math"/>
                                      <a:sym typeface="Symbol" pitchFamily="18" charset="2"/>
                                    </a:rPr>
                                    <m:t>𝑠</m:t>
                                  </m:r>
                                  <m:d>
                                    <m:dPr>
                                      <m:ctrlPr>
                                        <a:rPr lang="en-US" altLang="en-US" sz="2000" i="1">
                                          <a:latin typeface="Cambria Math" panose="02040503050406030204" pitchFamily="18" charset="0"/>
                                          <a:sym typeface="Symbol" pitchFamily="18" charset="2"/>
                                        </a:rPr>
                                      </m:ctrlPr>
                                    </m:dPr>
                                    <m:e>
                                      <m:sSub>
                                        <m:sSubPr>
                                          <m:ctrlPr>
                                            <a:rPr lang="en-US" altLang="en-US" sz="2000" i="1">
                                              <a:latin typeface="Cambria Math" panose="02040503050406030204" pitchFamily="18" charset="0"/>
                                              <a:sym typeface="Symbol" pitchFamily="18" charset="2"/>
                                            </a:rPr>
                                          </m:ctrlPr>
                                        </m:sSubPr>
                                        <m:e>
                                          <m:r>
                                            <a:rPr lang="en-US" altLang="en-US" sz="2000" i="1">
                                              <a:latin typeface="Cambria Math"/>
                                              <a:sym typeface="Symbol" pitchFamily="18" charset="2"/>
                                            </a:rPr>
                                            <m:t>𝑥</m:t>
                                          </m:r>
                                        </m:e>
                                        <m:sub>
                                          <m:r>
                                            <a:rPr lang="en-US" altLang="en-US" sz="2000" i="1">
                                              <a:latin typeface="Cambria Math"/>
                                              <a:sym typeface="Symbol" pitchFamily="18" charset="2"/>
                                            </a:rPr>
                                            <m:t>𝑑</m:t>
                                          </m:r>
                                        </m:sub>
                                      </m:sSub>
                                    </m:e>
                                  </m:d>
                                </m:e>
                              </m:d>
                            </m:e>
                          </m:func>
                        </m:den>
                      </m:f>
                    </m:oMath>
                  </m:oMathPara>
                </a14:m>
                <a:br>
                  <a:rPr lang="en-US" altLang="en-US" sz="2000" i="1" dirty="0">
                    <a:latin typeface="Cambria Math"/>
                    <a:sym typeface="Symbol" pitchFamily="18" charset="2"/>
                  </a:rPr>
                </a:br>
                <a:endParaRPr lang="en-US" altLang="en-US" sz="2000" i="1" dirty="0">
                  <a:latin typeface="Cambria Math"/>
                  <a:sym typeface="Symbol" pitchFamily="18" charset="2"/>
                </a:endParaRPr>
              </a:p>
              <a:p>
                <a:pPr marL="0" indent="0">
                  <a:lnSpc>
                    <a:spcPct val="90000"/>
                  </a:lnSpc>
                  <a:buNone/>
                </a:pPr>
                <a14:m>
                  <m:oMathPara xmlns:m="http://schemas.openxmlformats.org/officeDocument/2006/math">
                    <m:oMathParaPr>
                      <m:jc m:val="centerGroup"/>
                    </m:oMathParaPr>
                    <m:oMath xmlns:m="http://schemas.openxmlformats.org/officeDocument/2006/math">
                      <m:r>
                        <a:rPr lang="en-US" altLang="en-US" sz="2000" b="0" i="1" smtClean="0">
                          <a:latin typeface="Cambria Math"/>
                          <a:sym typeface="Symbol" pitchFamily="18" charset="2"/>
                        </a:rPr>
                        <m:t>=</m:t>
                      </m:r>
                      <m:r>
                        <a:rPr lang="en-US" altLang="en-US" sz="2000" b="0" i="1" smtClean="0">
                          <a:latin typeface="Cambria Math"/>
                          <a:sym typeface="Symbol" pitchFamily="18" charset="2"/>
                        </a:rPr>
                        <m:t>𝑟</m:t>
                      </m:r>
                      <m:r>
                        <a:rPr lang="en-US" altLang="en-US" sz="2000" b="0" i="1" smtClean="0">
                          <a:latin typeface="Cambria Math"/>
                          <a:sym typeface="Symbol" pitchFamily="18" charset="2"/>
                        </a:rPr>
                        <m:t>(</m:t>
                      </m:r>
                      <m:r>
                        <a:rPr lang="en-US" altLang="en-US" sz="2000" b="0" i="1" smtClean="0">
                          <a:latin typeface="Cambria Math"/>
                          <a:sym typeface="Symbol" pitchFamily="18" charset="2"/>
                        </a:rPr>
                        <m:t>𝑋</m:t>
                      </m:r>
                      <m:r>
                        <a:rPr lang="en-US" altLang="en-US" sz="2000" b="0" i="1" smtClean="0">
                          <a:latin typeface="Cambria Math"/>
                          <a:sym typeface="Symbol" pitchFamily="18" charset="2"/>
                        </a:rPr>
                        <m:t>)</m:t>
                      </m:r>
                    </m:oMath>
                  </m:oMathPara>
                </a14:m>
                <a:endParaRPr lang="en-US" altLang="en-US" sz="2000" dirty="0">
                  <a:sym typeface="Symbol" pitchFamily="18" charset="2"/>
                </a:endParaRPr>
              </a:p>
              <a:p>
                <a:pPr marL="0" indent="0">
                  <a:lnSpc>
                    <a:spcPct val="90000"/>
                  </a:lnSpc>
                  <a:buNone/>
                </a:pPr>
                <a:endParaRPr lang="en-US" altLang="en-US" sz="2000" dirty="0">
                  <a:sym typeface="Symbol" pitchFamily="18" charset="2"/>
                </a:endParaRPr>
              </a:p>
              <a:p>
                <a:pPr marL="0" indent="0">
                  <a:lnSpc>
                    <a:spcPct val="90000"/>
                  </a:lnSpc>
                  <a:buNone/>
                </a:pPr>
                <a:r>
                  <a:rPr lang="en-US" altLang="en-US" sz="2000" dirty="0">
                    <a:solidFill>
                      <a:srgbClr val="C00000"/>
                    </a:solidFill>
                    <a:sym typeface="Symbol" pitchFamily="18" charset="2"/>
                  </a:rPr>
                  <a:t>Thus, </a:t>
                </a:r>
                <a14:m>
                  <m:oMath xmlns:m="http://schemas.openxmlformats.org/officeDocument/2006/math">
                    <m:r>
                      <m:rPr>
                        <m:sty m:val="p"/>
                      </m:rPr>
                      <a:rPr lang="en-US" altLang="en-US" sz="2000">
                        <a:solidFill>
                          <a:srgbClr val="C00000"/>
                        </a:solidFill>
                        <a:latin typeface="Cambria Math"/>
                        <a:sym typeface="Symbol" pitchFamily="18" charset="2"/>
                      </a:rPr>
                      <m:t>hconf</m:t>
                    </m:r>
                    <m:d>
                      <m:dPr>
                        <m:ctrlPr>
                          <a:rPr lang="en-US" altLang="en-US" sz="2000" i="1">
                            <a:solidFill>
                              <a:srgbClr val="C00000"/>
                            </a:solidFill>
                            <a:latin typeface="Cambria Math" panose="02040503050406030204" pitchFamily="18" charset="0"/>
                            <a:sym typeface="Symbol" pitchFamily="18" charset="2"/>
                          </a:rPr>
                        </m:ctrlPr>
                      </m:dPr>
                      <m:e>
                        <m:r>
                          <a:rPr lang="en-US" altLang="en-US" sz="2000" i="1">
                            <a:solidFill>
                              <a:srgbClr val="C00000"/>
                            </a:solidFill>
                            <a:latin typeface="Cambria Math"/>
                            <a:sym typeface="Symbol" pitchFamily="18" charset="2"/>
                          </a:rPr>
                          <m:t>𝑋</m:t>
                        </m:r>
                      </m:e>
                    </m:d>
                    <m:r>
                      <a:rPr lang="en-US" altLang="en-US" sz="2000" dirty="0">
                        <a:solidFill>
                          <a:srgbClr val="C00000"/>
                        </a:solidFill>
                        <a:latin typeface="Cambria Math"/>
                        <a:ea typeface="Cambria Math"/>
                        <a:sym typeface="Symbol" pitchFamily="18" charset="2"/>
                      </a:rPr>
                      <m:t>≤</m:t>
                    </m:r>
                    <m:r>
                      <a:rPr lang="en-US" altLang="en-US" sz="2000" i="1">
                        <a:solidFill>
                          <a:srgbClr val="C00000"/>
                        </a:solidFill>
                        <a:latin typeface="Cambria Math"/>
                        <a:sym typeface="Symbol" pitchFamily="18" charset="2"/>
                      </a:rPr>
                      <m:t>𝑟</m:t>
                    </m:r>
                    <m:r>
                      <a:rPr lang="en-US" altLang="en-US" sz="2000" i="1">
                        <a:solidFill>
                          <a:srgbClr val="C00000"/>
                        </a:solidFill>
                        <a:latin typeface="Cambria Math"/>
                        <a:sym typeface="Symbol" pitchFamily="18" charset="2"/>
                      </a:rPr>
                      <m:t>(</m:t>
                    </m:r>
                    <m:r>
                      <a:rPr lang="en-US" altLang="en-US" sz="2000" i="1">
                        <a:solidFill>
                          <a:srgbClr val="C00000"/>
                        </a:solidFill>
                        <a:latin typeface="Cambria Math"/>
                        <a:sym typeface="Symbol" pitchFamily="18" charset="2"/>
                      </a:rPr>
                      <m:t>𝑋</m:t>
                    </m:r>
                    <m:r>
                      <a:rPr lang="en-US" altLang="en-US" sz="2000" i="1">
                        <a:solidFill>
                          <a:srgbClr val="C00000"/>
                        </a:solidFill>
                        <a:latin typeface="Cambria Math"/>
                        <a:sym typeface="Symbol" pitchFamily="18" charset="2"/>
                      </a:rPr>
                      <m:t>)</m:t>
                    </m:r>
                  </m:oMath>
                </a14:m>
                <a:endParaRPr lang="en-US" altLang="en-US" sz="2000" dirty="0">
                  <a:solidFill>
                    <a:srgbClr val="C00000"/>
                  </a:solidFill>
                  <a:sym typeface="Symbol" pitchFamily="18" charset="2"/>
                </a:endParaRPr>
              </a:p>
              <a:p>
                <a:pPr marL="0" indent="0">
                  <a:lnSpc>
                    <a:spcPct val="90000"/>
                  </a:lnSpc>
                  <a:buNone/>
                </a:pPr>
                <a:endParaRPr lang="en-US" altLang="en-US" sz="2000" dirty="0">
                  <a:sym typeface="Symbol" pitchFamily="18" charset="2"/>
                </a:endParaRPr>
              </a:p>
              <a:p>
                <a:pPr lvl="2">
                  <a:lnSpc>
                    <a:spcPct val="90000"/>
                  </a:lnSpc>
                  <a:buNone/>
                </a:pPr>
                <a:endParaRPr lang="en-US" altLang="en-US" dirty="0">
                  <a:sym typeface="Symbol" pitchFamily="18" charset="2"/>
                </a:endParaRPr>
              </a:p>
              <a:p>
                <a:pPr lvl="2">
                  <a:lnSpc>
                    <a:spcPct val="90000"/>
                  </a:lnSpc>
                  <a:buNone/>
                </a:pPr>
                <a:endParaRPr lang="en-US" altLang="en-US" dirty="0">
                  <a:sym typeface="Symbol" pitchFamily="18" charset="2"/>
                </a:endParaRPr>
              </a:p>
            </p:txBody>
          </p:sp>
        </mc:Choice>
        <mc:Fallback xmlns="">
          <p:sp>
            <p:nvSpPr>
              <p:cNvPr id="1334275" name="Rectangle 3"/>
              <p:cNvSpPr>
                <a:spLocks noGrp="1" noRot="1" noChangeAspect="1" noMove="1" noResize="1" noEditPoints="1" noAdjustHandles="1" noChangeArrowheads="1" noChangeShapeType="1" noTextEdit="1"/>
              </p:cNvSpPr>
              <p:nvPr>
                <p:ph type="body" idx="4294967295"/>
              </p:nvPr>
            </p:nvSpPr>
            <p:spPr>
              <a:blipFill rotWithShape="0">
                <a:blip r:embed="rId2"/>
                <a:stretch>
                  <a:fillRect l="-733" t="-2118"/>
                </a:stretch>
              </a:blipFill>
            </p:spPr>
            <p:txBody>
              <a:bodyPr/>
              <a:lstStyle/>
              <a:p>
                <a:r>
                  <a:rPr lang="en-US">
                    <a:noFill/>
                  </a:rPr>
                  <a:t> </a:t>
                </a:r>
              </a:p>
            </p:txBody>
          </p:sp>
        </mc:Fallback>
      </mc:AlternateContent>
    </p:spTree>
    <p:extLst>
      <p:ext uri="{BB962C8B-B14F-4D97-AF65-F5344CB8AC3E}">
        <p14:creationId xmlns:p14="http://schemas.microsoft.com/office/powerpoint/2010/main" val="7826589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p:txBody>
          <a:bodyPr/>
          <a:lstStyle/>
          <a:p>
            <a:r>
              <a:rPr lang="en-US" altLang="en-US" dirty="0"/>
              <a:t>Cross Support and H-confidence …</a:t>
            </a:r>
          </a:p>
        </p:txBody>
      </p:sp>
      <mc:AlternateContent xmlns:mc="http://schemas.openxmlformats.org/markup-compatibility/2006" xmlns:a14="http://schemas.microsoft.com/office/drawing/2010/main">
        <mc:Choice Requires="a14">
          <p:sp>
            <p:nvSpPr>
              <p:cNvPr id="1334275" name="Rectangle 3"/>
              <p:cNvSpPr>
                <a:spLocks noGrp="1" noChangeArrowheads="1"/>
              </p:cNvSpPr>
              <p:nvPr>
                <p:ph type="body" idx="4294967295"/>
              </p:nvPr>
            </p:nvSpPr>
            <p:spPr/>
            <p:txBody>
              <a:bodyPr/>
              <a:lstStyle/>
              <a:p>
                <a:pPr>
                  <a:lnSpc>
                    <a:spcPct val="90000"/>
                  </a:lnSpc>
                </a:pPr>
                <a:r>
                  <a:rPr lang="en-US" altLang="en-US" dirty="0">
                    <a:sym typeface="Symbol" pitchFamily="18" charset="2"/>
                  </a:rPr>
                  <a:t>Since, </a:t>
                </a:r>
                <a14:m>
                  <m:oMath xmlns:m="http://schemas.openxmlformats.org/officeDocument/2006/math">
                    <m:r>
                      <m:rPr>
                        <m:sty m:val="p"/>
                      </m:rPr>
                      <a:rPr lang="en-US" altLang="en-US">
                        <a:latin typeface="Cambria Math"/>
                        <a:sym typeface="Symbol" pitchFamily="18" charset="2"/>
                      </a:rPr>
                      <m:t>hconf</m:t>
                    </m:r>
                    <m:d>
                      <m:dPr>
                        <m:ctrlPr>
                          <a:rPr lang="en-US" altLang="en-US" i="1">
                            <a:latin typeface="Cambria Math" panose="02040503050406030204" pitchFamily="18" charset="0"/>
                            <a:sym typeface="Symbol" pitchFamily="18" charset="2"/>
                          </a:rPr>
                        </m:ctrlPr>
                      </m:dPr>
                      <m:e>
                        <m:r>
                          <a:rPr lang="en-US" altLang="en-US" i="1">
                            <a:latin typeface="Cambria Math"/>
                            <a:sym typeface="Symbol" pitchFamily="18" charset="2"/>
                          </a:rPr>
                          <m:t>𝑋</m:t>
                        </m:r>
                      </m:e>
                    </m:d>
                    <m:r>
                      <a:rPr lang="en-US" altLang="en-US" dirty="0">
                        <a:latin typeface="Cambria Math"/>
                        <a:ea typeface="Cambria Math"/>
                        <a:sym typeface="Symbol" pitchFamily="18" charset="2"/>
                      </a:rPr>
                      <m:t>≤</m:t>
                    </m:r>
                    <m:r>
                      <a:rPr lang="en-US" altLang="en-US" i="1">
                        <a:latin typeface="Cambria Math"/>
                        <a:sym typeface="Symbol" pitchFamily="18" charset="2"/>
                      </a:rPr>
                      <m:t>𝑟</m:t>
                    </m:r>
                    <m:d>
                      <m:dPr>
                        <m:ctrlPr>
                          <a:rPr lang="en-US" altLang="en-US" i="1">
                            <a:latin typeface="Cambria Math" panose="02040503050406030204" pitchFamily="18" charset="0"/>
                            <a:sym typeface="Symbol" pitchFamily="18" charset="2"/>
                          </a:rPr>
                        </m:ctrlPr>
                      </m:dPr>
                      <m:e>
                        <m:r>
                          <a:rPr lang="en-US" altLang="en-US" i="1">
                            <a:latin typeface="Cambria Math"/>
                            <a:sym typeface="Symbol" pitchFamily="18" charset="2"/>
                          </a:rPr>
                          <m:t>𝑋</m:t>
                        </m:r>
                      </m:e>
                    </m:d>
                    <m:r>
                      <a:rPr lang="en-US" altLang="en-US" b="0" i="1" smtClean="0">
                        <a:latin typeface="Cambria Math"/>
                        <a:sym typeface="Symbol" pitchFamily="18" charset="2"/>
                      </a:rPr>
                      <m:t>, </m:t>
                    </m:r>
                  </m:oMath>
                </a14:m>
                <a:r>
                  <a:rPr lang="en-US" altLang="en-US" dirty="0">
                    <a:sym typeface="Symbol" pitchFamily="18" charset="2"/>
                  </a:rPr>
                  <a:t>we can eliminate cross support patterns by finding patterns with </a:t>
                </a:r>
                <a:br>
                  <a:rPr lang="en-US" altLang="en-US" dirty="0">
                    <a:sym typeface="Symbol" pitchFamily="18" charset="2"/>
                  </a:rPr>
                </a:br>
                <a:r>
                  <a:rPr lang="en-US" altLang="en-US" dirty="0">
                    <a:sym typeface="Symbol" pitchFamily="18" charset="2"/>
                  </a:rPr>
                  <a:t>h-confidence &lt;</a:t>
                </a:r>
                <a:r>
                  <a:rPr lang="en-US" altLang="en-US" dirty="0" err="1">
                    <a:sym typeface="Symbol" pitchFamily="18" charset="2"/>
                  </a:rPr>
                  <a:t>h</a:t>
                </a:r>
                <a:r>
                  <a:rPr lang="en-US" altLang="en-US" baseline="-25000" dirty="0" err="1">
                    <a:sym typeface="Symbol" pitchFamily="18" charset="2"/>
                  </a:rPr>
                  <a:t>c</a:t>
                </a:r>
                <a:r>
                  <a:rPr lang="en-US" altLang="en-US" dirty="0">
                    <a:sym typeface="Symbol" pitchFamily="18" charset="2"/>
                  </a:rPr>
                  <a:t>, a user set threshold</a:t>
                </a:r>
              </a:p>
              <a:p>
                <a:pPr>
                  <a:lnSpc>
                    <a:spcPct val="90000"/>
                  </a:lnSpc>
                </a:pPr>
                <a:r>
                  <a:rPr lang="en-US" altLang="en-US" dirty="0"/>
                  <a:t>Notice that</a:t>
                </a:r>
                <a:br>
                  <a:rPr lang="en-US" altLang="en-US" dirty="0"/>
                </a:br>
                <a:endParaRPr lang="en-US" altLang="en-US" dirty="0"/>
              </a:p>
              <a:p>
                <a:pPr marL="0" indent="0">
                  <a:lnSpc>
                    <a:spcPct val="90000"/>
                  </a:lnSpc>
                  <a:buNone/>
                </a:pPr>
                <a14:m>
                  <m:oMathPara xmlns:m="http://schemas.openxmlformats.org/officeDocument/2006/math">
                    <m:oMathParaPr>
                      <m:jc m:val="centerGroup"/>
                    </m:oMathParaPr>
                    <m:oMath xmlns:m="http://schemas.openxmlformats.org/officeDocument/2006/math">
                      <m:r>
                        <a:rPr lang="en-US" altLang="en-US" b="0" i="0" smtClean="0">
                          <a:latin typeface="Cambria Math"/>
                          <a:sym typeface="Symbol" pitchFamily="18" charset="2"/>
                        </a:rPr>
                        <m:t>0</m:t>
                      </m:r>
                      <m:r>
                        <a:rPr lang="en-US" altLang="en-US" b="0" i="1" smtClean="0">
                          <a:latin typeface="Cambria Math"/>
                          <a:ea typeface="Cambria Math"/>
                          <a:sym typeface="Symbol" pitchFamily="18" charset="2"/>
                        </a:rPr>
                        <m:t>≤</m:t>
                      </m:r>
                      <m:r>
                        <m:rPr>
                          <m:sty m:val="p"/>
                        </m:rPr>
                        <a:rPr lang="en-US" altLang="en-US">
                          <a:latin typeface="Cambria Math"/>
                          <a:sym typeface="Symbol" pitchFamily="18" charset="2"/>
                        </a:rPr>
                        <m:t>hconf</m:t>
                      </m:r>
                      <m:d>
                        <m:dPr>
                          <m:ctrlPr>
                            <a:rPr lang="en-US" altLang="en-US" i="1">
                              <a:latin typeface="Cambria Math" panose="02040503050406030204" pitchFamily="18" charset="0"/>
                              <a:sym typeface="Symbol" pitchFamily="18" charset="2"/>
                            </a:rPr>
                          </m:ctrlPr>
                        </m:dPr>
                        <m:e>
                          <m:r>
                            <a:rPr lang="en-US" altLang="en-US" i="1">
                              <a:latin typeface="Cambria Math"/>
                              <a:sym typeface="Symbol" pitchFamily="18" charset="2"/>
                            </a:rPr>
                            <m:t>𝑋</m:t>
                          </m:r>
                        </m:e>
                      </m:d>
                      <m:r>
                        <a:rPr lang="en-US" altLang="en-US" dirty="0">
                          <a:latin typeface="Cambria Math"/>
                          <a:ea typeface="Cambria Math"/>
                          <a:sym typeface="Symbol" pitchFamily="18" charset="2"/>
                        </a:rPr>
                        <m:t>≤</m:t>
                      </m:r>
                      <m:r>
                        <a:rPr lang="en-US" altLang="en-US" i="1">
                          <a:latin typeface="Cambria Math"/>
                          <a:sym typeface="Symbol" pitchFamily="18" charset="2"/>
                        </a:rPr>
                        <m:t>𝑟</m:t>
                      </m:r>
                      <m:r>
                        <a:rPr lang="en-US" altLang="en-US" i="1">
                          <a:latin typeface="Cambria Math"/>
                          <a:sym typeface="Symbol" pitchFamily="18" charset="2"/>
                        </a:rPr>
                        <m:t>(</m:t>
                      </m:r>
                      <m:r>
                        <a:rPr lang="en-US" altLang="en-US" i="1">
                          <a:latin typeface="Cambria Math"/>
                          <a:sym typeface="Symbol" pitchFamily="18" charset="2"/>
                        </a:rPr>
                        <m:t>𝑋</m:t>
                      </m:r>
                      <m:r>
                        <a:rPr lang="en-US" altLang="en-US" i="1">
                          <a:latin typeface="Cambria Math"/>
                          <a:sym typeface="Symbol" pitchFamily="18" charset="2"/>
                        </a:rPr>
                        <m:t>)≤</m:t>
                      </m:r>
                      <m:r>
                        <a:rPr lang="en-US" altLang="en-US" i="1">
                          <a:latin typeface="Cambria Math"/>
                          <a:sym typeface="Symbol" pitchFamily="18" charset="2"/>
                        </a:rPr>
                        <m:t>1</m:t>
                      </m:r>
                    </m:oMath>
                  </m:oMathPara>
                </a14:m>
                <a:endParaRPr lang="en-US" altLang="en-US" dirty="0">
                  <a:sym typeface="Symbol" pitchFamily="18" charset="2"/>
                </a:endParaRPr>
              </a:p>
              <a:p>
                <a:pPr marL="0" indent="0">
                  <a:lnSpc>
                    <a:spcPct val="90000"/>
                  </a:lnSpc>
                  <a:buNone/>
                </a:pPr>
                <a:endParaRPr lang="en-US" altLang="en-US" sz="2000" dirty="0">
                  <a:sym typeface="Symbol" pitchFamily="18" charset="2"/>
                </a:endParaRPr>
              </a:p>
              <a:p>
                <a:pPr lvl="2">
                  <a:lnSpc>
                    <a:spcPct val="90000"/>
                  </a:lnSpc>
                  <a:buNone/>
                </a:pPr>
                <a:endParaRPr lang="en-US" altLang="en-US" dirty="0">
                  <a:sym typeface="Symbol" pitchFamily="18" charset="2"/>
                </a:endParaRPr>
              </a:p>
              <a:p>
                <a:pPr>
                  <a:lnSpc>
                    <a:spcPct val="90000"/>
                  </a:lnSpc>
                </a:pPr>
                <a:r>
                  <a:rPr lang="en-US" altLang="en-US" dirty="0"/>
                  <a:t>Any </a:t>
                </a:r>
                <a:r>
                  <a:rPr lang="en-US" altLang="en-US" dirty="0" err="1"/>
                  <a:t>itemset</a:t>
                </a:r>
                <a:r>
                  <a:rPr lang="en-US" altLang="en-US" dirty="0"/>
                  <a:t> satisfying a given h-confidence threshold, </a:t>
                </a:r>
                <a:r>
                  <a:rPr lang="en-US" altLang="en-US" dirty="0" err="1">
                    <a:sym typeface="Symbol" pitchFamily="18" charset="2"/>
                  </a:rPr>
                  <a:t>h</a:t>
                </a:r>
                <a:r>
                  <a:rPr lang="en-US" altLang="en-US" baseline="-25000" dirty="0" err="1">
                    <a:sym typeface="Symbol" pitchFamily="18" charset="2"/>
                  </a:rPr>
                  <a:t>c</a:t>
                </a:r>
                <a:r>
                  <a:rPr lang="en-US" altLang="en-US" dirty="0">
                    <a:sym typeface="Symbol" pitchFamily="18" charset="2"/>
                  </a:rPr>
                  <a:t>,</a:t>
                </a:r>
                <a:r>
                  <a:rPr lang="en-US" altLang="en-US" dirty="0"/>
                  <a:t> is called a </a:t>
                </a:r>
                <a:r>
                  <a:rPr lang="en-US" altLang="en-US" dirty="0">
                    <a:solidFill>
                      <a:srgbClr val="C00000"/>
                    </a:solidFill>
                  </a:rPr>
                  <a:t>hyperclique</a:t>
                </a:r>
              </a:p>
              <a:p>
                <a:pPr>
                  <a:lnSpc>
                    <a:spcPct val="90000"/>
                  </a:lnSpc>
                </a:pPr>
                <a:r>
                  <a:rPr lang="en-US" altLang="en-US" dirty="0"/>
                  <a:t>H-confidence can be used instead of or in conjunction with support</a:t>
                </a:r>
              </a:p>
            </p:txBody>
          </p:sp>
        </mc:Choice>
        <mc:Fallback xmlns="">
          <p:sp>
            <p:nvSpPr>
              <p:cNvPr id="1334275" name="Rectangle 3"/>
              <p:cNvSpPr>
                <a:spLocks noGrp="1" noRot="1" noChangeAspect="1" noMove="1" noResize="1" noEditPoints="1" noAdjustHandles="1" noChangeArrowheads="1" noChangeShapeType="1" noTextEdit="1"/>
              </p:cNvSpPr>
              <p:nvPr>
                <p:ph type="body" idx="4294967295"/>
              </p:nvPr>
            </p:nvSpPr>
            <p:spPr>
              <a:blipFill rotWithShape="0">
                <a:blip r:embed="rId2"/>
                <a:stretch>
                  <a:fillRect l="-733" t="-2118"/>
                </a:stretch>
              </a:blipFill>
            </p:spPr>
            <p:txBody>
              <a:bodyPr/>
              <a:lstStyle/>
              <a:p>
                <a:r>
                  <a:rPr lang="en-US">
                    <a:noFill/>
                  </a:rPr>
                  <a:t> </a:t>
                </a:r>
              </a:p>
            </p:txBody>
          </p:sp>
        </mc:Fallback>
      </mc:AlternateContent>
    </p:spTree>
    <p:extLst>
      <p:ext uri="{BB962C8B-B14F-4D97-AF65-F5344CB8AC3E}">
        <p14:creationId xmlns:p14="http://schemas.microsoft.com/office/powerpoint/2010/main" val="158589202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p:txBody>
          <a:bodyPr/>
          <a:lstStyle/>
          <a:p>
            <a:r>
              <a:rPr lang="en-US" altLang="en-US" dirty="0"/>
              <a:t>Properties of </a:t>
            </a:r>
            <a:r>
              <a:rPr lang="en-US" altLang="en-US" dirty="0" err="1"/>
              <a:t>Hypercliques</a:t>
            </a:r>
            <a:endParaRPr lang="en-US" altLang="en-US" dirty="0"/>
          </a:p>
        </p:txBody>
      </p:sp>
      <mc:AlternateContent xmlns:mc="http://schemas.openxmlformats.org/markup-compatibility/2006" xmlns:a14="http://schemas.microsoft.com/office/drawing/2010/main">
        <mc:Choice Requires="a14">
          <p:sp>
            <p:nvSpPr>
              <p:cNvPr id="1334275" name="Rectangle 3"/>
              <p:cNvSpPr>
                <a:spLocks noGrp="1" noChangeArrowheads="1"/>
              </p:cNvSpPr>
              <p:nvPr>
                <p:ph type="body" idx="4294967295"/>
              </p:nvPr>
            </p:nvSpPr>
            <p:spPr/>
            <p:txBody>
              <a:bodyPr>
                <a:normAutofit fontScale="92500" lnSpcReduction="10000"/>
              </a:bodyPr>
              <a:lstStyle/>
              <a:p>
                <a:pPr>
                  <a:lnSpc>
                    <a:spcPct val="90000"/>
                  </a:lnSpc>
                </a:pPr>
                <a:r>
                  <a:rPr lang="en-US" altLang="en-US" dirty="0">
                    <a:sym typeface="Symbol" pitchFamily="18" charset="2"/>
                  </a:rPr>
                  <a:t>Hypercliques are </a:t>
                </a:r>
                <a:r>
                  <a:rPr lang="en-US" altLang="en-US" dirty="0" err="1">
                    <a:sym typeface="Symbol" pitchFamily="18" charset="2"/>
                  </a:rPr>
                  <a:t>itemsets</a:t>
                </a:r>
                <a:r>
                  <a:rPr lang="en-US" altLang="en-US" dirty="0">
                    <a:sym typeface="Symbol" pitchFamily="18" charset="2"/>
                  </a:rPr>
                  <a:t>, but not necessarily frequent </a:t>
                </a:r>
                <a:r>
                  <a:rPr lang="en-US" altLang="en-US" dirty="0" err="1">
                    <a:sym typeface="Symbol" pitchFamily="18" charset="2"/>
                  </a:rPr>
                  <a:t>itemsets</a:t>
                </a:r>
                <a:endParaRPr lang="en-US" altLang="en-US" dirty="0">
                  <a:sym typeface="Symbol" pitchFamily="18" charset="2"/>
                </a:endParaRPr>
              </a:p>
              <a:p>
                <a:pPr lvl="1">
                  <a:lnSpc>
                    <a:spcPct val="90000"/>
                  </a:lnSpc>
                </a:pPr>
                <a:r>
                  <a:rPr lang="en-US" altLang="en-US" dirty="0">
                    <a:sym typeface="Symbol" pitchFamily="18" charset="2"/>
                  </a:rPr>
                  <a:t>Good for finding low support patterns</a:t>
                </a:r>
                <a:br>
                  <a:rPr lang="en-US" altLang="en-US" dirty="0">
                    <a:sym typeface="Symbol" pitchFamily="18" charset="2"/>
                  </a:rPr>
                </a:br>
                <a:endParaRPr lang="en-US" altLang="en-US" dirty="0">
                  <a:sym typeface="Symbol" pitchFamily="18" charset="2"/>
                </a:endParaRPr>
              </a:p>
              <a:p>
                <a:pPr>
                  <a:lnSpc>
                    <a:spcPct val="90000"/>
                  </a:lnSpc>
                </a:pPr>
                <a:r>
                  <a:rPr lang="en-US" altLang="en-US" dirty="0">
                    <a:ea typeface="Cambria Math"/>
                  </a:rPr>
                  <a:t>H-confidence is anti-monotone</a:t>
                </a:r>
              </a:p>
              <a:p>
                <a:pPr>
                  <a:lnSpc>
                    <a:spcPct val="90000"/>
                  </a:lnSpc>
                </a:pPr>
                <a:endParaRPr lang="en-US" altLang="en-US" dirty="0">
                  <a:ea typeface="Cambria Math"/>
                </a:endParaRPr>
              </a:p>
              <a:p>
                <a:pPr>
                  <a:lnSpc>
                    <a:spcPct val="90000"/>
                  </a:lnSpc>
                </a:pPr>
                <a:r>
                  <a:rPr lang="en-US" altLang="en-US" dirty="0"/>
                  <a:t>Can define closed and maximal </a:t>
                </a:r>
                <a:r>
                  <a:rPr lang="en-US" altLang="en-US" dirty="0" err="1"/>
                  <a:t>hypercliques</a:t>
                </a:r>
                <a:r>
                  <a:rPr lang="en-US" altLang="en-US" dirty="0"/>
                  <a:t> in terms of h-confidence</a:t>
                </a:r>
              </a:p>
              <a:p>
                <a:pPr lvl="1">
                  <a:lnSpc>
                    <a:spcPct val="90000"/>
                  </a:lnSpc>
                </a:pPr>
                <a:r>
                  <a:rPr lang="en-US" altLang="en-US" dirty="0"/>
                  <a:t>A hyperclique </a:t>
                </a:r>
                <a:r>
                  <a:rPr lang="en-US" altLang="en-US" i="1" dirty="0">
                    <a:latin typeface="Cambria Math" panose="02040503050406030204" pitchFamily="18" charset="0"/>
                    <a:ea typeface="Cambria Math" panose="02040503050406030204" pitchFamily="18" charset="0"/>
                  </a:rPr>
                  <a:t>X</a:t>
                </a:r>
                <a:r>
                  <a:rPr lang="en-US" altLang="en-US" dirty="0"/>
                  <a:t>  is closed if none of its immediate supersets has the same h-confidence as </a:t>
                </a:r>
                <a:r>
                  <a:rPr lang="en-US" altLang="en-US" i="1" dirty="0">
                    <a:latin typeface="Cambria Math" panose="02040503050406030204" pitchFamily="18" charset="0"/>
                    <a:ea typeface="Cambria Math" panose="02040503050406030204" pitchFamily="18" charset="0"/>
                  </a:rPr>
                  <a:t>X</a:t>
                </a:r>
              </a:p>
              <a:p>
                <a:pPr lvl="1">
                  <a:lnSpc>
                    <a:spcPct val="90000"/>
                  </a:lnSpc>
                </a:pPr>
                <a:r>
                  <a:rPr lang="en-US" altLang="en-US" dirty="0"/>
                  <a:t>A hyperclique </a:t>
                </a:r>
                <a:r>
                  <a:rPr lang="en-US" altLang="en-US" i="1" dirty="0">
                    <a:latin typeface="Cambria Math" panose="02040503050406030204" pitchFamily="18" charset="0"/>
                    <a:ea typeface="Cambria Math" panose="02040503050406030204" pitchFamily="18" charset="0"/>
                  </a:rPr>
                  <a:t>X</a:t>
                </a:r>
                <a:r>
                  <a:rPr lang="en-US" altLang="en-US" dirty="0"/>
                  <a:t> is maximal if </a:t>
                </a:r>
                <a14:m>
                  <m:oMath xmlns:m="http://schemas.openxmlformats.org/officeDocument/2006/math">
                    <m:r>
                      <m:rPr>
                        <m:sty m:val="p"/>
                      </m:rPr>
                      <a:rPr lang="en-US" altLang="en-US" b="0" i="0" smtClean="0">
                        <a:latin typeface="Cambria Math"/>
                      </a:rPr>
                      <m:t>hconf</m:t>
                    </m:r>
                    <m:r>
                      <a:rPr lang="en-US" altLang="en-US" b="0" i="1" smtClean="0">
                        <a:latin typeface="Cambria Math"/>
                      </a:rPr>
                      <m:t>(</m:t>
                    </m:r>
                    <m:r>
                      <a:rPr lang="en-US" altLang="en-US" b="0" i="1" smtClean="0">
                        <a:latin typeface="Cambria Math"/>
                      </a:rPr>
                      <m:t>𝑋</m:t>
                    </m:r>
                    <m:r>
                      <a:rPr lang="en-US" altLang="en-US" b="0" i="1" smtClean="0">
                        <a:latin typeface="Cambria Math"/>
                      </a:rPr>
                      <m:t>)≤</m:t>
                    </m:r>
                    <m:sSub>
                      <m:sSubPr>
                        <m:ctrlPr>
                          <a:rPr lang="en-US" altLang="en-US" b="0" i="1" smtClean="0">
                            <a:latin typeface="Cambria Math" panose="02040503050406030204" pitchFamily="18" charset="0"/>
                            <a:ea typeface="Cambria Math"/>
                          </a:rPr>
                        </m:ctrlPr>
                      </m:sSubPr>
                      <m:e>
                        <m:r>
                          <m:rPr>
                            <m:sty m:val="p"/>
                          </m:rPr>
                          <a:rPr lang="en-US" altLang="en-US" b="0" i="0" smtClean="0">
                            <a:latin typeface="Cambria Math"/>
                            <a:ea typeface="Cambria Math"/>
                          </a:rPr>
                          <m:t>h</m:t>
                        </m:r>
                      </m:e>
                      <m:sub>
                        <m:r>
                          <m:rPr>
                            <m:sty m:val="p"/>
                          </m:rPr>
                          <a:rPr lang="en-US" altLang="en-US" b="0" i="0" smtClean="0">
                            <a:latin typeface="Cambria Math"/>
                            <a:ea typeface="Cambria Math"/>
                          </a:rPr>
                          <m:t>c</m:t>
                        </m:r>
                      </m:sub>
                    </m:sSub>
                  </m:oMath>
                </a14:m>
                <a:r>
                  <a:rPr lang="en-US" altLang="en-US" dirty="0"/>
                  <a:t> and none of its immediate supersets, </a:t>
                </a:r>
                <a:r>
                  <a:rPr lang="en-US" altLang="en-US" i="1" dirty="0">
                    <a:latin typeface="Cambria Math" panose="02040503050406030204" pitchFamily="18" charset="0"/>
                    <a:ea typeface="Cambria Math" panose="02040503050406030204" pitchFamily="18" charset="0"/>
                  </a:rPr>
                  <a:t>Y</a:t>
                </a:r>
                <a:r>
                  <a:rPr lang="en-US" altLang="en-US" dirty="0"/>
                  <a:t>, have </a:t>
                </a:r>
                <a14:m>
                  <m:oMath xmlns:m="http://schemas.openxmlformats.org/officeDocument/2006/math">
                    <m:r>
                      <m:rPr>
                        <m:sty m:val="p"/>
                      </m:rPr>
                      <a:rPr lang="en-US" altLang="en-US">
                        <a:latin typeface="Cambria Math"/>
                      </a:rPr>
                      <m:t>hconf</m:t>
                    </m:r>
                    <m:d>
                      <m:dPr>
                        <m:ctrlPr>
                          <a:rPr lang="en-US" altLang="en-US" i="1">
                            <a:latin typeface="Cambria Math" panose="02040503050406030204" pitchFamily="18" charset="0"/>
                          </a:rPr>
                        </m:ctrlPr>
                      </m:dPr>
                      <m:e>
                        <m:r>
                          <a:rPr lang="en-US" altLang="en-US" b="0" i="1" smtClean="0">
                            <a:latin typeface="Cambria Math"/>
                          </a:rPr>
                          <m:t>𝑌</m:t>
                        </m:r>
                      </m:e>
                    </m:d>
                    <m:r>
                      <a:rPr lang="en-US" altLang="en-US" i="1">
                        <a:latin typeface="Cambria Math"/>
                      </a:rPr>
                      <m:t>≤</m:t>
                    </m:r>
                    <m:sSub>
                      <m:sSubPr>
                        <m:ctrlPr>
                          <a:rPr lang="en-US" altLang="en-US" i="1">
                            <a:latin typeface="Cambria Math" panose="02040503050406030204" pitchFamily="18" charset="0"/>
                            <a:ea typeface="Cambria Math"/>
                          </a:rPr>
                        </m:ctrlPr>
                      </m:sSubPr>
                      <m:e>
                        <m:r>
                          <m:rPr>
                            <m:sty m:val="p"/>
                          </m:rPr>
                          <a:rPr lang="en-US" altLang="en-US">
                            <a:latin typeface="Cambria Math"/>
                            <a:ea typeface="Cambria Math"/>
                          </a:rPr>
                          <m:t>h</m:t>
                        </m:r>
                      </m:e>
                      <m:sub>
                        <m:r>
                          <m:rPr>
                            <m:sty m:val="p"/>
                          </m:rPr>
                          <a:rPr lang="en-US" altLang="en-US">
                            <a:latin typeface="Cambria Math"/>
                            <a:ea typeface="Cambria Math"/>
                          </a:rPr>
                          <m:t>c</m:t>
                        </m:r>
                      </m:sub>
                    </m:sSub>
                  </m:oMath>
                </a14:m>
                <a:endParaRPr lang="en-US" altLang="en-US" dirty="0">
                  <a:ea typeface="Cambria Math"/>
                </a:endParaRPr>
              </a:p>
            </p:txBody>
          </p:sp>
        </mc:Choice>
        <mc:Fallback xmlns="">
          <p:sp>
            <p:nvSpPr>
              <p:cNvPr id="1334275" name="Rectangle 3"/>
              <p:cNvSpPr>
                <a:spLocks noGrp="1" noRot="1" noChangeAspect="1" noMove="1" noResize="1" noEditPoints="1" noAdjustHandles="1" noChangeArrowheads="1" noChangeShapeType="1" noTextEdit="1"/>
              </p:cNvSpPr>
              <p:nvPr>
                <p:ph type="body" idx="4294967295"/>
              </p:nvPr>
            </p:nvSpPr>
            <p:spPr>
              <a:blipFill>
                <a:blip r:embed="rId2"/>
                <a:stretch>
                  <a:fillRect l="-593" t="-3315" r="-148" b="-2348"/>
                </a:stretch>
              </a:blipFill>
            </p:spPr>
            <p:txBody>
              <a:bodyPr/>
              <a:lstStyle/>
              <a:p>
                <a:r>
                  <a:rPr lang="en-US">
                    <a:noFill/>
                  </a:rPr>
                  <a:t> </a:t>
                </a:r>
              </a:p>
            </p:txBody>
          </p:sp>
        </mc:Fallback>
      </mc:AlternateContent>
    </p:spTree>
    <p:extLst>
      <p:ext uri="{BB962C8B-B14F-4D97-AF65-F5344CB8AC3E}">
        <p14:creationId xmlns:p14="http://schemas.microsoft.com/office/powerpoint/2010/main" val="353732574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p:txBody>
          <a:bodyPr/>
          <a:lstStyle/>
          <a:p>
            <a:r>
              <a:rPr lang="en-US" altLang="en-US" dirty="0"/>
              <a:t>Properties of </a:t>
            </a:r>
            <a:r>
              <a:rPr lang="en-US" altLang="en-US" dirty="0" err="1"/>
              <a:t>Hypercliques</a:t>
            </a:r>
            <a:r>
              <a:rPr lang="en-US" altLang="en-US" dirty="0"/>
              <a:t> …</a:t>
            </a:r>
          </a:p>
        </p:txBody>
      </p:sp>
      <mc:AlternateContent xmlns:mc="http://schemas.openxmlformats.org/markup-compatibility/2006" xmlns:a14="http://schemas.microsoft.com/office/drawing/2010/main">
        <mc:Choice Requires="a14">
          <p:sp>
            <p:nvSpPr>
              <p:cNvPr id="1334275" name="Rectangle 3"/>
              <p:cNvSpPr>
                <a:spLocks noGrp="1" noChangeArrowheads="1"/>
              </p:cNvSpPr>
              <p:nvPr>
                <p:ph type="body" idx="4294967295"/>
              </p:nvPr>
            </p:nvSpPr>
            <p:spPr/>
            <p:txBody>
              <a:bodyPr/>
              <a:lstStyle/>
              <a:p>
                <a:pPr>
                  <a:lnSpc>
                    <a:spcPct val="90000"/>
                  </a:lnSpc>
                </a:pPr>
                <a:r>
                  <a:rPr lang="en-US" altLang="en-US" dirty="0">
                    <a:sym typeface="Symbol" pitchFamily="18" charset="2"/>
                  </a:rPr>
                  <a:t>Hypercliques have the high-affinity property</a:t>
                </a:r>
              </a:p>
              <a:p>
                <a:pPr lvl="1">
                  <a:lnSpc>
                    <a:spcPct val="90000"/>
                  </a:lnSpc>
                </a:pPr>
                <a:r>
                  <a:rPr lang="en-US" altLang="en-US" dirty="0">
                    <a:sym typeface="Symbol" pitchFamily="18" charset="2"/>
                  </a:rPr>
                  <a:t>Think of the individual items as sparse binary vectors</a:t>
                </a:r>
              </a:p>
              <a:p>
                <a:pPr lvl="1">
                  <a:lnSpc>
                    <a:spcPct val="90000"/>
                  </a:lnSpc>
                </a:pPr>
                <a:r>
                  <a:rPr lang="en-US" altLang="en-US" dirty="0">
                    <a:sym typeface="Symbol" pitchFamily="18" charset="2"/>
                  </a:rPr>
                  <a:t>h-confidence gives us information about their pairwise </a:t>
                </a:r>
                <a:r>
                  <a:rPr lang="en-US" altLang="en-US" dirty="0" err="1">
                    <a:sym typeface="Symbol" pitchFamily="18" charset="2"/>
                  </a:rPr>
                  <a:t>Jaccard</a:t>
                </a:r>
                <a:r>
                  <a:rPr lang="en-US" altLang="en-US" dirty="0">
                    <a:sym typeface="Symbol" pitchFamily="18" charset="2"/>
                  </a:rPr>
                  <a:t> and cosine similarity</a:t>
                </a:r>
              </a:p>
              <a:p>
                <a:pPr marL="1262063" lvl="2" indent="-347663">
                  <a:lnSpc>
                    <a:spcPct val="90000"/>
                  </a:lnSpc>
                </a:pPr>
                <a:r>
                  <a:rPr lang="en-US" altLang="en-US" dirty="0">
                    <a:sym typeface="Symbol" pitchFamily="18" charset="2"/>
                  </a:rPr>
                  <a:t>Assume </a:t>
                </a:r>
                <a14:m>
                  <m:oMath xmlns:m="http://schemas.openxmlformats.org/officeDocument/2006/math">
                    <m:sSub>
                      <m:sSubPr>
                        <m:ctrlPr>
                          <a:rPr lang="en-US" altLang="en-US" i="1" smtClean="0">
                            <a:latin typeface="Cambria Math" panose="02040503050406030204" pitchFamily="18" charset="0"/>
                            <a:sym typeface="Symbol" pitchFamily="18" charset="2"/>
                          </a:rPr>
                        </m:ctrlPr>
                      </m:sSubPr>
                      <m:e>
                        <m:r>
                          <a:rPr lang="en-US" altLang="en-US" b="0" i="1" smtClean="0">
                            <a:latin typeface="Cambria Math"/>
                            <a:sym typeface="Symbol" pitchFamily="18" charset="2"/>
                          </a:rPr>
                          <m:t>𝑥</m:t>
                        </m:r>
                      </m:e>
                      <m:sub>
                        <m:r>
                          <a:rPr lang="en-US" altLang="en-US" b="0" i="1" smtClean="0">
                            <a:latin typeface="Cambria Math"/>
                            <a:sym typeface="Symbol" pitchFamily="18" charset="2"/>
                          </a:rPr>
                          <m:t>1</m:t>
                        </m:r>
                      </m:sub>
                    </m:sSub>
                  </m:oMath>
                </a14:m>
                <a:r>
                  <a:rPr lang="en-US" altLang="en-US" dirty="0">
                    <a:sym typeface="Symbol" pitchFamily="18" charset="2"/>
                  </a:rPr>
                  <a:t>and </a:t>
                </a:r>
                <a14:m>
                  <m:oMath xmlns:m="http://schemas.openxmlformats.org/officeDocument/2006/math">
                    <m:sSub>
                      <m:sSubPr>
                        <m:ctrlPr>
                          <a:rPr lang="en-US" altLang="en-US" i="1">
                            <a:latin typeface="Cambria Math" panose="02040503050406030204" pitchFamily="18" charset="0"/>
                            <a:sym typeface="Symbol" pitchFamily="18" charset="2"/>
                          </a:rPr>
                        </m:ctrlPr>
                      </m:sSubPr>
                      <m:e>
                        <m:r>
                          <a:rPr lang="en-US" altLang="en-US" i="1">
                            <a:latin typeface="Cambria Math"/>
                            <a:sym typeface="Symbol" pitchFamily="18" charset="2"/>
                          </a:rPr>
                          <m:t>𝑥</m:t>
                        </m:r>
                      </m:e>
                      <m:sub>
                        <m:r>
                          <a:rPr lang="en-US" altLang="en-US" b="0" i="1" smtClean="0">
                            <a:latin typeface="Cambria Math"/>
                            <a:sym typeface="Symbol" pitchFamily="18" charset="2"/>
                          </a:rPr>
                          <m:t>2</m:t>
                        </m:r>
                      </m:sub>
                    </m:sSub>
                  </m:oMath>
                </a14:m>
                <a:r>
                  <a:rPr lang="en-US" altLang="en-US" dirty="0">
                    <a:sym typeface="Symbol" pitchFamily="18" charset="2"/>
                  </a:rPr>
                  <a:t> are any two items in an </a:t>
                </a:r>
                <a:r>
                  <a:rPr lang="en-US" altLang="en-US" dirty="0" err="1">
                    <a:sym typeface="Symbol" pitchFamily="18" charset="2"/>
                  </a:rPr>
                  <a:t>itemset</a:t>
                </a:r>
                <a:r>
                  <a:rPr lang="en-US" altLang="en-US" i="1" dirty="0">
                    <a:latin typeface="Cambria Math" panose="02040503050406030204" pitchFamily="18" charset="0"/>
                    <a:ea typeface="Cambria Math" panose="02040503050406030204" pitchFamily="18" charset="0"/>
                    <a:sym typeface="Symbol" pitchFamily="18" charset="2"/>
                  </a:rPr>
                  <a:t>X </a:t>
                </a:r>
              </a:p>
              <a:p>
                <a:pPr marL="1262063" lvl="2" indent="-347663">
                  <a:lnSpc>
                    <a:spcPct val="90000"/>
                  </a:lnSpc>
                </a:pPr>
                <a14:m>
                  <m:oMath xmlns:m="http://schemas.openxmlformats.org/officeDocument/2006/math">
                    <m:sSub>
                      <m:sSubPr>
                        <m:ctrlPr>
                          <a:rPr lang="en-US" altLang="en-US" i="1">
                            <a:latin typeface="Cambria Math" panose="02040503050406030204" pitchFamily="18" charset="0"/>
                            <a:sym typeface="Symbol" pitchFamily="18" charset="2"/>
                          </a:rPr>
                        </m:ctrlPr>
                      </m:sSubPr>
                      <m:e>
                        <m:r>
                          <m:rPr>
                            <m:sty m:val="p"/>
                          </m:rPr>
                          <a:rPr lang="en-US" altLang="en-US" b="0" i="0" smtClean="0">
                            <a:latin typeface="Cambria Math"/>
                            <a:sym typeface="Symbol" pitchFamily="18" charset="2"/>
                          </a:rPr>
                          <m:t>Jaccard</m:t>
                        </m:r>
                        <m:r>
                          <a:rPr lang="en-US" altLang="en-US" b="0" i="1" smtClean="0">
                            <a:latin typeface="Cambria Math"/>
                            <a:sym typeface="Symbol" pitchFamily="18" charset="2"/>
                          </a:rPr>
                          <m:t>⁡(</m:t>
                        </m:r>
                        <m:r>
                          <a:rPr lang="en-US" altLang="en-US" i="1">
                            <a:latin typeface="Cambria Math"/>
                            <a:sym typeface="Symbol" pitchFamily="18" charset="2"/>
                          </a:rPr>
                          <m:t>𝑥</m:t>
                        </m:r>
                      </m:e>
                      <m:sub>
                        <m:r>
                          <a:rPr lang="en-US" altLang="en-US" i="1">
                            <a:latin typeface="Cambria Math"/>
                            <a:sym typeface="Symbol" pitchFamily="18" charset="2"/>
                          </a:rPr>
                          <m:t>1</m:t>
                        </m:r>
                      </m:sub>
                    </m:sSub>
                    <m:r>
                      <a:rPr lang="en-US" altLang="en-US" b="0" i="1" smtClean="0">
                        <a:latin typeface="Cambria Math"/>
                        <a:sym typeface="Symbol" pitchFamily="18" charset="2"/>
                      </a:rPr>
                      <m:t>,</m:t>
                    </m:r>
                    <m:sSub>
                      <m:sSubPr>
                        <m:ctrlPr>
                          <a:rPr lang="en-US" altLang="en-US" i="1">
                            <a:latin typeface="Cambria Math" panose="02040503050406030204" pitchFamily="18" charset="0"/>
                            <a:sym typeface="Symbol" pitchFamily="18" charset="2"/>
                          </a:rPr>
                        </m:ctrlPr>
                      </m:sSubPr>
                      <m:e>
                        <m:r>
                          <a:rPr lang="en-US" altLang="en-US" i="1">
                            <a:latin typeface="Cambria Math"/>
                            <a:sym typeface="Symbol" pitchFamily="18" charset="2"/>
                          </a:rPr>
                          <m:t>𝑥</m:t>
                        </m:r>
                      </m:e>
                      <m:sub>
                        <m:r>
                          <a:rPr lang="en-US" altLang="en-US" b="0" i="1" smtClean="0">
                            <a:latin typeface="Cambria Math"/>
                            <a:sym typeface="Symbol" pitchFamily="18" charset="2"/>
                          </a:rPr>
                          <m:t>2</m:t>
                        </m:r>
                      </m:sub>
                    </m:sSub>
                    <m:r>
                      <a:rPr lang="en-US" altLang="en-US" b="0" i="1" smtClean="0">
                        <a:latin typeface="Cambria Math"/>
                        <a:sym typeface="Symbol" pitchFamily="18" charset="2"/>
                      </a:rPr>
                      <m:t>) </m:t>
                    </m:r>
                    <m:r>
                      <a:rPr lang="en-US" altLang="en-US" b="0" i="1" smtClean="0">
                        <a:latin typeface="Cambria Math"/>
                        <a:ea typeface="Cambria Math"/>
                        <a:sym typeface="Symbol" pitchFamily="18" charset="2"/>
                      </a:rPr>
                      <m:t>≥</m:t>
                    </m:r>
                    <m:r>
                      <m:rPr>
                        <m:sty m:val="p"/>
                      </m:rPr>
                      <a:rPr lang="en-US" altLang="en-US" b="0" i="0" smtClean="0">
                        <a:latin typeface="Cambria Math"/>
                        <a:ea typeface="Cambria Math"/>
                        <a:sym typeface="Symbol" pitchFamily="18" charset="2"/>
                      </a:rPr>
                      <m:t>hcon</m:t>
                    </m:r>
                  </m:oMath>
                </a14:m>
                <a:r>
                  <a:rPr lang="en-US" altLang="en-US" dirty="0">
                    <a:latin typeface="Cambria Math" panose="02040503050406030204" pitchFamily="18" charset="0"/>
                    <a:ea typeface="Cambria Math" panose="02040503050406030204" pitchFamily="18" charset="0"/>
                    <a:sym typeface="Symbol" pitchFamily="18" charset="2"/>
                  </a:rPr>
                  <a:t>f(</a:t>
                </a:r>
                <a:r>
                  <a:rPr lang="en-US" altLang="en-US" i="1" dirty="0">
                    <a:latin typeface="Cambria Math" panose="02040503050406030204" pitchFamily="18" charset="0"/>
                    <a:ea typeface="Cambria Math" panose="02040503050406030204" pitchFamily="18" charset="0"/>
                    <a:sym typeface="Symbol" pitchFamily="18" charset="2"/>
                  </a:rPr>
                  <a:t>X</a:t>
                </a:r>
                <a:r>
                  <a:rPr lang="en-US" altLang="en-US" dirty="0">
                    <a:latin typeface="Cambria Math" panose="02040503050406030204" pitchFamily="18" charset="0"/>
                    <a:ea typeface="Cambria Math" panose="02040503050406030204" pitchFamily="18" charset="0"/>
                    <a:sym typeface="Symbol" pitchFamily="18" charset="2"/>
                  </a:rPr>
                  <a:t>)/2</a:t>
                </a:r>
              </a:p>
              <a:p>
                <a:pPr marL="1262063" lvl="2" indent="-347663">
                  <a:lnSpc>
                    <a:spcPct val="90000"/>
                  </a:lnSpc>
                </a:pPr>
                <a14:m>
                  <m:oMath xmlns:m="http://schemas.openxmlformats.org/officeDocument/2006/math">
                    <m:sSub>
                      <m:sSubPr>
                        <m:ctrlPr>
                          <a:rPr lang="en-US" altLang="en-US" i="1">
                            <a:latin typeface="Cambria Math" panose="02040503050406030204" pitchFamily="18" charset="0"/>
                            <a:sym typeface="Symbol" pitchFamily="18" charset="2"/>
                          </a:rPr>
                        </m:ctrlPr>
                      </m:sSubPr>
                      <m:e>
                        <m:r>
                          <m:rPr>
                            <m:sty m:val="p"/>
                          </m:rPr>
                          <a:rPr lang="en-US" altLang="en-US">
                            <a:latin typeface="Cambria Math"/>
                            <a:sym typeface="Symbol" pitchFamily="18" charset="2"/>
                          </a:rPr>
                          <m:t>cos</m:t>
                        </m:r>
                        <m:r>
                          <a:rPr lang="en-US" altLang="en-US" i="1">
                            <a:latin typeface="Cambria Math"/>
                            <a:sym typeface="Symbol" pitchFamily="18" charset="2"/>
                          </a:rPr>
                          <m:t>⁡(</m:t>
                        </m:r>
                        <m:r>
                          <a:rPr lang="en-US" altLang="en-US" i="1">
                            <a:latin typeface="Cambria Math"/>
                            <a:sym typeface="Symbol" pitchFamily="18" charset="2"/>
                          </a:rPr>
                          <m:t>𝑥</m:t>
                        </m:r>
                      </m:e>
                      <m:sub>
                        <m:r>
                          <a:rPr lang="en-US" altLang="en-US" i="1">
                            <a:latin typeface="Cambria Math"/>
                            <a:sym typeface="Symbol" pitchFamily="18" charset="2"/>
                          </a:rPr>
                          <m:t>1</m:t>
                        </m:r>
                      </m:sub>
                    </m:sSub>
                    <m:r>
                      <a:rPr lang="en-US" altLang="en-US" i="1">
                        <a:latin typeface="Cambria Math"/>
                        <a:sym typeface="Symbol" pitchFamily="18" charset="2"/>
                      </a:rPr>
                      <m:t>,</m:t>
                    </m:r>
                    <m:sSub>
                      <m:sSubPr>
                        <m:ctrlPr>
                          <a:rPr lang="en-US" altLang="en-US" i="1">
                            <a:latin typeface="Cambria Math" panose="02040503050406030204" pitchFamily="18" charset="0"/>
                            <a:sym typeface="Symbol" pitchFamily="18" charset="2"/>
                          </a:rPr>
                        </m:ctrlPr>
                      </m:sSubPr>
                      <m:e>
                        <m:r>
                          <a:rPr lang="en-US" altLang="en-US" i="1">
                            <a:latin typeface="Cambria Math"/>
                            <a:sym typeface="Symbol" pitchFamily="18" charset="2"/>
                          </a:rPr>
                          <m:t>𝑥</m:t>
                        </m:r>
                      </m:e>
                      <m:sub>
                        <m:r>
                          <a:rPr lang="en-US" altLang="en-US" i="1">
                            <a:latin typeface="Cambria Math"/>
                            <a:sym typeface="Symbol" pitchFamily="18" charset="2"/>
                          </a:rPr>
                          <m:t>2</m:t>
                        </m:r>
                      </m:sub>
                    </m:sSub>
                    <m:r>
                      <a:rPr lang="en-US" altLang="en-US" i="1">
                        <a:latin typeface="Cambria Math"/>
                        <a:sym typeface="Symbol" pitchFamily="18" charset="2"/>
                      </a:rPr>
                      <m:t>) </m:t>
                    </m:r>
                    <m:r>
                      <a:rPr lang="en-US" altLang="en-US" i="1">
                        <a:latin typeface="Cambria Math"/>
                        <a:ea typeface="Cambria Math"/>
                        <a:sym typeface="Symbol" pitchFamily="18" charset="2"/>
                      </a:rPr>
                      <m:t>≥</m:t>
                    </m:r>
                    <m:r>
                      <m:rPr>
                        <m:sty m:val="p"/>
                      </m:rPr>
                      <a:rPr lang="en-US" altLang="en-US">
                        <a:latin typeface="Cambria Math"/>
                        <a:ea typeface="Cambria Math"/>
                        <a:sym typeface="Symbol" pitchFamily="18" charset="2"/>
                      </a:rPr>
                      <m:t>hcon</m:t>
                    </m:r>
                  </m:oMath>
                </a14:m>
                <a:r>
                  <a:rPr lang="en-US" altLang="en-US" dirty="0">
                    <a:latin typeface="Cambria Math" panose="02040503050406030204" pitchFamily="18" charset="0"/>
                    <a:ea typeface="Cambria Math" panose="02040503050406030204" pitchFamily="18" charset="0"/>
                    <a:sym typeface="Symbol" pitchFamily="18" charset="2"/>
                  </a:rPr>
                  <a:t>f(</a:t>
                </a:r>
                <a:r>
                  <a:rPr lang="en-US" altLang="en-US" i="1" dirty="0">
                    <a:latin typeface="Cambria Math" panose="02040503050406030204" pitchFamily="18" charset="0"/>
                    <a:ea typeface="Cambria Math" panose="02040503050406030204" pitchFamily="18" charset="0"/>
                    <a:sym typeface="Symbol" pitchFamily="18" charset="2"/>
                  </a:rPr>
                  <a:t>X</a:t>
                </a:r>
                <a:r>
                  <a:rPr lang="en-US" altLang="en-US" dirty="0">
                    <a:latin typeface="Cambria Math" panose="02040503050406030204" pitchFamily="18" charset="0"/>
                    <a:ea typeface="Cambria Math" panose="02040503050406030204" pitchFamily="18" charset="0"/>
                    <a:sym typeface="Symbol" pitchFamily="18" charset="2"/>
                  </a:rPr>
                  <a:t>)</a:t>
                </a:r>
              </a:p>
              <a:p>
                <a:pPr lvl="1">
                  <a:lnSpc>
                    <a:spcPct val="90000"/>
                  </a:lnSpc>
                </a:pPr>
                <a:r>
                  <a:rPr lang="en-US" altLang="en-US" dirty="0" err="1">
                    <a:sym typeface="Symbol" pitchFamily="18" charset="2"/>
                  </a:rPr>
                  <a:t>Hypercliques</a:t>
                </a:r>
                <a:r>
                  <a:rPr lang="en-US" altLang="en-US" dirty="0">
                    <a:sym typeface="Symbol" pitchFamily="18" charset="2"/>
                  </a:rPr>
                  <a:t>that have a high h-confidence consist of very similar items as measured by </a:t>
                </a:r>
                <a:r>
                  <a:rPr lang="en-US" altLang="en-US" dirty="0" err="1">
                    <a:sym typeface="Symbol" pitchFamily="18" charset="2"/>
                  </a:rPr>
                  <a:t>Jaccard</a:t>
                </a:r>
                <a:r>
                  <a:rPr lang="en-US" altLang="en-US" dirty="0">
                    <a:sym typeface="Symbol" pitchFamily="18" charset="2"/>
                  </a:rPr>
                  <a:t> and cosine</a:t>
                </a:r>
              </a:p>
              <a:p>
                <a:pPr>
                  <a:lnSpc>
                    <a:spcPct val="90000"/>
                  </a:lnSpc>
                </a:pPr>
                <a:r>
                  <a:rPr lang="en-US" altLang="en-US" dirty="0">
                    <a:sym typeface="Symbol" pitchFamily="18" charset="2"/>
                  </a:rPr>
                  <a:t>The items in a hyperclique cannot have widely different support</a:t>
                </a:r>
              </a:p>
              <a:p>
                <a:pPr lvl="1">
                  <a:lnSpc>
                    <a:spcPct val="90000"/>
                  </a:lnSpc>
                </a:pPr>
                <a:r>
                  <a:rPr lang="en-US" altLang="en-US" dirty="0">
                    <a:sym typeface="Symbol" pitchFamily="18" charset="2"/>
                  </a:rPr>
                  <a:t>Allows for more efficient pruning </a:t>
                </a:r>
              </a:p>
            </p:txBody>
          </p:sp>
        </mc:Choice>
        <mc:Fallback xmlns="">
          <p:sp>
            <p:nvSpPr>
              <p:cNvPr id="1334275" name="Rectangle 3"/>
              <p:cNvSpPr>
                <a:spLocks noGrp="1" noRot="1" noChangeAspect="1" noMove="1" noResize="1" noEditPoints="1" noAdjustHandles="1" noChangeArrowheads="1" noChangeShapeType="1" noTextEdit="1"/>
              </p:cNvSpPr>
              <p:nvPr>
                <p:ph type="body" idx="4294967295"/>
              </p:nvPr>
            </p:nvSpPr>
            <p:spPr>
              <a:blipFill rotWithShape="0">
                <a:blip r:embed="rId2"/>
                <a:stretch>
                  <a:fillRect l="-733" t="-2118" r="-1392"/>
                </a:stretch>
              </a:blipFill>
            </p:spPr>
            <p:txBody>
              <a:bodyPr/>
              <a:lstStyle/>
              <a:p>
                <a:r>
                  <a:rPr lang="en-US">
                    <a:noFill/>
                  </a:rPr>
                  <a:t> </a:t>
                </a:r>
              </a:p>
            </p:txBody>
          </p:sp>
        </mc:Fallback>
      </mc:AlternateContent>
    </p:spTree>
    <p:extLst>
      <p:ext uri="{BB962C8B-B14F-4D97-AF65-F5344CB8AC3E}">
        <p14:creationId xmlns:p14="http://schemas.microsoft.com/office/powerpoint/2010/main" val="42106235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a:xfrm>
            <a:off x="304800" y="152400"/>
            <a:ext cx="8077200" cy="655638"/>
          </a:xfrm>
        </p:spPr>
        <p:txBody>
          <a:bodyPr/>
          <a:lstStyle/>
          <a:p>
            <a:r>
              <a:rPr lang="en-US" altLang="en-US" sz="3200" dirty="0"/>
              <a:t>Example Applications of </a:t>
            </a:r>
            <a:r>
              <a:rPr lang="en-US" altLang="en-US" sz="3200" dirty="0" err="1"/>
              <a:t>Hypercliques</a:t>
            </a:r>
            <a:endParaRPr lang="en-US" altLang="en-US" sz="3200" dirty="0"/>
          </a:p>
        </p:txBody>
      </p:sp>
      <p:sp>
        <p:nvSpPr>
          <p:cNvPr id="1334275" name="Rectangle 3"/>
          <p:cNvSpPr>
            <a:spLocks noGrp="1" noChangeArrowheads="1"/>
          </p:cNvSpPr>
          <p:nvPr>
            <p:ph type="body" idx="4294967295"/>
          </p:nvPr>
        </p:nvSpPr>
        <p:spPr>
          <a:xfrm>
            <a:off x="411163" y="1143000"/>
            <a:ext cx="4618037" cy="2819400"/>
          </a:xfrm>
        </p:spPr>
        <p:txBody>
          <a:bodyPr/>
          <a:lstStyle/>
          <a:p>
            <a:pPr>
              <a:lnSpc>
                <a:spcPct val="90000"/>
              </a:lnSpc>
            </a:pPr>
            <a:r>
              <a:rPr lang="en-US" altLang="en-US" dirty="0" err="1">
                <a:sym typeface="Symbol" pitchFamily="18" charset="2"/>
              </a:rPr>
              <a:t>Hypercliques</a:t>
            </a:r>
            <a:r>
              <a:rPr lang="en-US" altLang="en-US" dirty="0">
                <a:sym typeface="Symbol" pitchFamily="18" charset="2"/>
              </a:rPr>
              <a:t> are used to find strongly coherent groups of items</a:t>
            </a:r>
          </a:p>
          <a:p>
            <a:pPr lvl="1">
              <a:lnSpc>
                <a:spcPct val="90000"/>
              </a:lnSpc>
            </a:pPr>
            <a:r>
              <a:rPr lang="en-US" altLang="en-US" dirty="0">
                <a:sym typeface="Symbol" pitchFamily="18" charset="2"/>
              </a:rPr>
              <a:t>Words that occur together in documents</a:t>
            </a:r>
          </a:p>
          <a:p>
            <a:pPr lvl="1">
              <a:lnSpc>
                <a:spcPct val="90000"/>
              </a:lnSpc>
            </a:pPr>
            <a:r>
              <a:rPr lang="en-US" altLang="en-US" dirty="0">
                <a:sym typeface="Symbol" pitchFamily="18" charset="2"/>
              </a:rPr>
              <a:t>Proteins in a protein interaction network</a:t>
            </a:r>
          </a:p>
          <a:p>
            <a:pPr lvl="1">
              <a:lnSpc>
                <a:spcPct val="90000"/>
              </a:lnSpc>
            </a:pPr>
            <a:endParaRPr lang="en-US" altLang="en-US" dirty="0">
              <a:sym typeface="Symbol" pitchFamily="18" charset="2"/>
            </a:endParaRPr>
          </a:p>
          <a:p>
            <a:pPr marL="0" indent="0">
              <a:lnSpc>
                <a:spcPct val="90000"/>
              </a:lnSpc>
              <a:buNone/>
            </a:pPr>
            <a:br>
              <a:rPr lang="en-US" altLang="en-US" dirty="0"/>
            </a:br>
            <a:endParaRPr lang="en-US" altLang="en-US" dirty="0"/>
          </a:p>
        </p:txBody>
      </p:sp>
      <p:pic>
        <p:nvPicPr>
          <p:cNvPr id="4" name="Picture 5" descr="pattern230_pr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143000"/>
            <a:ext cx="333375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3"/>
          <p:cNvSpPr txBox="1">
            <a:spLocks noChangeArrowheads="1"/>
          </p:cNvSpPr>
          <p:nvPr/>
        </p:nvSpPr>
        <p:spPr bwMode="auto">
          <a:xfrm>
            <a:off x="304800" y="4191000"/>
            <a:ext cx="480060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5425" indent="-225425"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indent="0">
              <a:spcBef>
                <a:spcPct val="50000"/>
              </a:spcBef>
            </a:pPr>
            <a:r>
              <a:rPr lang="en-US" sz="2000" dirty="0">
                <a:latin typeface="Arial" pitchFamily="34" charset="0"/>
              </a:rPr>
              <a:t>In the figure at the right, a gene ontology hierarchy for biological process shows that the identified proteins in the hyperclique (PRE2, …, SCL1) perform the same function and are involved in the same biological process</a:t>
            </a:r>
            <a:r>
              <a:rPr lang="en-US" sz="1800" dirty="0">
                <a:latin typeface="Arial" pitchFamily="34" charset="0"/>
              </a:rPr>
              <a:t> </a:t>
            </a:r>
          </a:p>
        </p:txBody>
      </p:sp>
    </p:spTree>
    <p:extLst>
      <p:ext uri="{BB962C8B-B14F-4D97-AF65-F5344CB8AC3E}">
        <p14:creationId xmlns:p14="http://schemas.microsoft.com/office/powerpoint/2010/main" val="19720535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r>
              <a:rPr lang="en-US"/>
              <a:t>CSE, BUET</a:t>
            </a:r>
          </a:p>
        </p:txBody>
      </p:sp>
      <p:sp>
        <p:nvSpPr>
          <p:cNvPr id="5" name="Title 4"/>
          <p:cNvSpPr>
            <a:spLocks noGrp="1"/>
          </p:cNvSpPr>
          <p:nvPr>
            <p:ph type="title"/>
          </p:nvPr>
        </p:nvSpPr>
        <p:spPr/>
        <p:txBody>
          <a:bodyPr/>
          <a:lstStyle/>
          <a:p>
            <a:r>
              <a:rPr lang="en-US" dirty="0"/>
              <a:t>Reading Material</a:t>
            </a:r>
          </a:p>
        </p:txBody>
      </p:sp>
      <p:sp>
        <p:nvSpPr>
          <p:cNvPr id="6" name="Content Placeholder 5"/>
          <p:cNvSpPr>
            <a:spLocks noGrp="1"/>
          </p:cNvSpPr>
          <p:nvPr>
            <p:ph sz="quarter" idx="1"/>
          </p:nvPr>
        </p:nvSpPr>
        <p:spPr/>
        <p:txBody>
          <a:bodyPr>
            <a:noAutofit/>
          </a:bodyPr>
          <a:lstStyle/>
          <a:p>
            <a:pPr marL="400050">
              <a:lnSpc>
                <a:spcPct val="90000"/>
              </a:lnSpc>
            </a:pPr>
            <a:r>
              <a:rPr lang="en-US" sz="2400" dirty="0"/>
              <a:t>Class Lecture</a:t>
            </a:r>
          </a:p>
          <a:p>
            <a:r>
              <a:rPr lang="en-US" sz="2000" dirty="0"/>
              <a:t>Text Book: (V. Kumar et al.) Chapter 6</a:t>
            </a:r>
          </a:p>
          <a:p>
            <a:endParaRPr lang="en-US" sz="2000" dirty="0"/>
          </a:p>
          <a:p>
            <a:endParaRPr lang="en-US" sz="2200" dirty="0"/>
          </a:p>
        </p:txBody>
      </p:sp>
      <p:sp>
        <p:nvSpPr>
          <p:cNvPr id="8" name="Slide Number Placeholder 7"/>
          <p:cNvSpPr>
            <a:spLocks noGrp="1"/>
          </p:cNvSpPr>
          <p:nvPr>
            <p:ph type="sldNum" sz="quarter" idx="11"/>
          </p:nvPr>
        </p:nvSpPr>
        <p:spPr/>
        <p:txBody>
          <a:bodyPr/>
          <a:lstStyle/>
          <a:p>
            <a:pPr>
              <a:defRPr/>
            </a:pPr>
            <a:fld id="{4635AE12-246C-49B1-92D7-252397D611F1}" type="slidenum">
              <a:rPr lang="en-US" smtClean="0"/>
              <a:pPr>
                <a:defRPr/>
              </a:pPr>
              <a:t>82</a:t>
            </a:fld>
            <a:endParaRPr lang="en-US"/>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dirty="0"/>
              <a:t>Acknowledgements</a:t>
            </a:r>
          </a:p>
        </p:txBody>
      </p:sp>
      <p:sp>
        <p:nvSpPr>
          <p:cNvPr id="38915" name="Rectangle 3"/>
          <p:cNvSpPr>
            <a:spLocks noGrp="1" noChangeArrowheads="1"/>
          </p:cNvSpPr>
          <p:nvPr>
            <p:ph sz="quarter" idx="1"/>
          </p:nvPr>
        </p:nvSpPr>
        <p:spPr/>
        <p:txBody>
          <a:bodyPr/>
          <a:lstStyle/>
          <a:p>
            <a:pPr marL="342900" lvl="1" indent="-342900" eaLnBrk="1" hangingPunct="1">
              <a:buClr>
                <a:schemeClr val="tx2"/>
              </a:buClr>
            </a:pPr>
            <a:r>
              <a:rPr lang="en-US" dirty="0" err="1"/>
              <a:t>Vipin</a:t>
            </a:r>
            <a:r>
              <a:rPr lang="en-US" dirty="0"/>
              <a:t> Kumar et al. (University of Minnesota-Twin Cities)</a:t>
            </a:r>
          </a:p>
          <a:p>
            <a:pPr marL="342900" lvl="1" indent="-342900" eaLnBrk="1" hangingPunct="1">
              <a:buClr>
                <a:schemeClr val="tx2"/>
              </a:buClr>
            </a:pPr>
            <a:r>
              <a:rPr lang="en-US" sz="2600" dirty="0" err="1"/>
              <a:t>Jiawei</a:t>
            </a:r>
            <a:r>
              <a:rPr lang="en-US" sz="2600" dirty="0"/>
              <a:t> Han (University of </a:t>
            </a:r>
            <a:r>
              <a:rPr lang="en-US" sz="2600" dirty="0" err="1"/>
              <a:t>Iillinoi</a:t>
            </a:r>
            <a:r>
              <a:rPr lang="en-US" sz="2600" dirty="0"/>
              <a:t>-UC)  (CS412)</a:t>
            </a:r>
          </a:p>
          <a:p>
            <a:pPr lvl="1" eaLnBrk="1" hangingPunct="1"/>
            <a:endParaRPr lang="en-US" dirty="0"/>
          </a:p>
        </p:txBody>
      </p:sp>
      <p:sp>
        <p:nvSpPr>
          <p:cNvPr id="6" name="Slide Number Placeholder 5"/>
          <p:cNvSpPr>
            <a:spLocks noGrp="1"/>
          </p:cNvSpPr>
          <p:nvPr>
            <p:ph type="sldNum" sz="quarter" idx="11"/>
          </p:nvPr>
        </p:nvSpPr>
        <p:spPr/>
        <p:txBody>
          <a:bodyPr/>
          <a:lstStyle/>
          <a:p>
            <a:pPr>
              <a:defRPr/>
            </a:pPr>
            <a:fld id="{4635AE12-246C-49B1-92D7-252397D611F1}" type="slidenum">
              <a:rPr lang="en-US" smtClean="0"/>
              <a:pPr>
                <a:defRPr/>
              </a:pPr>
              <a:t>83</a:t>
            </a:fld>
            <a:endParaRPr lang="en-US"/>
          </a:p>
        </p:txBody>
      </p:sp>
    </p:spTree>
  </p:cSld>
  <p:clrMapOvr>
    <a:masterClrMapping/>
  </p:clrMapOvr>
  <p:transition/>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2938</TotalTime>
  <Words>5945</Words>
  <Application>Microsoft Office PowerPoint</Application>
  <PresentationFormat>On-screen Show (4:3)</PresentationFormat>
  <Paragraphs>1130</Paragraphs>
  <Slides>83</Slides>
  <Notes>20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5</vt:i4>
      </vt:variant>
      <vt:variant>
        <vt:lpstr>Slide Titles</vt:lpstr>
      </vt:variant>
      <vt:variant>
        <vt:i4>83</vt:i4>
      </vt:variant>
    </vt:vector>
  </HeadingPairs>
  <TitlesOfParts>
    <vt:vector size="96" baseType="lpstr">
      <vt:lpstr>Arial</vt:lpstr>
      <vt:lpstr>Calibri</vt:lpstr>
      <vt:lpstr>Cambria Math</vt:lpstr>
      <vt:lpstr>Monotype Sorts</vt:lpstr>
      <vt:lpstr>Symbol</vt:lpstr>
      <vt:lpstr>Tahoma</vt:lpstr>
      <vt:lpstr>Wingdings</vt:lpstr>
      <vt:lpstr>Network</vt:lpstr>
      <vt:lpstr>Equation</vt:lpstr>
      <vt:lpstr>Visio</vt:lpstr>
      <vt:lpstr>Worksheet</vt:lpstr>
      <vt:lpstr>VISIO</vt:lpstr>
      <vt:lpstr>Bitmap Image</vt:lpstr>
      <vt:lpstr>Data Mining (CSE 6506)  </vt:lpstr>
      <vt:lpstr> Association Analysis: Basic Concepts  and Algorithms</vt:lpstr>
      <vt:lpstr>Factors Affecting Complexity of Apriori</vt:lpstr>
      <vt:lpstr>Factors Affecting Complexity of Apriori</vt:lpstr>
      <vt:lpstr>PowerPoint Presentation</vt:lpstr>
      <vt:lpstr>Factors Affecting Complexity of Apriori</vt:lpstr>
      <vt:lpstr>Compact Representation of Frequent Itemsets</vt:lpstr>
      <vt:lpstr>Maximal Frequent Itemset</vt:lpstr>
      <vt:lpstr>What are the Maximal Frequent Itemsets in this Data?</vt:lpstr>
      <vt:lpstr>An illustrative example</vt:lpstr>
      <vt:lpstr>An illustrative example</vt:lpstr>
      <vt:lpstr>An illustrative example</vt:lpstr>
      <vt:lpstr>An illustrative example</vt:lpstr>
      <vt:lpstr>An illustrative example</vt:lpstr>
      <vt:lpstr>An illustrative example</vt:lpstr>
      <vt:lpstr>An illustrative example</vt:lpstr>
      <vt:lpstr>An illustrative example</vt:lpstr>
      <vt:lpstr>An illustrative example</vt:lpstr>
      <vt:lpstr>An illustrative example</vt:lpstr>
      <vt:lpstr>Another illustrative example</vt:lpstr>
      <vt:lpstr>Closed Itemset</vt:lpstr>
      <vt:lpstr>Maximal vs Closed Itemsets</vt:lpstr>
      <vt:lpstr>Maximal vs Closed Frequent Itemsets</vt:lpstr>
      <vt:lpstr>What are the Closed Itemsets in this Data?</vt:lpstr>
      <vt:lpstr>Example 1</vt:lpstr>
      <vt:lpstr>Example 1</vt:lpstr>
      <vt:lpstr>Example 2</vt:lpstr>
      <vt:lpstr>Example 2</vt:lpstr>
      <vt:lpstr>Example 3</vt:lpstr>
      <vt:lpstr>Example 4</vt:lpstr>
      <vt:lpstr>Maximal vs Closed Itemsets</vt:lpstr>
      <vt:lpstr>Example question</vt:lpstr>
      <vt:lpstr>Pattern Evaluation</vt:lpstr>
      <vt:lpstr>PowerPoint Presentation</vt:lpstr>
      <vt:lpstr>PowerPoint Presentation</vt:lpstr>
      <vt:lpstr>PowerPoint Presentation</vt:lpstr>
      <vt:lpstr>PowerPoint Presentation</vt:lpstr>
      <vt:lpstr>Computing Interestingness Measure</vt:lpstr>
      <vt:lpstr>Drawback of Confidence</vt:lpstr>
      <vt:lpstr>Drawback of Confidence</vt:lpstr>
      <vt:lpstr>PowerPoint Presentation</vt:lpstr>
      <vt:lpstr>Measure for Association Rules</vt:lpstr>
      <vt:lpstr>PowerPoint Presentation</vt:lpstr>
      <vt:lpstr>Statistical Independence</vt:lpstr>
      <vt:lpstr>PowerPoint Presentation</vt:lpstr>
      <vt:lpstr>Measures that take into account statistical dependence</vt:lpstr>
      <vt:lpstr>PowerPoint Presentation</vt:lpstr>
      <vt:lpstr>PowerPoint Presentation</vt:lpstr>
      <vt:lpstr>PowerPoint Presentation</vt:lpstr>
      <vt:lpstr>PowerPoint Presentation</vt:lpstr>
      <vt:lpstr>Example: Lift/Interest</vt:lpstr>
      <vt:lpstr>Lift or Interest</vt:lpstr>
      <vt:lpstr>PowerPoint Presentation</vt:lpstr>
      <vt:lpstr>Comparing Different Measures</vt:lpstr>
      <vt:lpstr>Property under Variable Permutation</vt:lpstr>
      <vt:lpstr>Property under Row/Column Scaling</vt:lpstr>
      <vt:lpstr>Property under Inversion Operation</vt:lpstr>
      <vt:lpstr>Example: -Coefficient</vt:lpstr>
      <vt:lpstr>Property under Null Addition</vt:lpstr>
      <vt:lpstr>Different Measures have Different Properties</vt:lpstr>
      <vt:lpstr>PowerPoint Presentation</vt:lpstr>
      <vt:lpstr>Simpson’s Paradox</vt:lpstr>
      <vt:lpstr>Simpson’s Paradox</vt:lpstr>
      <vt:lpstr>Simpson’s Paradox</vt:lpstr>
      <vt:lpstr>PowerPoint Presentation</vt:lpstr>
      <vt:lpstr>PowerPoint Presentation</vt:lpstr>
      <vt:lpstr>PowerPoint Presentation</vt:lpstr>
      <vt:lpstr>PowerPoint Presentation</vt:lpstr>
      <vt:lpstr>PowerPoint Presentation</vt:lpstr>
      <vt:lpstr>Effect of Support Distribution on Association Mining</vt:lpstr>
      <vt:lpstr>Effect of Support Distribution</vt:lpstr>
      <vt:lpstr>Cross-Support Patterns</vt:lpstr>
      <vt:lpstr>A Measure of Cross Support</vt:lpstr>
      <vt:lpstr>Confidence and Cross-Support Patterns</vt:lpstr>
      <vt:lpstr>H-Confidence</vt:lpstr>
      <vt:lpstr>H-Confidence …</vt:lpstr>
      <vt:lpstr>Cross Support and H-confidence</vt:lpstr>
      <vt:lpstr>Cross Support and H-confidence …</vt:lpstr>
      <vt:lpstr>Properties of Hypercliques</vt:lpstr>
      <vt:lpstr>Properties of Hypercliques …</vt:lpstr>
      <vt:lpstr>Example Applications of Hypercliques</vt:lpstr>
      <vt:lpstr>Reading Material</vt:lpstr>
      <vt:lpstr>Acknowledgements</vt:lpstr>
    </vt:vector>
  </TitlesOfParts>
  <Company>Orion Research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COVERAGE IN HETEROGENEOUS SENSOR NETWORK</dc:title>
  <dc:creator>Orion</dc:creator>
  <cp:lastModifiedBy>Md Manirujjaman</cp:lastModifiedBy>
  <cp:revision>194</cp:revision>
  <dcterms:created xsi:type="dcterms:W3CDTF">2006-11-09T03:30:31Z</dcterms:created>
  <dcterms:modified xsi:type="dcterms:W3CDTF">2026-03-29T16:54:51Z</dcterms:modified>
</cp:coreProperties>
</file>